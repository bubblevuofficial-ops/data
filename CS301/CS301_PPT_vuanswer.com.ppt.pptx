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Default Extension="jpeg" ContentType="image/jpeg"/>
  <Override PartName="/docProps/app.xml" ContentType="application/vnd.openxmlformats-officedocument.extended-properties+xml"/>
  <Override PartName="/docProps/core.xml" ContentType="application/vnd.openxmlformats-package.core-properties+xml"/>
  <Override PartName="/ppt/viewProps.xml" ContentType="application/vnd.openxmlformats-officedocument.presentationml.viewProps+xml"/>
  <Override PartName="/ppt/presentation.xml" ContentType="application/vnd.openxmlformats-officedocument.presentationml.presentation.main+xml"/>
  <Override PartName="/ppt/tableStyles.xml" ContentType="application/vnd.openxmlformats-officedocument.presentationml.tableStyles+xml"/>
  <Override PartName="/ppt/presProps.xml" ContentType="application/vnd.openxmlformats-officedocument.presentationml.presProp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Masters/slideMaster1.xml" ContentType="application/vnd.openxmlformats-officedocument.presentationml.slideMaster+xml"/>
  <Override PartName="/ppt/theme/theme1.xml" ContentType="application/vnd.openxmlformats-officedocument.theme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</Types>
</file>

<file path=_rels/.rels><?xml version="1.0" encoding="UTF-8"?>
<Relationships xmlns="http://schemas.openxmlformats.org/package/2006/relationships"><Relationship Id="rId1" Type="http://schemas.openxmlformats.org/package/2006/relationships/metadata/core-properties" Target="docProps/core.xml" TargetMode="Internal"></Relationship><Relationship Id="rId2" Type="http://schemas.openxmlformats.org/officeDocument/2006/relationships/extended-properties" Target="docProps/app.xml" TargetMode="Internal"></Relationship><Relationship Id="rId3" Type="http://schemas.openxmlformats.org/officeDocument/2006/relationships/officeDocument" Target="ppt/presentation.xml" TargetMode="Internal"></Relationship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0" r:id="rId196"/>
    <p:sldId id="451" r:id="rId197"/>
    <p:sldId id="452" r:id="rId198"/>
    <p:sldId id="453" r:id="rId199"/>
    <p:sldId id="454" r:id="rId200"/>
    <p:sldId id="455" r:id="rId201"/>
    <p:sldId id="456" r:id="rId202"/>
    <p:sldId id="457" r:id="rId203"/>
    <p:sldId id="458" r:id="rId204"/>
    <p:sldId id="459" r:id="rId205"/>
    <p:sldId id="460" r:id="rId206"/>
    <p:sldId id="461" r:id="rId207"/>
    <p:sldId id="462" r:id="rId208"/>
    <p:sldId id="463" r:id="rId209"/>
    <p:sldId id="464" r:id="rId210"/>
    <p:sldId id="465" r:id="rId211"/>
    <p:sldId id="466" r:id="rId212"/>
    <p:sldId id="467" r:id="rId213"/>
    <p:sldId id="468" r:id="rId214"/>
    <p:sldId id="469" r:id="rId215"/>
    <p:sldId id="470" r:id="rId216"/>
    <p:sldId id="471" r:id="rId217"/>
    <p:sldId id="472" r:id="rId218"/>
    <p:sldId id="473" r:id="rId219"/>
    <p:sldId id="474" r:id="rId220"/>
    <p:sldId id="475" r:id="rId221"/>
    <p:sldId id="476" r:id="rId222"/>
    <p:sldId id="477" r:id="rId223"/>
    <p:sldId id="478" r:id="rId224"/>
    <p:sldId id="479" r:id="rId225"/>
    <p:sldId id="480" r:id="rId226"/>
    <p:sldId id="481" r:id="rId227"/>
    <p:sldId id="482" r:id="rId228"/>
    <p:sldId id="483" r:id="rId229"/>
    <p:sldId id="484" r:id="rId230"/>
    <p:sldId id="485" r:id="rId231"/>
    <p:sldId id="486" r:id="rId232"/>
    <p:sldId id="487" r:id="rId233"/>
    <p:sldId id="488" r:id="rId234"/>
    <p:sldId id="489" r:id="rId235"/>
    <p:sldId id="490" r:id="rId236"/>
    <p:sldId id="491" r:id="rId237"/>
    <p:sldId id="492" r:id="rId238"/>
    <p:sldId id="493" r:id="rId239"/>
    <p:sldId id="494" r:id="rId240"/>
    <p:sldId id="495" r:id="rId241"/>
    <p:sldId id="496" r:id="rId242"/>
    <p:sldId id="497" r:id="rId243"/>
    <p:sldId id="498" r:id="rId244"/>
    <p:sldId id="499" r:id="rId245"/>
    <p:sldId id="500" r:id="rId246"/>
    <p:sldId id="501" r:id="rId247"/>
    <p:sldId id="502" r:id="rId248"/>
    <p:sldId id="503" r:id="rId249"/>
    <p:sldId id="504" r:id="rId250"/>
    <p:sldId id="505" r:id="rId251"/>
    <p:sldId id="506" r:id="rId252"/>
    <p:sldId id="507" r:id="rId253"/>
    <p:sldId id="508" r:id="rId254"/>
    <p:sldId id="509" r:id="rId255"/>
    <p:sldId id="510" r:id="rId256"/>
    <p:sldId id="511" r:id="rId257"/>
    <p:sldId id="512" r:id="rId258"/>
    <p:sldId id="513" r:id="rId259"/>
    <p:sldId id="514" r:id="rId260"/>
    <p:sldId id="515" r:id="rId261"/>
    <p:sldId id="516" r:id="rId262"/>
    <p:sldId id="517" r:id="rId263"/>
    <p:sldId id="518" r:id="rId264"/>
    <p:sldId id="519" r:id="rId265"/>
    <p:sldId id="520" r:id="rId266"/>
    <p:sldId id="521" r:id="rId267"/>
    <p:sldId id="522" r:id="rId268"/>
    <p:sldId id="523" r:id="rId269"/>
    <p:sldId id="524" r:id="rId270"/>
    <p:sldId id="525" r:id="rId271"/>
    <p:sldId id="526" r:id="rId272"/>
    <p:sldId id="527" r:id="rId273"/>
    <p:sldId id="528" r:id="rId274"/>
    <p:sldId id="529" r:id="rId275"/>
    <p:sldId id="530" r:id="rId276"/>
    <p:sldId id="531" r:id="rId277"/>
    <p:sldId id="532" r:id="rId278"/>
    <p:sldId id="533" r:id="rId279"/>
    <p:sldId id="534" r:id="rId280"/>
    <p:sldId id="535" r:id="rId281"/>
    <p:sldId id="536" r:id="rId282"/>
    <p:sldId id="537" r:id="rId283"/>
    <p:sldId id="538" r:id="rId284"/>
    <p:sldId id="539" r:id="rId285"/>
    <p:sldId id="540" r:id="rId286"/>
    <p:sldId id="541" r:id="rId287"/>
    <p:sldId id="542" r:id="rId288"/>
    <p:sldId id="543" r:id="rId289"/>
    <p:sldId id="544" r:id="rId290"/>
    <p:sldId id="545" r:id="rId291"/>
    <p:sldId id="546" r:id="rId292"/>
    <p:sldId id="547" r:id="rId293"/>
    <p:sldId id="548" r:id="rId294"/>
    <p:sldId id="549" r:id="rId295"/>
    <p:sldId id="550" r:id="rId296"/>
    <p:sldId id="551" r:id="rId297"/>
    <p:sldId id="552" r:id="rId298"/>
    <p:sldId id="553" r:id="rId299"/>
    <p:sldId id="554" r:id="rId300"/>
    <p:sldId id="555" r:id="rId301"/>
    <p:sldId id="556" r:id="rId302"/>
    <p:sldId id="557" r:id="rId303"/>
    <p:sldId id="558" r:id="rId304"/>
    <p:sldId id="559" r:id="rId305"/>
    <p:sldId id="560" r:id="rId306"/>
    <p:sldId id="561" r:id="rId307"/>
    <p:sldId id="562" r:id="rId308"/>
    <p:sldId id="563" r:id="rId309"/>
    <p:sldId id="564" r:id="rId310"/>
    <p:sldId id="565" r:id="rId311"/>
    <p:sldId id="566" r:id="rId312"/>
    <p:sldId id="567" r:id="rId313"/>
    <p:sldId id="568" r:id="rId314"/>
    <p:sldId id="569" r:id="rId315"/>
    <p:sldId id="570" r:id="rId316"/>
    <p:sldId id="571" r:id="rId317"/>
    <p:sldId id="572" r:id="rId318"/>
    <p:sldId id="573" r:id="rId319"/>
    <p:sldId id="574" r:id="rId320"/>
    <p:sldId id="575" r:id="rId321"/>
    <p:sldId id="576" r:id="rId322"/>
    <p:sldId id="577" r:id="rId323"/>
    <p:sldId id="578" r:id="rId324"/>
    <p:sldId id="579" r:id="rId325"/>
    <p:sldId id="580" r:id="rId326"/>
    <p:sldId id="581" r:id="rId327"/>
    <p:sldId id="582" r:id="rId328"/>
    <p:sldId id="583" r:id="rId329"/>
    <p:sldId id="584" r:id="rId330"/>
    <p:sldId id="585" r:id="rId331"/>
    <p:sldId id="586" r:id="rId332"/>
    <p:sldId id="587" r:id="rId333"/>
    <p:sldId id="588" r:id="rId334"/>
    <p:sldId id="589" r:id="rId335"/>
    <p:sldId id="590" r:id="rId336"/>
    <p:sldId id="591" r:id="rId337"/>
    <p:sldId id="592" r:id="rId338"/>
    <p:sldId id="593" r:id="rId339"/>
    <p:sldId id="594" r:id="rId340"/>
    <p:sldId id="595" r:id="rId341"/>
    <p:sldId id="596" r:id="rId342"/>
    <p:sldId id="597" r:id="rId343"/>
    <p:sldId id="598" r:id="rId344"/>
    <p:sldId id="599" r:id="rId345"/>
    <p:sldId id="600" r:id="rId346"/>
    <p:sldId id="601" r:id="rId347"/>
    <p:sldId id="602" r:id="rId348"/>
    <p:sldId id="603" r:id="rId349"/>
    <p:sldId id="604" r:id="rId350"/>
    <p:sldId id="605" r:id="rId351"/>
    <p:sldId id="606" r:id="rId352"/>
    <p:sldId id="607" r:id="rId353"/>
    <p:sldId id="608" r:id="rId354"/>
    <p:sldId id="609" r:id="rId355"/>
    <p:sldId id="610" r:id="rId356"/>
    <p:sldId id="611" r:id="rId357"/>
    <p:sldId id="612" r:id="rId358"/>
    <p:sldId id="613" r:id="rId359"/>
    <p:sldId id="614" r:id="rId360"/>
    <p:sldId id="615" r:id="rId361"/>
    <p:sldId id="616" r:id="rId362"/>
    <p:sldId id="617" r:id="rId363"/>
    <p:sldId id="618" r:id="rId364"/>
    <p:sldId id="619" r:id="rId365"/>
    <p:sldId id="620" r:id="rId366"/>
    <p:sldId id="621" r:id="rId367"/>
    <p:sldId id="622" r:id="rId368"/>
    <p:sldId id="623" r:id="rId369"/>
    <p:sldId id="624" r:id="rId370"/>
    <p:sldId id="625" r:id="rId371"/>
    <p:sldId id="626" r:id="rId372"/>
    <p:sldId id="627" r:id="rId373"/>
    <p:sldId id="628" r:id="rId374"/>
    <p:sldId id="629" r:id="rId375"/>
    <p:sldId id="630" r:id="rId376"/>
    <p:sldId id="631" r:id="rId377"/>
    <p:sldId id="632" r:id="rId378"/>
    <p:sldId id="633" r:id="rId379"/>
    <p:sldId id="634" r:id="rId380"/>
    <p:sldId id="635" r:id="rId381"/>
    <p:sldId id="636" r:id="rId382"/>
    <p:sldId id="637" r:id="rId383"/>
    <p:sldId id="638" r:id="rId384"/>
    <p:sldId id="639" r:id="rId385"/>
    <p:sldId id="640" r:id="rId386"/>
    <p:sldId id="641" r:id="rId387"/>
    <p:sldId id="642" r:id="rId388"/>
    <p:sldId id="643" r:id="rId389"/>
    <p:sldId id="644" r:id="rId390"/>
    <p:sldId id="645" r:id="rId391"/>
    <p:sldId id="646" r:id="rId392"/>
    <p:sldId id="647" r:id="rId393"/>
    <p:sldId id="648" r:id="rId394"/>
    <p:sldId id="649" r:id="rId395"/>
    <p:sldId id="650" r:id="rId396"/>
    <p:sldId id="651" r:id="rId397"/>
    <p:sldId id="652" r:id="rId398"/>
    <p:sldId id="653" r:id="rId399"/>
    <p:sldId id="654" r:id="rId400"/>
    <p:sldId id="655" r:id="rId401"/>
    <p:sldId id="656" r:id="rId402"/>
    <p:sldId id="657" r:id="rId403"/>
    <p:sldId id="658" r:id="rId404"/>
    <p:sldId id="659" r:id="rId405"/>
    <p:sldId id="660" r:id="rId406"/>
    <p:sldId id="661" r:id="rId407"/>
    <p:sldId id="662" r:id="rId408"/>
    <p:sldId id="663" r:id="rId409"/>
    <p:sldId id="664" r:id="rId410"/>
    <p:sldId id="665" r:id="rId411"/>
    <p:sldId id="666" r:id="rId412"/>
    <p:sldId id="667" r:id="rId413"/>
    <p:sldId id="668" r:id="rId414"/>
    <p:sldId id="669" r:id="rId415"/>
    <p:sldId id="670" r:id="rId416"/>
    <p:sldId id="671" r:id="rId417"/>
    <p:sldId id="672" r:id="rId418"/>
    <p:sldId id="673" r:id="rId419"/>
    <p:sldId id="674" r:id="rId420"/>
    <p:sldId id="675" r:id="rId421"/>
    <p:sldId id="676" r:id="rId422"/>
    <p:sldId id="677" r:id="rId423"/>
    <p:sldId id="678" r:id="rId424"/>
    <p:sldId id="679" r:id="rId425"/>
    <p:sldId id="680" r:id="rId426"/>
    <p:sldId id="681" r:id="rId427"/>
    <p:sldId id="682" r:id="rId428"/>
    <p:sldId id="683" r:id="rId429"/>
    <p:sldId id="684" r:id="rId430"/>
    <p:sldId id="685" r:id="rId431"/>
    <p:sldId id="686" r:id="rId432"/>
    <p:sldId id="687" r:id="rId433"/>
    <p:sldId id="688" r:id="rId434"/>
    <p:sldId id="689" r:id="rId435"/>
    <p:sldId id="690" r:id="rId436"/>
    <p:sldId id="691" r:id="rId437"/>
    <p:sldId id="692" r:id="rId438"/>
    <p:sldId id="693" r:id="rId439"/>
    <p:sldId id="694" r:id="rId440"/>
    <p:sldId id="695" r:id="rId441"/>
    <p:sldId id="696" r:id="rId442"/>
    <p:sldId id="697" r:id="rId443"/>
    <p:sldId id="698" r:id="rId444"/>
    <p:sldId id="699" r:id="rId445"/>
    <p:sldId id="700" r:id="rId446"/>
    <p:sldId id="701" r:id="rId447"/>
    <p:sldId id="702" r:id="rId448"/>
    <p:sldId id="703" r:id="rId449"/>
    <p:sldId id="704" r:id="rId450"/>
    <p:sldId id="705" r:id="rId451"/>
    <p:sldId id="706" r:id="rId452"/>
    <p:sldId id="707" r:id="rId453"/>
    <p:sldId id="708" r:id="rId454"/>
    <p:sldId id="709" r:id="rId455"/>
    <p:sldId id="710" r:id="rId456"/>
    <p:sldId id="711" r:id="rId457"/>
    <p:sldId id="712" r:id="rId458"/>
    <p:sldId id="713" r:id="rId459"/>
    <p:sldId id="714" r:id="rId460"/>
    <p:sldId id="715" r:id="rId461"/>
    <p:sldId id="716" r:id="rId462"/>
    <p:sldId id="717" r:id="rId463"/>
    <p:sldId id="718" r:id="rId464"/>
    <p:sldId id="719" r:id="rId465"/>
    <p:sldId id="720" r:id="rId466"/>
    <p:sldId id="721" r:id="rId467"/>
    <p:sldId id="722" r:id="rId468"/>
    <p:sldId id="723" r:id="rId469"/>
    <p:sldId id="724" r:id="rId470"/>
    <p:sldId id="725" r:id="rId471"/>
    <p:sldId id="726" r:id="rId472"/>
    <p:sldId id="727" r:id="rId473"/>
    <p:sldId id="728" r:id="rId474"/>
    <p:sldId id="729" r:id="rId475"/>
    <p:sldId id="730" r:id="rId476"/>
    <p:sldId id="731" r:id="rId477"/>
    <p:sldId id="732" r:id="rId478"/>
    <p:sldId id="733" r:id="rId479"/>
    <p:sldId id="734" r:id="rId480"/>
    <p:sldId id="735" r:id="rId481"/>
    <p:sldId id="736" r:id="rId482"/>
    <p:sldId id="737" r:id="rId483"/>
    <p:sldId id="738" r:id="rId484"/>
    <p:sldId id="739" r:id="rId485"/>
    <p:sldId id="740" r:id="rId486"/>
    <p:sldId id="741" r:id="rId487"/>
    <p:sldId id="742" r:id="rId488"/>
    <p:sldId id="743" r:id="rId489"/>
    <p:sldId id="744" r:id="rId490"/>
    <p:sldId id="745" r:id="rId491"/>
    <p:sldId id="746" r:id="rId492"/>
    <p:sldId id="747" r:id="rId493"/>
    <p:sldId id="748" r:id="rId494"/>
    <p:sldId id="749" r:id="rId495"/>
    <p:sldId id="750" r:id="rId496"/>
    <p:sldId id="751" r:id="rId497"/>
    <p:sldId id="752" r:id="rId498"/>
    <p:sldId id="753" r:id="rId499"/>
    <p:sldId id="754" r:id="rId500"/>
    <p:sldId id="755" r:id="rId501"/>
    <p:sldId id="756" r:id="rId502"/>
    <p:sldId id="757" r:id="rId503"/>
    <p:sldId id="758" r:id="rId504"/>
    <p:sldId id="759" r:id="rId505"/>
    <p:sldId id="760" r:id="rId506"/>
    <p:sldId id="761" r:id="rId507"/>
    <p:sldId id="762" r:id="rId508"/>
    <p:sldId id="763" r:id="rId509"/>
    <p:sldId id="764" r:id="rId510"/>
    <p:sldId id="765" r:id="rId511"/>
    <p:sldId id="766" r:id="rId512"/>
    <p:sldId id="767" r:id="rId513"/>
    <p:sldId id="768" r:id="rId514"/>
    <p:sldId id="769" r:id="rId515"/>
    <p:sldId id="770" r:id="rId516"/>
    <p:sldId id="771" r:id="rId517"/>
    <p:sldId id="772" r:id="rId518"/>
    <p:sldId id="773" r:id="rId519"/>
    <p:sldId id="774" r:id="rId520"/>
    <p:sldId id="775" r:id="rId521"/>
    <p:sldId id="776" r:id="rId522"/>
    <p:sldId id="777" r:id="rId523"/>
  </p:sldIdLst>
  <p:sldSz cx="7772400" cy="10058400" type="custom"/>
  <p:notesSz cx="6858000" cy="9144000"/>
  <p:defaultTextStyle>
    <a:defPPr>
      <a:defRPr lang="ko-KR"/>
    </a:defPPr>
    <a:lvl1pPr algn="l" marL="0" indent="0" defTabSz="914400">
      <a:buNone/>
      <a:defRPr lang="ko-KR" smtClean="0" sz="1800" baseline="0">
        <a:solidFill>
          <a:srgbClr val="000000"/>
        </a:solidFill>
        <a:latin typeface="SimSun"/>
        <a:ea typeface="SimSun"/>
      </a:defRPr>
    </a:lvl1pPr>
    <a:lvl2pPr lvl="1" marL="457200" indent="0" defTabSz="914400">
      <a:defRPr lang="ko-KR" smtClean="0"/>
    </a:lvl2pPr>
    <a:lvl3pPr lvl="2" marL="914400" indent="0" defTabSz="914400">
      <a:defRPr lang="ko-KR" smtClean="0"/>
    </a:lvl3pPr>
    <a:lvl4pPr lvl="3" marL="1371600" indent="0" defTabSz="914400">
      <a:defRPr lang="ko-KR" smtClean="0"/>
    </a:lvl4pPr>
    <a:lvl5pPr lvl="4" marL="1828800" indent="0" defTabSz="914400">
      <a:defRPr lang="ko-KR" smtClean="0"/>
    </a:lvl5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>
      <p:cViewPr varScale="1">
        <p:scale>
          <a:sx n="51" d="100"/>
          <a:sy n="51" d="100"/>
        </p:scale>
        <p:origin x="-660" y="-8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?>
<Relationships xmlns="http://schemas.openxmlformats.org/package/2006/relationships"><Relationship Id="rId1" Type="http://schemas.openxmlformats.org/officeDocument/2006/relationships/slideMaster" Target="slideMasters/slideMaster1.xml" TargetMode="Internal"></Relationship><Relationship Id="rId2" Type="http://schemas.openxmlformats.org/officeDocument/2006/relationships/slide" Target="slides/slide1.xml" TargetMode="Internal"></Relationship><Relationship Id="rId3" Type="http://schemas.openxmlformats.org/officeDocument/2006/relationships/slide" Target="slides/slide2.xml" TargetMode="Internal"></Relationship><Relationship Id="rId4" Type="http://schemas.openxmlformats.org/officeDocument/2006/relationships/slide" Target="slides/slide3.xml" TargetMode="Internal"></Relationship><Relationship Id="rId5" Type="http://schemas.openxmlformats.org/officeDocument/2006/relationships/slide" Target="slides/slide4.xml" TargetMode="Internal"></Relationship><Relationship Id="rId6" Type="http://schemas.openxmlformats.org/officeDocument/2006/relationships/slide" Target="slides/slide5.xml" TargetMode="Internal"></Relationship><Relationship Id="rId7" Type="http://schemas.openxmlformats.org/officeDocument/2006/relationships/slide" Target="slides/slide6.xml" TargetMode="Internal"></Relationship><Relationship Id="rId8" Type="http://schemas.openxmlformats.org/officeDocument/2006/relationships/slide" Target="slides/slide7.xml" TargetMode="Internal"></Relationship><Relationship Id="rId9" Type="http://schemas.openxmlformats.org/officeDocument/2006/relationships/slide" Target="slides/slide8.xml" TargetMode="Internal"></Relationship><Relationship Id="rId10" Type="http://schemas.openxmlformats.org/officeDocument/2006/relationships/slide" Target="slides/slide9.xml" TargetMode="Internal"></Relationship><Relationship Id="rId11" Type="http://schemas.openxmlformats.org/officeDocument/2006/relationships/slide" Target="slides/slide10.xml" TargetMode="Internal"></Relationship><Relationship Id="rId12" Type="http://schemas.openxmlformats.org/officeDocument/2006/relationships/slide" Target="slides/slide11.xml" TargetMode="Internal"></Relationship><Relationship Id="rId13" Type="http://schemas.openxmlformats.org/officeDocument/2006/relationships/slide" Target="slides/slide12.xml" TargetMode="Internal"></Relationship><Relationship Id="rId14" Type="http://schemas.openxmlformats.org/officeDocument/2006/relationships/slide" Target="slides/slide13.xml" TargetMode="Internal"></Relationship><Relationship Id="rId15" Type="http://schemas.openxmlformats.org/officeDocument/2006/relationships/slide" Target="slides/slide14.xml" TargetMode="Internal"></Relationship><Relationship Id="rId16" Type="http://schemas.openxmlformats.org/officeDocument/2006/relationships/slide" Target="slides/slide15.xml" TargetMode="Internal"></Relationship><Relationship Id="rId17" Type="http://schemas.openxmlformats.org/officeDocument/2006/relationships/slide" Target="slides/slide16.xml" TargetMode="Internal"></Relationship><Relationship Id="rId18" Type="http://schemas.openxmlformats.org/officeDocument/2006/relationships/slide" Target="slides/slide17.xml" TargetMode="Internal"></Relationship><Relationship Id="rId19" Type="http://schemas.openxmlformats.org/officeDocument/2006/relationships/slide" Target="slides/slide18.xml" TargetMode="Internal"></Relationship><Relationship Id="rId20" Type="http://schemas.openxmlformats.org/officeDocument/2006/relationships/slide" Target="slides/slide19.xml" TargetMode="Internal"></Relationship><Relationship Id="rId21" Type="http://schemas.openxmlformats.org/officeDocument/2006/relationships/slide" Target="slides/slide20.xml" TargetMode="Internal"></Relationship><Relationship Id="rId22" Type="http://schemas.openxmlformats.org/officeDocument/2006/relationships/slide" Target="slides/slide21.xml" TargetMode="Internal"></Relationship><Relationship Id="rId23" Type="http://schemas.openxmlformats.org/officeDocument/2006/relationships/slide" Target="slides/slide22.xml" TargetMode="Internal"></Relationship><Relationship Id="rId24" Type="http://schemas.openxmlformats.org/officeDocument/2006/relationships/slide" Target="slides/slide23.xml" TargetMode="Internal"></Relationship><Relationship Id="rId25" Type="http://schemas.openxmlformats.org/officeDocument/2006/relationships/slide" Target="slides/slide24.xml" TargetMode="Internal"></Relationship><Relationship Id="rId26" Type="http://schemas.openxmlformats.org/officeDocument/2006/relationships/slide" Target="slides/slide25.xml" TargetMode="Internal"></Relationship><Relationship Id="rId27" Type="http://schemas.openxmlformats.org/officeDocument/2006/relationships/slide" Target="slides/slide26.xml" TargetMode="Internal"></Relationship><Relationship Id="rId28" Type="http://schemas.openxmlformats.org/officeDocument/2006/relationships/slide" Target="slides/slide27.xml" TargetMode="Internal"></Relationship><Relationship Id="rId29" Type="http://schemas.openxmlformats.org/officeDocument/2006/relationships/slide" Target="slides/slide28.xml" TargetMode="Internal"></Relationship><Relationship Id="rId30" Type="http://schemas.openxmlformats.org/officeDocument/2006/relationships/slide" Target="slides/slide29.xml" TargetMode="Internal"></Relationship><Relationship Id="rId31" Type="http://schemas.openxmlformats.org/officeDocument/2006/relationships/slide" Target="slides/slide30.xml" TargetMode="Internal"></Relationship><Relationship Id="rId32" Type="http://schemas.openxmlformats.org/officeDocument/2006/relationships/slide" Target="slides/slide31.xml" TargetMode="Internal"></Relationship><Relationship Id="rId33" Type="http://schemas.openxmlformats.org/officeDocument/2006/relationships/slide" Target="slides/slide32.xml" TargetMode="Internal"></Relationship><Relationship Id="rId34" Type="http://schemas.openxmlformats.org/officeDocument/2006/relationships/slide" Target="slides/slide33.xml" TargetMode="Internal"></Relationship><Relationship Id="rId35" Type="http://schemas.openxmlformats.org/officeDocument/2006/relationships/slide" Target="slides/slide34.xml" TargetMode="Internal"></Relationship><Relationship Id="rId36" Type="http://schemas.openxmlformats.org/officeDocument/2006/relationships/slide" Target="slides/slide35.xml" TargetMode="Internal"></Relationship><Relationship Id="rId37" Type="http://schemas.openxmlformats.org/officeDocument/2006/relationships/slide" Target="slides/slide36.xml" TargetMode="Internal"></Relationship><Relationship Id="rId38" Type="http://schemas.openxmlformats.org/officeDocument/2006/relationships/slide" Target="slides/slide37.xml" TargetMode="Internal"></Relationship><Relationship Id="rId39" Type="http://schemas.openxmlformats.org/officeDocument/2006/relationships/slide" Target="slides/slide38.xml" TargetMode="Internal"></Relationship><Relationship Id="rId40" Type="http://schemas.openxmlformats.org/officeDocument/2006/relationships/slide" Target="slides/slide39.xml" TargetMode="Internal"></Relationship><Relationship Id="rId41" Type="http://schemas.openxmlformats.org/officeDocument/2006/relationships/slide" Target="slides/slide40.xml" TargetMode="Internal"></Relationship><Relationship Id="rId42" Type="http://schemas.openxmlformats.org/officeDocument/2006/relationships/slide" Target="slides/slide41.xml" TargetMode="Internal"></Relationship><Relationship Id="rId43" Type="http://schemas.openxmlformats.org/officeDocument/2006/relationships/slide" Target="slides/slide42.xml" TargetMode="Internal"></Relationship><Relationship Id="rId44" Type="http://schemas.openxmlformats.org/officeDocument/2006/relationships/slide" Target="slides/slide43.xml" TargetMode="Internal"></Relationship><Relationship Id="rId45" Type="http://schemas.openxmlformats.org/officeDocument/2006/relationships/slide" Target="slides/slide44.xml" TargetMode="Internal"></Relationship><Relationship Id="rId46" Type="http://schemas.openxmlformats.org/officeDocument/2006/relationships/slide" Target="slides/slide45.xml" TargetMode="Internal"></Relationship><Relationship Id="rId47" Type="http://schemas.openxmlformats.org/officeDocument/2006/relationships/slide" Target="slides/slide46.xml" TargetMode="Internal"></Relationship><Relationship Id="rId48" Type="http://schemas.openxmlformats.org/officeDocument/2006/relationships/slide" Target="slides/slide47.xml" TargetMode="Internal"></Relationship><Relationship Id="rId49" Type="http://schemas.openxmlformats.org/officeDocument/2006/relationships/slide" Target="slides/slide48.xml" TargetMode="Internal"></Relationship><Relationship Id="rId50" Type="http://schemas.openxmlformats.org/officeDocument/2006/relationships/slide" Target="slides/slide49.xml" TargetMode="Internal"></Relationship><Relationship Id="rId51" Type="http://schemas.openxmlformats.org/officeDocument/2006/relationships/slide" Target="slides/slide50.xml" TargetMode="Internal"></Relationship><Relationship Id="rId52" Type="http://schemas.openxmlformats.org/officeDocument/2006/relationships/slide" Target="slides/slide51.xml" TargetMode="Internal"></Relationship><Relationship Id="rId53" Type="http://schemas.openxmlformats.org/officeDocument/2006/relationships/slide" Target="slides/slide52.xml" TargetMode="Internal"></Relationship><Relationship Id="rId54" Type="http://schemas.openxmlformats.org/officeDocument/2006/relationships/slide" Target="slides/slide53.xml" TargetMode="Internal"></Relationship><Relationship Id="rId55" Type="http://schemas.openxmlformats.org/officeDocument/2006/relationships/slide" Target="slides/slide54.xml" TargetMode="Internal"></Relationship><Relationship Id="rId56" Type="http://schemas.openxmlformats.org/officeDocument/2006/relationships/slide" Target="slides/slide55.xml" TargetMode="Internal"></Relationship><Relationship Id="rId57" Type="http://schemas.openxmlformats.org/officeDocument/2006/relationships/slide" Target="slides/slide56.xml" TargetMode="Internal"></Relationship><Relationship Id="rId58" Type="http://schemas.openxmlformats.org/officeDocument/2006/relationships/slide" Target="slides/slide57.xml" TargetMode="Internal"></Relationship><Relationship Id="rId59" Type="http://schemas.openxmlformats.org/officeDocument/2006/relationships/slide" Target="slides/slide58.xml" TargetMode="Internal"></Relationship><Relationship Id="rId60" Type="http://schemas.openxmlformats.org/officeDocument/2006/relationships/slide" Target="slides/slide59.xml" TargetMode="Internal"></Relationship><Relationship Id="rId61" Type="http://schemas.openxmlformats.org/officeDocument/2006/relationships/slide" Target="slides/slide60.xml" TargetMode="Internal"></Relationship><Relationship Id="rId62" Type="http://schemas.openxmlformats.org/officeDocument/2006/relationships/slide" Target="slides/slide61.xml" TargetMode="Internal"></Relationship><Relationship Id="rId63" Type="http://schemas.openxmlformats.org/officeDocument/2006/relationships/slide" Target="slides/slide62.xml" TargetMode="Internal"></Relationship><Relationship Id="rId64" Type="http://schemas.openxmlformats.org/officeDocument/2006/relationships/slide" Target="slides/slide63.xml" TargetMode="Internal"></Relationship><Relationship Id="rId65" Type="http://schemas.openxmlformats.org/officeDocument/2006/relationships/slide" Target="slides/slide64.xml" TargetMode="Internal"></Relationship><Relationship Id="rId66" Type="http://schemas.openxmlformats.org/officeDocument/2006/relationships/slide" Target="slides/slide65.xml" TargetMode="Internal"></Relationship><Relationship Id="rId67" Type="http://schemas.openxmlformats.org/officeDocument/2006/relationships/slide" Target="slides/slide66.xml" TargetMode="Internal"></Relationship><Relationship Id="rId68" Type="http://schemas.openxmlformats.org/officeDocument/2006/relationships/slide" Target="slides/slide67.xml" TargetMode="Internal"></Relationship><Relationship Id="rId69" Type="http://schemas.openxmlformats.org/officeDocument/2006/relationships/slide" Target="slides/slide68.xml" TargetMode="Internal"></Relationship><Relationship Id="rId70" Type="http://schemas.openxmlformats.org/officeDocument/2006/relationships/slide" Target="slides/slide69.xml" TargetMode="Internal"></Relationship><Relationship Id="rId71" Type="http://schemas.openxmlformats.org/officeDocument/2006/relationships/slide" Target="slides/slide70.xml" TargetMode="Internal"></Relationship><Relationship Id="rId72" Type="http://schemas.openxmlformats.org/officeDocument/2006/relationships/slide" Target="slides/slide71.xml" TargetMode="Internal"></Relationship><Relationship Id="rId73" Type="http://schemas.openxmlformats.org/officeDocument/2006/relationships/slide" Target="slides/slide72.xml" TargetMode="Internal"></Relationship><Relationship Id="rId74" Type="http://schemas.openxmlformats.org/officeDocument/2006/relationships/slide" Target="slides/slide73.xml" TargetMode="Internal"></Relationship><Relationship Id="rId75" Type="http://schemas.openxmlformats.org/officeDocument/2006/relationships/slide" Target="slides/slide74.xml" TargetMode="Internal"></Relationship><Relationship Id="rId76" Type="http://schemas.openxmlformats.org/officeDocument/2006/relationships/slide" Target="slides/slide75.xml" TargetMode="Internal"></Relationship><Relationship Id="rId77" Type="http://schemas.openxmlformats.org/officeDocument/2006/relationships/slide" Target="slides/slide76.xml" TargetMode="Internal"></Relationship><Relationship Id="rId78" Type="http://schemas.openxmlformats.org/officeDocument/2006/relationships/slide" Target="slides/slide77.xml" TargetMode="Internal"></Relationship><Relationship Id="rId79" Type="http://schemas.openxmlformats.org/officeDocument/2006/relationships/slide" Target="slides/slide78.xml" TargetMode="Internal"></Relationship><Relationship Id="rId80" Type="http://schemas.openxmlformats.org/officeDocument/2006/relationships/slide" Target="slides/slide79.xml" TargetMode="Internal"></Relationship><Relationship Id="rId81" Type="http://schemas.openxmlformats.org/officeDocument/2006/relationships/slide" Target="slides/slide80.xml" TargetMode="Internal"></Relationship><Relationship Id="rId82" Type="http://schemas.openxmlformats.org/officeDocument/2006/relationships/slide" Target="slides/slide81.xml" TargetMode="Internal"></Relationship><Relationship Id="rId83" Type="http://schemas.openxmlformats.org/officeDocument/2006/relationships/slide" Target="slides/slide82.xml" TargetMode="Internal"></Relationship><Relationship Id="rId84" Type="http://schemas.openxmlformats.org/officeDocument/2006/relationships/slide" Target="slides/slide83.xml" TargetMode="Internal"></Relationship><Relationship Id="rId85" Type="http://schemas.openxmlformats.org/officeDocument/2006/relationships/slide" Target="slides/slide84.xml" TargetMode="Internal"></Relationship><Relationship Id="rId86" Type="http://schemas.openxmlformats.org/officeDocument/2006/relationships/slide" Target="slides/slide85.xml" TargetMode="Internal"></Relationship><Relationship Id="rId87" Type="http://schemas.openxmlformats.org/officeDocument/2006/relationships/slide" Target="slides/slide86.xml" TargetMode="Internal"></Relationship><Relationship Id="rId88" Type="http://schemas.openxmlformats.org/officeDocument/2006/relationships/slide" Target="slides/slide87.xml" TargetMode="Internal"></Relationship><Relationship Id="rId89" Type="http://schemas.openxmlformats.org/officeDocument/2006/relationships/slide" Target="slides/slide88.xml" TargetMode="Internal"></Relationship><Relationship Id="rId90" Type="http://schemas.openxmlformats.org/officeDocument/2006/relationships/slide" Target="slides/slide89.xml" TargetMode="Internal"></Relationship><Relationship Id="rId91" Type="http://schemas.openxmlformats.org/officeDocument/2006/relationships/slide" Target="slides/slide90.xml" TargetMode="Internal"></Relationship><Relationship Id="rId92" Type="http://schemas.openxmlformats.org/officeDocument/2006/relationships/slide" Target="slides/slide91.xml" TargetMode="Internal"></Relationship><Relationship Id="rId93" Type="http://schemas.openxmlformats.org/officeDocument/2006/relationships/slide" Target="slides/slide92.xml" TargetMode="Internal"></Relationship><Relationship Id="rId94" Type="http://schemas.openxmlformats.org/officeDocument/2006/relationships/slide" Target="slides/slide93.xml" TargetMode="Internal"></Relationship><Relationship Id="rId95" Type="http://schemas.openxmlformats.org/officeDocument/2006/relationships/slide" Target="slides/slide94.xml" TargetMode="Internal"></Relationship><Relationship Id="rId96" Type="http://schemas.openxmlformats.org/officeDocument/2006/relationships/slide" Target="slides/slide95.xml" TargetMode="Internal"></Relationship><Relationship Id="rId97" Type="http://schemas.openxmlformats.org/officeDocument/2006/relationships/slide" Target="slides/slide96.xml" TargetMode="Internal"></Relationship><Relationship Id="rId98" Type="http://schemas.openxmlformats.org/officeDocument/2006/relationships/slide" Target="slides/slide97.xml" TargetMode="Internal"></Relationship><Relationship Id="rId99" Type="http://schemas.openxmlformats.org/officeDocument/2006/relationships/slide" Target="slides/slide98.xml" TargetMode="Internal"></Relationship><Relationship Id="rId100" Type="http://schemas.openxmlformats.org/officeDocument/2006/relationships/slide" Target="slides/slide99.xml" TargetMode="Internal"></Relationship><Relationship Id="rId101" Type="http://schemas.openxmlformats.org/officeDocument/2006/relationships/slide" Target="slides/slide100.xml" TargetMode="Internal"></Relationship><Relationship Id="rId102" Type="http://schemas.openxmlformats.org/officeDocument/2006/relationships/slide" Target="slides/slide101.xml" TargetMode="Internal"></Relationship><Relationship Id="rId103" Type="http://schemas.openxmlformats.org/officeDocument/2006/relationships/slide" Target="slides/slide102.xml" TargetMode="Internal"></Relationship><Relationship Id="rId104" Type="http://schemas.openxmlformats.org/officeDocument/2006/relationships/slide" Target="slides/slide103.xml" TargetMode="Internal"></Relationship><Relationship Id="rId105" Type="http://schemas.openxmlformats.org/officeDocument/2006/relationships/slide" Target="slides/slide104.xml" TargetMode="Internal"></Relationship><Relationship Id="rId106" Type="http://schemas.openxmlformats.org/officeDocument/2006/relationships/slide" Target="slides/slide105.xml" TargetMode="Internal"></Relationship><Relationship Id="rId107" Type="http://schemas.openxmlformats.org/officeDocument/2006/relationships/slide" Target="slides/slide106.xml" TargetMode="Internal"></Relationship><Relationship Id="rId108" Type="http://schemas.openxmlformats.org/officeDocument/2006/relationships/slide" Target="slides/slide107.xml" TargetMode="Internal"></Relationship><Relationship Id="rId109" Type="http://schemas.openxmlformats.org/officeDocument/2006/relationships/slide" Target="slides/slide108.xml" TargetMode="Internal"></Relationship><Relationship Id="rId110" Type="http://schemas.openxmlformats.org/officeDocument/2006/relationships/slide" Target="slides/slide109.xml" TargetMode="Internal"></Relationship><Relationship Id="rId111" Type="http://schemas.openxmlformats.org/officeDocument/2006/relationships/slide" Target="slides/slide110.xml" TargetMode="Internal"></Relationship><Relationship Id="rId112" Type="http://schemas.openxmlformats.org/officeDocument/2006/relationships/slide" Target="slides/slide111.xml" TargetMode="Internal"></Relationship><Relationship Id="rId113" Type="http://schemas.openxmlformats.org/officeDocument/2006/relationships/slide" Target="slides/slide112.xml" TargetMode="Internal"></Relationship><Relationship Id="rId114" Type="http://schemas.openxmlformats.org/officeDocument/2006/relationships/slide" Target="slides/slide113.xml" TargetMode="Internal"></Relationship><Relationship Id="rId115" Type="http://schemas.openxmlformats.org/officeDocument/2006/relationships/slide" Target="slides/slide114.xml" TargetMode="Internal"></Relationship><Relationship Id="rId116" Type="http://schemas.openxmlformats.org/officeDocument/2006/relationships/slide" Target="slides/slide115.xml" TargetMode="Internal"></Relationship><Relationship Id="rId117" Type="http://schemas.openxmlformats.org/officeDocument/2006/relationships/slide" Target="slides/slide116.xml" TargetMode="Internal"></Relationship><Relationship Id="rId118" Type="http://schemas.openxmlformats.org/officeDocument/2006/relationships/slide" Target="slides/slide117.xml" TargetMode="Internal"></Relationship><Relationship Id="rId119" Type="http://schemas.openxmlformats.org/officeDocument/2006/relationships/slide" Target="slides/slide118.xml" TargetMode="Internal"></Relationship><Relationship Id="rId120" Type="http://schemas.openxmlformats.org/officeDocument/2006/relationships/slide" Target="slides/slide119.xml" TargetMode="Internal"></Relationship><Relationship Id="rId121" Type="http://schemas.openxmlformats.org/officeDocument/2006/relationships/slide" Target="slides/slide120.xml" TargetMode="Internal"></Relationship><Relationship Id="rId122" Type="http://schemas.openxmlformats.org/officeDocument/2006/relationships/slide" Target="slides/slide121.xml" TargetMode="Internal"></Relationship><Relationship Id="rId123" Type="http://schemas.openxmlformats.org/officeDocument/2006/relationships/slide" Target="slides/slide122.xml" TargetMode="Internal"></Relationship><Relationship Id="rId124" Type="http://schemas.openxmlformats.org/officeDocument/2006/relationships/slide" Target="slides/slide123.xml" TargetMode="Internal"></Relationship><Relationship Id="rId125" Type="http://schemas.openxmlformats.org/officeDocument/2006/relationships/slide" Target="slides/slide124.xml" TargetMode="Internal"></Relationship><Relationship Id="rId126" Type="http://schemas.openxmlformats.org/officeDocument/2006/relationships/slide" Target="slides/slide125.xml" TargetMode="Internal"></Relationship><Relationship Id="rId127" Type="http://schemas.openxmlformats.org/officeDocument/2006/relationships/slide" Target="slides/slide126.xml" TargetMode="Internal"></Relationship><Relationship Id="rId128" Type="http://schemas.openxmlformats.org/officeDocument/2006/relationships/slide" Target="slides/slide127.xml" TargetMode="Internal"></Relationship><Relationship Id="rId129" Type="http://schemas.openxmlformats.org/officeDocument/2006/relationships/slide" Target="slides/slide128.xml" TargetMode="Internal"></Relationship><Relationship Id="rId130" Type="http://schemas.openxmlformats.org/officeDocument/2006/relationships/slide" Target="slides/slide129.xml" TargetMode="Internal"></Relationship><Relationship Id="rId131" Type="http://schemas.openxmlformats.org/officeDocument/2006/relationships/slide" Target="slides/slide130.xml" TargetMode="Internal"></Relationship><Relationship Id="rId132" Type="http://schemas.openxmlformats.org/officeDocument/2006/relationships/slide" Target="slides/slide131.xml" TargetMode="Internal"></Relationship><Relationship Id="rId133" Type="http://schemas.openxmlformats.org/officeDocument/2006/relationships/slide" Target="slides/slide132.xml" TargetMode="Internal"></Relationship><Relationship Id="rId134" Type="http://schemas.openxmlformats.org/officeDocument/2006/relationships/slide" Target="slides/slide133.xml" TargetMode="Internal"></Relationship><Relationship Id="rId135" Type="http://schemas.openxmlformats.org/officeDocument/2006/relationships/slide" Target="slides/slide134.xml" TargetMode="Internal"></Relationship><Relationship Id="rId136" Type="http://schemas.openxmlformats.org/officeDocument/2006/relationships/slide" Target="slides/slide135.xml" TargetMode="Internal"></Relationship><Relationship Id="rId137" Type="http://schemas.openxmlformats.org/officeDocument/2006/relationships/slide" Target="slides/slide136.xml" TargetMode="Internal"></Relationship><Relationship Id="rId138" Type="http://schemas.openxmlformats.org/officeDocument/2006/relationships/slide" Target="slides/slide137.xml" TargetMode="Internal"></Relationship><Relationship Id="rId139" Type="http://schemas.openxmlformats.org/officeDocument/2006/relationships/slide" Target="slides/slide138.xml" TargetMode="Internal"></Relationship><Relationship Id="rId140" Type="http://schemas.openxmlformats.org/officeDocument/2006/relationships/slide" Target="slides/slide139.xml" TargetMode="Internal"></Relationship><Relationship Id="rId141" Type="http://schemas.openxmlformats.org/officeDocument/2006/relationships/slide" Target="slides/slide140.xml" TargetMode="Internal"></Relationship><Relationship Id="rId142" Type="http://schemas.openxmlformats.org/officeDocument/2006/relationships/slide" Target="slides/slide141.xml" TargetMode="Internal"></Relationship><Relationship Id="rId143" Type="http://schemas.openxmlformats.org/officeDocument/2006/relationships/slide" Target="slides/slide142.xml" TargetMode="Internal"></Relationship><Relationship Id="rId144" Type="http://schemas.openxmlformats.org/officeDocument/2006/relationships/slide" Target="slides/slide143.xml" TargetMode="Internal"></Relationship><Relationship Id="rId145" Type="http://schemas.openxmlformats.org/officeDocument/2006/relationships/slide" Target="slides/slide144.xml" TargetMode="Internal"></Relationship><Relationship Id="rId146" Type="http://schemas.openxmlformats.org/officeDocument/2006/relationships/slide" Target="slides/slide145.xml" TargetMode="Internal"></Relationship><Relationship Id="rId147" Type="http://schemas.openxmlformats.org/officeDocument/2006/relationships/slide" Target="slides/slide146.xml" TargetMode="Internal"></Relationship><Relationship Id="rId148" Type="http://schemas.openxmlformats.org/officeDocument/2006/relationships/slide" Target="slides/slide147.xml" TargetMode="Internal"></Relationship><Relationship Id="rId149" Type="http://schemas.openxmlformats.org/officeDocument/2006/relationships/slide" Target="slides/slide148.xml" TargetMode="Internal"></Relationship><Relationship Id="rId150" Type="http://schemas.openxmlformats.org/officeDocument/2006/relationships/slide" Target="slides/slide149.xml" TargetMode="Internal"></Relationship><Relationship Id="rId151" Type="http://schemas.openxmlformats.org/officeDocument/2006/relationships/slide" Target="slides/slide150.xml" TargetMode="Internal"></Relationship><Relationship Id="rId152" Type="http://schemas.openxmlformats.org/officeDocument/2006/relationships/slide" Target="slides/slide151.xml" TargetMode="Internal"></Relationship><Relationship Id="rId153" Type="http://schemas.openxmlformats.org/officeDocument/2006/relationships/slide" Target="slides/slide152.xml" TargetMode="Internal"></Relationship><Relationship Id="rId154" Type="http://schemas.openxmlformats.org/officeDocument/2006/relationships/slide" Target="slides/slide153.xml" TargetMode="Internal"></Relationship><Relationship Id="rId155" Type="http://schemas.openxmlformats.org/officeDocument/2006/relationships/slide" Target="slides/slide154.xml" TargetMode="Internal"></Relationship><Relationship Id="rId156" Type="http://schemas.openxmlformats.org/officeDocument/2006/relationships/slide" Target="slides/slide155.xml" TargetMode="Internal"></Relationship><Relationship Id="rId157" Type="http://schemas.openxmlformats.org/officeDocument/2006/relationships/slide" Target="slides/slide156.xml" TargetMode="Internal"></Relationship><Relationship Id="rId158" Type="http://schemas.openxmlformats.org/officeDocument/2006/relationships/slide" Target="slides/slide157.xml" TargetMode="Internal"></Relationship><Relationship Id="rId159" Type="http://schemas.openxmlformats.org/officeDocument/2006/relationships/slide" Target="slides/slide158.xml" TargetMode="Internal"></Relationship><Relationship Id="rId160" Type="http://schemas.openxmlformats.org/officeDocument/2006/relationships/slide" Target="slides/slide159.xml" TargetMode="Internal"></Relationship><Relationship Id="rId161" Type="http://schemas.openxmlformats.org/officeDocument/2006/relationships/slide" Target="slides/slide160.xml" TargetMode="Internal"></Relationship><Relationship Id="rId162" Type="http://schemas.openxmlformats.org/officeDocument/2006/relationships/slide" Target="slides/slide161.xml" TargetMode="Internal"></Relationship><Relationship Id="rId163" Type="http://schemas.openxmlformats.org/officeDocument/2006/relationships/slide" Target="slides/slide162.xml" TargetMode="Internal"></Relationship><Relationship Id="rId164" Type="http://schemas.openxmlformats.org/officeDocument/2006/relationships/slide" Target="slides/slide163.xml" TargetMode="Internal"></Relationship><Relationship Id="rId165" Type="http://schemas.openxmlformats.org/officeDocument/2006/relationships/slide" Target="slides/slide164.xml" TargetMode="Internal"></Relationship><Relationship Id="rId166" Type="http://schemas.openxmlformats.org/officeDocument/2006/relationships/slide" Target="slides/slide165.xml" TargetMode="Internal"></Relationship><Relationship Id="rId167" Type="http://schemas.openxmlformats.org/officeDocument/2006/relationships/slide" Target="slides/slide166.xml" TargetMode="Internal"></Relationship><Relationship Id="rId168" Type="http://schemas.openxmlformats.org/officeDocument/2006/relationships/slide" Target="slides/slide167.xml" TargetMode="Internal"></Relationship><Relationship Id="rId169" Type="http://schemas.openxmlformats.org/officeDocument/2006/relationships/slide" Target="slides/slide168.xml" TargetMode="Internal"></Relationship><Relationship Id="rId170" Type="http://schemas.openxmlformats.org/officeDocument/2006/relationships/slide" Target="slides/slide169.xml" TargetMode="Internal"></Relationship><Relationship Id="rId171" Type="http://schemas.openxmlformats.org/officeDocument/2006/relationships/slide" Target="slides/slide170.xml" TargetMode="Internal"></Relationship><Relationship Id="rId172" Type="http://schemas.openxmlformats.org/officeDocument/2006/relationships/slide" Target="slides/slide171.xml" TargetMode="Internal"></Relationship><Relationship Id="rId173" Type="http://schemas.openxmlformats.org/officeDocument/2006/relationships/slide" Target="slides/slide172.xml" TargetMode="Internal"></Relationship><Relationship Id="rId174" Type="http://schemas.openxmlformats.org/officeDocument/2006/relationships/slide" Target="slides/slide173.xml" TargetMode="Internal"></Relationship><Relationship Id="rId175" Type="http://schemas.openxmlformats.org/officeDocument/2006/relationships/slide" Target="slides/slide174.xml" TargetMode="Internal"></Relationship><Relationship Id="rId176" Type="http://schemas.openxmlformats.org/officeDocument/2006/relationships/slide" Target="slides/slide175.xml" TargetMode="Internal"></Relationship><Relationship Id="rId177" Type="http://schemas.openxmlformats.org/officeDocument/2006/relationships/slide" Target="slides/slide176.xml" TargetMode="Internal"></Relationship><Relationship Id="rId178" Type="http://schemas.openxmlformats.org/officeDocument/2006/relationships/slide" Target="slides/slide177.xml" TargetMode="Internal"></Relationship><Relationship Id="rId179" Type="http://schemas.openxmlformats.org/officeDocument/2006/relationships/slide" Target="slides/slide178.xml" TargetMode="Internal"></Relationship><Relationship Id="rId180" Type="http://schemas.openxmlformats.org/officeDocument/2006/relationships/slide" Target="slides/slide179.xml" TargetMode="Internal"></Relationship><Relationship Id="rId181" Type="http://schemas.openxmlformats.org/officeDocument/2006/relationships/slide" Target="slides/slide180.xml" TargetMode="Internal"></Relationship><Relationship Id="rId182" Type="http://schemas.openxmlformats.org/officeDocument/2006/relationships/slide" Target="slides/slide181.xml" TargetMode="Internal"></Relationship><Relationship Id="rId183" Type="http://schemas.openxmlformats.org/officeDocument/2006/relationships/slide" Target="slides/slide182.xml" TargetMode="Internal"></Relationship><Relationship Id="rId184" Type="http://schemas.openxmlformats.org/officeDocument/2006/relationships/slide" Target="slides/slide183.xml" TargetMode="Internal"></Relationship><Relationship Id="rId185" Type="http://schemas.openxmlformats.org/officeDocument/2006/relationships/slide" Target="slides/slide184.xml" TargetMode="Internal"></Relationship><Relationship Id="rId186" Type="http://schemas.openxmlformats.org/officeDocument/2006/relationships/slide" Target="slides/slide185.xml" TargetMode="Internal"></Relationship><Relationship Id="rId187" Type="http://schemas.openxmlformats.org/officeDocument/2006/relationships/slide" Target="slides/slide186.xml" TargetMode="Internal"></Relationship><Relationship Id="rId188" Type="http://schemas.openxmlformats.org/officeDocument/2006/relationships/slide" Target="slides/slide187.xml" TargetMode="Internal"></Relationship><Relationship Id="rId189" Type="http://schemas.openxmlformats.org/officeDocument/2006/relationships/slide" Target="slides/slide188.xml" TargetMode="Internal"></Relationship><Relationship Id="rId190" Type="http://schemas.openxmlformats.org/officeDocument/2006/relationships/slide" Target="slides/slide189.xml" TargetMode="Internal"></Relationship><Relationship Id="rId191" Type="http://schemas.openxmlformats.org/officeDocument/2006/relationships/slide" Target="slides/slide190.xml" TargetMode="Internal"></Relationship><Relationship Id="rId192" Type="http://schemas.openxmlformats.org/officeDocument/2006/relationships/slide" Target="slides/slide191.xml" TargetMode="Internal"></Relationship><Relationship Id="rId193" Type="http://schemas.openxmlformats.org/officeDocument/2006/relationships/slide" Target="slides/slide192.xml" TargetMode="Internal"></Relationship><Relationship Id="rId194" Type="http://schemas.openxmlformats.org/officeDocument/2006/relationships/slide" Target="slides/slide193.xml" TargetMode="Internal"></Relationship><Relationship Id="rId195" Type="http://schemas.openxmlformats.org/officeDocument/2006/relationships/slide" Target="slides/slide194.xml" TargetMode="Internal"></Relationship><Relationship Id="rId196" Type="http://schemas.openxmlformats.org/officeDocument/2006/relationships/slide" Target="slides/slide195.xml" TargetMode="Internal"></Relationship><Relationship Id="rId197" Type="http://schemas.openxmlformats.org/officeDocument/2006/relationships/slide" Target="slides/slide196.xml" TargetMode="Internal"></Relationship><Relationship Id="rId198" Type="http://schemas.openxmlformats.org/officeDocument/2006/relationships/slide" Target="slides/slide197.xml" TargetMode="Internal"></Relationship><Relationship Id="rId199" Type="http://schemas.openxmlformats.org/officeDocument/2006/relationships/slide" Target="slides/slide198.xml" TargetMode="Internal"></Relationship><Relationship Id="rId200" Type="http://schemas.openxmlformats.org/officeDocument/2006/relationships/slide" Target="slides/slide199.xml" TargetMode="Internal"></Relationship><Relationship Id="rId201" Type="http://schemas.openxmlformats.org/officeDocument/2006/relationships/slide" Target="slides/slide200.xml" TargetMode="Internal"></Relationship><Relationship Id="rId202" Type="http://schemas.openxmlformats.org/officeDocument/2006/relationships/slide" Target="slides/slide201.xml" TargetMode="Internal"></Relationship><Relationship Id="rId203" Type="http://schemas.openxmlformats.org/officeDocument/2006/relationships/slide" Target="slides/slide202.xml" TargetMode="Internal"></Relationship><Relationship Id="rId204" Type="http://schemas.openxmlformats.org/officeDocument/2006/relationships/slide" Target="slides/slide203.xml" TargetMode="Internal"></Relationship><Relationship Id="rId205" Type="http://schemas.openxmlformats.org/officeDocument/2006/relationships/slide" Target="slides/slide204.xml" TargetMode="Internal"></Relationship><Relationship Id="rId206" Type="http://schemas.openxmlformats.org/officeDocument/2006/relationships/slide" Target="slides/slide205.xml" TargetMode="Internal"></Relationship><Relationship Id="rId207" Type="http://schemas.openxmlformats.org/officeDocument/2006/relationships/slide" Target="slides/slide206.xml" TargetMode="Internal"></Relationship><Relationship Id="rId208" Type="http://schemas.openxmlformats.org/officeDocument/2006/relationships/slide" Target="slides/slide207.xml" TargetMode="Internal"></Relationship><Relationship Id="rId209" Type="http://schemas.openxmlformats.org/officeDocument/2006/relationships/slide" Target="slides/slide208.xml" TargetMode="Internal"></Relationship><Relationship Id="rId210" Type="http://schemas.openxmlformats.org/officeDocument/2006/relationships/slide" Target="slides/slide209.xml" TargetMode="Internal"></Relationship><Relationship Id="rId211" Type="http://schemas.openxmlformats.org/officeDocument/2006/relationships/slide" Target="slides/slide210.xml" TargetMode="Internal"></Relationship><Relationship Id="rId212" Type="http://schemas.openxmlformats.org/officeDocument/2006/relationships/slide" Target="slides/slide211.xml" TargetMode="Internal"></Relationship><Relationship Id="rId213" Type="http://schemas.openxmlformats.org/officeDocument/2006/relationships/slide" Target="slides/slide212.xml" TargetMode="Internal"></Relationship><Relationship Id="rId214" Type="http://schemas.openxmlformats.org/officeDocument/2006/relationships/slide" Target="slides/slide213.xml" TargetMode="Internal"></Relationship><Relationship Id="rId215" Type="http://schemas.openxmlformats.org/officeDocument/2006/relationships/slide" Target="slides/slide214.xml" TargetMode="Internal"></Relationship><Relationship Id="rId216" Type="http://schemas.openxmlformats.org/officeDocument/2006/relationships/slide" Target="slides/slide215.xml" TargetMode="Internal"></Relationship><Relationship Id="rId217" Type="http://schemas.openxmlformats.org/officeDocument/2006/relationships/slide" Target="slides/slide216.xml" TargetMode="Internal"></Relationship><Relationship Id="rId218" Type="http://schemas.openxmlformats.org/officeDocument/2006/relationships/slide" Target="slides/slide217.xml" TargetMode="Internal"></Relationship><Relationship Id="rId219" Type="http://schemas.openxmlformats.org/officeDocument/2006/relationships/slide" Target="slides/slide218.xml" TargetMode="Internal"></Relationship><Relationship Id="rId220" Type="http://schemas.openxmlformats.org/officeDocument/2006/relationships/slide" Target="slides/slide219.xml" TargetMode="Internal"></Relationship><Relationship Id="rId221" Type="http://schemas.openxmlformats.org/officeDocument/2006/relationships/slide" Target="slides/slide220.xml" TargetMode="Internal"></Relationship><Relationship Id="rId222" Type="http://schemas.openxmlformats.org/officeDocument/2006/relationships/slide" Target="slides/slide221.xml" TargetMode="Internal"></Relationship><Relationship Id="rId223" Type="http://schemas.openxmlformats.org/officeDocument/2006/relationships/slide" Target="slides/slide222.xml" TargetMode="Internal"></Relationship><Relationship Id="rId224" Type="http://schemas.openxmlformats.org/officeDocument/2006/relationships/slide" Target="slides/slide223.xml" TargetMode="Internal"></Relationship><Relationship Id="rId225" Type="http://schemas.openxmlformats.org/officeDocument/2006/relationships/slide" Target="slides/slide224.xml" TargetMode="Internal"></Relationship><Relationship Id="rId226" Type="http://schemas.openxmlformats.org/officeDocument/2006/relationships/slide" Target="slides/slide225.xml" TargetMode="Internal"></Relationship><Relationship Id="rId227" Type="http://schemas.openxmlformats.org/officeDocument/2006/relationships/slide" Target="slides/slide226.xml" TargetMode="Internal"></Relationship><Relationship Id="rId228" Type="http://schemas.openxmlformats.org/officeDocument/2006/relationships/slide" Target="slides/slide227.xml" TargetMode="Internal"></Relationship><Relationship Id="rId229" Type="http://schemas.openxmlformats.org/officeDocument/2006/relationships/slide" Target="slides/slide228.xml" TargetMode="Internal"></Relationship><Relationship Id="rId230" Type="http://schemas.openxmlformats.org/officeDocument/2006/relationships/slide" Target="slides/slide229.xml" TargetMode="Internal"></Relationship><Relationship Id="rId231" Type="http://schemas.openxmlformats.org/officeDocument/2006/relationships/slide" Target="slides/slide230.xml" TargetMode="Internal"></Relationship><Relationship Id="rId232" Type="http://schemas.openxmlformats.org/officeDocument/2006/relationships/slide" Target="slides/slide231.xml" TargetMode="Internal"></Relationship><Relationship Id="rId233" Type="http://schemas.openxmlformats.org/officeDocument/2006/relationships/slide" Target="slides/slide232.xml" TargetMode="Internal"></Relationship><Relationship Id="rId234" Type="http://schemas.openxmlformats.org/officeDocument/2006/relationships/slide" Target="slides/slide233.xml" TargetMode="Internal"></Relationship><Relationship Id="rId235" Type="http://schemas.openxmlformats.org/officeDocument/2006/relationships/slide" Target="slides/slide234.xml" TargetMode="Internal"></Relationship><Relationship Id="rId236" Type="http://schemas.openxmlformats.org/officeDocument/2006/relationships/slide" Target="slides/slide235.xml" TargetMode="Internal"></Relationship><Relationship Id="rId237" Type="http://schemas.openxmlformats.org/officeDocument/2006/relationships/slide" Target="slides/slide236.xml" TargetMode="Internal"></Relationship><Relationship Id="rId238" Type="http://schemas.openxmlformats.org/officeDocument/2006/relationships/slide" Target="slides/slide237.xml" TargetMode="Internal"></Relationship><Relationship Id="rId239" Type="http://schemas.openxmlformats.org/officeDocument/2006/relationships/slide" Target="slides/slide238.xml" TargetMode="Internal"></Relationship><Relationship Id="rId240" Type="http://schemas.openxmlformats.org/officeDocument/2006/relationships/slide" Target="slides/slide239.xml" TargetMode="Internal"></Relationship><Relationship Id="rId241" Type="http://schemas.openxmlformats.org/officeDocument/2006/relationships/slide" Target="slides/slide240.xml" TargetMode="Internal"></Relationship><Relationship Id="rId242" Type="http://schemas.openxmlformats.org/officeDocument/2006/relationships/slide" Target="slides/slide241.xml" TargetMode="Internal"></Relationship><Relationship Id="rId243" Type="http://schemas.openxmlformats.org/officeDocument/2006/relationships/slide" Target="slides/slide242.xml" TargetMode="Internal"></Relationship><Relationship Id="rId244" Type="http://schemas.openxmlformats.org/officeDocument/2006/relationships/slide" Target="slides/slide243.xml" TargetMode="Internal"></Relationship><Relationship Id="rId245" Type="http://schemas.openxmlformats.org/officeDocument/2006/relationships/slide" Target="slides/slide244.xml" TargetMode="Internal"></Relationship><Relationship Id="rId246" Type="http://schemas.openxmlformats.org/officeDocument/2006/relationships/slide" Target="slides/slide245.xml" TargetMode="Internal"></Relationship><Relationship Id="rId247" Type="http://schemas.openxmlformats.org/officeDocument/2006/relationships/slide" Target="slides/slide246.xml" TargetMode="Internal"></Relationship><Relationship Id="rId248" Type="http://schemas.openxmlformats.org/officeDocument/2006/relationships/slide" Target="slides/slide247.xml" TargetMode="Internal"></Relationship><Relationship Id="rId249" Type="http://schemas.openxmlformats.org/officeDocument/2006/relationships/slide" Target="slides/slide248.xml" TargetMode="Internal"></Relationship><Relationship Id="rId250" Type="http://schemas.openxmlformats.org/officeDocument/2006/relationships/slide" Target="slides/slide249.xml" TargetMode="Internal"></Relationship><Relationship Id="rId251" Type="http://schemas.openxmlformats.org/officeDocument/2006/relationships/slide" Target="slides/slide250.xml" TargetMode="Internal"></Relationship><Relationship Id="rId252" Type="http://schemas.openxmlformats.org/officeDocument/2006/relationships/slide" Target="slides/slide251.xml" TargetMode="Internal"></Relationship><Relationship Id="rId253" Type="http://schemas.openxmlformats.org/officeDocument/2006/relationships/slide" Target="slides/slide252.xml" TargetMode="Internal"></Relationship><Relationship Id="rId254" Type="http://schemas.openxmlformats.org/officeDocument/2006/relationships/slide" Target="slides/slide253.xml" TargetMode="Internal"></Relationship><Relationship Id="rId255" Type="http://schemas.openxmlformats.org/officeDocument/2006/relationships/slide" Target="slides/slide254.xml" TargetMode="Internal"></Relationship><Relationship Id="rId256" Type="http://schemas.openxmlformats.org/officeDocument/2006/relationships/slide" Target="slides/slide255.xml" TargetMode="Internal"></Relationship><Relationship Id="rId257" Type="http://schemas.openxmlformats.org/officeDocument/2006/relationships/slide" Target="slides/slide256.xml" TargetMode="Internal"></Relationship><Relationship Id="rId258" Type="http://schemas.openxmlformats.org/officeDocument/2006/relationships/slide" Target="slides/slide257.xml" TargetMode="Internal"></Relationship><Relationship Id="rId259" Type="http://schemas.openxmlformats.org/officeDocument/2006/relationships/slide" Target="slides/slide258.xml" TargetMode="Internal"></Relationship><Relationship Id="rId260" Type="http://schemas.openxmlformats.org/officeDocument/2006/relationships/slide" Target="slides/slide259.xml" TargetMode="Internal"></Relationship><Relationship Id="rId261" Type="http://schemas.openxmlformats.org/officeDocument/2006/relationships/slide" Target="slides/slide260.xml" TargetMode="Internal"></Relationship><Relationship Id="rId262" Type="http://schemas.openxmlformats.org/officeDocument/2006/relationships/slide" Target="slides/slide261.xml" TargetMode="Internal"></Relationship><Relationship Id="rId263" Type="http://schemas.openxmlformats.org/officeDocument/2006/relationships/slide" Target="slides/slide262.xml" TargetMode="Internal"></Relationship><Relationship Id="rId264" Type="http://schemas.openxmlformats.org/officeDocument/2006/relationships/slide" Target="slides/slide263.xml" TargetMode="Internal"></Relationship><Relationship Id="rId265" Type="http://schemas.openxmlformats.org/officeDocument/2006/relationships/slide" Target="slides/slide264.xml" TargetMode="Internal"></Relationship><Relationship Id="rId266" Type="http://schemas.openxmlformats.org/officeDocument/2006/relationships/slide" Target="slides/slide265.xml" TargetMode="Internal"></Relationship><Relationship Id="rId267" Type="http://schemas.openxmlformats.org/officeDocument/2006/relationships/slide" Target="slides/slide266.xml" TargetMode="Internal"></Relationship><Relationship Id="rId268" Type="http://schemas.openxmlformats.org/officeDocument/2006/relationships/slide" Target="slides/slide267.xml" TargetMode="Internal"></Relationship><Relationship Id="rId269" Type="http://schemas.openxmlformats.org/officeDocument/2006/relationships/slide" Target="slides/slide268.xml" TargetMode="Internal"></Relationship><Relationship Id="rId270" Type="http://schemas.openxmlformats.org/officeDocument/2006/relationships/slide" Target="slides/slide269.xml" TargetMode="Internal"></Relationship><Relationship Id="rId271" Type="http://schemas.openxmlformats.org/officeDocument/2006/relationships/slide" Target="slides/slide270.xml" TargetMode="Internal"></Relationship><Relationship Id="rId272" Type="http://schemas.openxmlformats.org/officeDocument/2006/relationships/slide" Target="slides/slide271.xml" TargetMode="Internal"></Relationship><Relationship Id="rId273" Type="http://schemas.openxmlformats.org/officeDocument/2006/relationships/slide" Target="slides/slide272.xml" TargetMode="Internal"></Relationship><Relationship Id="rId274" Type="http://schemas.openxmlformats.org/officeDocument/2006/relationships/slide" Target="slides/slide273.xml" TargetMode="Internal"></Relationship><Relationship Id="rId275" Type="http://schemas.openxmlformats.org/officeDocument/2006/relationships/slide" Target="slides/slide274.xml" TargetMode="Internal"></Relationship><Relationship Id="rId276" Type="http://schemas.openxmlformats.org/officeDocument/2006/relationships/slide" Target="slides/slide275.xml" TargetMode="Internal"></Relationship><Relationship Id="rId277" Type="http://schemas.openxmlformats.org/officeDocument/2006/relationships/slide" Target="slides/slide276.xml" TargetMode="Internal"></Relationship><Relationship Id="rId278" Type="http://schemas.openxmlformats.org/officeDocument/2006/relationships/slide" Target="slides/slide277.xml" TargetMode="Internal"></Relationship><Relationship Id="rId279" Type="http://schemas.openxmlformats.org/officeDocument/2006/relationships/slide" Target="slides/slide278.xml" TargetMode="Internal"></Relationship><Relationship Id="rId280" Type="http://schemas.openxmlformats.org/officeDocument/2006/relationships/slide" Target="slides/slide279.xml" TargetMode="Internal"></Relationship><Relationship Id="rId281" Type="http://schemas.openxmlformats.org/officeDocument/2006/relationships/slide" Target="slides/slide280.xml" TargetMode="Internal"></Relationship><Relationship Id="rId282" Type="http://schemas.openxmlformats.org/officeDocument/2006/relationships/slide" Target="slides/slide281.xml" TargetMode="Internal"></Relationship><Relationship Id="rId283" Type="http://schemas.openxmlformats.org/officeDocument/2006/relationships/slide" Target="slides/slide282.xml" TargetMode="Internal"></Relationship><Relationship Id="rId284" Type="http://schemas.openxmlformats.org/officeDocument/2006/relationships/slide" Target="slides/slide283.xml" TargetMode="Internal"></Relationship><Relationship Id="rId285" Type="http://schemas.openxmlformats.org/officeDocument/2006/relationships/slide" Target="slides/slide284.xml" TargetMode="Internal"></Relationship><Relationship Id="rId286" Type="http://schemas.openxmlformats.org/officeDocument/2006/relationships/slide" Target="slides/slide285.xml" TargetMode="Internal"></Relationship><Relationship Id="rId287" Type="http://schemas.openxmlformats.org/officeDocument/2006/relationships/slide" Target="slides/slide286.xml" TargetMode="Internal"></Relationship><Relationship Id="rId288" Type="http://schemas.openxmlformats.org/officeDocument/2006/relationships/slide" Target="slides/slide287.xml" TargetMode="Internal"></Relationship><Relationship Id="rId289" Type="http://schemas.openxmlformats.org/officeDocument/2006/relationships/slide" Target="slides/slide288.xml" TargetMode="Internal"></Relationship><Relationship Id="rId290" Type="http://schemas.openxmlformats.org/officeDocument/2006/relationships/slide" Target="slides/slide289.xml" TargetMode="Internal"></Relationship><Relationship Id="rId291" Type="http://schemas.openxmlformats.org/officeDocument/2006/relationships/slide" Target="slides/slide290.xml" TargetMode="Internal"></Relationship><Relationship Id="rId292" Type="http://schemas.openxmlformats.org/officeDocument/2006/relationships/slide" Target="slides/slide291.xml" TargetMode="Internal"></Relationship><Relationship Id="rId293" Type="http://schemas.openxmlformats.org/officeDocument/2006/relationships/slide" Target="slides/slide292.xml" TargetMode="Internal"></Relationship><Relationship Id="rId294" Type="http://schemas.openxmlformats.org/officeDocument/2006/relationships/slide" Target="slides/slide293.xml" TargetMode="Internal"></Relationship><Relationship Id="rId295" Type="http://schemas.openxmlformats.org/officeDocument/2006/relationships/slide" Target="slides/slide294.xml" TargetMode="Internal"></Relationship><Relationship Id="rId296" Type="http://schemas.openxmlformats.org/officeDocument/2006/relationships/slide" Target="slides/slide295.xml" TargetMode="Internal"></Relationship><Relationship Id="rId297" Type="http://schemas.openxmlformats.org/officeDocument/2006/relationships/slide" Target="slides/slide296.xml" TargetMode="Internal"></Relationship><Relationship Id="rId298" Type="http://schemas.openxmlformats.org/officeDocument/2006/relationships/slide" Target="slides/slide297.xml" TargetMode="Internal"></Relationship><Relationship Id="rId299" Type="http://schemas.openxmlformats.org/officeDocument/2006/relationships/slide" Target="slides/slide298.xml" TargetMode="Internal"></Relationship><Relationship Id="rId300" Type="http://schemas.openxmlformats.org/officeDocument/2006/relationships/slide" Target="slides/slide299.xml" TargetMode="Internal"></Relationship><Relationship Id="rId301" Type="http://schemas.openxmlformats.org/officeDocument/2006/relationships/slide" Target="slides/slide300.xml" TargetMode="Internal"></Relationship><Relationship Id="rId302" Type="http://schemas.openxmlformats.org/officeDocument/2006/relationships/slide" Target="slides/slide301.xml" TargetMode="Internal"></Relationship><Relationship Id="rId303" Type="http://schemas.openxmlformats.org/officeDocument/2006/relationships/slide" Target="slides/slide302.xml" TargetMode="Internal"></Relationship><Relationship Id="rId304" Type="http://schemas.openxmlformats.org/officeDocument/2006/relationships/slide" Target="slides/slide303.xml" TargetMode="Internal"></Relationship><Relationship Id="rId305" Type="http://schemas.openxmlformats.org/officeDocument/2006/relationships/slide" Target="slides/slide304.xml" TargetMode="Internal"></Relationship><Relationship Id="rId306" Type="http://schemas.openxmlformats.org/officeDocument/2006/relationships/slide" Target="slides/slide305.xml" TargetMode="Internal"></Relationship><Relationship Id="rId307" Type="http://schemas.openxmlformats.org/officeDocument/2006/relationships/slide" Target="slides/slide306.xml" TargetMode="Internal"></Relationship><Relationship Id="rId308" Type="http://schemas.openxmlformats.org/officeDocument/2006/relationships/slide" Target="slides/slide307.xml" TargetMode="Internal"></Relationship><Relationship Id="rId309" Type="http://schemas.openxmlformats.org/officeDocument/2006/relationships/slide" Target="slides/slide308.xml" TargetMode="Internal"></Relationship><Relationship Id="rId310" Type="http://schemas.openxmlformats.org/officeDocument/2006/relationships/slide" Target="slides/slide309.xml" TargetMode="Internal"></Relationship><Relationship Id="rId311" Type="http://schemas.openxmlformats.org/officeDocument/2006/relationships/slide" Target="slides/slide310.xml" TargetMode="Internal"></Relationship><Relationship Id="rId312" Type="http://schemas.openxmlformats.org/officeDocument/2006/relationships/slide" Target="slides/slide311.xml" TargetMode="Internal"></Relationship><Relationship Id="rId313" Type="http://schemas.openxmlformats.org/officeDocument/2006/relationships/slide" Target="slides/slide312.xml" TargetMode="Internal"></Relationship><Relationship Id="rId314" Type="http://schemas.openxmlformats.org/officeDocument/2006/relationships/slide" Target="slides/slide313.xml" TargetMode="Internal"></Relationship><Relationship Id="rId315" Type="http://schemas.openxmlformats.org/officeDocument/2006/relationships/slide" Target="slides/slide314.xml" TargetMode="Internal"></Relationship><Relationship Id="rId316" Type="http://schemas.openxmlformats.org/officeDocument/2006/relationships/slide" Target="slides/slide315.xml" TargetMode="Internal"></Relationship><Relationship Id="rId317" Type="http://schemas.openxmlformats.org/officeDocument/2006/relationships/slide" Target="slides/slide316.xml" TargetMode="Internal"></Relationship><Relationship Id="rId318" Type="http://schemas.openxmlformats.org/officeDocument/2006/relationships/slide" Target="slides/slide317.xml" TargetMode="Internal"></Relationship><Relationship Id="rId319" Type="http://schemas.openxmlformats.org/officeDocument/2006/relationships/slide" Target="slides/slide318.xml" TargetMode="Internal"></Relationship><Relationship Id="rId320" Type="http://schemas.openxmlformats.org/officeDocument/2006/relationships/slide" Target="slides/slide319.xml" TargetMode="Internal"></Relationship><Relationship Id="rId321" Type="http://schemas.openxmlformats.org/officeDocument/2006/relationships/slide" Target="slides/slide320.xml" TargetMode="Internal"></Relationship><Relationship Id="rId322" Type="http://schemas.openxmlformats.org/officeDocument/2006/relationships/slide" Target="slides/slide321.xml" TargetMode="Internal"></Relationship><Relationship Id="rId323" Type="http://schemas.openxmlformats.org/officeDocument/2006/relationships/slide" Target="slides/slide322.xml" TargetMode="Internal"></Relationship><Relationship Id="rId324" Type="http://schemas.openxmlformats.org/officeDocument/2006/relationships/slide" Target="slides/slide323.xml" TargetMode="Internal"></Relationship><Relationship Id="rId325" Type="http://schemas.openxmlformats.org/officeDocument/2006/relationships/slide" Target="slides/slide324.xml" TargetMode="Internal"></Relationship><Relationship Id="rId326" Type="http://schemas.openxmlformats.org/officeDocument/2006/relationships/slide" Target="slides/slide325.xml" TargetMode="Internal"></Relationship><Relationship Id="rId327" Type="http://schemas.openxmlformats.org/officeDocument/2006/relationships/slide" Target="slides/slide326.xml" TargetMode="Internal"></Relationship><Relationship Id="rId328" Type="http://schemas.openxmlformats.org/officeDocument/2006/relationships/slide" Target="slides/slide327.xml" TargetMode="Internal"></Relationship><Relationship Id="rId329" Type="http://schemas.openxmlformats.org/officeDocument/2006/relationships/slide" Target="slides/slide328.xml" TargetMode="Internal"></Relationship><Relationship Id="rId330" Type="http://schemas.openxmlformats.org/officeDocument/2006/relationships/slide" Target="slides/slide329.xml" TargetMode="Internal"></Relationship><Relationship Id="rId331" Type="http://schemas.openxmlformats.org/officeDocument/2006/relationships/slide" Target="slides/slide330.xml" TargetMode="Internal"></Relationship><Relationship Id="rId332" Type="http://schemas.openxmlformats.org/officeDocument/2006/relationships/slide" Target="slides/slide331.xml" TargetMode="Internal"></Relationship><Relationship Id="rId333" Type="http://schemas.openxmlformats.org/officeDocument/2006/relationships/slide" Target="slides/slide332.xml" TargetMode="Internal"></Relationship><Relationship Id="rId334" Type="http://schemas.openxmlformats.org/officeDocument/2006/relationships/slide" Target="slides/slide333.xml" TargetMode="Internal"></Relationship><Relationship Id="rId335" Type="http://schemas.openxmlformats.org/officeDocument/2006/relationships/slide" Target="slides/slide334.xml" TargetMode="Internal"></Relationship><Relationship Id="rId336" Type="http://schemas.openxmlformats.org/officeDocument/2006/relationships/slide" Target="slides/slide335.xml" TargetMode="Internal"></Relationship><Relationship Id="rId337" Type="http://schemas.openxmlformats.org/officeDocument/2006/relationships/slide" Target="slides/slide336.xml" TargetMode="Internal"></Relationship><Relationship Id="rId338" Type="http://schemas.openxmlformats.org/officeDocument/2006/relationships/slide" Target="slides/slide337.xml" TargetMode="Internal"></Relationship><Relationship Id="rId339" Type="http://schemas.openxmlformats.org/officeDocument/2006/relationships/slide" Target="slides/slide338.xml" TargetMode="Internal"></Relationship><Relationship Id="rId340" Type="http://schemas.openxmlformats.org/officeDocument/2006/relationships/slide" Target="slides/slide339.xml" TargetMode="Internal"></Relationship><Relationship Id="rId341" Type="http://schemas.openxmlformats.org/officeDocument/2006/relationships/slide" Target="slides/slide340.xml" TargetMode="Internal"></Relationship><Relationship Id="rId342" Type="http://schemas.openxmlformats.org/officeDocument/2006/relationships/slide" Target="slides/slide341.xml" TargetMode="Internal"></Relationship><Relationship Id="rId343" Type="http://schemas.openxmlformats.org/officeDocument/2006/relationships/slide" Target="slides/slide342.xml" TargetMode="Internal"></Relationship><Relationship Id="rId344" Type="http://schemas.openxmlformats.org/officeDocument/2006/relationships/slide" Target="slides/slide343.xml" TargetMode="Internal"></Relationship><Relationship Id="rId345" Type="http://schemas.openxmlformats.org/officeDocument/2006/relationships/slide" Target="slides/slide344.xml" TargetMode="Internal"></Relationship><Relationship Id="rId346" Type="http://schemas.openxmlformats.org/officeDocument/2006/relationships/slide" Target="slides/slide345.xml" TargetMode="Internal"></Relationship><Relationship Id="rId347" Type="http://schemas.openxmlformats.org/officeDocument/2006/relationships/slide" Target="slides/slide346.xml" TargetMode="Internal"></Relationship><Relationship Id="rId348" Type="http://schemas.openxmlformats.org/officeDocument/2006/relationships/slide" Target="slides/slide347.xml" TargetMode="Internal"></Relationship><Relationship Id="rId349" Type="http://schemas.openxmlformats.org/officeDocument/2006/relationships/slide" Target="slides/slide348.xml" TargetMode="Internal"></Relationship><Relationship Id="rId350" Type="http://schemas.openxmlformats.org/officeDocument/2006/relationships/slide" Target="slides/slide349.xml" TargetMode="Internal"></Relationship><Relationship Id="rId351" Type="http://schemas.openxmlformats.org/officeDocument/2006/relationships/slide" Target="slides/slide350.xml" TargetMode="Internal"></Relationship><Relationship Id="rId352" Type="http://schemas.openxmlformats.org/officeDocument/2006/relationships/slide" Target="slides/slide351.xml" TargetMode="Internal"></Relationship><Relationship Id="rId353" Type="http://schemas.openxmlformats.org/officeDocument/2006/relationships/slide" Target="slides/slide352.xml" TargetMode="Internal"></Relationship><Relationship Id="rId354" Type="http://schemas.openxmlformats.org/officeDocument/2006/relationships/slide" Target="slides/slide353.xml" TargetMode="Internal"></Relationship><Relationship Id="rId355" Type="http://schemas.openxmlformats.org/officeDocument/2006/relationships/slide" Target="slides/slide354.xml" TargetMode="Internal"></Relationship><Relationship Id="rId356" Type="http://schemas.openxmlformats.org/officeDocument/2006/relationships/slide" Target="slides/slide355.xml" TargetMode="Internal"></Relationship><Relationship Id="rId357" Type="http://schemas.openxmlformats.org/officeDocument/2006/relationships/slide" Target="slides/slide356.xml" TargetMode="Internal"></Relationship><Relationship Id="rId358" Type="http://schemas.openxmlformats.org/officeDocument/2006/relationships/slide" Target="slides/slide357.xml" TargetMode="Internal"></Relationship><Relationship Id="rId359" Type="http://schemas.openxmlformats.org/officeDocument/2006/relationships/slide" Target="slides/slide358.xml" TargetMode="Internal"></Relationship><Relationship Id="rId360" Type="http://schemas.openxmlformats.org/officeDocument/2006/relationships/slide" Target="slides/slide359.xml" TargetMode="Internal"></Relationship><Relationship Id="rId361" Type="http://schemas.openxmlformats.org/officeDocument/2006/relationships/slide" Target="slides/slide360.xml" TargetMode="Internal"></Relationship><Relationship Id="rId362" Type="http://schemas.openxmlformats.org/officeDocument/2006/relationships/slide" Target="slides/slide361.xml" TargetMode="Internal"></Relationship><Relationship Id="rId363" Type="http://schemas.openxmlformats.org/officeDocument/2006/relationships/slide" Target="slides/slide362.xml" TargetMode="Internal"></Relationship><Relationship Id="rId364" Type="http://schemas.openxmlformats.org/officeDocument/2006/relationships/slide" Target="slides/slide363.xml" TargetMode="Internal"></Relationship><Relationship Id="rId365" Type="http://schemas.openxmlformats.org/officeDocument/2006/relationships/slide" Target="slides/slide364.xml" TargetMode="Internal"></Relationship><Relationship Id="rId366" Type="http://schemas.openxmlformats.org/officeDocument/2006/relationships/slide" Target="slides/slide365.xml" TargetMode="Internal"></Relationship><Relationship Id="rId367" Type="http://schemas.openxmlformats.org/officeDocument/2006/relationships/slide" Target="slides/slide366.xml" TargetMode="Internal"></Relationship><Relationship Id="rId368" Type="http://schemas.openxmlformats.org/officeDocument/2006/relationships/slide" Target="slides/slide367.xml" TargetMode="Internal"></Relationship><Relationship Id="rId369" Type="http://schemas.openxmlformats.org/officeDocument/2006/relationships/slide" Target="slides/slide368.xml" TargetMode="Internal"></Relationship><Relationship Id="rId370" Type="http://schemas.openxmlformats.org/officeDocument/2006/relationships/slide" Target="slides/slide369.xml" TargetMode="Internal"></Relationship><Relationship Id="rId371" Type="http://schemas.openxmlformats.org/officeDocument/2006/relationships/slide" Target="slides/slide370.xml" TargetMode="Internal"></Relationship><Relationship Id="rId372" Type="http://schemas.openxmlformats.org/officeDocument/2006/relationships/slide" Target="slides/slide371.xml" TargetMode="Internal"></Relationship><Relationship Id="rId373" Type="http://schemas.openxmlformats.org/officeDocument/2006/relationships/slide" Target="slides/slide372.xml" TargetMode="Internal"></Relationship><Relationship Id="rId374" Type="http://schemas.openxmlformats.org/officeDocument/2006/relationships/slide" Target="slides/slide373.xml" TargetMode="Internal"></Relationship><Relationship Id="rId375" Type="http://schemas.openxmlformats.org/officeDocument/2006/relationships/slide" Target="slides/slide374.xml" TargetMode="Internal"></Relationship><Relationship Id="rId376" Type="http://schemas.openxmlformats.org/officeDocument/2006/relationships/slide" Target="slides/slide375.xml" TargetMode="Internal"></Relationship><Relationship Id="rId377" Type="http://schemas.openxmlformats.org/officeDocument/2006/relationships/slide" Target="slides/slide376.xml" TargetMode="Internal"></Relationship><Relationship Id="rId378" Type="http://schemas.openxmlformats.org/officeDocument/2006/relationships/slide" Target="slides/slide377.xml" TargetMode="Internal"></Relationship><Relationship Id="rId379" Type="http://schemas.openxmlformats.org/officeDocument/2006/relationships/slide" Target="slides/slide378.xml" TargetMode="Internal"></Relationship><Relationship Id="rId380" Type="http://schemas.openxmlformats.org/officeDocument/2006/relationships/slide" Target="slides/slide379.xml" TargetMode="Internal"></Relationship><Relationship Id="rId381" Type="http://schemas.openxmlformats.org/officeDocument/2006/relationships/slide" Target="slides/slide380.xml" TargetMode="Internal"></Relationship><Relationship Id="rId382" Type="http://schemas.openxmlformats.org/officeDocument/2006/relationships/slide" Target="slides/slide381.xml" TargetMode="Internal"></Relationship><Relationship Id="rId383" Type="http://schemas.openxmlformats.org/officeDocument/2006/relationships/slide" Target="slides/slide382.xml" TargetMode="Internal"></Relationship><Relationship Id="rId384" Type="http://schemas.openxmlformats.org/officeDocument/2006/relationships/slide" Target="slides/slide383.xml" TargetMode="Internal"></Relationship><Relationship Id="rId385" Type="http://schemas.openxmlformats.org/officeDocument/2006/relationships/slide" Target="slides/slide384.xml" TargetMode="Internal"></Relationship><Relationship Id="rId386" Type="http://schemas.openxmlformats.org/officeDocument/2006/relationships/slide" Target="slides/slide385.xml" TargetMode="Internal"></Relationship><Relationship Id="rId387" Type="http://schemas.openxmlformats.org/officeDocument/2006/relationships/slide" Target="slides/slide386.xml" TargetMode="Internal"></Relationship><Relationship Id="rId388" Type="http://schemas.openxmlformats.org/officeDocument/2006/relationships/slide" Target="slides/slide387.xml" TargetMode="Internal"></Relationship><Relationship Id="rId389" Type="http://schemas.openxmlformats.org/officeDocument/2006/relationships/slide" Target="slides/slide388.xml" TargetMode="Internal"></Relationship><Relationship Id="rId390" Type="http://schemas.openxmlformats.org/officeDocument/2006/relationships/slide" Target="slides/slide389.xml" TargetMode="Internal"></Relationship><Relationship Id="rId391" Type="http://schemas.openxmlformats.org/officeDocument/2006/relationships/slide" Target="slides/slide390.xml" TargetMode="Internal"></Relationship><Relationship Id="rId392" Type="http://schemas.openxmlformats.org/officeDocument/2006/relationships/slide" Target="slides/slide391.xml" TargetMode="Internal"></Relationship><Relationship Id="rId393" Type="http://schemas.openxmlformats.org/officeDocument/2006/relationships/slide" Target="slides/slide392.xml" TargetMode="Internal"></Relationship><Relationship Id="rId394" Type="http://schemas.openxmlformats.org/officeDocument/2006/relationships/slide" Target="slides/slide393.xml" TargetMode="Internal"></Relationship><Relationship Id="rId395" Type="http://schemas.openxmlformats.org/officeDocument/2006/relationships/slide" Target="slides/slide394.xml" TargetMode="Internal"></Relationship><Relationship Id="rId396" Type="http://schemas.openxmlformats.org/officeDocument/2006/relationships/slide" Target="slides/slide395.xml" TargetMode="Internal"></Relationship><Relationship Id="rId397" Type="http://schemas.openxmlformats.org/officeDocument/2006/relationships/slide" Target="slides/slide396.xml" TargetMode="Internal"></Relationship><Relationship Id="rId398" Type="http://schemas.openxmlformats.org/officeDocument/2006/relationships/slide" Target="slides/slide397.xml" TargetMode="Internal"></Relationship><Relationship Id="rId399" Type="http://schemas.openxmlformats.org/officeDocument/2006/relationships/slide" Target="slides/slide398.xml" TargetMode="Internal"></Relationship><Relationship Id="rId400" Type="http://schemas.openxmlformats.org/officeDocument/2006/relationships/slide" Target="slides/slide399.xml" TargetMode="Internal"></Relationship><Relationship Id="rId401" Type="http://schemas.openxmlformats.org/officeDocument/2006/relationships/slide" Target="slides/slide400.xml" TargetMode="Internal"></Relationship><Relationship Id="rId402" Type="http://schemas.openxmlformats.org/officeDocument/2006/relationships/slide" Target="slides/slide401.xml" TargetMode="Internal"></Relationship><Relationship Id="rId403" Type="http://schemas.openxmlformats.org/officeDocument/2006/relationships/slide" Target="slides/slide402.xml" TargetMode="Internal"></Relationship><Relationship Id="rId404" Type="http://schemas.openxmlformats.org/officeDocument/2006/relationships/slide" Target="slides/slide403.xml" TargetMode="Internal"></Relationship><Relationship Id="rId405" Type="http://schemas.openxmlformats.org/officeDocument/2006/relationships/slide" Target="slides/slide404.xml" TargetMode="Internal"></Relationship><Relationship Id="rId406" Type="http://schemas.openxmlformats.org/officeDocument/2006/relationships/slide" Target="slides/slide405.xml" TargetMode="Internal"></Relationship><Relationship Id="rId407" Type="http://schemas.openxmlformats.org/officeDocument/2006/relationships/slide" Target="slides/slide406.xml" TargetMode="Internal"></Relationship><Relationship Id="rId408" Type="http://schemas.openxmlformats.org/officeDocument/2006/relationships/slide" Target="slides/slide407.xml" TargetMode="Internal"></Relationship><Relationship Id="rId409" Type="http://schemas.openxmlformats.org/officeDocument/2006/relationships/slide" Target="slides/slide408.xml" TargetMode="Internal"></Relationship><Relationship Id="rId410" Type="http://schemas.openxmlformats.org/officeDocument/2006/relationships/slide" Target="slides/slide409.xml" TargetMode="Internal"></Relationship><Relationship Id="rId411" Type="http://schemas.openxmlformats.org/officeDocument/2006/relationships/slide" Target="slides/slide410.xml" TargetMode="Internal"></Relationship><Relationship Id="rId412" Type="http://schemas.openxmlformats.org/officeDocument/2006/relationships/slide" Target="slides/slide411.xml" TargetMode="Internal"></Relationship><Relationship Id="rId413" Type="http://schemas.openxmlformats.org/officeDocument/2006/relationships/slide" Target="slides/slide412.xml" TargetMode="Internal"></Relationship><Relationship Id="rId414" Type="http://schemas.openxmlformats.org/officeDocument/2006/relationships/slide" Target="slides/slide413.xml" TargetMode="Internal"></Relationship><Relationship Id="rId415" Type="http://schemas.openxmlformats.org/officeDocument/2006/relationships/slide" Target="slides/slide414.xml" TargetMode="Internal"></Relationship><Relationship Id="rId416" Type="http://schemas.openxmlformats.org/officeDocument/2006/relationships/slide" Target="slides/slide415.xml" TargetMode="Internal"></Relationship><Relationship Id="rId417" Type="http://schemas.openxmlformats.org/officeDocument/2006/relationships/slide" Target="slides/slide416.xml" TargetMode="Internal"></Relationship><Relationship Id="rId418" Type="http://schemas.openxmlformats.org/officeDocument/2006/relationships/slide" Target="slides/slide417.xml" TargetMode="Internal"></Relationship><Relationship Id="rId419" Type="http://schemas.openxmlformats.org/officeDocument/2006/relationships/slide" Target="slides/slide418.xml" TargetMode="Internal"></Relationship><Relationship Id="rId420" Type="http://schemas.openxmlformats.org/officeDocument/2006/relationships/slide" Target="slides/slide419.xml" TargetMode="Internal"></Relationship><Relationship Id="rId421" Type="http://schemas.openxmlformats.org/officeDocument/2006/relationships/slide" Target="slides/slide420.xml" TargetMode="Internal"></Relationship><Relationship Id="rId422" Type="http://schemas.openxmlformats.org/officeDocument/2006/relationships/slide" Target="slides/slide421.xml" TargetMode="Internal"></Relationship><Relationship Id="rId423" Type="http://schemas.openxmlformats.org/officeDocument/2006/relationships/slide" Target="slides/slide422.xml" TargetMode="Internal"></Relationship><Relationship Id="rId424" Type="http://schemas.openxmlformats.org/officeDocument/2006/relationships/slide" Target="slides/slide423.xml" TargetMode="Internal"></Relationship><Relationship Id="rId425" Type="http://schemas.openxmlformats.org/officeDocument/2006/relationships/slide" Target="slides/slide424.xml" TargetMode="Internal"></Relationship><Relationship Id="rId426" Type="http://schemas.openxmlformats.org/officeDocument/2006/relationships/slide" Target="slides/slide425.xml" TargetMode="Internal"></Relationship><Relationship Id="rId427" Type="http://schemas.openxmlformats.org/officeDocument/2006/relationships/slide" Target="slides/slide426.xml" TargetMode="Internal"></Relationship><Relationship Id="rId428" Type="http://schemas.openxmlformats.org/officeDocument/2006/relationships/slide" Target="slides/slide427.xml" TargetMode="Internal"></Relationship><Relationship Id="rId429" Type="http://schemas.openxmlformats.org/officeDocument/2006/relationships/slide" Target="slides/slide428.xml" TargetMode="Internal"></Relationship><Relationship Id="rId430" Type="http://schemas.openxmlformats.org/officeDocument/2006/relationships/slide" Target="slides/slide429.xml" TargetMode="Internal"></Relationship><Relationship Id="rId431" Type="http://schemas.openxmlformats.org/officeDocument/2006/relationships/slide" Target="slides/slide430.xml" TargetMode="Internal"></Relationship><Relationship Id="rId432" Type="http://schemas.openxmlformats.org/officeDocument/2006/relationships/slide" Target="slides/slide431.xml" TargetMode="Internal"></Relationship><Relationship Id="rId433" Type="http://schemas.openxmlformats.org/officeDocument/2006/relationships/slide" Target="slides/slide432.xml" TargetMode="Internal"></Relationship><Relationship Id="rId434" Type="http://schemas.openxmlformats.org/officeDocument/2006/relationships/slide" Target="slides/slide433.xml" TargetMode="Internal"></Relationship><Relationship Id="rId435" Type="http://schemas.openxmlformats.org/officeDocument/2006/relationships/slide" Target="slides/slide434.xml" TargetMode="Internal"></Relationship><Relationship Id="rId436" Type="http://schemas.openxmlformats.org/officeDocument/2006/relationships/slide" Target="slides/slide435.xml" TargetMode="Internal"></Relationship><Relationship Id="rId437" Type="http://schemas.openxmlformats.org/officeDocument/2006/relationships/slide" Target="slides/slide436.xml" TargetMode="Internal"></Relationship><Relationship Id="rId438" Type="http://schemas.openxmlformats.org/officeDocument/2006/relationships/slide" Target="slides/slide437.xml" TargetMode="Internal"></Relationship><Relationship Id="rId439" Type="http://schemas.openxmlformats.org/officeDocument/2006/relationships/slide" Target="slides/slide438.xml" TargetMode="Internal"></Relationship><Relationship Id="rId440" Type="http://schemas.openxmlformats.org/officeDocument/2006/relationships/slide" Target="slides/slide439.xml" TargetMode="Internal"></Relationship><Relationship Id="rId441" Type="http://schemas.openxmlformats.org/officeDocument/2006/relationships/slide" Target="slides/slide440.xml" TargetMode="Internal"></Relationship><Relationship Id="rId442" Type="http://schemas.openxmlformats.org/officeDocument/2006/relationships/slide" Target="slides/slide441.xml" TargetMode="Internal"></Relationship><Relationship Id="rId443" Type="http://schemas.openxmlformats.org/officeDocument/2006/relationships/slide" Target="slides/slide442.xml" TargetMode="Internal"></Relationship><Relationship Id="rId444" Type="http://schemas.openxmlformats.org/officeDocument/2006/relationships/slide" Target="slides/slide443.xml" TargetMode="Internal"></Relationship><Relationship Id="rId445" Type="http://schemas.openxmlformats.org/officeDocument/2006/relationships/slide" Target="slides/slide444.xml" TargetMode="Internal"></Relationship><Relationship Id="rId446" Type="http://schemas.openxmlformats.org/officeDocument/2006/relationships/slide" Target="slides/slide445.xml" TargetMode="Internal"></Relationship><Relationship Id="rId447" Type="http://schemas.openxmlformats.org/officeDocument/2006/relationships/slide" Target="slides/slide446.xml" TargetMode="Internal"></Relationship><Relationship Id="rId448" Type="http://schemas.openxmlformats.org/officeDocument/2006/relationships/slide" Target="slides/slide447.xml" TargetMode="Internal"></Relationship><Relationship Id="rId449" Type="http://schemas.openxmlformats.org/officeDocument/2006/relationships/slide" Target="slides/slide448.xml" TargetMode="Internal"></Relationship><Relationship Id="rId450" Type="http://schemas.openxmlformats.org/officeDocument/2006/relationships/slide" Target="slides/slide449.xml" TargetMode="Internal"></Relationship><Relationship Id="rId451" Type="http://schemas.openxmlformats.org/officeDocument/2006/relationships/slide" Target="slides/slide450.xml" TargetMode="Internal"></Relationship><Relationship Id="rId452" Type="http://schemas.openxmlformats.org/officeDocument/2006/relationships/slide" Target="slides/slide451.xml" TargetMode="Internal"></Relationship><Relationship Id="rId453" Type="http://schemas.openxmlformats.org/officeDocument/2006/relationships/slide" Target="slides/slide452.xml" TargetMode="Internal"></Relationship><Relationship Id="rId454" Type="http://schemas.openxmlformats.org/officeDocument/2006/relationships/slide" Target="slides/slide453.xml" TargetMode="Internal"></Relationship><Relationship Id="rId455" Type="http://schemas.openxmlformats.org/officeDocument/2006/relationships/slide" Target="slides/slide454.xml" TargetMode="Internal"></Relationship><Relationship Id="rId456" Type="http://schemas.openxmlformats.org/officeDocument/2006/relationships/slide" Target="slides/slide455.xml" TargetMode="Internal"></Relationship><Relationship Id="rId457" Type="http://schemas.openxmlformats.org/officeDocument/2006/relationships/slide" Target="slides/slide456.xml" TargetMode="Internal"></Relationship><Relationship Id="rId458" Type="http://schemas.openxmlformats.org/officeDocument/2006/relationships/slide" Target="slides/slide457.xml" TargetMode="Internal"></Relationship><Relationship Id="rId459" Type="http://schemas.openxmlformats.org/officeDocument/2006/relationships/slide" Target="slides/slide458.xml" TargetMode="Internal"></Relationship><Relationship Id="rId460" Type="http://schemas.openxmlformats.org/officeDocument/2006/relationships/slide" Target="slides/slide459.xml" TargetMode="Internal"></Relationship><Relationship Id="rId461" Type="http://schemas.openxmlformats.org/officeDocument/2006/relationships/slide" Target="slides/slide460.xml" TargetMode="Internal"></Relationship><Relationship Id="rId462" Type="http://schemas.openxmlformats.org/officeDocument/2006/relationships/slide" Target="slides/slide461.xml" TargetMode="Internal"></Relationship><Relationship Id="rId463" Type="http://schemas.openxmlformats.org/officeDocument/2006/relationships/slide" Target="slides/slide462.xml" TargetMode="Internal"></Relationship><Relationship Id="rId464" Type="http://schemas.openxmlformats.org/officeDocument/2006/relationships/slide" Target="slides/slide463.xml" TargetMode="Internal"></Relationship><Relationship Id="rId465" Type="http://schemas.openxmlformats.org/officeDocument/2006/relationships/slide" Target="slides/slide464.xml" TargetMode="Internal"></Relationship><Relationship Id="rId466" Type="http://schemas.openxmlformats.org/officeDocument/2006/relationships/slide" Target="slides/slide465.xml" TargetMode="Internal"></Relationship><Relationship Id="rId467" Type="http://schemas.openxmlformats.org/officeDocument/2006/relationships/slide" Target="slides/slide466.xml" TargetMode="Internal"></Relationship><Relationship Id="rId468" Type="http://schemas.openxmlformats.org/officeDocument/2006/relationships/slide" Target="slides/slide467.xml" TargetMode="Internal"></Relationship><Relationship Id="rId469" Type="http://schemas.openxmlformats.org/officeDocument/2006/relationships/slide" Target="slides/slide468.xml" TargetMode="Internal"></Relationship><Relationship Id="rId470" Type="http://schemas.openxmlformats.org/officeDocument/2006/relationships/slide" Target="slides/slide469.xml" TargetMode="Internal"></Relationship><Relationship Id="rId471" Type="http://schemas.openxmlformats.org/officeDocument/2006/relationships/slide" Target="slides/slide470.xml" TargetMode="Internal"></Relationship><Relationship Id="rId472" Type="http://schemas.openxmlformats.org/officeDocument/2006/relationships/slide" Target="slides/slide471.xml" TargetMode="Internal"></Relationship><Relationship Id="rId473" Type="http://schemas.openxmlformats.org/officeDocument/2006/relationships/slide" Target="slides/slide472.xml" TargetMode="Internal"></Relationship><Relationship Id="rId474" Type="http://schemas.openxmlformats.org/officeDocument/2006/relationships/slide" Target="slides/slide473.xml" TargetMode="Internal"></Relationship><Relationship Id="rId475" Type="http://schemas.openxmlformats.org/officeDocument/2006/relationships/slide" Target="slides/slide474.xml" TargetMode="Internal"></Relationship><Relationship Id="rId476" Type="http://schemas.openxmlformats.org/officeDocument/2006/relationships/slide" Target="slides/slide475.xml" TargetMode="Internal"></Relationship><Relationship Id="rId477" Type="http://schemas.openxmlformats.org/officeDocument/2006/relationships/slide" Target="slides/slide476.xml" TargetMode="Internal"></Relationship><Relationship Id="rId478" Type="http://schemas.openxmlformats.org/officeDocument/2006/relationships/slide" Target="slides/slide477.xml" TargetMode="Internal"></Relationship><Relationship Id="rId479" Type="http://schemas.openxmlformats.org/officeDocument/2006/relationships/slide" Target="slides/slide478.xml" TargetMode="Internal"></Relationship><Relationship Id="rId480" Type="http://schemas.openxmlformats.org/officeDocument/2006/relationships/slide" Target="slides/slide479.xml" TargetMode="Internal"></Relationship><Relationship Id="rId481" Type="http://schemas.openxmlformats.org/officeDocument/2006/relationships/slide" Target="slides/slide480.xml" TargetMode="Internal"></Relationship><Relationship Id="rId482" Type="http://schemas.openxmlformats.org/officeDocument/2006/relationships/slide" Target="slides/slide481.xml" TargetMode="Internal"></Relationship><Relationship Id="rId483" Type="http://schemas.openxmlformats.org/officeDocument/2006/relationships/slide" Target="slides/slide482.xml" TargetMode="Internal"></Relationship><Relationship Id="rId484" Type="http://schemas.openxmlformats.org/officeDocument/2006/relationships/slide" Target="slides/slide483.xml" TargetMode="Internal"></Relationship><Relationship Id="rId485" Type="http://schemas.openxmlformats.org/officeDocument/2006/relationships/slide" Target="slides/slide484.xml" TargetMode="Internal"></Relationship><Relationship Id="rId486" Type="http://schemas.openxmlformats.org/officeDocument/2006/relationships/slide" Target="slides/slide485.xml" TargetMode="Internal"></Relationship><Relationship Id="rId487" Type="http://schemas.openxmlformats.org/officeDocument/2006/relationships/slide" Target="slides/slide486.xml" TargetMode="Internal"></Relationship><Relationship Id="rId488" Type="http://schemas.openxmlformats.org/officeDocument/2006/relationships/slide" Target="slides/slide487.xml" TargetMode="Internal"></Relationship><Relationship Id="rId489" Type="http://schemas.openxmlformats.org/officeDocument/2006/relationships/slide" Target="slides/slide488.xml" TargetMode="Internal"></Relationship><Relationship Id="rId490" Type="http://schemas.openxmlformats.org/officeDocument/2006/relationships/slide" Target="slides/slide489.xml" TargetMode="Internal"></Relationship><Relationship Id="rId491" Type="http://schemas.openxmlformats.org/officeDocument/2006/relationships/slide" Target="slides/slide490.xml" TargetMode="Internal"></Relationship><Relationship Id="rId492" Type="http://schemas.openxmlformats.org/officeDocument/2006/relationships/slide" Target="slides/slide491.xml" TargetMode="Internal"></Relationship><Relationship Id="rId493" Type="http://schemas.openxmlformats.org/officeDocument/2006/relationships/slide" Target="slides/slide492.xml" TargetMode="Internal"></Relationship><Relationship Id="rId494" Type="http://schemas.openxmlformats.org/officeDocument/2006/relationships/slide" Target="slides/slide493.xml" TargetMode="Internal"></Relationship><Relationship Id="rId495" Type="http://schemas.openxmlformats.org/officeDocument/2006/relationships/slide" Target="slides/slide494.xml" TargetMode="Internal"></Relationship><Relationship Id="rId496" Type="http://schemas.openxmlformats.org/officeDocument/2006/relationships/slide" Target="slides/slide495.xml" TargetMode="Internal"></Relationship><Relationship Id="rId497" Type="http://schemas.openxmlformats.org/officeDocument/2006/relationships/slide" Target="slides/slide496.xml" TargetMode="Internal"></Relationship><Relationship Id="rId498" Type="http://schemas.openxmlformats.org/officeDocument/2006/relationships/slide" Target="slides/slide497.xml" TargetMode="Internal"></Relationship><Relationship Id="rId499" Type="http://schemas.openxmlformats.org/officeDocument/2006/relationships/slide" Target="slides/slide498.xml" TargetMode="Internal"></Relationship><Relationship Id="rId500" Type="http://schemas.openxmlformats.org/officeDocument/2006/relationships/slide" Target="slides/slide499.xml" TargetMode="Internal"></Relationship><Relationship Id="rId501" Type="http://schemas.openxmlformats.org/officeDocument/2006/relationships/slide" Target="slides/slide500.xml" TargetMode="Internal"></Relationship><Relationship Id="rId502" Type="http://schemas.openxmlformats.org/officeDocument/2006/relationships/slide" Target="slides/slide501.xml" TargetMode="Internal"></Relationship><Relationship Id="rId503" Type="http://schemas.openxmlformats.org/officeDocument/2006/relationships/slide" Target="slides/slide502.xml" TargetMode="Internal"></Relationship><Relationship Id="rId504" Type="http://schemas.openxmlformats.org/officeDocument/2006/relationships/slide" Target="slides/slide503.xml" TargetMode="Internal"></Relationship><Relationship Id="rId505" Type="http://schemas.openxmlformats.org/officeDocument/2006/relationships/slide" Target="slides/slide504.xml" TargetMode="Internal"></Relationship><Relationship Id="rId506" Type="http://schemas.openxmlformats.org/officeDocument/2006/relationships/slide" Target="slides/slide505.xml" TargetMode="Internal"></Relationship><Relationship Id="rId507" Type="http://schemas.openxmlformats.org/officeDocument/2006/relationships/slide" Target="slides/slide506.xml" TargetMode="Internal"></Relationship><Relationship Id="rId508" Type="http://schemas.openxmlformats.org/officeDocument/2006/relationships/slide" Target="slides/slide507.xml" TargetMode="Internal"></Relationship><Relationship Id="rId509" Type="http://schemas.openxmlformats.org/officeDocument/2006/relationships/slide" Target="slides/slide508.xml" TargetMode="Internal"></Relationship><Relationship Id="rId510" Type="http://schemas.openxmlformats.org/officeDocument/2006/relationships/slide" Target="slides/slide509.xml" TargetMode="Internal"></Relationship><Relationship Id="rId511" Type="http://schemas.openxmlformats.org/officeDocument/2006/relationships/slide" Target="slides/slide510.xml" TargetMode="Internal"></Relationship><Relationship Id="rId512" Type="http://schemas.openxmlformats.org/officeDocument/2006/relationships/slide" Target="slides/slide511.xml" TargetMode="Internal"></Relationship><Relationship Id="rId513" Type="http://schemas.openxmlformats.org/officeDocument/2006/relationships/slide" Target="slides/slide512.xml" TargetMode="Internal"></Relationship><Relationship Id="rId514" Type="http://schemas.openxmlformats.org/officeDocument/2006/relationships/slide" Target="slides/slide513.xml" TargetMode="Internal"></Relationship><Relationship Id="rId515" Type="http://schemas.openxmlformats.org/officeDocument/2006/relationships/slide" Target="slides/slide514.xml" TargetMode="Internal"></Relationship><Relationship Id="rId516" Type="http://schemas.openxmlformats.org/officeDocument/2006/relationships/slide" Target="slides/slide515.xml" TargetMode="Internal"></Relationship><Relationship Id="rId517" Type="http://schemas.openxmlformats.org/officeDocument/2006/relationships/slide" Target="slides/slide516.xml" TargetMode="Internal"></Relationship><Relationship Id="rId518" Type="http://schemas.openxmlformats.org/officeDocument/2006/relationships/slide" Target="slides/slide517.xml" TargetMode="Internal"></Relationship><Relationship Id="rId519" Type="http://schemas.openxmlformats.org/officeDocument/2006/relationships/slide" Target="slides/slide518.xml" TargetMode="Internal"></Relationship><Relationship Id="rId520" Type="http://schemas.openxmlformats.org/officeDocument/2006/relationships/slide" Target="slides/slide519.xml" TargetMode="Internal"></Relationship><Relationship Id="rId521" Type="http://schemas.openxmlformats.org/officeDocument/2006/relationships/slide" Target="slides/slide520.xml" TargetMode="Internal"></Relationship><Relationship Id="rId522" Type="http://schemas.openxmlformats.org/officeDocument/2006/relationships/slide" Target="slides/slide521.xml" TargetMode="Internal"></Relationship><Relationship Id="rId523" Type="http://schemas.openxmlformats.org/officeDocument/2006/relationships/slide" Target="slides/slide522.xml" TargetMode="Internal"></Relationship><Relationship Id="rId524" Type="http://schemas.openxmlformats.org/officeDocument/2006/relationships/theme" Target="theme/theme1.xml" TargetMode="Internal"></Relationship><Relationship Id="rId525" Type="http://schemas.openxmlformats.org/officeDocument/2006/relationships/presProps" Target="presProps.xml" TargetMode="Internal"></Relationship><Relationship Id="rId526" Type="http://schemas.openxmlformats.org/officeDocument/2006/relationships/viewProps" Target="viewProps.xml" TargetMode="Internal"></Relationship><Relationship Id="rId527" Type="http://schemas.openxmlformats.org/officeDocument/2006/relationships/tableStyles" Target="tableStyles.xml" TargetMode="Internal"></Relationship></Relationships>
</file>

<file path=ppt/slideLayouts/_rels/slideLayout1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2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3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4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5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6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7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8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9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10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_rels/slideLayout11.xml.rels><?xml version="1.0" encoding="UTF-8"?>
<Relationships xmlns="http://schemas.openxmlformats.org/package/2006/relationships"><Relationship Id="rId1" Type="http://schemas.openxmlformats.org/officeDocument/2006/relationships/slideMaster" Target="../slideMasters/slideMaster1.xml" TargetMode="Internal"></Relationship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algn="ctr" marL="0" indent="0">
              <a:buNone/>
              <a:defRPr>
                <a:solidFill>
                  <a:srgbClr val="000000"/>
                </a:solidFill>
              </a:defRPr>
            </a:lvl1pPr>
            <a:lvl2pPr algn="ctr" marL="457200" indent="0">
              <a:buNone/>
              <a:defRPr>
                <a:solidFill>
                  <a:srgbClr val="000000"/>
                </a:solidFill>
              </a:defRPr>
            </a:lvl2pPr>
            <a:lvl3pPr algn="ctr" marL="914400" indent="0">
              <a:buNone/>
              <a:defRPr>
                <a:solidFill>
                  <a:srgbClr val="000000"/>
                </a:solidFill>
              </a:defRPr>
            </a:lvl3pPr>
            <a:lvl4pPr algn="ctr" marL="1371600" indent="0">
              <a:buNone/>
              <a:defRPr>
                <a:solidFill>
                  <a:srgbClr val="000000"/>
                </a:solidFill>
              </a:defRPr>
            </a:lvl4pPr>
            <a:lvl5pPr algn="ctr" marL="1828800" indent="0">
              <a:buNone/>
              <a:defRPr>
                <a:solidFill>
                  <a:srgbClr val="000000"/>
                </a:solidFill>
              </a:defRPr>
            </a:lvl5pPr>
            <a:lvl6pPr algn="ctr" marL="2286000" indent="0">
              <a:buNone/>
              <a:defRPr>
                <a:solidFill>
                  <a:srgbClr val="000000"/>
                </a:solidFill>
              </a:defRPr>
            </a:lvl6pPr>
            <a:lvl7pPr algn="ctr" marL="2743200" indent="0">
              <a:buNone/>
              <a:defRPr>
                <a:solidFill>
                  <a:srgbClr val="000000"/>
                </a:solidFill>
              </a:defRPr>
            </a:lvl7pPr>
            <a:lvl8pPr algn="ctr" marL="3200400" indent="0">
              <a:buNone/>
              <a:defRPr>
                <a:solidFill>
                  <a:srgbClr val="000000"/>
                </a:solidFill>
              </a:defRPr>
            </a:lvl8pPr>
            <a:lvl9pPr algn="ctr" marL="3657600" indent="0">
              <a:buNone/>
              <a:defRPr>
                <a:solidFill>
                  <a:srgbClr val="000000"/>
                </a:solidFill>
              </a:defRPr>
            </a:lvl9pPr>
          </a:lstStyle>
          <a:p>
            <a:r>
              <a:rPr lang="ko-KR" altLang="en-US" dirty="0" smtClean="0"/>
              <a:t>Click to edit Master subtitle style</a:t>
            </a:r>
            <a:endParaRPr lang="ko-KR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5" name="Date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buNone/>
              <a:defRPr sz="4000" b="1" cap="all"/>
            </a:lvl1pPr>
          </a:lstStyle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rgbClr val="000000"/>
                </a:solidFill>
              </a:defRPr>
            </a:lvl1pPr>
            <a:lvl2pPr marL="457200" indent="0">
              <a:buNone/>
              <a:defRPr sz="1800">
                <a:solidFill>
                  <a:srgbClr val="000000"/>
                </a:solidFill>
              </a:defRPr>
            </a:lvl2pPr>
            <a:lvl3pPr marL="914400" indent="0">
              <a:buNone/>
              <a:defRPr sz="1600">
                <a:solidFill>
                  <a:srgbClr val="000000"/>
                </a:solidFill>
              </a:defRPr>
            </a:lvl3pPr>
            <a:lvl4pPr marL="1371600" indent="0">
              <a:buNone/>
              <a:defRPr sz="1400">
                <a:solidFill>
                  <a:srgbClr val="000000"/>
                </a:solidFill>
              </a:defRPr>
            </a:lvl4pPr>
            <a:lvl5pPr marL="1828800" indent="0">
              <a:buNone/>
              <a:defRPr sz="1400">
                <a:solidFill>
                  <a:srgbClr val="000000"/>
                </a:solidFill>
              </a:defRPr>
            </a:lvl5pPr>
            <a:lvl6pPr marL="2286000" indent="0">
              <a:buNone/>
              <a:defRPr sz="1400">
                <a:solidFill>
                  <a:srgbClr val="000000"/>
                </a:solidFill>
              </a:defRPr>
            </a:lvl6pPr>
            <a:lvl7pPr marL="2743200" indent="0">
              <a:buNone/>
              <a:defRPr sz="1400">
                <a:solidFill>
                  <a:srgbClr val="000000"/>
                </a:solidFill>
              </a:defRPr>
            </a:lvl7pPr>
            <a:lvl8pPr marL="3200400" indent="0">
              <a:buNone/>
              <a:defRPr sz="1400">
                <a:solidFill>
                  <a:srgbClr val="000000"/>
                </a:solidFill>
              </a:defRPr>
            </a:lvl8pPr>
            <a:lvl9pPr marL="3657600" indent="0">
              <a:buNone/>
              <a:defRPr sz="1400">
                <a:solidFill>
                  <a:srgbClr val="000000"/>
                </a:solidFill>
              </a:defRPr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 marL="0" defTabSz="0">
              <a:defRPr sz="2800"/>
            </a:lvl1pPr>
            <a:lvl2pPr marL="0" defTabSz="0">
              <a:defRPr sz="2400"/>
            </a:lvl2pPr>
            <a:lvl3pPr marL="0" defTabSz="0">
              <a:defRPr sz="2000"/>
            </a:lvl3pPr>
            <a:lvl4pPr marL="0" defTabSz="0">
              <a:defRPr sz="1800"/>
            </a:lvl4pPr>
            <a:lvl5pPr marL="0" defTabSz="0">
              <a:defRPr sz="1800"/>
            </a:lvl5pPr>
            <a:lvl6pPr marL="0" defTabSz="0">
              <a:defRPr sz="1800"/>
            </a:lvl6pPr>
            <a:lvl7pPr marL="0" defTabSz="0">
              <a:defRPr sz="1800"/>
            </a:lvl7pPr>
            <a:lvl8pPr marL="0" defTabSz="0">
              <a:defRPr sz="1800"/>
            </a:lvl8pPr>
            <a:lvl9pPr marL="0" defTabSz="0">
              <a:defRPr sz="18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 marL="0" defTabSz="0">
              <a:defRPr sz="2800"/>
            </a:lvl1pPr>
            <a:lvl2pPr marL="0" defTabSz="0">
              <a:defRPr sz="2400"/>
            </a:lvl2pPr>
            <a:lvl3pPr marL="0" defTabSz="0">
              <a:defRPr sz="2000"/>
            </a:lvl3pPr>
            <a:lvl4pPr marL="0" defTabSz="0">
              <a:defRPr sz="1800"/>
            </a:lvl4pPr>
            <a:lvl5pPr marL="0" defTabSz="0">
              <a:defRPr sz="1800"/>
            </a:lvl5pPr>
            <a:lvl6pPr marL="0" defTabSz="0">
              <a:defRPr sz="1800"/>
            </a:lvl6pPr>
            <a:lvl7pPr marL="0" defTabSz="0">
              <a:defRPr sz="1800"/>
            </a:lvl7pPr>
            <a:lvl8pPr marL="0" defTabSz="0">
              <a:defRPr sz="1800"/>
            </a:lvl8pPr>
            <a:lvl9pPr marL="0" defTabSz="0">
              <a:defRPr sz="18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idx="0"/>
          </p:nvPr>
        </p:nvSpPr>
        <p:spPr/>
        <p:txBody>
          <a:bodyPr/>
          <a:lstStyle>
            <a:lvl1pPr marL="0" defTabSz="0">
              <a:defRPr/>
            </a:lvl1pPr>
          </a:lstStyle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 marL="0" defTabSz="0">
              <a:defRPr sz="2400"/>
            </a:lvl1pPr>
            <a:lvl2pPr marL="0" defTabSz="0">
              <a:defRPr sz="2000"/>
            </a:lvl2pPr>
            <a:lvl3pPr marL="0" defTabSz="0">
              <a:defRPr sz="1800"/>
            </a:lvl3pPr>
            <a:lvl4pPr marL="0" defTabSz="0">
              <a:defRPr sz="1600"/>
            </a:lvl4pPr>
            <a:lvl5pPr marL="0" defTabSz="0">
              <a:defRPr sz="1600"/>
            </a:lvl5pPr>
            <a:lvl6pPr marL="0" defTabSz="0">
              <a:defRPr sz="1600"/>
            </a:lvl6pPr>
            <a:lvl7pPr marL="0" defTabSz="0">
              <a:defRPr sz="1600"/>
            </a:lvl7pPr>
            <a:lvl8pPr marL="0" defTabSz="0">
              <a:defRPr sz="1600"/>
            </a:lvl8pPr>
            <a:lvl9pPr marL="0" defTabSz="0">
              <a:defRPr sz="16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 marL="0" defTabSz="0">
              <a:defRPr sz="2400"/>
            </a:lvl1pPr>
            <a:lvl2pPr marL="0" defTabSz="0">
              <a:defRPr sz="2000"/>
            </a:lvl2pPr>
            <a:lvl3pPr marL="0" defTabSz="0">
              <a:defRPr sz="1800"/>
            </a:lvl3pPr>
            <a:lvl4pPr marL="0" defTabSz="0">
              <a:defRPr sz="1600"/>
            </a:lvl4pPr>
            <a:lvl5pPr marL="0" defTabSz="0">
              <a:defRPr sz="1600"/>
            </a:lvl5pPr>
            <a:lvl6pPr marL="0" defTabSz="0">
              <a:defRPr sz="1600"/>
            </a:lvl6pPr>
            <a:lvl7pPr marL="0" defTabSz="0">
              <a:defRPr sz="1600"/>
            </a:lvl7pPr>
            <a:lvl8pPr marL="0" defTabSz="0">
              <a:defRPr sz="1600"/>
            </a:lvl8pPr>
            <a:lvl9pPr marL="0" defTabSz="0">
              <a:defRPr sz="16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1"/>
          <p:cNvSpPr>
            <a:spLocks noGrp="1"/>
          </p:cNvSpPr>
          <p:nvPr>
            <p:ph type="title" idx="0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Content Placeholder 2"/>
          <p:cNvSpPr>
            <a:spLocks noGrp="1"/>
          </p:cNvSpPr>
          <p:nvPr>
            <p:ph type="pic"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 marL="0" defTabSz="0">
              <a:defRPr sz="3200"/>
            </a:lvl1pPr>
            <a:lvl2pPr marL="0" defTabSz="0">
              <a:defRPr sz="2800"/>
            </a:lvl2pPr>
            <a:lvl3pPr marL="0" defTabSz="0">
              <a:defRPr sz="2400"/>
            </a:lvl3pPr>
            <a:lvl4pPr marL="0" defTabSz="0">
              <a:defRPr sz="2000"/>
            </a:lvl4pPr>
            <a:lvl5pPr marL="0" defTabSz="0">
              <a:defRPr sz="2000"/>
            </a:lvl5pPr>
            <a:lvl6pPr marL="0" defTabSz="0">
              <a:defRPr sz="2000"/>
            </a:lvl6pPr>
            <a:lvl7pPr marL="0" defTabSz="0">
              <a:defRPr sz="2000"/>
            </a:lvl7pPr>
            <a:lvl8pPr marL="0" defTabSz="0">
              <a:defRPr sz="2000"/>
            </a:lvl8pPr>
            <a:lvl9pPr marL="0" defTabSz="0">
              <a:defRPr sz="20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1"/>
          <p:cNvSpPr>
            <a:spLocks noGrp="1"/>
          </p:cNvSpPr>
          <p:nvPr>
            <p:ph type="title" idx="0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dirty="0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1"/>
          <p:cNvSpPr>
            <a:spLocks noGrp="1"/>
          </p:cNvSpPr>
          <p:nvPr>
            <p:ph type="title" orient="vert" idx="0"/>
          </p:nvPr>
        </p:nvSpPr>
        <p:spPr>
          <a:xfrm>
            <a:off x="6629400" y="274638"/>
            <a:ext cx="2057400" cy="5851525"/>
          </a:xfrm>
        </p:spPr>
        <p:txBody>
          <a:bodyPr vert="eaVert"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4E2A0640-D55D-49AB-BE71-95CE015E007B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0A2ECFA0-BEA7-45D1-BB8F-060EF80CCB2E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Masters/_rels/slideMaster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1.xml" TargetMode="Internal"></Relationship><Relationship Id="rId2" Type="http://schemas.openxmlformats.org/officeDocument/2006/relationships/slideLayout" Target="../slideLayouts/slideLayout2.xml" TargetMode="Internal"></Relationship><Relationship Id="rId3" Type="http://schemas.openxmlformats.org/officeDocument/2006/relationships/slideLayout" Target="../slideLayouts/slideLayout3.xml" TargetMode="Internal"></Relationship><Relationship Id="rId4" Type="http://schemas.openxmlformats.org/officeDocument/2006/relationships/slideLayout" Target="../slideLayouts/slideLayout4.xml" TargetMode="Internal"></Relationship><Relationship Id="rId5" Type="http://schemas.openxmlformats.org/officeDocument/2006/relationships/slideLayout" Target="../slideLayouts/slideLayout5.xml" TargetMode="Internal"></Relationship><Relationship Id="rId6" Type="http://schemas.openxmlformats.org/officeDocument/2006/relationships/slideLayout" Target="../slideLayouts/slideLayout6.xml" TargetMode="Internal"></Relationship><Relationship Id="rId7" Type="http://schemas.openxmlformats.org/officeDocument/2006/relationships/slideLayout" Target="../slideLayouts/slideLayout7.xml" TargetMode="Internal"></Relationship><Relationship Id="rId8" Type="http://schemas.openxmlformats.org/officeDocument/2006/relationships/slideLayout" Target="../slideLayouts/slideLayout8.xml" TargetMode="Internal"></Relationship><Relationship Id="rId9" Type="http://schemas.openxmlformats.org/officeDocument/2006/relationships/slideLayout" Target="../slideLayouts/slideLayout9.xml" TargetMode="Internal"></Relationship><Relationship Id="rId10" Type="http://schemas.openxmlformats.org/officeDocument/2006/relationships/slideLayout" Target="../slideLayouts/slideLayout10.xml" TargetMode="Internal"></Relationship><Relationship Id="rId11" Type="http://schemas.openxmlformats.org/officeDocument/2006/relationships/slideLayout" Target="../slideLayouts/slideLayout11.xml" TargetMode="Internal"></Relationship><Relationship Id="rId12" Type="http://schemas.openxmlformats.org/officeDocument/2006/relationships/theme" Target="../theme/theme1.xml" TargetMode="Internal"></Relationship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Click to edit Master title style</a:t>
            </a:r>
            <a:endParaRPr lang="ko-KR" alt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Click to edit Master text styles</a:t>
            </a:r>
          </a:p>
          <a:p>
            <a:pPr lvl="1"/>
            <a:r>
              <a:rPr lang="ko-KR" altLang="en-US" dirty="0" smtClean="0"/>
              <a:t>Second level</a:t>
            </a:r>
          </a:p>
          <a:p>
            <a:pPr lvl="2"/>
            <a:r>
              <a:rPr lang="ko-KR" altLang="en-US" dirty="0" smtClean="0"/>
              <a:t>Third level</a:t>
            </a:r>
          </a:p>
          <a:p>
            <a:pPr lvl="3"/>
            <a:r>
              <a:rPr lang="ko-KR" altLang="en-US" dirty="0" smtClean="0"/>
              <a:t>Fourth level</a:t>
            </a:r>
          </a:p>
          <a:p>
            <a:pPr lvl="4"/>
            <a:r>
              <a:rPr lang="ko-KR" altLang="en-US" dirty="0" smtClean="0"/>
              <a:t>Fifth level</a:t>
            </a:r>
            <a:endParaRPr lang="ko-KR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000000"/>
                </a:solidFill>
              </a:defRPr>
            </a:lvl1pPr>
          </a:lstStyle>
          <a:p>
            <a:fld id="{5C1A2B81-1DA3-497E-83CD-70D401AD2C06}" type="datetimeFigureOut">
              <a:rPr lang="ko-KR" altLang="en-US" dirty="0" smtClean="0"/>
              <a:t>2007-07-13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rgbClr val="000000"/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000000"/>
                </a:solidFill>
              </a:defRPr>
            </a:lvl1pPr>
          </a:lstStyle>
          <a:p>
            <a:fld id="{9CD56DC7-0AF8-4C3E-9120-C82FF52A6C0B}" type="slidenum">
              <a:rPr lang="ko-KR" altLang="en-US" dirty="0" smtClean="0"/>
              <a:t>‹#›</a:t>
            </a:fld>
            <a:endParaRPr lang="ko-KR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marL="0" indent="0" defTabSz="914400">
        <a:buNone/>
        <a:defRPr lang="ko-KR" smtClean="0" sz="4400" baseline="0">
          <a:solidFill>
            <a:srgbClr val="000000"/>
          </a:solidFill>
          <a:latin typeface="SimSun"/>
          <a:ea typeface="SimSun"/>
        </a:defRPr>
      </a:lvl1pPr>
    </p:titleStyle>
    <p:bodyStyle>
      <a:lvl1pPr algn="l" marL="342900" indent="-342900" defTabSz="914400">
        <a:spcBef>
          <a:spcPct val="20000"/>
        </a:spcBef>
        <a:buFont typeface="SimSun"/>
        <a:buChar char="●"/>
        <a:defRPr lang="ko-KR" smtClean="0" sz="3200" baseline="0">
          <a:solidFill>
            <a:srgbClr val="000000"/>
          </a:solidFill>
          <a:latin typeface="SimSun"/>
          <a:ea typeface="SimSun"/>
        </a:defRPr>
      </a:lvl1pPr>
      <a:lvl2pPr lvl="1" marL="742950" indent="-285750" defTabSz="914400">
        <a:buChar char="-"/>
        <a:defRPr lang="ko-KR" smtClean="0" sz="2800"/>
      </a:lvl2pPr>
      <a:lvl3pPr lvl="2" marL="1143000" indent="-228600" defTabSz="914400">
        <a:buChar char="●"/>
        <a:defRPr lang="ko-KR" smtClean="0" sz="2400"/>
      </a:lvl3pPr>
      <a:lvl4pPr lvl="3" marL="1600200" indent="-228600" defTabSz="914400">
        <a:buChar char="-"/>
        <a:defRPr lang="ko-KR" smtClean="0" sz="2000"/>
      </a:lvl4pPr>
      <a:lvl5pPr lvl="4" marL="2057400" indent="-228600" defTabSz="914400">
        <a:buChar char="»"/>
        <a:defRPr lang="ko-KR" smtClean="0"/>
      </a:lvl5pPr>
    </p:bodyStyle>
    <p:otherStyle>
      <a:lvl1pPr algn="l" marL="0" indent="0" defTabSz="914400">
        <a:buNone/>
        <a:defRPr lang="ko-KR" smtClean="0" sz="1800" baseline="0">
          <a:solidFill>
            <a:srgbClr val="000000"/>
          </a:solidFill>
          <a:latin typeface="SimSun"/>
          <a:ea typeface="SimSun"/>
        </a:defRPr>
      </a:lvl1pPr>
      <a:lvl2pPr lvl="1" marL="457200" indent="0" defTabSz="914400">
        <a:defRPr lang="ko-KR" smtClean="0"/>
      </a:lvl2pPr>
      <a:lvl3pPr lvl="2" marL="914400" indent="0" defTabSz="914400">
        <a:defRPr lang="ko-KR" smtClean="0"/>
      </a:lvl3pPr>
      <a:lvl4pPr lvl="3" marL="1371600" indent="0" defTabSz="914400">
        <a:defRPr lang="ko-KR" smtClean="0"/>
      </a:lvl4pPr>
      <a:lvl5pPr lvl="4" marL="1828800" indent="0" defTabSz="914400">
        <a:defRPr lang="ko-KR" smtClean="0"/>
      </a:lvl5pPr>
    </p:otherStyle>
  </p:txStyles>
</p:sldMaster>
</file>

<file path=ppt/slides/_rels/slide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.jpeg" TargetMode="Internal"></Relationship></Relationships>
</file>

<file path=ppt/slides/_rels/slide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.jpeg" TargetMode="Internal"></Relationship></Relationships>
</file>

<file path=ppt/slides/_rels/slide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.jpeg" TargetMode="Internal"></Relationship></Relationships>
</file>

<file path=ppt/slides/_rels/slide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.jpeg" TargetMode="Internal"></Relationship></Relationships>
</file>

<file path=ppt/slides/_rels/slide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.jpeg" TargetMode="Internal"></Relationship></Relationships>
</file>

<file path=ppt/slides/_rels/slide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.jpeg" TargetMode="Internal"></Relationship></Relationships>
</file>

<file path=ppt/slides/_rels/slide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.jpeg" TargetMode="Internal"></Relationship><Relationship Id="rId3" Type="http://schemas.openxmlformats.org/officeDocument/2006/relationships/image" Target="../media/fImage8.jpeg" TargetMode="Internal"></Relationship><Relationship Id="rId4" Type="http://schemas.openxmlformats.org/officeDocument/2006/relationships/image" Target="../media/fImage9.jpeg" TargetMode="Internal"></Relationship><Relationship Id="rId5" Type="http://schemas.openxmlformats.org/officeDocument/2006/relationships/image" Target="../media/fImage10.jpeg" TargetMode="Internal"></Relationship><Relationship Id="rId6" Type="http://schemas.openxmlformats.org/officeDocument/2006/relationships/image" Target="../media/fImage11.jpeg" TargetMode="Internal"></Relationship></Relationships>
</file>

<file path=ppt/slides/_rels/slide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.jpeg" TargetMode="Internal"></Relationship></Relationships>
</file>

<file path=ppt/slides/_rels/slide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.jpeg" TargetMode="Internal"></Relationship></Relationships>
</file>

<file path=ppt/slides/_rels/slide1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.jpeg" TargetMode="Internal"></Relationship><Relationship Id="rId3" Type="http://schemas.openxmlformats.org/officeDocument/2006/relationships/image" Target="../media/fImage15.jpeg" TargetMode="Internal"></Relationship></Relationships>
</file>

<file path=ppt/slides/_rels/slide1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6.jpeg" TargetMode="Internal"></Relationship><Relationship Id="rId3" Type="http://schemas.openxmlformats.org/officeDocument/2006/relationships/image" Target="../media/fImage17.jpeg" TargetMode="Internal"></Relationship><Relationship Id="rId4" Type="http://schemas.openxmlformats.org/officeDocument/2006/relationships/image" Target="../media/fImage18.jpeg" TargetMode="Internal"></Relationship><Relationship Id="rId5" Type="http://schemas.openxmlformats.org/officeDocument/2006/relationships/image" Target="../media/fImage19.jpeg" TargetMode="Internal"></Relationship></Relationships>
</file>

<file path=ppt/slides/_rels/slide1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0.jpeg" TargetMode="Internal"></Relationship><Relationship Id="rId3" Type="http://schemas.openxmlformats.org/officeDocument/2006/relationships/image" Target="../media/fImage21.jpeg" TargetMode="Internal"></Relationship></Relationships>
</file>

<file path=ppt/slides/_rels/slide1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2.jpeg" TargetMode="Internal"></Relationship><Relationship Id="rId3" Type="http://schemas.openxmlformats.org/officeDocument/2006/relationships/image" Target="../media/fImage23.jpeg" TargetMode="Internal"></Relationship><Relationship Id="rId4" Type="http://schemas.openxmlformats.org/officeDocument/2006/relationships/image" Target="../media/fImage24.jpeg" TargetMode="Internal"></Relationship><Relationship Id="rId5" Type="http://schemas.openxmlformats.org/officeDocument/2006/relationships/image" Target="../media/fImage25.jpeg" TargetMode="Internal"></Relationship></Relationships>
</file>

<file path=ppt/slides/_rels/slide1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6.jpeg" TargetMode="Internal"></Relationship><Relationship Id="rId3" Type="http://schemas.openxmlformats.org/officeDocument/2006/relationships/image" Target="../media/fImage27.jpeg" TargetMode="Internal"></Relationship><Relationship Id="rId4" Type="http://schemas.openxmlformats.org/officeDocument/2006/relationships/image" Target="../media/fImage28.jpeg" TargetMode="Internal"></Relationship><Relationship Id="rId5" Type="http://schemas.openxmlformats.org/officeDocument/2006/relationships/image" Target="../media/fImage29.jpeg" TargetMode="Internal"></Relationship></Relationships>
</file>

<file path=ppt/slides/_rels/slide1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0.jpeg" TargetMode="Internal"></Relationship></Relationships>
</file>

<file path=ppt/slides/_rels/slide1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1.jpeg" TargetMode="Internal"></Relationship></Relationships>
</file>

<file path=ppt/slides/_rels/slide1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2.jpeg" TargetMode="Internal"></Relationship></Relationships>
</file>

<file path=ppt/slides/_rels/slide1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.jpeg" TargetMode="Internal"></Relationship><Relationship Id="rId3" Type="http://schemas.openxmlformats.org/officeDocument/2006/relationships/image" Target="../media/fImage34.jpeg" TargetMode="Internal"></Relationship><Relationship Id="rId4" Type="http://schemas.openxmlformats.org/officeDocument/2006/relationships/image" Target="../media/fImage35.jpeg" TargetMode="Internal"></Relationship></Relationships>
</file>

<file path=ppt/slides/_rels/slide1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6.jpeg" TargetMode="Internal"></Relationship><Relationship Id="rId3" Type="http://schemas.openxmlformats.org/officeDocument/2006/relationships/image" Target="../media/fImage37.jpeg" TargetMode="Internal"></Relationship></Relationships>
</file>

<file path=ppt/slides/_rels/slide2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8.jpeg" TargetMode="Internal"></Relationship></Relationships>
</file>

<file path=ppt/slides/_rels/slide2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9.jpeg" TargetMode="Internal"></Relationship><Relationship Id="rId3" Type="http://schemas.openxmlformats.org/officeDocument/2006/relationships/image" Target="../media/fImage40.jpeg" TargetMode="Internal"></Relationship></Relationships>
</file>

<file path=ppt/slides/_rels/slide2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1.jpeg" TargetMode="Internal"></Relationship><Relationship Id="rId3" Type="http://schemas.openxmlformats.org/officeDocument/2006/relationships/image" Target="../media/fImage42.jpeg" TargetMode="Internal"></Relationship></Relationships>
</file>

<file path=ppt/slides/_rels/slide2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.jpeg" TargetMode="Internal"></Relationship><Relationship Id="rId3" Type="http://schemas.openxmlformats.org/officeDocument/2006/relationships/image" Target="../media/fImage44.jpeg" TargetMode="Internal"></Relationship></Relationships>
</file>

<file path=ppt/slides/_rels/slide2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5.jpeg" TargetMode="Internal"></Relationship><Relationship Id="rId3" Type="http://schemas.openxmlformats.org/officeDocument/2006/relationships/image" Target="../media/fImage46.jpeg" TargetMode="Internal"></Relationship></Relationships>
</file>

<file path=ppt/slides/_rels/slide2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7.jpeg" TargetMode="Internal"></Relationship><Relationship Id="rId3" Type="http://schemas.openxmlformats.org/officeDocument/2006/relationships/image" Target="../media/fImage48.jpeg" TargetMode="Internal"></Relationship><Relationship Id="rId4" Type="http://schemas.openxmlformats.org/officeDocument/2006/relationships/image" Target="../media/fImage49.jpeg" TargetMode="Internal"></Relationship></Relationships>
</file>

<file path=ppt/slides/_rels/slide2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0.jpeg" TargetMode="Internal"></Relationship><Relationship Id="rId3" Type="http://schemas.openxmlformats.org/officeDocument/2006/relationships/image" Target="../media/fImage51.jpeg" TargetMode="Internal"></Relationship></Relationships>
</file>

<file path=ppt/slides/_rels/slide2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2.jpeg" TargetMode="Internal"></Relationship><Relationship Id="rId3" Type="http://schemas.openxmlformats.org/officeDocument/2006/relationships/image" Target="../media/fImage53.jpeg" TargetMode="Internal"></Relationship><Relationship Id="rId4" Type="http://schemas.openxmlformats.org/officeDocument/2006/relationships/image" Target="../media/fImage54.jpeg" TargetMode="Internal"></Relationship><Relationship Id="rId5" Type="http://schemas.openxmlformats.org/officeDocument/2006/relationships/image" Target="../media/fImage55.jpeg" TargetMode="Internal"></Relationship><Relationship Id="rId6" Type="http://schemas.openxmlformats.org/officeDocument/2006/relationships/image" Target="../media/fImage56.jpeg" TargetMode="Internal"></Relationship><Relationship Id="rId7" Type="http://schemas.openxmlformats.org/officeDocument/2006/relationships/image" Target="../media/fImage57.jpeg" TargetMode="Internal"></Relationship></Relationships>
</file>

<file path=ppt/slides/_rels/slide2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8.jpeg" TargetMode="Internal"></Relationship><Relationship Id="rId3" Type="http://schemas.openxmlformats.org/officeDocument/2006/relationships/image" Target="../media/fImage59.jpeg" TargetMode="Internal"></Relationship><Relationship Id="rId4" Type="http://schemas.openxmlformats.org/officeDocument/2006/relationships/image" Target="../media/fImage60.jpeg" TargetMode="Internal"></Relationship><Relationship Id="rId5" Type="http://schemas.openxmlformats.org/officeDocument/2006/relationships/image" Target="../media/fImage61.jpeg" TargetMode="Internal"></Relationship></Relationships>
</file>

<file path=ppt/slides/_rels/slide2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2.jpeg" TargetMode="Internal"></Relationship><Relationship Id="rId3" Type="http://schemas.openxmlformats.org/officeDocument/2006/relationships/image" Target="../media/fImage63.jpeg" TargetMode="Internal"></Relationship></Relationships>
</file>

<file path=ppt/slides/_rels/slide3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4.jpeg" TargetMode="Internal"></Relationship><Relationship Id="rId3" Type="http://schemas.openxmlformats.org/officeDocument/2006/relationships/image" Target="../media/fImage65.jpeg" TargetMode="Internal"></Relationship></Relationships>
</file>

<file path=ppt/slides/_rels/slide3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6.jpeg" TargetMode="Internal"></Relationship><Relationship Id="rId3" Type="http://schemas.openxmlformats.org/officeDocument/2006/relationships/image" Target="../media/fImage67.jpeg" TargetMode="Internal"></Relationship><Relationship Id="rId4" Type="http://schemas.openxmlformats.org/officeDocument/2006/relationships/image" Target="../media/fImage68.jpeg" TargetMode="Internal"></Relationship></Relationships>
</file>

<file path=ppt/slides/_rels/slide3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9.jpeg" TargetMode="Internal"></Relationship></Relationships>
</file>

<file path=ppt/slides/_rels/slide3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0.jpeg" TargetMode="Internal"></Relationship><Relationship Id="rId3" Type="http://schemas.openxmlformats.org/officeDocument/2006/relationships/image" Target="../media/fImage71.jpeg" TargetMode="Internal"></Relationship><Relationship Id="rId4" Type="http://schemas.openxmlformats.org/officeDocument/2006/relationships/image" Target="../media/fImage72.jpeg" TargetMode="Internal"></Relationship></Relationships>
</file>

<file path=ppt/slides/_rels/slide3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3.jpeg" TargetMode="Internal"></Relationship><Relationship Id="rId3" Type="http://schemas.openxmlformats.org/officeDocument/2006/relationships/image" Target="../media/fImage74.jpeg" TargetMode="Internal"></Relationship><Relationship Id="rId4" Type="http://schemas.openxmlformats.org/officeDocument/2006/relationships/image" Target="../media/fImage75.jpeg" TargetMode="Internal"></Relationship></Relationships>
</file>

<file path=ppt/slides/_rels/slide3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6.jpeg" TargetMode="Internal"></Relationship><Relationship Id="rId3" Type="http://schemas.openxmlformats.org/officeDocument/2006/relationships/image" Target="../media/fImage77.jpeg" TargetMode="Internal"></Relationship><Relationship Id="rId4" Type="http://schemas.openxmlformats.org/officeDocument/2006/relationships/image" Target="../media/fImage78.jpeg" TargetMode="Internal"></Relationship></Relationships>
</file>

<file path=ppt/slides/_rels/slide3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9.jpeg" TargetMode="Internal"></Relationship></Relationships>
</file>

<file path=ppt/slides/_rels/slide3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0.jpeg" TargetMode="Internal"></Relationship></Relationships>
</file>

<file path=ppt/slides/_rels/slide3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1.jpeg" TargetMode="Internal"></Relationship><Relationship Id="rId3" Type="http://schemas.openxmlformats.org/officeDocument/2006/relationships/image" Target="../media/fImage82.jpeg" TargetMode="Internal"></Relationship><Relationship Id="rId4" Type="http://schemas.openxmlformats.org/officeDocument/2006/relationships/image" Target="../media/fImage83.jpeg" TargetMode="Internal"></Relationship></Relationships>
</file>

<file path=ppt/slides/_rels/slide3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4.jpeg" TargetMode="Internal"></Relationship><Relationship Id="rId3" Type="http://schemas.openxmlformats.org/officeDocument/2006/relationships/image" Target="../media/fImage85.jpeg" TargetMode="Internal"></Relationship><Relationship Id="rId4" Type="http://schemas.openxmlformats.org/officeDocument/2006/relationships/image" Target="../media/fImage86.jpeg" TargetMode="Internal"></Relationship></Relationships>
</file>

<file path=ppt/slides/_rels/slide4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7.jpeg" TargetMode="Internal"></Relationship><Relationship Id="rId3" Type="http://schemas.openxmlformats.org/officeDocument/2006/relationships/image" Target="../media/fImage88.jpeg" TargetMode="Internal"></Relationship><Relationship Id="rId4" Type="http://schemas.openxmlformats.org/officeDocument/2006/relationships/image" Target="../media/fImage89.jpeg" TargetMode="Internal"></Relationship><Relationship Id="rId5" Type="http://schemas.openxmlformats.org/officeDocument/2006/relationships/image" Target="../media/fImage90.jpeg" TargetMode="Internal"></Relationship></Relationships>
</file>

<file path=ppt/slides/_rels/slide4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1.jpeg" TargetMode="Internal"></Relationship><Relationship Id="rId3" Type="http://schemas.openxmlformats.org/officeDocument/2006/relationships/image" Target="../media/fImage92.jpeg" TargetMode="Internal"></Relationship><Relationship Id="rId4" Type="http://schemas.openxmlformats.org/officeDocument/2006/relationships/image" Target="../media/fImage93.jpeg" TargetMode="Internal"></Relationship></Relationships>
</file>

<file path=ppt/slides/_rels/slide4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4.jpeg" TargetMode="Internal"></Relationship><Relationship Id="rId3" Type="http://schemas.openxmlformats.org/officeDocument/2006/relationships/image" Target="../media/fImage95.jpeg" TargetMode="Internal"></Relationship></Relationships>
</file>

<file path=ppt/slides/_rels/slide4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6.jpeg" TargetMode="Internal"></Relationship><Relationship Id="rId3" Type="http://schemas.openxmlformats.org/officeDocument/2006/relationships/image" Target="../media/fImage97.jpeg" TargetMode="Internal"></Relationship><Relationship Id="rId4" Type="http://schemas.openxmlformats.org/officeDocument/2006/relationships/image" Target="../media/fImage98.jpeg" TargetMode="Internal"></Relationship><Relationship Id="rId5" Type="http://schemas.openxmlformats.org/officeDocument/2006/relationships/image" Target="../media/fImage99.jpeg" TargetMode="Internal"></Relationship><Relationship Id="rId6" Type="http://schemas.openxmlformats.org/officeDocument/2006/relationships/image" Target="../media/fImage100.jpeg" TargetMode="Internal"></Relationship><Relationship Id="rId7" Type="http://schemas.openxmlformats.org/officeDocument/2006/relationships/image" Target="../media/fImage101.jpeg" TargetMode="Internal"></Relationship><Relationship Id="rId8" Type="http://schemas.openxmlformats.org/officeDocument/2006/relationships/image" Target="../media/fImage102.jpeg" TargetMode="Internal"></Relationship><Relationship Id="rId9" Type="http://schemas.openxmlformats.org/officeDocument/2006/relationships/image" Target="../media/fImage103.jpeg" TargetMode="Internal"></Relationship></Relationships>
</file>

<file path=ppt/slides/_rels/slide4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.jpeg" TargetMode="Internal"></Relationship><Relationship Id="rId3" Type="http://schemas.openxmlformats.org/officeDocument/2006/relationships/image" Target="../media/fImage105.jpeg" TargetMode="Internal"></Relationship></Relationships>
</file>

<file path=ppt/slides/_rels/slide4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6.jpeg" TargetMode="Internal"></Relationship><Relationship Id="rId3" Type="http://schemas.openxmlformats.org/officeDocument/2006/relationships/image" Target="../media/fImage107.jpeg" TargetMode="Internal"></Relationship></Relationships>
</file>

<file path=ppt/slides/_rels/slide4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8.jpeg" TargetMode="Internal"></Relationship></Relationships>
</file>

<file path=ppt/slides/_rels/slide4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9.jpeg" TargetMode="Internal"></Relationship></Relationships>
</file>

<file path=ppt/slides/_rels/slide4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0.jpeg" TargetMode="Internal"></Relationship></Relationships>
</file>

<file path=ppt/slides/_rels/slide4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1.jpeg" TargetMode="Internal"></Relationship></Relationships>
</file>

<file path=ppt/slides/_rels/slide5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2.jpeg" TargetMode="Internal"></Relationship><Relationship Id="rId3" Type="http://schemas.openxmlformats.org/officeDocument/2006/relationships/image" Target="../media/fImage113.jpeg" TargetMode="Internal"></Relationship><Relationship Id="rId4" Type="http://schemas.openxmlformats.org/officeDocument/2006/relationships/image" Target="../media/fImage114.jpeg" TargetMode="Internal"></Relationship><Relationship Id="rId5" Type="http://schemas.openxmlformats.org/officeDocument/2006/relationships/image" Target="../media/fImage115.jpeg" TargetMode="Internal"></Relationship></Relationships>
</file>

<file path=ppt/slides/_rels/slide5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6.jpeg" TargetMode="Internal"></Relationship><Relationship Id="rId3" Type="http://schemas.openxmlformats.org/officeDocument/2006/relationships/image" Target="../media/fImage117.jpeg" TargetMode="Internal"></Relationship><Relationship Id="rId4" Type="http://schemas.openxmlformats.org/officeDocument/2006/relationships/image" Target="../media/fImage118.jpeg" TargetMode="Internal"></Relationship><Relationship Id="rId5" Type="http://schemas.openxmlformats.org/officeDocument/2006/relationships/image" Target="../media/fImage119.jpeg" TargetMode="Internal"></Relationship><Relationship Id="rId6" Type="http://schemas.openxmlformats.org/officeDocument/2006/relationships/image" Target="../media/fImage120.jpeg" TargetMode="Internal"></Relationship><Relationship Id="rId7" Type="http://schemas.openxmlformats.org/officeDocument/2006/relationships/image" Target="../media/fImage121.jpeg" TargetMode="Internal"></Relationship><Relationship Id="rId8" Type="http://schemas.openxmlformats.org/officeDocument/2006/relationships/image" Target="../media/fImage122.jpeg" TargetMode="Internal"></Relationship><Relationship Id="rId9" Type="http://schemas.openxmlformats.org/officeDocument/2006/relationships/image" Target="../media/fImage123.jpeg" TargetMode="Internal"></Relationship><Relationship Id="rId10" Type="http://schemas.openxmlformats.org/officeDocument/2006/relationships/image" Target="../media/fImage124.jpeg" TargetMode="Internal"></Relationship><Relationship Id="rId11" Type="http://schemas.openxmlformats.org/officeDocument/2006/relationships/image" Target="../media/fImage125.jpeg" TargetMode="Internal"></Relationship><Relationship Id="rId12" Type="http://schemas.openxmlformats.org/officeDocument/2006/relationships/image" Target="../media/fImage126.jpeg" TargetMode="Internal"></Relationship><Relationship Id="rId13" Type="http://schemas.openxmlformats.org/officeDocument/2006/relationships/image" Target="../media/fImage127.jpeg" TargetMode="Internal"></Relationship></Relationships>
</file>

<file path=ppt/slides/_rels/slide5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8.jpeg" TargetMode="Internal"></Relationship><Relationship Id="rId3" Type="http://schemas.openxmlformats.org/officeDocument/2006/relationships/image" Target="../media/fImage129.jpeg" TargetMode="Internal"></Relationship><Relationship Id="rId4" Type="http://schemas.openxmlformats.org/officeDocument/2006/relationships/image" Target="../media/fImage130.jpeg" TargetMode="Internal"></Relationship><Relationship Id="rId5" Type="http://schemas.openxmlformats.org/officeDocument/2006/relationships/image" Target="../media/fImage131.jpeg" TargetMode="Internal"></Relationship></Relationships>
</file>

<file path=ppt/slides/_rels/slide5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2.jpeg" TargetMode="Internal"></Relationship></Relationships>
</file>

<file path=ppt/slides/_rels/slide5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3.jpeg" TargetMode="Internal"></Relationship><Relationship Id="rId3" Type="http://schemas.openxmlformats.org/officeDocument/2006/relationships/image" Target="../media/fImage134.jpeg" TargetMode="Internal"></Relationship></Relationships>
</file>

<file path=ppt/slides/_rels/slide5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5.jpeg" TargetMode="Internal"></Relationship><Relationship Id="rId3" Type="http://schemas.openxmlformats.org/officeDocument/2006/relationships/image" Target="../media/fImage136.jpeg" TargetMode="Internal"></Relationship><Relationship Id="rId4" Type="http://schemas.openxmlformats.org/officeDocument/2006/relationships/image" Target="../media/fImage137.jpeg" TargetMode="Internal"></Relationship></Relationships>
</file>

<file path=ppt/slides/_rels/slide5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8.jpeg" TargetMode="Internal"></Relationship></Relationships>
</file>

<file path=ppt/slides/_rels/slide5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9.jpeg" TargetMode="Internal"></Relationship><Relationship Id="rId3" Type="http://schemas.openxmlformats.org/officeDocument/2006/relationships/image" Target="../media/fImage140.jpeg" TargetMode="Internal"></Relationship><Relationship Id="rId4" Type="http://schemas.openxmlformats.org/officeDocument/2006/relationships/image" Target="../media/fImage141.jpeg" TargetMode="Internal"></Relationship><Relationship Id="rId5" Type="http://schemas.openxmlformats.org/officeDocument/2006/relationships/image" Target="../media/fImage142.jpeg" TargetMode="Internal"></Relationship><Relationship Id="rId6" Type="http://schemas.openxmlformats.org/officeDocument/2006/relationships/image" Target="../media/fImage143.jpeg" TargetMode="Internal"></Relationship></Relationships>
</file>

<file path=ppt/slides/_rels/slide5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4.jpeg" TargetMode="Internal"></Relationship><Relationship Id="rId3" Type="http://schemas.openxmlformats.org/officeDocument/2006/relationships/image" Target="../media/fImage145.jpeg" TargetMode="Internal"></Relationship><Relationship Id="rId4" Type="http://schemas.openxmlformats.org/officeDocument/2006/relationships/image" Target="../media/fImage146.jpeg" TargetMode="Internal"></Relationship><Relationship Id="rId5" Type="http://schemas.openxmlformats.org/officeDocument/2006/relationships/image" Target="../media/fImage147.jpeg" TargetMode="Internal"></Relationship><Relationship Id="rId6" Type="http://schemas.openxmlformats.org/officeDocument/2006/relationships/image" Target="../media/fImage148.jpeg" TargetMode="Internal"></Relationship><Relationship Id="rId7" Type="http://schemas.openxmlformats.org/officeDocument/2006/relationships/image" Target="../media/fImage149.jpeg" TargetMode="Internal"></Relationship><Relationship Id="rId8" Type="http://schemas.openxmlformats.org/officeDocument/2006/relationships/image" Target="../media/fImage150.jpeg" TargetMode="Internal"></Relationship></Relationships>
</file>

<file path=ppt/slides/_rels/slide5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51.jpeg" TargetMode="Internal"></Relationship><Relationship Id="rId3" Type="http://schemas.openxmlformats.org/officeDocument/2006/relationships/image" Target="../media/fImage152.jpeg" TargetMode="Internal"></Relationship><Relationship Id="rId4" Type="http://schemas.openxmlformats.org/officeDocument/2006/relationships/image" Target="../media/fImage153.jpeg" TargetMode="Internal"></Relationship><Relationship Id="rId5" Type="http://schemas.openxmlformats.org/officeDocument/2006/relationships/image" Target="../media/fImage154.jpeg" TargetMode="Internal"></Relationship><Relationship Id="rId6" Type="http://schemas.openxmlformats.org/officeDocument/2006/relationships/image" Target="../media/fImage155.jpeg" TargetMode="Internal"></Relationship></Relationships>
</file>

<file path=ppt/slides/_rels/slide6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56.jpeg" TargetMode="Internal"></Relationship><Relationship Id="rId3" Type="http://schemas.openxmlformats.org/officeDocument/2006/relationships/image" Target="../media/fImage157.jpeg" TargetMode="Internal"></Relationship></Relationships>
</file>

<file path=ppt/slides/_rels/slide6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58.jpeg" TargetMode="Internal"></Relationship></Relationships>
</file>

<file path=ppt/slides/_rels/slide6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59.jpeg" TargetMode="Internal"></Relationship><Relationship Id="rId3" Type="http://schemas.openxmlformats.org/officeDocument/2006/relationships/image" Target="../media/fImage160.jpeg" TargetMode="Internal"></Relationship></Relationships>
</file>

<file path=ppt/slides/_rels/slide6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61.jpeg" TargetMode="Internal"></Relationship></Relationships>
</file>

<file path=ppt/slides/_rels/slide6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62.jpeg" TargetMode="Internal"></Relationship><Relationship Id="rId3" Type="http://schemas.openxmlformats.org/officeDocument/2006/relationships/image" Target="../media/fImage163.jpeg" TargetMode="Internal"></Relationship></Relationships>
</file>

<file path=ppt/slides/_rels/slide6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64.jpeg" TargetMode="Internal"></Relationship><Relationship Id="rId3" Type="http://schemas.openxmlformats.org/officeDocument/2006/relationships/image" Target="../media/fImage165.jpeg" TargetMode="Internal"></Relationship></Relationships>
</file>

<file path=ppt/slides/_rels/slide6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66.jpeg" TargetMode="Internal"></Relationship><Relationship Id="rId3" Type="http://schemas.openxmlformats.org/officeDocument/2006/relationships/image" Target="../media/fImage167.jpeg" TargetMode="Internal"></Relationship></Relationships>
</file>

<file path=ppt/slides/_rels/slide6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68.jpeg" TargetMode="Internal"></Relationship><Relationship Id="rId3" Type="http://schemas.openxmlformats.org/officeDocument/2006/relationships/image" Target="../media/fImage169.jpeg" TargetMode="Internal"></Relationship><Relationship Id="rId4" Type="http://schemas.openxmlformats.org/officeDocument/2006/relationships/image" Target="../media/fImage170.jpeg" TargetMode="Internal"></Relationship><Relationship Id="rId5" Type="http://schemas.openxmlformats.org/officeDocument/2006/relationships/image" Target="../media/fImage171.jpeg" TargetMode="Internal"></Relationship><Relationship Id="rId6" Type="http://schemas.openxmlformats.org/officeDocument/2006/relationships/image" Target="../media/fImage172.jpeg" TargetMode="Internal"></Relationship><Relationship Id="rId7" Type="http://schemas.openxmlformats.org/officeDocument/2006/relationships/image" Target="../media/fImage173.jpeg" TargetMode="Internal"></Relationship><Relationship Id="rId8" Type="http://schemas.openxmlformats.org/officeDocument/2006/relationships/image" Target="../media/fImage174.jpeg" TargetMode="Internal"></Relationship><Relationship Id="rId9" Type="http://schemas.openxmlformats.org/officeDocument/2006/relationships/image" Target="../media/fImage175.jpeg" TargetMode="Internal"></Relationship></Relationships>
</file>

<file path=ppt/slides/_rels/slide6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76.jpeg" TargetMode="Internal"></Relationship></Relationships>
</file>

<file path=ppt/slides/_rels/slide6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77.jpeg" TargetMode="Internal"></Relationship></Relationships>
</file>

<file path=ppt/slides/_rels/slide7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78.jpeg" TargetMode="Internal"></Relationship><Relationship Id="rId3" Type="http://schemas.openxmlformats.org/officeDocument/2006/relationships/image" Target="../media/fImage179.jpeg" TargetMode="Internal"></Relationship><Relationship Id="rId4" Type="http://schemas.openxmlformats.org/officeDocument/2006/relationships/image" Target="../media/fImage180.jpeg" TargetMode="Internal"></Relationship><Relationship Id="rId5" Type="http://schemas.openxmlformats.org/officeDocument/2006/relationships/image" Target="../media/fImage181.jpeg" TargetMode="Internal"></Relationship><Relationship Id="rId6" Type="http://schemas.openxmlformats.org/officeDocument/2006/relationships/image" Target="../media/fImage182.jpeg" TargetMode="Internal"></Relationship></Relationships>
</file>

<file path=ppt/slides/_rels/slide7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83.jpeg" TargetMode="Internal"></Relationship></Relationships>
</file>

<file path=ppt/slides/_rels/slide7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84.jpeg" TargetMode="Internal"></Relationship><Relationship Id="rId3" Type="http://schemas.openxmlformats.org/officeDocument/2006/relationships/image" Target="../media/fImage185.jpeg" TargetMode="Internal"></Relationship></Relationships>
</file>

<file path=ppt/slides/_rels/slide7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86.jpeg" TargetMode="Internal"></Relationship><Relationship Id="rId3" Type="http://schemas.openxmlformats.org/officeDocument/2006/relationships/image" Target="../media/fImage187.jpeg" TargetMode="Internal"></Relationship><Relationship Id="rId4" Type="http://schemas.openxmlformats.org/officeDocument/2006/relationships/image" Target="../media/fImage188.jpeg" TargetMode="Internal"></Relationship><Relationship Id="rId5" Type="http://schemas.openxmlformats.org/officeDocument/2006/relationships/image" Target="../media/fImage189.jpeg" TargetMode="Internal"></Relationship><Relationship Id="rId6" Type="http://schemas.openxmlformats.org/officeDocument/2006/relationships/image" Target="../media/fImage190.jpeg" TargetMode="Internal"></Relationship><Relationship Id="rId7" Type="http://schemas.openxmlformats.org/officeDocument/2006/relationships/image" Target="../media/fImage191.jpeg" TargetMode="Internal"></Relationship><Relationship Id="rId8" Type="http://schemas.openxmlformats.org/officeDocument/2006/relationships/image" Target="../media/fImage192.jpeg" TargetMode="Internal"></Relationship></Relationships>
</file>

<file path=ppt/slides/_rels/slide7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93.jpeg" TargetMode="Internal"></Relationship><Relationship Id="rId3" Type="http://schemas.openxmlformats.org/officeDocument/2006/relationships/image" Target="../media/fImage194.jpeg" TargetMode="Internal"></Relationship></Relationships>
</file>

<file path=ppt/slides/_rels/slide7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95.jpeg" TargetMode="Internal"></Relationship><Relationship Id="rId3" Type="http://schemas.openxmlformats.org/officeDocument/2006/relationships/image" Target="../media/fImage196.jpeg" TargetMode="Internal"></Relationship></Relationships>
</file>

<file path=ppt/slides/_rels/slide7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97.jpeg" TargetMode="Internal"></Relationship><Relationship Id="rId3" Type="http://schemas.openxmlformats.org/officeDocument/2006/relationships/image" Target="../media/fImage198.jpeg" TargetMode="Internal"></Relationship></Relationships>
</file>

<file path=ppt/slides/_rels/slide7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99.jpeg" TargetMode="Internal"></Relationship><Relationship Id="rId3" Type="http://schemas.openxmlformats.org/officeDocument/2006/relationships/image" Target="../media/fImage200.jpeg" TargetMode="Internal"></Relationship></Relationships>
</file>

<file path=ppt/slides/_rels/slide7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01.jpeg" TargetMode="Internal"></Relationship><Relationship Id="rId3" Type="http://schemas.openxmlformats.org/officeDocument/2006/relationships/image" Target="../media/fImage202.jpeg" TargetMode="Internal"></Relationship></Relationships>
</file>

<file path=ppt/slides/_rels/slide7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03.jpeg" TargetMode="Internal"></Relationship><Relationship Id="rId3" Type="http://schemas.openxmlformats.org/officeDocument/2006/relationships/image" Target="../media/fImage204.jpeg" TargetMode="Internal"></Relationship><Relationship Id="rId4" Type="http://schemas.openxmlformats.org/officeDocument/2006/relationships/image" Target="../media/fImage205.jpeg" TargetMode="Internal"></Relationship><Relationship Id="rId5" Type="http://schemas.openxmlformats.org/officeDocument/2006/relationships/image" Target="../media/fImage206.jpeg" TargetMode="Internal"></Relationship><Relationship Id="rId6" Type="http://schemas.openxmlformats.org/officeDocument/2006/relationships/image" Target="../media/fImage207.jpeg" TargetMode="Internal"></Relationship><Relationship Id="rId7" Type="http://schemas.openxmlformats.org/officeDocument/2006/relationships/image" Target="../media/fImage208.jpeg" TargetMode="Internal"></Relationship></Relationships>
</file>

<file path=ppt/slides/_rels/slide8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09.jpeg" TargetMode="Internal"></Relationship></Relationships>
</file>

<file path=ppt/slides/_rels/slide8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10.jpeg" TargetMode="Internal"></Relationship><Relationship Id="rId3" Type="http://schemas.openxmlformats.org/officeDocument/2006/relationships/image" Target="../media/fImage211.jpeg" TargetMode="Internal"></Relationship></Relationships>
</file>

<file path=ppt/slides/_rels/slide8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12.jpeg" TargetMode="Internal"></Relationship><Relationship Id="rId3" Type="http://schemas.openxmlformats.org/officeDocument/2006/relationships/image" Target="../media/fImage213.jpeg" TargetMode="Internal"></Relationship></Relationships>
</file>

<file path=ppt/slides/_rels/slide8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14.jpeg" TargetMode="Internal"></Relationship><Relationship Id="rId3" Type="http://schemas.openxmlformats.org/officeDocument/2006/relationships/image" Target="../media/fImage215.jpeg" TargetMode="Internal"></Relationship></Relationships>
</file>

<file path=ppt/slides/_rels/slide8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16.jpeg" TargetMode="Internal"></Relationship></Relationships>
</file>

<file path=ppt/slides/_rels/slide8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17.jpeg" TargetMode="Internal"></Relationship><Relationship Id="rId3" Type="http://schemas.openxmlformats.org/officeDocument/2006/relationships/image" Target="../media/fImage218.jpeg" TargetMode="Internal"></Relationship><Relationship Id="rId4" Type="http://schemas.openxmlformats.org/officeDocument/2006/relationships/image" Target="../media/fImage219.jpeg" TargetMode="Internal"></Relationship><Relationship Id="rId5" Type="http://schemas.openxmlformats.org/officeDocument/2006/relationships/image" Target="../media/fImage220.jpeg" TargetMode="Internal"></Relationship></Relationships>
</file>

<file path=ppt/slides/_rels/slide8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21.jpeg" TargetMode="Internal"></Relationship><Relationship Id="rId3" Type="http://schemas.openxmlformats.org/officeDocument/2006/relationships/image" Target="../media/fImage222.jpeg" TargetMode="Internal"></Relationship></Relationships>
</file>

<file path=ppt/slides/_rels/slide8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23.jpeg" TargetMode="Internal"></Relationship></Relationships>
</file>

<file path=ppt/slides/_rels/slide8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24.jpeg" TargetMode="Internal"></Relationship><Relationship Id="rId3" Type="http://schemas.openxmlformats.org/officeDocument/2006/relationships/image" Target="../media/fImage225.jpeg" TargetMode="Internal"></Relationship><Relationship Id="rId4" Type="http://schemas.openxmlformats.org/officeDocument/2006/relationships/image" Target="../media/fImage226.jpeg" TargetMode="Internal"></Relationship></Relationships>
</file>

<file path=ppt/slides/_rels/slide8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27.jpeg" TargetMode="Internal"></Relationship><Relationship Id="rId3" Type="http://schemas.openxmlformats.org/officeDocument/2006/relationships/image" Target="../media/fImage228.jpeg" TargetMode="Internal"></Relationship><Relationship Id="rId4" Type="http://schemas.openxmlformats.org/officeDocument/2006/relationships/image" Target="../media/fImage229.jpeg" TargetMode="Internal"></Relationship></Relationships>
</file>

<file path=ppt/slides/_rels/slide9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30.jpeg" TargetMode="Internal"></Relationship><Relationship Id="rId3" Type="http://schemas.openxmlformats.org/officeDocument/2006/relationships/image" Target="../media/fImage231.jpeg" TargetMode="Internal"></Relationship></Relationships>
</file>

<file path=ppt/slides/_rels/slide9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32.jpeg" TargetMode="Internal"></Relationship><Relationship Id="rId3" Type="http://schemas.openxmlformats.org/officeDocument/2006/relationships/image" Target="../media/fImage233.jpeg" TargetMode="Internal"></Relationship><Relationship Id="rId4" Type="http://schemas.openxmlformats.org/officeDocument/2006/relationships/image" Target="../media/fImage234.jpeg" TargetMode="Internal"></Relationship><Relationship Id="rId5" Type="http://schemas.openxmlformats.org/officeDocument/2006/relationships/image" Target="../media/fImage235.jpeg" TargetMode="Internal"></Relationship><Relationship Id="rId6" Type="http://schemas.openxmlformats.org/officeDocument/2006/relationships/image" Target="../media/fImage236.jpeg" TargetMode="Internal"></Relationship><Relationship Id="rId7" Type="http://schemas.openxmlformats.org/officeDocument/2006/relationships/image" Target="../media/fImage237.jpeg" TargetMode="Internal"></Relationship><Relationship Id="rId8" Type="http://schemas.openxmlformats.org/officeDocument/2006/relationships/image" Target="../media/fImage238.jpeg" TargetMode="Internal"></Relationship><Relationship Id="rId9" Type="http://schemas.openxmlformats.org/officeDocument/2006/relationships/image" Target="../media/fImage239.jpeg" TargetMode="Internal"></Relationship><Relationship Id="rId10" Type="http://schemas.openxmlformats.org/officeDocument/2006/relationships/image" Target="../media/fImage240.jpeg" TargetMode="Internal"></Relationship></Relationships>
</file>

<file path=ppt/slides/_rels/slide9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41.jpeg" TargetMode="Internal"></Relationship><Relationship Id="rId3" Type="http://schemas.openxmlformats.org/officeDocument/2006/relationships/image" Target="../media/fImage242.jpeg" TargetMode="Internal"></Relationship><Relationship Id="rId4" Type="http://schemas.openxmlformats.org/officeDocument/2006/relationships/image" Target="../media/fImage243.jpeg" TargetMode="Internal"></Relationship></Relationships>
</file>

<file path=ppt/slides/_rels/slide9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44.jpeg" TargetMode="Internal"></Relationship><Relationship Id="rId3" Type="http://schemas.openxmlformats.org/officeDocument/2006/relationships/image" Target="../media/fImage245.jpeg" TargetMode="Internal"></Relationship><Relationship Id="rId4" Type="http://schemas.openxmlformats.org/officeDocument/2006/relationships/image" Target="../media/fImage246.jpeg" TargetMode="Internal"></Relationship><Relationship Id="rId5" Type="http://schemas.openxmlformats.org/officeDocument/2006/relationships/image" Target="../media/fImage247.jpeg" TargetMode="Internal"></Relationship><Relationship Id="rId6" Type="http://schemas.openxmlformats.org/officeDocument/2006/relationships/image" Target="../media/fImage248.jpeg" TargetMode="Internal"></Relationship><Relationship Id="rId7" Type="http://schemas.openxmlformats.org/officeDocument/2006/relationships/image" Target="../media/fImage249.jpeg" TargetMode="Internal"></Relationship><Relationship Id="rId8" Type="http://schemas.openxmlformats.org/officeDocument/2006/relationships/image" Target="../media/fImage250.jpeg" TargetMode="Internal"></Relationship><Relationship Id="rId9" Type="http://schemas.openxmlformats.org/officeDocument/2006/relationships/image" Target="../media/fImage251.jpeg" TargetMode="Internal"></Relationship><Relationship Id="rId10" Type="http://schemas.openxmlformats.org/officeDocument/2006/relationships/image" Target="../media/fImage252.jpeg" TargetMode="Internal"></Relationship><Relationship Id="rId11" Type="http://schemas.openxmlformats.org/officeDocument/2006/relationships/image" Target="../media/fImage253.jpeg" TargetMode="Internal"></Relationship><Relationship Id="rId12" Type="http://schemas.openxmlformats.org/officeDocument/2006/relationships/image" Target="../media/fImage254.jpeg" TargetMode="Internal"></Relationship><Relationship Id="rId13" Type="http://schemas.openxmlformats.org/officeDocument/2006/relationships/image" Target="../media/fImage255.jpeg" TargetMode="Internal"></Relationship></Relationships>
</file>

<file path=ppt/slides/_rels/slide9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56.jpeg" TargetMode="Internal"></Relationship><Relationship Id="rId3" Type="http://schemas.openxmlformats.org/officeDocument/2006/relationships/image" Target="../media/fImage257.jpeg" TargetMode="Internal"></Relationship><Relationship Id="rId4" Type="http://schemas.openxmlformats.org/officeDocument/2006/relationships/image" Target="../media/fImage258.jpeg" TargetMode="Internal"></Relationship><Relationship Id="rId5" Type="http://schemas.openxmlformats.org/officeDocument/2006/relationships/image" Target="../media/fImage259.jpeg" TargetMode="Internal"></Relationship><Relationship Id="rId6" Type="http://schemas.openxmlformats.org/officeDocument/2006/relationships/image" Target="../media/fImage260.jpeg" TargetMode="Internal"></Relationship><Relationship Id="rId7" Type="http://schemas.openxmlformats.org/officeDocument/2006/relationships/image" Target="../media/fImage261.jpeg" TargetMode="Internal"></Relationship><Relationship Id="rId8" Type="http://schemas.openxmlformats.org/officeDocument/2006/relationships/image" Target="../media/fImage262.jpeg" TargetMode="Internal"></Relationship><Relationship Id="rId9" Type="http://schemas.openxmlformats.org/officeDocument/2006/relationships/image" Target="../media/fImage263.jpeg" TargetMode="Internal"></Relationship><Relationship Id="rId10" Type="http://schemas.openxmlformats.org/officeDocument/2006/relationships/image" Target="../media/fImage264.jpeg" TargetMode="Internal"></Relationship><Relationship Id="rId11" Type="http://schemas.openxmlformats.org/officeDocument/2006/relationships/image" Target="../media/fImage265.jpeg" TargetMode="Internal"></Relationship><Relationship Id="rId12" Type="http://schemas.openxmlformats.org/officeDocument/2006/relationships/image" Target="../media/fImage266.jpeg" TargetMode="Internal"></Relationship><Relationship Id="rId13" Type="http://schemas.openxmlformats.org/officeDocument/2006/relationships/image" Target="../media/fImage267.jpeg" TargetMode="Internal"></Relationship></Relationships>
</file>

<file path=ppt/slides/_rels/slide9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68.jpeg" TargetMode="Internal"></Relationship><Relationship Id="rId3" Type="http://schemas.openxmlformats.org/officeDocument/2006/relationships/image" Target="../media/fImage269.jpeg" TargetMode="Internal"></Relationship></Relationships>
</file>

<file path=ppt/slides/_rels/slide9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70.jpeg" TargetMode="Internal"></Relationship></Relationships>
</file>

<file path=ppt/slides/_rels/slide9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71.jpeg" TargetMode="Internal"></Relationship></Relationships>
</file>

<file path=ppt/slides/_rels/slide9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272.jpeg" TargetMode="Internal"></Relationship><Relationship Id="rId3" Type="http://schemas.openxmlformats.org/officeDocument/2006/relationships/image" Target="../media/fImage273.jpeg" TargetMode="Internal"></Relationship><Relationship Id="rId4" Type="http://schemas.openxmlformats.org/officeDocument/2006/relationships/image" Target="../media/fImage274.jpeg" TargetMode="Internal"></Relationship><Relationship Id="rId5" Type="http://schemas.openxmlformats.org/officeDocument/2006/relationships/image" Target="../media/fImage275.jpeg" TargetMode="Internal"></Relationship><Relationship Id="rId6" Type="http://schemas.openxmlformats.org/officeDocument/2006/relationships/image" Target="../media/fImage276.jpeg" TargetMode="Internal"></Relationship><Relationship Id="rId7" Type="http://schemas.openxmlformats.org/officeDocument/2006/relationships/image" Target="../media/fImage277.jpeg" TargetMode="Internal"></Relationship><Relationship Id="rId8" Type="http://schemas.openxmlformats.org/officeDocument/2006/relationships/image" Target="../media/fImage278.jpeg" TargetMode="Internal"></Relationship><Relationship Id="rId9" Type="http://schemas.openxmlformats.org/officeDocument/2006/relationships/image" Target="../media/fImage279.jpeg" TargetMode="Internal"></Relationship><Relationship Id="rId10" Type="http://schemas.openxmlformats.org/officeDocument/2006/relationships/image" Target="../media/fImage280.jpeg" TargetMode="Internal"></Relationship><Relationship Id="rId11" Type="http://schemas.openxmlformats.org/officeDocument/2006/relationships/image" Target="../media/fImage281.jpeg" TargetMode="Internal"></Relationship><Relationship Id="rId12" Type="http://schemas.openxmlformats.org/officeDocument/2006/relationships/image" Target="../media/fImage282.jpeg" TargetMode="Internal"></Relationship><Relationship Id="rId13" Type="http://schemas.openxmlformats.org/officeDocument/2006/relationships/image" Target="../media/fImage283.jpeg" TargetMode="Internal"></Relationship><Relationship Id="rId14" Type="http://schemas.openxmlformats.org/officeDocument/2006/relationships/image" Target="../media/fImage284.jpeg" TargetMode="Internal"></Relationship><Relationship Id="rId15" Type="http://schemas.openxmlformats.org/officeDocument/2006/relationships/image" Target="../media/fImage285.jpeg" TargetMode="Internal"></Relationship><Relationship Id="rId16" Type="http://schemas.openxmlformats.org/officeDocument/2006/relationships/image" Target="../media/fImage286.jpeg" TargetMode="Internal"></Relationship><Relationship Id="rId17" Type="http://schemas.openxmlformats.org/officeDocument/2006/relationships/image" Target="../media/fImage287.jpeg" TargetMode="Internal"></Relationship><Relationship Id="rId18" Type="http://schemas.openxmlformats.org/officeDocument/2006/relationships/image" Target="../media/fImage288.jpeg" TargetMode="Internal"></Relationship><Relationship Id="rId19" Type="http://schemas.openxmlformats.org/officeDocument/2006/relationships/image" Target="../media/fImage289.jpeg" TargetMode="Internal"></Relationship><Relationship Id="rId20" Type="http://schemas.openxmlformats.org/officeDocument/2006/relationships/image" Target="../media/fImage290.jpeg" TargetMode="Internal"></Relationship><Relationship Id="rId21" Type="http://schemas.openxmlformats.org/officeDocument/2006/relationships/image" Target="../media/fImage291.jpeg" TargetMode="Internal"></Relationship><Relationship Id="rId22" Type="http://schemas.openxmlformats.org/officeDocument/2006/relationships/image" Target="../media/fImage292.jpeg" TargetMode="Internal"></Relationship><Relationship Id="rId23" Type="http://schemas.openxmlformats.org/officeDocument/2006/relationships/image" Target="../media/fImage293.jpeg" TargetMode="Internal"></Relationship><Relationship Id="rId24" Type="http://schemas.openxmlformats.org/officeDocument/2006/relationships/image" Target="../media/fImage294.jpeg" TargetMode="Internal"></Relationship><Relationship Id="rId25" Type="http://schemas.openxmlformats.org/officeDocument/2006/relationships/image" Target="../media/fImage295.jpeg" TargetMode="Internal"></Relationship><Relationship Id="rId26" Type="http://schemas.openxmlformats.org/officeDocument/2006/relationships/image" Target="../media/fImage296.jpeg" TargetMode="Internal"></Relationship><Relationship Id="rId27" Type="http://schemas.openxmlformats.org/officeDocument/2006/relationships/image" Target="../media/fImage297.jpeg" TargetMode="Internal"></Relationship><Relationship Id="rId28" Type="http://schemas.openxmlformats.org/officeDocument/2006/relationships/image" Target="../media/fImage298.jpeg" TargetMode="Internal"></Relationship><Relationship Id="rId29" Type="http://schemas.openxmlformats.org/officeDocument/2006/relationships/image" Target="../media/fImage299.jpeg" TargetMode="Internal"></Relationship><Relationship Id="rId30" Type="http://schemas.openxmlformats.org/officeDocument/2006/relationships/image" Target="../media/fImage300.jpeg" TargetMode="Internal"></Relationship><Relationship Id="rId31" Type="http://schemas.openxmlformats.org/officeDocument/2006/relationships/image" Target="../media/fImage301.jpeg" TargetMode="Internal"></Relationship><Relationship Id="rId32" Type="http://schemas.openxmlformats.org/officeDocument/2006/relationships/image" Target="../media/fImage302.jpeg" TargetMode="Internal"></Relationship><Relationship Id="rId33" Type="http://schemas.openxmlformats.org/officeDocument/2006/relationships/image" Target="../media/fImage303.jpeg" TargetMode="Internal"></Relationship><Relationship Id="rId34" Type="http://schemas.openxmlformats.org/officeDocument/2006/relationships/image" Target="../media/fImage304.jpeg" TargetMode="Internal"></Relationship><Relationship Id="rId35" Type="http://schemas.openxmlformats.org/officeDocument/2006/relationships/image" Target="../media/fImage305.jpeg" TargetMode="Internal"></Relationship><Relationship Id="rId36" Type="http://schemas.openxmlformats.org/officeDocument/2006/relationships/image" Target="../media/fImage306.jpeg" TargetMode="Internal"></Relationship></Relationships>
</file>

<file path=ppt/slides/_rels/slide9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07.jpeg" TargetMode="Internal"></Relationship><Relationship Id="rId3" Type="http://schemas.openxmlformats.org/officeDocument/2006/relationships/image" Target="../media/fImage308.jpeg" TargetMode="Internal"></Relationship></Relationships>
</file>

<file path=ppt/slides/_rels/slide10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09.jpeg" TargetMode="Internal"></Relationship></Relationships>
</file>

<file path=ppt/slides/_rels/slide10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10.jpeg" TargetMode="Internal"></Relationship><Relationship Id="rId3" Type="http://schemas.openxmlformats.org/officeDocument/2006/relationships/image" Target="../media/fImage311.jpeg" TargetMode="Internal"></Relationship></Relationships>
</file>

<file path=ppt/slides/_rels/slide10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12.jpeg" TargetMode="Internal"></Relationship></Relationships>
</file>

<file path=ppt/slides/_rels/slide10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13.jpeg" TargetMode="Internal"></Relationship><Relationship Id="rId3" Type="http://schemas.openxmlformats.org/officeDocument/2006/relationships/image" Target="../media/fImage314.jpeg" TargetMode="Internal"></Relationship></Relationships>
</file>

<file path=ppt/slides/_rels/slide10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15.jpeg" TargetMode="Internal"></Relationship><Relationship Id="rId3" Type="http://schemas.openxmlformats.org/officeDocument/2006/relationships/image" Target="../media/fImage316.jpeg" TargetMode="Internal"></Relationship></Relationships>
</file>

<file path=ppt/slides/_rels/slide10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17.jpeg" TargetMode="Internal"></Relationship><Relationship Id="rId3" Type="http://schemas.openxmlformats.org/officeDocument/2006/relationships/image" Target="../media/fImage318.jpeg" TargetMode="Internal"></Relationship><Relationship Id="rId4" Type="http://schemas.openxmlformats.org/officeDocument/2006/relationships/image" Target="../media/fImage319.jpeg" TargetMode="Internal"></Relationship></Relationships>
</file>

<file path=ppt/slides/_rels/slide10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20.jpeg" TargetMode="Internal"></Relationship><Relationship Id="rId3" Type="http://schemas.openxmlformats.org/officeDocument/2006/relationships/image" Target="../media/fImage321.jpeg" TargetMode="Internal"></Relationship><Relationship Id="rId4" Type="http://schemas.openxmlformats.org/officeDocument/2006/relationships/image" Target="../media/fImage322.jpeg" TargetMode="Internal"></Relationship></Relationships>
</file>

<file path=ppt/slides/_rels/slide10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23.jpeg" TargetMode="Internal"></Relationship><Relationship Id="rId3" Type="http://schemas.openxmlformats.org/officeDocument/2006/relationships/image" Target="../media/fImage324.jpeg" TargetMode="Internal"></Relationship><Relationship Id="rId4" Type="http://schemas.openxmlformats.org/officeDocument/2006/relationships/image" Target="../media/fImage325.jpeg" TargetMode="Internal"></Relationship></Relationships>
</file>

<file path=ppt/slides/_rels/slide10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26.jpeg" TargetMode="Internal"></Relationship></Relationships>
</file>

<file path=ppt/slides/_rels/slide10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27.jpeg" TargetMode="Internal"></Relationship><Relationship Id="rId3" Type="http://schemas.openxmlformats.org/officeDocument/2006/relationships/image" Target="../media/fImage328.jpeg" TargetMode="Internal"></Relationship></Relationships>
</file>

<file path=ppt/slides/_rels/slide11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29.jpeg" TargetMode="Internal"></Relationship><Relationship Id="rId3" Type="http://schemas.openxmlformats.org/officeDocument/2006/relationships/image" Target="../media/fImage330.jpeg" TargetMode="Internal"></Relationship></Relationships>
</file>

<file path=ppt/slides/_rels/slide11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1.jpeg" TargetMode="Internal"></Relationship></Relationships>
</file>

<file path=ppt/slides/_rels/slide11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2.jpeg" TargetMode="Internal"></Relationship></Relationships>
</file>

<file path=ppt/slides/_rels/slide11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3.jpeg" TargetMode="Internal"></Relationship><Relationship Id="rId3" Type="http://schemas.openxmlformats.org/officeDocument/2006/relationships/image" Target="../media/fImage334.jpeg" TargetMode="Internal"></Relationship></Relationships>
</file>

<file path=ppt/slides/_rels/slide11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5.jpeg" TargetMode="Internal"></Relationship><Relationship Id="rId3" Type="http://schemas.openxmlformats.org/officeDocument/2006/relationships/image" Target="../media/fImage336.jpeg" TargetMode="Internal"></Relationship></Relationships>
</file>

<file path=ppt/slides/_rels/slide11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7.jpeg" TargetMode="Internal"></Relationship><Relationship Id="rId3" Type="http://schemas.openxmlformats.org/officeDocument/2006/relationships/image" Target="../media/fImage338.jpeg" TargetMode="Internal"></Relationship></Relationships>
</file>

<file path=ppt/slides/_rels/slide11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39.jpeg" TargetMode="Internal"></Relationship><Relationship Id="rId3" Type="http://schemas.openxmlformats.org/officeDocument/2006/relationships/image" Target="../media/fImage340.jpeg" TargetMode="Internal"></Relationship><Relationship Id="rId4" Type="http://schemas.openxmlformats.org/officeDocument/2006/relationships/image" Target="../media/fImage341.jpeg" TargetMode="Internal"></Relationship></Relationships>
</file>

<file path=ppt/slides/_rels/slide11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42.jpeg" TargetMode="Internal"></Relationship><Relationship Id="rId3" Type="http://schemas.openxmlformats.org/officeDocument/2006/relationships/image" Target="../media/fImage343.jpeg" TargetMode="Internal"></Relationship></Relationships>
</file>

<file path=ppt/slides/_rels/slide11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44.jpeg" TargetMode="Internal"></Relationship><Relationship Id="rId3" Type="http://schemas.openxmlformats.org/officeDocument/2006/relationships/image" Target="../media/fImage345.jpeg" TargetMode="Internal"></Relationship><Relationship Id="rId4" Type="http://schemas.openxmlformats.org/officeDocument/2006/relationships/image" Target="../media/fImage346.jpeg" TargetMode="Internal"></Relationship></Relationships>
</file>

<file path=ppt/slides/_rels/slide11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47.jpeg" TargetMode="Internal"></Relationship><Relationship Id="rId3" Type="http://schemas.openxmlformats.org/officeDocument/2006/relationships/image" Target="../media/fImage348.jpeg" TargetMode="Internal"></Relationship></Relationships>
</file>

<file path=ppt/slides/_rels/slide12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49.jpeg" TargetMode="Internal"></Relationship><Relationship Id="rId3" Type="http://schemas.openxmlformats.org/officeDocument/2006/relationships/image" Target="../media/fImage350.jpeg" TargetMode="Internal"></Relationship><Relationship Id="rId4" Type="http://schemas.openxmlformats.org/officeDocument/2006/relationships/image" Target="../media/fImage351.jpeg" TargetMode="Internal"></Relationship></Relationships>
</file>

<file path=ppt/slides/_rels/slide12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52.jpeg" TargetMode="Internal"></Relationship><Relationship Id="rId3" Type="http://schemas.openxmlformats.org/officeDocument/2006/relationships/image" Target="../media/fImage353.jpeg" TargetMode="Internal"></Relationship></Relationships>
</file>

<file path=ppt/slides/_rels/slide12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54.jpeg" TargetMode="Internal"></Relationship><Relationship Id="rId3" Type="http://schemas.openxmlformats.org/officeDocument/2006/relationships/image" Target="../media/fImage355.jpeg" TargetMode="Internal"></Relationship></Relationships>
</file>

<file path=ppt/slides/_rels/slide12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56.jpeg" TargetMode="Internal"></Relationship><Relationship Id="rId3" Type="http://schemas.openxmlformats.org/officeDocument/2006/relationships/image" Target="../media/fImage357.jpeg" TargetMode="Internal"></Relationship></Relationships>
</file>

<file path=ppt/slides/_rels/slide12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58.jpeg" TargetMode="Internal"></Relationship><Relationship Id="rId3" Type="http://schemas.openxmlformats.org/officeDocument/2006/relationships/image" Target="../media/fImage359.jpeg" TargetMode="Internal"></Relationship></Relationships>
</file>

<file path=ppt/slides/_rels/slide12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60.jpeg" TargetMode="Internal"></Relationship></Relationships>
</file>

<file path=ppt/slides/_rels/slide12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61.jpeg" TargetMode="Internal"></Relationship></Relationships>
</file>

<file path=ppt/slides/_rels/slide12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62.jpeg" TargetMode="Internal"></Relationship><Relationship Id="rId3" Type="http://schemas.openxmlformats.org/officeDocument/2006/relationships/image" Target="../media/fImage363.jpeg" TargetMode="Internal"></Relationship></Relationships>
</file>

<file path=ppt/slides/_rels/slide12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64.jpeg" TargetMode="Internal"></Relationship><Relationship Id="rId3" Type="http://schemas.openxmlformats.org/officeDocument/2006/relationships/image" Target="../media/fImage365.jpeg" TargetMode="Internal"></Relationship><Relationship Id="rId4" Type="http://schemas.openxmlformats.org/officeDocument/2006/relationships/image" Target="../media/fImage366.jpeg" TargetMode="Internal"></Relationship><Relationship Id="rId5" Type="http://schemas.openxmlformats.org/officeDocument/2006/relationships/image" Target="../media/fImage367.jpeg" TargetMode="Internal"></Relationship></Relationships>
</file>

<file path=ppt/slides/_rels/slide12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68.jpeg" TargetMode="Internal"></Relationship><Relationship Id="rId3" Type="http://schemas.openxmlformats.org/officeDocument/2006/relationships/image" Target="../media/fImage369.jpeg" TargetMode="Internal"></Relationship><Relationship Id="rId4" Type="http://schemas.openxmlformats.org/officeDocument/2006/relationships/image" Target="../media/fImage370.jpeg" TargetMode="Internal"></Relationship><Relationship Id="rId5" Type="http://schemas.openxmlformats.org/officeDocument/2006/relationships/image" Target="../media/fImage371.jpeg" TargetMode="Internal"></Relationship><Relationship Id="rId6" Type="http://schemas.openxmlformats.org/officeDocument/2006/relationships/image" Target="../media/fImage372.jpeg" TargetMode="Internal"></Relationship></Relationships>
</file>

<file path=ppt/slides/_rels/slide13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73.jpeg" TargetMode="Internal"></Relationship><Relationship Id="rId3" Type="http://schemas.openxmlformats.org/officeDocument/2006/relationships/image" Target="../media/fImage374.jpeg" TargetMode="Internal"></Relationship><Relationship Id="rId4" Type="http://schemas.openxmlformats.org/officeDocument/2006/relationships/image" Target="../media/fImage375.jpeg" TargetMode="Internal"></Relationship></Relationships>
</file>

<file path=ppt/slides/_rels/slide13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76.jpeg" TargetMode="Internal"></Relationship><Relationship Id="rId3" Type="http://schemas.openxmlformats.org/officeDocument/2006/relationships/image" Target="../media/fImage377.jpeg" TargetMode="Internal"></Relationship><Relationship Id="rId4" Type="http://schemas.openxmlformats.org/officeDocument/2006/relationships/image" Target="../media/fImage378.jpeg" TargetMode="Internal"></Relationship><Relationship Id="rId5" Type="http://schemas.openxmlformats.org/officeDocument/2006/relationships/image" Target="../media/fImage379.jpeg" TargetMode="Internal"></Relationship><Relationship Id="rId6" Type="http://schemas.openxmlformats.org/officeDocument/2006/relationships/image" Target="../media/fImage380.jpeg" TargetMode="Internal"></Relationship></Relationships>
</file>

<file path=ppt/slides/_rels/slide13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81.jpeg" TargetMode="Internal"></Relationship><Relationship Id="rId3" Type="http://schemas.openxmlformats.org/officeDocument/2006/relationships/image" Target="../media/fImage382.jpeg" TargetMode="Internal"></Relationship><Relationship Id="rId4" Type="http://schemas.openxmlformats.org/officeDocument/2006/relationships/image" Target="../media/fImage383.jpeg" TargetMode="Internal"></Relationship><Relationship Id="rId5" Type="http://schemas.openxmlformats.org/officeDocument/2006/relationships/image" Target="../media/fImage384.jpeg" TargetMode="Internal"></Relationship></Relationships>
</file>

<file path=ppt/slides/_rels/slide13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85.jpeg" TargetMode="Internal"></Relationship><Relationship Id="rId3" Type="http://schemas.openxmlformats.org/officeDocument/2006/relationships/image" Target="../media/fImage386.jpeg" TargetMode="Internal"></Relationship></Relationships>
</file>

<file path=ppt/slides/_rels/slide13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87.jpeg" TargetMode="Internal"></Relationship><Relationship Id="rId3" Type="http://schemas.openxmlformats.org/officeDocument/2006/relationships/image" Target="../media/fImage388.jpeg" TargetMode="Internal"></Relationship></Relationships>
</file>

<file path=ppt/slides/_rels/slide13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89.jpeg" TargetMode="Internal"></Relationship><Relationship Id="rId3" Type="http://schemas.openxmlformats.org/officeDocument/2006/relationships/image" Target="../media/fImage390.jpeg" TargetMode="Internal"></Relationship></Relationships>
</file>

<file path=ppt/slides/_rels/slide13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91.jpeg" TargetMode="Internal"></Relationship><Relationship Id="rId3" Type="http://schemas.openxmlformats.org/officeDocument/2006/relationships/image" Target="../media/fImage392.jpeg" TargetMode="Internal"></Relationship></Relationships>
</file>

<file path=ppt/slides/_rels/slide13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93.jpeg" TargetMode="Internal"></Relationship><Relationship Id="rId3" Type="http://schemas.openxmlformats.org/officeDocument/2006/relationships/image" Target="../media/fImage394.jpeg" TargetMode="Internal"></Relationship><Relationship Id="rId4" Type="http://schemas.openxmlformats.org/officeDocument/2006/relationships/image" Target="../media/fImage395.jpeg" TargetMode="Internal"></Relationship><Relationship Id="rId5" Type="http://schemas.openxmlformats.org/officeDocument/2006/relationships/image" Target="../media/fImage396.jpeg" TargetMode="Internal"></Relationship><Relationship Id="rId6" Type="http://schemas.openxmlformats.org/officeDocument/2006/relationships/image" Target="../media/fImage397.jpeg" TargetMode="Internal"></Relationship><Relationship Id="rId7" Type="http://schemas.openxmlformats.org/officeDocument/2006/relationships/image" Target="../media/fImage398.jpeg" TargetMode="Internal"></Relationship></Relationships>
</file>

<file path=ppt/slides/_rels/slide13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399.jpeg" TargetMode="Internal"></Relationship><Relationship Id="rId3" Type="http://schemas.openxmlformats.org/officeDocument/2006/relationships/image" Target="../media/fImage400.jpeg" TargetMode="Internal"></Relationship><Relationship Id="rId4" Type="http://schemas.openxmlformats.org/officeDocument/2006/relationships/image" Target="../media/fImage401.jpeg" TargetMode="Internal"></Relationship><Relationship Id="rId5" Type="http://schemas.openxmlformats.org/officeDocument/2006/relationships/image" Target="../media/fImage402.jpeg" TargetMode="Internal"></Relationship><Relationship Id="rId6" Type="http://schemas.openxmlformats.org/officeDocument/2006/relationships/image" Target="../media/fImage403.jpeg" TargetMode="Internal"></Relationship></Relationships>
</file>

<file path=ppt/slides/_rels/slide13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04.jpeg" TargetMode="Internal"></Relationship></Relationships>
</file>

<file path=ppt/slides/_rels/slide14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05.jpeg" TargetMode="Internal"></Relationship></Relationships>
</file>

<file path=ppt/slides/_rels/slide14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06.jpeg" TargetMode="Internal"></Relationship></Relationships>
</file>

<file path=ppt/slides/_rels/slide14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07.jpeg" TargetMode="Internal"></Relationship></Relationships>
</file>

<file path=ppt/slides/_rels/slide14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08.jpeg" TargetMode="Internal"></Relationship><Relationship Id="rId3" Type="http://schemas.openxmlformats.org/officeDocument/2006/relationships/image" Target="../media/fImage409.jpeg" TargetMode="Internal"></Relationship><Relationship Id="rId4" Type="http://schemas.openxmlformats.org/officeDocument/2006/relationships/image" Target="../media/fImage410.jpeg" TargetMode="Internal"></Relationship></Relationships>
</file>

<file path=ppt/slides/_rels/slide14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11.jpeg" TargetMode="Internal"></Relationship><Relationship Id="rId3" Type="http://schemas.openxmlformats.org/officeDocument/2006/relationships/image" Target="../media/fImage412.jpeg" TargetMode="Internal"></Relationship></Relationships>
</file>

<file path=ppt/slides/_rels/slide14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13.jpeg" TargetMode="Internal"></Relationship><Relationship Id="rId3" Type="http://schemas.openxmlformats.org/officeDocument/2006/relationships/image" Target="../media/fImage414.jpeg" TargetMode="Internal"></Relationship></Relationships>
</file>

<file path=ppt/slides/_rels/slide14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15.jpeg" TargetMode="Internal"></Relationship><Relationship Id="rId3" Type="http://schemas.openxmlformats.org/officeDocument/2006/relationships/image" Target="../media/fImage416.jpeg" TargetMode="Internal"></Relationship><Relationship Id="rId4" Type="http://schemas.openxmlformats.org/officeDocument/2006/relationships/image" Target="../media/fImage417.jpeg" TargetMode="Internal"></Relationship></Relationships>
</file>

<file path=ppt/slides/_rels/slide14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18.jpeg" TargetMode="Internal"></Relationship><Relationship Id="rId3" Type="http://schemas.openxmlformats.org/officeDocument/2006/relationships/image" Target="../media/fImage419.jpeg" TargetMode="Internal"></Relationship></Relationships>
</file>

<file path=ppt/slides/_rels/slide14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20.jpeg" TargetMode="Internal"></Relationship><Relationship Id="rId3" Type="http://schemas.openxmlformats.org/officeDocument/2006/relationships/image" Target="../media/fImage421.jpeg" TargetMode="Internal"></Relationship></Relationships>
</file>

<file path=ppt/slides/_rels/slide14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22.jpeg" TargetMode="Internal"></Relationship></Relationships>
</file>

<file path=ppt/slides/_rels/slide15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23.jpeg" TargetMode="Internal"></Relationship><Relationship Id="rId3" Type="http://schemas.openxmlformats.org/officeDocument/2006/relationships/image" Target="../media/fImage424.jpeg" TargetMode="Internal"></Relationship><Relationship Id="rId4" Type="http://schemas.openxmlformats.org/officeDocument/2006/relationships/image" Target="../media/fImage425.jpeg" TargetMode="Internal"></Relationship><Relationship Id="rId5" Type="http://schemas.openxmlformats.org/officeDocument/2006/relationships/image" Target="../media/fImage426.jpeg" TargetMode="Internal"></Relationship></Relationships>
</file>

<file path=ppt/slides/_rels/slide15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27.jpeg" TargetMode="Internal"></Relationship></Relationships>
</file>

<file path=ppt/slides/_rels/slide15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28.jpeg" TargetMode="Internal"></Relationship><Relationship Id="rId3" Type="http://schemas.openxmlformats.org/officeDocument/2006/relationships/image" Target="../media/fImage429.jpeg" TargetMode="Internal"></Relationship></Relationships>
</file>

<file path=ppt/slides/_rels/slide15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0.jpeg" TargetMode="Internal"></Relationship></Relationships>
</file>

<file path=ppt/slides/_rels/slide15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1.jpeg" TargetMode="Internal"></Relationship><Relationship Id="rId3" Type="http://schemas.openxmlformats.org/officeDocument/2006/relationships/image" Target="../media/fImage432.jpeg" TargetMode="Internal"></Relationship></Relationships>
</file>

<file path=ppt/slides/_rels/slide15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3.jpeg" TargetMode="Internal"></Relationship><Relationship Id="rId3" Type="http://schemas.openxmlformats.org/officeDocument/2006/relationships/image" Target="../media/fImage434.jpeg" TargetMode="Internal"></Relationship></Relationships>
</file>

<file path=ppt/slides/_rels/slide15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5.jpeg" TargetMode="Internal"></Relationship><Relationship Id="rId3" Type="http://schemas.openxmlformats.org/officeDocument/2006/relationships/image" Target="../media/fImage436.jpeg" TargetMode="Internal"></Relationship></Relationships>
</file>

<file path=ppt/slides/_rels/slide15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7.jpeg" TargetMode="Internal"></Relationship><Relationship Id="rId3" Type="http://schemas.openxmlformats.org/officeDocument/2006/relationships/image" Target="../media/fImage438.jpeg" TargetMode="Internal"></Relationship></Relationships>
</file>

<file path=ppt/slides/_rels/slide15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39.jpeg" TargetMode="Internal"></Relationship><Relationship Id="rId3" Type="http://schemas.openxmlformats.org/officeDocument/2006/relationships/image" Target="../media/fImage440.jpeg" TargetMode="Internal"></Relationship></Relationships>
</file>

<file path=ppt/slides/_rels/slide15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41.jpeg" TargetMode="Internal"></Relationship><Relationship Id="rId3" Type="http://schemas.openxmlformats.org/officeDocument/2006/relationships/image" Target="../media/fImage442.jpeg" TargetMode="Internal"></Relationship></Relationships>
</file>

<file path=ppt/slides/_rels/slide16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43.jpeg" TargetMode="Internal"></Relationship><Relationship Id="rId3" Type="http://schemas.openxmlformats.org/officeDocument/2006/relationships/image" Target="../media/fImage444.jpeg" TargetMode="Internal"></Relationship><Relationship Id="rId4" Type="http://schemas.openxmlformats.org/officeDocument/2006/relationships/image" Target="../media/fImage445.jpeg" TargetMode="Internal"></Relationship></Relationships>
</file>

<file path=ppt/slides/_rels/slide16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46.jpeg" TargetMode="Internal"></Relationship></Relationships>
</file>

<file path=ppt/slides/_rels/slide16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47.jpeg" TargetMode="Internal"></Relationship><Relationship Id="rId3" Type="http://schemas.openxmlformats.org/officeDocument/2006/relationships/image" Target="../media/fImage448.jpeg" TargetMode="Internal"></Relationship><Relationship Id="rId4" Type="http://schemas.openxmlformats.org/officeDocument/2006/relationships/image" Target="../media/fImage449.jpeg" TargetMode="Internal"></Relationship></Relationships>
</file>

<file path=ppt/slides/_rels/slide16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50.jpeg" TargetMode="Internal"></Relationship><Relationship Id="rId3" Type="http://schemas.openxmlformats.org/officeDocument/2006/relationships/image" Target="../media/fImage451.jpeg" TargetMode="Internal"></Relationship></Relationships>
</file>

<file path=ppt/slides/_rels/slide16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52.jpeg" TargetMode="Internal"></Relationship><Relationship Id="rId3" Type="http://schemas.openxmlformats.org/officeDocument/2006/relationships/image" Target="../media/fImage453.jpeg" TargetMode="Internal"></Relationship></Relationships>
</file>

<file path=ppt/slides/_rels/slide16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54.jpeg" TargetMode="Internal"></Relationship><Relationship Id="rId3" Type="http://schemas.openxmlformats.org/officeDocument/2006/relationships/image" Target="../media/fImage455.jpeg" TargetMode="Internal"></Relationship></Relationships>
</file>

<file path=ppt/slides/_rels/slide16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56.jpeg" TargetMode="Internal"></Relationship><Relationship Id="rId3" Type="http://schemas.openxmlformats.org/officeDocument/2006/relationships/image" Target="../media/fImage457.jpeg" TargetMode="Internal"></Relationship><Relationship Id="rId4" Type="http://schemas.openxmlformats.org/officeDocument/2006/relationships/image" Target="../media/fImage458.jpeg" TargetMode="Internal"></Relationship></Relationships>
</file>

<file path=ppt/slides/_rels/slide16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59.jpeg" TargetMode="Internal"></Relationship><Relationship Id="rId3" Type="http://schemas.openxmlformats.org/officeDocument/2006/relationships/image" Target="../media/fImage460.jpeg" TargetMode="Internal"></Relationship><Relationship Id="rId4" Type="http://schemas.openxmlformats.org/officeDocument/2006/relationships/image" Target="../media/fImage461.jpeg" TargetMode="Internal"></Relationship></Relationships>
</file>

<file path=ppt/slides/_rels/slide16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62.jpeg" TargetMode="Internal"></Relationship><Relationship Id="rId3" Type="http://schemas.openxmlformats.org/officeDocument/2006/relationships/image" Target="../media/fImage463.jpeg" TargetMode="Internal"></Relationship><Relationship Id="rId4" Type="http://schemas.openxmlformats.org/officeDocument/2006/relationships/image" Target="../media/fImage464.jpeg" TargetMode="Internal"></Relationship></Relationships>
</file>

<file path=ppt/slides/_rels/slide16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65.jpeg" TargetMode="Internal"></Relationship><Relationship Id="rId3" Type="http://schemas.openxmlformats.org/officeDocument/2006/relationships/image" Target="../media/fImage466.jpeg" TargetMode="Internal"></Relationship></Relationships>
</file>

<file path=ppt/slides/_rels/slide17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67.jpeg" TargetMode="Internal"></Relationship><Relationship Id="rId3" Type="http://schemas.openxmlformats.org/officeDocument/2006/relationships/image" Target="../media/fImage468.jpeg" TargetMode="Internal"></Relationship></Relationships>
</file>

<file path=ppt/slides/_rels/slide17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69.jpeg" TargetMode="Internal"></Relationship><Relationship Id="rId3" Type="http://schemas.openxmlformats.org/officeDocument/2006/relationships/image" Target="../media/fImage470.jpeg" TargetMode="Internal"></Relationship></Relationships>
</file>

<file path=ppt/slides/_rels/slide17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71.jpeg" TargetMode="Internal"></Relationship><Relationship Id="rId3" Type="http://schemas.openxmlformats.org/officeDocument/2006/relationships/image" Target="../media/fImage472.jpeg" TargetMode="Internal"></Relationship><Relationship Id="rId4" Type="http://schemas.openxmlformats.org/officeDocument/2006/relationships/image" Target="../media/fImage473.jpeg" TargetMode="Internal"></Relationship></Relationships>
</file>

<file path=ppt/slides/_rels/slide17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74.jpeg" TargetMode="Internal"></Relationship><Relationship Id="rId3" Type="http://schemas.openxmlformats.org/officeDocument/2006/relationships/image" Target="../media/fImage475.jpeg" TargetMode="Internal"></Relationship></Relationships>
</file>

<file path=ppt/slides/_rels/slide17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76.jpeg" TargetMode="Internal"></Relationship><Relationship Id="rId3" Type="http://schemas.openxmlformats.org/officeDocument/2006/relationships/image" Target="../media/fImage477.jpeg" TargetMode="Internal"></Relationship><Relationship Id="rId4" Type="http://schemas.openxmlformats.org/officeDocument/2006/relationships/image" Target="../media/fImage478.jpeg" TargetMode="Internal"></Relationship><Relationship Id="rId5" Type="http://schemas.openxmlformats.org/officeDocument/2006/relationships/image" Target="../media/fImage479.jpeg" TargetMode="Internal"></Relationship></Relationships>
</file>

<file path=ppt/slides/_rels/slide17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80.jpeg" TargetMode="Internal"></Relationship></Relationships>
</file>

<file path=ppt/slides/_rels/slide17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81.jpeg" TargetMode="Internal"></Relationship></Relationships>
</file>

<file path=ppt/slides/_rels/slide17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82.jpeg" TargetMode="Internal"></Relationship><Relationship Id="rId3" Type="http://schemas.openxmlformats.org/officeDocument/2006/relationships/image" Target="../media/fImage483.jpeg" TargetMode="Internal"></Relationship><Relationship Id="rId4" Type="http://schemas.openxmlformats.org/officeDocument/2006/relationships/image" Target="../media/fImage484.jpeg" TargetMode="Internal"></Relationship><Relationship Id="rId5" Type="http://schemas.openxmlformats.org/officeDocument/2006/relationships/image" Target="../media/fImage485.jpeg" TargetMode="Internal"></Relationship><Relationship Id="rId6" Type="http://schemas.openxmlformats.org/officeDocument/2006/relationships/image" Target="../media/fImage486.jpeg" TargetMode="Internal"></Relationship></Relationships>
</file>

<file path=ppt/slides/_rels/slide17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87.jpeg" TargetMode="Internal"></Relationship><Relationship Id="rId3" Type="http://schemas.openxmlformats.org/officeDocument/2006/relationships/image" Target="../media/fImage488.jpeg" TargetMode="Internal"></Relationship><Relationship Id="rId4" Type="http://schemas.openxmlformats.org/officeDocument/2006/relationships/image" Target="../media/fImage489.jpeg" TargetMode="Internal"></Relationship><Relationship Id="rId5" Type="http://schemas.openxmlformats.org/officeDocument/2006/relationships/image" Target="../media/fImage490.jpeg" TargetMode="Internal"></Relationship></Relationships>
</file>

<file path=ppt/slides/_rels/slide17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91.jpeg" TargetMode="Internal"></Relationship><Relationship Id="rId3" Type="http://schemas.openxmlformats.org/officeDocument/2006/relationships/image" Target="../media/fImage492.jpeg" TargetMode="Internal"></Relationship></Relationships>
</file>

<file path=ppt/slides/_rels/slide18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93.jpeg" TargetMode="Internal"></Relationship><Relationship Id="rId3" Type="http://schemas.openxmlformats.org/officeDocument/2006/relationships/image" Target="../media/fImage494.jpeg" TargetMode="Internal"></Relationship></Relationships>
</file>

<file path=ppt/slides/_rels/slide18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95.jpeg" TargetMode="Internal"></Relationship><Relationship Id="rId3" Type="http://schemas.openxmlformats.org/officeDocument/2006/relationships/image" Target="../media/fImage496.jpeg" TargetMode="Internal"></Relationship><Relationship Id="rId4" Type="http://schemas.openxmlformats.org/officeDocument/2006/relationships/image" Target="../media/fImage497.jpeg" TargetMode="Internal"></Relationship></Relationships>
</file>

<file path=ppt/slides/_rels/slide18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498.jpeg" TargetMode="Internal"></Relationship><Relationship Id="rId3" Type="http://schemas.openxmlformats.org/officeDocument/2006/relationships/image" Target="../media/fImage499.jpeg" TargetMode="Internal"></Relationship></Relationships>
</file>

<file path=ppt/slides/_rels/slide18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00.jpeg" TargetMode="Internal"></Relationship><Relationship Id="rId3" Type="http://schemas.openxmlformats.org/officeDocument/2006/relationships/image" Target="../media/fImage501.jpeg" TargetMode="Internal"></Relationship></Relationships>
</file>

<file path=ppt/slides/_rels/slide18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02.jpeg" TargetMode="Internal"></Relationship><Relationship Id="rId3" Type="http://schemas.openxmlformats.org/officeDocument/2006/relationships/image" Target="../media/fImage503.jpeg" TargetMode="Internal"></Relationship></Relationships>
</file>

<file path=ppt/slides/_rels/slide18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04.jpeg" TargetMode="Internal"></Relationship><Relationship Id="rId3" Type="http://schemas.openxmlformats.org/officeDocument/2006/relationships/image" Target="../media/fImage505.jpeg" TargetMode="Internal"></Relationship></Relationships>
</file>

<file path=ppt/slides/_rels/slide18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06.jpeg" TargetMode="Internal"></Relationship><Relationship Id="rId3" Type="http://schemas.openxmlformats.org/officeDocument/2006/relationships/image" Target="../media/fImage507.jpeg" TargetMode="Internal"></Relationship><Relationship Id="rId4" Type="http://schemas.openxmlformats.org/officeDocument/2006/relationships/image" Target="../media/fImage508.jpeg" TargetMode="Internal"></Relationship></Relationships>
</file>

<file path=ppt/slides/_rels/slide18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09.jpeg" TargetMode="Internal"></Relationship><Relationship Id="rId3" Type="http://schemas.openxmlformats.org/officeDocument/2006/relationships/image" Target="../media/fImage510.jpeg" TargetMode="Internal"></Relationship></Relationships>
</file>

<file path=ppt/slides/_rels/slide18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11.jpeg" TargetMode="Internal"></Relationship><Relationship Id="rId3" Type="http://schemas.openxmlformats.org/officeDocument/2006/relationships/image" Target="../media/fImage512.jpeg" TargetMode="Internal"></Relationship></Relationships>
</file>

<file path=ppt/slides/_rels/slide18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13.jpeg" TargetMode="Internal"></Relationship><Relationship Id="rId3" Type="http://schemas.openxmlformats.org/officeDocument/2006/relationships/image" Target="../media/fImage514.jpeg" TargetMode="Internal"></Relationship></Relationships>
</file>

<file path=ppt/slides/_rels/slide19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15.jpeg" TargetMode="Internal"></Relationship><Relationship Id="rId3" Type="http://schemas.openxmlformats.org/officeDocument/2006/relationships/image" Target="../media/fImage516.jpeg" TargetMode="Internal"></Relationship></Relationships>
</file>

<file path=ppt/slides/_rels/slide19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17.jpeg" TargetMode="Internal"></Relationship><Relationship Id="rId3" Type="http://schemas.openxmlformats.org/officeDocument/2006/relationships/image" Target="../media/fImage518.jpeg" TargetMode="Internal"></Relationship></Relationships>
</file>

<file path=ppt/slides/_rels/slide19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19.jpeg" TargetMode="Internal"></Relationship><Relationship Id="rId3" Type="http://schemas.openxmlformats.org/officeDocument/2006/relationships/image" Target="../media/fImage520.jpeg" TargetMode="Internal"></Relationship></Relationships>
</file>

<file path=ppt/slides/_rels/slide19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21.jpeg" TargetMode="Internal"></Relationship><Relationship Id="rId3" Type="http://schemas.openxmlformats.org/officeDocument/2006/relationships/image" Target="../media/fImage522.jpeg" TargetMode="Internal"></Relationship><Relationship Id="rId4" Type="http://schemas.openxmlformats.org/officeDocument/2006/relationships/image" Target="../media/fImage523.jpeg" TargetMode="Internal"></Relationship><Relationship Id="rId5" Type="http://schemas.openxmlformats.org/officeDocument/2006/relationships/image" Target="../media/fImage524.jpeg" TargetMode="Internal"></Relationship></Relationships>
</file>

<file path=ppt/slides/_rels/slide19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25.jpeg" TargetMode="Internal"></Relationship><Relationship Id="rId3" Type="http://schemas.openxmlformats.org/officeDocument/2006/relationships/image" Target="../media/fImage526.jpeg" TargetMode="Internal"></Relationship></Relationships>
</file>

<file path=ppt/slides/_rels/slide19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27.jpeg" TargetMode="Internal"></Relationship></Relationships>
</file>

<file path=ppt/slides/_rels/slide19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28.jpeg" TargetMode="Internal"></Relationship><Relationship Id="rId3" Type="http://schemas.openxmlformats.org/officeDocument/2006/relationships/image" Target="../media/fImage529.jpeg" TargetMode="Internal"></Relationship></Relationships>
</file>

<file path=ppt/slides/_rels/slide19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30.jpeg" TargetMode="Internal"></Relationship><Relationship Id="rId3" Type="http://schemas.openxmlformats.org/officeDocument/2006/relationships/image" Target="../media/fImage531.jpeg" TargetMode="Internal"></Relationship><Relationship Id="rId4" Type="http://schemas.openxmlformats.org/officeDocument/2006/relationships/image" Target="../media/fImage532.jpeg" TargetMode="Internal"></Relationship></Relationships>
</file>

<file path=ppt/slides/_rels/slide19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33.jpeg" TargetMode="Internal"></Relationship><Relationship Id="rId3" Type="http://schemas.openxmlformats.org/officeDocument/2006/relationships/image" Target="../media/fImage534.jpeg" TargetMode="Internal"></Relationship><Relationship Id="rId4" Type="http://schemas.openxmlformats.org/officeDocument/2006/relationships/image" Target="../media/fImage535.jpeg" TargetMode="Internal"></Relationship></Relationships>
</file>

<file path=ppt/slides/_rels/slide19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36.jpeg" TargetMode="Internal"></Relationship><Relationship Id="rId3" Type="http://schemas.openxmlformats.org/officeDocument/2006/relationships/image" Target="../media/fImage537.jpeg" TargetMode="Internal"></Relationship><Relationship Id="rId4" Type="http://schemas.openxmlformats.org/officeDocument/2006/relationships/image" Target="../media/fImage538.jpeg" TargetMode="Internal"></Relationship><Relationship Id="rId5" Type="http://schemas.openxmlformats.org/officeDocument/2006/relationships/image" Target="../media/fImage539.jpeg" TargetMode="Internal"></Relationship><Relationship Id="rId6" Type="http://schemas.openxmlformats.org/officeDocument/2006/relationships/image" Target="../media/fImage540.jpeg" TargetMode="Internal"></Relationship><Relationship Id="rId7" Type="http://schemas.openxmlformats.org/officeDocument/2006/relationships/image" Target="../media/fImage541.jpeg" TargetMode="Internal"></Relationship><Relationship Id="rId8" Type="http://schemas.openxmlformats.org/officeDocument/2006/relationships/image" Target="../media/fImage542.jpeg" TargetMode="Internal"></Relationship><Relationship Id="rId9" Type="http://schemas.openxmlformats.org/officeDocument/2006/relationships/image" Target="../media/fImage543.jpeg" TargetMode="Internal"></Relationship></Relationships>
</file>

<file path=ppt/slides/_rels/slide20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44.jpeg" TargetMode="Internal"></Relationship><Relationship Id="rId3" Type="http://schemas.openxmlformats.org/officeDocument/2006/relationships/image" Target="../media/fImage545.jpeg" TargetMode="Internal"></Relationship><Relationship Id="rId4" Type="http://schemas.openxmlformats.org/officeDocument/2006/relationships/image" Target="../media/fImage546.jpeg" TargetMode="Internal"></Relationship><Relationship Id="rId5" Type="http://schemas.openxmlformats.org/officeDocument/2006/relationships/image" Target="../media/fImage547.jpeg" TargetMode="Internal"></Relationship><Relationship Id="rId6" Type="http://schemas.openxmlformats.org/officeDocument/2006/relationships/image" Target="../media/fImage548.jpeg" TargetMode="Internal"></Relationship></Relationships>
</file>

<file path=ppt/slides/_rels/slide20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49.jpeg" TargetMode="Internal"></Relationship><Relationship Id="rId3" Type="http://schemas.openxmlformats.org/officeDocument/2006/relationships/image" Target="../media/fImage550.jpeg" TargetMode="Internal"></Relationship><Relationship Id="rId4" Type="http://schemas.openxmlformats.org/officeDocument/2006/relationships/image" Target="../media/fImage551.jpeg" TargetMode="Internal"></Relationship><Relationship Id="rId5" Type="http://schemas.openxmlformats.org/officeDocument/2006/relationships/image" Target="../media/fImage552.jpeg" TargetMode="Internal"></Relationship><Relationship Id="rId6" Type="http://schemas.openxmlformats.org/officeDocument/2006/relationships/image" Target="../media/fImage553.jpeg" TargetMode="Internal"></Relationship></Relationships>
</file>

<file path=ppt/slides/_rels/slide20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54.jpeg" TargetMode="Internal"></Relationship><Relationship Id="rId3" Type="http://schemas.openxmlformats.org/officeDocument/2006/relationships/image" Target="../media/fImage555.jpeg" TargetMode="Internal"></Relationship><Relationship Id="rId4" Type="http://schemas.openxmlformats.org/officeDocument/2006/relationships/image" Target="../media/fImage556.jpeg" TargetMode="Internal"></Relationship><Relationship Id="rId5" Type="http://schemas.openxmlformats.org/officeDocument/2006/relationships/image" Target="../media/fImage557.jpeg" TargetMode="Internal"></Relationship><Relationship Id="rId6" Type="http://schemas.openxmlformats.org/officeDocument/2006/relationships/image" Target="../media/fImage558.jpeg" TargetMode="Internal"></Relationship><Relationship Id="rId7" Type="http://schemas.openxmlformats.org/officeDocument/2006/relationships/image" Target="../media/fImage559.jpeg" TargetMode="Internal"></Relationship></Relationships>
</file>

<file path=ppt/slides/_rels/slide20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60.jpeg" TargetMode="Internal"></Relationship><Relationship Id="rId3" Type="http://schemas.openxmlformats.org/officeDocument/2006/relationships/image" Target="../media/fImage561.jpeg" TargetMode="Internal"></Relationship><Relationship Id="rId4" Type="http://schemas.openxmlformats.org/officeDocument/2006/relationships/image" Target="../media/fImage562.jpeg" TargetMode="Internal"></Relationship><Relationship Id="rId5" Type="http://schemas.openxmlformats.org/officeDocument/2006/relationships/image" Target="../media/fImage563.jpeg" TargetMode="Internal"></Relationship><Relationship Id="rId6" Type="http://schemas.openxmlformats.org/officeDocument/2006/relationships/image" Target="../media/fImage564.jpeg" TargetMode="Internal"></Relationship><Relationship Id="rId7" Type="http://schemas.openxmlformats.org/officeDocument/2006/relationships/image" Target="../media/fImage565.jpeg" TargetMode="Internal"></Relationship><Relationship Id="rId8" Type="http://schemas.openxmlformats.org/officeDocument/2006/relationships/image" Target="../media/fImage566.jpeg" TargetMode="Internal"></Relationship><Relationship Id="rId9" Type="http://schemas.openxmlformats.org/officeDocument/2006/relationships/image" Target="../media/fImage567.jpeg" TargetMode="Internal"></Relationship><Relationship Id="rId10" Type="http://schemas.openxmlformats.org/officeDocument/2006/relationships/image" Target="../media/fImage568.jpeg" TargetMode="Internal"></Relationship><Relationship Id="rId11" Type="http://schemas.openxmlformats.org/officeDocument/2006/relationships/image" Target="../media/fImage569.jpeg" TargetMode="Internal"></Relationship></Relationships>
</file>

<file path=ppt/slides/_rels/slide20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70.jpeg" TargetMode="Internal"></Relationship><Relationship Id="rId3" Type="http://schemas.openxmlformats.org/officeDocument/2006/relationships/image" Target="../media/fImage571.jpeg" TargetMode="Internal"></Relationship></Relationships>
</file>

<file path=ppt/slides/_rels/slide20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72.jpeg" TargetMode="Internal"></Relationship><Relationship Id="rId3" Type="http://schemas.openxmlformats.org/officeDocument/2006/relationships/image" Target="../media/fImage573.jpeg" TargetMode="Internal"></Relationship><Relationship Id="rId4" Type="http://schemas.openxmlformats.org/officeDocument/2006/relationships/image" Target="../media/fImage574.jpeg" TargetMode="Internal"></Relationship><Relationship Id="rId5" Type="http://schemas.openxmlformats.org/officeDocument/2006/relationships/image" Target="../media/fImage575.jpeg" TargetMode="Internal"></Relationship><Relationship Id="rId6" Type="http://schemas.openxmlformats.org/officeDocument/2006/relationships/image" Target="../media/fImage576.jpeg" TargetMode="Internal"></Relationship><Relationship Id="rId7" Type="http://schemas.openxmlformats.org/officeDocument/2006/relationships/image" Target="../media/fImage577.jpeg" TargetMode="Internal"></Relationship><Relationship Id="rId8" Type="http://schemas.openxmlformats.org/officeDocument/2006/relationships/image" Target="../media/fImage578.jpeg" TargetMode="Internal"></Relationship><Relationship Id="rId9" Type="http://schemas.openxmlformats.org/officeDocument/2006/relationships/image" Target="../media/fImage579.jpeg" TargetMode="Internal"></Relationship><Relationship Id="rId10" Type="http://schemas.openxmlformats.org/officeDocument/2006/relationships/image" Target="../media/fImage580.jpeg" TargetMode="Internal"></Relationship><Relationship Id="rId11" Type="http://schemas.openxmlformats.org/officeDocument/2006/relationships/image" Target="../media/fImage581.jpeg" TargetMode="Internal"></Relationship></Relationships>
</file>

<file path=ppt/slides/_rels/slide20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82.jpeg" TargetMode="Internal"></Relationship><Relationship Id="rId3" Type="http://schemas.openxmlformats.org/officeDocument/2006/relationships/image" Target="../media/fImage583.jpeg" TargetMode="Internal"></Relationship><Relationship Id="rId4" Type="http://schemas.openxmlformats.org/officeDocument/2006/relationships/image" Target="../media/fImage584.jpeg" TargetMode="Internal"></Relationship><Relationship Id="rId5" Type="http://schemas.openxmlformats.org/officeDocument/2006/relationships/image" Target="../media/fImage585.jpeg" TargetMode="Internal"></Relationship></Relationships>
</file>

<file path=ppt/slides/_rels/slide20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86.jpeg" TargetMode="Internal"></Relationship><Relationship Id="rId3" Type="http://schemas.openxmlformats.org/officeDocument/2006/relationships/image" Target="../media/fImage587.jpeg" TargetMode="Internal"></Relationship></Relationships>
</file>

<file path=ppt/slides/_rels/slide20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88.jpeg" TargetMode="Internal"></Relationship><Relationship Id="rId3" Type="http://schemas.openxmlformats.org/officeDocument/2006/relationships/image" Target="../media/fImage589.jpeg" TargetMode="Internal"></Relationship><Relationship Id="rId4" Type="http://schemas.openxmlformats.org/officeDocument/2006/relationships/image" Target="../media/fImage590.jpeg" TargetMode="Internal"></Relationship></Relationships>
</file>

<file path=ppt/slides/_rels/slide20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91.jpeg" TargetMode="Internal"></Relationship><Relationship Id="rId3" Type="http://schemas.openxmlformats.org/officeDocument/2006/relationships/image" Target="../media/fImage592.jpeg" TargetMode="Internal"></Relationship></Relationships>
</file>

<file path=ppt/slides/_rels/slide21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93.jpeg" TargetMode="Internal"></Relationship></Relationships>
</file>

<file path=ppt/slides/_rels/slide21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94.jpeg" TargetMode="Internal"></Relationship></Relationships>
</file>

<file path=ppt/slides/_rels/slide21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95.jpeg" TargetMode="Internal"></Relationship><Relationship Id="rId3" Type="http://schemas.openxmlformats.org/officeDocument/2006/relationships/image" Target="../media/fImage596.jpeg" TargetMode="Internal"></Relationship><Relationship Id="rId4" Type="http://schemas.openxmlformats.org/officeDocument/2006/relationships/image" Target="../media/fImage597.jpeg" TargetMode="Internal"></Relationship></Relationships>
</file>

<file path=ppt/slides/_rels/slide21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598.jpeg" TargetMode="Internal"></Relationship><Relationship Id="rId3" Type="http://schemas.openxmlformats.org/officeDocument/2006/relationships/image" Target="../media/fImage599.jpeg" TargetMode="Internal"></Relationship><Relationship Id="rId4" Type="http://schemas.openxmlformats.org/officeDocument/2006/relationships/image" Target="../media/fImage600.jpeg" TargetMode="Internal"></Relationship><Relationship Id="rId5" Type="http://schemas.openxmlformats.org/officeDocument/2006/relationships/image" Target="../media/fImage601.jpeg" TargetMode="Internal"></Relationship></Relationships>
</file>

<file path=ppt/slides/_rels/slide21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02.jpeg" TargetMode="Internal"></Relationship><Relationship Id="rId3" Type="http://schemas.openxmlformats.org/officeDocument/2006/relationships/image" Target="../media/fImage603.jpeg" TargetMode="Internal"></Relationship><Relationship Id="rId4" Type="http://schemas.openxmlformats.org/officeDocument/2006/relationships/image" Target="../media/fImage604.jpeg" TargetMode="Internal"></Relationship><Relationship Id="rId5" Type="http://schemas.openxmlformats.org/officeDocument/2006/relationships/image" Target="../media/fImage605.jpeg" TargetMode="Internal"></Relationship></Relationships>
</file>

<file path=ppt/slides/_rels/slide21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06.jpeg" TargetMode="Internal"></Relationship></Relationships>
</file>

<file path=ppt/slides/_rels/slide21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07.jpeg" TargetMode="Internal"></Relationship></Relationships>
</file>

<file path=ppt/slides/_rels/slide21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08.jpeg" TargetMode="Internal"></Relationship></Relationships>
</file>

<file path=ppt/slides/_rels/slide21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09.jpeg" TargetMode="Internal"></Relationship></Relationships>
</file>

<file path=ppt/slides/_rels/slide21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10.jpeg" TargetMode="Internal"></Relationship></Relationships>
</file>

<file path=ppt/slides/_rels/slide22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11.jpeg" TargetMode="Internal"></Relationship><Relationship Id="rId3" Type="http://schemas.openxmlformats.org/officeDocument/2006/relationships/image" Target="../media/fImage612.jpeg" TargetMode="Internal"></Relationship></Relationships>
</file>

<file path=ppt/slides/_rels/slide22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13.jpeg" TargetMode="Internal"></Relationship><Relationship Id="rId3" Type="http://schemas.openxmlformats.org/officeDocument/2006/relationships/image" Target="../media/fImage614.jpeg" TargetMode="Internal"></Relationship></Relationships>
</file>

<file path=ppt/slides/_rels/slide22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15.jpeg" TargetMode="Internal"></Relationship></Relationships>
</file>

<file path=ppt/slides/_rels/slide22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16.jpeg" TargetMode="Internal"></Relationship><Relationship Id="rId3" Type="http://schemas.openxmlformats.org/officeDocument/2006/relationships/image" Target="../media/fImage617.jpeg" TargetMode="Internal"></Relationship></Relationships>
</file>

<file path=ppt/slides/_rels/slide22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18.jpeg" TargetMode="Internal"></Relationship><Relationship Id="rId3" Type="http://schemas.openxmlformats.org/officeDocument/2006/relationships/image" Target="../media/fImage619.jpeg" TargetMode="Internal"></Relationship></Relationships>
</file>

<file path=ppt/slides/_rels/slide22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20.jpeg" TargetMode="Internal"></Relationship><Relationship Id="rId3" Type="http://schemas.openxmlformats.org/officeDocument/2006/relationships/image" Target="../media/fImage621.jpeg" TargetMode="Internal"></Relationship></Relationships>
</file>

<file path=ppt/slides/_rels/slide22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22.jpeg" TargetMode="Internal"></Relationship><Relationship Id="rId3" Type="http://schemas.openxmlformats.org/officeDocument/2006/relationships/image" Target="../media/fImage623.jpeg" TargetMode="Internal"></Relationship></Relationships>
</file>

<file path=ppt/slides/_rels/slide22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24.jpeg" TargetMode="Internal"></Relationship></Relationships>
</file>

<file path=ppt/slides/_rels/slide22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25.jpeg" TargetMode="Internal"></Relationship><Relationship Id="rId3" Type="http://schemas.openxmlformats.org/officeDocument/2006/relationships/image" Target="../media/fImage626.jpeg" TargetMode="Internal"></Relationship></Relationships>
</file>

<file path=ppt/slides/_rels/slide22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27.jpeg" TargetMode="Internal"></Relationship><Relationship Id="rId3" Type="http://schemas.openxmlformats.org/officeDocument/2006/relationships/image" Target="../media/fImage628.jpeg" TargetMode="Internal"></Relationship><Relationship Id="rId4" Type="http://schemas.openxmlformats.org/officeDocument/2006/relationships/image" Target="../media/fImage629.jpeg" TargetMode="Internal"></Relationship></Relationships>
</file>

<file path=ppt/slides/_rels/slide23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30.jpeg" TargetMode="Internal"></Relationship><Relationship Id="rId3" Type="http://schemas.openxmlformats.org/officeDocument/2006/relationships/image" Target="../media/fImage631.jpeg" TargetMode="Internal"></Relationship></Relationships>
</file>

<file path=ppt/slides/_rels/slide23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32.jpeg" TargetMode="Internal"></Relationship><Relationship Id="rId3" Type="http://schemas.openxmlformats.org/officeDocument/2006/relationships/image" Target="../media/fImage633.jpeg" TargetMode="Internal"></Relationship></Relationships>
</file>

<file path=ppt/slides/_rels/slide23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34.jpeg" TargetMode="Internal"></Relationship><Relationship Id="rId3" Type="http://schemas.openxmlformats.org/officeDocument/2006/relationships/image" Target="../media/fImage635.jpeg" TargetMode="Internal"></Relationship></Relationships>
</file>

<file path=ppt/slides/_rels/slide23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36.jpeg" TargetMode="Internal"></Relationship><Relationship Id="rId3" Type="http://schemas.openxmlformats.org/officeDocument/2006/relationships/image" Target="../media/fImage637.jpeg" TargetMode="Internal"></Relationship><Relationship Id="rId4" Type="http://schemas.openxmlformats.org/officeDocument/2006/relationships/image" Target="../media/fImage638.jpeg" TargetMode="Internal"></Relationship><Relationship Id="rId5" Type="http://schemas.openxmlformats.org/officeDocument/2006/relationships/image" Target="../media/fImage639.jpeg" TargetMode="Internal"></Relationship></Relationships>
</file>

<file path=ppt/slides/_rels/slide23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40.jpeg" TargetMode="Internal"></Relationship><Relationship Id="rId3" Type="http://schemas.openxmlformats.org/officeDocument/2006/relationships/image" Target="../media/fImage641.jpeg" TargetMode="Internal"></Relationship><Relationship Id="rId4" Type="http://schemas.openxmlformats.org/officeDocument/2006/relationships/image" Target="../media/fImage642.jpeg" TargetMode="Internal"></Relationship></Relationships>
</file>

<file path=ppt/slides/_rels/slide23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43.jpeg" TargetMode="Internal"></Relationship><Relationship Id="rId3" Type="http://schemas.openxmlformats.org/officeDocument/2006/relationships/image" Target="../media/fImage644.jpeg" TargetMode="Internal"></Relationship></Relationships>
</file>

<file path=ppt/slides/_rels/slide23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45.jpeg" TargetMode="Internal"></Relationship><Relationship Id="rId3" Type="http://schemas.openxmlformats.org/officeDocument/2006/relationships/image" Target="../media/fImage646.jpeg" TargetMode="Internal"></Relationship><Relationship Id="rId4" Type="http://schemas.openxmlformats.org/officeDocument/2006/relationships/image" Target="../media/fImage647.jpeg" TargetMode="Internal"></Relationship></Relationships>
</file>

<file path=ppt/slides/_rels/slide23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48.jpeg" TargetMode="Internal"></Relationship><Relationship Id="rId3" Type="http://schemas.openxmlformats.org/officeDocument/2006/relationships/image" Target="../media/fImage649.jpeg" TargetMode="Internal"></Relationship><Relationship Id="rId4" Type="http://schemas.openxmlformats.org/officeDocument/2006/relationships/image" Target="../media/fImage650.jpeg" TargetMode="Internal"></Relationship><Relationship Id="rId5" Type="http://schemas.openxmlformats.org/officeDocument/2006/relationships/image" Target="../media/fImage651.jpeg" TargetMode="Internal"></Relationship></Relationships>
</file>

<file path=ppt/slides/_rels/slide23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52.jpeg" TargetMode="Internal"></Relationship><Relationship Id="rId3" Type="http://schemas.openxmlformats.org/officeDocument/2006/relationships/image" Target="../media/fImage653.jpeg" TargetMode="Internal"></Relationship><Relationship Id="rId4" Type="http://schemas.openxmlformats.org/officeDocument/2006/relationships/image" Target="../media/fImage654.jpeg" TargetMode="Internal"></Relationship></Relationships>
</file>

<file path=ppt/slides/_rels/slide23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55.jpeg" TargetMode="Internal"></Relationship><Relationship Id="rId3" Type="http://schemas.openxmlformats.org/officeDocument/2006/relationships/image" Target="../media/fImage656.jpeg" TargetMode="Internal"></Relationship><Relationship Id="rId4" Type="http://schemas.openxmlformats.org/officeDocument/2006/relationships/image" Target="../media/fImage657.jpeg" TargetMode="Internal"></Relationship></Relationships>
</file>

<file path=ppt/slides/_rels/slide24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58.jpeg" TargetMode="Internal"></Relationship><Relationship Id="rId3" Type="http://schemas.openxmlformats.org/officeDocument/2006/relationships/image" Target="../media/fImage659.jpeg" TargetMode="Internal"></Relationship></Relationships>
</file>

<file path=ppt/slides/_rels/slide24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60.jpeg" TargetMode="Internal"></Relationship><Relationship Id="rId3" Type="http://schemas.openxmlformats.org/officeDocument/2006/relationships/image" Target="../media/fImage661.jpeg" TargetMode="Internal"></Relationship><Relationship Id="rId4" Type="http://schemas.openxmlformats.org/officeDocument/2006/relationships/image" Target="../media/fImage662.jpeg" TargetMode="Internal"></Relationship></Relationships>
</file>

<file path=ppt/slides/_rels/slide24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63.jpeg" TargetMode="Internal"></Relationship><Relationship Id="rId3" Type="http://schemas.openxmlformats.org/officeDocument/2006/relationships/image" Target="../media/fImage664.jpeg" TargetMode="Internal"></Relationship><Relationship Id="rId4" Type="http://schemas.openxmlformats.org/officeDocument/2006/relationships/image" Target="../media/fImage665.jpeg" TargetMode="Internal"></Relationship></Relationships>
</file>

<file path=ppt/slides/_rels/slide24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66.jpeg" TargetMode="Internal"></Relationship><Relationship Id="rId3" Type="http://schemas.openxmlformats.org/officeDocument/2006/relationships/image" Target="../media/fImage667.jpeg" TargetMode="Internal"></Relationship><Relationship Id="rId4" Type="http://schemas.openxmlformats.org/officeDocument/2006/relationships/image" Target="../media/fImage668.jpeg" TargetMode="Internal"></Relationship></Relationships>
</file>

<file path=ppt/slides/_rels/slide24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69.jpeg" TargetMode="Internal"></Relationship><Relationship Id="rId3" Type="http://schemas.openxmlformats.org/officeDocument/2006/relationships/image" Target="../media/fImage670.jpeg" TargetMode="Internal"></Relationship></Relationships>
</file>

<file path=ppt/slides/_rels/slide24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71.jpeg" TargetMode="Internal"></Relationship><Relationship Id="rId3" Type="http://schemas.openxmlformats.org/officeDocument/2006/relationships/image" Target="../media/fImage672.jpeg" TargetMode="Internal"></Relationship><Relationship Id="rId4" Type="http://schemas.openxmlformats.org/officeDocument/2006/relationships/image" Target="../media/fImage673.jpeg" TargetMode="Internal"></Relationship><Relationship Id="rId5" Type="http://schemas.openxmlformats.org/officeDocument/2006/relationships/image" Target="../media/fImage674.jpeg" TargetMode="Internal"></Relationship><Relationship Id="rId6" Type="http://schemas.openxmlformats.org/officeDocument/2006/relationships/image" Target="../media/fImage675.jpeg" TargetMode="Internal"></Relationship></Relationships>
</file>

<file path=ppt/slides/_rels/slide24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76.jpeg" TargetMode="Internal"></Relationship><Relationship Id="rId3" Type="http://schemas.openxmlformats.org/officeDocument/2006/relationships/image" Target="../media/fImage677.jpeg" TargetMode="Internal"></Relationship><Relationship Id="rId4" Type="http://schemas.openxmlformats.org/officeDocument/2006/relationships/image" Target="../media/fImage678.jpeg" TargetMode="Internal"></Relationship><Relationship Id="rId5" Type="http://schemas.openxmlformats.org/officeDocument/2006/relationships/image" Target="../media/fImage679.jpeg" TargetMode="Internal"></Relationship><Relationship Id="rId6" Type="http://schemas.openxmlformats.org/officeDocument/2006/relationships/image" Target="../media/fImage680.jpeg" TargetMode="Internal"></Relationship><Relationship Id="rId7" Type="http://schemas.openxmlformats.org/officeDocument/2006/relationships/image" Target="../media/fImage681.jpeg" TargetMode="Internal"></Relationship></Relationships>
</file>

<file path=ppt/slides/_rels/slide24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82.jpeg" TargetMode="Internal"></Relationship><Relationship Id="rId3" Type="http://schemas.openxmlformats.org/officeDocument/2006/relationships/image" Target="../media/fImage683.jpeg" TargetMode="Internal"></Relationship></Relationships>
</file>

<file path=ppt/slides/_rels/slide24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84.jpeg" TargetMode="Internal"></Relationship><Relationship Id="rId3" Type="http://schemas.openxmlformats.org/officeDocument/2006/relationships/image" Target="../media/fImage685.jpeg" TargetMode="Internal"></Relationship></Relationships>
</file>

<file path=ppt/slides/_rels/slide24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86.jpeg" TargetMode="Internal"></Relationship><Relationship Id="rId3" Type="http://schemas.openxmlformats.org/officeDocument/2006/relationships/image" Target="../media/fImage687.jpeg" TargetMode="Internal"></Relationship></Relationships>
</file>

<file path=ppt/slides/_rels/slide25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88.jpeg" TargetMode="Internal"></Relationship><Relationship Id="rId3" Type="http://schemas.openxmlformats.org/officeDocument/2006/relationships/image" Target="../media/fImage689.jpeg" TargetMode="Internal"></Relationship></Relationships>
</file>

<file path=ppt/slides/_rels/slide25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90.jpeg" TargetMode="Internal"></Relationship><Relationship Id="rId3" Type="http://schemas.openxmlformats.org/officeDocument/2006/relationships/image" Target="../media/fImage691.jpeg" TargetMode="Internal"></Relationship></Relationships>
</file>

<file path=ppt/slides/_rels/slide25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92.jpeg" TargetMode="Internal"></Relationship><Relationship Id="rId3" Type="http://schemas.openxmlformats.org/officeDocument/2006/relationships/image" Target="../media/fImage693.jpeg" TargetMode="Internal"></Relationship></Relationships>
</file>

<file path=ppt/slides/_rels/slide25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94.jpeg" TargetMode="Internal"></Relationship><Relationship Id="rId3" Type="http://schemas.openxmlformats.org/officeDocument/2006/relationships/image" Target="../media/fImage695.jpeg" TargetMode="Internal"></Relationship><Relationship Id="rId4" Type="http://schemas.openxmlformats.org/officeDocument/2006/relationships/image" Target="../media/fImage696.jpeg" TargetMode="Internal"></Relationship><Relationship Id="rId5" Type="http://schemas.openxmlformats.org/officeDocument/2006/relationships/image" Target="../media/fImage697.jpeg" TargetMode="Internal"></Relationship></Relationships>
</file>

<file path=ppt/slides/_rels/slide25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698.jpeg" TargetMode="Internal"></Relationship><Relationship Id="rId3" Type="http://schemas.openxmlformats.org/officeDocument/2006/relationships/image" Target="../media/fImage699.jpeg" TargetMode="Internal"></Relationship></Relationships>
</file>

<file path=ppt/slides/_rels/slide25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00.jpeg" TargetMode="Internal"></Relationship><Relationship Id="rId3" Type="http://schemas.openxmlformats.org/officeDocument/2006/relationships/image" Target="../media/fImage701.jpeg" TargetMode="Internal"></Relationship><Relationship Id="rId4" Type="http://schemas.openxmlformats.org/officeDocument/2006/relationships/image" Target="../media/fImage702.jpeg" TargetMode="Internal"></Relationship></Relationships>
</file>

<file path=ppt/slides/_rels/slide25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03.jpeg" TargetMode="Internal"></Relationship><Relationship Id="rId3" Type="http://schemas.openxmlformats.org/officeDocument/2006/relationships/image" Target="../media/fImage704.jpeg" TargetMode="Internal"></Relationship></Relationships>
</file>

<file path=ppt/slides/_rels/slide25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05.jpeg" TargetMode="Internal"></Relationship><Relationship Id="rId3" Type="http://schemas.openxmlformats.org/officeDocument/2006/relationships/image" Target="../media/fImage706.jpeg" TargetMode="Internal"></Relationship><Relationship Id="rId4" Type="http://schemas.openxmlformats.org/officeDocument/2006/relationships/image" Target="../media/fImage707.jpeg" TargetMode="Internal"></Relationship></Relationships>
</file>

<file path=ppt/slides/_rels/slide25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08.jpeg" TargetMode="Internal"></Relationship><Relationship Id="rId3" Type="http://schemas.openxmlformats.org/officeDocument/2006/relationships/image" Target="../media/fImage709.jpeg" TargetMode="Internal"></Relationship></Relationships>
</file>

<file path=ppt/slides/_rels/slide25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10.jpeg" TargetMode="Internal"></Relationship><Relationship Id="rId3" Type="http://schemas.openxmlformats.org/officeDocument/2006/relationships/image" Target="../media/fImage711.jpeg" TargetMode="Internal"></Relationship></Relationships>
</file>

<file path=ppt/slides/_rels/slide26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12.jpeg" TargetMode="Internal"></Relationship><Relationship Id="rId3" Type="http://schemas.openxmlformats.org/officeDocument/2006/relationships/image" Target="../media/fImage713.jpeg" TargetMode="Internal"></Relationship></Relationships>
</file>

<file path=ppt/slides/_rels/slide26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14.jpeg" TargetMode="Internal"></Relationship><Relationship Id="rId3" Type="http://schemas.openxmlformats.org/officeDocument/2006/relationships/image" Target="../media/fImage715.jpeg" TargetMode="Internal"></Relationship></Relationships>
</file>

<file path=ppt/slides/_rels/slide26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16.jpeg" TargetMode="Internal"></Relationship></Relationships>
</file>

<file path=ppt/slides/_rels/slide26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17.jpeg" TargetMode="Internal"></Relationship></Relationships>
</file>

<file path=ppt/slides/_rels/slide26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18.jpeg" TargetMode="Internal"></Relationship><Relationship Id="rId3" Type="http://schemas.openxmlformats.org/officeDocument/2006/relationships/image" Target="../media/fImage719.jpeg" TargetMode="Internal"></Relationship></Relationships>
</file>

<file path=ppt/slides/_rels/slide26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20.jpeg" TargetMode="Internal"></Relationship><Relationship Id="rId3" Type="http://schemas.openxmlformats.org/officeDocument/2006/relationships/image" Target="../media/fImage721.jpeg" TargetMode="Internal"></Relationship><Relationship Id="rId4" Type="http://schemas.openxmlformats.org/officeDocument/2006/relationships/image" Target="../media/fImage722.jpeg" TargetMode="Internal"></Relationship></Relationships>
</file>

<file path=ppt/slides/_rels/slide26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23.jpeg" TargetMode="Internal"></Relationship><Relationship Id="rId3" Type="http://schemas.openxmlformats.org/officeDocument/2006/relationships/image" Target="../media/fImage724.jpeg" TargetMode="Internal"></Relationship></Relationships>
</file>

<file path=ppt/slides/_rels/slide26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25.jpeg" TargetMode="Internal"></Relationship><Relationship Id="rId3" Type="http://schemas.openxmlformats.org/officeDocument/2006/relationships/image" Target="../media/fImage726.jpeg" TargetMode="Internal"></Relationship><Relationship Id="rId4" Type="http://schemas.openxmlformats.org/officeDocument/2006/relationships/image" Target="../media/fImage727.jpeg" TargetMode="Internal"></Relationship><Relationship Id="rId5" Type="http://schemas.openxmlformats.org/officeDocument/2006/relationships/image" Target="../media/fImage728.jpeg" TargetMode="Internal"></Relationship></Relationships>
</file>

<file path=ppt/slides/_rels/slide26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29.jpeg" TargetMode="Internal"></Relationship><Relationship Id="rId3" Type="http://schemas.openxmlformats.org/officeDocument/2006/relationships/image" Target="../media/fImage730.jpeg" TargetMode="Internal"></Relationship></Relationships>
</file>

<file path=ppt/slides/_rels/slide26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31.jpeg" TargetMode="Internal"></Relationship><Relationship Id="rId3" Type="http://schemas.openxmlformats.org/officeDocument/2006/relationships/image" Target="../media/fImage732.jpeg" TargetMode="Internal"></Relationship><Relationship Id="rId4" Type="http://schemas.openxmlformats.org/officeDocument/2006/relationships/image" Target="../media/fImage733.jpeg" TargetMode="Internal"></Relationship></Relationships>
</file>

<file path=ppt/slides/_rels/slide27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34.jpeg" TargetMode="Internal"></Relationship><Relationship Id="rId3" Type="http://schemas.openxmlformats.org/officeDocument/2006/relationships/image" Target="../media/fImage735.jpeg" TargetMode="Internal"></Relationship><Relationship Id="rId4" Type="http://schemas.openxmlformats.org/officeDocument/2006/relationships/image" Target="../media/fImage736.jpeg" TargetMode="Internal"></Relationship></Relationships>
</file>

<file path=ppt/slides/_rels/slide27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37.jpeg" TargetMode="Internal"></Relationship><Relationship Id="rId3" Type="http://schemas.openxmlformats.org/officeDocument/2006/relationships/image" Target="../media/fImage738.jpeg" TargetMode="Internal"></Relationship><Relationship Id="rId4" Type="http://schemas.openxmlformats.org/officeDocument/2006/relationships/image" Target="../media/fImage739.jpeg" TargetMode="Internal"></Relationship><Relationship Id="rId5" Type="http://schemas.openxmlformats.org/officeDocument/2006/relationships/image" Target="../media/fImage740.jpeg" TargetMode="Internal"></Relationship></Relationships>
</file>

<file path=ppt/slides/_rels/slide27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41.jpeg" TargetMode="Internal"></Relationship><Relationship Id="rId3" Type="http://schemas.openxmlformats.org/officeDocument/2006/relationships/image" Target="../media/fImage742.jpeg" TargetMode="Internal"></Relationship></Relationships>
</file>

<file path=ppt/slides/_rels/slide27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43.jpeg" TargetMode="Internal"></Relationship><Relationship Id="rId3" Type="http://schemas.openxmlformats.org/officeDocument/2006/relationships/image" Target="../media/fImage744.jpeg" TargetMode="Internal"></Relationship></Relationships>
</file>

<file path=ppt/slides/_rels/slide27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45.jpeg" TargetMode="Internal"></Relationship><Relationship Id="rId3" Type="http://schemas.openxmlformats.org/officeDocument/2006/relationships/image" Target="../media/fImage746.jpeg" TargetMode="Internal"></Relationship><Relationship Id="rId4" Type="http://schemas.openxmlformats.org/officeDocument/2006/relationships/image" Target="../media/fImage747.jpeg" TargetMode="Internal"></Relationship></Relationships>
</file>

<file path=ppt/slides/_rels/slide27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48.jpeg" TargetMode="Internal"></Relationship><Relationship Id="rId3" Type="http://schemas.openxmlformats.org/officeDocument/2006/relationships/image" Target="../media/fImage749.jpeg" TargetMode="Internal"></Relationship></Relationships>
</file>

<file path=ppt/slides/_rels/slide27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50.jpeg" TargetMode="Internal"></Relationship></Relationships>
</file>

<file path=ppt/slides/_rels/slide27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51.jpeg" TargetMode="Internal"></Relationship><Relationship Id="rId3" Type="http://schemas.openxmlformats.org/officeDocument/2006/relationships/image" Target="../media/fImage752.jpeg" TargetMode="Internal"></Relationship><Relationship Id="rId4" Type="http://schemas.openxmlformats.org/officeDocument/2006/relationships/image" Target="../media/fImage753.jpeg" TargetMode="Internal"></Relationship></Relationships>
</file>

<file path=ppt/slides/_rels/slide27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54.jpeg" TargetMode="Internal"></Relationship><Relationship Id="rId3" Type="http://schemas.openxmlformats.org/officeDocument/2006/relationships/image" Target="../media/fImage755.jpeg" TargetMode="Internal"></Relationship></Relationships>
</file>

<file path=ppt/slides/_rels/slide27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56.jpeg" TargetMode="Internal"></Relationship><Relationship Id="rId3" Type="http://schemas.openxmlformats.org/officeDocument/2006/relationships/image" Target="../media/fImage757.jpeg" TargetMode="Internal"></Relationship><Relationship Id="rId4" Type="http://schemas.openxmlformats.org/officeDocument/2006/relationships/image" Target="../media/fImage758.jpeg" TargetMode="Internal"></Relationship></Relationships>
</file>

<file path=ppt/slides/_rels/slide28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59.jpeg" TargetMode="Internal"></Relationship><Relationship Id="rId3" Type="http://schemas.openxmlformats.org/officeDocument/2006/relationships/image" Target="../media/fImage760.jpeg" TargetMode="Internal"></Relationship><Relationship Id="rId4" Type="http://schemas.openxmlformats.org/officeDocument/2006/relationships/image" Target="../media/fImage761.jpeg" TargetMode="Internal"></Relationship><Relationship Id="rId5" Type="http://schemas.openxmlformats.org/officeDocument/2006/relationships/image" Target="../media/fImage762.jpeg" TargetMode="Internal"></Relationship></Relationships>
</file>

<file path=ppt/slides/_rels/slide28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63.jpeg" TargetMode="Internal"></Relationship><Relationship Id="rId3" Type="http://schemas.openxmlformats.org/officeDocument/2006/relationships/image" Target="../media/fImage764.jpeg" TargetMode="Internal"></Relationship><Relationship Id="rId4" Type="http://schemas.openxmlformats.org/officeDocument/2006/relationships/image" Target="../media/fImage765.jpeg" TargetMode="Internal"></Relationship><Relationship Id="rId5" Type="http://schemas.openxmlformats.org/officeDocument/2006/relationships/image" Target="../media/fImage766.jpeg" TargetMode="Internal"></Relationship></Relationships>
</file>

<file path=ppt/slides/_rels/slide28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67.jpeg" TargetMode="Internal"></Relationship><Relationship Id="rId3" Type="http://schemas.openxmlformats.org/officeDocument/2006/relationships/image" Target="../media/fImage768.jpeg" TargetMode="Internal"></Relationship></Relationships>
</file>

<file path=ppt/slides/_rels/slide28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69.jpeg" TargetMode="Internal"></Relationship><Relationship Id="rId3" Type="http://schemas.openxmlformats.org/officeDocument/2006/relationships/image" Target="../media/fImage770.jpeg" TargetMode="Internal"></Relationship><Relationship Id="rId4" Type="http://schemas.openxmlformats.org/officeDocument/2006/relationships/image" Target="../media/fImage771.jpeg" TargetMode="Internal"></Relationship></Relationships>
</file>

<file path=ppt/slides/_rels/slide28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72.jpeg" TargetMode="Internal"></Relationship><Relationship Id="rId3" Type="http://schemas.openxmlformats.org/officeDocument/2006/relationships/image" Target="../media/fImage773.jpeg" TargetMode="Internal"></Relationship><Relationship Id="rId4" Type="http://schemas.openxmlformats.org/officeDocument/2006/relationships/image" Target="../media/fImage774.jpeg" TargetMode="Internal"></Relationship><Relationship Id="rId5" Type="http://schemas.openxmlformats.org/officeDocument/2006/relationships/image" Target="../media/fImage775.jpeg" TargetMode="Internal"></Relationship><Relationship Id="rId6" Type="http://schemas.openxmlformats.org/officeDocument/2006/relationships/image" Target="../media/fImage776.jpeg" TargetMode="Internal"></Relationship></Relationships>
</file>

<file path=ppt/slides/_rels/slide28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77.jpeg" TargetMode="Internal"></Relationship><Relationship Id="rId3" Type="http://schemas.openxmlformats.org/officeDocument/2006/relationships/image" Target="../media/fImage778.jpeg" TargetMode="Internal"></Relationship><Relationship Id="rId4" Type="http://schemas.openxmlformats.org/officeDocument/2006/relationships/image" Target="../media/fImage779.jpeg" TargetMode="Internal"></Relationship><Relationship Id="rId5" Type="http://schemas.openxmlformats.org/officeDocument/2006/relationships/image" Target="../media/fImage780.jpeg" TargetMode="Internal"></Relationship></Relationships>
</file>

<file path=ppt/slides/_rels/slide28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81.jpeg" TargetMode="Internal"></Relationship><Relationship Id="rId3" Type="http://schemas.openxmlformats.org/officeDocument/2006/relationships/image" Target="../media/fImage782.jpeg" TargetMode="Internal"></Relationship></Relationships>
</file>

<file path=ppt/slides/_rels/slide28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83.jpeg" TargetMode="Internal"></Relationship><Relationship Id="rId3" Type="http://schemas.openxmlformats.org/officeDocument/2006/relationships/image" Target="../media/fImage784.jpeg" TargetMode="Internal"></Relationship><Relationship Id="rId4" Type="http://schemas.openxmlformats.org/officeDocument/2006/relationships/image" Target="../media/fImage785.jpeg" TargetMode="Internal"></Relationship><Relationship Id="rId5" Type="http://schemas.openxmlformats.org/officeDocument/2006/relationships/image" Target="../media/fImage786.jpeg" TargetMode="Internal"></Relationship><Relationship Id="rId6" Type="http://schemas.openxmlformats.org/officeDocument/2006/relationships/image" Target="../media/fImage787.jpeg" TargetMode="Internal"></Relationship></Relationships>
</file>

<file path=ppt/slides/_rels/slide28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88.jpeg" TargetMode="Internal"></Relationship><Relationship Id="rId3" Type="http://schemas.openxmlformats.org/officeDocument/2006/relationships/image" Target="../media/fImage789.jpeg" TargetMode="Internal"></Relationship></Relationships>
</file>

<file path=ppt/slides/_rels/slide28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90.jpeg" TargetMode="Internal"></Relationship><Relationship Id="rId3" Type="http://schemas.openxmlformats.org/officeDocument/2006/relationships/image" Target="../media/fImage791.jpeg" TargetMode="Internal"></Relationship></Relationships>
</file>

<file path=ppt/slides/_rels/slide29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92.jpeg" TargetMode="Internal"></Relationship><Relationship Id="rId3" Type="http://schemas.openxmlformats.org/officeDocument/2006/relationships/image" Target="../media/fImage793.jpeg" TargetMode="Internal"></Relationship></Relationships>
</file>

<file path=ppt/slides/_rels/slide29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94.jpeg" TargetMode="Internal"></Relationship><Relationship Id="rId3" Type="http://schemas.openxmlformats.org/officeDocument/2006/relationships/image" Target="../media/fImage795.jpeg" TargetMode="Internal"></Relationship></Relationships>
</file>

<file path=ppt/slides/_rels/slide29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96.jpeg" TargetMode="Internal"></Relationship><Relationship Id="rId3" Type="http://schemas.openxmlformats.org/officeDocument/2006/relationships/image" Target="../media/fImage797.jpeg" TargetMode="Internal"></Relationship></Relationships>
</file>

<file path=ppt/slides/_rels/slide29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798.jpeg" TargetMode="Internal"></Relationship><Relationship Id="rId3" Type="http://schemas.openxmlformats.org/officeDocument/2006/relationships/image" Target="../media/fImage799.jpeg" TargetMode="Internal"></Relationship></Relationships>
</file>

<file path=ppt/slides/_rels/slide29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00.jpeg" TargetMode="Internal"></Relationship><Relationship Id="rId3" Type="http://schemas.openxmlformats.org/officeDocument/2006/relationships/image" Target="../media/fImage801.jpeg" TargetMode="Internal"></Relationship><Relationship Id="rId4" Type="http://schemas.openxmlformats.org/officeDocument/2006/relationships/image" Target="../media/fImage802.jpeg" TargetMode="Internal"></Relationship></Relationships>
</file>

<file path=ppt/slides/_rels/slide29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03.jpeg" TargetMode="Internal"></Relationship></Relationships>
</file>

<file path=ppt/slides/_rels/slide29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04.jpeg" TargetMode="Internal"></Relationship><Relationship Id="rId3" Type="http://schemas.openxmlformats.org/officeDocument/2006/relationships/image" Target="../media/fImage805.jpeg" TargetMode="Internal"></Relationship><Relationship Id="rId4" Type="http://schemas.openxmlformats.org/officeDocument/2006/relationships/image" Target="../media/fImage806.jpeg" TargetMode="Internal"></Relationship><Relationship Id="rId5" Type="http://schemas.openxmlformats.org/officeDocument/2006/relationships/image" Target="../media/fImage807.jpeg" TargetMode="Internal"></Relationship></Relationships>
</file>

<file path=ppt/slides/_rels/slide29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08.jpeg" TargetMode="Internal"></Relationship><Relationship Id="rId3" Type="http://schemas.openxmlformats.org/officeDocument/2006/relationships/image" Target="../media/fImage809.jpeg" TargetMode="Internal"></Relationship><Relationship Id="rId4" Type="http://schemas.openxmlformats.org/officeDocument/2006/relationships/image" Target="../media/fImage810.jpeg" TargetMode="Internal"></Relationship><Relationship Id="rId5" Type="http://schemas.openxmlformats.org/officeDocument/2006/relationships/image" Target="../media/fImage811.jpeg" TargetMode="Internal"></Relationship><Relationship Id="rId6" Type="http://schemas.openxmlformats.org/officeDocument/2006/relationships/image" Target="../media/fImage812.jpeg" TargetMode="Internal"></Relationship></Relationships>
</file>

<file path=ppt/slides/_rels/slide29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13.jpeg" TargetMode="Internal"></Relationship><Relationship Id="rId3" Type="http://schemas.openxmlformats.org/officeDocument/2006/relationships/image" Target="../media/fImage814.jpeg" TargetMode="Internal"></Relationship><Relationship Id="rId4" Type="http://schemas.openxmlformats.org/officeDocument/2006/relationships/image" Target="../media/fImage815.jpeg" TargetMode="Internal"></Relationship><Relationship Id="rId5" Type="http://schemas.openxmlformats.org/officeDocument/2006/relationships/image" Target="../media/fImage816.jpeg" TargetMode="Internal"></Relationship></Relationships>
</file>

<file path=ppt/slides/_rels/slide29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17.jpeg" TargetMode="Internal"></Relationship></Relationships>
</file>

<file path=ppt/slides/_rels/slide30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18.jpeg" TargetMode="Internal"></Relationship><Relationship Id="rId3" Type="http://schemas.openxmlformats.org/officeDocument/2006/relationships/image" Target="../media/fImage819.jpeg" TargetMode="Internal"></Relationship></Relationships>
</file>

<file path=ppt/slides/_rels/slide30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20.jpeg" TargetMode="Internal"></Relationship><Relationship Id="rId3" Type="http://schemas.openxmlformats.org/officeDocument/2006/relationships/image" Target="../media/fImage821.jpeg" TargetMode="Internal"></Relationship><Relationship Id="rId4" Type="http://schemas.openxmlformats.org/officeDocument/2006/relationships/image" Target="../media/fImage822.jpeg" TargetMode="Internal"></Relationship><Relationship Id="rId5" Type="http://schemas.openxmlformats.org/officeDocument/2006/relationships/image" Target="../media/fImage823.jpeg" TargetMode="Internal"></Relationship><Relationship Id="rId6" Type="http://schemas.openxmlformats.org/officeDocument/2006/relationships/image" Target="../media/fImage824.jpeg" TargetMode="Internal"></Relationship><Relationship Id="rId7" Type="http://schemas.openxmlformats.org/officeDocument/2006/relationships/image" Target="../media/fImage825.jpeg" TargetMode="Internal"></Relationship></Relationships>
</file>

<file path=ppt/slides/_rels/slide30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26.jpeg" TargetMode="Internal"></Relationship><Relationship Id="rId3" Type="http://schemas.openxmlformats.org/officeDocument/2006/relationships/image" Target="../media/fImage827.jpeg" TargetMode="Internal"></Relationship><Relationship Id="rId4" Type="http://schemas.openxmlformats.org/officeDocument/2006/relationships/image" Target="../media/fImage828.jpeg" TargetMode="Internal"></Relationship></Relationships>
</file>

<file path=ppt/slides/_rels/slide30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29.jpeg" TargetMode="Internal"></Relationship></Relationships>
</file>

<file path=ppt/slides/_rels/slide30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30.jpeg" TargetMode="Internal"></Relationship><Relationship Id="rId3" Type="http://schemas.openxmlformats.org/officeDocument/2006/relationships/image" Target="../media/fImage831.jpeg" TargetMode="Internal"></Relationship><Relationship Id="rId4" Type="http://schemas.openxmlformats.org/officeDocument/2006/relationships/image" Target="../media/fImage832.jpeg" TargetMode="Internal"></Relationship><Relationship Id="rId5" Type="http://schemas.openxmlformats.org/officeDocument/2006/relationships/image" Target="../media/fImage833.jpeg" TargetMode="Internal"></Relationship></Relationships>
</file>

<file path=ppt/slides/_rels/slide30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34.jpeg" TargetMode="Internal"></Relationship><Relationship Id="rId3" Type="http://schemas.openxmlformats.org/officeDocument/2006/relationships/image" Target="../media/fImage835.jpeg" TargetMode="Internal"></Relationship></Relationships>
</file>

<file path=ppt/slides/_rels/slide30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36.jpeg" TargetMode="Internal"></Relationship><Relationship Id="rId3" Type="http://schemas.openxmlformats.org/officeDocument/2006/relationships/image" Target="../media/fImage837.jpeg" TargetMode="Internal"></Relationship><Relationship Id="rId4" Type="http://schemas.openxmlformats.org/officeDocument/2006/relationships/image" Target="../media/fImage838.jpeg" TargetMode="Internal"></Relationship></Relationships>
</file>

<file path=ppt/slides/_rels/slide30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39.jpeg" TargetMode="Internal"></Relationship><Relationship Id="rId3" Type="http://schemas.openxmlformats.org/officeDocument/2006/relationships/image" Target="../media/fImage840.jpeg" TargetMode="Internal"></Relationship></Relationships>
</file>

<file path=ppt/slides/_rels/slide30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41.jpeg" TargetMode="Internal"></Relationship><Relationship Id="rId3" Type="http://schemas.openxmlformats.org/officeDocument/2006/relationships/image" Target="../media/fImage842.jpeg" TargetMode="Internal"></Relationship></Relationships>
</file>

<file path=ppt/slides/_rels/slide30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43.jpeg" TargetMode="Internal"></Relationship><Relationship Id="rId3" Type="http://schemas.openxmlformats.org/officeDocument/2006/relationships/image" Target="../media/fImage844.jpeg" TargetMode="Internal"></Relationship></Relationships>
</file>

<file path=ppt/slides/_rels/slide31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45.jpeg" TargetMode="Internal"></Relationship><Relationship Id="rId3" Type="http://schemas.openxmlformats.org/officeDocument/2006/relationships/image" Target="../media/fImage846.jpeg" TargetMode="Internal"></Relationship><Relationship Id="rId4" Type="http://schemas.openxmlformats.org/officeDocument/2006/relationships/image" Target="../media/fImage847.jpeg" TargetMode="Internal"></Relationship><Relationship Id="rId5" Type="http://schemas.openxmlformats.org/officeDocument/2006/relationships/image" Target="../media/fImage848.jpeg" TargetMode="Internal"></Relationship><Relationship Id="rId6" Type="http://schemas.openxmlformats.org/officeDocument/2006/relationships/image" Target="../media/fImage849.jpeg" TargetMode="Internal"></Relationship><Relationship Id="rId7" Type="http://schemas.openxmlformats.org/officeDocument/2006/relationships/image" Target="../media/fImage850.jpeg" TargetMode="Internal"></Relationship></Relationships>
</file>

<file path=ppt/slides/_rels/slide31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51.jpeg" TargetMode="Internal"></Relationship><Relationship Id="rId3" Type="http://schemas.openxmlformats.org/officeDocument/2006/relationships/image" Target="../media/fImage852.jpeg" TargetMode="Internal"></Relationship></Relationships>
</file>

<file path=ppt/slides/_rels/slide31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53.jpeg" TargetMode="Internal"></Relationship></Relationships>
</file>

<file path=ppt/slides/_rels/slide31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54.jpeg" TargetMode="Internal"></Relationship></Relationships>
</file>

<file path=ppt/slides/_rels/slide31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55.jpeg" TargetMode="Internal"></Relationship><Relationship Id="rId3" Type="http://schemas.openxmlformats.org/officeDocument/2006/relationships/image" Target="../media/fImage856.jpeg" TargetMode="Internal"></Relationship></Relationships>
</file>

<file path=ppt/slides/_rels/slide31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57.jpeg" TargetMode="Internal"></Relationship></Relationships>
</file>

<file path=ppt/slides/_rels/slide31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58.jpeg" TargetMode="Internal"></Relationship><Relationship Id="rId3" Type="http://schemas.openxmlformats.org/officeDocument/2006/relationships/image" Target="../media/fImage859.jpeg" TargetMode="Internal"></Relationship></Relationships>
</file>

<file path=ppt/slides/_rels/slide31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60.jpeg" TargetMode="Internal"></Relationship></Relationships>
</file>

<file path=ppt/slides/_rels/slide31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61.jpeg" TargetMode="Internal"></Relationship><Relationship Id="rId3" Type="http://schemas.openxmlformats.org/officeDocument/2006/relationships/image" Target="../media/fImage862.jpeg" TargetMode="Internal"></Relationship></Relationships>
</file>

<file path=ppt/slides/_rels/slide31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63.jpeg" TargetMode="Internal"></Relationship><Relationship Id="rId3" Type="http://schemas.openxmlformats.org/officeDocument/2006/relationships/image" Target="../media/fImage864.jpeg" TargetMode="Internal"></Relationship><Relationship Id="rId4" Type="http://schemas.openxmlformats.org/officeDocument/2006/relationships/image" Target="../media/fImage865.jpeg" TargetMode="Internal"></Relationship></Relationships>
</file>

<file path=ppt/slides/_rels/slide32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66.jpeg" TargetMode="Internal"></Relationship><Relationship Id="rId3" Type="http://schemas.openxmlformats.org/officeDocument/2006/relationships/image" Target="../media/fImage867.jpeg" TargetMode="Internal"></Relationship></Relationships>
</file>

<file path=ppt/slides/_rels/slide32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68.jpeg" TargetMode="Internal"></Relationship><Relationship Id="rId3" Type="http://schemas.openxmlformats.org/officeDocument/2006/relationships/image" Target="../media/fImage869.jpeg" TargetMode="Internal"></Relationship><Relationship Id="rId4" Type="http://schemas.openxmlformats.org/officeDocument/2006/relationships/image" Target="../media/fImage870.jpeg" TargetMode="Internal"></Relationship></Relationships>
</file>

<file path=ppt/slides/_rels/slide32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71.jpeg" TargetMode="Internal"></Relationship><Relationship Id="rId3" Type="http://schemas.openxmlformats.org/officeDocument/2006/relationships/image" Target="../media/fImage872.jpeg" TargetMode="Internal"></Relationship><Relationship Id="rId4" Type="http://schemas.openxmlformats.org/officeDocument/2006/relationships/image" Target="../media/fImage873.jpeg" TargetMode="Internal"></Relationship></Relationships>
</file>

<file path=ppt/slides/_rels/slide32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74.jpeg" TargetMode="Internal"></Relationship><Relationship Id="rId3" Type="http://schemas.openxmlformats.org/officeDocument/2006/relationships/image" Target="../media/fImage875.jpeg" TargetMode="Internal"></Relationship><Relationship Id="rId4" Type="http://schemas.openxmlformats.org/officeDocument/2006/relationships/image" Target="../media/fImage876.jpeg" TargetMode="Internal"></Relationship></Relationships>
</file>

<file path=ppt/slides/_rels/slide32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77.jpeg" TargetMode="Internal"></Relationship></Relationships>
</file>

<file path=ppt/slides/_rels/slide32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78.jpeg" TargetMode="Internal"></Relationship><Relationship Id="rId3" Type="http://schemas.openxmlformats.org/officeDocument/2006/relationships/image" Target="../media/fImage879.jpeg" TargetMode="Internal"></Relationship><Relationship Id="rId4" Type="http://schemas.openxmlformats.org/officeDocument/2006/relationships/image" Target="../media/fImage880.jpeg" TargetMode="Internal"></Relationship><Relationship Id="rId5" Type="http://schemas.openxmlformats.org/officeDocument/2006/relationships/image" Target="../media/fImage881.jpeg" TargetMode="Internal"></Relationship></Relationships>
</file>

<file path=ppt/slides/_rels/slide32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82.jpeg" TargetMode="Internal"></Relationship><Relationship Id="rId3" Type="http://schemas.openxmlformats.org/officeDocument/2006/relationships/image" Target="../media/fImage883.jpeg" TargetMode="Internal"></Relationship></Relationships>
</file>

<file path=ppt/slides/_rels/slide32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84.jpeg" TargetMode="Internal"></Relationship><Relationship Id="rId3" Type="http://schemas.openxmlformats.org/officeDocument/2006/relationships/image" Target="../media/fImage885.jpeg" TargetMode="Internal"></Relationship></Relationships>
</file>

<file path=ppt/slides/_rels/slide32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86.jpeg" TargetMode="Internal"></Relationship><Relationship Id="rId3" Type="http://schemas.openxmlformats.org/officeDocument/2006/relationships/image" Target="../media/fImage887.jpeg" TargetMode="Internal"></Relationship></Relationships>
</file>

<file path=ppt/slides/_rels/slide32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88.jpeg" TargetMode="Internal"></Relationship><Relationship Id="rId3" Type="http://schemas.openxmlformats.org/officeDocument/2006/relationships/image" Target="../media/fImage889.jpeg" TargetMode="Internal"></Relationship></Relationships>
</file>

<file path=ppt/slides/_rels/slide33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90.jpeg" TargetMode="Internal"></Relationship><Relationship Id="rId3" Type="http://schemas.openxmlformats.org/officeDocument/2006/relationships/image" Target="../media/fImage891.jpeg" TargetMode="Internal"></Relationship></Relationships>
</file>

<file path=ppt/slides/_rels/slide33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92.jpeg" TargetMode="Internal"></Relationship><Relationship Id="rId3" Type="http://schemas.openxmlformats.org/officeDocument/2006/relationships/image" Target="../media/fImage893.jpeg" TargetMode="Internal"></Relationship></Relationships>
</file>

<file path=ppt/slides/_rels/slide33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94.jpeg" TargetMode="Internal"></Relationship><Relationship Id="rId3" Type="http://schemas.openxmlformats.org/officeDocument/2006/relationships/image" Target="../media/fImage895.jpeg" TargetMode="Internal"></Relationship><Relationship Id="rId4" Type="http://schemas.openxmlformats.org/officeDocument/2006/relationships/image" Target="../media/fImage896.jpeg" TargetMode="Internal"></Relationship></Relationships>
</file>

<file path=ppt/slides/_rels/slide33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97.jpeg" TargetMode="Internal"></Relationship><Relationship Id="rId3" Type="http://schemas.openxmlformats.org/officeDocument/2006/relationships/image" Target="../media/fImage898.jpeg" TargetMode="Internal"></Relationship></Relationships>
</file>

<file path=ppt/slides/_rels/slide33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899.jpeg" TargetMode="Internal"></Relationship><Relationship Id="rId3" Type="http://schemas.openxmlformats.org/officeDocument/2006/relationships/image" Target="../media/fImage900.jpeg" TargetMode="Internal"></Relationship></Relationships>
</file>

<file path=ppt/slides/_rels/slide33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01.jpeg" TargetMode="Internal"></Relationship><Relationship Id="rId3" Type="http://schemas.openxmlformats.org/officeDocument/2006/relationships/image" Target="../media/fImage902.jpeg" TargetMode="Internal"></Relationship></Relationships>
</file>

<file path=ppt/slides/_rels/slide33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03.jpeg" TargetMode="Internal"></Relationship><Relationship Id="rId3" Type="http://schemas.openxmlformats.org/officeDocument/2006/relationships/image" Target="../media/fImage904.jpeg" TargetMode="Internal"></Relationship><Relationship Id="rId4" Type="http://schemas.openxmlformats.org/officeDocument/2006/relationships/image" Target="../media/fImage905.jpeg" TargetMode="Internal"></Relationship></Relationships>
</file>

<file path=ppt/slides/_rels/slide33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06.jpeg" TargetMode="Internal"></Relationship><Relationship Id="rId3" Type="http://schemas.openxmlformats.org/officeDocument/2006/relationships/image" Target="../media/fImage907.jpeg" TargetMode="Internal"></Relationship><Relationship Id="rId4" Type="http://schemas.openxmlformats.org/officeDocument/2006/relationships/image" Target="../media/fImage908.jpeg" TargetMode="Internal"></Relationship></Relationships>
</file>

<file path=ppt/slides/_rels/slide33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09.jpeg" TargetMode="Internal"></Relationship><Relationship Id="rId3" Type="http://schemas.openxmlformats.org/officeDocument/2006/relationships/image" Target="../media/fImage910.jpeg" TargetMode="Internal"></Relationship><Relationship Id="rId4" Type="http://schemas.openxmlformats.org/officeDocument/2006/relationships/image" Target="../media/fImage911.jpeg" TargetMode="Internal"></Relationship></Relationships>
</file>

<file path=ppt/slides/_rels/slide33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12.jpeg" TargetMode="Internal"></Relationship><Relationship Id="rId3" Type="http://schemas.openxmlformats.org/officeDocument/2006/relationships/image" Target="../media/fImage913.jpeg" TargetMode="Internal"></Relationship><Relationship Id="rId4" Type="http://schemas.openxmlformats.org/officeDocument/2006/relationships/image" Target="../media/fImage914.jpeg" TargetMode="Internal"></Relationship></Relationships>
</file>

<file path=ppt/slides/_rels/slide34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15.jpeg" TargetMode="Internal"></Relationship></Relationships>
</file>

<file path=ppt/slides/_rels/slide34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16.jpeg" TargetMode="Internal"></Relationship></Relationships>
</file>

<file path=ppt/slides/_rels/slide34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17.jpeg" TargetMode="Internal"></Relationship><Relationship Id="rId3" Type="http://schemas.openxmlformats.org/officeDocument/2006/relationships/image" Target="../media/fImage918.jpeg" TargetMode="Internal"></Relationship><Relationship Id="rId4" Type="http://schemas.openxmlformats.org/officeDocument/2006/relationships/image" Target="../media/fImage919.jpeg" TargetMode="Internal"></Relationship></Relationships>
</file>

<file path=ppt/slides/_rels/slide34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20.jpeg" TargetMode="Internal"></Relationship><Relationship Id="rId3" Type="http://schemas.openxmlformats.org/officeDocument/2006/relationships/image" Target="../media/fImage921.jpeg" TargetMode="Internal"></Relationship></Relationships>
</file>

<file path=ppt/slides/_rels/slide34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22.jpeg" TargetMode="Internal"></Relationship><Relationship Id="rId3" Type="http://schemas.openxmlformats.org/officeDocument/2006/relationships/image" Target="../media/fImage923.jpeg" TargetMode="Internal"></Relationship></Relationships>
</file>

<file path=ppt/slides/_rels/slide34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24.jpeg" TargetMode="Internal"></Relationship><Relationship Id="rId3" Type="http://schemas.openxmlformats.org/officeDocument/2006/relationships/image" Target="../media/fImage925.jpeg" TargetMode="Internal"></Relationship></Relationships>
</file>

<file path=ppt/slides/_rels/slide34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26.jpeg" TargetMode="Internal"></Relationship><Relationship Id="rId3" Type="http://schemas.openxmlformats.org/officeDocument/2006/relationships/image" Target="../media/fImage927.jpeg" TargetMode="Internal"></Relationship></Relationships>
</file>

<file path=ppt/slides/_rels/slide34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28.jpeg" TargetMode="Internal"></Relationship><Relationship Id="rId3" Type="http://schemas.openxmlformats.org/officeDocument/2006/relationships/image" Target="../media/fImage929.jpeg" TargetMode="Internal"></Relationship></Relationships>
</file>

<file path=ppt/slides/_rels/slide34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30.jpeg" TargetMode="Internal"></Relationship><Relationship Id="rId3" Type="http://schemas.openxmlformats.org/officeDocument/2006/relationships/image" Target="../media/fImage931.jpeg" TargetMode="Internal"></Relationship></Relationships>
</file>

<file path=ppt/slides/_rels/slide34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32.jpeg" TargetMode="Internal"></Relationship><Relationship Id="rId3" Type="http://schemas.openxmlformats.org/officeDocument/2006/relationships/image" Target="../media/fImage933.jpeg" TargetMode="Internal"></Relationship><Relationship Id="rId4" Type="http://schemas.openxmlformats.org/officeDocument/2006/relationships/image" Target="../media/fImage934.jpeg" TargetMode="Internal"></Relationship></Relationships>
</file>

<file path=ppt/slides/_rels/slide35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35.jpeg" TargetMode="Internal"></Relationship><Relationship Id="rId3" Type="http://schemas.openxmlformats.org/officeDocument/2006/relationships/image" Target="../media/fImage936.jpeg" TargetMode="Internal"></Relationship><Relationship Id="rId4" Type="http://schemas.openxmlformats.org/officeDocument/2006/relationships/image" Target="../media/fImage937.jpeg" TargetMode="Internal"></Relationship></Relationships>
</file>

<file path=ppt/slides/_rels/slide35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38.jpeg" TargetMode="Internal"></Relationship><Relationship Id="rId3" Type="http://schemas.openxmlformats.org/officeDocument/2006/relationships/image" Target="../media/fImage939.jpeg" TargetMode="Internal"></Relationship><Relationship Id="rId4" Type="http://schemas.openxmlformats.org/officeDocument/2006/relationships/image" Target="../media/fImage940.jpeg" TargetMode="Internal"></Relationship></Relationships>
</file>

<file path=ppt/slides/_rels/slide35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41.jpeg" TargetMode="Internal"></Relationship><Relationship Id="rId3" Type="http://schemas.openxmlformats.org/officeDocument/2006/relationships/image" Target="../media/fImage942.jpeg" TargetMode="Internal"></Relationship></Relationships>
</file>

<file path=ppt/slides/_rels/slide35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43.jpeg" TargetMode="Internal"></Relationship><Relationship Id="rId3" Type="http://schemas.openxmlformats.org/officeDocument/2006/relationships/image" Target="../media/fImage944.jpeg" TargetMode="Internal"></Relationship><Relationship Id="rId4" Type="http://schemas.openxmlformats.org/officeDocument/2006/relationships/image" Target="../media/fImage945.jpeg" TargetMode="Internal"></Relationship><Relationship Id="rId5" Type="http://schemas.openxmlformats.org/officeDocument/2006/relationships/image" Target="../media/fImage946.jpeg" TargetMode="Internal"></Relationship></Relationships>
</file>

<file path=ppt/slides/_rels/slide35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47.jpeg" TargetMode="Internal"></Relationship><Relationship Id="rId3" Type="http://schemas.openxmlformats.org/officeDocument/2006/relationships/image" Target="../media/fImage948.jpeg" TargetMode="Internal"></Relationship><Relationship Id="rId4" Type="http://schemas.openxmlformats.org/officeDocument/2006/relationships/image" Target="../media/fImage949.jpeg" TargetMode="Internal"></Relationship></Relationships>
</file>

<file path=ppt/slides/_rels/slide35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50.jpeg" TargetMode="Internal"></Relationship><Relationship Id="rId3" Type="http://schemas.openxmlformats.org/officeDocument/2006/relationships/image" Target="../media/fImage951.jpeg" TargetMode="Internal"></Relationship><Relationship Id="rId4" Type="http://schemas.openxmlformats.org/officeDocument/2006/relationships/image" Target="../media/fImage952.jpeg" TargetMode="Internal"></Relationship></Relationships>
</file>

<file path=ppt/slides/_rels/slide35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53.jpeg" TargetMode="Internal"></Relationship></Relationships>
</file>

<file path=ppt/slides/_rels/slide35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54.jpeg" TargetMode="Internal"></Relationship><Relationship Id="rId3" Type="http://schemas.openxmlformats.org/officeDocument/2006/relationships/image" Target="../media/fImage955.jpeg" TargetMode="Internal"></Relationship><Relationship Id="rId4" Type="http://schemas.openxmlformats.org/officeDocument/2006/relationships/image" Target="../media/fImage956.jpeg" TargetMode="Internal"></Relationship><Relationship Id="rId5" Type="http://schemas.openxmlformats.org/officeDocument/2006/relationships/image" Target="../media/fImage957.jpeg" TargetMode="Internal"></Relationship><Relationship Id="rId6" Type="http://schemas.openxmlformats.org/officeDocument/2006/relationships/image" Target="../media/fImage958.jpeg" TargetMode="Internal"></Relationship></Relationships>
</file>

<file path=ppt/slides/_rels/slide35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59.jpeg" TargetMode="Internal"></Relationship><Relationship Id="rId3" Type="http://schemas.openxmlformats.org/officeDocument/2006/relationships/image" Target="../media/fImage960.jpeg" TargetMode="Internal"></Relationship><Relationship Id="rId4" Type="http://schemas.openxmlformats.org/officeDocument/2006/relationships/image" Target="../media/fImage961.jpeg" TargetMode="Internal"></Relationship><Relationship Id="rId5" Type="http://schemas.openxmlformats.org/officeDocument/2006/relationships/image" Target="../media/fImage962.jpeg" TargetMode="Internal"></Relationship><Relationship Id="rId6" Type="http://schemas.openxmlformats.org/officeDocument/2006/relationships/image" Target="../media/fImage963.jpeg" TargetMode="Internal"></Relationship></Relationships>
</file>

<file path=ppt/slides/_rels/slide35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64.jpeg" TargetMode="Internal"></Relationship><Relationship Id="rId3" Type="http://schemas.openxmlformats.org/officeDocument/2006/relationships/image" Target="../media/fImage965.jpeg" TargetMode="Internal"></Relationship></Relationships>
</file>

<file path=ppt/slides/_rels/slide36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66.jpeg" TargetMode="Internal"></Relationship><Relationship Id="rId3" Type="http://schemas.openxmlformats.org/officeDocument/2006/relationships/image" Target="../media/fImage967.jpeg" TargetMode="Internal"></Relationship><Relationship Id="rId4" Type="http://schemas.openxmlformats.org/officeDocument/2006/relationships/image" Target="../media/fImage968.jpeg" TargetMode="Internal"></Relationship></Relationships>
</file>

<file path=ppt/slides/_rels/slide36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69.jpeg" TargetMode="Internal"></Relationship><Relationship Id="rId3" Type="http://schemas.openxmlformats.org/officeDocument/2006/relationships/image" Target="../media/fImage970.jpeg" TargetMode="Internal"></Relationship><Relationship Id="rId4" Type="http://schemas.openxmlformats.org/officeDocument/2006/relationships/image" Target="../media/fImage971.jpeg" TargetMode="Internal"></Relationship></Relationships>
</file>

<file path=ppt/slides/_rels/slide36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72.jpeg" TargetMode="Internal"></Relationship><Relationship Id="rId3" Type="http://schemas.openxmlformats.org/officeDocument/2006/relationships/image" Target="../media/fImage973.jpeg" TargetMode="Internal"></Relationship></Relationships>
</file>

<file path=ppt/slides/_rels/slide36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74.jpeg" TargetMode="Internal"></Relationship></Relationships>
</file>

<file path=ppt/slides/_rels/slide36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75.jpeg" TargetMode="Internal"></Relationship><Relationship Id="rId3" Type="http://schemas.openxmlformats.org/officeDocument/2006/relationships/image" Target="../media/fImage976.jpeg" TargetMode="Internal"></Relationship></Relationships>
</file>

<file path=ppt/slides/_rels/slide36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77.jpeg" TargetMode="Internal"></Relationship><Relationship Id="rId3" Type="http://schemas.openxmlformats.org/officeDocument/2006/relationships/image" Target="../media/fImage978.jpeg" TargetMode="Internal"></Relationship><Relationship Id="rId4" Type="http://schemas.openxmlformats.org/officeDocument/2006/relationships/image" Target="../media/fImage979.jpeg" TargetMode="Internal"></Relationship></Relationships>
</file>

<file path=ppt/slides/_rels/slide36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80.jpeg" TargetMode="Internal"></Relationship><Relationship Id="rId3" Type="http://schemas.openxmlformats.org/officeDocument/2006/relationships/image" Target="../media/fImage981.jpeg" TargetMode="Internal"></Relationship><Relationship Id="rId4" Type="http://schemas.openxmlformats.org/officeDocument/2006/relationships/image" Target="../media/fImage982.jpeg" TargetMode="Internal"></Relationship><Relationship Id="rId5" Type="http://schemas.openxmlformats.org/officeDocument/2006/relationships/image" Target="../media/fImage983.jpeg" TargetMode="Internal"></Relationship><Relationship Id="rId6" Type="http://schemas.openxmlformats.org/officeDocument/2006/relationships/image" Target="../media/fImage984.jpeg" TargetMode="Internal"></Relationship></Relationships>
</file>

<file path=ppt/slides/_rels/slide36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85.jpeg" TargetMode="Internal"></Relationship><Relationship Id="rId3" Type="http://schemas.openxmlformats.org/officeDocument/2006/relationships/image" Target="../media/fImage986.jpeg" TargetMode="Internal"></Relationship><Relationship Id="rId4" Type="http://schemas.openxmlformats.org/officeDocument/2006/relationships/image" Target="../media/fImage987.jpeg" TargetMode="Internal"></Relationship><Relationship Id="rId5" Type="http://schemas.openxmlformats.org/officeDocument/2006/relationships/image" Target="../media/fImage988.jpeg" TargetMode="Internal"></Relationship><Relationship Id="rId6" Type="http://schemas.openxmlformats.org/officeDocument/2006/relationships/image" Target="../media/fImage989.jpeg" TargetMode="Internal"></Relationship></Relationships>
</file>

<file path=ppt/slides/_rels/slide36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90.jpeg" TargetMode="Internal"></Relationship></Relationships>
</file>

<file path=ppt/slides/_rels/slide36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91.jpeg" TargetMode="Internal"></Relationship><Relationship Id="rId3" Type="http://schemas.openxmlformats.org/officeDocument/2006/relationships/image" Target="../media/fImage992.jpeg" TargetMode="Internal"></Relationship></Relationships>
</file>

<file path=ppt/slides/_rels/slide37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93.jpeg" TargetMode="Internal"></Relationship><Relationship Id="rId3" Type="http://schemas.openxmlformats.org/officeDocument/2006/relationships/image" Target="../media/fImage994.jpeg" TargetMode="Internal"></Relationship><Relationship Id="rId4" Type="http://schemas.openxmlformats.org/officeDocument/2006/relationships/image" Target="../media/fImage995.jpeg" TargetMode="Internal"></Relationship></Relationships>
</file>

<file path=ppt/slides/_rels/slide37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96.jpeg" TargetMode="Internal"></Relationship><Relationship Id="rId3" Type="http://schemas.openxmlformats.org/officeDocument/2006/relationships/image" Target="../media/fImage997.jpeg" TargetMode="Internal"></Relationship></Relationships>
</file>

<file path=ppt/slides/_rels/slide37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98.jpeg" TargetMode="Internal"></Relationship></Relationships>
</file>

<file path=ppt/slides/_rels/slide37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999.jpeg" TargetMode="Internal"></Relationship></Relationships>
</file>

<file path=ppt/slides/_rels/slide37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0.jpeg" TargetMode="Internal"></Relationship></Relationships>
</file>

<file path=ppt/slides/_rels/slide37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1.jpeg" TargetMode="Internal"></Relationship></Relationships>
</file>

<file path=ppt/slides/_rels/slide37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2.jpeg" TargetMode="Internal"></Relationship></Relationships>
</file>

<file path=ppt/slides/_rels/slide37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3.jpeg" TargetMode="Internal"></Relationship></Relationships>
</file>

<file path=ppt/slides/_rels/slide37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4.jpeg" TargetMode="Internal"></Relationship></Relationships>
</file>

<file path=ppt/slides/_rels/slide37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5.jpeg" TargetMode="Internal"></Relationship></Relationships>
</file>

<file path=ppt/slides/_rels/slide38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6.jpeg" TargetMode="Internal"></Relationship></Relationships>
</file>

<file path=ppt/slides/_rels/slide38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7.jpeg" TargetMode="Internal"></Relationship></Relationships>
</file>

<file path=ppt/slides/_rels/slide38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08.jpeg" TargetMode="Internal"></Relationship><Relationship Id="rId3" Type="http://schemas.openxmlformats.org/officeDocument/2006/relationships/image" Target="../media/fImage1009.jpeg" TargetMode="Internal"></Relationship></Relationships>
</file>

<file path=ppt/slides/_rels/slide38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10.jpeg" TargetMode="Internal"></Relationship></Relationships>
</file>

<file path=ppt/slides/_rels/slide38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11.jpeg" TargetMode="Internal"></Relationship><Relationship Id="rId3" Type="http://schemas.openxmlformats.org/officeDocument/2006/relationships/image" Target="../media/fImage1012.jpeg" TargetMode="Internal"></Relationship><Relationship Id="rId4" Type="http://schemas.openxmlformats.org/officeDocument/2006/relationships/image" Target="../media/fImage1013.jpeg" TargetMode="Internal"></Relationship></Relationships>
</file>

<file path=ppt/slides/_rels/slide38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14.jpeg" TargetMode="Internal"></Relationship><Relationship Id="rId3" Type="http://schemas.openxmlformats.org/officeDocument/2006/relationships/image" Target="../media/fImage1015.jpeg" TargetMode="Internal"></Relationship><Relationship Id="rId4" Type="http://schemas.openxmlformats.org/officeDocument/2006/relationships/image" Target="../media/fImage1016.jpeg" TargetMode="Internal"></Relationship></Relationships>
</file>

<file path=ppt/slides/_rels/slide38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17.jpeg" TargetMode="Internal"></Relationship><Relationship Id="rId3" Type="http://schemas.openxmlformats.org/officeDocument/2006/relationships/image" Target="../media/fImage1018.jpeg" TargetMode="Internal"></Relationship></Relationships>
</file>

<file path=ppt/slides/_rels/slide38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19.jpeg" TargetMode="Internal"></Relationship><Relationship Id="rId3" Type="http://schemas.openxmlformats.org/officeDocument/2006/relationships/image" Target="../media/fImage1020.jpeg" TargetMode="Internal"></Relationship></Relationships>
</file>

<file path=ppt/slides/_rels/slide38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21.jpeg" TargetMode="Internal"></Relationship><Relationship Id="rId3" Type="http://schemas.openxmlformats.org/officeDocument/2006/relationships/image" Target="../media/fImage1022.jpeg" TargetMode="Internal"></Relationship></Relationships>
</file>

<file path=ppt/slides/_rels/slide38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23.jpeg" TargetMode="Internal"></Relationship><Relationship Id="rId3" Type="http://schemas.openxmlformats.org/officeDocument/2006/relationships/image" Target="../media/fImage1024.jpeg" TargetMode="Internal"></Relationship></Relationships>
</file>

<file path=ppt/slides/_rels/slide39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25.jpeg" TargetMode="Internal"></Relationship><Relationship Id="rId3" Type="http://schemas.openxmlformats.org/officeDocument/2006/relationships/image" Target="../media/fImage1026.jpeg" TargetMode="Internal"></Relationship><Relationship Id="rId4" Type="http://schemas.openxmlformats.org/officeDocument/2006/relationships/image" Target="../media/fImage1027.jpeg" TargetMode="Internal"></Relationship></Relationships>
</file>

<file path=ppt/slides/_rels/slide39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28.jpeg" TargetMode="Internal"></Relationship><Relationship Id="rId3" Type="http://schemas.openxmlformats.org/officeDocument/2006/relationships/image" Target="../media/fImage1029.jpeg" TargetMode="Internal"></Relationship><Relationship Id="rId4" Type="http://schemas.openxmlformats.org/officeDocument/2006/relationships/image" Target="../media/fImage1030.jpeg" TargetMode="Internal"></Relationship><Relationship Id="rId5" Type="http://schemas.openxmlformats.org/officeDocument/2006/relationships/image" Target="../media/fImage1031.jpeg" TargetMode="Internal"></Relationship><Relationship Id="rId6" Type="http://schemas.openxmlformats.org/officeDocument/2006/relationships/image" Target="../media/fImage1032.jpeg" TargetMode="Internal"></Relationship></Relationships>
</file>

<file path=ppt/slides/_rels/slide39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33.jpeg" TargetMode="Internal"></Relationship><Relationship Id="rId3" Type="http://schemas.openxmlformats.org/officeDocument/2006/relationships/image" Target="../media/fImage1034.jpeg" TargetMode="Internal"></Relationship></Relationships>
</file>

<file path=ppt/slides/_rels/slide39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35.jpeg" TargetMode="Internal"></Relationship><Relationship Id="rId3" Type="http://schemas.openxmlformats.org/officeDocument/2006/relationships/image" Target="../media/fImage1036.jpeg" TargetMode="Internal"></Relationship><Relationship Id="rId4" Type="http://schemas.openxmlformats.org/officeDocument/2006/relationships/image" Target="../media/fImage1037.jpeg" TargetMode="Internal"></Relationship><Relationship Id="rId5" Type="http://schemas.openxmlformats.org/officeDocument/2006/relationships/image" Target="../media/fImage1038.jpeg" TargetMode="Internal"></Relationship><Relationship Id="rId6" Type="http://schemas.openxmlformats.org/officeDocument/2006/relationships/image" Target="../media/fImage1039.jpeg" TargetMode="Internal"></Relationship></Relationships>
</file>

<file path=ppt/slides/_rels/slide39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0.jpeg" TargetMode="Internal"></Relationship></Relationships>
</file>

<file path=ppt/slides/_rels/slide39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1.jpeg" TargetMode="Internal"></Relationship></Relationships>
</file>

<file path=ppt/slides/_rels/slide39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2.jpeg" TargetMode="Internal"></Relationship><Relationship Id="rId3" Type="http://schemas.openxmlformats.org/officeDocument/2006/relationships/image" Target="../media/fImage1043.jpeg" TargetMode="Internal"></Relationship></Relationships>
</file>

<file path=ppt/slides/_rels/slide39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4.jpeg" TargetMode="Internal"></Relationship></Relationships>
</file>

<file path=ppt/slides/_rels/slide39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5.jpeg" TargetMode="Internal"></Relationship><Relationship Id="rId3" Type="http://schemas.openxmlformats.org/officeDocument/2006/relationships/image" Target="../media/fImage1046.jpeg" TargetMode="Internal"></Relationship></Relationships>
</file>

<file path=ppt/slides/_rels/slide39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7.jpeg" TargetMode="Internal"></Relationship><Relationship Id="rId3" Type="http://schemas.openxmlformats.org/officeDocument/2006/relationships/image" Target="../media/fImage1048.jpeg" TargetMode="Internal"></Relationship></Relationships>
</file>

<file path=ppt/slides/_rels/slide40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49.jpeg" TargetMode="Internal"></Relationship></Relationships>
</file>

<file path=ppt/slides/_rels/slide40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50.jpeg" TargetMode="Internal"></Relationship></Relationships>
</file>

<file path=ppt/slides/_rels/slide40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51.jpeg" TargetMode="Internal"></Relationship></Relationships>
</file>

<file path=ppt/slides/_rels/slide40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52.jpeg" TargetMode="Internal"></Relationship><Relationship Id="rId3" Type="http://schemas.openxmlformats.org/officeDocument/2006/relationships/image" Target="../media/fImage1053.jpeg" TargetMode="Internal"></Relationship><Relationship Id="rId4" Type="http://schemas.openxmlformats.org/officeDocument/2006/relationships/image" Target="../media/fImage1054.jpeg" TargetMode="Internal"></Relationship></Relationships>
</file>

<file path=ppt/slides/_rels/slide40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55.jpeg" TargetMode="Internal"></Relationship><Relationship Id="rId3" Type="http://schemas.openxmlformats.org/officeDocument/2006/relationships/image" Target="../media/fImage1056.jpeg" TargetMode="Internal"></Relationship><Relationship Id="rId4" Type="http://schemas.openxmlformats.org/officeDocument/2006/relationships/image" Target="../media/fImage1057.jpeg" TargetMode="Internal"></Relationship></Relationships>
</file>

<file path=ppt/slides/_rels/slide40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58.jpeg" TargetMode="Internal"></Relationship><Relationship Id="rId3" Type="http://schemas.openxmlformats.org/officeDocument/2006/relationships/image" Target="../media/fImage1059.jpeg" TargetMode="Internal"></Relationship><Relationship Id="rId4" Type="http://schemas.openxmlformats.org/officeDocument/2006/relationships/image" Target="../media/fImage1060.jpeg" TargetMode="Internal"></Relationship></Relationships>
</file>

<file path=ppt/slides/_rels/slide40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61.jpeg" TargetMode="Internal"></Relationship></Relationships>
</file>

<file path=ppt/slides/_rels/slide40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62.jpeg" TargetMode="Internal"></Relationship></Relationships>
</file>

<file path=ppt/slides/_rels/slide40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63.jpeg" TargetMode="Internal"></Relationship><Relationship Id="rId3" Type="http://schemas.openxmlformats.org/officeDocument/2006/relationships/image" Target="../media/fImage1064.jpeg" TargetMode="Internal"></Relationship><Relationship Id="rId4" Type="http://schemas.openxmlformats.org/officeDocument/2006/relationships/image" Target="../media/fImage1065.jpeg" TargetMode="Internal"></Relationship></Relationships>
</file>

<file path=ppt/slides/_rels/slide40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66.jpeg" TargetMode="Internal"></Relationship><Relationship Id="rId3" Type="http://schemas.openxmlformats.org/officeDocument/2006/relationships/image" Target="../media/fImage1067.jpeg" TargetMode="Internal"></Relationship><Relationship Id="rId4" Type="http://schemas.openxmlformats.org/officeDocument/2006/relationships/image" Target="../media/fImage1068.jpeg" TargetMode="Internal"></Relationship></Relationships>
</file>

<file path=ppt/slides/_rels/slide41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69.jpeg" TargetMode="Internal"></Relationship><Relationship Id="rId3" Type="http://schemas.openxmlformats.org/officeDocument/2006/relationships/image" Target="../media/fImage1070.jpeg" TargetMode="Internal"></Relationship><Relationship Id="rId4" Type="http://schemas.openxmlformats.org/officeDocument/2006/relationships/image" Target="../media/fImage1071.jpeg" TargetMode="Internal"></Relationship></Relationships>
</file>

<file path=ppt/slides/_rels/slide41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72.jpeg" TargetMode="Internal"></Relationship><Relationship Id="rId3" Type="http://schemas.openxmlformats.org/officeDocument/2006/relationships/image" Target="../media/fImage1073.jpeg" TargetMode="Internal"></Relationship></Relationships>
</file>

<file path=ppt/slides/_rels/slide41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74.jpeg" TargetMode="Internal"></Relationship><Relationship Id="rId3" Type="http://schemas.openxmlformats.org/officeDocument/2006/relationships/image" Target="../media/fImage1075.jpeg" TargetMode="Internal"></Relationship><Relationship Id="rId4" Type="http://schemas.openxmlformats.org/officeDocument/2006/relationships/image" Target="../media/fImage1076.jpeg" TargetMode="Internal"></Relationship></Relationships>
</file>

<file path=ppt/slides/_rels/slide41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77.jpeg" TargetMode="Internal"></Relationship><Relationship Id="rId3" Type="http://schemas.openxmlformats.org/officeDocument/2006/relationships/image" Target="../media/fImage1078.jpeg" TargetMode="Internal"></Relationship></Relationships>
</file>

<file path=ppt/slides/_rels/slide41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79.jpeg" TargetMode="Internal"></Relationship></Relationships>
</file>

<file path=ppt/slides/_rels/slide41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80.jpeg" TargetMode="Internal"></Relationship></Relationships>
</file>

<file path=ppt/slides/_rels/slide41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81.jpeg" TargetMode="Internal"></Relationship></Relationships>
</file>

<file path=ppt/slides/_rels/slide41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82.jpeg" TargetMode="Internal"></Relationship><Relationship Id="rId3" Type="http://schemas.openxmlformats.org/officeDocument/2006/relationships/image" Target="../media/fImage1083.jpeg" TargetMode="Internal"></Relationship></Relationships>
</file>

<file path=ppt/slides/_rels/slide41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84.jpeg" TargetMode="Internal"></Relationship><Relationship Id="rId3" Type="http://schemas.openxmlformats.org/officeDocument/2006/relationships/image" Target="../media/fImage1085.jpeg" TargetMode="Internal"></Relationship><Relationship Id="rId4" Type="http://schemas.openxmlformats.org/officeDocument/2006/relationships/image" Target="../media/fImage1086.jpeg" TargetMode="Internal"></Relationship><Relationship Id="rId5" Type="http://schemas.openxmlformats.org/officeDocument/2006/relationships/image" Target="../media/fImage1087.jpeg" TargetMode="Internal"></Relationship><Relationship Id="rId6" Type="http://schemas.openxmlformats.org/officeDocument/2006/relationships/image" Target="../media/fImage1088.jpeg" TargetMode="Internal"></Relationship><Relationship Id="rId7" Type="http://schemas.openxmlformats.org/officeDocument/2006/relationships/image" Target="../media/fImage1089.jpeg" TargetMode="Internal"></Relationship></Relationships>
</file>

<file path=ppt/slides/_rels/slide41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90.jpeg" TargetMode="Internal"></Relationship><Relationship Id="rId3" Type="http://schemas.openxmlformats.org/officeDocument/2006/relationships/image" Target="../media/fImage1091.jpeg" TargetMode="Internal"></Relationship><Relationship Id="rId4" Type="http://schemas.openxmlformats.org/officeDocument/2006/relationships/image" Target="../media/fImage1092.jpeg" TargetMode="Internal"></Relationship><Relationship Id="rId5" Type="http://schemas.openxmlformats.org/officeDocument/2006/relationships/image" Target="../media/fImage1093.jpeg" TargetMode="Internal"></Relationship><Relationship Id="rId6" Type="http://schemas.openxmlformats.org/officeDocument/2006/relationships/image" Target="../media/fImage1094.jpeg" TargetMode="Internal"></Relationship></Relationships>
</file>

<file path=ppt/slides/_rels/slide42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95.jpeg" TargetMode="Internal"></Relationship><Relationship Id="rId3" Type="http://schemas.openxmlformats.org/officeDocument/2006/relationships/image" Target="../media/fImage1096.jpeg" TargetMode="Internal"></Relationship></Relationships>
</file>

<file path=ppt/slides/_rels/slide42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97.jpeg" TargetMode="Internal"></Relationship></Relationships>
</file>

<file path=ppt/slides/_rels/slide42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098.jpeg" TargetMode="Internal"></Relationship><Relationship Id="rId3" Type="http://schemas.openxmlformats.org/officeDocument/2006/relationships/image" Target="../media/fImage1099.jpeg" TargetMode="Internal"></Relationship></Relationships>
</file>

<file path=ppt/slides/_rels/slide42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00.jpeg" TargetMode="Internal"></Relationship><Relationship Id="rId3" Type="http://schemas.openxmlformats.org/officeDocument/2006/relationships/image" Target="../media/fImage1101.jpeg" TargetMode="Internal"></Relationship><Relationship Id="rId4" Type="http://schemas.openxmlformats.org/officeDocument/2006/relationships/image" Target="../media/fImage1102.jpeg" TargetMode="Internal"></Relationship></Relationships>
</file>

<file path=ppt/slides/_rels/slide42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03.jpeg" TargetMode="Internal"></Relationship><Relationship Id="rId3" Type="http://schemas.openxmlformats.org/officeDocument/2006/relationships/image" Target="../media/fImage1104.jpeg" TargetMode="Internal"></Relationship><Relationship Id="rId4" Type="http://schemas.openxmlformats.org/officeDocument/2006/relationships/image" Target="../media/fImage1105.jpeg" TargetMode="Internal"></Relationship></Relationships>
</file>

<file path=ppt/slides/_rels/slide42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06.jpeg" TargetMode="Internal"></Relationship><Relationship Id="rId3" Type="http://schemas.openxmlformats.org/officeDocument/2006/relationships/image" Target="../media/fImage1107.jpeg" TargetMode="Internal"></Relationship><Relationship Id="rId4" Type="http://schemas.openxmlformats.org/officeDocument/2006/relationships/image" Target="../media/fImage1108.jpeg" TargetMode="Internal"></Relationship></Relationships>
</file>

<file path=ppt/slides/_rels/slide42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09.jpeg" TargetMode="Internal"></Relationship></Relationships>
</file>

<file path=ppt/slides/_rels/slide42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10.jpeg" TargetMode="Internal"></Relationship></Relationships>
</file>

<file path=ppt/slides/_rels/slide42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11.jpeg" TargetMode="Internal"></Relationship><Relationship Id="rId3" Type="http://schemas.openxmlformats.org/officeDocument/2006/relationships/image" Target="../media/fImage1112.jpeg" TargetMode="Internal"></Relationship><Relationship Id="rId4" Type="http://schemas.openxmlformats.org/officeDocument/2006/relationships/image" Target="../media/fImage1113.jpeg" TargetMode="Internal"></Relationship><Relationship Id="rId5" Type="http://schemas.openxmlformats.org/officeDocument/2006/relationships/image" Target="../media/fImage1114.jpeg" TargetMode="Internal"></Relationship></Relationships>
</file>

<file path=ppt/slides/_rels/slide42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15.jpeg" TargetMode="Internal"></Relationship><Relationship Id="rId3" Type="http://schemas.openxmlformats.org/officeDocument/2006/relationships/image" Target="../media/fImage1116.jpeg" TargetMode="Internal"></Relationship><Relationship Id="rId4" Type="http://schemas.openxmlformats.org/officeDocument/2006/relationships/image" Target="../media/fImage1117.jpeg" TargetMode="Internal"></Relationship><Relationship Id="rId5" Type="http://schemas.openxmlformats.org/officeDocument/2006/relationships/image" Target="../media/fImage1118.jpeg" TargetMode="Internal"></Relationship></Relationships>
</file>

<file path=ppt/slides/_rels/slide43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19.jpeg" TargetMode="Internal"></Relationship><Relationship Id="rId3" Type="http://schemas.openxmlformats.org/officeDocument/2006/relationships/image" Target="../media/fImage1120.jpeg" TargetMode="Internal"></Relationship><Relationship Id="rId4" Type="http://schemas.openxmlformats.org/officeDocument/2006/relationships/image" Target="../media/fImage1121.jpeg" TargetMode="Internal"></Relationship><Relationship Id="rId5" Type="http://schemas.openxmlformats.org/officeDocument/2006/relationships/image" Target="../media/fImage1122.jpeg" TargetMode="Internal"></Relationship></Relationships>
</file>

<file path=ppt/slides/_rels/slide43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23.jpeg" TargetMode="Internal"></Relationship><Relationship Id="rId3" Type="http://schemas.openxmlformats.org/officeDocument/2006/relationships/image" Target="../media/fImage1124.jpeg" TargetMode="Internal"></Relationship></Relationships>
</file>

<file path=ppt/slides/_rels/slide43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25.jpeg" TargetMode="Internal"></Relationship><Relationship Id="rId3" Type="http://schemas.openxmlformats.org/officeDocument/2006/relationships/image" Target="../media/fImage1126.jpeg" TargetMode="Internal"></Relationship></Relationships>
</file>

<file path=ppt/slides/_rels/slide43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27.jpeg" TargetMode="Internal"></Relationship><Relationship Id="rId3" Type="http://schemas.openxmlformats.org/officeDocument/2006/relationships/image" Target="../media/fImage1128.jpeg" TargetMode="Internal"></Relationship><Relationship Id="rId4" Type="http://schemas.openxmlformats.org/officeDocument/2006/relationships/image" Target="../media/fImage1129.jpeg" TargetMode="Internal"></Relationship><Relationship Id="rId5" Type="http://schemas.openxmlformats.org/officeDocument/2006/relationships/image" Target="../media/fImage1130.jpeg" TargetMode="Internal"></Relationship><Relationship Id="rId6" Type="http://schemas.openxmlformats.org/officeDocument/2006/relationships/image" Target="../media/fImage1131.jpeg" TargetMode="Internal"></Relationship><Relationship Id="rId7" Type="http://schemas.openxmlformats.org/officeDocument/2006/relationships/image" Target="../media/fImage1132.jpeg" TargetMode="Internal"></Relationship><Relationship Id="rId8" Type="http://schemas.openxmlformats.org/officeDocument/2006/relationships/image" Target="../media/fImage1133.jpeg" TargetMode="Internal"></Relationship><Relationship Id="rId9" Type="http://schemas.openxmlformats.org/officeDocument/2006/relationships/image" Target="../media/fImage1134.jpeg" TargetMode="Internal"></Relationship><Relationship Id="rId10" Type="http://schemas.openxmlformats.org/officeDocument/2006/relationships/image" Target="../media/fImage1135.jpeg" TargetMode="Internal"></Relationship><Relationship Id="rId11" Type="http://schemas.openxmlformats.org/officeDocument/2006/relationships/image" Target="../media/fImage1136.jpeg" TargetMode="Internal"></Relationship></Relationships>
</file>

<file path=ppt/slides/_rels/slide43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37.jpeg" TargetMode="Internal"></Relationship><Relationship Id="rId3" Type="http://schemas.openxmlformats.org/officeDocument/2006/relationships/image" Target="../media/fImage1138.jpeg" TargetMode="Internal"></Relationship><Relationship Id="rId4" Type="http://schemas.openxmlformats.org/officeDocument/2006/relationships/image" Target="../media/fImage1139.jpeg" TargetMode="Internal"></Relationship><Relationship Id="rId5" Type="http://schemas.openxmlformats.org/officeDocument/2006/relationships/image" Target="../media/fImage1140.jpeg" TargetMode="Internal"></Relationship><Relationship Id="rId6" Type="http://schemas.openxmlformats.org/officeDocument/2006/relationships/image" Target="../media/fImage1141.jpeg" TargetMode="Internal"></Relationship></Relationships>
</file>

<file path=ppt/slides/_rels/slide43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42.jpeg" TargetMode="Internal"></Relationship><Relationship Id="rId3" Type="http://schemas.openxmlformats.org/officeDocument/2006/relationships/image" Target="../media/fImage1143.jpeg" TargetMode="Internal"></Relationship><Relationship Id="rId4" Type="http://schemas.openxmlformats.org/officeDocument/2006/relationships/image" Target="../media/fImage1144.jpeg" TargetMode="Internal"></Relationship></Relationships>
</file>

<file path=ppt/slides/_rels/slide43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45.jpeg" TargetMode="Internal"></Relationship><Relationship Id="rId3" Type="http://schemas.openxmlformats.org/officeDocument/2006/relationships/image" Target="../media/fImage1146.jpeg" TargetMode="Internal"></Relationship></Relationships>
</file>

<file path=ppt/slides/_rels/slide43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47.jpeg" TargetMode="Internal"></Relationship><Relationship Id="rId3" Type="http://schemas.openxmlformats.org/officeDocument/2006/relationships/image" Target="../media/fImage1148.jpeg" TargetMode="Internal"></Relationship></Relationships>
</file>

<file path=ppt/slides/_rels/slide43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49.jpeg" TargetMode="Internal"></Relationship></Relationships>
</file>

<file path=ppt/slides/_rels/slide43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50.jpeg" TargetMode="Internal"></Relationship></Relationships>
</file>

<file path=ppt/slides/_rels/slide44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51.jpeg" TargetMode="Internal"></Relationship></Relationships>
</file>

<file path=ppt/slides/_rels/slide44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52.jpeg" TargetMode="Internal"></Relationship><Relationship Id="rId3" Type="http://schemas.openxmlformats.org/officeDocument/2006/relationships/image" Target="../media/fImage1153.jpeg" TargetMode="Internal"></Relationship><Relationship Id="rId4" Type="http://schemas.openxmlformats.org/officeDocument/2006/relationships/image" Target="../media/fImage1154.jpeg" TargetMode="Internal"></Relationship></Relationships>
</file>

<file path=ppt/slides/_rels/slide44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55.jpeg" TargetMode="Internal"></Relationship><Relationship Id="rId3" Type="http://schemas.openxmlformats.org/officeDocument/2006/relationships/image" Target="../media/fImage1156.jpeg" TargetMode="Internal"></Relationship><Relationship Id="rId4" Type="http://schemas.openxmlformats.org/officeDocument/2006/relationships/image" Target="../media/fImage1157.jpeg" TargetMode="Internal"></Relationship><Relationship Id="rId5" Type="http://schemas.openxmlformats.org/officeDocument/2006/relationships/image" Target="../media/fImage1158.jpeg" TargetMode="Internal"></Relationship><Relationship Id="rId6" Type="http://schemas.openxmlformats.org/officeDocument/2006/relationships/image" Target="../media/fImage1159.jpeg" TargetMode="Internal"></Relationship></Relationships>
</file>

<file path=ppt/slides/_rels/slide44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60.jpeg" TargetMode="Internal"></Relationship><Relationship Id="rId3" Type="http://schemas.openxmlformats.org/officeDocument/2006/relationships/image" Target="../media/fImage1161.jpeg" TargetMode="Internal"></Relationship><Relationship Id="rId4" Type="http://schemas.openxmlformats.org/officeDocument/2006/relationships/image" Target="../media/fImage1162.jpeg" TargetMode="Internal"></Relationship><Relationship Id="rId5" Type="http://schemas.openxmlformats.org/officeDocument/2006/relationships/image" Target="../media/fImage1163.jpeg" TargetMode="Internal"></Relationship><Relationship Id="rId6" Type="http://schemas.openxmlformats.org/officeDocument/2006/relationships/image" Target="../media/fImage1164.jpeg" TargetMode="Internal"></Relationship><Relationship Id="rId7" Type="http://schemas.openxmlformats.org/officeDocument/2006/relationships/image" Target="../media/fImage1165.jpeg" TargetMode="Internal"></Relationship><Relationship Id="rId8" Type="http://schemas.openxmlformats.org/officeDocument/2006/relationships/image" Target="../media/fImage1166.jpeg" TargetMode="Internal"></Relationship><Relationship Id="rId9" Type="http://schemas.openxmlformats.org/officeDocument/2006/relationships/image" Target="../media/fImage1167.jpeg" TargetMode="Internal"></Relationship><Relationship Id="rId10" Type="http://schemas.openxmlformats.org/officeDocument/2006/relationships/image" Target="../media/fImage1168.jpeg" TargetMode="Internal"></Relationship><Relationship Id="rId11" Type="http://schemas.openxmlformats.org/officeDocument/2006/relationships/image" Target="../media/fImage1169.jpeg" TargetMode="Internal"></Relationship><Relationship Id="rId12" Type="http://schemas.openxmlformats.org/officeDocument/2006/relationships/image" Target="../media/fImage1170.jpeg" TargetMode="Internal"></Relationship></Relationships>
</file>

<file path=ppt/slides/_rels/slide44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71.jpeg" TargetMode="Internal"></Relationship><Relationship Id="rId3" Type="http://schemas.openxmlformats.org/officeDocument/2006/relationships/image" Target="../media/fImage1172.jpeg" TargetMode="Internal"></Relationship><Relationship Id="rId4" Type="http://schemas.openxmlformats.org/officeDocument/2006/relationships/image" Target="../media/fImage1173.jpeg" TargetMode="Internal"></Relationship><Relationship Id="rId5" Type="http://schemas.openxmlformats.org/officeDocument/2006/relationships/image" Target="../media/fImage1174.jpeg" TargetMode="Internal"></Relationship></Relationships>
</file>

<file path=ppt/slides/_rels/slide44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75.jpeg" TargetMode="Internal"></Relationship></Relationships>
</file>

<file path=ppt/slides/_rels/slide44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76.jpeg" TargetMode="Internal"></Relationship><Relationship Id="rId3" Type="http://schemas.openxmlformats.org/officeDocument/2006/relationships/image" Target="../media/fImage1177.jpeg" TargetMode="Internal"></Relationship></Relationships>
</file>

<file path=ppt/slides/_rels/slide44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78.jpeg" TargetMode="Internal"></Relationship><Relationship Id="rId3" Type="http://schemas.openxmlformats.org/officeDocument/2006/relationships/image" Target="../media/fImage1179.jpeg" TargetMode="Internal"></Relationship></Relationships>
</file>

<file path=ppt/slides/_rels/slide44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80.jpeg" TargetMode="Internal"></Relationship><Relationship Id="rId3" Type="http://schemas.openxmlformats.org/officeDocument/2006/relationships/image" Target="../media/fImage1181.jpeg" TargetMode="Internal"></Relationship></Relationships>
</file>

<file path=ppt/slides/_rels/slide44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82.jpeg" TargetMode="Internal"></Relationship><Relationship Id="rId3" Type="http://schemas.openxmlformats.org/officeDocument/2006/relationships/image" Target="../media/fImage1183.jpeg" TargetMode="Internal"></Relationship><Relationship Id="rId4" Type="http://schemas.openxmlformats.org/officeDocument/2006/relationships/image" Target="../media/fImage1184.jpeg" TargetMode="Internal"></Relationship></Relationships>
</file>

<file path=ppt/slides/_rels/slide45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85.jpeg" TargetMode="Internal"></Relationship></Relationships>
</file>

<file path=ppt/slides/_rels/slide45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86.jpeg" TargetMode="Internal"></Relationship></Relationships>
</file>

<file path=ppt/slides/_rels/slide45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87.jpeg" TargetMode="Internal"></Relationship><Relationship Id="rId3" Type="http://schemas.openxmlformats.org/officeDocument/2006/relationships/image" Target="../media/fImage1188.jpeg" TargetMode="Internal"></Relationship></Relationships>
</file>

<file path=ppt/slides/_rels/slide45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89.jpeg" TargetMode="Internal"></Relationship><Relationship Id="rId3" Type="http://schemas.openxmlformats.org/officeDocument/2006/relationships/image" Target="../media/fImage1190.jpeg" TargetMode="Internal"></Relationship></Relationships>
</file>

<file path=ppt/slides/_rels/slide45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91.jpeg" TargetMode="Internal"></Relationship></Relationships>
</file>

<file path=ppt/slides/_rels/slide45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92.jpeg" TargetMode="Internal"></Relationship><Relationship Id="rId3" Type="http://schemas.openxmlformats.org/officeDocument/2006/relationships/image" Target="../media/fImage1193.jpeg" TargetMode="Internal"></Relationship></Relationships>
</file>

<file path=ppt/slides/_rels/slide45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94.jpeg" TargetMode="Internal"></Relationship><Relationship Id="rId3" Type="http://schemas.openxmlformats.org/officeDocument/2006/relationships/image" Target="../media/fImage1195.jpeg" TargetMode="Internal"></Relationship></Relationships>
</file>

<file path=ppt/slides/_rels/slide45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96.jpeg" TargetMode="Internal"></Relationship><Relationship Id="rId3" Type="http://schemas.openxmlformats.org/officeDocument/2006/relationships/image" Target="../media/fImage1197.jpeg" TargetMode="Internal"></Relationship><Relationship Id="rId4" Type="http://schemas.openxmlformats.org/officeDocument/2006/relationships/image" Target="../media/fImage1198.jpeg" TargetMode="Internal"></Relationship></Relationships>
</file>

<file path=ppt/slides/_rels/slide45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199.jpeg" TargetMode="Internal"></Relationship></Relationships>
</file>

<file path=ppt/slides/_rels/slide45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00.jpeg" TargetMode="Internal"></Relationship><Relationship Id="rId3" Type="http://schemas.openxmlformats.org/officeDocument/2006/relationships/image" Target="../media/fImage1201.jpeg" TargetMode="Internal"></Relationship></Relationships>
</file>

<file path=ppt/slides/_rels/slide46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02.jpeg" TargetMode="Internal"></Relationship><Relationship Id="rId3" Type="http://schemas.openxmlformats.org/officeDocument/2006/relationships/image" Target="../media/fImage1203.jpeg" TargetMode="Internal"></Relationship></Relationships>
</file>

<file path=ppt/slides/_rels/slide46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04.jpeg" TargetMode="Internal"></Relationship><Relationship Id="rId3" Type="http://schemas.openxmlformats.org/officeDocument/2006/relationships/image" Target="../media/fImage1205.jpeg" TargetMode="Internal"></Relationship><Relationship Id="rId4" Type="http://schemas.openxmlformats.org/officeDocument/2006/relationships/image" Target="../media/fImage1206.jpeg" TargetMode="Internal"></Relationship></Relationships>
</file>

<file path=ppt/slides/_rels/slide46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07.jpeg" TargetMode="Internal"></Relationship></Relationships>
</file>

<file path=ppt/slides/_rels/slide46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08.jpeg" TargetMode="Internal"></Relationship><Relationship Id="rId3" Type="http://schemas.openxmlformats.org/officeDocument/2006/relationships/image" Target="../media/fImage1209.jpeg" TargetMode="Internal"></Relationship></Relationships>
</file>

<file path=ppt/slides/_rels/slide46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10.jpeg" TargetMode="Internal"></Relationship><Relationship Id="rId3" Type="http://schemas.openxmlformats.org/officeDocument/2006/relationships/image" Target="../media/fImage1211.jpeg" TargetMode="Internal"></Relationship><Relationship Id="rId4" Type="http://schemas.openxmlformats.org/officeDocument/2006/relationships/image" Target="../media/fImage1212.jpeg" TargetMode="Internal"></Relationship></Relationships>
</file>

<file path=ppt/slides/_rels/slide46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13.jpeg" TargetMode="Internal"></Relationship></Relationships>
</file>

<file path=ppt/slides/_rels/slide46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14.jpeg" TargetMode="Internal"></Relationship><Relationship Id="rId3" Type="http://schemas.openxmlformats.org/officeDocument/2006/relationships/image" Target="../media/fImage1215.jpeg" TargetMode="Internal"></Relationship></Relationships>
</file>

<file path=ppt/slides/_rels/slide46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16.jpeg" TargetMode="Internal"></Relationship></Relationships>
</file>

<file path=ppt/slides/_rels/slide46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17.jpeg" TargetMode="Internal"></Relationship></Relationships>
</file>

<file path=ppt/slides/_rels/slide46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18.jpeg" TargetMode="Internal"></Relationship><Relationship Id="rId3" Type="http://schemas.openxmlformats.org/officeDocument/2006/relationships/image" Target="../media/fImage1219.jpeg" TargetMode="Internal"></Relationship></Relationships>
</file>

<file path=ppt/slides/_rels/slide47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0.jpeg" TargetMode="Internal"></Relationship></Relationships>
</file>

<file path=ppt/slides/_rels/slide47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1.jpeg" TargetMode="Internal"></Relationship><Relationship Id="rId3" Type="http://schemas.openxmlformats.org/officeDocument/2006/relationships/image" Target="../media/fImage1222.jpeg" TargetMode="Internal"></Relationship></Relationships>
</file>

<file path=ppt/slides/_rels/slide47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3.jpeg" TargetMode="Internal"></Relationship></Relationships>
</file>

<file path=ppt/slides/_rels/slide47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4.jpeg" TargetMode="Internal"></Relationship><Relationship Id="rId3" Type="http://schemas.openxmlformats.org/officeDocument/2006/relationships/image" Target="../media/fImage1225.jpeg" TargetMode="Internal"></Relationship></Relationships>
</file>

<file path=ppt/slides/_rels/slide47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6.jpeg" TargetMode="Internal"></Relationship><Relationship Id="rId3" Type="http://schemas.openxmlformats.org/officeDocument/2006/relationships/image" Target="../media/fImage1227.jpeg" TargetMode="Internal"></Relationship></Relationships>
</file>

<file path=ppt/slides/_rels/slide47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8.jpeg" TargetMode="Internal"></Relationship></Relationships>
</file>

<file path=ppt/slides/_rels/slide47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29.jpeg" TargetMode="Internal"></Relationship></Relationships>
</file>

<file path=ppt/slides/_rels/slide47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0.jpeg" TargetMode="Internal"></Relationship><Relationship Id="rId3" Type="http://schemas.openxmlformats.org/officeDocument/2006/relationships/image" Target="../media/fImage1231.jpeg" TargetMode="Internal"></Relationship></Relationships>
</file>

<file path=ppt/slides/_rels/slide47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2.jpeg" TargetMode="Internal"></Relationship></Relationships>
</file>

<file path=ppt/slides/_rels/slide47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3.jpeg" TargetMode="Internal"></Relationship></Relationships>
</file>

<file path=ppt/slides/_rels/slide48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4.jpeg" TargetMode="Internal"></Relationship></Relationships>
</file>

<file path=ppt/slides/_rels/slide48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5.jpeg" TargetMode="Internal"></Relationship></Relationships>
</file>

<file path=ppt/slides/_rels/slide48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6.jpeg" TargetMode="Internal"></Relationship></Relationships>
</file>

<file path=ppt/slides/_rels/slide48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37.jpeg" TargetMode="Internal"></Relationship><Relationship Id="rId3" Type="http://schemas.openxmlformats.org/officeDocument/2006/relationships/image" Target="../media/fImage1238.jpeg" TargetMode="Internal"></Relationship><Relationship Id="rId4" Type="http://schemas.openxmlformats.org/officeDocument/2006/relationships/image" Target="../media/fImage1239.jpeg" TargetMode="Internal"></Relationship><Relationship Id="rId5" Type="http://schemas.openxmlformats.org/officeDocument/2006/relationships/image" Target="../media/fImage1240.jpeg" TargetMode="Internal"></Relationship></Relationships>
</file>

<file path=ppt/slides/_rels/slide48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41.jpeg" TargetMode="Internal"></Relationship></Relationships>
</file>

<file path=ppt/slides/_rels/slide48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42.jpeg" TargetMode="Internal"></Relationship><Relationship Id="rId3" Type="http://schemas.openxmlformats.org/officeDocument/2006/relationships/image" Target="../media/fImage1243.jpeg" TargetMode="Internal"></Relationship><Relationship Id="rId4" Type="http://schemas.openxmlformats.org/officeDocument/2006/relationships/image" Target="../media/fImage1244.jpeg" TargetMode="Internal"></Relationship></Relationships>
</file>

<file path=ppt/slides/_rels/slide48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45.jpeg" TargetMode="Internal"></Relationship></Relationships>
</file>

<file path=ppt/slides/_rels/slide48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46.jpeg" TargetMode="Internal"></Relationship></Relationships>
</file>

<file path=ppt/slides/_rels/slide48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47.jpeg" TargetMode="Internal"></Relationship><Relationship Id="rId3" Type="http://schemas.openxmlformats.org/officeDocument/2006/relationships/image" Target="../media/fImage1248.jpeg" TargetMode="Internal"></Relationship><Relationship Id="rId4" Type="http://schemas.openxmlformats.org/officeDocument/2006/relationships/image" Target="../media/fImage1249.jpeg" TargetMode="Internal"></Relationship><Relationship Id="rId5" Type="http://schemas.openxmlformats.org/officeDocument/2006/relationships/image" Target="../media/fImage1250.jpeg" TargetMode="Internal"></Relationship><Relationship Id="rId6" Type="http://schemas.openxmlformats.org/officeDocument/2006/relationships/image" Target="../media/fImage1251.jpeg" TargetMode="Internal"></Relationship><Relationship Id="rId7" Type="http://schemas.openxmlformats.org/officeDocument/2006/relationships/image" Target="../media/fImage1252.jpeg" TargetMode="Internal"></Relationship></Relationships>
</file>

<file path=ppt/slides/_rels/slide48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53.jpeg" TargetMode="Internal"></Relationship><Relationship Id="rId3" Type="http://schemas.openxmlformats.org/officeDocument/2006/relationships/image" Target="../media/fImage1254.jpeg" TargetMode="Internal"></Relationship></Relationships>
</file>

<file path=ppt/slides/_rels/slide49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55.jpeg" TargetMode="Internal"></Relationship></Relationships>
</file>

<file path=ppt/slides/_rels/slide49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56.jpeg" TargetMode="Internal"></Relationship></Relationships>
</file>

<file path=ppt/slides/_rels/slide49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57.jpeg" TargetMode="Internal"></Relationship><Relationship Id="rId3" Type="http://schemas.openxmlformats.org/officeDocument/2006/relationships/image" Target="../media/fImage1258.jpeg" TargetMode="Internal"></Relationship><Relationship Id="rId4" Type="http://schemas.openxmlformats.org/officeDocument/2006/relationships/image" Target="../media/fImage1259.jpeg" TargetMode="Internal"></Relationship><Relationship Id="rId5" Type="http://schemas.openxmlformats.org/officeDocument/2006/relationships/image" Target="../media/fImage1260.jpeg" TargetMode="Internal"></Relationship><Relationship Id="rId6" Type="http://schemas.openxmlformats.org/officeDocument/2006/relationships/image" Target="../media/fImage1261.jpeg" TargetMode="Internal"></Relationship></Relationships>
</file>

<file path=ppt/slides/_rels/slide49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62.jpeg" TargetMode="Internal"></Relationship></Relationships>
</file>

<file path=ppt/slides/_rels/slide49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63.jpeg" TargetMode="Internal"></Relationship><Relationship Id="rId3" Type="http://schemas.openxmlformats.org/officeDocument/2006/relationships/image" Target="../media/fImage1264.jpeg" TargetMode="Internal"></Relationship><Relationship Id="rId4" Type="http://schemas.openxmlformats.org/officeDocument/2006/relationships/image" Target="../media/fImage1265.jpeg" TargetMode="Internal"></Relationship><Relationship Id="rId5" Type="http://schemas.openxmlformats.org/officeDocument/2006/relationships/image" Target="../media/fImage1266.jpeg" TargetMode="Internal"></Relationship></Relationships>
</file>

<file path=ppt/slides/_rels/slide49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67.jpeg" TargetMode="Internal"></Relationship><Relationship Id="rId3" Type="http://schemas.openxmlformats.org/officeDocument/2006/relationships/image" Target="../media/fImage1268.jpeg" TargetMode="Internal"></Relationship><Relationship Id="rId4" Type="http://schemas.openxmlformats.org/officeDocument/2006/relationships/image" Target="../media/fImage1269.jpeg" TargetMode="Internal"></Relationship></Relationships>
</file>

<file path=ppt/slides/_rels/slide49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70.jpeg" TargetMode="Internal"></Relationship><Relationship Id="rId3" Type="http://schemas.openxmlformats.org/officeDocument/2006/relationships/image" Target="../media/fImage1271.jpeg" TargetMode="Internal"></Relationship><Relationship Id="rId4" Type="http://schemas.openxmlformats.org/officeDocument/2006/relationships/image" Target="../media/fImage1272.jpeg" TargetMode="Internal"></Relationship><Relationship Id="rId5" Type="http://schemas.openxmlformats.org/officeDocument/2006/relationships/image" Target="../media/fImage1273.jpeg" TargetMode="Internal"></Relationship></Relationships>
</file>

<file path=ppt/slides/_rels/slide49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74.jpeg" TargetMode="Internal"></Relationship><Relationship Id="rId3" Type="http://schemas.openxmlformats.org/officeDocument/2006/relationships/image" Target="../media/fImage1275.jpeg" TargetMode="Internal"></Relationship><Relationship Id="rId4" Type="http://schemas.openxmlformats.org/officeDocument/2006/relationships/image" Target="../media/fImage1276.jpeg" TargetMode="Internal"></Relationship><Relationship Id="rId5" Type="http://schemas.openxmlformats.org/officeDocument/2006/relationships/image" Target="../media/fImage1277.jpeg" TargetMode="Internal"></Relationship><Relationship Id="rId6" Type="http://schemas.openxmlformats.org/officeDocument/2006/relationships/image" Target="../media/fImage1278.jpeg" TargetMode="Internal"></Relationship><Relationship Id="rId7" Type="http://schemas.openxmlformats.org/officeDocument/2006/relationships/image" Target="../media/fImage1279.jpeg" TargetMode="Internal"></Relationship><Relationship Id="rId8" Type="http://schemas.openxmlformats.org/officeDocument/2006/relationships/image" Target="../media/fImage1280.jpeg" TargetMode="Internal"></Relationship><Relationship Id="rId9" Type="http://schemas.openxmlformats.org/officeDocument/2006/relationships/image" Target="../media/fImage1281.jpeg" TargetMode="Internal"></Relationship></Relationships>
</file>

<file path=ppt/slides/_rels/slide49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82.jpeg" TargetMode="Internal"></Relationship><Relationship Id="rId3" Type="http://schemas.openxmlformats.org/officeDocument/2006/relationships/image" Target="../media/fImage1283.jpeg" TargetMode="Internal"></Relationship></Relationships>
</file>

<file path=ppt/slides/_rels/slide49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84.jpeg" TargetMode="Internal"></Relationship><Relationship Id="rId3" Type="http://schemas.openxmlformats.org/officeDocument/2006/relationships/image" Target="../media/fImage1285.jpeg" TargetMode="Internal"></Relationship><Relationship Id="rId4" Type="http://schemas.openxmlformats.org/officeDocument/2006/relationships/image" Target="../media/fImage1286.jpeg" TargetMode="Internal"></Relationship><Relationship Id="rId5" Type="http://schemas.openxmlformats.org/officeDocument/2006/relationships/image" Target="../media/fImage1287.jpeg" TargetMode="Internal"></Relationship><Relationship Id="rId6" Type="http://schemas.openxmlformats.org/officeDocument/2006/relationships/image" Target="../media/fImage1288.jpeg" TargetMode="Internal"></Relationship><Relationship Id="rId7" Type="http://schemas.openxmlformats.org/officeDocument/2006/relationships/image" Target="../media/fImage1289.jpeg" TargetMode="Internal"></Relationship><Relationship Id="rId8" Type="http://schemas.openxmlformats.org/officeDocument/2006/relationships/image" Target="../media/fImage1290.jpeg" TargetMode="Internal"></Relationship></Relationships>
</file>

<file path=ppt/slides/_rels/slide50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291.jpeg" TargetMode="Internal"></Relationship><Relationship Id="rId3" Type="http://schemas.openxmlformats.org/officeDocument/2006/relationships/image" Target="../media/fImage1292.jpeg" TargetMode="Internal"></Relationship><Relationship Id="rId4" Type="http://schemas.openxmlformats.org/officeDocument/2006/relationships/image" Target="../media/fImage1293.jpeg" TargetMode="Internal"></Relationship><Relationship Id="rId5" Type="http://schemas.openxmlformats.org/officeDocument/2006/relationships/image" Target="../media/fImage1294.jpeg" TargetMode="Internal"></Relationship><Relationship Id="rId6" Type="http://schemas.openxmlformats.org/officeDocument/2006/relationships/image" Target="../media/fImage1295.jpeg" TargetMode="Internal"></Relationship><Relationship Id="rId7" Type="http://schemas.openxmlformats.org/officeDocument/2006/relationships/image" Target="../media/fImage1296.jpeg" TargetMode="Internal"></Relationship><Relationship Id="rId8" Type="http://schemas.openxmlformats.org/officeDocument/2006/relationships/image" Target="../media/fImage1297.jpeg" TargetMode="Internal"></Relationship><Relationship Id="rId9" Type="http://schemas.openxmlformats.org/officeDocument/2006/relationships/image" Target="../media/fImage1298.jpeg" TargetMode="Internal"></Relationship><Relationship Id="rId10" Type="http://schemas.openxmlformats.org/officeDocument/2006/relationships/image" Target="../media/fImage1299.jpeg" TargetMode="Internal"></Relationship><Relationship Id="rId11" Type="http://schemas.openxmlformats.org/officeDocument/2006/relationships/image" Target="../media/fImage1300.jpeg" TargetMode="Internal"></Relationship></Relationships>
</file>

<file path=ppt/slides/_rels/slide50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01.jpeg" TargetMode="Internal"></Relationship><Relationship Id="rId3" Type="http://schemas.openxmlformats.org/officeDocument/2006/relationships/image" Target="../media/fImage1302.jpeg" TargetMode="Internal"></Relationship><Relationship Id="rId4" Type="http://schemas.openxmlformats.org/officeDocument/2006/relationships/image" Target="../media/fImage1303.jpeg" TargetMode="Internal"></Relationship><Relationship Id="rId5" Type="http://schemas.openxmlformats.org/officeDocument/2006/relationships/image" Target="../media/fImage1304.jpeg" TargetMode="Internal"></Relationship></Relationships>
</file>

<file path=ppt/slides/_rels/slide50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05.jpeg" TargetMode="Internal"></Relationship><Relationship Id="rId3" Type="http://schemas.openxmlformats.org/officeDocument/2006/relationships/image" Target="../media/fImage1306.jpeg" TargetMode="Internal"></Relationship><Relationship Id="rId4" Type="http://schemas.openxmlformats.org/officeDocument/2006/relationships/image" Target="../media/fImage1307.jpeg" TargetMode="Internal"></Relationship><Relationship Id="rId5" Type="http://schemas.openxmlformats.org/officeDocument/2006/relationships/image" Target="../media/fImage1308.jpeg" TargetMode="Internal"></Relationship><Relationship Id="rId6" Type="http://schemas.openxmlformats.org/officeDocument/2006/relationships/image" Target="../media/fImage1309.jpeg" TargetMode="Internal"></Relationship><Relationship Id="rId7" Type="http://schemas.openxmlformats.org/officeDocument/2006/relationships/image" Target="../media/fImage1310.jpeg" TargetMode="Internal"></Relationship><Relationship Id="rId8" Type="http://schemas.openxmlformats.org/officeDocument/2006/relationships/image" Target="../media/fImage1311.jpeg" TargetMode="Internal"></Relationship><Relationship Id="rId9" Type="http://schemas.openxmlformats.org/officeDocument/2006/relationships/image" Target="../media/fImage1312.jpeg" TargetMode="Internal"></Relationship><Relationship Id="rId10" Type="http://schemas.openxmlformats.org/officeDocument/2006/relationships/image" Target="../media/fImage1313.jpeg" TargetMode="Internal"></Relationship></Relationships>
</file>

<file path=ppt/slides/_rels/slide50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14.jpeg" TargetMode="Internal"></Relationship><Relationship Id="rId3" Type="http://schemas.openxmlformats.org/officeDocument/2006/relationships/image" Target="../media/fImage1315.jpeg" TargetMode="Internal"></Relationship><Relationship Id="rId4" Type="http://schemas.openxmlformats.org/officeDocument/2006/relationships/image" Target="../media/fImage1316.jpeg" TargetMode="Internal"></Relationship><Relationship Id="rId5" Type="http://schemas.openxmlformats.org/officeDocument/2006/relationships/image" Target="../media/fImage1317.jpeg" TargetMode="Internal"></Relationship><Relationship Id="rId6" Type="http://schemas.openxmlformats.org/officeDocument/2006/relationships/image" Target="../media/fImage1318.jpeg" TargetMode="Internal"></Relationship><Relationship Id="rId7" Type="http://schemas.openxmlformats.org/officeDocument/2006/relationships/image" Target="../media/fImage1319.jpeg" TargetMode="Internal"></Relationship><Relationship Id="rId8" Type="http://schemas.openxmlformats.org/officeDocument/2006/relationships/image" Target="../media/fImage1320.jpeg" TargetMode="Internal"></Relationship><Relationship Id="rId9" Type="http://schemas.openxmlformats.org/officeDocument/2006/relationships/image" Target="../media/fImage1321.jpeg" TargetMode="Internal"></Relationship><Relationship Id="rId10" Type="http://schemas.openxmlformats.org/officeDocument/2006/relationships/image" Target="../media/fImage1322.jpeg" TargetMode="Internal"></Relationship></Relationships>
</file>

<file path=ppt/slides/_rels/slide50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23.jpeg" TargetMode="Internal"></Relationship><Relationship Id="rId3" Type="http://schemas.openxmlformats.org/officeDocument/2006/relationships/image" Target="../media/fImage1324.jpeg" TargetMode="Internal"></Relationship><Relationship Id="rId4" Type="http://schemas.openxmlformats.org/officeDocument/2006/relationships/image" Target="../media/fImage1325.jpeg" TargetMode="Internal"></Relationship><Relationship Id="rId5" Type="http://schemas.openxmlformats.org/officeDocument/2006/relationships/image" Target="../media/fImage1326.jpeg" TargetMode="Internal"></Relationship><Relationship Id="rId6" Type="http://schemas.openxmlformats.org/officeDocument/2006/relationships/image" Target="../media/fImage1327.jpeg" TargetMode="Internal"></Relationship><Relationship Id="rId7" Type="http://schemas.openxmlformats.org/officeDocument/2006/relationships/image" Target="../media/fImage1328.jpeg" TargetMode="Internal"></Relationship><Relationship Id="rId8" Type="http://schemas.openxmlformats.org/officeDocument/2006/relationships/image" Target="../media/fImage1329.jpeg" TargetMode="Internal"></Relationship><Relationship Id="rId9" Type="http://schemas.openxmlformats.org/officeDocument/2006/relationships/image" Target="../media/fImage1330.jpeg" TargetMode="Internal"></Relationship><Relationship Id="rId10" Type="http://schemas.openxmlformats.org/officeDocument/2006/relationships/image" Target="../media/fImage1331.jpeg" TargetMode="Internal"></Relationship><Relationship Id="rId11" Type="http://schemas.openxmlformats.org/officeDocument/2006/relationships/image" Target="../media/fImage1332.jpeg" TargetMode="Internal"></Relationship><Relationship Id="rId12" Type="http://schemas.openxmlformats.org/officeDocument/2006/relationships/image" Target="../media/fImage1333.jpeg" TargetMode="Internal"></Relationship></Relationships>
</file>

<file path=ppt/slides/_rels/slide50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34.jpeg" TargetMode="Internal"></Relationship><Relationship Id="rId3" Type="http://schemas.openxmlformats.org/officeDocument/2006/relationships/image" Target="../media/fImage1335.jpeg" TargetMode="Internal"></Relationship><Relationship Id="rId4" Type="http://schemas.openxmlformats.org/officeDocument/2006/relationships/image" Target="../media/fImage1336.jpeg" TargetMode="Internal"></Relationship><Relationship Id="rId5" Type="http://schemas.openxmlformats.org/officeDocument/2006/relationships/image" Target="../media/fImage1337.jpeg" TargetMode="Internal"></Relationship><Relationship Id="rId6" Type="http://schemas.openxmlformats.org/officeDocument/2006/relationships/image" Target="../media/fImage1338.jpeg" TargetMode="Internal"></Relationship></Relationships>
</file>

<file path=ppt/slides/_rels/slide50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39.jpeg" TargetMode="Internal"></Relationship><Relationship Id="rId3" Type="http://schemas.openxmlformats.org/officeDocument/2006/relationships/image" Target="../media/fImage1340.jpeg" TargetMode="Internal"></Relationship><Relationship Id="rId4" Type="http://schemas.openxmlformats.org/officeDocument/2006/relationships/image" Target="../media/fImage1341.jpeg" TargetMode="Internal"></Relationship><Relationship Id="rId5" Type="http://schemas.openxmlformats.org/officeDocument/2006/relationships/image" Target="../media/fImage1342.jpeg" TargetMode="Internal"></Relationship></Relationships>
</file>

<file path=ppt/slides/_rels/slide50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43.jpeg" TargetMode="Internal"></Relationship><Relationship Id="rId3" Type="http://schemas.openxmlformats.org/officeDocument/2006/relationships/image" Target="../media/fImage1344.jpeg" TargetMode="Internal"></Relationship><Relationship Id="rId4" Type="http://schemas.openxmlformats.org/officeDocument/2006/relationships/image" Target="../media/fImage1345.jpeg" TargetMode="Internal"></Relationship><Relationship Id="rId5" Type="http://schemas.openxmlformats.org/officeDocument/2006/relationships/image" Target="../media/fImage1346.jpeg" TargetMode="Internal"></Relationship><Relationship Id="rId6" Type="http://schemas.openxmlformats.org/officeDocument/2006/relationships/image" Target="../media/fImage1347.jpeg" TargetMode="Internal"></Relationship><Relationship Id="rId7" Type="http://schemas.openxmlformats.org/officeDocument/2006/relationships/image" Target="../media/fImage1348.jpeg" TargetMode="Internal"></Relationship><Relationship Id="rId8" Type="http://schemas.openxmlformats.org/officeDocument/2006/relationships/image" Target="../media/fImage1349.jpeg" TargetMode="Internal"></Relationship><Relationship Id="rId9" Type="http://schemas.openxmlformats.org/officeDocument/2006/relationships/image" Target="../media/fImage1350.jpeg" TargetMode="Internal"></Relationship><Relationship Id="rId10" Type="http://schemas.openxmlformats.org/officeDocument/2006/relationships/image" Target="../media/fImage1351.jpeg" TargetMode="Internal"></Relationship><Relationship Id="rId11" Type="http://schemas.openxmlformats.org/officeDocument/2006/relationships/image" Target="../media/fImage1352.jpeg" TargetMode="Internal"></Relationship></Relationships>
</file>

<file path=ppt/slides/_rels/slide50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53.jpeg" TargetMode="Internal"></Relationship><Relationship Id="rId3" Type="http://schemas.openxmlformats.org/officeDocument/2006/relationships/image" Target="../media/fImage1354.jpeg" TargetMode="Internal"></Relationship><Relationship Id="rId4" Type="http://schemas.openxmlformats.org/officeDocument/2006/relationships/image" Target="../media/fImage1355.jpeg" TargetMode="Internal"></Relationship><Relationship Id="rId5" Type="http://schemas.openxmlformats.org/officeDocument/2006/relationships/image" Target="../media/fImage1356.jpeg" TargetMode="Internal"></Relationship><Relationship Id="rId6" Type="http://schemas.openxmlformats.org/officeDocument/2006/relationships/image" Target="../media/fImage1357.jpeg" TargetMode="Internal"></Relationship><Relationship Id="rId7" Type="http://schemas.openxmlformats.org/officeDocument/2006/relationships/image" Target="../media/fImage1358.jpeg" TargetMode="Internal"></Relationship><Relationship Id="rId8" Type="http://schemas.openxmlformats.org/officeDocument/2006/relationships/image" Target="../media/fImage1359.jpeg" TargetMode="Internal"></Relationship><Relationship Id="rId9" Type="http://schemas.openxmlformats.org/officeDocument/2006/relationships/image" Target="../media/fImage1360.jpeg" TargetMode="Internal"></Relationship><Relationship Id="rId10" Type="http://schemas.openxmlformats.org/officeDocument/2006/relationships/image" Target="../media/fImage1361.jpeg" TargetMode="Internal"></Relationship><Relationship Id="rId11" Type="http://schemas.openxmlformats.org/officeDocument/2006/relationships/image" Target="../media/fImage1362.jpeg" TargetMode="Internal"></Relationship></Relationships>
</file>

<file path=ppt/slides/_rels/slide50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63.jpeg" TargetMode="Internal"></Relationship><Relationship Id="rId3" Type="http://schemas.openxmlformats.org/officeDocument/2006/relationships/image" Target="../media/fImage1364.jpeg" TargetMode="Internal"></Relationship><Relationship Id="rId4" Type="http://schemas.openxmlformats.org/officeDocument/2006/relationships/image" Target="../media/fImage1365.jpeg" TargetMode="Internal"></Relationship><Relationship Id="rId5" Type="http://schemas.openxmlformats.org/officeDocument/2006/relationships/image" Target="../media/fImage1366.jpeg" TargetMode="Internal"></Relationship><Relationship Id="rId6" Type="http://schemas.openxmlformats.org/officeDocument/2006/relationships/image" Target="../media/fImage1367.jpeg" TargetMode="Internal"></Relationship><Relationship Id="rId7" Type="http://schemas.openxmlformats.org/officeDocument/2006/relationships/image" Target="../media/fImage1368.jpeg" TargetMode="Internal"></Relationship><Relationship Id="rId8" Type="http://schemas.openxmlformats.org/officeDocument/2006/relationships/image" Target="../media/fImage1369.jpeg" TargetMode="Internal"></Relationship><Relationship Id="rId9" Type="http://schemas.openxmlformats.org/officeDocument/2006/relationships/image" Target="../media/fImage1370.jpeg" TargetMode="Internal"></Relationship><Relationship Id="rId10" Type="http://schemas.openxmlformats.org/officeDocument/2006/relationships/image" Target="../media/fImage1371.jpeg" TargetMode="Internal"></Relationship><Relationship Id="rId11" Type="http://schemas.openxmlformats.org/officeDocument/2006/relationships/image" Target="../media/fImage1372.jpeg" TargetMode="Internal"></Relationship><Relationship Id="rId12" Type="http://schemas.openxmlformats.org/officeDocument/2006/relationships/image" Target="../media/fImage1373.jpeg" TargetMode="Internal"></Relationship><Relationship Id="rId13" Type="http://schemas.openxmlformats.org/officeDocument/2006/relationships/image" Target="../media/fImage1374.jpeg" TargetMode="Internal"></Relationship><Relationship Id="rId14" Type="http://schemas.openxmlformats.org/officeDocument/2006/relationships/image" Target="../media/fImage1375.jpeg" TargetMode="Internal"></Relationship></Relationships>
</file>

<file path=ppt/slides/_rels/slide51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76.jpeg" TargetMode="Internal"></Relationship><Relationship Id="rId3" Type="http://schemas.openxmlformats.org/officeDocument/2006/relationships/image" Target="../media/fImage1377.jpeg" TargetMode="Internal"></Relationship><Relationship Id="rId4" Type="http://schemas.openxmlformats.org/officeDocument/2006/relationships/image" Target="../media/fImage1378.jpeg" TargetMode="Internal"></Relationship><Relationship Id="rId5" Type="http://schemas.openxmlformats.org/officeDocument/2006/relationships/image" Target="../media/fImage1379.jpeg" TargetMode="Internal"></Relationship><Relationship Id="rId6" Type="http://schemas.openxmlformats.org/officeDocument/2006/relationships/image" Target="../media/fImage1380.jpeg" TargetMode="Internal"></Relationship><Relationship Id="rId7" Type="http://schemas.openxmlformats.org/officeDocument/2006/relationships/image" Target="../media/fImage1381.jpeg" TargetMode="Internal"></Relationship><Relationship Id="rId8" Type="http://schemas.openxmlformats.org/officeDocument/2006/relationships/image" Target="../media/fImage1382.jpeg" TargetMode="Internal"></Relationship><Relationship Id="rId9" Type="http://schemas.openxmlformats.org/officeDocument/2006/relationships/image" Target="../media/fImage1383.jpeg" TargetMode="Internal"></Relationship><Relationship Id="rId10" Type="http://schemas.openxmlformats.org/officeDocument/2006/relationships/image" Target="../media/fImage1384.jpeg" TargetMode="Internal"></Relationship><Relationship Id="rId11" Type="http://schemas.openxmlformats.org/officeDocument/2006/relationships/image" Target="../media/fImage1385.jpeg" TargetMode="Internal"></Relationship><Relationship Id="rId12" Type="http://schemas.openxmlformats.org/officeDocument/2006/relationships/image" Target="../media/fImage1386.jpeg" TargetMode="Internal"></Relationship><Relationship Id="rId13" Type="http://schemas.openxmlformats.org/officeDocument/2006/relationships/image" Target="../media/fImage1387.jpeg" TargetMode="Internal"></Relationship><Relationship Id="rId14" Type="http://schemas.openxmlformats.org/officeDocument/2006/relationships/image" Target="../media/fImage1388.jpeg" TargetMode="Internal"></Relationship><Relationship Id="rId15" Type="http://schemas.openxmlformats.org/officeDocument/2006/relationships/image" Target="../media/fImage1389.jpeg" TargetMode="Internal"></Relationship><Relationship Id="rId16" Type="http://schemas.openxmlformats.org/officeDocument/2006/relationships/image" Target="../media/fImage1390.jpeg" TargetMode="Internal"></Relationship></Relationships>
</file>

<file path=ppt/slides/_rels/slide51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391.jpeg" TargetMode="Internal"></Relationship><Relationship Id="rId3" Type="http://schemas.openxmlformats.org/officeDocument/2006/relationships/image" Target="../media/fImage1392.jpeg" TargetMode="Internal"></Relationship><Relationship Id="rId4" Type="http://schemas.openxmlformats.org/officeDocument/2006/relationships/image" Target="../media/fImage1393.jpeg" TargetMode="Internal"></Relationship><Relationship Id="rId5" Type="http://schemas.openxmlformats.org/officeDocument/2006/relationships/image" Target="../media/fImage1394.jpeg" TargetMode="Internal"></Relationship><Relationship Id="rId6" Type="http://schemas.openxmlformats.org/officeDocument/2006/relationships/image" Target="../media/fImage1395.jpeg" TargetMode="Internal"></Relationship><Relationship Id="rId7" Type="http://schemas.openxmlformats.org/officeDocument/2006/relationships/image" Target="../media/fImage1396.jpeg" TargetMode="Internal"></Relationship><Relationship Id="rId8" Type="http://schemas.openxmlformats.org/officeDocument/2006/relationships/image" Target="../media/fImage1397.jpeg" TargetMode="Internal"></Relationship><Relationship Id="rId9" Type="http://schemas.openxmlformats.org/officeDocument/2006/relationships/image" Target="../media/fImage1398.jpeg" TargetMode="Internal"></Relationship><Relationship Id="rId10" Type="http://schemas.openxmlformats.org/officeDocument/2006/relationships/image" Target="../media/fImage1399.jpeg" TargetMode="Internal"></Relationship><Relationship Id="rId11" Type="http://schemas.openxmlformats.org/officeDocument/2006/relationships/image" Target="../media/fImage1400.jpeg" TargetMode="Internal"></Relationship><Relationship Id="rId12" Type="http://schemas.openxmlformats.org/officeDocument/2006/relationships/image" Target="../media/fImage1401.jpeg" TargetMode="Internal"></Relationship><Relationship Id="rId13" Type="http://schemas.openxmlformats.org/officeDocument/2006/relationships/image" Target="../media/fImage1402.jpeg" TargetMode="Internal"></Relationship><Relationship Id="rId14" Type="http://schemas.openxmlformats.org/officeDocument/2006/relationships/image" Target="../media/fImage1403.jpeg" TargetMode="Internal"></Relationship><Relationship Id="rId15" Type="http://schemas.openxmlformats.org/officeDocument/2006/relationships/image" Target="../media/fImage1404.jpeg" TargetMode="Internal"></Relationship><Relationship Id="rId16" Type="http://schemas.openxmlformats.org/officeDocument/2006/relationships/image" Target="../media/fImage1405.jpeg" TargetMode="Internal"></Relationship><Relationship Id="rId17" Type="http://schemas.openxmlformats.org/officeDocument/2006/relationships/image" Target="../media/fImage1406.jpeg" TargetMode="Internal"></Relationship></Relationships>
</file>

<file path=ppt/slides/_rels/slide51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07.jpeg" TargetMode="Internal"></Relationship><Relationship Id="rId3" Type="http://schemas.openxmlformats.org/officeDocument/2006/relationships/image" Target="../media/fImage1408.jpeg" TargetMode="Internal"></Relationship><Relationship Id="rId4" Type="http://schemas.openxmlformats.org/officeDocument/2006/relationships/image" Target="../media/fImage1409.jpeg" TargetMode="Internal"></Relationship><Relationship Id="rId5" Type="http://schemas.openxmlformats.org/officeDocument/2006/relationships/image" Target="../media/fImage1410.jpeg" TargetMode="Internal"></Relationship></Relationships>
</file>

<file path=ppt/slides/_rels/slide513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11.jpeg" TargetMode="Internal"></Relationship><Relationship Id="rId3" Type="http://schemas.openxmlformats.org/officeDocument/2006/relationships/image" Target="../media/fImage1412.jpeg" TargetMode="Internal"></Relationship><Relationship Id="rId4" Type="http://schemas.openxmlformats.org/officeDocument/2006/relationships/image" Target="../media/fImage1413.jpeg" TargetMode="Internal"></Relationship><Relationship Id="rId5" Type="http://schemas.openxmlformats.org/officeDocument/2006/relationships/image" Target="../media/fImage1414.jpeg" TargetMode="Internal"></Relationship></Relationships>
</file>

<file path=ppt/slides/_rels/slide514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15.jpeg" TargetMode="Internal"></Relationship><Relationship Id="rId3" Type="http://schemas.openxmlformats.org/officeDocument/2006/relationships/image" Target="../media/fImage1416.jpeg" TargetMode="Internal"></Relationship><Relationship Id="rId4" Type="http://schemas.openxmlformats.org/officeDocument/2006/relationships/image" Target="../media/fImage1417.jpeg" TargetMode="Internal"></Relationship><Relationship Id="rId5" Type="http://schemas.openxmlformats.org/officeDocument/2006/relationships/image" Target="../media/fImage1418.jpeg" TargetMode="Internal"></Relationship></Relationships>
</file>

<file path=ppt/slides/_rels/slide515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19.jpeg" TargetMode="Internal"></Relationship></Relationships>
</file>

<file path=ppt/slides/_rels/slide516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20.jpeg" TargetMode="Internal"></Relationship></Relationships>
</file>

<file path=ppt/slides/_rels/slide517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21.jpeg" TargetMode="Internal"></Relationship><Relationship Id="rId3" Type="http://schemas.openxmlformats.org/officeDocument/2006/relationships/image" Target="../media/fImage1422.jpeg" TargetMode="Internal"></Relationship></Relationships>
</file>

<file path=ppt/slides/_rels/slide518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23.jpeg" TargetMode="Internal"></Relationship><Relationship Id="rId3" Type="http://schemas.openxmlformats.org/officeDocument/2006/relationships/image" Target="../media/fImage1424.jpeg" TargetMode="Internal"></Relationship></Relationships>
</file>

<file path=ppt/slides/_rels/slide519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25.jpeg" TargetMode="Internal"></Relationship></Relationships>
</file>

<file path=ppt/slides/_rels/slide520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26.jpeg" TargetMode="Internal"></Relationship></Relationships>
</file>

<file path=ppt/slides/_rels/slide521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27.jpeg" TargetMode="Internal"></Relationship><Relationship Id="rId3" Type="http://schemas.openxmlformats.org/officeDocument/2006/relationships/image" Target="../media/fImage1428.jpeg" TargetMode="Internal"></Relationship><Relationship Id="rId4" Type="http://schemas.openxmlformats.org/officeDocument/2006/relationships/image" Target="../media/fImage1429.jpeg" TargetMode="Internal"></Relationship><Relationship Id="rId5" Type="http://schemas.openxmlformats.org/officeDocument/2006/relationships/image" Target="../media/fImage1430.jpeg" TargetMode="Internal"></Relationship></Relationships>
</file>

<file path=ppt/slides/_rels/slide522.xml.rels><?xml version="1.0" encoding="UTF-8"?>
<Relationships xmlns="http://schemas.openxmlformats.org/package/2006/relationships"><Relationship Id="rId1" Type="http://schemas.openxmlformats.org/officeDocument/2006/relationships/slideLayout" Target="../slideLayouts/slideLayout7.xml" TargetMode="Internal"></Relationship><Relationship Id="rId2" Type="http://schemas.openxmlformats.org/officeDocument/2006/relationships/image" Target="../media/fImage1431.jpeg" TargetMode="Internal"></Relationship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2286" b="1">
                <a:solidFill>
                  <a:srgbClr val="000000"/>
                </a:solidFill>
                <a:latin typeface="Arial"/>
              </a:rPr>
              <a:t>Data Structure </a:t>
            </a:r>
            <a:endParaRPr lang="ko-KR" altLang="en-US" dirty="0" smtClean="0" sz="2286" b="1"/>
          </a:p>
          <a:p>
            <a:pPr marL="0" indent="0" defTabSz="15240" algn="l">
              <a:lnSpc>
                <a:spcPts val="4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Structures............................................................................................................1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01 ............................................................................................................3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02 ..........................................................................................................12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03 ..........................................................................................................21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04 ..........................................................................................................33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05 ..........................................................................................................47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06 ..........................................................................................................57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07 ..........................................................................................................64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08 ..........................................................................................................72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09 ..........................................................................................................84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10 ..........................................................................................................97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11 ........................................................................................................110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12 ........................................................................................................128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13 ........................................................................................................141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14 ........................................................................................................149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15 ........................................................................................................164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16 ........................................................................................................177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17 ........................................................................................................196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18 ........................................................................................................210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19 ........................................................................................................218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20 ........................................................................................................227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21 ........................................................................................................238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22 ........................................................................................................247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23 ........................................................................................................264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24 ........................................................................................................280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25 ........................................................................................................291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26 ........................................................................................................306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27 ........................................................................................................318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28 ........................................................................................................332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29 ........................................................................................................344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30 ........................................................................................................359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31 ........................................................................................................371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32 ........................................................................................................381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33 ........................................................................................................390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34 ........................................................................................................398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35 ........................................................................................................405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36 ........................................................................................................418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37 ........................................................................................................430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38 ........................................................................................................438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39 ........................................................................................................444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40 ........................................................................................................454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41 ........................................................................................................462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42 ........................................................................................................473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43 ........................................................................................................482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44 ........................................................................................................488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No. 45 ........................................................................................................499 </a:t>
            </a:r>
            <a:endParaRPr lang="ko-KR" altLang="en-US" dirty="0" smtClean="0" sz="1056"/>
          </a:p>
          <a:p>
            <a:pPr marL="0" indent="0" defTabSz="15240" algn="l">
              <a:lnSpc>
                <a:spcPts val="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01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3.1, 3.2, 3.2.1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Introduction to Data Structures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Selecting a Data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 Philosophy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Goals of this Course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data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Welcome to the course of data structure. This is very important subject as the topics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covered in it will be encountered by you again and again in the future courses. Due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great applicability, this is usually called as the foundation course. You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already studied Introduction to programming using C and C++ and used some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structures. The focus of that course was on how to carry out programming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C and C++ languages besides the resolution of different problems.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course, we will continue problem solving and see that the organization of data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cases is of immense importance. Therefore, the data will be stored in a special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way so that the required result should be calculated as fast as possible.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are the goals of this course: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Prepare the students for (and is a pre-requisite for) the more advanced material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students will encounter in later courses.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Cover well-known data structures such as dynamic arrays, linked lists, stacks,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queues, trees and graphs.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Implement data structures in C++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already studied the dynamic arrays in the previous course. We will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linked lists, stacks, queues, trees and graphs and try to resolve the problems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these data structures. These structures will be implemented in C++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language. We will also do programming assignments to see the usage and importance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these structures.   </a:t>
            </a:r>
            <a:endParaRPr lang="ko-KR" altLang="en-US" dirty="0" smtClean="0" sz="1056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about Data Structure subject is available at: “http://www.vu.edu.pk/ds”.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Introduction to Data Structures </a:t>
            </a:r>
            <a:endParaRPr lang="ko-KR" altLang="en-US" dirty="0" smtClean="0" sz="1230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why we need data structures and what sort of problems can be solved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their use. Data structures help us to organize the data in the computer, resulting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more efficient programs. An efficient program executes faster and helps minimize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usage of resources like memory, disk. Computers are getting more powerful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passage of time with the increase in CPU speed in GHz, availability of faster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network and the maximization of disk space. Therefore people have started solving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and more complex problems. As computer applications are becoming complex,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there is need for more resources. This does not mean that we should buy a new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to make the application execute faster. Our effort should be to ensue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solution is achieved with the help of programming, data structures and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does organizing the data mean? It means that the data should be arranged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way that it is easily accessible. The data is inside the computer and we want to see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may also perform some calculations on it. Suppose the data contains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and the programmer wants to calculate the average, standard deviation etc.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we have a list of names and want to search a particular name in it. To solve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such problems, data structures and algorithm are used. Sometimes you may realize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application is too slow and taking more time. There are chances that it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the data structure used, not due to the CPU speed and memory.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such examples. In the assignments, you will also check whether the data structure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program is beneficial or not. You may have two data structures and try to decide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one is more suitable for the resolution of the problem.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discussed earlier, a solution is said to be efficient if it solves the problem within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resource constraints. What does it mean? In the computer, we have hard disk,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other hardware. Secondly we have time. Suppose you have some program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solves the problem but takes two months. It will be of no use. Usually, you don’t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much time and cannot wait for two months. Suppose the data is too huge to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disk. Here we have also the problem of resources. This means that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write programs considering the resources to achieve some solution as soon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possible. There is always cost associated with these resources. We may need a faster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better CPU which can be purchased. Sometimes, we may need to buy memory.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long as data structures and programs are concerned, you have to invest your 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for this. While working in a company, you will be paid for this. All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requirements including computer, your time and computer time will decide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solution you have provided is suitable or not. If its advantages are not obtained,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either program or computer is not good.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 purchase of a faster computer, while studying this course, does not necessarily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us in the resolution of the problem. In the course of “Computer Architecture”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will see how the more efficient solutions can be prepared with the hardware.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course, we will use the software i.e. data structures, algorithms and the recipes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through which the computer problems may be resolved with a faster solution.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Selecting a Data Structure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can we select the data structure needed to solve a problem? You have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studied where to use array and the size of array and when and where to use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etc. First of all, we have to analyze the problem to determine the resource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constraints that a solution must meet. Suppose, the data is so huge i.e. in Gega bytes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(GBs) while the disc space available with us is just 200 Mega bytes. This problem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solved with programming. Rather, we will have to buy a new disk.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Secondly, it is necessary to determine the basic operations that must be supported.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Quantify the resource constraints for each operation. What does it mean? Suppose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insert the data in the computer or database and have to search some data item.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take the example of telephone directory. Suppose there are eight million names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directory. Now someone asks you about the name of some particular person.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want that this query should be answered as soon as possible. You may add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some data. It will be advisable to consider all these operations when you select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Finally select the data structure that meets these requirements the maximum. Without,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sufficient experience, it will be difficult to determine which one is the best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We can get the help from internet, books or from someone whom you know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already getting the problems solved. We may find a similar example and try to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After this course, you will be familiar with the data structures and algorithms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used to solve the computer problems.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you have selected the data structure. Suppose a programmer has inserted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and wants to insert more data. This data will be inserted in the beginning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existing data, or in the middle or in the end of the data. Let’s talk about the arrays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you have an array of size hundred. Data may be lying in the first fifty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locations of this array. Now you have to insert data in the start of this array. What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do? You have to move the existing data (fifty locations) to the right so that we get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space to insert new data. Other way round, there is no space in the start. Suppose you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insert the data at 25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location. For this purpose, it is better to move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26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50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locations; otherwise we will not have space to insert this new data at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25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location.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to see whether the data can be deleted or not. Suppose you are asked to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the data at 27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How can we do that? What will we do with the space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at 27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Thirdly, is all the data processed in some well-defined order or random access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allowed? Again take the example of arrays. We can get the data from 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and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the array till its 50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Suppose we want to get the data, at first from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location and then from 13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means that there is no order or sequence. We want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access the data randomly. Random access means that we can’t say what will be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position to get the data or insert the data.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Data Structure Philosophy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 philosophy of data structure. Each data structure has costs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benefits. Any data structure used in your program will have some benefits. For this,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to pay price. That can be computer resources or the time. Also keep in mind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you are solving this problem for some client. If the program is not efficient,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client will not buy it.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rare cases, a data structure may be better than another one in all situations. It means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you may think that the array is good enough for all the problems. Yet this is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necessary. In different situations, different data structures will be suitable. Sometimes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will realize that two different data structures are suitable for the problem. In such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case, you have to choose the one that is more appropriate. An important skill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 is going to lend to the students is use the data structure according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situation. You will learn the programming in a way that it will be possible to replace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one data structure with the other one if it does not prove suitable. We will replace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structure so that the rest of the program is not affected. You will also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attain this skill as a good programmer.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three basic things associated with data structures. A data structure requires: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–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space for each data item it stores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–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time to perform each basic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–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programming effort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Goals of this Course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Reinforce the concept that costs and benefits exist for every data structure.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learn this with practice.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Learn the commonly used data structures. These form a programmer's basic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 “toolkit”. In the previous course, you have learned how to form a loop,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functions, use of arrays, classes and how to write programs for different problems.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course, you will make use of data structures and have a feeling that there is bag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full of different data structures. In case of some problem, you will get a data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toolkit and use some suitable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how to measure the cost of a data structure or program. These techniques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allow you to judge the merits of new data structures that you or others might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develop. At times, you may have two suitable data structures for some problem.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tried one by one to adjudge which one is better one. How can you decide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data structure is better than other. Firstly, a programmer can do it by writing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programs using different data structure while solving the same problem.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 both data structures. One gives the result before the other. The data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gives results first is better than the other one. But sometimes, the data grows too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large in the problem. Suppose we want to solve some problem having names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of names grows to10 lakhs (one million). Now when you run both programs,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program runs faster. What does it mean? Is the data structure used in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not correct? This is not true. The size of the data, being manipulated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 can grow or shrink. You will also see that some data structures are good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 data while the others may suit to huge data. But the problem is how can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determine that the data in future will increase or decrease. We should have some way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take decision in this regard. In this course we will do some mathematical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see which data structure is better one. </a:t>
            </a:r>
            <a:endParaRPr lang="ko-KR" altLang="en-US" dirty="0" smtClean="0" sz="1056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19985" y="5955665"/>
            <a:ext cx="1076325" cy="17468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27120" y="6022975"/>
            <a:ext cx="472440" cy="10756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627120" y="7095490"/>
            <a:ext cx="472440" cy="5397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146175" y="6290945"/>
            <a:ext cx="1209675" cy="6064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Arrays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already studied about arrays and are well-versed with the techniques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utilize these data structures. Here we will discuss how arrays can be used to solve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problems. Consider the following program: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main( int argc, char** argv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int x[6];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int j;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for(j = 0; j &lt; 6; j++)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x[j] = 2 * j;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declared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of six elements and initialized it in the loop.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revise some of the array concepts. The declaration of array is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 x[6];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float x[6];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double x[6];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You have already done these in your programming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assignments. An array is collection of cells of the same type. In the above program,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six elements. We can only store integers in this array.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cannot put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first location,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float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second location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double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third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location. What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name of collection of items. Its individual items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numbered from zero to one less than array size. To access a cell, use the array name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an index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x[0], x[1], x[2], x[3], x[4], x[5]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manipulate the first element, we will use the index zero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x[0]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so on.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arrays look like in the memory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X[0]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cells are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X[1]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contiguous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memory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X[3]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X[4]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X[5]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occupies contiguous memory area in the computer. In case of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if some location is assigned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x[0]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next location can not contain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x[1]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computer memory can be thought of as an array. It is a very big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Suppose a computer has memory of 2MB, you can think it as an array of size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million and the size of each item is 32 bits. You will study in detail about it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organization, and Assembly language courses. In this array, we will put our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 of 519 </a:t>
            </a:r>
            <a:endParaRPr lang="ko-KR" altLang="en-US" dirty="0" smtClean="0" sz="1056"/>
          </a:p>
        </p:txBody>
      </p:sp>
      <p:sp>
        <p:nvSpPr>
          <p:cNvPr id="15" name="Rect 3"/>
          <p:cNvSpPr>
            <a:spLocks noGrp="1" noChangeArrowheads="1"/>
          </p:cNvSpPr>
          <p:nvPr/>
        </p:nvSpPr>
        <p:spPr>
          <a:xfrm rot="0">
            <a:off x="3709670" y="6607810"/>
            <a:ext cx="308610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X[2]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programs, data and other things.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program, we have declared an array 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an array’s name but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no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not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some variable can be written on the left-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hand side of an assignment statement, this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It means it has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associated with it and some value can be assigned to it. For example, if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the code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a, b;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can be written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 = 2;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it means that put 2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location 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can also write as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a = b;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means whatever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assign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that is a copy operation. If we write as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a = 5;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it means put the number 5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location which is named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we cannot write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 = a;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to put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2 what ever the value of a		is. Why can’t we do that? Number 2 is a constant.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allow assignment to constants what will happen? Suppose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has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3. Now we assigned number 2 the number 3 i.e. all the number 2 will become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3 and the result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 + 2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become 6. Therefore it is not allowed.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a name of array and  not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it cannot be used on the left hand side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assignment statement. Consider the following statements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x[6];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n;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x[0] = 5; x[1] = 2;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 = 3;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//not allowed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 = a + b;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not allowed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 = &amp;n;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not allowed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 snippet, we have declared an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can assign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to the elements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x[0] = 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x[1] = 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so on. The last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 are not allowed. What does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= 3;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mean?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name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and this statement is not clear, what we are trying to do here? Are we trying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 3 to each element of the array? This statement is not clear. Resultantly, it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allowed.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= a + 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also not allowed. There is nothing wrong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we cannot assign the sum of values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= &amp;n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are trying to assign the memory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is not allowed.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reason is the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we cannot assign any value to it.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understanding purposes, consider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a constant. Its name or memory location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changed. This is a collective name for six locations. We can access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x[0], x[1]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up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x[5]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the way arrays are manipulated.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Sometimes, you would like to use an array data structure but may lack the information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the size of the array at compile time. Take the example of telephone directory.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to store one lakh (100,000) names in an array. But you never know that the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 entries may get double or decline in future. Similarly, you can not say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total population of the country is one crore (10 million) and declare an array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crore names. You can use one lakh locations now and remaining will be used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need arrives. But this is not a good way of using the computer resources.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declared a very big array while using a very small chunk of it.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remaining space goes waste which can, otherwise, be used by some other programs.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see what can be the possible solution of this problem?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you need an integer array of size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after the execution of the program.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studied that if it is known at the execution of the program that an array of size 20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30 is needed, it is allocated dynamically. The programming statement is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int*  y = new int[20];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means we are requesting computer to find twenty memory locations. On finding it,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computer will give the address of first location to the programmer which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Arrays locations are contiguous i.e. these are adjacent. These twenty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locations will be contiguous, meaning that they will be neighbors to each other.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an array and we can say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y[0] =1 or y[5] = 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a pointer, it is a variable where we can store the address of some variable.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said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int* y = new int[20];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new returns the memory address of first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twenty locations and we store that address into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pointer variable so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used on the left-hand side. We can write it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 = &amp;x[0];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statement, we get the address of the fist location of the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store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lvalue,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so it can be used on left hand side. This means that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is correct.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 = x;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= 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also correct.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an array of six elements that holds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address of the first element. But we cannot change this address. However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that address and store it in some other variable.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pointer variable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so the above operation is legal. We have dynamically allocated the memory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array. This memory, after the use, can be released so that other programs can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We can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to release the memory. The syntax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delete[ ] y;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releasing the memory, making it available for use by other programs.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do it in case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array, as ‘new’ was not used for its creation. So it is not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responsibility to delete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List data structure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 new data structure for you.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 is among the most generic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data structures. In daily life, we use shopping list, groceries list, list of people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invite to a dinner, list of presents to give etc. In this course, we will see how we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lists in programming.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list is the collection of items of the same type (grocery items, integers, names).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in arrays are also of same type. When we say int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x[6];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means that only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integers can be stored in it. The same is true for list. The data which we store in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be of same nature. The items, or elements of the list, are stored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particular order. What does this mean? Suppose in the list, you have the fruit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are also in some order. You may have names in some alphabetical order i.e. the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50010" y="4410710"/>
            <a:ext cx="4371340" cy="16243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 which starts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should come first followed by the name starting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on. The order will be reserved		when you enter data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possible to insert new elements at various positions in the list and remove any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of the list. You have done the same thing while dealing with arrays.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enter the data in the array, delete data from the array. Sometimes the array size grows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at times, it is reduced. We will do this with the lists too.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is a set of elements in a linear order. Suppose we have four names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a1, a2, a3, a4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their order is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(a3, a1, a2, a4)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is the first element,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element, and so on. We want to maintain that order in the list when data is stored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list. We don’t want to disturb this order. The order is important here; this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just a random collection of elements but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ordered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one. Sometimes, this order is due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sorting i.e. the things that start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come first. At occasions, the order may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the importance of the data items. We will discuss this in detail while dealing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examples.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what kind of operations a programmer performs with a list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Following long list of operations may help you understand the things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comprehensive manner.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Operation Name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Description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createList()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 new list (presumably empty)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copy()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 one list to be a copy of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clear();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Clear a list (remove all elements)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insert(X, ?)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element X at a particular position in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remove(?)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element at some position in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get(?)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element at a given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update(X, ?)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Replace the element at a given position with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find(X)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Determine if the element X is in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length()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length of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createList()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 function which  creates a new list. For example to create an array,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 x[6] or int* y = new int[20];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need similar functionality in lists too.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copy()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will create a copy of a list.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clear()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remove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from a list. We want to insert a new element in the list, we also have to tell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to put it in the list. For this purpose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insert(X, position)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function is used.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remove(position)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remove the element at position. To get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from the list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get(position)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is used which will return the element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To replace an element in the list at some position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update(X,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position)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used.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find(X)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search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list.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length()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tells us about the number of elements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need to know what is meant by “particular position” we have used “?” for this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table. There are two possibilities: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Use the actual index of element: i.e. insert it after element 3, get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6. This approach is used with arrays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Use a “current” marker or pointer to refer to a particular position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49350" y="3005455"/>
            <a:ext cx="389191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49350" y="3166745"/>
            <a:ext cx="3891915" cy="3263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49350" y="3496310"/>
            <a:ext cx="3891915" cy="3257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option is used in the data structures like arrays. When we have to manipulate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arrays, we use index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x[3], x[6]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second option we do not use first,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etc for position but say wherever is the current pointer. Just think of a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list that we can move forward or backward. When we say get, insert or update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using the current pointer, it means that wherever is the current pointer, get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that position, insert data after that position or update the data at that position.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case, we need not to use numbers. But it is our responsibility that current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used in a proper way.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use the “current” marker, the following four methods would be useful: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Functions Description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Moves the “current” pointer to the very first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tail()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 Moves the “current” pointer to the very last element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Move the current position forward one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Move the current position backward one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lecture, we will discuss the implementation of the list data structure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write the functions discussed today, in C++ language. </a:t>
            </a:r>
            <a:endParaRPr lang="ko-KR" altLang="en-US" dirty="0" smtClean="0" sz="1056"/>
          </a:p>
          <a:p>
            <a:pPr marL="0" indent="0" defTabSz="15240" algn="l">
              <a:lnSpc>
                <a:spcPts val="2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02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251575"/>
            <a:ext cx="3388995" cy="4203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3.1, 3.2,  3.2.1, 3.2.2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Implementation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 Other Methods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Analysis Of Array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Using Linked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Today, we will discuss the concept of list operations. You may have a fair idea of ‘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operation’ that sets the current pointer to the first element of the list while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tail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moves the current pointer to the last element of the list. In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lecture, we discussed the operation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moves the current pointer one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forward. Similarly, there is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back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operation’ which moves the current pointer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backward.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List Implementation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what the implementation of the list is and how one can create a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C++. After designing the interface for the list, it is advisable to know how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 that interface. Suppose we want to create a list of integers. 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purpose, the methods of the list can be implemented with the use of an array inside.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example, the list of integers (2, 6, 8, 7, 1) can be represented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manner where the current position is 3.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  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current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 u="sng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5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we start the index of the array from 1 just for simplification against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usual practice in which the index of an array starts from zero in C++.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 to always start the indexing from zero. Sometimes, it is required to start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indexing from 1. For this, we leave the zeroth position and start using the array from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1 that is actually the second position. Suppose we have to store the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1 to 6 in the array. We take an array of 7 elements and put the numbers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1. Thus there is a correspondence between index and the numbers stored in it.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not very useful. So, it does not justify the non-use of zeroth position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out-rightly. However for simplification purposes, it is good to use the index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1.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add Method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talk about adding an element to the list. Suppose there is a call to add an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225040"/>
            <a:ext cx="3388995" cy="2590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2480945"/>
            <a:ext cx="3388995" cy="1708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48055" y="3429000"/>
            <a:ext cx="3388995" cy="4267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in the list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add(9)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we said earlier that the current position is 3, so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adding the element 9 to the list, the new list will be (2, 6, 8, 9, 7, 1).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add the new element (9) to the list at the current position, at first, we have to make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space for this element. For this purpose, we shift every element on the right of 8 (the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position) to one place on the right. Thus after creating the space for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at position 4, the array can be represented as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  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current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 u="sng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5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in the second step, we put the element 9 at the empty space i.e. position 4. Thus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will attain the following shape. The figure shows the elements in the array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order as stored in the list.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  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current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 u="sng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 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6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moved the current position to 4 while increasing the size to 6. The size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that the elements in the list. Where as the size of the array is different		that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defined already to a fixed length, which may be 100, 200 or even greater.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next Method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another method, called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talked that the next method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moves the current position one position forward. In this method, we do not add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to the list but simply move the pointer one element ahead. This method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while employing the list in our program and manipulating it according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requirement.  There is also an array to store the list in it. We also have two variables-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store the position of current pointer and the number of elements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list. By looking on the values of these variables, we can find the state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how many elements are in the list and at what position the current pointer is.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to know about the boundary conditions of the list i.e.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being used by us to implement the list. To understand the boundary conditions,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take the example of an array of size 100 to implement the list. Here, 100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are added to the array. Let’s see what happens when we want to add 101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st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to the array? We used to move the current position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reached the 100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Now, in case of moving the pointer to the next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(i.e. 101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there will be an error as the size of the array is 100, having no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 point. Similarly if we move the pointer backward and reach at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regardless that the index is 0 or 1. But what will happen if we want to move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backward from the first position? These situations are known as boundary conditions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need attention during the process of writing programs when we write the code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the list. We will take care of these things while implementing the list in C++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remove Method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adds an element in the list. Now we are going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removes the element residing 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position. The removal of the element will be carried out as follows.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694815"/>
            <a:ext cx="3388995" cy="801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523105"/>
            <a:ext cx="3388995" cy="426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258695" y="4367530"/>
            <a:ext cx="408305" cy="704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6 elements (2, 6, 8, 9, 7, 1) in the list. The current pointer is pointing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5 that has the value 7. We remove the element, making the current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empty. The size of the list will become 5. This is represented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  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current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 u="sng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6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5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fill in the blank position left by the removal of 7 by shifting the values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of position 5 to the left by one space. This means that we shift the remaining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on the right hand side of the current position one place to the left so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next to the removed element (i.e. 1) takes its place (the fifth position)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the current position element. We do not change the current pointer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still pointing to the position 5. Thus the current pointer remains pointing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5 despite the fact that there is now element 1 at this place instead of 7. Thus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when we remove an element, the element next to it on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hand side comes at its place and the remaining are also shifted one place to the right.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step is represented by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  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current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 u="sng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5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find Method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lets talk about a function, used to find a specific element in the array.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is used to find a specific element in the array. We pass the element,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to be found, as an argument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This function then traverses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until the specific element is found. If the element is found, this function sets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position to it and returns 1 i.e. true. On the other hand, if the element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found, the function returns 0 i.e. false. This indicates that the element was not found.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code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in C++.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find (int x)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j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(j = 1; j &lt; size + 1; j++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if (A[j] ==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break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 j &lt; size + 1)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x is found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current = j 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//current points to the position where x found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return 1 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return true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0 ;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//return false, x is not found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code, we execute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to traverse the array.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execution of this loop is equal to the size of the list.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gets terminated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value of loop variable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increases from the size of the list. However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terminate the loop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break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if the element is found at a position.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control comes out from the loop, we check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the size of the array, it means that the loop was terminated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break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statement. We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break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when we find the required element (x)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The execution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break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shows that the required element was found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position equal to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the program sets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out the function by returning 1 (i.e. true). 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of the array, it means that the whole array has traversed and the required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not found. So we simply return 0 (i.e. false) and come out of the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Other Methods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some other methods to implement the list using an array. These methods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very simple, which perform their task just in one step (i.e. in one statement).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, used to get the element from the current position in the array.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syntax of this function is of one line and is as under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A[current]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statement returns the element to which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(i.e. the current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position) in the list A.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function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update(x)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method is used to change (set) the value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position. A value is passed to this method as an argument. It puts that value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current position. The following statement in this method carries out this process.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[current] = x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there is a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length(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.This method returns the size of the list. The syntax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is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size ;    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may notice here that we are returning the size of the list and not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being used internally to implement the list.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number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of the list, stored in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back()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decreases the value of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1. In other words,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moves the current position one element backward. This is done by writing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--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-- is a decrement operator in C++ that decreases the value of the operand by one.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statement can also be written as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= current -1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sets the current position to the first element of the list. We know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index of the array starts from 0 but we use the index 1 for the starting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We do not use the index zero. So we set the current position to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by writing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= 1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sets the current position to the last element of the list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we write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= size ;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Analysis of Array List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analyze the implementation of the list while using an array internally.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analyze different methods used for the implementation of the list. We try to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upto which these are efficient in terms of CPU’s time consumption. Time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major factor to see the efficiency of a program.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Add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we have talked 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When we add an element to the list,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element is moved to the right of the current position to make space for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element. So, if the current position is the start of the list and we want to add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in the beginning, we have to shift all the elements of the list to the right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place. This is the worst case of adding an element to the list. Suppose if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is 10000 or 20000, we have to do the shift operation for all of these 10000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20000 elements. Normally, it is done by shifting of elements with the use of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loop. This operation takes much time of the CPU and thus it is not a good practice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 an element at the beginning of a list. On the other hand, if we add an element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end of the list, it can be done by carrying out ‘no shift operation’. It is the best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adding an element to the list. However, normally we may have to move half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elements. The usage of add method is the matter warranting special care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of implementation of the list in our program. To provide the interface of the list,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just define these methods.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Remove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remove an element at the current position in the list, its space gets empty.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current pointer remains at the same position. To fill this space, we shift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on the right of this empty space one place to the left. If we remove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from the beginning of the list, then we have to shift the entire remaining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one place to the left. Suppose there is a large number of elements, say 10000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20000, in the list. We remove the first element from the list. Now to fill this space,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remaining elements are shifted (that is a large number). Shifting such a large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elements is time consuming process. The CPU takes time to execute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that performs this shift operation. Thus to remove an element at the beginning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is the worst case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However it is very easy to remove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at the end of the list. In average cases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we expect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 half of the elements. This average does not mean that in most of the cases, you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have to shift half the elements. It is just the average. We may have to shift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in one operation (if we remove at the beginning) and in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operation, we have to shift no element (if we remove at the end). Similarly, in certain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operations, we have to shift just 10, 15 elements.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Find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discussed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takes an element and traverses the list to find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element. The worst case of the find method is that it has to search the entire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beginning to end. So, it finds the element at the end of the array or the element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found. On average the find method searches at		most half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methods get (), length () etc are one-step methods. They carry out their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in one instruction. There is no need of any loop or other programming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 to perform the task.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gets the value from the specified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just in one step. Similarly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update()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sets a value at the specific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just in one-step. The length () method returns the value of the size of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methods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back(), start()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also perform their tasks only in one step.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List using Linked Memory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the implementation of the list with the use of an array. Now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the implementation of the list while using linked memory. In an array,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cells of the array are linked with each other. It means that the memory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is contiguous. In an array, it is impossible that one element of the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located at a memory location while the other element is located somewhere far from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memory. It is located in very next location in the memory. It is a property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that its elements are placed together with one another in the memory. Moreover,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have declared the size of the array, it is not possible to increase or decrease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during the execution of the program. If we need more elements to store in the array,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need of changing its size in the declaration. We have to compile the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 before executing it. Now array will be of the new size. But what happens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 need to store more elements? We will change the code of our program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the declaration of the array while recompiling it.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used the dynamic memory allocation and created an array of 100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with the use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operator. In case of need of 200 elements,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release this array and allocate a new array of 200 elements.  Before releasing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array, it will wise to copy its elements to the new array so that it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lose any information. Now this new array is in ‘ready for use’ position.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procedure of creating a new array is not an easy task.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avoid such problems, usually faced by the programmers while using an array,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need of using linked memory in which the various cells of memory,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located continuously. In this process, each cell of the memory not only contains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of the element but also the information where the next element of the list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residing in the memory. It is not necessary that the next element is at the next location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memory. It may be anywhere in the memory. We have to keep a track of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Thus, in this way, the first element must explicitly have the information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 of the second element. Similarly, the second element must know where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third element is located and the third should know the position of the fourth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so on. Thus, each cell (space) of the list will provide the value of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along with the information about where the next element is in the memory.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of the next element is accomplished by holding the memory address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element. The memory address can be understood as the index of the array.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case of an array, we can access an element in the array by its index. Similarly, we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365375" y="2569210"/>
            <a:ext cx="1115695" cy="4851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08050" y="3834130"/>
            <a:ext cx="4383405" cy="11645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access a memory location by using its address, normally called memory address.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Linked List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utilization of the concept of linked memory, we usually define a structure,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linked list. To form a linked list, at first, we define a node. A node comprises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fields. i.e.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field that holds the actual list element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holds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starting location of the next node.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object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next </a:t>
            </a:r>
            <a:endParaRPr lang="ko-KR" altLang="en-US" dirty="0" smtClean="0" sz="1056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chain of these nodes forms a linked list. Now let’s consider our previous list, used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an array i.e. 2, 6, 8, 7, 1. Following is the figure which represents the list stored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Head  </a:t>
            </a:r>
            <a:endParaRPr lang="ko-KR" altLang="en-US" dirty="0" smtClean="0" sz="1056" b="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size = 5 </a:t>
            </a:r>
            <a:endParaRPr lang="ko-KR" altLang="en-US" dirty="0" smtClean="0" sz="1056" b="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diagram just represents the linked list. In the memory, different nodes may occur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different locations but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part of each node contains the address of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Thus it forms a chain of nodes which we call a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using an array we knew that the array started from index 1that means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of the list is at index 1. Similarly in the linked list we need to know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starting point of the list. For this purpose, we have a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points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node of the list. If we don’t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not be possible to know the starting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the list. We also have a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point to the current node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We need this pointer to add or remove current node from the list. Here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pointer and not an index as we used while using an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field of the last node points to nothing .It is the end of the list. We place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address NULL in the last node. NULL is an invalid address and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inaccessible.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again consider the list 2, 6, 8, 7, 1. The previous figure represents this list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list. In this linked list,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points to 2, 2 points to 6, 6 points to 8, 8 points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7 and 7 points to 1. Moreover we have the current position at element 8.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linked list is stored in the memory. The following diagram depicts the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through which this linked list is stored in the memory.  </a:t>
            </a:r>
            <a:endParaRPr lang="ko-KR" altLang="en-US" dirty="0" smtClean="0" sz="1056"/>
          </a:p>
          <a:p>
            <a:pPr marL="0" indent="0" defTabSz="15240" algn="l">
              <a:lnSpc>
                <a:spcPts val="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286510"/>
            <a:ext cx="4876800" cy="30721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1063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current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1053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1051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1059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     head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1054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1057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1065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see in the figure that each memory location has an address. Normally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programming, we access the memory locations by some variable names.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names are alias for these locations and are like labels that are put to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locations. 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names instead of 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address in numbers for starting and the current nodes. In the figure, we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name of the memory location 1062 and the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memory address 1053.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holds the address 1054 and the element 2,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one in the list, is stored in the location 1054. Similarly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holds the address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1063 where the element 8 is stored which is our current position in the list.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diagram, two memory locations comprise a node. So we see that the location 1054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holds the element 2 while the next location 1055 holds the address of the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 (1051) where the next element of the list (i.e. 6) is stored. Similarly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the node that has value 6 holds the memory address of the location occupied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next element (i.e. 8) of the list. The other nodes are structured in a similar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fashion. Thus, by knowing the address of the next element we can traverse the whole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</a:t>
            </a:r>
            <a:endParaRPr lang="ko-KR" altLang="en-US" dirty="0" smtClean="0" sz="1056"/>
          </a:p>
          <a:p>
            <a:pPr marL="0" indent="0" defTabSz="15240" algn="l">
              <a:lnSpc>
                <a:spcPts val="17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03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3.2.2, 3.2.3, 3.2.5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inside Computer Memory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Operations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Using C++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lectures, we used an array to construct a list data structure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observed the limitation that array being of fixed size can only store a fixed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Therefore, no more elements can be stored after the size of the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reached.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order to resolve this, we adopted a new data structure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linked list.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 started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discussing,		how linked lists are stored in computer memory and how memory chains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formed.  </a:t>
            </a:r>
            <a:endParaRPr lang="ko-KR" altLang="en-US" dirty="0" smtClean="0" sz="1056"/>
          </a:p>
          <a:p>
            <a:pPr marL="0" indent="0" defTabSz="15240" algn="l">
              <a:lnSpc>
                <a:spcPts val="2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61670" y="1576070"/>
            <a:ext cx="5062220" cy="37579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Linked List inside Computer Memory </a:t>
            </a:r>
            <a:endParaRPr lang="ko-KR" altLang="en-US" dirty="0" smtClean="0" sz="1230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1051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</a:t>
            </a:r>
            <a:r>
              <a:rPr lang="en-US" altLang="ko-KR" dirty="0" smtClean="0" sz="1056">
                <a:solidFill>
                  <a:srgbClr val="FFFFFF"/>
                </a:solidFill>
                <a:latin typeface="Arial"/>
                <a:ea typeface="Arial"/>
              </a:rPr>
              <a:t>en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1053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1054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1055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1057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1058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1059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1061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</a:t>
            </a:r>
            <a:r>
              <a:rPr lang="en-US" altLang="ko-KR" dirty="0" smtClean="0" sz="1056">
                <a:solidFill>
                  <a:srgbClr val="FFFFFF"/>
                </a:solidFill>
                <a:latin typeface="Arial"/>
                <a:ea typeface="Arial"/>
              </a:rPr>
              <a:t>ent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1062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1063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1064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1065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1. Linked list in memory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parts of this figure. On the left is the linked list chain that is actually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conceptual view of the linked list and on the right is the linked list inside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memory. Right part is a snapshot of the computer memory with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addresses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1051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1065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pointing to the first element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list. Note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itself is present in the memory at address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1062. It is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 a pointer containing the memory address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1054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Each node in the above linked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has two parts i.e. the data part of the node and the pointer to the next node.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node of the linked list pointed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stored at memory address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1054. We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can see the data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present at that address. The second part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node contains the memory address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1051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the second linked list’s node starts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address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1051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use its pointer part to reach the third node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in this way, we can traverse the whole list. The last node contains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its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its pointer part.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indicates that it is not pointing to any node and it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 node of the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Linked List Operations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linked list data structure provides operations to work on the nodes inside the list.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operation we are going to discuss here is to create a new node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Add(9)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to create a new node in the memory at the current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to hold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You must remember while working with arrays, to add an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 of 519 </a:t>
            </a:r>
            <a:endParaRPr lang="ko-KR" altLang="en-US" dirty="0" smtClean="0" sz="1056"/>
          </a:p>
        </p:txBody>
      </p:sp>
      <p:sp>
        <p:nvSpPr>
          <p:cNvPr id="44" name="Rect 3"/>
          <p:cNvSpPr>
            <a:spLocks noGrp="1" noChangeArrowheads="1"/>
          </p:cNvSpPr>
          <p:nvPr/>
        </p:nvSpPr>
        <p:spPr>
          <a:xfrm rot="0">
            <a:off x="4660265" y="1697990"/>
            <a:ext cx="294005" cy="32854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1063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1063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1051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1060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1054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1057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48130" y="5986145"/>
            <a:ext cx="4160520" cy="17589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at the current position that all the elements after the current position were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shifted to the right and then the element was added to the empty slot.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we are talking about the internal representation of the list using linked list.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interface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remain the same as in case of arrays.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create a new node in the following manner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of the linked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with code in C++: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 *   newNode   =   new   Node(9);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part of the statement that is on the left of the assignment is declaring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pointer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may also be written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   * 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of this statement,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 is used to create a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Node(9)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one way in C++ to create objects of classes. The name of the class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provided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 that causes the constructor of the class to be called.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constructor of a class has the same name as the class and as this a function,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can also be passed to it. In this case, the constructor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and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passed to it as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parameter.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Hence, the whole statement means: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“Call the constructor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class and pass it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as a parameter.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constructing the object in memory, give me the starting memory address of the object.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address will be stored in the pointer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.”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create an object of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in the same manner, we can write as: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*   i   =   new   int 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Previously, we used the same technique to allocate memory for an array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 as: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*   i   =   new   int [10] ;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after the node has been created, how the node is fit into the chain of the linked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2. Insertion of new Node into the linked list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there is a linked list that contains five nodes with data elements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7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pointing to the node with element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insert a new node with data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This new node will be inserted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position (the position where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pointing to). This insertion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is performed in a step by step fashion.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The first step is to point next pointer of the new node (with data element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to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 of 519 </a:t>
            </a:r>
            <a:endParaRPr lang="ko-KR" altLang="en-US" dirty="0" smtClean="0" sz="1056"/>
          </a:p>
        </p:txBody>
      </p:sp>
      <p:sp>
        <p:nvSpPr>
          <p:cNvPr id="47" name="Rect 3"/>
          <p:cNvSpPr>
            <a:spLocks noGrp="1" noChangeArrowheads="1"/>
          </p:cNvSpPr>
          <p:nvPr/>
        </p:nvSpPr>
        <p:spPr>
          <a:xfrm rot="0">
            <a:off x="4285615" y="6702425"/>
            <a:ext cx="12573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endParaRPr lang="ko-KR" altLang="en-US" dirty="0" smtClean="0" sz="1056"/>
          </a:p>
        </p:txBody>
      </p:sp>
      <p:sp>
        <p:nvSpPr>
          <p:cNvPr id="48" name="Rect 3"/>
          <p:cNvSpPr>
            <a:spLocks noGrp="1" noChangeArrowheads="1"/>
          </p:cNvSpPr>
          <p:nvPr/>
        </p:nvSpPr>
        <p:spPr>
          <a:xfrm rot="0">
            <a:off x="3483610" y="6623050"/>
            <a:ext cx="126365" cy="1466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2724785"/>
            <a:ext cx="4895215" cy="23564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with data element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The second step is to point the next pointer of the node with data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the new node with data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The third step is to change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to point to the new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the updated linked list has nodes with data elements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size has become 6. 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Linked List Using C++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/* The Node class */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  Node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get() { return   object;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set(int   object) { this-&gt;object   =   object; 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  * getNext() { return   nextNode;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setNext(Node   * nextNode) { this-&gt;nextNode   =   nextNode;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object;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  * nextNode;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Whenever, we write a class, it begins with the word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class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followed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class-name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body of the class enclosed within curly braces. In the body, we write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public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variables, methods and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variables and methods, this is normally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sequence.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there is no code to write inside the constructor function of a class, we need not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 it ourselves as the compiler automatically creates a default constructor for us.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if there is nothing to be done by the destructor of the class, it will be better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to write it explicitly. Rather, the compiler writes it automatically. Remember,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default constructor and destructor do nothing as these are the function without any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statements inside.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start with the data members first. These are given at the bottom of the class body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scope mentioned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data members are actually two parts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list’s node. First variable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present there to store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the node. The second variable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 a pointer to an object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has the		address of the next element of the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very first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public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given at the top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written its code within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Node. It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back the value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of the type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write class in C++, normally, we make two files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for a class.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file contains the declarations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public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members of that class.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public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methods are essentially the interface of the class to be employed by the users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class.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file contains the implementation for the class methods that has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 code. This is usually the way that we write two files for one class. But this is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7693025"/>
            <a:ext cx="4895215" cy="11068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mandatory. In the code given above, we have only one file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.cpp,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instead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separating into two files. As the class methods are very small, so their code is written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within the body of the class. This facilitates us in carrying on discussion. Thus instead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talking about two files, we will only refer to one file. On the other hand, compiler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takes these functions differently that are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inline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functions. The compiler replaces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these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inline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functions wherever the call to them is made.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second method in the above-mentioned class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set() that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accepts a parameter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returning back nothing. The accepted parameter is assigned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 data member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Notice the use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this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while assigning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internal data member. It is used whenever an object wants to talk to its own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getNext() which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a pointer to an object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lying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somewhere in the memory. It returns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nextNode i.e.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 pointer to an object of type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discussed above,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the address of next node in the linked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last method of the class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setNext() that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accepts a pointer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further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 of the object. This method is used to connect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node of the linked list with the current object. It is passed an address of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in the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a little bit about classes. A very good analogy of a class is a factory.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Think about a car factory. On the placement of order, it provides us with 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vehicles we ordered for. Similarly, you can see number of other factories in your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daily-life that manufacture the specific products.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take this analogy in C++ language. Suppose, we want to make a factory in C++.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way, what is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class? It is actually a factory that creates nodes.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make a new node, a new operator is used. By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class, actually, we send an order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factory, to make as many as nodes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have a good analogy, to think about a class as a factory. The products that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made by the factory have their own characteristics. For example, a car made by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automobile factory has an engine, wheels, steering and seats etc. These variables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 a class are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state variables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the kinds of operations this car can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methods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its class. A car can be driven, engine can be started, gears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shifted and an accelerator can be pressed to run it faster.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the Node class creates nodes, where every node has two-state variables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already seen its operations in the above code. We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create new object or an array of new objects, stored in memory.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List class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  &lt;stdlib.h&gt;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  "Node.cpp"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  List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12617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09015" y="6452870"/>
            <a:ext cx="4895215" cy="23558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Constructor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List()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   =   new Node();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headNode-&gt;setNext(NULL);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  =  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  =  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creating a list factory here employed to create list objects. Remember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operations;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etc. Let’s see the above class declaration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in detail.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include statements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the start. The first line is to include a standard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library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stdlib.h while the second line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includes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file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is used to create nodes that form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So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factory will 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to create new nodes. The List class itself carries out the chain management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these Node objects.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written our own constructor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as the default constructor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sufficient enough to serve the purpose.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constructor is parameterless. The very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step it is doing internally is that it is asking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to create a new node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assigning the starting address of the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object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second statement, we are calling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setNext(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This call is to set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object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pointing to any further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next statement is to set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So at the moment, we have initialized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pointing to any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The next statement is to initialize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indicating that there is no node present in the list. All this processing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done inside the constructor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class, as we want all this done when a list object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created. Considering the analogy of car factory, the constructor function can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certain tasks: The oil is poured into the engine, the tyres are filled-in with air etc.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add() class method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add (int   addObject)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Node *   newNode   =   new   Node();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newNode-&gt;set(addObject);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if( currentNode   !=  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newNode-&gt;setNext(currentNode-&gt;getNext());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currentNode-&gt;setNext( newNode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  =  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  =  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9.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newNode-&gt;setNext(NULL);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headNode-&gt;setNext(newNode);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  =   headNode;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  =  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16.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17. size ++;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interface or signatures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similar to the one discussed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array. This method takes the object to be added as a parameter.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add()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a bit longer as the method is being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 for linked list.  In the first statement, a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is created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address stored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variable. The second statement is to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You can note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way the method is called. A pointer variable is at the left most side then an arrow sign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(-&gt;), then the name of the method with appropriate arguments within parenthesis.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followed by the if-statement that checks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certain operations inside the if-code block. Inside the if-statement, at line 5,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of the new node is being set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object pointed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In order to understand the statements given in this code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properly, consider the fig 2 above, where we added a node in the linked list.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done step 1 at line5. At line 6, we are performing the second step by setting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of the object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7, we are saving the current position (address)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might be useful for backward traversing.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Although, the fig 1 (left part) indicates movement in one direction from left to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node can be used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back()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member function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one position back from right to left. At line 8,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assigned the address of the object pointed to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way, a new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added in already existent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 10 is start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else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part of if-statement. This is executed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means that there is no node present in the list previously and first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be added. At line 12, we are setting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of the object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pointed to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being set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calling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setNext()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Then at line 13, we point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to this new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pointed to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Note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a node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despite the fact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linked list is 0. Actually, we have allocated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Although, we don’t need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here, yet 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helpful when we perform other operations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14,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address is being assigned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lastCurrentNode.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At line 15,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assigned the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the end i.e. at line 17,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list is incremented by 1.  </a:t>
            </a:r>
            <a:endParaRPr lang="ko-KR" altLang="en-US" dirty="0" smtClean="0" sz="1056"/>
          </a:p>
          <a:p>
            <a:pPr marL="0" indent="0" defTabSz="15240" algn="l">
              <a:lnSpc>
                <a:spcPts val="1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3566160" y="1271270"/>
            <a:ext cx="1075690" cy="3505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39185" y="2106295"/>
            <a:ext cx="731520" cy="5029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382770" y="1974850"/>
            <a:ext cx="759460" cy="5029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395345" y="3191510"/>
            <a:ext cx="2002790" cy="7251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9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051560" y="6644640"/>
            <a:ext cx="5071745" cy="15328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List   list;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= 0 </a:t>
            </a:r>
            <a:endParaRPr lang="ko-KR" altLang="en-US" dirty="0" smtClean="0" sz="1056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list.add(2); </a:t>
            </a:r>
            <a:endParaRPr lang="ko-KR" altLang="en-US" dirty="0" smtClean="0" sz="1056" b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list.add(6); </a:t>
            </a:r>
            <a:endParaRPr lang="ko-KR" altLang="en-US" dirty="0" smtClean="0" sz="1056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3. Add operation of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crux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: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it will make a new node by calling Node class constructor. Insert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e.g. 2. of the node into the node by calling the set method. Now if the list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exists (has some elements inside or its size is non-zero), it will insert the node after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current position. If the list does not already exist, this node is added as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inside the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try to add few more elements into the above linked list in the figure.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are the lines of code to be executed to add nodes with values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list.add(8); list.add(7);    list.add(1); 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= 5 </a:t>
            </a:r>
            <a:endParaRPr lang="ko-KR" altLang="en-US" dirty="0" smtClean="0" sz="1056" b="1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4. More Nodes added into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the remaining methods of the linked list.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 of 519 </a:t>
            </a:r>
            <a:endParaRPr lang="ko-KR" altLang="en-US" dirty="0" smtClean="0" sz="1056"/>
          </a:p>
        </p:txBody>
      </p:sp>
      <p:sp>
        <p:nvSpPr>
          <p:cNvPr id="59" name="Rect 3"/>
          <p:cNvSpPr>
            <a:spLocks noGrp="1" noChangeArrowheads="1"/>
          </p:cNvSpPr>
          <p:nvPr/>
        </p:nvSpPr>
        <p:spPr>
          <a:xfrm rot="0">
            <a:off x="4763770" y="2216150"/>
            <a:ext cx="1263015" cy="13227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= 1 </a:t>
            </a:r>
            <a:endParaRPr lang="ko-KR" altLang="en-US" dirty="0" smtClean="0" sz="1056" b="1"/>
          </a:p>
          <a:p>
            <a:pPr marL="0" indent="0" defTabSz="15240" algn="l">
              <a:lnSpc>
                <a:spcPts val="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= 2</a:t>
            </a:r>
            <a:endParaRPr lang="ko-KR" altLang="en-US" dirty="0" smtClean="0" sz="1056" b="1"/>
          </a:p>
        </p:txBody>
      </p:sp>
      <p:sp>
        <p:nvSpPr>
          <p:cNvPr id="60" name="Rect 3"/>
          <p:cNvSpPr>
            <a:spLocks noGrp="1" noChangeArrowheads="1"/>
          </p:cNvSpPr>
          <p:nvPr/>
        </p:nvSpPr>
        <p:spPr>
          <a:xfrm rot="0">
            <a:off x="2667000" y="2182495"/>
            <a:ext cx="2445385" cy="14325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</a:t>
            </a:r>
            <a:endParaRPr lang="ko-KR" altLang="en-US" dirty="0" smtClean="0" sz="1056"/>
          </a:p>
          <a:p>
            <a:pPr marL="0" indent="0" defTabSz="15240" algn="l">
              <a:lnSpc>
                <a:spcPts val="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headNode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441450"/>
            <a:ext cx="4895215" cy="9512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09015" y="3803650"/>
            <a:ext cx="4895215" cy="1569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009015" y="7586345"/>
            <a:ext cx="4895215" cy="1261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is given below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get() class method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get()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(currentNode  !=  NULL)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 currentNode-&gt;get();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firstly confirms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not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it must be pointing to some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as inside the constructor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class, we have initialized this pointer variable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That indicates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when there is no element inside the list. However, when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is added into it, it starts pointing to it. So,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the address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Further, we have another method 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next() class method */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  next()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if (currentNode  ==  NULL)   return  false;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lastCurrentNode  = 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currentNode  =  currentNode-&gt;getNext();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return   true;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() method, used to advance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to the next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 the linked list. At line 1,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being checked to confirm that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some elements present in the list to advance further. At line 1, the method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false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there is no element present in the list. At line 3, it is storing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into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line 4,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to get the address of next node to be stored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to advance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to the next element. At line 5, it returns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indicating the method is successful in moving to the next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Example Program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below is the full source code of the example program. You can copy, paste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 it right away. In order to understand the linked list concept fully, it is highly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desirable that you understand and practice with the below code.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 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  &lt;stdlib.h&gt;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The Node class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  Node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     get() { return   object; };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  set(int   object) { this-&gt;object   =   object; 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Node   * getNext() { return   nextNode;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    setNext(Node   * nextNode) { this-&gt;nextNode   =   nextNode; 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int   object;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Node   * nextNode;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The List class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  List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  add (int   addObject);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    get();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bool   next();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friend void  traverse(List list);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friend List   addNodes();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     size;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Node *   headNode;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Node *  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Node *   lastCurrentNode;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Constructor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List::List()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   =   new Node();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headNode-&gt;setNext(NULL);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  =  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 =  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  =  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add() class method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List::add (int   addObject)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Node *   newNode   =   new   Node();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newNode-&gt;set(addObject);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currentNode   !=  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newNode-&gt;setNext(currentNode-&gt;getNext());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currentNode-&gt;setNext( newNode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lastCurrentNode   =  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currentNode   =  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newNode-&gt;setNext(NULL);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headNode-&gt;setNext(newNode);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  =   headNode;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  =  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size ++;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get() class method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List::get()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(currentNode  !=  NULL)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return   currentNode-&gt;get();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next() class method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  List::next()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 (currentNode  ==  NULL)   return  false;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lastCurrentNode  = 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currentNode  =  currentNode-&gt;getNext();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 (currentNode == NULL || size == 0)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false;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true;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Friend function to traverse linked list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traverse(List list)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Node* savedCurrentNode  =  list.currentNode;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list.currentNode  =  list.headNode;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for(int i = 1; list.next(); i++)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cout &lt;&lt; "\n Element " &lt;&lt; i &lt;&lt; "   " &lt;&lt; list.get();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list.currentNode  =  savedCurrentNode;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Friend function to add Nodes into the list */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addNodes()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   list;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list.add(2);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22002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09015" y="3642360"/>
            <a:ext cx="489521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list.add(6);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list.add(8);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list.add(7);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list.add(1);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cout  &lt;&lt;  "\n List size = "  &lt;&lt;  list.size  &lt;&lt;'\n';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 list;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main()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List list  =  addNodes();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traverse(list);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output of the example program is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List size = 5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Element  1  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Element  2  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Element  3  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Element  4   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Element  5   1 </a:t>
            </a:r>
            <a:endParaRPr lang="ko-KR" altLang="en-US" dirty="0" smtClean="0" sz="1056"/>
          </a:p>
          <a:p>
            <a:pPr marL="0" indent="0" defTabSz="15240" algn="l">
              <a:lnSpc>
                <a:spcPts val="3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04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3.2.3, 3.2.4, 3.2.5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of Linked List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of list usage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Analysis of Link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Doubly-linked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Circularly-linked lists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Josephus Problem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Methods of Linked List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the methods of linked list. These methods form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interface of the link list. For further elucidation of these techniques, we will talk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that has the following code.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position currentNode and lastCurrentNode at first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start()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lastCurrentNode = headNode;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currentNode = headNode;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statements in this method. We assign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two pointers point at different nodes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Here we have pointed both of these pointers at the start of the list. On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other method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these pointers will move forward. As we can move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singly-linked list in one direction, these pointers cannot go behind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now see how a node can be removed from the link list. We use the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for this purpose.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remove()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if( currentNode != NULL &amp;&amp; currentNode != headNode)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(step 1)  lastCurrentNode-&gt;setNext(currentNode-&gt;getNext());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(step 2)  delete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(step 3)  currentNode = lastCurrentNode;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61160" y="1999615"/>
            <a:ext cx="3169920" cy="8470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920240" y="5952490"/>
            <a:ext cx="3173095" cy="8902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(step 4)  size--;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5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pointing at the location that contains the value 6.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request for the removal of the node is made. Resultantly, the node pointed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should be removed. For this purpose, at first,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of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value 2 (the node pointed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pointer), that is before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with value 6, bypasses the node with value 6. It is, now pointing to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value 8. The code of the first step is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lastCurrentNode-&gt;setNext(currentNode-&gt;getNext());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does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currentNode-&gt;getNext()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do?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with value 6 while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this node is pointing to the node with value 8.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 of node with value 6 contains the address of the node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8.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lastCurrentNode-&gt;setNext(currentNode-&gt;getNext())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set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of the node pointed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node with value 8.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of the node with value 2 is pointing to the node with value 8.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5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see that the next pointer of the node having data element 2 contains the address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node having data element 8. The node with value 6 has been disconnected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chain while the node with value 2 is connected to the node with the value 8.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the next step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already know, in case of allocation of the memory with the help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 </a:t>
            </a:r>
            <a:endParaRPr lang="ko-KR" altLang="en-US" dirty="0" smtClean="0" sz="1056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 of 519 </a:t>
            </a:r>
            <a:endParaRPr lang="ko-KR" altLang="en-US" dirty="0" smtClean="0" sz="1056"/>
          </a:p>
        </p:txBody>
      </p:sp>
      <p:sp>
        <p:nvSpPr>
          <p:cNvPr id="73" name="Rect 3"/>
          <p:cNvSpPr>
            <a:spLocks noGrp="1" noChangeArrowheads="1"/>
          </p:cNvSpPr>
          <p:nvPr/>
        </p:nvSpPr>
        <p:spPr>
          <a:xfrm rot="0">
            <a:off x="2468880" y="6007735"/>
            <a:ext cx="36385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Step1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13560" y="1865630"/>
            <a:ext cx="3173095" cy="8896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13560" y="5212080"/>
            <a:ext cx="3173095" cy="8870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keyword,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 releases this memory which returns the memory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system. Pictorially it can be represented as: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Step1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5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Step2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step, we have moved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point the next node. The code is: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= lastCurrentNode;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fourth step, the size of the list has been reduced by 1 after the deletion of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i.e.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size--;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headNode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4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Step2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lastCurrentNode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length()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simply returns the size of the list. The code is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returns the size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length()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return size;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private data members of the list are: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int size;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contains the size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*headNode;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points to the first node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 of 519 </a:t>
            </a:r>
            <a:endParaRPr lang="ko-KR" altLang="en-US" dirty="0" smtClean="0" sz="1056"/>
          </a:p>
        </p:txBody>
      </p:sp>
      <p:sp>
        <p:nvSpPr>
          <p:cNvPr id="76" name="Rect 3"/>
          <p:cNvSpPr>
            <a:spLocks noGrp="1" noChangeArrowheads="1"/>
          </p:cNvSpPr>
          <p:nvPr/>
        </p:nvSpPr>
        <p:spPr>
          <a:xfrm rot="0">
            <a:off x="3441065" y="4709160"/>
            <a:ext cx="570865" cy="2863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Step3 </a:t>
            </a:r>
            <a:endParaRPr lang="ko-KR" altLang="en-US" dirty="0" smtClean="0" sz="1056"/>
          </a:p>
        </p:txBody>
      </p:sp>
      <p:sp>
        <p:nvSpPr>
          <p:cNvPr id="77" name="Rect 3"/>
          <p:cNvSpPr>
            <a:spLocks noGrp="1" noChangeArrowheads="1"/>
          </p:cNvSpPr>
          <p:nvPr/>
        </p:nvSpPr>
        <p:spPr>
          <a:xfrm rot="0">
            <a:off x="5086985" y="5318760"/>
            <a:ext cx="570865" cy="2895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Step4 </a:t>
            </a:r>
            <a:endParaRPr lang="ko-KR" altLang="en-US" dirty="0" smtClean="0" sz="1056"/>
          </a:p>
        </p:txBody>
      </p:sp>
      <p:sp>
        <p:nvSpPr>
          <p:cNvPr id="78" name="Rect 3"/>
          <p:cNvSpPr>
            <a:spLocks noGrp="1" noChangeArrowheads="1"/>
          </p:cNvSpPr>
          <p:nvPr/>
        </p:nvSpPr>
        <p:spPr>
          <a:xfrm rot="0">
            <a:off x="2362200" y="5266690"/>
            <a:ext cx="363855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Step1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883535"/>
            <a:ext cx="4773295" cy="42246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7574280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*currentNode,   // current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*lastCurrentNode; // last current node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class completed just now, can be termed as list factory. We have included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required methods in it. We may employ more methods if required. A programmer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get the size of the list, add or remove nodes in it besides moving the pointers.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Example of list usage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how we use the link list. Here is an example showing the use of list: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A simple example showing the use of link list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&lt;stdlib.h&gt;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"List.cpp" // This contains the definition of List class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main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main(int argc, char *argv[])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list;  // creating a list object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adding values to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list.add(5);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list.add(13);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list.add(4);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list.add(8);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list.add(24);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list.add(48);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list.add(12);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calling the start method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list.start();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printing all the elements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(list.next())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"List Element: "&lt;&lt; list.get()&lt;&lt;endl;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output of the program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13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24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48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Element: 12 </a:t>
            </a:r>
            <a:endParaRPr lang="ko-KR" altLang="en-US" dirty="0" smtClean="0" sz="1056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code of the above program. We have included the standard libraries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besides having the “List.cpp” file. Usually we do not include .cpp files. Rather, the .h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files are included. Whenever you write a class, two files will be created i.e. .h (header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file containing the interface of the class) and .cpp (implementation file). Here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sake of explanation, we have combined the two files into “List.cpp” file. At the start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main method, we have created a list object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list;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the default constructor will be called. If you understand the concept of factory,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it is not difficult to know that we have asked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factory to create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and named it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creating the object, nodes have been added to it.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added the elements with data values 5, 13, 4, 8, 24, 48 and 12. Later,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start()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of list is called that will position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of the list. Now there is no need to worry about the implementation of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Rather, we will use the interface of the List. 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 will take us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list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and internally, it may be array or link list or some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implementation. Then there is a while loop that calls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moves the pointer ahead and returns a boolean value i.e. true or false. When we reach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end of the list,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will return false. In the while loop we have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cout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that prints the value of the list elements, employing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loop will continue till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returns true. When the pointers reach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end of the list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false. Here the loop will come to an end.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Please keep in mind that list is a very important data structure that will be used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entire programming courses.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Analysis of Link List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stated earlier, we will be going to analyze each data structure. We will see whether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useful or not. We will see its cost and benefit with respect to time and memory.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 us analyze the link list which we have created with the dynamic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allocation in a chain form.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add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addition purposes, we simply insert the new node after the current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‘add’ is a one-step operation. We insert a new node after the current node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chain. For this, we have to change two or three pointers while changing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of some pointer variables. However, there is no need of traversing too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much in the list. In case of an array, if we have to add an element in the centre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array, the space for it is created at first. For this, all the elements that are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current pointer in the array, should be shifted one place to the right. Suppose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insert the element in the start of the array, all the elements to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spot are shifted. However, for the link list, it is not something relevant. In link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lists, we can create a new node very easily where the current pointer is pointing.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adjust two or three pointers. Its cost, in terms of CPU time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computing time, is not much as compared to the one with the use of arrays.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remove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is also a one-step operation. The node before and after the node to be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 is connected to each other. Update the current pointer. Then the node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removed is deleted. As a result, the node to be removed is deleted. Very little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work is needed in this case. If you compare it with arrays, for the deletion of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from the array, space is created. To fill this space, all the right elements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shifted one spot left. If the array size is two thousand or three thousand,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to run a loop for all these elements to shift them to left.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find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worst-case in find is that we may have to search the entire list. In find,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search some particular element say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found,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moved at that node. As there is no order in the list, we have to start search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beginning of the list. We have to check the value of each node and compare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x (value to be searched). If found, it returns true and points the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currentNode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at that node otherwise return false. Suppose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not in the list,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case, we have to search the list from start to end and return false. This is the worst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scenario. Though time gets wasted, yet we find the answer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If we compare this with array, it will be the same. We don’t know whether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in the array or not. So we have to search the complete array. In case of finding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it, we will remember that position and will return true. What is the average case?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found at the first position , in the middle or at the end of the list. So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average, we have to search half of the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back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back method, we move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one position back. Moving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back, one requires traversing the list from the start until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whose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points to current node. Our link list is singly linked list i.e.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move in one direction from start towards end. Suppose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currentNode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somewhere in the middle of the list.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move one node back. If we have the pointer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it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easy. We will assign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how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move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lastCurrentNode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one step back. We don’t have the pointer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node. So the solution for this is to go at the start of the list and traverse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till the time you reach the node before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lastCurrentNode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pointing.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will be the node whose next pointer contains the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lastCurrentNode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lastCurrentNode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are at the end of the list,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the whole list. Therefore back operation is not a one step operation.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only need a loop here but also require time.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Doubly-linked List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you look at single link list, the chain is seen formed in a way that every node has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field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point to the next node. This continues till the last node where we set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NULL i.e. the end of the list. There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that points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of the list. We have seen that moving forward is easy in single link list but going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is difficult. For moving backward, we have to go at the start of the list and begin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there. Do you need a list in which one has to move back or forward or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or in the end very often? If so, we have to use double link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doubly-link list, a programmer uses two pointers in the node, i.e. one to point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node and the other to point to the previous node. Now our node factory will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971290"/>
            <a:ext cx="4773295" cy="31337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639570" y="1276985"/>
            <a:ext cx="2082165" cy="6648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 node with three parts. 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Times New Roman"/>
                <a:ea typeface="Times New Roman"/>
              </a:rPr>
              <a:t>prev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230">
                <a:solidFill>
                  <a:srgbClr val="000000"/>
                </a:solidFill>
                <a:latin typeface="Times New Roman"/>
                <a:ea typeface="Times New Roman"/>
              </a:rPr>
              <a:t>element </a:t>
            </a:r>
            <a:endParaRPr lang="ko-KR" altLang="en-US" dirty="0" smtClean="0" sz="1230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part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the pointer pointing to the previous node, second part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the data to be inserted in the list. The third part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that points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next node of the list. The objective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to store the address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code of the node of the doubly-link list. This node factory will create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nodes, each having two pointers. The interface methods are same as used in singly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 list. The additional methods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returns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address of the previous node. Thus its return type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If we have to assign some address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pointer, we will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method. Following is the code of the doubly-linked list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is the doubly-linked list class, it uses the next and prev pointers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Node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get() { return object; }; // returns the value of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set(int object) { this-&gt;object = object; };  // set the value of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Node* getNext() { return nextNode; };  // get the address of the next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setNext(Node* nextNode)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// set the address of the next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this-&gt;nextNode = nextNode; 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Node* getPrev() { return prevNode; }; // get the address of the prev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setPrev(Node* prevNode)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// set the address of the prev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this-&gt;prevNode = prevNode;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object;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it stores the actual value of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Node* nextNode; // this points to the next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Node* prevNode; // this points to the previous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Most of the methods are same as those in singly linked list. A new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prevNode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added and the methods to get and set its value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setPrev</a:t>
            </a:r>
            <a:r>
              <a:rPr lang="en-US" altLang="ko-KR" dirty="0" smtClean="0" sz="1056">
                <a:solidFill>
                  <a:srgbClr val="008000"/>
                </a:solidFill>
                <a:latin typeface="Times New Roman"/>
              </a:rPr>
              <a:t>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use this node factory to create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to be very cautious while adding or removing a node in a doubly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order in which pointers are reorganized is important. Let’s have a pictorial view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doubly-link list. The diagram can help us understand where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nextNode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pointing. 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 of 519 </a:t>
            </a:r>
            <a:endParaRPr lang="ko-KR" altLang="en-US" dirty="0" smtClean="0" sz="1056"/>
          </a:p>
        </p:txBody>
      </p:sp>
      <p:sp>
        <p:nvSpPr>
          <p:cNvPr id="87" name="Rect 3"/>
          <p:cNvSpPr>
            <a:spLocks noGrp="1" noChangeArrowheads="1"/>
          </p:cNvSpPr>
          <p:nvPr/>
        </p:nvSpPr>
        <p:spPr>
          <a:xfrm rot="0">
            <a:off x="3151505" y="1502410"/>
            <a:ext cx="294005" cy="17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>
                <a:solidFill>
                  <a:srgbClr val="000000"/>
                </a:solidFill>
                <a:latin typeface="Times New Roman"/>
              </a:rPr>
              <a:t>next</a:t>
            </a:r>
            <a:endParaRPr lang="ko-KR" altLang="en-US" dirty="0" smtClean="0" sz="123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740535" y="5584190"/>
            <a:ext cx="3569335" cy="12065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45210" y="1066800"/>
            <a:ext cx="4063365" cy="9232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 doubly link list. The arrows pointing towards right side are representing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those pointing towards left side are representing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at the last node i.e. the node with value 1. In case of going back, we usually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help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pointer. So we can go to the previous node i.e.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value 7 and then to the node with value 8 and so on. In this way, we can traverse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from the end to start. We can move forward or backward in doubly-link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very easily. We have developed this facility for the users to move in the list easily.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other methods of the doubly-linked list. Suppose we have created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from the factory with value 9. We will request the node factory to create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using new keyword. The newly created node contains three fields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prevNode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store 9 into object and connect this new node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chain. Let’s see how the pointers are manipulated to do that. Consider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diagram, the current is pointing at the node with value 6. The new node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between the node with value 6 and the one with value 8.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step, we assign the address of the node with value 8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newNode-&gt;setNext( current-&gt;getNext() );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size=5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step, a programmer points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node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6.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newNode-&gt;setprev( current ); </a:t>
            </a:r>
            <a:endParaRPr lang="ko-KR" altLang="en-US" dirty="0" smtClean="0" sz="1056"/>
          </a:p>
          <a:p>
            <a:pPr marL="0" indent="0" defTabSz="15240" algn="l">
              <a:lnSpc>
                <a:spcPts val="1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 of 519 </a:t>
            </a:r>
            <a:endParaRPr lang="ko-KR" altLang="en-US" dirty="0" smtClean="0" sz="1056"/>
          </a:p>
        </p:txBody>
      </p:sp>
      <p:sp>
        <p:nvSpPr>
          <p:cNvPr id="90" name="Rect 3"/>
          <p:cNvSpPr>
            <a:spLocks noGrp="1" noChangeArrowheads="1"/>
          </p:cNvSpPr>
          <p:nvPr/>
        </p:nvSpPr>
        <p:spPr>
          <a:xfrm rot="0">
            <a:off x="5245735" y="1179830"/>
            <a:ext cx="375920" cy="149225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91" name="Rect 3"/>
          <p:cNvSpPr>
            <a:spLocks noGrp="1" noChangeArrowheads="1"/>
          </p:cNvSpPr>
          <p:nvPr/>
        </p:nvSpPr>
        <p:spPr>
          <a:xfrm rot="0">
            <a:off x="2441575" y="1197610"/>
            <a:ext cx="2436495" cy="55016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4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966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39240" y="6607810"/>
            <a:ext cx="3569335" cy="11861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24000" y="3703320"/>
            <a:ext cx="3566160" cy="12103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54150" y="1337945"/>
            <a:ext cx="3568700" cy="12071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FFFFFF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size=5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third step, we will set the previous node with value 8 to point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(current-&gt;getNext())-&gt;setPrev(newNode);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node with value 8 is pointing to the node with value 9.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fourth step,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node with value 6 is pointing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i.e.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node with value 9. Point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add one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current-&gt;setNext( newNode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=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size++;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newNode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newNode has been inserted between node with value 6 and node with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 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 of 519 </a:t>
            </a:r>
            <a:endParaRPr lang="ko-KR" altLang="en-US" dirty="0" smtClean="0" sz="1056"/>
          </a:p>
        </p:txBody>
      </p:sp>
      <p:sp>
        <p:nvSpPr>
          <p:cNvPr id="94" name="Rect 3"/>
          <p:cNvSpPr>
            <a:spLocks noGrp="1" noChangeArrowheads="1"/>
          </p:cNvSpPr>
          <p:nvPr/>
        </p:nvSpPr>
        <p:spPr>
          <a:xfrm rot="0">
            <a:off x="3615055" y="4023360"/>
            <a:ext cx="1981835" cy="8045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size=5 </a:t>
            </a:r>
            <a:endParaRPr lang="ko-KR" altLang="en-US" dirty="0" smtClean="0" sz="1056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</a:t>
            </a:r>
            <a:endParaRPr lang="ko-KR" altLang="en-US" dirty="0" smtClean="0" sz="1056"/>
          </a:p>
        </p:txBody>
      </p:sp>
      <p:sp>
        <p:nvSpPr>
          <p:cNvPr id="95" name="Rect 3"/>
          <p:cNvSpPr>
            <a:spLocks noGrp="1" noChangeArrowheads="1"/>
          </p:cNvSpPr>
          <p:nvPr/>
        </p:nvSpPr>
        <p:spPr>
          <a:xfrm rot="0">
            <a:off x="2355850" y="1667510"/>
            <a:ext cx="3265805" cy="5821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1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size=6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08760" y="5848985"/>
            <a:ext cx="2834640" cy="17468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11935" y="4431665"/>
            <a:ext cx="3416935" cy="7499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Circularly-linked lists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circularly linked list. The next field in the last node in a singly-linked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is set to NULL. The same is the case in the doubly-linked list. Moving along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singly-linked list has to be done in a watchful manner.						Doubly-linked lists have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 pointers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first node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last node. A way around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potential hazard is to link the last node with the first node in the list to create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circularly-linked 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 in the singly-linked list or doubly-linked list moves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to the next node and every time it checks whether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is NULL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not. Similarly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back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in the double-linked list has to be employed carefully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current is pointing the first node. In this case,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 is pointing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NULL. If we do not take care of this, the current will be pointing to NULL. So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try to access the NULL pointer, it will result in an error. To avoid this, we can make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circularly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list with five elements. We have connected the last node with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It means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last node is pointing towards the first node.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head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list has been shown in a circular shape.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noticed that there is no such node whose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field is NULL. What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 of this? If you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back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that move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never point to NULL. It may be the case that you keep on circulating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avoid this, we get help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node. If we move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node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circularly linked list, it will not be certain to say where it was pointing in the start.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advantages depend on its use. If we do not have to move too much in the list and have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 of 519 </a:t>
            </a:r>
            <a:endParaRPr lang="ko-KR" altLang="en-US" dirty="0" smtClean="0" sz="1056"/>
          </a:p>
        </p:txBody>
      </p:sp>
      <p:sp>
        <p:nvSpPr>
          <p:cNvPr id="98" name="Rect 3"/>
          <p:cNvSpPr>
            <a:spLocks noGrp="1" noChangeArrowheads="1"/>
          </p:cNvSpPr>
          <p:nvPr/>
        </p:nvSpPr>
        <p:spPr>
          <a:xfrm rot="0">
            <a:off x="1987550" y="4724400"/>
            <a:ext cx="3634105" cy="1831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size=5 </a:t>
            </a:r>
            <a:endParaRPr lang="ko-KR" altLang="en-US" dirty="0" smtClean="0" sz="1056"/>
          </a:p>
          <a:p>
            <a:pPr marL="0" indent="0" defTabSz="15240" algn="l">
              <a:lnSpc>
                <a:spcPts val="1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size=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38655" y="5474335"/>
            <a:ext cx="1819275" cy="17799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 problem checking the NULL, there is little need a circularly-linked list. But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facility is available to us.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example, we made a circular linked list from a singly link list. In a singly link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we move in one direction. We point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of the last node to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We can do the same with the doubly-linked list.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of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point to the last node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of the last node will point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node. If you arrange all the nodes in a circle, one of the pointers (i.e.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pointer) will move in clockwise direction while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pointers in anti-clockwise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direction. With the help of these pointers, you can move in the clockwise direction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anti-clockwise direction. Head node pointer will remain at its position. You don’t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to change it. If there is a need to remove the node pointed by head node than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move the head pointer to other node. Now we don’t have any NULL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doubly-linked list. We will not get any exception due to NULL pointers.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Josephus Problem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an example where circular link list is very useful. This is Josephus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Problem. Consider there are 10 persons. They would like to choose a leader. The way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they decide is that all 10 sit in a circle. They start a count with person 1 and go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clockwise direction and skip 3. Person 4 reached is eliminated. The count starts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fifth and the next person to go is the fourth in count. Eventually, a single person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ask why someone has to choose a leader in this way. There are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historical stories attached to it. This problem is also studied in mathematics. Let’s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pictorial view.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N=10, M=3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88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ten numbers representing the ten persons who are in a circle.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the count. As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three, the count will be three.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represents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persons. Now we start counting clockwise. After counting up to three,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the number four. The number four is eliminated and put in the eliminated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column.  </a:t>
            </a:r>
            <a:endParaRPr lang="ko-KR" altLang="en-US" dirty="0" smtClean="0" sz="1056"/>
          </a:p>
          <a:p>
            <a:pPr marL="0" indent="0" defTabSz="15240" algn="l">
              <a:lnSpc>
                <a:spcPts val="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 of 519 </a:t>
            </a:r>
            <a:endParaRPr lang="ko-KR" altLang="en-US" dirty="0" smtClean="0" sz="1056"/>
          </a:p>
        </p:txBody>
      </p:sp>
      <p:sp>
        <p:nvSpPr>
          <p:cNvPr id="101" name="Rect 3"/>
          <p:cNvSpPr>
            <a:spLocks noGrp="1" noChangeArrowheads="1"/>
          </p:cNvSpPr>
          <p:nvPr/>
        </p:nvSpPr>
        <p:spPr>
          <a:xfrm rot="0">
            <a:off x="3023870" y="5581015"/>
            <a:ext cx="631825" cy="12553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58695" y="6211570"/>
            <a:ext cx="1398905" cy="13627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321810" y="5958840"/>
            <a:ext cx="320040" cy="2736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30095" y="3831590"/>
            <a:ext cx="1727835" cy="16306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321810" y="3776345"/>
            <a:ext cx="32004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321810" y="4178935"/>
            <a:ext cx="32004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030095" y="1377950"/>
            <a:ext cx="1727835" cy="16306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4321810" y="1322705"/>
            <a:ext cx="320040" cy="320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N=10, M=3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Eliminated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88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eliminating the number four, we will start our counting from number five.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Counting up to three, we have number eight which is eliminated and so 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N=10, M=3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88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end, only number five will remain intact.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N=10, M=3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endParaRPr lang="ko-KR" altLang="en-US" dirty="0" smtClean="0" sz="88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 of 519 </a:t>
            </a:r>
            <a:endParaRPr lang="ko-KR" altLang="en-US" dirty="0" smtClean="0" sz="1056"/>
          </a:p>
        </p:txBody>
      </p:sp>
      <p:sp>
        <p:nvSpPr>
          <p:cNvPr id="104" name="Rect 3"/>
          <p:cNvSpPr>
            <a:spLocks noGrp="1" noChangeArrowheads="1"/>
          </p:cNvSpPr>
          <p:nvPr/>
        </p:nvSpPr>
        <p:spPr>
          <a:xfrm rot="0">
            <a:off x="4413250" y="4233545"/>
            <a:ext cx="9271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8</a:t>
            </a:r>
            <a:endParaRPr lang="ko-KR" altLang="en-US" dirty="0" smtClean="0" sz="1056"/>
          </a:p>
        </p:txBody>
      </p:sp>
      <p:sp>
        <p:nvSpPr>
          <p:cNvPr id="105" name="Rect 3"/>
          <p:cNvSpPr>
            <a:spLocks noGrp="1" noChangeArrowheads="1"/>
          </p:cNvSpPr>
          <p:nvPr/>
        </p:nvSpPr>
        <p:spPr>
          <a:xfrm rot="0">
            <a:off x="3429000" y="1380490"/>
            <a:ext cx="1397000" cy="508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Eliminated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Eliminated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260465"/>
            <a:ext cx="4773295" cy="26670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have ten persons (N = 10) in a circle and eliminate after counting up to three (M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3). If we start our count from one, who will be the leader? We have studied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earlier and know that the person who is sitting at the fifth position will become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leader.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Suppose if the value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is 300 or 400 and the value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M </a:t>
            </a:r>
            <a:endParaRPr lang="ko-KR" altLang="en-US" dirty="0" smtClean="0" sz="1409" i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is 5 or 10. Now who will be the leader? This is a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mathematical problem where we can change the values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and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M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There is a formula where the values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,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M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allotted. You can calculate who should become the leader.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Here we will not solve it mathematically. Rather, it will be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tackled as a computer problem. If you analyze the pictures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shown above, it gets clear that this can be solved with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circular link list. We arrange these numbers in a circularly-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linked list, point the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head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pointer at the starting number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and after calling the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next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method for three times, we will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reach the node which is to be removed. We will use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remove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method to remove the node. Then the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next </a:t>
            </a:r>
            <a:endParaRPr lang="ko-KR" altLang="en-US" dirty="0" smtClean="0" sz="1409" i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method is called thrice from there and the node is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removed. We will continue this till we have only one node.  </a:t>
            </a:r>
            <a:endParaRPr lang="ko-KR" altLang="en-US" dirty="0" smtClean="0" sz="1409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not concerned with the NULL pointers, internal to link list. However, if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solve this problem and choose the best data structure, then circular link list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best option. We can also use the list to solve this.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of the program by which we can solve this problem. The code is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/*This program solves the Josephus Problem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"CList.cpp"  //contains the circularly-linked list definition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The main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main(int argc, char *argv[])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CList list;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creating an object of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i, N=10, M=3;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for(i=1; i &lt;= N; i++ ) list.add(i); // initializing the list with values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list.start();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pointing the pointers at the start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counting upto M times and removing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 list.length() &gt; 1 )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for(i=1; i &lt;= M; i++ ) list.next();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9505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cout &lt;&lt; "remove: " &lt;&lt; list.get()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list.remove();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"leader is: " &lt;&lt; list.get() &lt;&lt; endl;  //displaying the remaining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included the “CList.cpp”. It means that we are using the circularly-linked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In the main method,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factory is called to create a circular link list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list;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After this, we assign the values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used for loop to add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the list. When this loop finishes, we have ten nodes in the list having values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1 to 10. But here a programmer may not pay attention to the internal details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list. We have created a list and stored ten numbers in it. Then we moved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of the list at the start of the list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method. It means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are pointing at the position from where we want to start the counting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while loop that will continue executing until only one node is left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 this loop, we have a for loop. It will execute from 1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has only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list.next()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will move the pointer forward three times (as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M is 3). Now the current pointer is at the 4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We called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removing the node, we display its value on the screen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Again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into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loop, now the length of the list is 9. The ‘for loop’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executed. Now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list.next()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is not starting from the start. It will start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where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is pointing.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is pointing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node to the node deleted. The count will start again.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list.next()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called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three times. The current pointer will point at the 8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Again the remove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will be called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moved to the next node and so on.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will be deleted one by one until the length of the list is greater than one.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length of the list is one, the while loop will be terminated. Now only one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in the list i.e. the leader. We will display its value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change the values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Similarly, these values can be read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file or can use the command line arguments to get values. There are many variations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this problem. One variation is that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keeps on changing. Sometimes,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3, sometimes 4 or 5 and so on. Due to this, it will become difficult to think that who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become leader. Make a picture in your mind that ten persons are sitting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circle. Every time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incremented by one. Now try to ascertain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you should sit to get chosen as a leader. You may like to write a program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solve this or use the mathematical formula. </a:t>
            </a:r>
            <a:endParaRPr lang="ko-KR" altLang="en-US" dirty="0" smtClean="0" sz="1056"/>
          </a:p>
          <a:p>
            <a:pPr marL="0" indent="0" defTabSz="15240" algn="l">
              <a:lnSpc>
                <a:spcPts val="1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05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3.1, 3.2.5, 3.3.1, 3.3.2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(array implementation)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Benefits of using circular list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Abstract Data Type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Implementation using arrays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demonstrated the use of the circular list for the resolution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Josephus problem. After writing a program with the help of this data structure,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leader among ten persons was selected. You must have noted many things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trying to solve the problem. These things will help us to understand the usage of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 in C++, thus making the programming easy. The code of the program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"CList.cpp"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main(int argc, char *argv[])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CList list;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i, N=10, M=3;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for(i=1; i &lt;= N; i++ ) list.add(i);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list.start();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 list.length() &gt; 1 )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for(i=1; i &lt;= M; i++ ) list.next();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cout &lt;&lt; "remove: " &lt;&lt; list.get()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list.remove();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"leader is: " &lt;&lt; list.get()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program, we include the file of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CList and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create its object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list.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solve the problem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add, start, length, next, 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of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program, we have included already-defined data structure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defining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different methods, we have an interface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 is no need to be worry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the nature of the list i.e. whether it is linked list, doubly linked list or an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us, it is only a list to be manipulated according to our requirement. You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 programmer may use different methods of the list object to solve the problem.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add elements to the list by a simple call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and go to the first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list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Here, the length method is used in the condition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Then we remove elements from the list and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during this process. We get the current element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remove it by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and then go to the next element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way, all the elements are removed from the list except one element,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the leader. This one element remains there as we execute the while loop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the length of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singly linked list,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false when it reaches to the last node due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field of the last node is set to NULL. But in a circularly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no NULL. It will be there only when there is no node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whole process, which we carried out to solve the Josephus problem, can also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carried out with functions in C++. While adopting this way (of writing functions),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write these functions whenever we write another program that manipulates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In this method, we define a class of the data structure list and its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for the purpose of manipulation. This way, this class, obviously its methods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too, can be used in any program where the manipulation of a list is needed. Thus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re-usability of the code. In a class, we encapsulate the data and its methods.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that we are no longer interested in the internal process of the class. Rather,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simply use it wherever needed. The circular linked list, earlier used for the resolution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Josephus problem, can also be employed in other problems. We have a class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this circular linked list through which any number of objects of data type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circular linked list can be created. Thus we can assume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a factory,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creating as many objects of list as needed. This class and its objects in any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used to solve the problems with the help of its interface. The interface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consists of some methods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add, remove, next, back, get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some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 ones. While carrying out programming, we will see that these classes (objects)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us very much to solve different problems.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Benefits of using circular list 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solving the Josephus problem, it was witnessed that the usage of circular linked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helped us make the solution trivial. We had to just write a code of some lines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solved the whole problem. In the program, we included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(which is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data structure i.e. circular linked list) and used all of its methods according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requirements. There was no problem regarding the working of the methods. We just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these methods and their definition in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worked well.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what happens if we solve the Josephus problem by using an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the class in our program. In this case, we have to define an array and write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to move back and forth in the array and to remove different elements properly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particular order. A programmer needs to be very careful while doing this, to reach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solution of the problem. Thus our code becomes very complex and difficult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someone to understand and modify it. Moreover we cannot use this code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problem. Note that here we are talking about the use of an array in the main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program, not in the class that defines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structure. There is no need to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worried whether an array, singly linked list, doubly linked list is used or circular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being employed internally in implementing the list in defining the class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data type. We only want that it should create objects of list. The usage of the class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a data structure simplifies the code of the program. We can also use this class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wherever needed in other programs. This shows that the choice of appropriate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 can simplify an algorithm. It can make the algorithm much faster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efficient. In this course, we will see that there are different data structures,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makes the algorithms very easy to solve our problems. Later, we will see how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elegant data structures lie at the heart of major algorithms. There is also a course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dedicated to study different algorithms and recipes that can be used to solve host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complex problems. Moreover, we will study different data structures in detail and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with the use of a proper data structure, we can solve a problem efficiently.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properly constructed data structure will always help in the solution of problems.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Abstract Data Type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data type is a collection of values and a set of operations on those values.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collection and these operations form a mathematical construct that may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 with the use of a particular hardware or software data structure.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 abstract data type (ADT) refers to the basic mathematical concept that defines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type. We have discussed four different implementations of the list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In case of implementation of the list with the use of an array,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gives difficulty if increased. To avoid this, we allocate memory dynamically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before connecting these nodes with the help of pointers. For this purpose,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made a singly linked list and connected it with the next pointer to make a chain.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Moving forward is easy but going back is a difficult task. To overcome this problem,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made a doubly linked list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pointers. With the help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pointers, we can move forward and backward very easily. Now we face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of first node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of the last node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NULL. Therefore, we have to be careful in case of NULL pointers. To remove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 pointers, we made the circular link list by connecting the first and last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program employing the list data structure is not concerned with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implementation. We do not care how the list is being implemented whether through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array, singly linked list, doubly linked list or circular linked list. It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witnessed that in these four implementations of the list, the interface remained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i.e. it implements the same methods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add, get, next, 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etc.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proves that with this encapsulation attained by making a class, we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concerned with its internal implementation. The implementation of these abstract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types can be changed anytime. These abstract data types are implemented using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classes in C++. If the list is implemented using arrays while not fulfilling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requirements, we can change the list implementation. It can be implemented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singly-link list or doubly link list. As long as the interface is same,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can change the internal implementation of the list and the program using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list will not be affected at all. This is the abstract data type (ADT). What we care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is the methods that are available for use, with the List ADT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etc methods. We have not studied enough examples to understand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benefits of abstract data types. We will follow this theme while developing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ADT. We will publish the interface and keep the freedom to change the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ADT without effecting users of the ADT. The C++ classes provide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programmer an ability to create such ADTs. What benefits can we get with the help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these ADTs and classes? When we develop an ADT or a class or factory then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users of this factory are independent of how this factory works internally.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have ordered the car factory (car class) to produce a new car and it replies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a long time. If we ordered the remove method to remove one node and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waiting and it keeps on working and working. Then we might think that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is not correct. Although, we are not concerned with the internal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this ADT yet it is necessary to see whether this ADT is useful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solving our problem or not. It should not become a bottleneck for us. If the method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using is too much time consuming or it has some problem in terms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 used. On one side, we only use the interfaces provided by these ADTs,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classes, or factories as long as they do what they promise. We are not concerned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internal details. On the other hand, we have to be careful that these factories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should not take too much time so that these will not be useful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distinction will always be there. Sometimes, the source code of classes is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provided. We will be provided libraries, as standard libraries are available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compiler. These classes are in compiled form i.e. are in object form or in binary form.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opening these files, you will not see the C++ code, rather binary code. When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read the assembly language code, it will give some idea what this binary code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about. You can view the interface methods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.h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file. As an application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programmer, you have to see that the ADTs being used are written in a better way.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 to be remembered here is that you should not worry about the internal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these ADTs. If we want to change the internal implementation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ADTs, it can be done without affecting the users of these ADTs. While writing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program, you should check its performance. If at some point, you feel that it is slow,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check the ADTs used at that point. If some ADT is not working properly, you can ask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writer of the ADT to change the internal implementation of that ADT to ensure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it works properly.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Stacks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another important data structure. You must have a fair idea of stacks.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examples of stacks in real life are stack of books, stack of plates etc.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 new items at the top of the stack or remove them from the top. We can only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access the elements of the stack at the top. Following is the definition of stacks.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“Stack is a collection of elements arranged in a linear order”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 example to understand this. Suppose we have some video cassettes.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took one cassette and put it on the table. We get another cassette and put it on the top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first cassette. Now there are two cassettes on the table- one at the top of other.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take the third cassette and stack it on the two. Take the fourth cassette and stack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three cassettes.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want to take the cassette, we can get the fourth cassette which is at the top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remove it from the stack. Now we can remove the third cassette from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so on. Suppose that we have fifty cassettes stacked on each other and want to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49350" y="3791585"/>
            <a:ext cx="4572000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49350" y="3953510"/>
            <a:ext cx="4572000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49350" y="4114800"/>
            <a:ext cx="4572000" cy="3263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access the first cassette that is at the bottom of the stack. What will happen?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cassettes will fell down. It will not happen exactly the same in the computer.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some problem. It does not mean that our data structure is incorrect. As we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example that the top most cassette will be removed first and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cassette will be stacked at the top. The same example can be repeated with the books.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daily life, we deal with the stacked goods very carefully.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discuss how to create a stack data structure or a factory, going to create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object for us. What will be the attributes of this object? During the discussion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list, we came to know that a programmer adds values in the list, removes values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list and moves forward and backward. In case of a stack too, we want to add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things and remove things. We will not move forward or backward in the stack.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items can be added or removed at the top only. We can not suggest the removal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middle element of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 interface methods of the stacks. Some important methods are: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Method Name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Description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push(x)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Insert x as the top element of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pop()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Remove the top element of the stack and return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top()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Return the top element without removing it from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will take an element and insert it at the top of the stack.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will become top element.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will remove the top element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stock and return it to the calling program.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returns the top-most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element but does not remove it from the stack. The interface method names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choose has special objective. In case of list, we have used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suitable names. However, for stack, we are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depict the activity from the method name like push means that we are placing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on the top of the stack and pushing the other elements down.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example of a hotel’s kitchen may help understand the concept of stacks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comprehensive manner. In the kitchen, the plates are stacked in a cylinder having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spring on the bottom. When a waiter picks a plate, the spring moves up the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plates. This is a stack of plates. You will feel that you are pushing the plates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cylinder and when you take a plate from the cylinder it pops the other plates. The top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is used to get the top- most element without removing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you create classes, interfaces and methods, choose such names which depicts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these method are doing. These names should be suitable for that class or factory.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working of stack with the help of a diagram.  </a:t>
            </a:r>
            <a:endParaRPr lang="ko-KR" altLang="en-US" dirty="0" smtClean="0" sz="1056"/>
          </a:p>
          <a:p>
            <a:pPr marL="0" indent="0" defTabSz="15240" algn="l">
              <a:lnSpc>
                <a:spcPts val="1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61415" y="1143000"/>
            <a:ext cx="1444625" cy="11766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011170" y="1130935"/>
            <a:ext cx="2703830" cy="1188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271270" y="2816225"/>
            <a:ext cx="594360" cy="11798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139950" y="2816225"/>
            <a:ext cx="594360" cy="11798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020695" y="2804160"/>
            <a:ext cx="594360" cy="11798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3889375" y="2816225"/>
            <a:ext cx="594360" cy="11798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4827905" y="2816225"/>
            <a:ext cx="594360" cy="11798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4099560" y="4123690"/>
            <a:ext cx="207010" cy="673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5035550" y="4123690"/>
            <a:ext cx="207010" cy="673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3285490" y="4121150"/>
            <a:ext cx="207645" cy="69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515110" y="4123690"/>
            <a:ext cx="207010" cy="673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1098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1098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109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1098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push(2)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push(5)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push(7)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push(1) </a:t>
            </a:r>
            <a:endParaRPr lang="ko-KR" altLang="en-US" dirty="0" smtClean="0" sz="1098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109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109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9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98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1       pop()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push(21)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21       pop()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7        pop() </a:t>
            </a:r>
            <a:endParaRPr lang="ko-KR" altLang="en-US" dirty="0" smtClean="0" sz="1098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start, the stack is empty. First of all, we push the value 2 in the stack.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result, the number 2 is placed in the stack. We have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 that points at the top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element. Then we said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see how 2 and 5 are stacked. The number 5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placed at the top of number 2 and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moves one step upward.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pushed the number 7 which is placed on the top and the number 2 and 5 are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we push number 1. The last figure in the first row shows the stacked values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numbers- 1, 7, 5 and 2.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pop the elements from the stack. The first figure of second row shows the pop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operation. As a result, the number 1 is popped. Than again we push the number 21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stack. The number 7, 5, and 2 are already in the stack and number 21 is pushed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top. If we pop now, the number 21 is popped. Now number 7 is at the top.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pop again, the number 7 is popped. Pop again and the number 5 is popped and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remains in the stack. Here with the help of this diagram, we are proving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are added at the top and removed at the top in a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last element to go into the stack is the first to come out. That is why, a stack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(Last In First Out) structure. We know that the last element pushed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 is at the top which is removed when we call pop. Let’s see some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scenarios.  What happens if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pop()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while there is no element? One possible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way-out is that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 that returns true if stack is empty and false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otherwise. This is a boolean function that returns true if there is no element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Otherwise, it will return false. The second option is this that when we call pop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an empty stack, it throws an exception. This is a concept of advanced C++.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Exception is also a way to convey that some unusual condition has arisen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something has gone wrong. Suppose, if we have a division method and try to divide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number with zero. This method will throw ‘division by zero’ exception.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 of 519 </a:t>
            </a:r>
            <a:endParaRPr lang="ko-KR" altLang="en-US" dirty="0" smtClean="0" sz="1056"/>
          </a:p>
        </p:txBody>
      </p:sp>
      <p:sp>
        <p:nvSpPr>
          <p:cNvPr id="122" name="Rect 3"/>
          <p:cNvSpPr>
            <a:spLocks noGrp="1" noChangeArrowheads="1"/>
          </p:cNvSpPr>
          <p:nvPr/>
        </p:nvSpPr>
        <p:spPr>
          <a:xfrm rot="0">
            <a:off x="3407410" y="1926590"/>
            <a:ext cx="2238375" cy="1630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98"/>
          </a:p>
          <a:p>
            <a:pPr marL="0" indent="0" defTabSz="15240" algn="l">
              <a:lnSpc>
                <a:spcPts val="10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98">
                <a:solidFill>
                  <a:srgbClr val="000000"/>
                </a:solidFill>
                <a:latin typeface="Times New Roman"/>
              </a:rPr>
              <a:t>7 </a:t>
            </a:r>
            <a:endParaRPr lang="ko-KR" altLang="en-US" dirty="0" smtClean="0" sz="1098"/>
          </a:p>
        </p:txBody>
      </p:sp>
      <p:sp>
        <p:nvSpPr>
          <p:cNvPr id="123" name="Rect 3"/>
          <p:cNvSpPr>
            <a:spLocks noGrp="1" noChangeArrowheads="1"/>
          </p:cNvSpPr>
          <p:nvPr/>
        </p:nvSpPr>
        <p:spPr>
          <a:xfrm rot="0">
            <a:off x="2795270" y="1905000"/>
            <a:ext cx="1795780" cy="16186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9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98"/>
          </a:p>
          <a:p>
            <a:pPr marL="0" indent="0" defTabSz="15240" algn="l">
              <a:lnSpc>
                <a:spcPts val="8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98">
                <a:solidFill>
                  <a:srgbClr val="000000"/>
                </a:solidFill>
                <a:latin typeface="Times New Roman"/>
              </a:rPr>
              <a:t>top </a:t>
            </a:r>
            <a:endParaRPr lang="ko-KR" altLang="en-US" dirty="0" smtClean="0" sz="1098"/>
          </a:p>
        </p:txBody>
      </p:sp>
      <p:sp>
        <p:nvSpPr>
          <p:cNvPr id="124" name="Rect 3"/>
          <p:cNvSpPr>
            <a:spLocks noGrp="1" noChangeArrowheads="1"/>
          </p:cNvSpPr>
          <p:nvPr/>
        </p:nvSpPr>
        <p:spPr>
          <a:xfrm rot="0">
            <a:off x="1661160" y="1505585"/>
            <a:ext cx="3996690" cy="2743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98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98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9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98"/>
          </a:p>
          <a:p>
            <a:pPr marL="0" indent="0" defTabSz="15240"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endParaRPr lang="ko-KR" altLang="en-US" dirty="0" smtClean="0" sz="1098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98">
                <a:solidFill>
                  <a:srgbClr val="000000"/>
                </a:solidFill>
                <a:latin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98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Times New Roman"/>
                <a:ea typeface="Times New Roman"/>
              </a:rPr>
              <a:t>5       pop() </a:t>
            </a:r>
            <a:endParaRPr lang="ko-KR" altLang="en-US" dirty="0" smtClean="0" sz="1098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83335" y="5056505"/>
            <a:ext cx="673735" cy="13354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09800" y="5535295"/>
            <a:ext cx="557530" cy="3168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856230" y="5391785"/>
            <a:ext cx="2709545" cy="5549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Currently we will not throw an exception but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The user who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employing the stack is responsible to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before calling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isEmpty()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returns false . Otherwise, there will be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Stack Implementation using array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implementation of the stack. Suppose we implement the stack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arrays. The stack shown in the above diagram may be considered as an array.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is shown vertically. We can implement the stack using array. The interface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remain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methods. The user of the stack does not need to know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stack is internally implemented with the help of array. The worst case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and deletion from an array may happen when we insert and delete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beginning of the array. We have to shift elements to the right for insertion and left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removal of an element. We face the same problem while implementing the list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use of the array. If we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elements from the start of the array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implementation, this problem will arise. In case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have to shift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elements to the right.  However, in case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after removing the element,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shift the elements of stack that are in the array to the left. If we push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at the end of the array, there is no need to shift any element. Similarly 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removes the last element of the stack which is at the end of the array, no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is shifted. To insert and remove elements at the end of the array we need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shift its elements. Best case for insert and delete is at the end of the array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no need to shift any element. We should implement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pop()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inserting and deleting at the end of an array.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top </a:t>
            </a:r>
            <a:endParaRPr lang="ko-KR" altLang="en-US" dirty="0" smtClean="0" sz="923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923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923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923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diagram, on the left side we have a stack. There are four elements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i.e. 1, 7, 5 and 2. The element 1 is the extreme-most that means that it is inserted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end whereas 7, 5, and 2 have been added before. As this is a LIFO structure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 1 should be popped first. On the right side we have an array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 0, 1, 2, 3 and so on. We have inserted the numbers 2, 5, 7 and 1.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decided that the elements should be inserted at the end of the array. Therefore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most recent element i.e. 1 is at position 3.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the index representing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the most recent element. Now we will discuss the stack implementation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detail using array.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choose a maximum size for the array. It is possible that the array may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‘fill-up’ if we push enough elements. Now more elements cannot be pushed.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should the user of the stack do?  Internally, we have implemented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array which can be full. To avoid this, we write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that will return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52 of 519 </a:t>
            </a:r>
            <a:endParaRPr lang="ko-KR" altLang="en-US" dirty="0" smtClean="0" sz="1056"/>
          </a:p>
        </p:txBody>
      </p:sp>
      <p:sp>
        <p:nvSpPr>
          <p:cNvPr id="127" name="Rect 3"/>
          <p:cNvSpPr>
            <a:spLocks noGrp="1" noChangeArrowheads="1"/>
          </p:cNvSpPr>
          <p:nvPr/>
        </p:nvSpPr>
        <p:spPr>
          <a:xfrm rot="0">
            <a:off x="3072130" y="5599430"/>
            <a:ext cx="1189990" cy="1308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923"/>
          </a:p>
        </p:txBody>
      </p:sp>
      <p:sp>
        <p:nvSpPr>
          <p:cNvPr id="128" name="Rect 3"/>
          <p:cNvSpPr>
            <a:spLocks noGrp="1" noChangeArrowheads="1"/>
          </p:cNvSpPr>
          <p:nvPr/>
        </p:nvSpPr>
        <p:spPr>
          <a:xfrm rot="0">
            <a:off x="1731010" y="5504815"/>
            <a:ext cx="2884805" cy="883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1 </a:t>
            </a:r>
            <a:endParaRPr lang="ko-KR" altLang="en-US" dirty="0" smtClean="0" sz="923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top = 3 </a:t>
            </a:r>
            <a:endParaRPr lang="ko-KR" altLang="en-US" dirty="0" smtClean="0" sz="923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boolean value. If this method returns true, it means that the stack (array) is full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 more elements can be inserted. Therefore before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push(x)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user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false, it will depict that stack is not full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an element can be inserted. This method has become the part of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interface. So we have two more methods in our interface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discuss the actual C++ code of these operations. These methods are part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stack class or stack factory. We have an array 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its index.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is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pop()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A[current--];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method, the recent element is returned to the caller, reducing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by 1.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push(int x)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A[++current] = x;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++current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means that add one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then use it. That also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that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should be inserted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plus one position. Here we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testing that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index has increased from the array size or not. As discussed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earlier that before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push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method, the user must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isFull()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method.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it is the responsibility of the user to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before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Therefore there is no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top()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A[current];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returns the element at the current position. We are not changing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here. We simply want to return the top element.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isEmpty()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( current == -1 );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also tests the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whether it is equal to -1 or not. Initially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stack is created,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will be -1. If the user calls the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572000"/>
            <a:ext cx="4773295" cy="42278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before pushing any element, it will return true.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isFull()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( current == size-1);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checks that the stack is full or not.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shows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equal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minus one, it means that the stack is full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cannot insert any element in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determined the cost and benefit of all the data structures. Now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much time these methods take. A quick examination shows that all the five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 take constant time. In case of list,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takes too much time as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to traverse the list. Whereas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are relatively quick.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of stack are very simple. There is no complexity involved. We insert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one side and also remove from that side not in the middle or some other place.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we need not to carry out a lot of work. During the usage of the array,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methods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isFull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isEmpty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all are constant time operations.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not much difference of time between them.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complete code of the program is: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Stack implementation using array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The Stack class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 Stack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Stack() { size = 10; current = -1;}  //constructor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pop(){ return A[current--];}     // The pop function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push(int x){A[++current] = x;} // The push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top(){ return A[current];}       // The top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isEmpty(){return ( current == -1 );} // Will return true when stack is empty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isFull(){ return ( current == size-1);} // Will return true when stack is full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int   object;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The data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int   current;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Index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int   size;  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max size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int   A[10]; 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Array of 10 elements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The main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main()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Stack stack;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creating a stack object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8251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267200"/>
            <a:ext cx="4773295" cy="22009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pushing the 10 elements to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for(int i = 0; i &lt; 12; i++)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if(!stack.isFull())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checking stack is full or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stack.push(i);  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push the element at the top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cout &lt;&lt;"\n Stack is full, can't insert new element";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pop the elements at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 (int i = 0; i &lt; 12; i++)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if(!stack.isEmpty())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checking stack is empty or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cout &lt;&lt; "\n The popped element = " &lt;&lt; stack.pop();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cout &lt;&lt;"\n Stack is empty, can't pop";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output of the program is: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is full, can't insert new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is full, can't insert new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popped element =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is empty, can't pop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Stack is empty, can't pop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However, a programmer finds the size-related problems in case of an array. What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we do when the array is full? We can avoid the size limitation of a stack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 with an array by using a linked list to hold the stack elements. Further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discussion on this issue will be made in the next lecture.  </a:t>
            </a:r>
            <a:endParaRPr lang="ko-KR" altLang="en-US" dirty="0" smtClean="0" sz="1056"/>
          </a:p>
          <a:p>
            <a:pPr marL="0" indent="0" defTabSz="15240" algn="l">
              <a:lnSpc>
                <a:spcPts val="1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06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3.3.2, 3.3.3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(Postfix expressions)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From the Previous Lecture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Using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Implementation: Array or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Stack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Precedence of Operators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 of Infix to Postfix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Stack From the Previous Lecture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started discussing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 and its implementation in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lecture. We also implemented stack structure using an array and wrote code for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push(),		pop()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operations. We realized that we have to specify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before using it whether we declare it statically or dynamically. Arrays are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fixed size and when they become full, no more elements can be added to them.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to get to know that the array has gone full, we wrote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became the responsibility of the user of the stack structure to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trying to insert an element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otherwise the whole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 could crash.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implemented as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 be empty like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structures.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important to understand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there in stack implementation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of limitation of array but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part of the stack characteristics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functionality.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previously in the implementation of list structure, we used linked list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allocating nodes dynamicallyin order to avoid the fixed sized limitation of array.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 also, again to overcome the limitation of array, we are going to make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linked list in place of array to implement the stack data structure. Let’s see, how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implement a stack structure using linked list and how the implementation 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look like internally.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Stack Using Linked List </a:t>
            </a:r>
            <a:endParaRPr lang="ko-KR" altLang="en-US" dirty="0" smtClean="0" sz="1230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31265" y="6257290"/>
            <a:ext cx="753110" cy="15214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419985" y="6830695"/>
            <a:ext cx="573405" cy="2927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465830" y="6529070"/>
            <a:ext cx="2359025" cy="6946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012190" y="7845425"/>
            <a:ext cx="4547235" cy="2927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avoid the size limitation of a stack implemented with an array, with the help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a linked list to hold the stack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needed in case of array, we have to decide where to insert elements in the list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to delete them so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run at the fastest.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Primarily, there are two operations of a stack;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 stack carries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lifo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behavior i.e. last in, first out.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know that while implementing stack with an array and to achieve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behavior,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used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 at the end of the array. Instead of pushing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popping elements at the beginning of the array that contains overhead of shifting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towards right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 element at the start and shifting elements towards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 element from the start. To avoid this overhead of shifting left and right,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decided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 at the end of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if we use linked list to implement the stack, where will we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 the list and from where will we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element? There are few facts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consider, before we make any decision: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For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singly-linked 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insert at start or end takes constant time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pointers respectively. As far as insertion is concerned, it is workable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equally efficient at the start and end.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Removing an element at the start is constant time but removal at the end requires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the list to the node one before the last. So removing from the start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better approach rather than from the end.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it makes sense to place stack elements at the start of the list because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and removal take constant time. As we don’t need to move back and forth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within the list, therefore, there is no requirement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doubly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circular linked list.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Singly linked 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 serve the purpose. Hence, the decision is to insert the element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start in the implementation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and remove the element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implementation.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head</a:t>
            </a:r>
            <a:endParaRPr lang="ko-KR" altLang="en-US" dirty="0" smtClean="0" sz="1056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top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5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    Fig 1. Stack using array (on left side) and linked list (on right side) </a:t>
            </a:r>
            <a:endParaRPr lang="ko-KR" altLang="en-US" dirty="0" smtClean="0" sz="1056" b="1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parts of above figure.On the left hand, there is the stack implemented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an array. The elements present inside this stack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most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57 of 519 </a:t>
            </a:r>
            <a:endParaRPr lang="ko-KR" altLang="en-US" dirty="0" smtClean="0" sz="1056"/>
          </a:p>
        </p:txBody>
      </p:sp>
      <p:sp>
        <p:nvSpPr>
          <p:cNvPr id="139" name="Rect 3"/>
          <p:cNvSpPr>
            <a:spLocks noGrp="1" noChangeArrowheads="1"/>
          </p:cNvSpPr>
          <p:nvPr/>
        </p:nvSpPr>
        <p:spPr>
          <a:xfrm rot="0">
            <a:off x="3623945" y="6952615"/>
            <a:ext cx="193675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2691130"/>
            <a:ext cx="4895215" cy="14204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09015" y="8641080"/>
            <a:ext cx="4895215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49350" y="6346190"/>
            <a:ext cx="752475" cy="14935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338070" y="6910070"/>
            <a:ext cx="575945" cy="2863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2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392170" y="6614160"/>
            <a:ext cx="2350135" cy="6794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2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012190" y="7927975"/>
            <a:ext cx="3903980" cy="2774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recent element of the stack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may be removed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called at this point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time. On the right side, there is the stack implemented using a linked list.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has four nodes inside it which are liked in such a fashion that the very first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contains the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first node with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pointing to the node with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node with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the node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the node with value 5 is pointing to the last node with value 2. To make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stack data strcuture using a linked list, we have inserted new nodes at the start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below to implement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pop()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   int  x   =   head-&gt;get();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   Node *  p   =   head;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   head   =   head-&gt;getNext();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   delete  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   return 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1, we have declared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retrieved one element from the node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that is pointed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Remember,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and its get()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that returns the value inside the node.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2,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declared as a pointer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address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being saved inside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3, the address of the next node is being retrieved with the help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getNext()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and  being assigned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After this assignment,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has moved forward and started pointing to the next element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4, the node object pointed by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being deallocated (deleted).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5, the function is returning the value of the node retrieved in step 1. 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head</a:t>
            </a:r>
            <a:endParaRPr lang="ko-KR" altLang="en-US" dirty="0" smtClean="0" sz="1056" b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top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5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    Fig 2. A node removed from the stack after the pop() call </a:t>
            </a:r>
            <a:endParaRPr lang="ko-KR" altLang="en-US" dirty="0" smtClean="0" sz="1056" b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stack: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push(int  x)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58 of 519 </a:t>
            </a:r>
            <a:endParaRPr lang="ko-KR" altLang="en-US" dirty="0" smtClean="0" sz="1056"/>
          </a:p>
        </p:txBody>
      </p:sp>
      <p:sp>
        <p:nvSpPr>
          <p:cNvPr id="142" name="Rect 3"/>
          <p:cNvSpPr>
            <a:spLocks noGrp="1" noChangeArrowheads="1"/>
          </p:cNvSpPr>
          <p:nvPr/>
        </p:nvSpPr>
        <p:spPr>
          <a:xfrm rot="0">
            <a:off x="3542030" y="7031990"/>
            <a:ext cx="1936115" cy="1460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11061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56360" y="3764280"/>
            <a:ext cx="753110" cy="14935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545080" y="4084320"/>
            <a:ext cx="3404870" cy="12585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374775" y="5379720"/>
            <a:ext cx="3581400" cy="3263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   Node *   newNode   =   new  Node();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   newNode-&gt;set(x);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   newNode-&gt;setNext(head);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   head   =  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1, a new node is created,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 Node()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and returned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assigned to a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starts pointing to the newly created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2, the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set into the newly created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3, the next node of the newly created node is set to the node pointed to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setNext(head)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4,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made to point to the newly created node.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head</a:t>
            </a:r>
            <a:endParaRPr lang="ko-KR" altLang="en-US" dirty="0" smtClean="0" sz="1056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top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5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newNode </a:t>
            </a:r>
            <a:endParaRPr lang="ko-KR" altLang="en-US" dirty="0" smtClean="0" sz="1056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3. A node added to the stack after the push(9) call</a:t>
            </a:r>
            <a:endParaRPr lang="ko-KR" altLang="en-US" dirty="0" smtClean="0" sz="1056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are two primary methods of a stack.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we can keep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pushing elements and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pop(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methods. Elements can be removed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till the time, it gets empty. As discussed earlier,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characteristic but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was implemented because of the size limitation of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no more using array to implement a stack. Rather, we have used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for stack implementation. Therefore,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might not be required here.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interesting question arises here. Can we add infinite elements to the stack now.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remember that this program of stack will run on computer that definitely has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limited memory. Memory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Address space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of a computer is the space (physical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and disk space) that can be addressed by the computer which is limited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inlcuding the limited physical memory. Disk space is used 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virtual memory (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not discuss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virtual memory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detail here). A computer with 32-bit addressing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upto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32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-1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memory locations and similarly a computer with 64-bit addressing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address upto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64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addresses. If this address space becomes full, the stack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definitely be full. However, the  stack implementation is not liable for this fullness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space and it is the limitation of a computer address space. Therefore, we don’t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to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before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ing the element. Rather,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called before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ing an element from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59 of 519 </a:t>
            </a:r>
            <a:endParaRPr lang="ko-KR" altLang="en-US" dirty="0" smtClean="0" sz="1056"/>
          </a:p>
        </p:txBody>
      </p:sp>
      <p:sp>
        <p:nvSpPr>
          <p:cNvPr id="145" name="Rect 3"/>
          <p:cNvSpPr>
            <a:spLocks noGrp="1" noChangeArrowheads="1"/>
          </p:cNvSpPr>
          <p:nvPr/>
        </p:nvSpPr>
        <p:spPr>
          <a:xfrm rot="0">
            <a:off x="3749040" y="4446905"/>
            <a:ext cx="1936750" cy="7804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441450"/>
            <a:ext cx="4895215" cy="12649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remaining methods of the stack while using linked list to implement it.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top()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  head-&gt;get();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isEmpty()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  ( head   ==   NULL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above-mentioned methods i.e.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top()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very simple functions.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retrieving the top element (pointed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stack and returning it back by value. It is important to note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removing the element from the stack, but only retrieving it. The one statement inside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check to see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not pointing to any node and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means the stack is empty, the method returns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otherwise it returns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false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 four operations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take constant time. These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very simple methods and don’t contain loops. They are also not CPU hungry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operation. Also note that we have not written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implementing stack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Stack Implementation: Array or Linked List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Since both implementations support stack operations in constant time,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are the possible reasons to prefer one implementation to the other.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Allocating and de-allocating memory for list nodes does take more time than pre-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allocated array. Memory allocation and de-allocation has cost in terms of time,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especially, when your system is huge and handling a volume of requests.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comparing the stack implementation, using an array versus a linked list,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important to consider this point carefully.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List uses as much memory as required by the nodes. In contrast, array requires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allocation ahead of time. In the previous bullet, the point was the time required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allocation and de-allocation of nodes at runtime as compared to one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allocation of an array. In this bullet, we are of the view that with this runtime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allocation and de-allocation of nodes, we are also getting an advantage that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consumes only as much memory as required by the nodes of list. Instead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allocating a whole chunk of memory at one time as in case of array, we only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 memory that is actually required so that the memory is available for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programs. For example, in case of implementing stack using array, you allocated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for 1000 elements but the stack, on average, are using 50 locations. So,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average, 950 locations remain vacant. Therefore, in order to resolve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problem, linked list is handy.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List pointers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head, 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require extra memory. Consider the manipulation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elements. We can set and get the individual elements with the use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index; we don’t need to have additional elements or pointers to access them.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in case of linked list, within each node of the list, we have one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pointing to the next node of the list. Therefore, for 1000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stack implemented using list, there will be 1000 extra pointer variables.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 that stack is implemented using ‘singly-linked’ list. Otherwise,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doubly linked list, this overhead is also doubled as two pointer variables are stored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within each node in that case.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Array has an upper limit whereas list is limited by dynamic memory allocation.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words, the linked list is only limited by the address space of the machine.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already discussed this point at reasonable length in this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Use of Stack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 of uses of stack include- traversing and evaluating prefix,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A+B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we think of applying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operator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“+”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operands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and B. We have been writing this kind of expressions right from our primary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classes. There are few important things to consider here: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 operator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requires two operators or in other words “+”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 operator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Secondly, in the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A+B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one operand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on left of the operator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operand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on the right side. This kind of expressions where the operator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present between two operands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expressions. We take the meanings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as to add both operands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other ways of writing expressions: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We could write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+AB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operator is written before the operands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kinds of expressions are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Expressions.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We can also write it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AB+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operator is written after the operands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expression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Postfix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expression.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prefixes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refer to the position of the operator with respect to the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another expression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form: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B *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consists of three operands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B,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two operator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+,*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know that multiplication () is done before addition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(+), therefore, this expression is actually interpreted as: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A + (B * C)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interpretation is because of the precedence of multiplication (*) over addition (+).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precedence can be changed in an expression by using the parenthesis. We will discuss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a bit later.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see, how can we convert the infix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(B * C)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into the postfix form.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we will convert the multiplication to postfix form as: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(B C *)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Secondly,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convert addition to postfix as: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(B C *) 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finally it will lead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resultant postfix expression i.e. 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B C * 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Let’s convert the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(A + B) * C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postfix. You might have noticed that to overcome the precedence of multiplication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(*) we have used parenthesis around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+ 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because we want to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addition operation first before multiplication.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(A + B) * C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infix form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(A B +) * 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convert addition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(A B +) C *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convert multiplication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 B + C *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postfix form </a:t>
            </a:r>
            <a:endParaRPr lang="ko-KR" altLang="en-US" dirty="0" smtClean="0" sz="1056" i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6699250"/>
            <a:ext cx="4895215" cy="11309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expressions may seem to be difficult to understand and evaluate at first. But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one way of writing and evaluating expressions. As we are normally used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 form, this postfix form might be little confusing. If a programmer knows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algorithm, there is nothing complicated and even one can evaluate the expression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manually.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Precedence of Operators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five binary operators,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addition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subtraction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multiplication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division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exponentiation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are aware of some other binary operators. For example,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relational operators are binary ones. There are some unary operators as well.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 only one operand e.g. – and +. There are rules or order of execution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operators in Mathematics called precedence. Firstly,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exponentiation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executed, followed by multiplication/division and at the end addition/subtraction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done. The order of precedence is (highest to lowest):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Exponentiation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Multiplication/division *, /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Addition/subtraction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+, -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operators of same precedence, the left-to-right rule applies: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A+B+C means (A+B)+C.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exponentiation, the right-to-left rule applies: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B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 means A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(B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understand these precedence of operators and infix and postfix forms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expressions. A programmer can solve a problem where the program will be aware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precedence rules and convert the expression from infix to postfix based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precedence rules.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Examples of Infix to Postfix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few examples to elaborate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postfix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forms of expressions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based on their precedence order: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+ 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 +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+ 60 – 23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60 + 23 –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(A + B)*(C – D 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 + C D – *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B * C – D + E/F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C*D – E F/+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lecture we will see, how to convert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postfix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how to evaluate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postfix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form besides the ways to use stack for these operations. </a:t>
            </a:r>
            <a:endParaRPr lang="ko-KR" altLang="en-US" dirty="0" smtClean="0" sz="1056"/>
          </a:p>
          <a:p>
            <a:pPr marL="0" indent="0" defTabSz="15240"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62 of 519 </a:t>
            </a:r>
            <a:endParaRPr lang="ko-KR" altLang="en-US" dirty="0" smtClean="0" sz="1056"/>
          </a:p>
        </p:txBody>
      </p:sp>
      <p:sp>
        <p:nvSpPr>
          <p:cNvPr id="152" name="Rect 3"/>
          <p:cNvSpPr>
            <a:spLocks noGrp="1" noChangeArrowheads="1"/>
          </p:cNvSpPr>
          <p:nvPr/>
        </p:nvSpPr>
        <p:spPr>
          <a:xfrm rot="0">
            <a:off x="3486785" y="6705600"/>
            <a:ext cx="455295" cy="158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Postfix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5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07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62710" y="3764280"/>
            <a:ext cx="3940810" cy="8229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3.3.3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Evaluating postfix expressions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10) An example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11) Infix to postfix Conversion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Evaluating postfix expressions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talked about ‘infix and postfix expression’ and tried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how to write the postfix notation of mathematical expressions.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can write the operators either after the operands i.e. postfix notation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the operands i.e. prefix notation. Some of the examples are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Infix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Postfix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+ 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 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+ 60 – 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60 + 23 –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(A + B)*(C – D 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 + C D –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B * C – D + E/F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C*D – E F/+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last expression seems a bit confusing but may prove simple by following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rules in letter and spirit. In the postfix form, parentheses are not used. Consider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 expressions as ‘4+3*5’ and ‘(4+3)*5’. The parentheses are not needed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but are necessary in the second expression. The postfix forms are: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4+3*5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435*+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(4+3)*5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43+5*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case of not using the parenthesis in the infix form, you have to see the precedence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rule before evaluating the expression. In the above example, if we want to add first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have to use the parenthesis. In the postfix form, we do not need to use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parenthesis. The position of operators and operands in the expression makes it clear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order we have to do the multiplication and addition.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how the infix expression can be evaluated. Suppose we have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expression. How can we evaluate it? Each operator in a postfix expression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refers to the previous two operands. As the operators are binary (we are not talking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unary operators here), so two operands are needed for each operator. The nature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these operators is not affected in the postfix form i.e. the plus operator (+)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apply on two operands. Each time we read an operand, we will push it on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going to evaluate the postfix expression with the help of stack. After reaching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operator, we pop the two operands from the top of the stack, apply the operator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 the result back on the stack. Now we will see an example to comprehend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working of stack for the evaluation of the postfix form. Here is the algorithm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pseudo code form. After reading this code, you will understand the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38910" y="1130935"/>
            <a:ext cx="3791585" cy="23558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s;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declare a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 not end of input ) {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not end of postfix expression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= get next element of input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e is an operand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s.push( 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op2 = s.pop();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op1 = s.pop();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= result of applying operator ‘e’ to op1 and op2;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s.push( value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finalresult = s.pop();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declared a Stack‘s’. There is a ‘while loop’ along with ‘not end of input’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condition. Here the input is our postfix expression. You can get the expression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keyboard and use the enter key to finish the expression. In the next statement,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the next element and store it in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This element can be operator or operand.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 needs not to be single digit. It may be of two digits or even more like 60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234 etc. The complete number is stored in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Then we have an ‘if statement’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check whether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an operand or not. If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an operand than we wrote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s.push(e)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we pushed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onto the stack. If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not the operand, it may be an operator.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we will pop the two elements and apply that operator. We pop the stack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the operand in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We pop the stack again and store the element in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 operator in ‘e’ is applied to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and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before storing the result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end, we push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on the stack. After exiting the loop,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may have only one element in the stack. We pop this element which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final result.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example of 4+3*2 having a postfix form of 432*+. Here 4, 3, and 2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operands whereas + and * are operators. We will push the numbers 4, 3 and 2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before getting the operator *. Two operands will be popped from the stack and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being applied on these. As stack is a LIFO structure, so we get 2 first and then 3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result of pop. So 2 is store in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and 3 in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Let’s have a look on the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again. On applying * on these, we will push the result (i.e. 6) on the stack. The ‘while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loop’ will be executed again. In case of getting the next input as operand,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 it on the stack otherwise we will pop the two operands and apply the operator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these. Here the next element is the operator +. So two operands will be popped from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 i.e. 6 and 4. We will apply the operator plus on these and push the result (i.e.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10) on the stack. The input is finished. Now we will pop the stack to get the final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 i.e. 10.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An Example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earlier example, we have used the stack to solve the postfix expression.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another comprehensive example. The postfix expression is: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2 3 + - 3 8 2 / + * 2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3 +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40865" y="7717790"/>
            <a:ext cx="2987040" cy="11245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6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evaluate this long expression using stack. Let’s try to solve it on paper.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five columns here i.e. input, op1, op2, value and stack. We will run our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pseudo code program. In the start, we read the input as a result we get number 6. As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operand, so it will be pushed on the stack. Then we have number 2 which will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pushed on the stack. Now 2 is the most recent element. The next element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3 that will also be pushed on the stack. Now, there are three elements on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i.e. 3, 2 and 6. The number 3 is the most recent. On popping, we will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3 first of all. The next element is ‘+’, an operator. Now the else part of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pseudo code is executed. We will pop two operands from the stack and apply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(+) on these. The number 3 will be stored in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number 2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operator (+) will be applied on these i.e. 2+3 and the result is stored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will push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value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(i.e. 5) on the stack. Now we have two numbers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 i.e. 5 and 6. The number 5 is the most recent element. The next element is ‘-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‘. As it is also an operator, so we will pop the two elements from the stack i.e. 5 and 6.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5 in op2 and 6 in op1. On applying the operator (-), we will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 as 1 (6-5). We can’t say op2 - op1. The result (1) will be pushed on stack.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stack, we have only one element i.e. 1. Next three elements are operands so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pushed 3, 8 and 2 on the stack. The most recent element is 2. The next input is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in the expression i.e. ‘/’, we will pop two elements from the stack.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2 will be stored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number 8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apply the operator (/)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(op1/op2), the result is 4 (i.e. 8/2). We push the result on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We have, now, three elements i.e. 4, 3, and 1 on the stack. The next element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plus (+). We will pop the two elements i.e. 4 and 3 and will apply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(+). The result (7) will be pushed on the stack. The next input element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multiply (*). We will pop the two elements i.e. 7 and 1 and the result (7*1 =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7) is pushed on the stack. You have noted that whenever we have an operator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input expression, we have two or more elements on the stack. As the operators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are binary and we need two operands for them. It will never be the case that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pop two elements from the stack and there is only one or no element on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If this happens than it means there is an error in the program and you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popped more values than required. The next input element is 2 that is pushed on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We have, now, the operator (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) in the input. So we will pop the two elements,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op2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hold 2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have the number 7. The operator (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) will be applied 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operands i.e. (7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2) and the result (49) is pushed on the stack. We have, now,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3 in the element being pushed on the stack. The last element is the operator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plus (+). So we pop the two elements i.e. 49 and 2 and apply the operator on these.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result (49+3 = 52) is pushed on the stack. The input expression is finished,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resulting in the final result i.e. 52.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the tabular form of the evaluation of the postfix expression.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Input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op1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op2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value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stack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40865" y="1130935"/>
            <a:ext cx="2987040" cy="3257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40865" y="1454150"/>
            <a:ext cx="2987040" cy="4749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40865" y="1926590"/>
            <a:ext cx="2987040" cy="4781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3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840865" y="3032760"/>
            <a:ext cx="2987040" cy="4813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3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840865" y="3511550"/>
            <a:ext cx="298704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3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840865" y="3828415"/>
            <a:ext cx="2987040" cy="4813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3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840865" y="4309745"/>
            <a:ext cx="2987040" cy="6496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6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↑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stack we can easily solve a very big postfix expression. Suppose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make a calculator that is a part of some application e.g. some spreadsheet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program. This calculator will be used to evaluate expressions. You may want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calculate the value of a cell after evaluating different cells. Evaluation of the infix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programmatically is difficult but it can be done. We will see another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 which being used to solve the expressions in infix form. Currently,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evaluate the values in different cells and put this value in another cell. How can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that? We will make the postfix form of the expression associated with that cell.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can apply the above algorithm to solve the postfix expression and the final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 will be placed at that cell. This is one of the usages of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Infix to postfix Conversion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how to evaluate the postfix expressions while using the stack. How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convert the infix expression into postfix form? Consider the example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spreadsheet. We have to evaluate expressions. The users of this spreadsheet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employ the infix form of expressions. Consider the infix expressions ‘A+B*C’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‘(A+B)*C’. The postfix versions are ‘ABC*+’ and ‘AB+C*’ respectively. The 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operands in postfix is the same as that in the infix. In both the infix expressions,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the order of operands as A, B and then C. In the postfix expressions too,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is the same i.e. A, B, followed by C. The order of operands is not changed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form. However, the order of operators may be changed. In the first expression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‘A+B*C’, the postfix expression is ‘ABC*+’. In the postfix form multiplication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before the plus operator. In scanning from left to right, the operand ‘A’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into postfix expression. First rule of algorithm is that if we find the operand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infix form, put it in the postfix form. The rules for operators are different.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‘+’ cannot be inserted in the postfix expression until its second operand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scanned and inserted. Keep the expression A+B*C in your mind. What is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 of the plus? The first operand is A and the second operand is the result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B*C. The ‘+’ has to wait until the ‘*’ has not been performed. You do the same thing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using the calculator. First you will multiply the B*C and then add A into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result. The ‘+’ has to be stored away until its proper position is found. When ‘B’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seen, it is immediately inserted into the postfix expression. As ‘B’ is the operand,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send the operand to the postfix form. Can the ‘+’ be inserted now?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‘A+B*C’, we cannot insert ‘+’ because ‘*’ has precedence. To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multiplication, we need the second operand. The first operand of multiplication is ‘B’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the second one is ‘C’. So at first, we will perform the multiplication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adding result to ‘A’.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case of ‘(A+B)*C’, the closing parenthesis indicates that ‘+’ must be performed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first. After sending the A and B to postfix perform, we can perform the addition due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presence of the parenthesis. Then C will be sent to the postfix expression.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followed by the multiplication of the C and the result of A + B. The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of this expression is AB+C*. Sometimes, we have two operators and need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decide which to apply first like in this case ‘+’ and ‘*’. In this case, we have to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operator has higher precedence. Assume that we have a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prcd(op1,op2)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two operators. The function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prcd(op1,op2)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return TRUE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precedence over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FASLE otherwise. Suppose we call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function with the arguments ‘*’ and ‘+’ i.e. prcd(*, +), it will return true.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return true in case both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‘+’ e.g. if we have A+B+C, then it does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matter which + we perform first.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prcd(+ , *)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false 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precedence of * is higher than the + operator. The ‘+’ has to wait until * is performed.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try to form an algorithm to convert infix form into postfix form. 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purpose, a pseudo code will be written. We will also write the loops and if conditions.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pseudo code is independent of languages. We will be using a stack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algorithm. Here, the infix expression is in the form of a string. The algorithm is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s;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 not end of input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 = next input character;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c is an operand 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add c to postfix string;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else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while( !s.empty() &amp;&amp; prcd(s.top(),c) ){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op = s.pop();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add op to the postfix string;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s.push( c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while( !s.empty()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op = s.pop();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add op to postfix string;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we will declare a stack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‘while loop’ will continue till the end of input.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read the input character and store it in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Here the input character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 one character, but an operand or an operator. Then we have a conditional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statement. If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an operand, then we will have to add it to postfix string. Whenever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get an operand in the infix form, it will be added to the postfix form. The order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operands does not change in the conversion. However, in this case, the order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operators may change. If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 is the operator, then we will, at first, check that stack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empty besides identifying the precedence of the operators between the input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and the operator that is at the top of the stack. In case of the precedence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operator that is on the stack is higher, we will pop it from the stack and send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string. For example if we have * on the stack and the new input operator is +.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precedence of the + operator is less than the * operator, the operands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multiplication has already been sent to the postfix expression. Now, we should send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* operator to the postfix form. The plus operator (+) will wait. When the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sends all such operators to the postfix string, it will push the new operator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that is in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It has to wait till we get the second operand. Then we will again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the input. On the completion of the input, the while loop will be finished.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a case that input may be completed even at the time when there are still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on the stack. These are operators. To check this, we have another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loop. This loop checks if the stack is not empty, pops the operator and put it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string. Let’s take a look at a comprehensive example to understand it. In case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infix expression, A + B * C, we have three columns, one each for input symbol,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postfix expression and the stack respectively. Now let’s execute the pseudo code.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we get the ‘A’ as input. It is an operand so we put it on the postfix string.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input is the plus operator (+) which will be pushed on the stack. As it is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and we need two operands for it. On having a look at the expression,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might have figure out that the second operand for the plus operator is B*C.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input is the operand B being sent to the postfix expression form. The next thing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is the input element as ‘*’. We know that the precedence of * is higher than that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+. Let’s see how we can do that according to our pseudo code.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prcd(s.top(),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op)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takes two operands. We will get the top element of the stack i.e. + will be used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argument. The second argument is the input operator i.e. *. So the function call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prcd(+, *)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the function  returns false because the precedence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plus operator is not higher than the multiplication operator. So far, we have only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 for multiplication i.e. B. As multiplication is also a binary operator,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have to wait for the second operand. It has to wait and the waiting room is stack.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will push it on the stack. Now the top element of the stack is *.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symbol is ‘C’. Being an operand, C will be added to the postfix expression. 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point, our input expression has been completed. Our first ‘while loop’ executes till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 of input. After the end of the input, the loop will be terminated. Now the control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to the second while loop which says if there is something on the stack, pop it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 it the postfix expression. In this case, we have * and + on the stack. The * is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top of the stack. So when we pop, we get * which is at the top of the stack and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added to the postfix expression. In the result of second pop, we get the plus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(+) which is also added to the postfix expression. The stack is empty now.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while loop will be terminated and postfix expression is formed i.e. ABC*+. 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69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743710" y="1130935"/>
            <a:ext cx="3181985" cy="6489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743710" y="1776730"/>
            <a:ext cx="3181985" cy="3263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43710" y="2099945"/>
            <a:ext cx="3181985" cy="4787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6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743710" y="2575560"/>
            <a:ext cx="3181985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Symbol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postfix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stack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ABC*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ABC*+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have to convert the infix expression into the postfix form, the job is easily done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stack. The above algorithm can easily be written in C++ or 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language, specially, if you already have the stack class. Now you can convert very big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 expressions into postfix expressions. Why we have done this? This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understood with the help of the example of spreadsheet programming where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cell is the evaluation of some expression. The user of the spreadsheets will use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 expressions as they are used to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 we do need the parenthesis in the infix form. We have to evaluate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lower precedence operator before the higher precedence operator. If we have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(A+B) *C, this means that we have to evaluate + before the multiplication.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objective of using parenthesis is to establish precedence. It forces to evaluate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first of all. We also have to handle parenthesis while converting the infix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into postfix one. When an open parenthesis ‘(‘ is read, it must be pushed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stack. This can be done by setting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prcd(op,‘(‘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be FALSE. What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reason to put the parenthesis on the stack? It is due to the fact that as long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closing parenthesis is not found, the open parenthesis has to wait. It is not a unary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operator. Actually, it is a way to show or write precedence. We can handle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 by adding some extra functionality in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prcd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When we call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prcd(op, ‘(‘)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return false for all the operators and be pushed on the stack. Also,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prcd( ‘(‘,op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FALSE which ensures that an operator after ‘(‘ is pushed on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 ‘)’ is read. All operators up to the first ‘(‘ must be popped and placed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string. To achieve this our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prcd( op,’)’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should return true for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operators. Both the ‘(‘ and the’)’ will not go to the postfix expression. In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expression, we do not need parenthesis. The precedence of the operators is established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such a way that there is no need of the parenthesis. To include the handling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parenthesis, we have to change </a:t>
            </a:r>
            <a:r>
              <a:rPr lang="en-US" altLang="ko-KR" dirty="0" smtClean="0" sz="1056">
                <a:solidFill>
                  <a:srgbClr val="008000"/>
                </a:solidFill>
                <a:latin typeface="Times New Roman"/>
              </a:rPr>
              <a:t>our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algorithm. We have to change the line s.push(c)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s.empty()  ||  symb != ‘)’ 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s.push( c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s.pop(); // discard the ‘(‘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input symbol is not ‘)’ and the stack is not empty, we will push the operator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stack. Otherwise, it is advisable to pop the stack and discard the ‘(‘.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functionality has to be added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prcd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prcd( ‘(‘, op 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 FALSE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any operator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prcd( op, ‘)’ 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 FALSE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any operator other than ‘)’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prcd( op, ‘)’ 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 TRUE  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any operator other than ‘(‘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prcd( ‘)’, op 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 error    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any operator.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lecture we will see in detail an example regarding the use of parenthesis. </a:t>
            </a:r>
            <a:endParaRPr lang="ko-KR" altLang="en-US" dirty="0" smtClean="0" sz="1056"/>
          </a:p>
          <a:p>
            <a:pPr marL="0" indent="0" defTabSz="15240" algn="l">
              <a:lnSpc>
                <a:spcPts val="5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8659495"/>
            <a:ext cx="3236595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7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08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3.3.3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Conversion from infix to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Templates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Stack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Call Stack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Conversion from infix to postfix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the way to convert an infix notation into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notation. During the process of conversion, we saw that there may be need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 in the infix especially at the times when we want to give a higher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precedence to an operator of lower precedence. For example, if there is a + operator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* operator in an expression and a programmer wants the execution of addition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the multiplication. To achieve this object, it is necessary to put parentheses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around the operands of + operator. Suppose, there is the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+ B *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we want to give the precedence to the + operator over * operator.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will be written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(A + B) *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are going to discuss the conversion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infix expression that includes parentheses to the postfix expression.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defined the return values for opening ‘(‘and closing ‘)’ parentheses in the precedence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Let’s try to understand this process with the help of an example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converting the infix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(A + B) *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into a postfix expression.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our algorithm, discussed earlier, converts this infix expression into a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expression. To carry out the process of conversion we have three columns symbol,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and stack. The column symbol has the input symbols from the expression.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column has the postfix string (expression) after each step and the stack is used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put the operators on it. The whole process of converting the infix notation into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is given in the following table. This process of conversion is completed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eight steps. Each of the rows of the table depicts one step. 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Step No.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Symbol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3236595" cy="3257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7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1454150"/>
            <a:ext cx="3236595" cy="3257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7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48055" y="1776730"/>
            <a:ext cx="3236595" cy="3263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7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948055" y="2106295"/>
            <a:ext cx="323659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75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948055" y="2267585"/>
            <a:ext cx="127698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75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221865" y="2267585"/>
            <a:ext cx="1962785" cy="1644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AB+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AB+C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AB+C*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there is the input symbol ‘(‘(i.e. opening parenthesis). As this is not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operand, it may be put on the stack. The next input symbol is ‘A’. Being an operand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to the postfix string and the stack remains unchanged. Then there is + operator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type. Moreover, there is one operand in the postfix string. We push this 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on the stack and it has to wait for its second operand. Now in the input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symbol, there is an operand ‘B’. We put his operand in the postfix string. Then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this, there is the closing parenthesis ‘)’ in the input symbol. We know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presence of a closing parenthesis in the input means that an expression (within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parentheses) has been completed. All of its operands and operators are present with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parentheses. As studied in the algorithm, we discard a closing parenthesis when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in the input. Then the operators from the stack are popped up and put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string. We also pop the opening parenthesis and discard it as we have no need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opening as well as closing parenthesis in the postfix notation of an expression. This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is carried out in the 5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row of the table. The + operator is put in the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string. We also discard the opening parenthesis, as it is not needed in the postfix.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next input symbol is *. We put this operator on the stack. There is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 for the * operator i.e. AB+. The * operator being a binary operator, has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wait for the second operand. ‘C’ is the Next input symbol that is an operand. We put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postfix string. After this, the input string (expression) ends so we come out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loop. We check if there is any thing on the stack now? There is * operator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We pop the operator and put it into the postfix string. This way, we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form of the given infix expression that becomes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AB+C*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expression, the + operator is before the * operator. So addition operation is done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the multiplication. This is mainly due to the fact that in the infix expression,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put parentheses to give + operator the precedence higher than the * operator.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there are no parentheses in the postfix form of the given infix expression.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apply the evaluation algorithm on this postfix expression (i.e. AB+C*).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operands A and B, will go to the stack. Then operator + will pop these operands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stack, will add them and push the result back on the stack. This result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an operand. Next ‘C’ will go to the stack and after this * operator will pop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two operands (result of addition and C). Their multiplication will lead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 result. The postfix notation is simple to evaluate as compared to the infix one.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postfix, we need not to worry about what operation will be carried first. The operators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notation are in the order of evaluation. However, in the infix notation,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force the precedence according to our requirement by putting parentheses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expression. With the help of a stack data structure, we can do the conversion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evaluation of expressions easily. 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629400"/>
            <a:ext cx="4773295" cy="22009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7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C++ Templates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use C++ templates for stack and other data structures. We have seen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is used to store the operands while evaluating an expression. These operands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integers, floating points and even variables. We push and pop the operands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from the stack. In the conversion of an expression, a programmer uses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storing the operators like +, *, -, and / etc which are single characters. In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cases, the functionality is the same. We push and pop things on and from the stack.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times, we check if the stack is empty or not. Thus identical methods are employed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using stack in evaluating and converting the expressions. However, there may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a difference in the type of the elements (data) used in these cases. We may define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stack, which can store different types of data but for the time being we are restricting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ourselves to the stack that can store elements of only one type. In C++ programming,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have to create two classes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FloatStack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CharStack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operands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operators respectively. These classes of stack have the same implementation. Thus,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write the same code twice only with the difference of data type. Is there any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to write the code for the stack once and then use it for different types of data?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means is there any way that we can make a stack for storing integers, floating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points, characters or even objects with the same code written once. The language C++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provides us the facility of writing templates. A template can be understood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of a factory that bakes biscuits. The factory may use flour, corn or starch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ingredients of the product. But the process of baking biscuits is the same whatever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ingredients it uses. There is no difference in the machinery for producing biscuits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ingredients. So we call the factory as the template for the biscuits. Similarly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C++ language, a template is a function or class that is written with a generic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type. When a programmer uses this function or class, the generic data type is replaced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data type, needed to be used in the template function or in the template class.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only give the data type of our choice while calling a template function or creating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object of the template class. The compiler automatically creates a version of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or class with that specified data type. Thus if we write a template class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stack, then later on we can use it for creating a stack for integers, floating points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etc. So instead of writing code for different stacks of different data types,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write one code as a template and reuse it for creating different stacks.  We declare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template class in a separate file in addition to the main program file. This file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used in our program by including it in that file. Following is the code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class for stack. This is written in the file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Stack.h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Stack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empty(void);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1=true, 0=false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push(T &amp;);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1=successful,0=stack overflow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 pop(void);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 peek(void);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~Stack();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top;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T* nodes;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004560"/>
            <a:ext cx="4773295" cy="28257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7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 the line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that we are going to write a template.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variable name for generic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type. We can use any other name but generally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(T evolves from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template). A data type will replace this T whenever template is used in a program.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declare member functions of the class. To begin with, there is a constructor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class with the same name as that of the class i.e. Stack. It is followed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empty 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and then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declared as follows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push(T &amp;)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been using the data (element)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some other data type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push()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Now there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written as the data type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This means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function takes an argument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generic data type and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a proper data type while calling this function in our program. This data type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replace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There are also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peek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functions that take no arguments but return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which is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peek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is similar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that returns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(shows) the element from the top but does not remove it from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private section of the class, there are two variables.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 to the top of the stack.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to point to nodes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 dynamic memory using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definition of this whole class,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substitution parameter. While 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class in the program, we will replace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a proper data type.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Implementation 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how to implement this stack class in our program. Following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of the program. We save this code in the file named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Stack.cpp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&lt;stdlib.h&gt;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"Stack.h"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#define MAXSTACKSIZE 50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Stack&lt;T&gt;::Stack()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top = -1;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nodes = new T[MAXSTACKSIZE];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Stack&lt;T&gt;::~Stack()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nodes;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45446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8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Stack&lt;T&gt;::empty(void)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top &lt; 0 ) return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return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Stack&lt;T&gt;::push(T&amp; x)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if( top &lt; MAXSTACKSIZE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nodes[++top] =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cout &lt;&lt; "stack overflow in push.\n";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return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 Stack&lt;T&gt;::pop(void)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if( !empty()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 = nodes[top--];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cout &lt;&lt; "stack underflow in pop.\n";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return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code, we include different files in which one is Stack.h , written earlier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 the template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defined a constant size of the stack to 50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writing the line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#define MAXSTACKSIZE 50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is the definition of the constructor. Here before the signature of the constructor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function, we have written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T&gt;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Stack&lt;T&gt; :: Stack()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means that we are writing a template function that uses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wherever a data type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written. As we have declared the Stack class as a template class, &lt;T&gt; will be written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class name before the access specifier (i.e. ::) while defining a method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class. Then there is the implementation of the constructor in which we assign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–1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allocate memory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 for stack of size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MAXSTACKSIZE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put its starting address in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pertinent to note that we create an array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(i.e. a generic type).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602095"/>
            <a:ext cx="4773295" cy="20421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8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define the destructor ~Stack, which frees the memory by deleting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Then there are the different methods of the stack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push()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define all the methods in the same way as done in case of the constructor.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while writing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template &lt;class T&gt;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the start, 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wherever a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can be used.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a Boolean parameter. It returns 1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TRUE if the stack is empty i.e. if top is less than 0. Otherwise it returns zero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FALSE if the stack is not empty.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define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as under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Stack&lt;T&gt;::push(T&amp; x)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top &lt; MAXSTACKSIZE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nodes[++top] = x;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1;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"stack overflow in push.\n";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0;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function takes an argument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reference. It checks whether there is space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by checking the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the MAXSTACKSIZE,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there is space available in the stack. Then it puts the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the stack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1, indicating that push operation has succeeded. Otherwise, it displays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 of stack overflow and returns zero which indicates that the element was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put on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comes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Here we see that the value returned by this method is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body of the function, we define a local variable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check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 is empty. If it is not empty, we pop the value from the top in variable x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it.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use of this template stack. Here we write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main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program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separate file including the stack.cpp (we have written before shortly) to use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program written in the file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main.cpp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program demonstrates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"Stack.cpp"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main(int argc, char *argv[])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Stack&lt;int&gt; intstack;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Stack&lt;char&gt; charstack;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x=10, y=20;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 c='C', d='D';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intstack.push(x);   intstack.push(y);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"intstack: " &lt;&lt; intstack.pop() &lt;&lt; ", " &lt;&lt; intstack.pop() &lt;&lt; "\n";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charstack.push(c); charstack.push(d);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"charstack: " &lt;&lt; charstack.pop() &lt;&lt; ", " &lt;&lt; charstack.pop() &lt;&lt; "\n";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355590"/>
            <a:ext cx="4773295" cy="320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8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code, consider the line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&lt;int&gt; intstack 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line means that while creating an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Stack, the generic data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be replaced by the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In other words, it will be a stack for integers.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 will replace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wherever it exists in the code, providing a version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with data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compiler does this automatically.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next line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&lt;char&gt; charstack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creates an object of Stack that has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 replaces the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shows that it will be a stack of characters.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replaced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version of code is provided by the compiler, used for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type.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two objects of two types (i.e. int and char) of Stack by using the same code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template class.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demonstrate the implementation of Stack, we declare two variables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push and pop these variables on and from the proper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push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values on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(which we have created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type).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of type other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the stack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 not be pushed as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it to store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type. And then we poop these values from the stack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 on the screen.  Similarly we push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values on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(a stack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values) before displaying these values on the screen with the help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to get these values from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the three files of our code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stack.h, stack.cpp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main.cpp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Having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files in the same directory, we compile the main file (main.cpp) and execute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output of the above program.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intstack: 10, 20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charstack: C, 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example, we create two objects of Stack to use for two different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types. The compiler automatically provides us two versions of the template code,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other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using the same code, written as template. So it is only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the use of the template utility, provided by the C++ language only. No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language including C provides this utility of templates. If we write this program in C,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the functions of Stack has to be written repeatedly for each data type.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we will have to write different versions for using different data types.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templates, a programmer writes the code once and the compiler automatically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produces the version of the code with the needed data type. We have implemented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by using array. It can also be implemented with the linked list. The use of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linked list does not matter here. The implementation of the stack remains the same.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templates are so important that C++ provides a library in which a large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common use functions are provided as templates. This library is a part of the official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standard of C++. It is called STL i.e. Standard Template Library. As a library, it is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tested code base. We can use these templates and implement different concepts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own data types. STL is an important code, pre-developed for us. It is available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library. Different data structures like stack, queue etc is also there in STL.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write programs by using them. But here in this course, our goal is to know what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are, what is functioning and how can they be written? So we are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64410" y="5532120"/>
            <a:ext cx="1167765" cy="1708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8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64410" y="5699760"/>
            <a:ext cx="116776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8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264410" y="5861050"/>
            <a:ext cx="1167765" cy="1651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87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264410" y="6022975"/>
            <a:ext cx="116776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87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264410" y="6184265"/>
            <a:ext cx="1167765" cy="3263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8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writing and discussing the stack templates. You can use data structures from STL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programming courses or in the professional life. You need not to write the stack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from the scratch you can simply use them in your programs from STL.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Function Call Stack  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another example of the stack. We know the functionality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calls. Whenever a programmer calls a function, he or she passes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arguments or parameters to the function. The function does work on these arguments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returns a value to the calling function or program. This value is known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value of the function. We declare some variables inside the function which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 of the function. These variables are demolished when the execution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 ends. If there are variables in the function that need to be preserved,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take care of them. For this purpose, we use global variables or return a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that variable. Now let’s see how a stack is used in function calls.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using devC++ compiler that actually uses GCC (glue compiler), a public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domain compiler. Whenever we call a function, the compiler makes a stack that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uses to fulfill this function call. The compiler puts the entries on the stack in the way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first of all i.e. on the top (i.e. first entry in the stack) is the return address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where the control will go back after executing the function. After it,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entries on the stack are the arguments of the function. The compiler pushes the last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of the call list on the stack. Thus the last argument of the call list goes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bottom of the stack after the return address. This is followed by the second last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of the call list to be pushed on the stack. In this way, the first argument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call list becomes the first element on the stack. This is shown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last argument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………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………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argument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argument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top ------&gt; return address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calling function, after the execution of the function called, the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continues its execution form the next line after the function call. The control comes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here because when the execution of the function ends the compiler pops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from the stack which it has pushed when the function call was made.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control goes at that point in the program and the execution continues in the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or program.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following code of a function that takes two integer arguments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	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average of these numbers.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int i_avg (int a, int b)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(a + b) / 2;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79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understand the use of stack, look at the assembly language code of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that is written as under.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globl _i_avg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_i_avg: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movl 4(%esp), %eax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addl 8(%esp), %eax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 Add the args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sarl $1, %eax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 Divide by 2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 Return value is in %eax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statement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globl_i_avg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shows that it’s a global function that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by other functions or programs. After it, there is a label, written as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_i_avg: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statement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movl 4(%esp), %eax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in this statement, there is the use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esp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register in assembly language that is now a stack pointer for us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(i.e. top).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movl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(move long) takes offset 4 from top (4 is number of bytes, we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bytes as in C++ an integer is of 4 bytes.) that means after 4 bytes from the top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it gets the value and put it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register. We know that the compiler pushes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arguments of the function in reverse order on the stack. And pushes return address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end. Thus the order of stack will be that on the top will be the return address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immediately after it will be the first argument. Here in the assembly 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generated by the compiler, the compiler pops first argument from offset 4 and puts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register. The next statement is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addl 8(%esp), %eax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takes offset 8 from the stack pointer that is second argument and adds it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in the previous two statements, the compiler got the first argument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stack and the second argument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the stack, added them before putting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result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next statement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sarl $1, %eax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division statement of assembly language. This statement divides the value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2 and thus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the resultant value. The last statement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returns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on the top of the stack to the caller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have seen the use of stack in the execution of a function and how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arguments are passed to the function, how the functions return its return value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finally how the control goes back to the caller function .All this process is executed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using a stack. All the things about the functionality of the function calls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 to understand as these will be needed while going to write our 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compilers. We will read this in the compilers course. The whole process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about the use of stack in function calling is known as run time environment.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data structures are also used in run time environment of the computer.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 that an executable program while in run, is loaded in the memory and becomes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process. This process is given a block of memory which it uses during its execution.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 the operating system, in which we are working, itself takes memory.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running many programs simultaneously, which for example include browser,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MS Word, Excel and dev-C++. We can also run programs written by us. Every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736850" y="1667510"/>
            <a:ext cx="1042670" cy="21304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9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 which we run takes a block of memory and becomes a process.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shows a part of memory in which different programs occupy a block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memory for their execution.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(browser)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(Word)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4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(Excel)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2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(Dev-C++)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Windows Os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also see the details of all the programs running at a specific time. If we press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key combination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Ctrl-Alt-Del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 appears a window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task manager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screen. Following is the figure of the task manager. In the figure, there are many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columns i.e. PID (process ID), CPU, CPU time, Memory usage, page faults, I/O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Reads, I/O Writes, I/O Read Bytes. These all things we will read in the course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Operating Systems in detail. </a:t>
            </a:r>
            <a:endParaRPr lang="ko-KR" altLang="en-US" dirty="0" smtClean="0" sz="1056"/>
          </a:p>
          <a:p>
            <a:pPr marL="0" indent="0" defTabSz="15240" algn="l">
              <a:lnSpc>
                <a:spcPts val="3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2190" y="1130935"/>
            <a:ext cx="6281420" cy="47123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9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40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the thing of our interest is the first, second and fifth column. These columns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Image Name, PID and Mem Usage (i.e. memory usage). Now look at the row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explorer.exe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written in the first column. The process ID (PID) of it is 888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usage is 4696K. This means that the process size of explorer.exe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is 4696 Kilo Bytes (KB). All the processes in the first column of the task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manager are present in the memory of the computer at that time. The column Image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has the names of the processes being executed. These have extension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.exe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may be other executable programs that have extension other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.exe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  </a:t>
            </a:r>
            <a:endParaRPr lang="ko-KR" altLang="en-US" dirty="0" smtClean="0" sz="1056"/>
          </a:p>
          <a:p>
            <a:pPr marL="0" indent="0" defTabSz="15240" algn="l">
              <a:lnSpc>
                <a:spcPts val="1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1639570"/>
            <a:ext cx="3255010" cy="21310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9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shows the internal memory organization of a process.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(browser)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Static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(Word)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4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(Excel)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2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(Dev-C++)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Windows Os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shows that the first part of the memory of the process is for the code.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generated by the compiler of C++, JAVA or VB etc with respect to the language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which the actual code was written. Then the static data of the program occupies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memory. This holds the global variables and different variables of objects. Then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of the process, there is stack. After it there is heap. The stack and heap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used in function calls. We have discussed the use of stack in function calls.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 memory dynamically in our programs, it is allocated from the heap. The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heap is a topic related to some programming course or to the operating system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course. </a:t>
            </a:r>
            <a:endParaRPr lang="ko-KR" altLang="en-US" dirty="0" smtClean="0" sz="1056"/>
          </a:p>
          <a:p>
            <a:pPr marL="0" indent="0" defTabSz="15240" algn="l">
              <a:lnSpc>
                <a:spcPts val="30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83 of 519 </a:t>
            </a:r>
            <a:endParaRPr lang="ko-KR" altLang="en-US" dirty="0" smtClean="0" sz="1056"/>
          </a:p>
        </p:txBody>
      </p:sp>
      <p:sp>
        <p:nvSpPr>
          <p:cNvPr id="195" name="Rect 3"/>
          <p:cNvSpPr>
            <a:spLocks noGrp="1" noChangeArrowheads="1"/>
          </p:cNvSpPr>
          <p:nvPr/>
        </p:nvSpPr>
        <p:spPr>
          <a:xfrm rot="0">
            <a:off x="4011295" y="2505710"/>
            <a:ext cx="35433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Stack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09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3.3.3, 3.4.1, 3.4.2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Organization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Layout During a Function Call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Operations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Implementing Queue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using Array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Queues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Memory Organization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end of last lecture, we discussed the uses of stack to develop a process from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executable file and then in function calls. When you run an executable, the operating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system makes a process inside memory and constructs the followings for that purpose.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A code section that contains the binary version of the actual code of the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written in some language like C/C++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A section for static data including global variables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A stack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Finally, a heap </a:t>
            </a:r>
            <a:endParaRPr lang="ko-KR" altLang="en-US" dirty="0" smtClean="0" sz="1056"/>
          </a:p>
          <a:p>
            <a:pPr marL="0" indent="0" defTabSz="15240" algn="l">
              <a:lnSpc>
                <a:spcPts val="2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00785" y="1697990"/>
            <a:ext cx="3032760" cy="21913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0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72185" y="5294630"/>
            <a:ext cx="4977765" cy="19202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0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30935" y="7406640"/>
            <a:ext cx="4227195" cy="3232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9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is used in function calling while heap area is utilized at the time of memory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allocation in dynamic manner.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(Browser)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(Word)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(Excel)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(Dev-C++)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Windows OS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Fig 1. Memory Organization </a:t>
            </a:r>
            <a:endParaRPr lang="ko-KR" altLang="en-US" dirty="0" smtClean="0" sz="1056" i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Stack Layout during a Function Call </a:t>
            </a:r>
            <a:endParaRPr lang="ko-KR" altLang="en-US" dirty="0" smtClean="0" sz="1230" b="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(F)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 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 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 (F)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 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 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 (F)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 b="1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2: Stack Layout; When function F calls function G</a:t>
            </a:r>
            <a:endParaRPr lang="ko-KR" altLang="en-US" dirty="0" smtClean="0" sz="1056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diagrams depict the layout of the stack when a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calls a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sp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stands for stack pointer. At the very left, you will find the layout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just before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calls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parameters passed to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85 of 519 </a:t>
            </a:r>
            <a:endParaRPr lang="ko-KR" altLang="en-US" dirty="0" smtClean="0" sz="1056"/>
          </a:p>
        </p:txBody>
      </p:sp>
      <p:sp>
        <p:nvSpPr>
          <p:cNvPr id="200" name="Rect 3"/>
          <p:cNvSpPr>
            <a:spLocks noGrp="1" noChangeArrowheads="1"/>
          </p:cNvSpPr>
          <p:nvPr/>
        </p:nvSpPr>
        <p:spPr>
          <a:xfrm rot="0">
            <a:off x="4270375" y="6209030"/>
            <a:ext cx="220345" cy="1581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 sp </a:t>
            </a:r>
            <a:endParaRPr lang="ko-KR" altLang="en-US" dirty="0" smtClean="0" sz="1056" b="1"/>
          </a:p>
        </p:txBody>
      </p:sp>
      <p:sp>
        <p:nvSpPr>
          <p:cNvPr id="201" name="Rect 3"/>
          <p:cNvSpPr>
            <a:spLocks noGrp="1" noChangeArrowheads="1"/>
          </p:cNvSpPr>
          <p:nvPr/>
        </p:nvSpPr>
        <p:spPr>
          <a:xfrm rot="0">
            <a:off x="1609090" y="2054225"/>
            <a:ext cx="2509520" cy="4758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Static Data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</a:t>
            </a:r>
            <a:endParaRPr lang="ko-KR" altLang="en-US" dirty="0" smtClean="0" sz="1056"/>
          </a:p>
          <a:p>
            <a:pPr marL="0" indent="0" defTabSz="15240" algn="l">
              <a:lnSpc>
                <a:spcPts val="2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Parameters (G)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(G)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 (G)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 (G)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2665" y="8126095"/>
            <a:ext cx="4898390" cy="1612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0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 inserted inside the stack. These are followed by the local variables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 and finally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memory address to return back after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finishes.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Just before function is made to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parameters being passed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inserted into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diagram, there is layout of the stack on the right side after the call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Clearly, the local variables of the function G are inserted into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its parameters and the return address. If there are no local variables for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function, the return address is inserted (pushed) on to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layout of the stack, when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finishes execution is shown on the right.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that the local variables of function G are no more in the stack. They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removed permanently along with the parameters passed to the function G.  Now,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clear that when a function call is made, all local variables of the called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parameters passed to it, are pushed on to the stack and are destroyed, soon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the completion of the called function’s execution.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C/C++ language, the variables declared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not pushed on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Rather, these are stored in another separate section allocated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program.  This section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global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can be seen in the fig 1 of this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not destroyed till the end of the process’s execution. If a variable, say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inside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stored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section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process’s memory. Whereas, its value is preserved across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calls.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visibility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restricted to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only. But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declared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class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is available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all member functions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class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globa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 scope (outside of any class or function body) is available to all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functions of the program.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move on to another data structure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Queues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queue is a linear data structure into which items can only be inserted at one end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 from the other. In contrast to the stack, which is a LIFO (Last In First Out)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structure, a queue is a FIFO (First In First Out)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usage of queue in daily life is pretty common. For example, we queue up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depositing a utility bill or purchasing a ticket. The objective of that queue is to serve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persons in their arrival order; the first coming person is served first. The person, who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first, stands at the start followed by the person coming after him and so on.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serving side, the person who has joined the queue first is served first. If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requirement is to serve the people in some sort of priority order, there is a separate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 that supports priorities. The normal queue data structure, presently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 discussion, only supports FIFO behavior.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 what are the operations supported by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Queue Operations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queue data structure supports the following operations: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Operation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Description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enqueue(X)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 X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dequeue()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and return it.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front()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without removing it.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isEmpty()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TRUE if queue is empty, FALSE otherwise </a:t>
            </a:r>
            <a:endParaRPr lang="ko-KR" altLang="en-US" dirty="0" smtClean="0" sz="1056"/>
          </a:p>
          <a:p>
            <a:pPr marL="0" indent="0" defTabSz="15240" algn="l">
              <a:lnSpc>
                <a:spcPts val="6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63295" y="5437505"/>
            <a:ext cx="4989195" cy="12649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0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45210" y="2685415"/>
            <a:ext cx="5300980" cy="1261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Implementing Queue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certain points related to the implementation of the queue. Suppose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implementing queue with the help of the linked -list structure. Following are the key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points associated with the linked list implementations: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Insert works in constant time for either end of a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Remove works in constant time only.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Seems best that head of the linked list be the front of the queue so that all removes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from the front.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47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Inserts will be at the end of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figure shows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 on the left with two pointers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an abstract view of the queue, independent of its implementation method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or linked list. On the right side is the same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,using linked list and pointers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rear.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is called once,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removed. The picture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showing one element  removal is also depicted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below. Note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has been moved to the next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list afer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After dequeue() is called once </a:t>
            </a:r>
            <a:endParaRPr lang="ko-KR" altLang="en-US" dirty="0" smtClean="0" sz="1056" i="1"/>
          </a:p>
          <a:p>
            <a:pPr marL="0" indent="0" defTabSz="15240" algn="l">
              <a:lnSpc>
                <a:spcPts val="1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at this stage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will call enqueue (9) to insert an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it.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shows that the new element is inserted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end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starts pointing this new node with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this point of time, the code of these functions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should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an issue.  </a:t>
            </a:r>
            <a:endParaRPr lang="ko-KR" altLang="en-US" dirty="0" smtClean="0" sz="1056"/>
          </a:p>
          <a:p>
            <a:pPr marL="0" indent="0" defTabSz="15240" algn="l">
              <a:lnSpc>
                <a:spcPts val="1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3630295"/>
            <a:ext cx="4895215" cy="28251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60120" y="1158240"/>
            <a:ext cx="5187950" cy="15240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0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in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structure, the new elements are inserted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end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in contrast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structure where the elements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and removed from the same end.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for queue operations: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Remove element from the front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  int dequeue()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     int  x  =  front-&gt;get();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     Node*  p  =  front;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     front  =  front-&gt;getNext();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      delete  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      return 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						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Insert an element in the rear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9.   void enqueue(int  x)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      Node*  newNode  =  new Node();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      newNode-&gt;set(x);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13.       newNode-&gt;setNext(NULL);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      rear-&gt;setNext(newNode);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     rear  =  newNode;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16.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dequeue() operation, at line 3, the front element is retrieved from the queue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assigned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4,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saved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5,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moved forward by retrieving the address of the next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front-&gt;getNext()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assigning it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 pointer.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6, the node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deleted by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delete front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end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dequeue()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implementation, the value of deleted node that was saved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returned back.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enqueue(int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to add an element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inserts the element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line 11, a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is created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 Node()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and the returned starting address of the created object is assigned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newNode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variable.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89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2386330"/>
            <a:ext cx="4895215" cy="17252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1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12, the value of the passed in 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set in the newly created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13,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in the newly created node is set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14, the newly created node is set as the next node of the node currently pointed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Ine line 15,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set to point to the newly created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two smaller functions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To retrieve the front element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front()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front-&gt;get();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To check if the queue is empty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isEmpty()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( front  ==  NULL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front()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used to retrieve the front element. This is the oldest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in the queue. It uses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used to check whether the queue is empty or not. It checks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address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pointer, if it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NULL. It will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 true indicating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is empty or vice versa.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studying stack data structure, we implemented it by using  both array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list. For queue, until now we have been discussing about implementing queue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linked list. Now, let’s discuss implementing queue with the help of an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Queue using Array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programmer keeps few important considerations into view account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implementing a queue with the help of an array: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use an array to hold the queue elements, both insertions and removal at the front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(start) of the array are expensive. This is due to the fact that we may have to shift up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“n”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stack, we needed only one end but for a queue, both are required. To get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around this, we will not shift upon removal of an element.  </a:t>
            </a:r>
            <a:endParaRPr lang="ko-KR" altLang="en-US" dirty="0" smtClean="0" sz="1056"/>
          </a:p>
          <a:p>
            <a:pPr marL="0" indent="0" defTabSz="15240" algn="l">
              <a:lnSpc>
                <a:spcPts val="17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92350" y="1615440"/>
            <a:ext cx="459740" cy="3536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210310" y="1499870"/>
            <a:ext cx="69850" cy="2743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148840" y="1499870"/>
            <a:ext cx="69850" cy="2743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755265" y="1490345"/>
            <a:ext cx="3355975" cy="7131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465830" y="2441575"/>
            <a:ext cx="1529715" cy="4845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972185" y="4590415"/>
            <a:ext cx="5273040" cy="1188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078865" y="6824345"/>
            <a:ext cx="4468495" cy="11918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4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1212850" y="8949055"/>
            <a:ext cx="4468495" cy="11093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6. Queue implemented using an array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queue implementation using array is shown. As the array size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therefore, the index of the array will be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number of elements inside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2,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placed at start of the array.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are not pointers but just indexes of arrays.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the starting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comprises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see, how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works: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enqueue(6)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the above diagram, an element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been inserted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is containing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the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the same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index. Let’s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 of the array when another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inserted in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enqueue(8)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 b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an element is removed from the queue. It is removed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index. 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dequeue(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</p:txBody>
      </p:sp>
      <p:sp>
        <p:nvSpPr>
          <p:cNvPr id="214" name="Rect 3"/>
          <p:cNvSpPr>
            <a:spLocks noGrp="1" noChangeArrowheads="1"/>
          </p:cNvSpPr>
          <p:nvPr/>
        </p:nvSpPr>
        <p:spPr>
          <a:xfrm rot="0">
            <a:off x="4849495" y="9180830"/>
            <a:ext cx="86677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Page 91 of 519 </a:t>
            </a:r>
            <a:endParaRPr lang="ko-KR" altLang="en-US" dirty="0" smtClean="0" sz="1056"/>
          </a:p>
        </p:txBody>
      </p:sp>
      <p:sp>
        <p:nvSpPr>
          <p:cNvPr id="215" name="Rect 3"/>
          <p:cNvSpPr>
            <a:spLocks noGrp="1" noChangeArrowheads="1"/>
          </p:cNvSpPr>
          <p:nvPr/>
        </p:nvSpPr>
        <p:spPr>
          <a:xfrm rot="0">
            <a:off x="2990215" y="1673225"/>
            <a:ext cx="1911985" cy="76111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6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74775" y="3413760"/>
            <a:ext cx="4306570" cy="14293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1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30935" y="6428105"/>
            <a:ext cx="4309745" cy="14293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another call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dequeue(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 b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removal of element from the queue, we are not shifting the array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shifting of elements might be an expensive exercise to perform and the cost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increased with the increase in number of elements in the array. Therefore, 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leave them as it is.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enqueue(9)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enqueue(12)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9 12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insertion of two elements in the queue, the array that was used to implement it,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reached its limit as the last location of the array is in use now. We know that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some problem with the array after it attained the size limit. We observed the similar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while implementing a  stack with the help of an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also see that two locations at the start of the array are vacant. Therefore,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can consider how to use those locations appropriately in  to insert more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92 of 519 </a:t>
            </a:r>
            <a:endParaRPr lang="ko-KR" altLang="en-US" dirty="0" smtClean="0" sz="1056"/>
          </a:p>
        </p:txBody>
      </p:sp>
      <p:sp>
        <p:nvSpPr>
          <p:cNvPr id="218" name="Rect 3"/>
          <p:cNvSpPr>
            <a:spLocks noGrp="1" noChangeArrowheads="1"/>
          </p:cNvSpPr>
          <p:nvPr/>
        </p:nvSpPr>
        <p:spPr>
          <a:xfrm rot="0">
            <a:off x="3569335" y="3599815"/>
            <a:ext cx="1768475" cy="31635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2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7537450"/>
            <a:ext cx="4895215" cy="9480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807335" y="3102610"/>
            <a:ext cx="542290" cy="3111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36650" y="2987040"/>
            <a:ext cx="67310" cy="2438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456815" y="2987040"/>
            <a:ext cx="69850" cy="2438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5467985" y="2926080"/>
            <a:ext cx="441960" cy="807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3742690" y="2688590"/>
            <a:ext cx="1186180" cy="11976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2773680" y="5504815"/>
            <a:ext cx="542290" cy="3136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1271270" y="5391785"/>
            <a:ext cx="66675" cy="2406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2386330" y="5391785"/>
            <a:ext cx="70485" cy="2406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4834255" y="5327650"/>
            <a:ext cx="438785" cy="807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1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3450590" y="5093335"/>
            <a:ext cx="1182370" cy="11944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2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in the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Although, we have insert and removal operations running in constantly, yet 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a new problem that we cannot insert new elements even though there are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places available at the start of the array. The solution to this problem lies in allowing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queue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wrap around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can we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wrap around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We can use circular array to implement the queue.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 how to make a linked list circular using pointers. Now we will see how can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a circular array.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9 12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12. Circular array to implement queue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of locations in the above circular array  are also eight, starting from index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index numbers are written outside the circle incremented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clock-wise direction. To insert an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array , we insert this element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location, which is next to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enqueue(21)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6 8 9 12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13. An element added in circular array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will have to maintain four variables.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the same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 while the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8. ‘		rear’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moved to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noElements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Now, we can see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has decreased instread of increasing. It has moved from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 i.e.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higher than the index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 see, how do we implement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enqueue( int  x)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   rear  =  (rear + 1) % size;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   array[rear]  = 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   noElements  =  noElements + 1;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1 of the code,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added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 the mod operator (that results in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93 of 519 </a:t>
            </a:r>
            <a:endParaRPr lang="ko-KR" altLang="en-US" dirty="0" smtClean="0" sz="1056"/>
          </a:p>
        </p:txBody>
      </p:sp>
      <p:sp>
        <p:nvSpPr>
          <p:cNvPr id="221" name="Rect 3"/>
          <p:cNvSpPr>
            <a:spLocks noGrp="1" noChangeArrowheads="1"/>
          </p:cNvSpPr>
          <p:nvPr/>
        </p:nvSpPr>
        <p:spPr>
          <a:xfrm rot="0">
            <a:off x="5059680" y="5355590"/>
            <a:ext cx="662305" cy="1549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2</a:t>
            </a:r>
            <a:endParaRPr lang="ko-KR" altLang="en-US" dirty="0" smtClean="0" sz="1056" b="1"/>
          </a:p>
        </p:txBody>
      </p:sp>
      <p:sp>
        <p:nvSpPr>
          <p:cNvPr id="222" name="Rect 3"/>
          <p:cNvSpPr>
            <a:spLocks noGrp="1" noChangeArrowheads="1"/>
          </p:cNvSpPr>
          <p:nvPr/>
        </p:nvSpPr>
        <p:spPr>
          <a:xfrm rot="0">
            <a:off x="4702810" y="2953385"/>
            <a:ext cx="1345565" cy="3371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 b="1"/>
          </a:p>
          <a:p>
            <a:pPr marL="0" indent="0" defTabSz="15240" algn="l">
              <a:lnSpc>
                <a:spcPts val="1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noElements 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 b="1"/>
          </a:p>
        </p:txBody>
      </p:sp>
      <p:sp>
        <p:nvSpPr>
          <p:cNvPr id="223" name="Rect 3"/>
          <p:cNvSpPr>
            <a:spLocks noGrp="1" noChangeArrowheads="1"/>
          </p:cNvSpPr>
          <p:nvPr/>
        </p:nvSpPr>
        <p:spPr>
          <a:xfrm rot="0">
            <a:off x="3538855" y="3041650"/>
            <a:ext cx="2317115" cy="3258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 b="1"/>
          </a:p>
          <a:p>
            <a:pPr marL="0" indent="0" defTabSz="15240" algn="l">
              <a:lnSpc>
                <a:spcPts val="10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 b="1"/>
          </a:p>
        </p:txBody>
      </p:sp>
      <p:sp>
        <p:nvSpPr>
          <p:cNvPr id="224" name="Rect 3"/>
          <p:cNvSpPr>
            <a:spLocks noGrp="1" noChangeArrowheads="1"/>
          </p:cNvSpPr>
          <p:nvPr/>
        </p:nvSpPr>
        <p:spPr>
          <a:xfrm rot="0">
            <a:off x="3307080" y="2715895"/>
            <a:ext cx="2619375" cy="36760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5504815"/>
            <a:ext cx="4895215" cy="14204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12390" y="3355975"/>
            <a:ext cx="542290" cy="3136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09345" y="3242945"/>
            <a:ext cx="70485" cy="2406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465705" y="3242945"/>
            <a:ext cx="70485" cy="2406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672330" y="3178810"/>
            <a:ext cx="441960" cy="807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3288665" y="2944495"/>
            <a:ext cx="1183005" cy="1194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2645410" y="8924290"/>
            <a:ext cx="542925" cy="3143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1499870" y="8811895"/>
            <a:ext cx="69850" cy="2406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2499360" y="8811895"/>
            <a:ext cx="69850" cy="2406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4705985" y="8747760"/>
            <a:ext cx="438785" cy="807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27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3322320" y="8512810"/>
            <a:ext cx="1182370" cy="11950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remainder of the two operands) is applied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This expression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of assignment in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 result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size is containing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ensures that value of this expression will always be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 increase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decrease from this. This resultant is assigned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2,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(the value passed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to insert in the queue)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in the array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position. Therefore, in the above case,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inserted at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3,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noElements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added to accumulate another element in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add another element in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enqueue(7)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 </a:t>
            </a:r>
            <a:endParaRPr lang="ko-KR" altLang="en-US" dirty="0" smtClean="0" sz="1056" b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6 8 9 12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14. Another element added in circular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the queue, rather the array has become full. It is important to understand,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does not have such characteristic to become full. Only its implementation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become full. To resolve this problem, we can use linked list to implement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For the moment, while working with array, we will write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determine the fullness of the array.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isFull()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 noElements  ==  size;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isEmpty()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return  noElements  == 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isFull()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true if the number of elements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noElements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in the array is equal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array. Otherwise, it returns false. It is the responsibility of the caller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structure to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 to confirm that there is some space left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more elements.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looks at the number of elements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noElements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in the queue. If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no element, it returns true or vice versa..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dequeue()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</a:t>
            </a:r>
            <a:endParaRPr lang="ko-KR" altLang="en-US" dirty="0" smtClean="0" sz="1056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6 8 9 12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  <p:sp>
        <p:nvSpPr>
          <p:cNvPr id="227" name="Rect 3"/>
          <p:cNvSpPr>
            <a:spLocks noGrp="1" noChangeArrowheads="1"/>
          </p:cNvSpPr>
          <p:nvPr/>
        </p:nvSpPr>
        <p:spPr>
          <a:xfrm rot="0">
            <a:off x="4898390" y="3206750"/>
            <a:ext cx="698500" cy="57238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 b="1"/>
          </a:p>
          <a:p>
            <a:pPr marL="0" indent="0" defTabSz="15240" algn="l">
              <a:lnSpc>
                <a:spcPts val="4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endParaRPr lang="ko-KR" altLang="en-US" dirty="0" smtClean="0" sz="1056" b="1"/>
          </a:p>
        </p:txBody>
      </p:sp>
      <p:sp>
        <p:nvSpPr>
          <p:cNvPr id="228" name="Rect 3"/>
          <p:cNvSpPr>
            <a:spLocks noGrp="1" noChangeArrowheads="1"/>
          </p:cNvSpPr>
          <p:nvPr/>
        </p:nvSpPr>
        <p:spPr>
          <a:xfrm rot="0">
            <a:off x="4544695" y="2971800"/>
            <a:ext cx="1375410" cy="65379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noElements </a:t>
            </a:r>
            <a:endParaRPr lang="ko-KR" altLang="en-US" dirty="0" smtClean="0" sz="1056" b="1"/>
          </a:p>
          <a:p>
            <a:pPr marL="0" indent="0" defTabSz="15240" algn="l">
              <a:lnSpc>
                <a:spcPts val="3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noElements </a:t>
            </a:r>
            <a:endParaRPr lang="ko-KR" altLang="en-US" dirty="0" smtClean="0" sz="1056" b="1"/>
          </a:p>
        </p:txBody>
      </p:sp>
      <p:sp>
        <p:nvSpPr>
          <p:cNvPr id="229" name="Rect 3"/>
          <p:cNvSpPr>
            <a:spLocks noGrp="1" noChangeArrowheads="1"/>
          </p:cNvSpPr>
          <p:nvPr/>
        </p:nvSpPr>
        <p:spPr>
          <a:xfrm rot="0">
            <a:off x="3376930" y="3054350"/>
            <a:ext cx="2339340" cy="6690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</a:t>
            </a:r>
            <a:endParaRPr lang="ko-KR" altLang="en-US" dirty="0" smtClean="0" sz="1056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 b="1"/>
          </a:p>
          <a:p>
            <a:pPr marL="0" indent="0" defTabSz="15240" algn="l">
              <a:lnSpc>
                <a:spcPts val="3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94 of 519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rear</a:t>
            </a:r>
            <a:endParaRPr lang="ko-KR" altLang="en-US" dirty="0" smtClean="0" sz="1056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 b="1"/>
          </a:p>
        </p:txBody>
      </p:sp>
      <p:sp>
        <p:nvSpPr>
          <p:cNvPr id="230" name="Rect 3"/>
          <p:cNvSpPr>
            <a:spLocks noGrp="1" noChangeArrowheads="1"/>
          </p:cNvSpPr>
          <p:nvPr/>
        </p:nvSpPr>
        <p:spPr>
          <a:xfrm rot="0">
            <a:off x="3145790" y="2825750"/>
            <a:ext cx="1823720" cy="68941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 b="1"/>
          </a:p>
          <a:p>
            <a:pPr marL="0" indent="0" defTabSz="15240" algn="l">
              <a:lnSpc>
                <a:spcPts val="3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2691130"/>
            <a:ext cx="4895215" cy="11099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3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dequeue()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  x  =  array[front];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front  =  (front + 1) % size;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noElements  =  noElements - 1;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return  x;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line, we take out an element from the array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position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it in a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second line,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incremented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but as the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circular, the index is looped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That is why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mod (%)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being used.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third line, number of elements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noElements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reduced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finally the saved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element is returned.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Use of Queues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saw the uses of stack structure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postfix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expressions. Let’s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usage of queue now.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of the numerous uses of the queues, one of the most useful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simulation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 program attempts to model a real-world phenomenon. Many popular video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games are simulations, e.g., SimCity, Flight Simulator etc. Each object and action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simulation has a counterpart in the real world. Computer simulation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powerful tool and it is used in different high tech industries, especially in engineering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projects. For  example, it is used in aero plane manufacturing. Actually Computer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 is full-fledged subject of Computer Science and contains very complex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Mathematics, sometimes. For example, simulation of computer networks, traffic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networks etc.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simulation is accurate, the result of the program should mirror the results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real-world event. Thus it is possible to understand what occurs in the real-world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without actually observing its occurrence.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 us look at an example. Suppose there is a bank with four tellers.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customer enters the bank at a specific time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desiring to conduct a transaction.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Any one of the four tellers can attend to the customer. The transaction (withdraws,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deposit) will take a certain period of time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If a teller is free, the teller can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customer’s transaction immediately and the customer leaves the bank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+t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possible that none of the four tellers is free in which case there is a line of customers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each teller. An arriving customer proceeds to the back of the shortest line and waits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his turn. The customer leaves the bank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 units after reaching the front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line.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time spent at the bank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plus time waiting in line.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what we want to simulate is the working environment of the bank that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specific number of queues of customers in the bank in front of the tellers. The tellers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serving customers one by one. A customer has to wait for a certain period of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he gets served and by using simulation tool, we want to know the average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waiting time of a bank customer. We will talk about this simulation in the next lecture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will do coding also in order to understand it well. </a:t>
            </a:r>
            <a:endParaRPr lang="ko-KR" altLang="en-US" dirty="0" smtClean="0" sz="1056"/>
          </a:p>
          <a:p>
            <a:pPr marL="0" indent="0" defTabSz="15240" algn="l">
              <a:lnSpc>
                <a:spcPts val="5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10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3, 6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3.4.3, 6.1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12) Queues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13) Simulation Models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14) Priority Queue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15) Code of the Bank simulation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Queues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the queue data structure and demonstrated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by using array and link list. We also witnessed the usefulness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as data structure in the simulation example. This concept can be further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elaborated with a daily life example relating to banking sector. Suppose, customers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deposit or withdraw money from a bank, having four cashiers or tellers.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teller helps you in depositing the money or withdrawing the money from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window. This window is known as teller window. The customer needs some service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bank like depositing the money, bill etc. This transaction needs some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may be few minutes. A person enters the bank and goes to the teller who is free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requests him to do the job. After the completion of the transaction, the person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out of the bank. Now we will discuss a scenario when there is a lot of rush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customers. The tellers are just four. Now the tellers are busy and the new customers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form a queue. In this example, we need a queue in front of each of the tellers.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customer enters the bank and analyzes the four queues and wants to join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shortest queue. This person has to wait for the persons in front of him to be served.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person may come behind him. In this simulation, we will restrict the person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changing the queue. A person comes into the bank at 10 O clock. His transaction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is 5 minutes. He has to wait for another fifteen minutes in the queue. After this,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teller serves him in 5 min. This person comes at 10 am and waits for fifteen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minutes. As the transaction time is 5 minutes, so he will leave the bank at 1020.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situation of simulation and we have to write a program for this. We can go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some bank and analyze this situation and calculate the time. At the end of the day,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calculate the average time for each of the customer. This time can be 30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minutes. Here we will simulate this situation with the help of a computer program.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real life example. Let’s see the picture of simulations to understand what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happening in the bank.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picture below, we have four tellers and four queues, one for each of the tellers.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teller is serving a customer. When the transaction of a customer is completed, he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5083810"/>
            <a:ext cx="926465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316480" y="5083810"/>
            <a:ext cx="929640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627120" y="5083810"/>
            <a:ext cx="926465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934585" y="5083810"/>
            <a:ext cx="929640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450975" y="5553710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450975" y="6330950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450975" y="6769735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2602865" y="5553710"/>
            <a:ext cx="128270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2602865" y="6330950"/>
            <a:ext cx="128270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2602865" y="6769735"/>
            <a:ext cx="128270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4029710" y="5553710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>
            <a:off x="4029710" y="6330950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5" cstate="print"/>
          <a:stretch>
            <a:fillRect/>
          </a:stretch>
        </p:blipFill>
        <p:spPr>
          <a:xfrm>
            <a:off x="4029710" y="6769735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6" cstate="print"/>
          <a:stretch>
            <a:fillRect/>
          </a:stretch>
        </p:blipFill>
        <p:spPr>
          <a:xfrm>
            <a:off x="5291455" y="6769735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7" cstate="print"/>
          <a:stretch>
            <a:fillRect/>
          </a:stretch>
        </p:blipFill>
        <p:spPr>
          <a:xfrm>
            <a:off x="5291455" y="5553710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8" cstate="print"/>
          <a:stretch>
            <a:fillRect/>
          </a:stretch>
        </p:blipFill>
        <p:spPr>
          <a:xfrm>
            <a:off x="5291455" y="6330950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19" cstate="print"/>
          <a:stretch>
            <a:fillRect/>
          </a:stretch>
        </p:blipFill>
        <p:spPr>
          <a:xfrm>
            <a:off x="4029710" y="7272655"/>
            <a:ext cx="1276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0" cstate="print"/>
          <a:stretch>
            <a:fillRect/>
          </a:stretch>
        </p:blipFill>
        <p:spPr>
          <a:xfrm>
            <a:off x="1414145" y="7272655"/>
            <a:ext cx="128270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1" cstate="print"/>
          <a:stretch>
            <a:fillRect/>
          </a:stretch>
        </p:blipFill>
        <p:spPr>
          <a:xfrm>
            <a:off x="871855" y="1676400"/>
            <a:ext cx="926465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2" cstate="print"/>
          <a:stretch>
            <a:fillRect/>
          </a:stretch>
        </p:blipFill>
        <p:spPr>
          <a:xfrm>
            <a:off x="2179320" y="1676400"/>
            <a:ext cx="926465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3" cstate="print"/>
          <a:stretch>
            <a:fillRect/>
          </a:stretch>
        </p:blipFill>
        <p:spPr>
          <a:xfrm>
            <a:off x="3486785" y="1676400"/>
            <a:ext cx="929640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4" cstate="print"/>
          <a:stretch>
            <a:fillRect/>
          </a:stretch>
        </p:blipFill>
        <p:spPr>
          <a:xfrm>
            <a:off x="4797425" y="1676400"/>
            <a:ext cx="929640" cy="457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5" cstate="print"/>
          <a:stretch>
            <a:fillRect/>
          </a:stretch>
        </p:blipFill>
        <p:spPr>
          <a:xfrm>
            <a:off x="1313815" y="2148840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6" cstate="print"/>
          <a:stretch>
            <a:fillRect/>
          </a:stretch>
        </p:blipFill>
        <p:spPr>
          <a:xfrm>
            <a:off x="1313815" y="2926080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7" cstate="print"/>
          <a:stretch>
            <a:fillRect/>
          </a:stretch>
        </p:blipFill>
        <p:spPr>
          <a:xfrm>
            <a:off x="1313815" y="3364865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8" cstate="print"/>
          <a:stretch>
            <a:fillRect/>
          </a:stretch>
        </p:blipFill>
        <p:spPr>
          <a:xfrm>
            <a:off x="2465705" y="2148840"/>
            <a:ext cx="128270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29" cstate="print"/>
          <a:stretch>
            <a:fillRect/>
          </a:stretch>
        </p:blipFill>
        <p:spPr>
          <a:xfrm>
            <a:off x="2465705" y="2926080"/>
            <a:ext cx="128270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0" cstate="print"/>
          <a:stretch>
            <a:fillRect/>
          </a:stretch>
        </p:blipFill>
        <p:spPr>
          <a:xfrm>
            <a:off x="2465705" y="3364865"/>
            <a:ext cx="128270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1" cstate="print"/>
          <a:stretch>
            <a:fillRect/>
          </a:stretch>
        </p:blipFill>
        <p:spPr>
          <a:xfrm>
            <a:off x="3892550" y="2148840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2" cstate="print"/>
          <a:stretch>
            <a:fillRect/>
          </a:stretch>
        </p:blipFill>
        <p:spPr>
          <a:xfrm>
            <a:off x="3892550" y="2926080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3" cstate="print"/>
          <a:stretch>
            <a:fillRect/>
          </a:stretch>
        </p:blipFill>
        <p:spPr>
          <a:xfrm>
            <a:off x="3892550" y="3364865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4" cstate="print"/>
          <a:stretch>
            <a:fillRect/>
          </a:stretch>
        </p:blipFill>
        <p:spPr>
          <a:xfrm>
            <a:off x="5154295" y="3364865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5" cstate="print"/>
          <a:stretch>
            <a:fillRect/>
          </a:stretch>
        </p:blipFill>
        <p:spPr>
          <a:xfrm>
            <a:off x="5154295" y="2148840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39" name="Picture 8"/>
          <p:cNvPicPr>
            <a:picLocks noChangeAspect="1"/>
          </p:cNvPicPr>
          <p:nvPr/>
        </p:nvPicPr>
        <p:blipFill>
          <a:blip r:embed="rId36" cstate="print"/>
          <a:stretch>
            <a:fillRect/>
          </a:stretch>
        </p:blipFill>
        <p:spPr>
          <a:xfrm>
            <a:off x="5154295" y="2926080"/>
            <a:ext cx="127635" cy="4025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3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leave the bank.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endParaRPr lang="ko-KR" altLang="en-US" dirty="0" smtClean="0" sz="1145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145" b="1"/>
          </a:p>
          <a:p>
            <a:pPr marL="0" indent="0" defTabSz="15240" algn="l">
              <a:lnSpc>
                <a:spcPts val="1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person enters the bank. He sees that all the four tellers are busy and in each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persons waiting for their turn. This person chooses the queue no. 3.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person enters the bank. He analyzed all the queues. The queue no 3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biggest and all other are having 2 persons in the queue. He chooses the queue no 1.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teller </a:t>
            </a:r>
            <a:endParaRPr lang="ko-KR" altLang="en-US" dirty="0" smtClean="0" sz="1145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145" b="1"/>
          </a:p>
          <a:p>
            <a:pPr marL="0" indent="0" defTabSz="15240" algn="l">
              <a:lnSpc>
                <a:spcPts val="20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three persons waiting in queue no 1 and 3 and two persons waiting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no 2 and 4. The person in queue no.1 completes his transaction and leaves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bank. So the person in the front of the queue no. 1 goes to the teller and starts 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transaction. Similarly the person at queue No. 3 finishes his transaction and leaves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premises. The person in front of queue number 3 goes to the teller.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person enters the bank and goes to the queue No. 1. This activity goes on.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00455" y="7336790"/>
            <a:ext cx="4748530" cy="1082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4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queues become bigger and shorter. The persons coming in the bank have to wait.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queues are shorter, people have to wait for less time. However, if the queues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longer, people have to wait for more time. The transactions can also take much more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time, keeping the people waiting. Suppose four persons come with big amount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their transaction takes too much time. These are all parameters which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incorporate in our simulation making it real. For this, we have carry out more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programming. With the introduction of these parameters in the simulation, it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close to the real life situation. Simulation, being a very powerful technique,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yield the results, very close to some real life phenomenon.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Simulation Models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little bit about the simulation models. Two common models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 are time-based simulation and event-based simulation. In time-based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simulation, we maintain a timeline or a clock. The clock ticks and things happen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time reaches the moment of an event.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a clock in the computer. The minute hand moves after every minute.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the time of the customer’s entry into the bank and are aware that 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transaction takes 5 minutes. The clock is ticking and after 5 minutes, we will ask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to leave the bank. In the program, we will represent the person with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object. As the clock continues ticking, we will treat all the customers in this way.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when the customer goes to some teller, he will take 5 minutes for 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transaction. During this time, the clock keeps on ticking. The program will do nothing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during this time period. Although some other customer can enter the bank.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model, the clock will be ticking during the transaction time and no other activity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place during this time. If the program is in some loop, it will do nothing in that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until the completion of the transaction time.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bank example. All tellers are free. Customer C1 comes in 2 minutes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opening of the bank. Suppose that bank opens at 9:00 am and the customer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arrives at 9:02 am. His transaction (withdraw money) will require 4 minutes.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C2 arrives 4 minutes after the bank opens (9:04 am). He needs 6 minutes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transaction. Customer C3 arrives 12 minutes after the bank opens and needs 10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minutes for his transaction.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time line and marks for every min. 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Time (minutes)</a:t>
            </a:r>
            <a:endParaRPr lang="ko-KR" altLang="en-US" dirty="0" smtClean="0" sz="923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923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in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out </a:t>
            </a:r>
            <a:endParaRPr lang="ko-KR" altLang="en-US" dirty="0" smtClean="0" sz="923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in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out </a:t>
            </a:r>
            <a:endParaRPr lang="ko-KR" altLang="en-US" dirty="0" smtClean="0" sz="923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in </a:t>
            </a:r>
            <a:endParaRPr lang="ko-KR" altLang="en-US" dirty="0" smtClean="0" sz="923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C1 comes at 2 min, C2 enters at 4 min. As C1 needs 4 min for his transaction, so 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leaves at 6 min. C2 requires 6 min for the processing so C2 leaves at 10 min. Then C3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99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enters at 12 min and so on. This way, the activity goes on. Therefore, we can write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routine of the clock. We take a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clock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representing the clock. The clock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run for 24 hrs. Banks are not open for 24 hrs but we will run our loop for 24 hrs.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pseudo code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clock = 0;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( clock &lt;= 24*60 ) { // one day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read new customer;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 customer.arrivaltime == clock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insert into shortest queue;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check the customer at head of all four queues.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 transaction is over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from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clock = clock + 1;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clock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initialized to zero. The while loop runs for 24 hrs. Then we read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new customer. This information may be coming from some file.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checking the arrival time of the customer. He comes 10 minutes after the opening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bank. So when this time is equal to the clock, we insert the customer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shortest queue. Then we will check the transaction time of all the four customers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teller. If the transaction time of any customer ends, we will remove it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and he will leave the bank. In the end, we increment the clock with one minute.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seen in the above statements, some activity takes place when the clock reaches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event time (that is the time to enter the bank or leave the bank arrives). If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customer’s arrival time has not come, the first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 becomes false and we do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nothing. Similarly if the transaction of customer is not finished, the second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if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becomes false. Then this while loop will simply add one min to the clock.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clock- based (time- based) simulation.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other type of simulation i.e. the event-based simulation. Don’t wait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clock to tick until the next event. Compute the time of next event and maintain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list of events in increasing order of time. Remove an event from the list in a loop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process it. Let’s see the time line again.  </a:t>
            </a:r>
            <a:endParaRPr lang="ko-KR" altLang="en-US" dirty="0" smtClean="0" sz="1056"/>
          </a:p>
          <a:p>
            <a:pPr marL="0" indent="0" defTabSz="15240" algn="l">
              <a:lnSpc>
                <a:spcPts val="1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94105" y="1657985"/>
            <a:ext cx="4749165" cy="18230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4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Time (minutes)</a:t>
            </a:r>
            <a:endParaRPr lang="ko-KR" altLang="en-US" dirty="0" smtClean="0" sz="923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923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923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in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out </a:t>
            </a:r>
            <a:endParaRPr lang="ko-KR" altLang="en-US" dirty="0" smtClean="0" sz="923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in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out </a:t>
            </a:r>
            <a:endParaRPr lang="ko-KR" altLang="en-US" dirty="0" smtClean="0" sz="923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1: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  mins C1 in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617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 in </a:t>
            </a:r>
            <a:endParaRPr lang="ko-KR" altLang="en-US" dirty="0" smtClean="0" sz="923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2: 4   mins C2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3: 6   mins C1 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4: 10 mins C2 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5: 12 mins C3 in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customer C1 comes		at 2 min and leaves at 6 min. Customer C2 comes at 4 min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leaves at 10 min and so on. We have written the events list in the above figure</a:t>
            </a:r>
            <a:r>
              <a:rPr lang="en-US" altLang="ko-KR" dirty="0" smtClean="0" sz="1056">
                <a:solidFill>
                  <a:srgbClr val="008000"/>
                </a:solidFill>
                <a:latin typeface="Times New Roman"/>
              </a:rPr>
              <a:t>.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not see the clock but see the events on time. Event 1 occurs at 2 min that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C1 enters the bank 2 minutes after its opening. Event 2 is that C2 enters at 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min. Event 3 is that the customer C1 leaves the bank at 6 min. Event 4 is that the C2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leaves the bank at 10 min and event 5 is that C3 enters the bank at 12 min. Here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list of events. How can we process them? We will make a queue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events. Remove the event with the earliest time from the queue and process it. Insert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newly created events in the queue. A queue where the de-queue operation depends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on FIFO, is called a priority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Priority Queue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stated earlier, the queue is a FIFO (First in first out) structure. In daily life,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also seen that it is not true that a person, who comes first, leaves first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Let’s take the example of traffic. Traffic is stopped at the signal. The vehicles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in a queue. When the signal turns green, vehicles starts moving. The vehicles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are at the front of the queue will cross the crossing first. Suppose an ambulance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from behind. Here ambulance should be given priority. It will bypass the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cross the intersection. Sometimes, we have queues that are not FIFO i.e.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 who comes first may not leave first. We can develop such queues in which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 for leaving the queue is not to enter first. There may be some priority.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also see the events of future like the customer is coming at what time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leaving at what time. We will arrange all these events and insert them in a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We will develop the queue in such a way that we will get the event which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happen first of all in the future. This data structure is known as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In a sense, FIFO is a special case of priority queue in which priority is given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time of arrival. That means the person who comes first has the higher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the one who comes later, has the low priority. You will see the priority queue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used at many places especially in the operating systems. In operating systems,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queue of different processes. If some process comes with higher priority,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processed first. Here we have seen a variation of queue. We will use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 queue in the simulation. The events will be inserted in the queue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going to occur first in future, will be popped. 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are the requirements to develop this simulation? We need the C++ code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simulation. There will be a need of the queue data structure and obviously,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 queue. Information about the arrival of the customers will be placed in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input file. Each line of the file contains the items (arrival time, transaction duration).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are a few lines from the input file.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 30 10  &lt;- customer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 35 05  &lt;- customer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00 40 08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00 45 02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00 50 05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00 55 12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01 00 13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01 01 09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line shows the customer 1. “00 30 10” means Customer 1 arrives 30 minutes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opening of the bank. He will need 10 minutes for his transaction. The last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entry “01 01 09” means customer arrives one hour and one minute after the bank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opened and his transaction will take 9 minutes and so on. The file contains similar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about the other customers. We will collect the events now. The first event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occur is the arrival of the first customer. This event is placed in the priority queue.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Initially, the four teller queues are empty. The simulation proceeds as follows: when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arrival event is removed from the priority queue, a node representing the customer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placed on the shortest teller queue. Here we are trying to develop an algorithm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maintaining the events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opening of the bank, the arrival of the first customer is the first event.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 enters the bank all the four tellers are free. Suppose he goes to the first teller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starts his transaction. After the conclusion of his transaction, he leaves the bank.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 to events, we have only two events, one is at what time he enters the bank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is at what time he leaves the bank. When other customers arrive,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maintain their events.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customer is the only one on a teller queue, an event for his departure is placed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priority queue. At the same time, the next input line is read and an arrival event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placed in the priority queue. When a departure event is removed from the event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 queue, the customer node is removed from the teller queue. Here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dealing with the events, not with the clock. When we come to know that a person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coming at say 9:20am, we make an event object and place it in the priority queue.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if we know the time of leaving of the customer from the bank, we will make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event and insert it into the priority queue. When the next customer in the queue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served by the teller, a departure event is placed on the event priority queue. When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customer arrives, we make an event object and insert it into the priority queue.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events are generated and inserted when the customer arrives. But the de-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is not in the same fashion. When we de-queue, we will get the event which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occur first.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 customer leaves the bank, the total time is computed. The total time spent by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944495"/>
            <a:ext cx="4773295" cy="59493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4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customer is the time spent in the queue waiting and the time taken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transaction. This time is added to the total time spent by all customers. At the end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simulation, this total time divided by the total customers served will be average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consumed by customers. Suppose that 300 customers were served, then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divide the total time by 300 to get the average time. So with the help of simulation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technique, we will get the result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customers came today and spent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bank and the average time spent by a customer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Code of the Bank Simulation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have a look on the C+ code of this simulation.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&lt;string&gt;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&lt;strstream.h&gt;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"Customer.cpp"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"Queue.h"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"PriorityQueue.cpp"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"Event.cpp"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q[4];       // teller queues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PriorityQueue pq; //eventList;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totalTime;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count =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customerNo = 0;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main (int argc, char *argv[])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Customer* c;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Event* nextEvent;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// open customer arrival file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ifstream data("customer.dat", ios::in);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// initialize with the first arriving customer.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ReadNewCustomer(data);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While( pq.length() &gt; 0 )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nextEvent = pq.remove();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 = nextEvent-&gt;getCustomer();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if( c-&gt;getStatus() == -1 ){  // arrival event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arrTime = nextEvent-&gt;getEventTime();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duration = c-&gt;getTransactionDuration();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customerNo = c-&gt;getCustomerNumber();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processArrival(data, customerNo,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arrTime, duration , nextEvent);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else {  // departure event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924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5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qindex = c-&gt;getStatus();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departTime = nextEvent-&gt;getEventTime();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processDeparture(qindex, departTime, nextEvent);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included lot of files in the program. Other than the standard libraries,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Customer.cpp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Queue.h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PriorityQueue.cpp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Event.cpp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With the help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four files, we will create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PriorityQueue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Event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object. You may think that these are four factories, creating objects for us.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there are four tellers, so we will create equal number of queues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 q[4]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create a priority queue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pq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PriorityQueue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factory. We declare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totalTime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customerNo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int. These are global variables.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main method, we declare some local variables of customer and event.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Afterwards, the customer.dat file for the input data is opened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ifstream data("customer.dat", ios::in);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read the first customers data from this file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readNewCustomer(data);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data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input file stream associated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customer.dat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read the arrival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and time of transaction from the file of the first customer. After reading it,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process this information.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there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loop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the main driver loop. It will run the simulation.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thing to note is that it is not clock-based which is that the loop will execute for 24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hours. Here we have the condition of priority queue’s length.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pq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represents the event queue. If there are some events to be processed,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empty. Its length will not be zero. We get the next event from the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queue, not from the queue.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pq.remove()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(de-queue method) will give 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event which is going to happen first in future. The priority of events is according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time. In the event object we have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customerNo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statement, we check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status of the customer. If the status is –1, it will reflect that this is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arrival event.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when a new customer enters the bank, he will look at the four tellers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go to the teller where the queue is smallest. Therefore in the program,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check which is the smallest queue and insert the customer in that queue. If the event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the new customer,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returns true. We will get its arrival time,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duration and customer number and assign it to the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arrTime, duration and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customerNo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respectively. We will call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processArrival()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pass it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information.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status of the customer is not equal to –1, it means that the customer is in one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four queues. The control will go to else part. We will get the status of the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161030"/>
            <a:ext cx="4773295" cy="2355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5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7391400"/>
            <a:ext cx="4773295" cy="1417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5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which can be 0, 1, 2 and 3. Assign this value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qindex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Later on,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these values are assigned to the status. We will get the departure time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and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processDeparture()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main driver loop, we will get the next event from the event queue. In this case,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events can be of two types i.e. arrival event and the departure event. When the person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enters the bank, it is the arrival event. If any queue is empty, he will go to the teller.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Otherwise, he will wait in the queue. After the completion of the transaction,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will leave the bank. It is the departure event.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readNewCustomer()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function is used to read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file.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readNewCustomer(ifstream&amp; data)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hour,min,duration;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(data &gt;&gt; hour &gt;&gt; min &gt;&gt; duration)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customerNo++;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Customer* c = new Customer(customerNo,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hour*60+min, duration);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c-&gt;setStatus( -1 ); // new arrival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Event* e = new Event(c, hour*60+min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pq.insert( e ); // insert the arrival event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data.close(); // close customer file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we have used the &gt;&gt; to read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hour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minute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duration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the file.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create a customer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the customer factory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customerNo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arrival time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transaction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duration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constructor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object. After the object creation, it is time to set its status to –1. This means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it is an arriving customer. Then we create an event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passing it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arrival time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insert this event into the priority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no more data to read, we go into the else part and close the data file.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processArrival()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decided that when the customer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arrives and no teller is available, he will go to the shortest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processArrival(ifstream &amp;data, int customerNo, int arrTime, int duration,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Event* event)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i, small, j =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find smallest teller queue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 = q[0].length();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for(i=1; i &lt; 4; i++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if( q[i].length() &lt; small ){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 = q[i].length(); j = i;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1362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5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8171815"/>
            <a:ext cx="4773295" cy="6369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5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put arriving customer in smallest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Customer* c = new Customer(customerNo, arrTime, duration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c-&gt;setStatus(j);  // remember which queue the customer goes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q[j].enqueue(c);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check if this is the only customer in the.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queue. If so, the customer must be marked for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departure by placing him on the event queue.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q[j].length() == 1 )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c-&gt;setDepartureTime( arrTime+duration);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Event* e = new Event(c, arrTime+duration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pq.insert(e);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get another customer from the input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readNewCustomer(data);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we will search for the smallest queue. For this purpose, there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method. We will check the length of all the four queues and get the smallest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one. We store the index of the smallest queue 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create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object. We set its status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 the queue no. Then we insert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in the smallest queue of the four. The customer may be alone in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he does not need to wait and goes directly to the teller. This is the real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life scenario. When we go to bank, we also do the same. In the banks,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queues and everyone has to enter in the queue. If the queue is empty, the customers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straight to the teller. Here we are trying to simulate the real life scenario. Therefore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length of the queue is one, it will mean that the customer is alone in the queue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he can go to the teller. We calculate his departure time by adding the arrival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transaction time. At this time, the person can leave the bank. We create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departure event and insert it into the priority queue. In the end, we read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customer. This is the way; a programmer handles the new customers. Whenever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person enters the bank, we create an event and insert it into the smallest queue. If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 is alone in the queue, we create a departure event and insert it into the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In the main while loop, when we remove the event, in case of first future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event, it will be processed. After the completion of the transaction, the person leaves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bank.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may encounter another case. There may be a case that before leaving the bank,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persons arrive and they have to wait in the queue for their turn. We handle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scenario in the departure routine. The code is: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processDeparture( int qindex, int departTime, Event* event)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Customer* cinq = q[qindex].dequeue();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355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5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828030"/>
            <a:ext cx="4773295" cy="9505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waitTime = departTime - cinq-&gt;getArrivalTime();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totalTime = totalTime + waitTime;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count = count + 1;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if there are any more customers on the queue, mark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next customer at the head of the queue for departure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and place him on the eventList.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q[qindex].length() &gt; 0 )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cinq = q[qindex].front();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int etime = departTime + cinq-&gt;getTransactionDuration();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Event* e = new Event( cinq, etime);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pq.insert( 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method, we get the information 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qindex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departTime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event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main method. We get the customer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qindex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calculate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wait time of the customer. The wait time is the difference of departure time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arrival time. The total time holds the time of all the customers. We added the wait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to the total time. We incremented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 one. After the departure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this customer, next customer is ready for his transaction.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is doing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this. We check the length of the queue, in case of presence of any customer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queue, we will check the customer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We set its departure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etime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by adding the depart time of the previous customer and his transaction time.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create an event and insert it in the priority queue.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end, we calculate the average time in the main loop and print it on the screen.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Average time is calculated by dividing the total time to total customer.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print the final average wait time.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double avgWait = (totalTime*1.0) / count;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"Total time:    " &lt;&lt; totalTime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“Customer:      " &lt;&lt; count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"Average wait: " &lt;&lt; avgWait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may be thinking that the complete picture of simulation is not visible. How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run this simulation? Another important tool in the simulation is animation.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seen the animation of traffic. Cars are moving and stopping on the signals.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Signals are turning into red, green and yellow. You can easily understand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animation. If the animation is combined with the simulation, it is easily understood.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an animated tool here that shows the animation of the events. A programmer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see the animation of the bank simulation. With the help of this animation, you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better understand the simulation.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animation, you can see the Entrance of the customers, four tellers,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and the Exit. The customers enter the queue and as the tellers are free. They go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teller straight. Customer C1&lt;30, 10&gt; enters the bank. The customer C1 enters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30 mins and he needs 10 mins for the transaction. He goes to the teller 1. Then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C2 enters the bank and goes to teller 2. When the transaction ends,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leaves the bank. When tellers are not free, customer will wait in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event priority queue, we have different events. The entries in the priority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arr, 76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(arrival event at 76 min)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q1, 80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(event in q1 at 80 min) etc.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statistics when a customer leaves the bank. At exit, you see the customer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leaving the bank as C15&lt;68, 3&gt;&lt;77, 3&gt;, it means that the customer C15 enters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bank at 68 mins and requires 3 mins for his transaction. He goes to the teller 4 but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teller is not free, so the customer has to wait in the queue. He leaves the bank at 77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course is not about the animation or simulation. We will solve the problems,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different data structures. Although with the help of simulation and animation,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have a real sketch of the problem. </a:t>
            </a:r>
            <a:endParaRPr lang="ko-KR" altLang="en-US" dirty="0" smtClean="0" sz="1056"/>
          </a:p>
          <a:p>
            <a:pPr marL="0" indent="0" defTabSz="15240" algn="l">
              <a:lnSpc>
                <a:spcPts val="4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7887970"/>
            <a:ext cx="4773295" cy="9512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11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4.1.1, 4.2.1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Priority Queue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Terminologies of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Strictly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of a 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Tips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demonstrated the technique of data structure priority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the example from the banking system. Data structure priority queue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variation of queue data structure to store the events. We have witnessed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 by animation. The simulation and animation help a programmer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the functionality of a program. As these are not the part of the current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course, so we will study simulation and animation in detail in the coming courses.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queue is a FIFO structure (i.e. first in first out). But there are its variations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including the priority queue, discussed in the previous lecture. In priority queue,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were adding data to a queue but did not get the data from the queue by First In,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(FIFO) rule. We put events in the queue and got these from the queue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 to the time of occurrence of the event. Thus we get the items from a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in a particular order with respect to a priority given to the items (events).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 queue is also an important data structure. Let’s see its implementation.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Implementation of Priority Queue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priority queue, we put the elements in the queue to get them from the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a priority of the elements. Following is the C++ code of the priority queue.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"Event.cpp"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#define PQMAX 30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PriorityQueue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109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65741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PriorityQueue()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0; rear = -1;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~PriorityQueue() {};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full(void)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( size == PQMAX ) ? 1 :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Event* remove()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size &gt; 0 )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Event* e = nodes[0];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for(int j=0; j &lt; size-2; j++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nodes[j] = nodes[j+1];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size-1; rear=rear-1;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size == 0 ) rear = -1;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(Event*)NULL;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"remove - queue is empty."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insert(Event* e)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!full()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rear = rear+1;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nodes[rear] = 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= size + 1;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sortElements(); // in ascending 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return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"insert queue is full."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length() { return size;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code, the file Events.cpp has been included. Here we use events to store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To cater to the need of storing other data types too, we can write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PriorityQueue class as a template class.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code, we declare the class PriorityQueue. Then there is the public part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class. In the public part, at first a programmer encounters the constructor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class. In the constructor, we assign the value 0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–1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variables. A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destructor, whose body is empty, follows this. Later, we employ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full()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checks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equal to the PQMAX to see whether the queue is full.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equal to PQMAX, the function returns 1 i.e. TRUE. Otherwise, it returns 0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FALSE. We are going to implement the priority queue with an array. We can also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to implement the priority queue. However, in the example of simulation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studied in the previous lecture, we implemented the queue by using an array.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seen in the simulation example that there may be a maximum of five events.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events include one arrival event and four departure events. That means four queues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where the customers go to the teller and one to go out of the bank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completion of the transaction. As we know that there is a need of only five queues, 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was decided to use the array instead of dynamic memory allocation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manipulating the pointers.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there are some things which are the property of the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We don’t have these in the queue. In this method, first of all we check the size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priority queue to see whether there is something in the queue or not. If size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0 i.e. there are items in the queue then we get the event pointer (pointer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object Event)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the first position (i.e. at index 0) of the array, which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internally to implement the queue. At the end of the method, we return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means that we are removing the first object from the internal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We already know that the removal of an item from the start of an array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consuming as we have to shift all the remaining items one position to the left.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the queue will execute slowly. We solved this problem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removing the item from the position where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pointing. 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went ahead and we got empty spaces in the beginning, the circular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was used. Here,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not removing the element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Rather, it is removing element from the first position (i.e. index 0).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starts from 0 and executes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size-2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notice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in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we are shifting the elements of the array one position left to fill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space that has been created by removing the element from the first position. Thus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 of index 1 becomes at index 0 and element of index 2 becomes at index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so on. Afterwards, we decrease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1. By decreasing the size 1 if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zero, we will set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–1. Now by the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e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return the element (object e), got from the array. The outer part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block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(Event*)NULL;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"remove - queue is empty."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executed if there is nothing in the queue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0. Here we return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 pointer and display a message on the screen to show that the queue is empty.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look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In this method, first of all we check whether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(we are using internally) is full or not. In case, it is not full, we increase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1. Then we insert the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nodes array at the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rear.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increased by 1 as we have inserted (added) one element to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call a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sortElements()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sorts the elements of the array in an order.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read different algorithms of sorting later in this course.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said that when we remove an element from a priority queue,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the FIFO rule. We will remove elements by some other rule.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simulation, we had decided to remove the element from the priority queue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 to the time of occurrence of an event (arrival or departure). We will remove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 (event) whose time of occurrence is before other events. This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understood from the example of the traffic over a bridge or crossing. We will give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higher priority to an ambulance as compared to a bus. The cars will have the lower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priority. Thus when a vehicle has gone across then after it we will see if there is any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ambulance in the queue. If it is there, we will remove it from the queue and let go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across the bridge. Afterwards, we will allow a bus to go and then the cars. In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simulation example, we put a number i.e. time of occurrence, with the object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 it to the queue. Then after each insertion, we sort the queue with these numbers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ascending order. Thus the objects in the nodes array get into an order with respect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time of their occurrence. After sorting, the first element in the array is the event,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be occurring earliest in the future. Now after sorting the queue we return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shows the insert operation has been successful. If the queue is full, we display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 to show that the queue is full and return 0, indicating that the insert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had failed.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there comes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length()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having a single statement i.e.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size 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returns the size of the queue, reflecting the number of elements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It is not the size of the array used internally to store the elements of the queue.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the implementation of the priority queue by using an array. We will use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priority queue in some other algorithms later. Now, we will see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the priority queue using some thing other than array,				which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much better than using an array. This will be more efficient.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will be faster than the ones in array technique. Here in the simulation,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were making only five queues for the events. Suppose, if these go to hundreds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thousands, a lot of time will be spent to remove an element from the queue. Similarly,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an element is added, after adding the element, to sort the whole array will be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consuming process. Thus the application, with the use of the priority queue,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more efficient with respect to the time.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Tree 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talk about a data structure called tree. This is an important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data structure is used in many algorithms. We will use it in most of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assignments. The data structures that we have discussed in previous lectures are linear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structures. The linked list and stack are linear data structures. In these structures,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elements are in a line. We put and get elements in and from a stack in linear order.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is also a linear data structure as a line is developed in it. There are a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applications where linear data structures are not appropriate. In such cases,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of some non-linear data structure. Some examples will show us that why non-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linear data structures are important. Tree is one of the non-linear data structures.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 following figure. This figure (11.1) is showing a genealogy tree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family. </a:t>
            </a:r>
            <a:endParaRPr lang="ko-KR" altLang="en-US" dirty="0" smtClean="0" sz="1056"/>
          </a:p>
          <a:p>
            <a:pPr marL="0" indent="0" defTabSz="15240" algn="l">
              <a:lnSpc>
                <a:spcPts val="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304290"/>
            <a:ext cx="4620895" cy="15487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Muhammad Aslam  Khan</a:t>
            </a:r>
            <a:endParaRPr lang="ko-KR" altLang="en-US" dirty="0" smtClean="0" sz="854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569">
                <a:solidFill>
                  <a:srgbClr val="000000"/>
                </a:solidFill>
                <a:latin typeface="Arial"/>
              </a:rPr>
              <a:t>T</a:t>
            </a:r>
            <a:endParaRPr lang="ko-KR" altLang="en-US" dirty="0" smtClean="0" sz="569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Sohail Aslam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Javed Aslam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Yasmeen Aslam</a:t>
            </a:r>
            <a:endParaRPr lang="ko-KR" altLang="en-US" dirty="0" smtClean="0" sz="854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Haaris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Saad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Qasim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Asim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Fahd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Ahmed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Sara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Times New Roman"/>
                <a:ea typeface="Times New Roman"/>
              </a:rPr>
              <a:t>Omer</a:t>
            </a:r>
            <a:endParaRPr lang="ko-KR" altLang="en-US" dirty="0" smtClean="0" sz="854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 this genealogy tree, the node at the top of the 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Muhammad Aslam Khan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head of the family. There are three nodes under this one. These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Sohail Aslam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Javed Aslam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Yasmeen Aslam.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there are nodes under these three nodes 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sons of these three family members. You may have seen the tree like this of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family. You can make the tree of your family too. The thing to be noted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genealogical tree is that it is not a linear structure like linked list, in which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tell that who is the father and who is the son. We make it like a tree. We develop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top-down, in which the father of the family is on the top with their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downward. We can see the similar tree structure of a company. In the tree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company, the CEO of the company is on the top, followed downwardly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managers and assistant managers. This process goes downward according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administrative hierarchy of the company. Our tree structure is different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 tree in the way that the actual tree grows from down to up. It has root downside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leaves upside. The data structure tree is opposite to the real tree as it goes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upside down. This top-down structure in computer science makes it easy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the tree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may be situations where the data, in our programs or applications, is not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linear order. There is a relationship between the data that cannot be captured by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or other linear data structure. Here we need a data structure like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some applications, the searching in linear data structures is very tedious.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search a name in a telephone directory having 100000 entries. If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directory is in a linked list manner, we will have to traverse the list from the starting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We have to traverse on average half of the directory if we find a name.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not find the required name in the entire directory despite traversing the whole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Thus it would be better to use a data structure so that the search operation does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take a lot of time. Taking into account such applications, we will now talk about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special tree data structure, known as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Binary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mathematical definition of a binary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“A binary tree is a finite set of elements that is either empty or is partitioned into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disjoint subsets. The first subset contains a single element called the root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two subsets are themselves binary trees called the left and right sub-trees”.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element of a binary tree is called a node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shows a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113 of 519 </a:t>
            </a:r>
            <a:endParaRPr lang="ko-KR" altLang="en-US" dirty="0" smtClean="0" sz="1056"/>
          </a:p>
        </p:txBody>
      </p:sp>
      <p:sp>
        <p:nvSpPr>
          <p:cNvPr id="269" name="Rect 3"/>
          <p:cNvSpPr>
            <a:spLocks noGrp="1" noChangeArrowheads="1"/>
          </p:cNvSpPr>
          <p:nvPr/>
        </p:nvSpPr>
        <p:spPr>
          <a:xfrm rot="0">
            <a:off x="3124200" y="1959610"/>
            <a:ext cx="110490" cy="184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569">
                <a:solidFill>
                  <a:srgbClr val="000000"/>
                </a:solidFill>
                <a:latin typeface="Arial"/>
              </a:rPr>
              <a:t>.</a:t>
            </a:r>
            <a:endParaRPr lang="ko-KR" altLang="en-US" dirty="0" smtClean="0" sz="569"/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37615" y="1283335"/>
            <a:ext cx="4377055" cy="27006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nine nodes in the above figure of the binary tree. The nine nodes are A, B,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C, D, E, F, G, H, and I. The node A is at the top of the tree. There are two lines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A to left and right sides towards node B and C respectively. Let’s have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 left side of the node A. There are also two lines from node B to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right, leading to the nodes D and E. Then from node, E there is only one line that is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of the node and leads to node G. Similarly there is a line from node C towards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F on right side of the node C. Then there are two lines from node F that leads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nodes H and I on left and right side respectively.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analyze this tree according to the mathematical definition of the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A is the root of the tree. And tree structure (i.e. the nodes B, D, E, G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their relation) on the left side of the node A is a sub-tree, called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Left subtree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nodes (C, F, H and I) on the right side of the node A comprise the sub-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termed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 subtree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we made three parts of the tree. One part contains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 one node i.e. A while the second part has all the nodes on left side of A, called as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Left subtree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the third part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 subtree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containing the nodes on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side of A. The following figure depicts this scenario.  </a:t>
            </a:r>
            <a:endParaRPr lang="ko-KR" altLang="en-US" dirty="0" smtClean="0" sz="1056"/>
          </a:p>
          <a:p>
            <a:pPr marL="0" indent="0" defTabSz="15240" algn="l">
              <a:lnSpc>
                <a:spcPts val="1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114 of 519 </a:t>
            </a:r>
            <a:endParaRPr lang="ko-KR" altLang="en-US" dirty="0" smtClean="0" sz="1056"/>
          </a:p>
        </p:txBody>
      </p:sp>
      <p:sp>
        <p:nvSpPr>
          <p:cNvPr id="272" name="Rect 3"/>
          <p:cNvSpPr>
            <a:spLocks noGrp="1" noChangeArrowheads="1"/>
          </p:cNvSpPr>
          <p:nvPr/>
        </p:nvSpPr>
        <p:spPr>
          <a:xfrm rot="0">
            <a:off x="4279265" y="2758440"/>
            <a:ext cx="1174750" cy="9537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264920"/>
            <a:ext cx="4684395" cy="36576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Left subtree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11.3: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Analysis of a binary tree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process of sub classing the tree can be done at the second level. That means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and right subtrees can also be divided into three parts similarly. Now consider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 of node A. This left subtree is also a tree. The node B is the root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tree and its left subtree is the node D. There is only one node in this left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subtree of the node B consists of two nodes i.e. E and G.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shows the analysis of the tree with root B. </a:t>
            </a:r>
            <a:endParaRPr lang="ko-KR" altLang="en-US" dirty="0" smtClean="0" sz="1056"/>
          </a:p>
          <a:p>
            <a:pPr marL="0" indent="0" defTabSz="15240" algn="l">
              <a:lnSpc>
                <a:spcPts val="2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115 of 519 </a:t>
            </a:r>
            <a:endParaRPr lang="ko-KR" altLang="en-US" dirty="0" smtClean="0" sz="1056"/>
          </a:p>
        </p:txBody>
      </p:sp>
      <p:sp>
        <p:nvSpPr>
          <p:cNvPr id="275" name="Rect 3"/>
          <p:cNvSpPr>
            <a:spLocks noGrp="1" noChangeArrowheads="1"/>
          </p:cNvSpPr>
          <p:nvPr/>
        </p:nvSpPr>
        <p:spPr>
          <a:xfrm rot="0">
            <a:off x="3072130" y="1520825"/>
            <a:ext cx="2385060" cy="2362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9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03630" y="5641975"/>
            <a:ext cx="4376420" cy="30632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7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45210" y="1322705"/>
            <a:ext cx="4663440" cy="32340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Left subtree</a:t>
            </a:r>
            <a:endParaRPr lang="ko-KR" altLang="en-US" dirty="0" smtClean="0" sz="96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11.4: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Analysis of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going one step down and considering right subtree of node B, we see that E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and its left subtree is the single node G. There is no right subtree of node E or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say that its right subtree is empty. This is shown in 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Leftsubtree</a:t>
            </a:r>
            <a:endParaRPr lang="ko-KR" altLang="en-US" dirty="0" smtClean="0" sz="96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11.5: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Analysis of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116 of 519 </a:t>
            </a:r>
            <a:endParaRPr lang="ko-KR" altLang="en-US" dirty="0" smtClean="0" sz="1056"/>
          </a:p>
        </p:txBody>
      </p:sp>
      <p:sp>
        <p:nvSpPr>
          <p:cNvPr id="278" name="Rect 3"/>
          <p:cNvSpPr>
            <a:spLocks noGrp="1" noChangeArrowheads="1"/>
          </p:cNvSpPr>
          <p:nvPr/>
        </p:nvSpPr>
        <p:spPr>
          <a:xfrm rot="0">
            <a:off x="4681855" y="7120255"/>
            <a:ext cx="132080" cy="1460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 </a:t>
            </a:r>
            <a:endParaRPr lang="ko-KR" altLang="en-US" dirty="0" smtClean="0" sz="1056"/>
          </a:p>
        </p:txBody>
      </p:sp>
      <p:sp>
        <p:nvSpPr>
          <p:cNvPr id="279" name="Rect 3"/>
          <p:cNvSpPr>
            <a:spLocks noGrp="1" noChangeArrowheads="1"/>
          </p:cNvSpPr>
          <p:nvPr/>
        </p:nvSpPr>
        <p:spPr>
          <a:xfrm rot="0">
            <a:off x="2907665" y="2800985"/>
            <a:ext cx="2640965" cy="5269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  <a:p>
            <a:pPr marL="0" indent="0" defTabSz="15240" algn="l">
              <a:lnSpc>
                <a:spcPts val="2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Root</a:t>
            </a:r>
            <a:endParaRPr lang="ko-KR" altLang="en-US" dirty="0" smtClean="0" sz="1056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3157855"/>
            <a:ext cx="4489450" cy="3096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left sub tree of E is the single node G. This node G can be considered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node with empty left and right sub trees.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definition of tree is of recursive nature. This is due to the fact that we have seen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which definition has been applied to the tree having node A as root, is applied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subtrees one level downward. Similarly as long as we go down ward in the tree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definition is used at each level of the tree. And we see three parts i.e. root,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and right subtree at each level.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carry out the same process on the right subtree of root node A, the node 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become the root of this right subtree of A. The left subtree of this root node C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empty. The right subtree of C is made up of three nodes F, H and I. This is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11.6: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Analysis of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apply the same recursive definition on the level below the node C. 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the node C will be considered as a tree. The root of this tree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F. The left and right subtrees of this root F are the nodes H and I respectively.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depicts this. </a:t>
            </a:r>
            <a:endParaRPr lang="ko-KR" altLang="en-US" dirty="0" smtClean="0" sz="1056"/>
          </a:p>
          <a:p>
            <a:pPr marL="0" indent="0" defTabSz="15240" algn="l">
              <a:lnSpc>
                <a:spcPts val="1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117 of 519 </a:t>
            </a:r>
            <a:endParaRPr lang="ko-KR" altLang="en-US" dirty="0" smtClean="0" sz="1056"/>
          </a:p>
        </p:txBody>
      </p:sp>
      <p:sp>
        <p:nvSpPr>
          <p:cNvPr id="282" name="Rect 3"/>
          <p:cNvSpPr>
            <a:spLocks noGrp="1" noChangeArrowheads="1"/>
          </p:cNvSpPr>
          <p:nvPr/>
        </p:nvSpPr>
        <p:spPr>
          <a:xfrm rot="0">
            <a:off x="2914015" y="3767455"/>
            <a:ext cx="2311400" cy="18192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Root</a:t>
            </a:r>
            <a:endParaRPr lang="ko-KR" altLang="en-US" dirty="0" smtClean="0" sz="1056"/>
          </a:p>
          <a:p>
            <a:pPr marL="0" indent="0" defTabSz="15240" algn="l">
              <a:lnSpc>
                <a:spcPts val="5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03630" y="5626735"/>
            <a:ext cx="4376420" cy="27006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8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54735" y="1273810"/>
            <a:ext cx="4602480" cy="33959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Left subtree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11.7: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Analysis of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make (draw) a tree by joining different nodes with lines. But we cannot join any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whichever we want to each other. Consider 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11.8: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 non-tree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118 of 519 </a:t>
            </a:r>
            <a:endParaRPr lang="ko-KR" altLang="en-US" dirty="0" smtClean="0" sz="1056"/>
          </a:p>
        </p:txBody>
      </p:sp>
      <p:sp>
        <p:nvSpPr>
          <p:cNvPr id="285" name="Rect 3"/>
          <p:cNvSpPr>
            <a:spLocks noGrp="1" noChangeArrowheads="1"/>
          </p:cNvSpPr>
          <p:nvPr/>
        </p:nvSpPr>
        <p:spPr>
          <a:xfrm rot="0">
            <a:off x="4093210" y="2749550"/>
            <a:ext cx="1226820" cy="53092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  <a:p>
            <a:pPr marL="0" indent="0" defTabSz="15240" algn="l">
              <a:lnSpc>
                <a:spcPts val="2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88390" y="3063240"/>
            <a:ext cx="4376420" cy="27006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the same tree, made earlier with a little modification. In this figure we join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G with D. Now this is not a tree. It is due to the reason that in a tree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always one path to go (from root) to a node. But in this figure, there are two paths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(tracks) to go to node G. One path is from node A to B, then B to D and D to G.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the path is A-B-D-G. We can also reach to node G by the other path that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path A-B-E-G. If we have such a figure, then it is not a tree. Rather, it may be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graph. We will discuss about graphs at the end of this course.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if we put an extra link between the nodes A and B, as in the figure below,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it is also no more a tree. This is a multiple graph as there are multiple (more than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1) links between node A and B.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11.9: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 non-tree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if we put other links between different nodes, then the structure thus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developed will not be a tree. The following figure is also an example of a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is not a tree as there are multiple links between the different nodes. </a:t>
            </a:r>
            <a:endParaRPr lang="ko-KR" altLang="en-US" dirty="0" smtClean="0" sz="1056"/>
          </a:p>
          <a:p>
            <a:pPr marL="0" indent="0" defTabSz="15240" algn="l">
              <a:lnSpc>
                <a:spcPts val="19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119 of 519 </a:t>
            </a:r>
            <a:endParaRPr lang="ko-KR" altLang="en-US" dirty="0" smtClean="0" sz="1056"/>
          </a:p>
        </p:txBody>
      </p:sp>
      <p:sp>
        <p:nvSpPr>
          <p:cNvPr id="288" name="Rect 3"/>
          <p:cNvSpPr>
            <a:spLocks noGrp="1" noChangeArrowheads="1"/>
          </p:cNvSpPr>
          <p:nvPr/>
        </p:nvSpPr>
        <p:spPr>
          <a:xfrm rot="0">
            <a:off x="4126865" y="4541520"/>
            <a:ext cx="1177925" cy="9537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163185"/>
            <a:ext cx="5065395" cy="33801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29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88390" y="1188720"/>
            <a:ext cx="4376420" cy="27006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9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11.10: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 non-tree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Terminologies of a binary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discuss different terminologies of the binary tree. We will use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terminologies in our different algorithms. Consider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parent</a:t>
            </a:r>
            <a:endParaRPr lang="ko-KR" altLang="en-US" dirty="0" smtClean="0" sz="96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Left descendant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descendant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nodes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11.11: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Terminologies used in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120 of 519 </a:t>
            </a:r>
            <a:endParaRPr lang="ko-KR" altLang="en-US" dirty="0" smtClean="0" sz="1056"/>
          </a:p>
        </p:txBody>
      </p:sp>
      <p:sp>
        <p:nvSpPr>
          <p:cNvPr id="291" name="Rect 3"/>
          <p:cNvSpPr>
            <a:spLocks noGrp="1" noChangeArrowheads="1"/>
          </p:cNvSpPr>
          <p:nvPr/>
        </p:nvSpPr>
        <p:spPr>
          <a:xfrm rot="0">
            <a:off x="4126865" y="2667000"/>
            <a:ext cx="1601470" cy="58096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  <a:p>
            <a:pPr marL="0" indent="0" defTabSz="15240" algn="l">
              <a:lnSpc>
                <a:spcPts val="2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nodes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5382895"/>
            <a:ext cx="4377055" cy="27006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9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discussed that the node on the top is said root of the tree. If we consider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relationship of these nodes, A is the parent node with B and C as the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descendants respectively. C is the right descendant of A. Afterwards, we look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B where the node D is its left descendant and E is its right descendant.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the words descendant and child interchangeably. Now look at the nodes D, G, 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I. These nodes are said leaf nodes as there is no descendant of these nodes.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just introducing the terminology here. In the algorithms, we can use the words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or parent, child or descendant. So the names never matter.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Strictly Binary Tree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version of the binary tree, called strictly binary tree. A binary tree is said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a strictly binary tree if every non-leaf node in a binary tree has non-empty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previous figure 11.11. We know that a leaf node has no left or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child. Thus nodes D, G, H and I are the leaf nodes. The non-leaf nodes in this tree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A, B, C, E and F. Now according to the definition of strictly binary tree, these non-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nodes (i.e. A, B, C, E and F) must have left and right subtrees (Childs).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has left child B and right child C. The node B also has its left and right children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D and E respectively. The non-leaf node C has right child F but not a left one.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add a left child of C that is node J. Here C also has its left and right children.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F also has its left and right descendants, H and I respectively. Now the last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non-leaf node E has its left child, G but no right one. We add a node K as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the node E. Thus the tree becomes as shown below in the figure 11.12.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 A Strictly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all the non-leaf nodes (A, B, C, E and F) have their left and right children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the definition, it is a strictly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121 of 519 </a:t>
            </a:r>
            <a:endParaRPr lang="ko-KR" altLang="en-US" dirty="0" smtClean="0" sz="1056"/>
          </a:p>
        </p:txBody>
      </p:sp>
      <p:sp>
        <p:nvSpPr>
          <p:cNvPr id="294" name="Rect 3"/>
          <p:cNvSpPr>
            <a:spLocks noGrp="1" noChangeArrowheads="1"/>
          </p:cNvSpPr>
          <p:nvPr/>
        </p:nvSpPr>
        <p:spPr>
          <a:xfrm rot="0">
            <a:off x="4047490" y="6861175"/>
            <a:ext cx="1177925" cy="9537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</p:txBody>
      </p:sp>
      <p:sp>
        <p:nvSpPr>
          <p:cNvPr id="295" name="Rect 3"/>
          <p:cNvSpPr>
            <a:spLocks noGrp="1" noChangeArrowheads="1"/>
          </p:cNvSpPr>
          <p:nvPr/>
        </p:nvSpPr>
        <p:spPr>
          <a:xfrm rot="0">
            <a:off x="2773680" y="6903720"/>
            <a:ext cx="915670" cy="9537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03630" y="2978150"/>
            <a:ext cx="4041140" cy="25323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Level </a:t>
            </a:r>
            <a:endParaRPr lang="ko-KR" altLang="en-US" dirty="0" smtClean="0" sz="123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level of a node in a binary tree is defined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Root has level 0,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Level of any other node is one more than the level its parent (father).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depth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a binary tree is the maximum level of any leaf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understand level of a node, consider the following figure 11.13. This figure shows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tree of figure 11.2, discussed so far.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2                          2                                                                2 ------- Level 2     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                                                       3              3             -Level 3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11.13: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Level of nodes of a tree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we have mentioned the level of each node. The figure also shows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root node has level 0. We have talked in the definition of the level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of a node, other than root, is one more than the level of its parent. Now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tree, the parent of nodes B and C is node A with level 0. Now by definition, the level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B and C will be 1 (i.e. level of A + 1). Now if go downward in the tree and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D, E and F, the parent node of D and E is B the level of which is 1. So the level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 and E is 2 (i.e. 1 + 1). Similarly the level of F is 2 as the level of its parent (i..e.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C) is 1. In the same way, we can easily understand that the level of G, H and I is 3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parent nodes of these (E and F) have level 2. Thus we see that tree has multi levels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downward direction. The levels of the tree increase, as the tree grows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downward more. The number of nodes also increases.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talk why we call it a binary tree. We have seen that each node has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of two subtrees. There might be two, one or no subtree of a node. But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cannot have more than two. So, we call such a tree a binary one due to the fact that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of it can have a maximum of two subtrees. There are trees whose nodes can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than two subtrees. These are not binary trees. We will talk about these 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later.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seeing the level of a tree, we can tell the depth of the tree. If we put level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node of the binary tree, the depth of a binary tree is the maximum level. In the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122 of 519 </a:t>
            </a:r>
            <a:endParaRPr lang="ko-KR" altLang="en-US" dirty="0" smtClean="0" sz="1056"/>
          </a:p>
        </p:txBody>
      </p:sp>
      <p:sp>
        <p:nvSpPr>
          <p:cNvPr id="298" name="Rect 3"/>
          <p:cNvSpPr>
            <a:spLocks noGrp="1" noChangeArrowheads="1"/>
          </p:cNvSpPr>
          <p:nvPr/>
        </p:nvSpPr>
        <p:spPr>
          <a:xfrm rot="0">
            <a:off x="3916680" y="3676015"/>
            <a:ext cx="628650" cy="838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</p:txBody>
      </p:sp>
      <p:sp>
        <p:nvSpPr>
          <p:cNvPr id="299" name="Rect 3"/>
          <p:cNvSpPr>
            <a:spLocks noGrp="1" noChangeArrowheads="1"/>
          </p:cNvSpPr>
          <p:nvPr/>
        </p:nvSpPr>
        <p:spPr>
          <a:xfrm rot="0">
            <a:off x="1286510" y="3072130"/>
            <a:ext cx="4292600" cy="15214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0    ---------------------------------------- Level 0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1 ------------------- Level 1 </a:t>
            </a:r>
            <a:endParaRPr lang="ko-KR" altLang="en-US" dirty="0" smtClean="0" sz="1056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4550" y="2731135"/>
            <a:ext cx="5065395" cy="28835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0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11.13, the deepest node is at level 3  i.e. the maximum level is 3. So the depth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this binary tree is 3.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Complete Binary Tree </a:t>
            </a:r>
            <a:endParaRPr lang="ko-KR" altLang="en-US" dirty="0" smtClean="0" sz="123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if there are left and right subtrees for each node in the binary tree as shown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in figure 11.14, it becomes a complete binary tree.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3                3               3                3                     3                3               3     3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11.14: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 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definition of the complete binary tree is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“A complete binary tree of depth d is the strictly binary tree all of whose leaves are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d”.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look at the tree, the leaf nodes of the tree are at level 3 and are H, I, J, K, L, M,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and O. There is no such a leaf node that is at some level other than the depth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3. All the leaf nodes of this tree are at level 3 (which is the depth of the tree i.e. d).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this is a complete binary tree. In the figure, all the nodes at level 3 are highlighted.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the property of the binary tree is that its node can have a maximum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subtrees, called as left and right subtrees. The nodes increase at each level,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grows downward. In a complete binary tree, the nodes increase in a particular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order. If we reconsider the previous tree (figure 11.14), we note that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at level 0 is 1. We can say it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as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equal to 1. Down to this, the node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1 where the number of nodes is 2, which we can say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equal to 2. Now at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level (i.e. level 2), the number of nodes is 4 that mean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Finally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at level 3 is 8, which can be called as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process is shown pictorially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11.15.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123 of 519 </a:t>
            </a:r>
            <a:endParaRPr lang="ko-KR" altLang="en-US" dirty="0" smtClean="0" sz="1056"/>
          </a:p>
        </p:txBody>
      </p:sp>
      <p:sp>
        <p:nvSpPr>
          <p:cNvPr id="302" name="Rect 3"/>
          <p:cNvSpPr>
            <a:spLocks noGrp="1" noChangeArrowheads="1"/>
          </p:cNvSpPr>
          <p:nvPr/>
        </p:nvSpPr>
        <p:spPr>
          <a:xfrm rot="0">
            <a:off x="5196840" y="4306570"/>
            <a:ext cx="156210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G </a:t>
            </a:r>
            <a:endParaRPr lang="ko-KR" altLang="en-US" dirty="0" smtClean="0" sz="1056"/>
          </a:p>
        </p:txBody>
      </p:sp>
      <p:sp>
        <p:nvSpPr>
          <p:cNvPr id="303" name="Rect 3"/>
          <p:cNvSpPr>
            <a:spLocks noGrp="1" noChangeArrowheads="1"/>
          </p:cNvSpPr>
          <p:nvPr/>
        </p:nvSpPr>
        <p:spPr>
          <a:xfrm rot="0">
            <a:off x="4151630" y="4453255"/>
            <a:ext cx="146685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2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2 </a:t>
            </a:r>
            <a:endParaRPr lang="ko-KR" altLang="en-US" dirty="0" smtClean="0" sz="1056"/>
          </a:p>
        </p:txBody>
      </p:sp>
      <p:sp>
        <p:nvSpPr>
          <p:cNvPr id="304" name="Rect 3"/>
          <p:cNvSpPr>
            <a:spLocks noGrp="1" noChangeArrowheads="1"/>
          </p:cNvSpPr>
          <p:nvPr/>
        </p:nvSpPr>
        <p:spPr>
          <a:xfrm rot="0">
            <a:off x="2536190" y="3602990"/>
            <a:ext cx="2118995" cy="8534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</p:txBody>
      </p:sp>
      <p:sp>
        <p:nvSpPr>
          <p:cNvPr id="305" name="Rect 3"/>
          <p:cNvSpPr>
            <a:spLocks noGrp="1" noChangeArrowheads="1"/>
          </p:cNvSpPr>
          <p:nvPr/>
        </p:nvSpPr>
        <p:spPr>
          <a:xfrm rot="0">
            <a:off x="1496695" y="2892425"/>
            <a:ext cx="3435985" cy="1710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0  </a:t>
            </a:r>
            <a:endParaRPr lang="ko-KR" altLang="en-US" dirty="0" smtClean="0" sz="1056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1  </a:t>
            </a:r>
            <a:endParaRPr lang="ko-KR" altLang="en-US" dirty="0" smtClean="0" sz="1056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   2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2   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2665" y="2164080"/>
            <a:ext cx="4645025" cy="24199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endParaRPr lang="ko-KR" altLang="en-US" dirty="0" smtClean="0" sz="1056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------------------------------------  Level 3: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--------------------------------------------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11.15: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Number of nodes at each level in a complete binary tree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observing the number of nodes at a particular level, we come to the conclusion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number of nodes at a level is equal to the level number raising to the power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two. Thus we can say that in a complete binary tree at a particular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nodes is equal to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Note that this formula for the number of nodes is for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 only. It is not necessary that every binary tree fulfill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criterion. Applying this formula to each level while going to the depth of the tree (i.e.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d), we can calculate the total number of nodes in a complete binary tree 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adding the number of nodes at each level. This can be written as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summation.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0+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1+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 + ……… +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=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Σ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		j=0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 =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d+1 – 1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according to this summation, the total number of nodes in a 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– 1. Thus if there is a complete binary tree of depth 4,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total number of nodes in it will be calculated by putting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equal to 4.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calculated as under.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4+1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- 1 =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 = 32 – 1 = 31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total number of nodes in the complete binary tree of depth 4 is 31.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the total number of nodes (leaf and non-leaf) of a 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equal to 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– 1. In a complete binary tree, all the leaf nodes are at the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124 of 519 </a:t>
            </a:r>
            <a:endParaRPr lang="ko-KR" altLang="en-US" dirty="0" smtClean="0" sz="1056"/>
          </a:p>
        </p:txBody>
      </p:sp>
      <p:sp>
        <p:nvSpPr>
          <p:cNvPr id="308" name="Rect 3"/>
          <p:cNvSpPr>
            <a:spLocks noGrp="1" noChangeArrowheads="1"/>
          </p:cNvSpPr>
          <p:nvPr/>
        </p:nvSpPr>
        <p:spPr>
          <a:xfrm rot="0">
            <a:off x="5123815" y="3618230"/>
            <a:ext cx="15303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G </a:t>
            </a:r>
            <a:endParaRPr lang="ko-KR" altLang="en-US" dirty="0" smtClean="0" sz="1056"/>
          </a:p>
        </p:txBody>
      </p:sp>
      <p:sp>
        <p:nvSpPr>
          <p:cNvPr id="309" name="Rect 3"/>
          <p:cNvSpPr>
            <a:spLocks noGrp="1" noChangeArrowheads="1"/>
          </p:cNvSpPr>
          <p:nvPr/>
        </p:nvSpPr>
        <p:spPr>
          <a:xfrm rot="0">
            <a:off x="4151630" y="3639185"/>
            <a:ext cx="854075" cy="1466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----------------- </a:t>
            </a:r>
            <a:endParaRPr lang="ko-KR" altLang="en-US" dirty="0" smtClean="0" sz="1056"/>
          </a:p>
        </p:txBody>
      </p:sp>
      <p:sp>
        <p:nvSpPr>
          <p:cNvPr id="310" name="Rect 3"/>
          <p:cNvSpPr>
            <a:spLocks noGrp="1" noChangeArrowheads="1"/>
          </p:cNvSpPr>
          <p:nvPr/>
        </p:nvSpPr>
        <p:spPr>
          <a:xfrm rot="0">
            <a:off x="2572385" y="2971800"/>
            <a:ext cx="2037080" cy="8140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Level 2: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1056"/>
          </a:p>
        </p:txBody>
      </p:sp>
      <p:sp>
        <p:nvSpPr>
          <p:cNvPr id="311" name="Rect 3"/>
          <p:cNvSpPr>
            <a:spLocks noGrp="1" noChangeArrowheads="1"/>
          </p:cNvSpPr>
          <p:nvPr/>
        </p:nvSpPr>
        <p:spPr>
          <a:xfrm rot="0">
            <a:off x="1737360" y="2209800"/>
            <a:ext cx="3679825" cy="15760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 Level 0: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 </a:t>
            </a:r>
            <a:endParaRPr lang="ko-KR" altLang="en-US" dirty="0" smtClean="0" sz="1056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----------  Level 1: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----------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-------------- 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the number of nodes at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. These are the leaf nodes.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difference of total number of nodes and number of leaf nodes will give us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of non-leaf (inner) nodes. It will be (2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– 1) –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1.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conclude that in a complete binary tree, there are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leaf nodes and 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 non-leaf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(inner) nodes.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Level of a Complete Binary Tree </a:t>
            </a:r>
            <a:endParaRPr lang="ko-KR" altLang="en-US" dirty="0" smtClean="0" sz="123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conclude some more results from the above mathematical expression.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the depth of a complete binary tree if we know the total number of nodes.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complete binary tree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total nodes, then by the equation of the total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nodes we can write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Total number of nodes = 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– 1 =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find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solve the above equation as under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– 1 =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=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+ 1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+ 1 =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+ 1)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+ 1) –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having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total nodes, we can find the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 by the above equation.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100,000 nodes. It means that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100,000, reflecting a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 will be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(100000 + 1) – 1, which evaluates to 20. So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 of the tree will be 20. In other words, the tree will be 20 levels deep.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significance of all this discussion about the properties of complete binary tree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evident later.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Operations on Binary Tree  </a:t>
            </a:r>
            <a:endParaRPr lang="ko-KR" altLang="en-US" dirty="0" smtClean="0" sz="123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define different operations on binary trees.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a node in an existing tree, then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left(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returns pointer to the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right(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returns pointer to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parent(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returns the father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brother(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returns brother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info(p) returns content of the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discus these methods in detail in next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Tips </a:t>
            </a:r>
            <a:endParaRPr lang="ko-KR" altLang="en-US" dirty="0" smtClean="0" sz="123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A priority queue is a variation of queue that does not follow FIFO rule.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Tree is a non-linear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The maximum level of any leaf in a binary tree is called the depth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Other than the root node, the level of each node is one more than the level of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parent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A complete binary tree is necessarily a strictly binary tree but not vice versa.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At any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 are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that level in a complete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The total number of nodes in a complete binary tree 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In a complete binary tree there are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leaf nodes and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 non-leaf nodes.   </a:t>
            </a:r>
            <a:endParaRPr lang="ko-KR" altLang="en-US" dirty="0" smtClean="0" sz="1056"/>
          </a:p>
          <a:p>
            <a:pPr marL="0" indent="0" defTabSz="15240" algn="l">
              <a:lnSpc>
                <a:spcPts val="5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7385050"/>
            <a:ext cx="3175635" cy="9785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12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4.2, 4.3(4.3.2, 4.3.4)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 on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Applications of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Searching for Duplicates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Implementation of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Trace of insert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Operations on Binary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last lecture, we talked about the uses of binary tree, which is an abstract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type. We discussed about the functions to find the information inside a node,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parent, the siblings(brothers), the left and right children of a node. In this lecture,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talk about the algorithms and implementation of those functions.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discuss about an abstract data type, firstly we focus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can do for 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don’t bother 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part. The how part or implementation is thought 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later.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implementing these abstract data types, the implementation is hidden in a class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it is abstract to the user. The user only needs to be aware of the interface. But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situations when the users may like to know about the implementation detail,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example, when a data type is performing quite slower than promised.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now, we start our discussion from the methods of tree data type. Consider a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been formed already, following methods will be used to perform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 on a node of this tree: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Operation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Description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left(p)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a pointer to the left sub-tree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right(p)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a pointer to the right sub-tree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parent(p)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father node of 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brother(p)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brother node of 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info(p)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contents of node 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methods have already been discussed at the end of the previous lecture,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however, few more methods are required to construct a binary tree: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286510"/>
            <a:ext cx="3175635" cy="1701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2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09015" y="1454150"/>
            <a:ext cx="3175635" cy="6369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2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292225" y="5711825"/>
            <a:ext cx="3142615" cy="9817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1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Operation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Description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setLeft(p, x)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Creates the left child node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into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setRight(p, x)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Creates the right child node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node contains the info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 these methods are required to build and to retrieve values from a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Applications of Binary Tree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take few examples to understand how the tree data type is used and what are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benefits. We will also develop some algorithms that may by useful in future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working with this data type.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 is useful structure when two-way decisions are made at each point.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find all duplicates in a list of the following numbers: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list may comprise numbers of any nature. For example, roll numbers, telephone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or voter’s list.  In addition to the presence of duplicate number, we may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 the frequency of numbers in the list. As it is a small list, so only a cursory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view may reveal that there are some duplicate numbers present in this list. Practically,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list can be of very huge size ranging to thousands or millions.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Arial"/>
              </a:rPr>
              <a:t>Searching for Duplicates </a:t>
            </a:r>
            <a:endParaRPr lang="ko-KR" altLang="en-US" dirty="0" smtClean="0" sz="96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way of finding duplicates is to compare each number with all those that precede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Let’s see it in detail.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14 15 4, 9, 7, 18 3, 5,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16 4, 20 17 9, 14 5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14 15 4, 9, 7, 18 3, 5,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16 4, 20 17 9, 14 5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12.1:		Search for Duplicates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Suppose, we are looking for duplicates for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will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scanning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While scanning, whenever we find the number 4 inside,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 the position and increment its frequency counter by 1. This comparison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go on till the end of the list to get the duplicates or fequence of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have understood already that we will have to perform this whole scanning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list every time for each number to find duplicates. This is a long and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consuming process.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this procedure involves a large number of comparisons, if the list of numbers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large and is growing.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linked list can handle the growth. But it can be used where a programmer has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idea about the size of the data before hand. The number of comparisons may still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large. The comparisons are not reduced after using linked list as it is a linear data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58570" y="4986655"/>
            <a:ext cx="70485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2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20495" y="7186930"/>
            <a:ext cx="69850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2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91055" y="8485505"/>
            <a:ext cx="984250" cy="6553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2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20495" y="9460865"/>
            <a:ext cx="69850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To search a number in a linked list, we have to begin from the start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to the end in the linear fashion, traversing each node in it. For optimizing search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in a list, there is no real benefit of using linked list. On the contrary,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operation becomes slower even while searching in an array because the linked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is not contiguous like an array and traversing is done in the linked list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of pointers.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So, the solution lies in reducing the number of comparisons.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comparisons can be drastically reduced with the help of a binary tree. The benefits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are there, also the tree grows dynamically like the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tree is built in a special way. The first number in the list is placed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node, designated 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binary tree. Initially, both left and right sub-trees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empty. We take the next number and compare it with 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it is the same, this means the presence of a duplicate. Otherwise,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create a new tree node and put the new number in it. The new node is turned into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if the second number is less than the one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node is turned into the right child if the number is greater than the one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12.2: First number in the list became the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root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the first number in the list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placed in a node , making it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binary tree. You can see that it is not pointing to any further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its left and right pointers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this point of tree construction time.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see, how do we insert the next element into it. </a:t>
            </a:r>
            <a:endParaRPr lang="ko-KR" altLang="en-US" dirty="0" smtClean="0" sz="1056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12.3: A new node is created to insert it in the binary tree </a:t>
            </a:r>
            <a:endParaRPr lang="ko-KR" altLang="en-US" dirty="0" smtClean="0" sz="1056" b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 first step to add a new node in the tree, we take the next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list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 it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number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As they are different, so a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created and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set into it. 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129 of 519 </a:t>
            </a:r>
            <a:endParaRPr lang="ko-KR" altLang="en-US" dirty="0" smtClean="0" sz="1056"/>
          </a:p>
        </p:txBody>
      </p:sp>
      <p:sp>
        <p:nvSpPr>
          <p:cNvPr id="322" name="Rect 3"/>
          <p:cNvSpPr>
            <a:spLocks noGrp="1" noChangeArrowheads="1"/>
          </p:cNvSpPr>
          <p:nvPr/>
        </p:nvSpPr>
        <p:spPr>
          <a:xfrm rot="0">
            <a:off x="1847215" y="4236720"/>
            <a:ext cx="448945" cy="3416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</p:txBody>
      </p:sp>
      <p:sp>
        <p:nvSpPr>
          <p:cNvPr id="323" name="Rect 3"/>
          <p:cNvSpPr>
            <a:spLocks noGrp="1" noChangeArrowheads="1"/>
          </p:cNvSpPr>
          <p:nvPr/>
        </p:nvSpPr>
        <p:spPr>
          <a:xfrm rot="0">
            <a:off x="1981200" y="6434455"/>
            <a:ext cx="448945" cy="340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</p:txBody>
      </p:sp>
      <p:sp>
        <p:nvSpPr>
          <p:cNvPr id="324" name="Rect 3"/>
          <p:cNvSpPr>
            <a:spLocks noGrp="1" noChangeArrowheads="1"/>
          </p:cNvSpPr>
          <p:nvPr/>
        </p:nvSpPr>
        <p:spPr>
          <a:xfrm rot="0">
            <a:off x="1203960" y="6440170"/>
            <a:ext cx="445770" cy="3416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74520" y="4255135"/>
            <a:ext cx="1005840" cy="7499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2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81785" y="5334000"/>
            <a:ext cx="70485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step is to add this node in the tree. We compare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number in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number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As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it is placed as right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number in the list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is compared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number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so we see if there is a left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to compare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that. At this point of time in the tree, there is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further left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Therefore, a new node is created and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put into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below figure shows the newly created node.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12.5: A new node is created and number 4 put into it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the newly created node is added as the left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It is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2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130 of 519 </a:t>
            </a:r>
            <a:endParaRPr lang="ko-KR" altLang="en-US" dirty="0" smtClean="0" sz="1056"/>
          </a:p>
        </p:txBody>
      </p:sp>
      <p:sp>
        <p:nvSpPr>
          <p:cNvPr id="327" name="Rect 3"/>
          <p:cNvSpPr>
            <a:spLocks noGrp="1" noChangeArrowheads="1"/>
          </p:cNvSpPr>
          <p:nvPr/>
        </p:nvSpPr>
        <p:spPr>
          <a:xfrm rot="0">
            <a:off x="1286510" y="4255135"/>
            <a:ext cx="494665" cy="3384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03960" y="1398905"/>
            <a:ext cx="1548130" cy="7499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3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99870" y="2548255"/>
            <a:ext cx="69850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3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042670" y="4892040"/>
            <a:ext cx="2593340" cy="10515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30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901825" y="6260465"/>
            <a:ext cx="70485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2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12.6: The node is added as the left child of the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 node </a:t>
            </a:r>
            <a:endParaRPr lang="ko-KR" altLang="en-US" dirty="0" smtClean="0" sz="1056" b="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number in the list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add this number in the tree, we will follow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already defined and experimented procedure. We compare this number first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of the tree. This number is found to be smaller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Therefore, left sub-tree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is sought.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is the one 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On comparison,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found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4. Therefore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go to the right child of the node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the moment, there is no further node to the right of it, necessitating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of creating a new node.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put into it and the new node is added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child of the node 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same is shown in the figure given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below.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12.7: A new node is added in the tree </a:t>
            </a:r>
            <a:endParaRPr lang="ko-KR" altLang="en-US" dirty="0" smtClean="0" sz="1056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keep on adding new nodes in the tree in line with the above practiced rule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eventually, we have the tree shown in the below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131 of 519 </a:t>
            </a:r>
            <a:endParaRPr lang="ko-KR" altLang="en-US" dirty="0" smtClean="0" sz="1056"/>
          </a:p>
        </p:txBody>
      </p:sp>
      <p:sp>
        <p:nvSpPr>
          <p:cNvPr id="330" name="Rect 3"/>
          <p:cNvSpPr>
            <a:spLocks noGrp="1" noChangeArrowheads="1"/>
          </p:cNvSpPr>
          <p:nvPr/>
        </p:nvSpPr>
        <p:spPr>
          <a:xfrm rot="0">
            <a:off x="3343910" y="5398135"/>
            <a:ext cx="193040" cy="1460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15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6001385"/>
            <a:ext cx="4333875" cy="28257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3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63295" y="1313815"/>
            <a:ext cx="4766945" cy="16948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3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868295" y="3752215"/>
            <a:ext cx="69850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3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14, 15, 4, 9, 7, 18, 3, 5, 16, 4, 20, 17, 9, 14, 5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12.8: Binary tree of whole list of numbers </a:t>
            </a:r>
            <a:endParaRPr lang="ko-KR" altLang="en-US" dirty="0" smtClean="0" sz="1056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pertinent to note that this is a binary tree with two sub-nodes or children of 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We have not seen the advantage of binary tree, the one we were earlier talking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i.e. it will reduce the number of comparisons. Previously, we found that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becomes troublesome and slower as the size of list grows. We will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 of using binary tree over linked list later. Firstly, we will see how the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C++ Implementation of Binary Tree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code below for the file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file contains the TreeNode class declaration. TreeNode contains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functionality for a binary tree node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#include   &lt;stdlib.h&gt;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template   &lt;class  Object&gt;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class   TreeNode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 {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      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 // constructors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9. TreeNode()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this-&gt;object   =   NULL;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this-&gt;left   =   this-&gt;right   =  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13. };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TreeNode( Object *   object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16. {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132 of 519 </a:t>
            </a:r>
            <a:endParaRPr lang="ko-KR" altLang="en-US" dirty="0" smtClean="0" sz="1056"/>
          </a:p>
        </p:txBody>
      </p:sp>
      <p:sp>
        <p:nvSpPr>
          <p:cNvPr id="333" name="Rect 3"/>
          <p:cNvSpPr>
            <a:spLocks noGrp="1" noChangeArrowheads="1"/>
          </p:cNvSpPr>
          <p:nvPr/>
        </p:nvSpPr>
        <p:spPr>
          <a:xfrm rot="0">
            <a:off x="3989705" y="1816735"/>
            <a:ext cx="19304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15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1130935"/>
            <a:ext cx="4333875" cy="73545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this-&gt;object   =   object;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this-&gt;left   =   this-&gt;right   =  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21. Object *   getInfo()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22.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 this-&gt;object;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24.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25.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26. void   setInfo(Object *   object)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27.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this-&gt;object   =   object;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29.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31. TreeNode *   getLeft()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32.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 left;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34.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35.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36. void   setLeft(TreeNode *   left)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37.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this-&gt;left   =   left;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39.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41 TreeNode *   getRight()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42.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 right;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44.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45.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46. void   setRight(TreeNode *   right)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47.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this-&gt;right   =   right;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49.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51. int   isLeaf(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52.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this-&gt;left  ==  NULL   &amp;&amp;   this-&gt;right  ==  NULL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55.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56.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57.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58. 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59.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*   object;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60.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 *   left;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61.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 *   right;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62. }; // end class TreeNode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implementation, we normally write a class that becomes a factory for objects of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6443345"/>
            <a:ext cx="4333875" cy="23564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type. In this case too, we have created a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be used to create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of the binary tree. As we want to use this class for different data types,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we will make it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template class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doing the same thing. Inside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class body, we start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members given at the bottom of the class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declaration.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element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 *,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used to store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element (value) inside the node of the tree.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is used to store a pointer to the left sub-tree.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TreeNode*,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employed to store a pointer to the right sub-tree.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go to the top of the class declaration to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public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functions.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 parameter-less constructor is declared. The data members have been initialized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constructor.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 is initialized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members are initialized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another constructor declared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 that takes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as a parameter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construct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with that object value. While the pointers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sub-trees are pointing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21, there is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getInfo()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returns the object i.e. the element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26,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setInfo(Object *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sets the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object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member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passed to it as the argument.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getLeft()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the pointer to the left sub-tree. Similarly,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getRight()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right sub-tree. Note that both of these methods return a pointer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setLeft(TreeNode *)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used to set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left sub-tree.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setRight(TreeNode *)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to set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right sub-tree.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these methods accept a pointer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isLeaf()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is to see whether the current node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leaf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or not.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method returns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it is leaf node. Otherwise, it returns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above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nodes for the binary tree can be created and linked up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together to form a binary tree. We can write a separate method or a class to carry out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creation and insertion into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use this class by writing couple of functions. Below is the code of main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file containing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main()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#include   &lt;iostream&gt;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#include   &lt;stdlib.h&gt;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#include   "TreeNode.cpp"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int   main(int   argc,  char *   argv[])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 int  x[]   =   {14,15,4,9,7,18,3,5,16,4,20,17,9,14,5,-1};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 TreeNode &lt;int&gt; *   root   =   new   TreeNode&lt;int&gt;();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9. root-&gt;setInfo( &amp;x[0]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 for(int   i = 1; x[i]  &gt;  0;  i++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insert( root,  &amp;x[i]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13.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1130935"/>
            <a:ext cx="4333875" cy="37611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3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16. void   insert (TreeNode &lt;int&gt; *   root,  int *   info)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18. TreeNode &lt;int&gt; *   node   =   new   TreeNode &lt;int&gt; (info);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19. TreeNode &lt;int&gt;   * p,   * q;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20. p   =   q   =   root;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21. while( *info  !=  *(p-&gt;getInfo())   &amp;&amp;   q  != 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 =   q;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*info   &lt;   *(p-&gt;getInfo())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25.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   =   p-&gt;getLeft();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26.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   =   p-&gt;getRight();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28.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29.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30. if( *info  ==  *( p-&gt;getInfo() ) 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"attempt to insert duplicate: " &lt;&lt; *info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34.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35. else if( *info &lt; *(p-&gt;getInfo())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36.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p-&gt;setLeft( node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37.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38. p-&gt;setRight( node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39. } // end of insert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used the same list of numbers for discussion in this lecture. It is given at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code. It is the same, only the last number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used as delimiter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marker to indicate that the list has finished.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are creating a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i.e.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as the name implies.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node will contain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element as evident from the syntax.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first number in the list is set into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started, which is inserting all the elements of the list one by one in the tree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Most of the time, this loop will be reading the input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from the users interactively or from a file. It it is Windows application then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can by used to take input from the user. In this implementation, our objective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insert numbers in the tree and see the duplicates, so hard coding the numbers within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program will serve the purpose.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starts from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accepting two parameters.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 is pointer to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object, containing a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while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 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line of the function,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18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 new node has been by calling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parameterized constructor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two pointer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declared.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are initializing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is being started, inside the while loop we are checking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equality of the number inside the node (being pointed to by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being passed. The control is entered into the loop, if both the numbers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equal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pointing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will be terminated if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in the two nodes are equal or end of a sub-tree is reached.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63295" y="4934585"/>
            <a:ext cx="4794250" cy="17437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4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inside the loop,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assigned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24 inside the loop, if the number inside the node is smaller than the number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pointed to by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are getting the left sub-tree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and assigning it to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Otherwise, if this not the case, means the number in the node to be inserted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smaller than the number in the node pointed to by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sub-tree address is retrieved and assigned to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comparison is made to see if the both the values are equal (number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to be inserted and the number inside the node pointed to by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they are equal, it displays a message with the number informing that a duplicate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has been found. This also means that the upper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was terminated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of equality of the two numbers. In the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33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newly created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deleted afterwards.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are checking if the number in the newly constructed node is less than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in the node at the end of a sub-tree. If this is so then the newly constructed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inserted to the left of the tree node. The insertion code is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number in the newly constructed node is greater than the number in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node, the newly constructed node will be inserted to the right of the tree node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on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38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make it clearer, let’s see the same thing,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pictorially.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Trace of insert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take the tree and the figure, we constructed above. At this time, we want to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some new numbers in the tree as given in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12.9: Start of insertion of new node in the tree 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Initially the pointers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pointing to the start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of the tree. We want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tree. We compare the number in the root node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Because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so as we did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loop in the function above, we will move toward the right sub-tree. In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picture below, we can see that the pointer q has moved to the right sub-tree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</p:txBody>
      </p:sp>
      <p:sp>
        <p:nvSpPr>
          <p:cNvPr id="342" name="Rect 3"/>
          <p:cNvSpPr>
            <a:spLocks noGrp="1" noChangeArrowheads="1"/>
          </p:cNvSpPr>
          <p:nvPr/>
        </p:nvSpPr>
        <p:spPr>
          <a:xfrm rot="0">
            <a:off x="2179320" y="5026025"/>
            <a:ext cx="2030730" cy="14573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q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17, 9, 14, 5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42670" y="3752215"/>
            <a:ext cx="4766945" cy="16821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4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65250" y="5757545"/>
            <a:ext cx="70485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4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042670" y="7113905"/>
            <a:ext cx="4766945" cy="17252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4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365250" y="9119870"/>
            <a:ext cx="70485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45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795655" y="673735"/>
            <a:ext cx="5666105" cy="23863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4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moving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forward, we make the pointer p point to the same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do this operation as the first step inside the while loop. It can be seen at line 23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above. So following will be the latest position of pointers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12.11: Insertion of a new node in progress </a:t>
            </a:r>
            <a:endParaRPr lang="ko-KR" altLang="en-US" dirty="0" smtClean="0" sz="1056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tree node is compared with new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Therefore,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q is again moved forward to the right child node i.e. the node 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step, we move forward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also. The following figure depicts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picture of the tree: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137 of 519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12.12: Insertion of a new node in progress </a:t>
            </a:r>
            <a:endParaRPr lang="ko-KR" altLang="en-US" dirty="0" smtClean="0" sz="1056" b="1"/>
          </a:p>
        </p:txBody>
      </p:sp>
      <p:sp>
        <p:nvSpPr>
          <p:cNvPr id="345" name="Rect 3"/>
          <p:cNvSpPr>
            <a:spLocks noGrp="1" noChangeArrowheads="1"/>
          </p:cNvSpPr>
          <p:nvPr/>
        </p:nvSpPr>
        <p:spPr>
          <a:xfrm rot="0">
            <a:off x="4791710" y="4538345"/>
            <a:ext cx="19304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18 </a:t>
            </a:r>
            <a:endParaRPr lang="ko-KR" altLang="en-US" dirty="0" smtClean="0" sz="1056"/>
          </a:p>
        </p:txBody>
      </p:sp>
      <p:sp>
        <p:nvSpPr>
          <p:cNvPr id="346" name="Rect 3"/>
          <p:cNvSpPr>
            <a:spLocks noGrp="1" noChangeArrowheads="1"/>
          </p:cNvSpPr>
          <p:nvPr/>
        </p:nvSpPr>
        <p:spPr>
          <a:xfrm rot="0">
            <a:off x="3441065" y="4413250"/>
            <a:ext cx="1543685" cy="38042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q </a:t>
            </a:r>
            <a:endParaRPr lang="ko-KR" altLang="en-US" dirty="0" smtClean="0" sz="1056" b="1"/>
          </a:p>
          <a:p>
            <a:pPr marL="0" indent="0" defTabSz="15240" algn="l">
              <a:lnSpc>
                <a:spcPts val="2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 </a:t>
            </a:r>
            <a:endParaRPr lang="ko-KR" altLang="en-US" dirty="0" smtClean="0" sz="1056" b="1"/>
          </a:p>
        </p:txBody>
      </p:sp>
      <p:sp>
        <p:nvSpPr>
          <p:cNvPr id="347" name="Rect 3"/>
          <p:cNvSpPr>
            <a:spLocks noGrp="1" noChangeArrowheads="1"/>
          </p:cNvSpPr>
          <p:nvPr/>
        </p:nvSpPr>
        <p:spPr>
          <a:xfrm rot="0">
            <a:off x="2621280" y="3846830"/>
            <a:ext cx="1640840" cy="46507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9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24585" y="3465830"/>
            <a:ext cx="4766945" cy="1956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5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47800" y="5474335"/>
            <a:ext cx="69850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5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63295" y="6416040"/>
            <a:ext cx="4766945" cy="19596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50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286510" y="8421370"/>
            <a:ext cx="69850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previous process is repeated again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is the repeating construct)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compared with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time the left child node is traversed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starts pointing the node 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inside. In the next step,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moved forward to point to the same node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comparison process starts again,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found to be greater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therefore, the right child is seek. But we see that the current tree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does not have right child node, so it returns NULL. Following figure depicts it.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12.13: Insertion of a new node in progress </a:t>
            </a:r>
            <a:endParaRPr lang="ko-KR" altLang="en-US" dirty="0" smtClean="0" sz="1056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shown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the condition that causes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above to terminate. Later we insert the new node as the right child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node.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 </a:t>
            </a:r>
            <a:endParaRPr lang="ko-KR" altLang="en-US" dirty="0" smtClean="0" sz="1056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17, 9, 14, 5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p-&gt;setRight( node ) ; 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12.14: A new node is inserted in the tree </a:t>
            </a:r>
            <a:endParaRPr lang="ko-KR" altLang="en-US" dirty="0" smtClean="0" sz="1056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138 of 519 </a:t>
            </a:r>
            <a:endParaRPr lang="ko-KR" altLang="en-US" dirty="0" smtClean="0" sz="1056"/>
          </a:p>
        </p:txBody>
      </p:sp>
      <p:sp>
        <p:nvSpPr>
          <p:cNvPr id="350" name="Rect 3"/>
          <p:cNvSpPr>
            <a:spLocks noGrp="1" noChangeArrowheads="1"/>
          </p:cNvSpPr>
          <p:nvPr/>
        </p:nvSpPr>
        <p:spPr>
          <a:xfrm rot="0">
            <a:off x="5599430" y="4578350"/>
            <a:ext cx="19304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20 </a:t>
            </a:r>
            <a:endParaRPr lang="ko-KR" altLang="en-US" dirty="0" smtClean="0" sz="1056"/>
          </a:p>
        </p:txBody>
      </p:sp>
      <p:sp>
        <p:nvSpPr>
          <p:cNvPr id="351" name="Rect 3"/>
          <p:cNvSpPr>
            <a:spLocks noGrp="1" noChangeArrowheads="1"/>
          </p:cNvSpPr>
          <p:nvPr/>
        </p:nvSpPr>
        <p:spPr>
          <a:xfrm rot="0">
            <a:off x="4151630" y="4251960"/>
            <a:ext cx="915035" cy="40265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2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</p:txBody>
      </p:sp>
      <p:sp>
        <p:nvSpPr>
          <p:cNvPr id="352" name="Rect 3"/>
          <p:cNvSpPr>
            <a:spLocks noGrp="1" noChangeArrowheads="1"/>
          </p:cNvSpPr>
          <p:nvPr/>
        </p:nvSpPr>
        <p:spPr>
          <a:xfrm rot="0">
            <a:off x="2700655" y="3559810"/>
            <a:ext cx="1811655" cy="47644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p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 </a:t>
            </a:r>
            <a:endParaRPr lang="ko-KR" altLang="en-US" dirty="0" smtClean="0" sz="1056" b="1"/>
          </a:p>
          <a:p>
            <a:pPr marL="0" indent="0" defTabSz="15240" algn="l">
              <a:lnSpc>
                <a:spcPts val="1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node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recommended to execute this algorithm manually to insert the remaining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tree. This will make the understanding more clear. This tree algorithm is going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be used rigorously in the future and complete understanding of it will make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complex future implementations easier to comprehend. The specific advantages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binary tree over linked list will be discussed in more detail in the next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5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139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13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4.3, 4.6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Cost of Search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Tree (BST)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code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Exercise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had written and demonstrated the use of C++ code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routine for a tree through an example. We also saw how a new node is inserted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a binary tree. If the to-be-inserted number (node) is already in the tree i.e.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matches a number already present in the tree, we display a message that the number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already in the tree. In the last lecture, the advantages of the tree data structure vis-à-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vis linked list data structure were also discussed. In a linked list, a programmer has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the whole list to find out a duplicate of a number to be inserted. It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tedious job as the number of stored items in a linked list is very large. But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data structure, we get a dynamic structure in which any number of items as long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memory is available, can be stored. By using tree data structure, the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can be carried out very fast. Now we will see how the use of binary tree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in searching the duplicate number in a very fast manner.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Cost of Search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previous example where we inserted the number 17 in the tree.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and carried out a comparison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comparison is true, it will reflect that in this case, the number in the node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is not equal to 17 and also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NULL. Then we move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left or right side. This means that if the condition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true then we go one level down in the tree. Thus we can understand it easily that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tree of 6 levels, the while loop will execute maximum 6 times. We conclude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it that in a given binary tree 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maximum number of executions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loop will be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code after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 will do the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depending upon the result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loop. It will insert the new number or display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 if the number was already there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suppose we have another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find.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This method does not insert a new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in the tree. Rather, it traverses a tree to find if a given number is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present in the tree or not. The tree which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traverses was made in such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order that all the numbers less than the number at the root are in the left sub-tree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while the right sub-tree of the root contains the numbers greater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at the root. Now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takes a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searches out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duplicate in the given tree.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will return true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present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Otherwise, it will return false.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does the same process that a part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performs. The difference is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checks for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duplicate number before putting a number in the tree whereas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only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finds a number in the tree. Here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loop is also executed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equal to the number of levels of the tree. We do a comparison at each level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tree until either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found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becomes NULL. The loop terminates in case,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is found or it executes to its maximum number, i.e. equal to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discussion on binary tree, we talked about the level and number of nodes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tree. It was witnessed that if we have a complete binary tree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numbers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nodes, the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 can be found by the following equation: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=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 + 1) –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a complete binary tree in which there are 100,000 nodes, then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calculated in the following fashion.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=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(100000 + 1) – 1 =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(100001) – 1= 20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statement shows that if there are 100,000 unique numbers (nodes) stored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tree, the tree will have 20 levels. Now if we want to find a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tree (in other words, the number is not in the tree), we have to make maximum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comparisons i.e. one comparison at each level. Now we can understand the benefit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tree as compared to the linked list. If we have a linked list of 100,000 numbers,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there may be 100,000 comparisons (supposing the number is not there) to find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in a tree, the search is very fast as compared to the linked list. If				the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or near-to-complete, searching through 100,000 numbers will require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maximum of 20 comparisons or in general, approximately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(n)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Whereas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list, the comparisons required could be a maximum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with the linked structure, is not a difficult data structure. We have used it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 memory, link and set pointers to it. It is not much difficult process. In a tree,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link the nodes in such a way that it does not remain a linear structure. If instead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100,000, we have 1 million or 10 million or say, 1 billion numbers and want to build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 of these numbers, the depth (number of levels) of the tree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of these numbers.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of these numbers will be a small number, suppose 25,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 or 40. Thus we see that the number of level does not increase in such a ratio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nodes increase. So we can search a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a complete binary tree of 1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billion nodes only in 30-40 comparisons. As the linked list of such a large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grows large, the search of a number in such a case will also get time consuming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process. The usage of memory space does not cause any effect in the linked list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data structures. We use the memory dynamically in both structures. However,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is a major factor. Suppose one comparison takes one micro second, then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billion seconds are required to find a number from a linked list (we are supposing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worst case of search where traversing of the whole list may be needed). This time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in hours. On the other hand, in case of building a complete binary tree of these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billion numbers, we have to make 30-40 comparisons (as the levels of the tree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30-40), taking only 30-40 microseconds. We can clearly see the difference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hours and microseconds. Thus it is better to prefer the process of building a tree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to storing it in a linked list to make the search process faster.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Binary Search Tree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discussing the search procedure, the tree for search was built in a specific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order. The order was such that on the addition of a number in the tree, we compare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a node. If it is less than this, it can be added to the left sub-tree of the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Otherwise, it will be added on the right sub-tree. This way, the tree built by us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less than the root in the left sub-tree and the numbers greater than the root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sub-tree. A binary tree with such a property that items in the left sub-tree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smaller than the root and items in the right sub-tree are larger than the root is called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 search 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(BST). The searching and sorting operations are very common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science. We will be discussing them many times during this course. In most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cases, we sort the data before a search operation. The building process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tree is actually a process of storing the data in a sorted form. The BST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many variations, which will be discussed later. The BST and its variations play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role in searching algorithms. As data in a BST is in an order, it may also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termed as ordered tree.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Traversing a Binary Tree  </a:t>
            </a:r>
            <a:endParaRPr lang="ko-KR" altLang="en-US" dirty="0" smtClean="0" sz="123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discuss the ways to print the numbers present in a BST. In a linked list,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printing of stored values is easy. It is due to the fact that we know wherefrom,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needs to start and where the next element is. Equally is true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printing of the elements in an array. We execute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starting from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(i.e. index 0) to the last element of the array. Now let’s see how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a tree to print (display) the numbers (or any data items) of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explain this process with the help of the following example in which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a binary search tree. Suppose there are three nodes tree with three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it as shown below. </a:t>
            </a:r>
            <a:endParaRPr lang="ko-KR" altLang="en-US" dirty="0" smtClean="0" sz="1056"/>
          </a:p>
          <a:p>
            <a:pPr marL="0" indent="0" defTabSz="15240" algn="l">
              <a:lnSpc>
                <a:spcPts val="1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55520" y="1188720"/>
            <a:ext cx="1761490" cy="9601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6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50390" y="6602095"/>
            <a:ext cx="2968625" cy="18288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6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13.1: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 three node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see that the root node has the number 14. The left sub-tree has only one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number 4. Similarly the right sub-tree consists of a single node with 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If we apply the permutations combinations on these three nodes to print them,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may be the following six possibilities.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1: (4, 14, 15)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2: (14, 4, 15)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3: (15, 4, 14)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4: (4, 15, 14)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5: (14, 15, 4)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6: (15, 14, 4)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these six combinations of printing the nodes of the tree. In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combination, the order of printing the nodes is 4-14-15. It means that left subtree-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root-right subtree. In the second combination the order is root-left subtree-right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In the third combination, the order of printing the nodes is right subtree-root-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subtree. The fourth combination has left subtree-right subtree-root. The fifth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combination has the order root-rigth subtree- left subtree. Finally the sixth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combination has the order of printing the nodes right subtree-root-left subtree.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six possibilities are for the three nodes only. If we have a tree having a large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nodes, then there may increase number of permutations for printing the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general procedure of traversing a binary tree. We know by definition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binary tree consists of three sets i.e. root, left subtree and right subtree.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depicts a general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</a:t>
            </a:r>
            <a:endParaRPr lang="ko-KR" altLang="en-US" dirty="0" smtClean="0" sz="1056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left   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right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13.2: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 generic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143 of 519 </a:t>
            </a:r>
            <a:endParaRPr lang="ko-KR" altLang="en-US" dirty="0" smtClean="0" sz="1056"/>
          </a:p>
        </p:txBody>
      </p:sp>
      <p:sp>
        <p:nvSpPr>
          <p:cNvPr id="363" name="Rect 3"/>
          <p:cNvSpPr>
            <a:spLocks noGrp="1" noChangeArrowheads="1"/>
          </p:cNvSpPr>
          <p:nvPr/>
        </p:nvSpPr>
        <p:spPr>
          <a:xfrm rot="0">
            <a:off x="3148330" y="6724015"/>
            <a:ext cx="35179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38910" y="5845810"/>
            <a:ext cx="3791585" cy="17316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6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figure, we label the root node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left subtree in the figure is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triangle labeled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left subtree may consist of any number of nodes. Similarly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subtree is enclosed in a triangle having the label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triangle of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may contain any number of nodes. Following are the six permutations,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made for the three nodes previously. To generalize these permutations,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abbreviations for root, left subtree and right subtree respectively.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1: (L, N, R)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2: (N, L, R)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3: (R, L, N)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4: (L, R, N)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5: (N, R, 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6: (R, N, L)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these permutations, the left and right subtree are not single nodes. These may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consist of several nodes. Thus where we see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permutations, it means traversing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subtree. Similarly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means traversing the right subtree. In the previous 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three nodes, these left and right subtrees are of single nodes. However, they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consist of any number of nodes. We select the following three permutations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six. The first of these three is (N, L, R), also called as preorder traversal.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permutation is (L, N, R) which we called inorder traversal. Finally the third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permutation, also termed as postorder traversal is (L, R, N). Now we will discuss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preorder, inorder and postorder traversal in detail besides having a look on their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working. We will also see the order in which the numbers in the tree are displayed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traversing methods.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C++ code 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write the C++ code for it. Following is the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preorder(TreeNode&lt;int&gt;* treeNode)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treeNode != NULL 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cout &lt;&lt; *(treeNode-&gt;getInfo())&lt;&lt;" 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preorder(treeNode-&gt;getLeft());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preorder(treeNode-&gt;getRight());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arguments, there is a pointer to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may start from any node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of the node will be provided as argument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method, first of all we check whether the pointer provided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not. If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we print the information stored in that node with the help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getInfo()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method. Then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getLeft()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that returns a pointer of left node,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a complete subtree. With the help of this method, we get the root of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 again passing that pointer. When we return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45920" y="6443345"/>
            <a:ext cx="3376930" cy="17316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6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that,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preorder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 is called for the right node. Let’s see what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happening in this method. We are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 within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method. This is actually a recursive call. Recursion is supported in C++ and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languages. Recursion means that a function can call itself. We may want to know why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doing this recursive call. We will see some more examples in this regard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the benefits of recursive calls. For the time being, just think that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provided with a tree with a root pointer. In the preorder, we have to print the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node. Don’t think that you are in the preorder method. Rather keep in mind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you have a preorder function. Suppose you want to print out the left subtree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way. For this purpose, we will call the preorder function. When we come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back, the right subtree will be printed. In the right subtree, we will again 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function that will print the information. Then call the preorder function 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 and after that its right subtree. It will be difficult if you try to do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incursion in the mind. Write the code and execute it. You must be knowing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definition of the binary tree is recursive. We have a node and left and right subtrees.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is left subtree? It is also a node with a left subtree and right subtree.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you how the left subtree and right subtree are combined to become a tree.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definition of tree is itself recursive. You have already seen the recursive functions.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seen the factorial example. What is factorial of N? It is N multiplied by N-1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factorial. What is N-1 factorial? N-1 factorial is N-1 multiplied by N-2 factorial.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recursive definition. For having an answer, it is good to calculate the factorial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less number till the time you reach at the number 2. You will see these recursions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recursive relations here and also in mathematic courses. In the course of discrete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mathematics, recursion method is used. Here we are talking about the recursive calls.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now see an example to understand how this recursive call works and how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traverse the tree using the recursion. One of the benefits of recursion that it prints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the information of all the nodes without caring for the size of the tree. If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one lakh nodes, this simple four lines routine will print all the nodes.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compared with the array printing, we have a simple loop there. In the link list also,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small loop that executes till the time we have a next pointer as NULL. For tree,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use recursive calls to print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is the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inorder(TreeNode&lt;int&gt;* treeNode)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treeNode != NULL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inorder(treeNode-&gt;getLeft());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cout &lt;&lt; *(treeNode-&gt;getInfo())&lt;&lt;" 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inorder(treeNode-&gt;getRight());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argument is the same as in the preorder i.e. a pointer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this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not NULL,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getLeft()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get the left node and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did not print the node first here. In the inorder method, there is no need to print the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16735" y="2225040"/>
            <a:ext cx="3035935" cy="17310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7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16735" y="5047615"/>
            <a:ext cx="3035935" cy="15754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6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tree first of all. We start with the left tree. After completely traversing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left tree, we print the value of the node. In the end, we traverse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in recursion.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Hopefully, you have now a fair knowledge about the postorder mechanism too.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code of the postorder method.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postorder(TreeNode&lt;int&gt;* treeNode)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treeNode != NULL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postorder(treeNode-&gt;getLeft());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postorder(treeNode-&gt;getRight());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cout &lt;&lt; *(treeNode-&gt;getInfo())&lt;&lt;" 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postorder, the input argument is a pointer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node is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NULL, we traverse the left tree first. After that we will traverse the right tree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 the node value from where we started.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all of these above routines are function so we will call them as: 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"inorder: ";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preorder( root);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"inorder: ";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"postorder: ";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postorder(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the root represents the root node of the tree. The size of the tree does not matter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complete tree will be printed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postorder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Let’s discuss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example to see the working of these routines.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Example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have a look on the following tree.  </a:t>
            </a:r>
            <a:endParaRPr lang="ko-KR" altLang="en-US" dirty="0" smtClean="0" sz="1056"/>
          </a:p>
          <a:p>
            <a:pPr marL="0" indent="0" defTabSz="15240" algn="l">
              <a:lnSpc>
                <a:spcPts val="1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48385" y="1121410"/>
            <a:ext cx="4758055" cy="21888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13.3: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    Preorder:  14  4  3  9  7  5  15  18  16  17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same tree we have been using previously. Here we want to traverse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In the bottom of the figure, the numbers are printed with the help of preorder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method. These numbers are as 14  4  3  9  7  5  15  18  16  17  20. Now take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and traverse the tree. In the preorder method, we print the root, followed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of the left subtree and the right subtree respectively. As the value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node is 14, so it will be printed first of all. After printing the value of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node, we call the preorder for the left node which is 4. Forget the node 14 as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4 now. So the value 4 is printed and we call the preorder again with the left sub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the node with value 3. Now the root is the node with value 3. We will print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before going to its left. The left side of node with value 3 is NULL. Preorder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called if condition is false. In this case, no action will be taken. 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of the left subtree is finished. As the right subtree of this node is also NULL,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there is no need of any action. Now the left subtree of the node with value 4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complete. The method preorder will be called for the right subtree of the node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4. So we call the preorder with the right node of the node with value 4. Here,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is the node with value 9 that is printed. We will call its left subtree where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value is 7. It will be followed by its left subtree i.e. node 5 which will be printed.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preorder method, we take the root i.e. 14 in this case. Its value is printed,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followed by its left subtree and so on. This activity takes us to the extreme left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back track and print the right subtrees.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try to understand the inorder method from the following statement. </a:t>
            </a:r>
            <a:endParaRPr lang="ko-KR" altLang="en-US" dirty="0" smtClean="0" sz="1056"/>
          </a:p>
          <a:p>
            <a:pPr marL="0" indent="0" defTabSz="15240" algn="l">
              <a:lnSpc>
                <a:spcPts val="1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85545" y="1246505"/>
            <a:ext cx="4758055" cy="21888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7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13.4: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    Inorder:   3  4  5  7  9  14  15  16  17  18  20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call the inorder function, the numbers will be printed as 3 4 5 7 9 14 15 16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20. You might have noted that these numbers are in sorted order.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 the tree, there was no need of sorting the numbers. But here we have the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in the inorder method. While inserting a new node, we compare it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existing ones and place the new node on the left or right side. So during the process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running the inorder on the binary tree, a programmer gets the numbers sorted.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we have a sorting mechanism. If we are given some number, it will not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difficult to get them sorted. This is a new sorting algorithm for you. It is very simple.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Just make BST with these numbers and run the inorder traversal. The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obtained from the inorder traversal are sorted.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inorder method, we do not print the value of node first. We go to traverse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subtree. When we come back from the left subtree and print the value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Afterwards, we go to the right subtree. Now consider the above tree of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figure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13.4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we start from number 14, it will not be printed. Then we will go to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The left subtree is itself a tree. The number 4 is its root. Now being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4, we again look if there is any left subtree of this node. If it has a left subtree,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not print 4 and call the inorder method on its left subtree. As there is a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4 that consists a single node i.e. 3, we go to that node. Now we 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of node 3 to see if there is a subtree of it. As there is no left subtree of 3,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that checks if the node is not NULL will become false. Here the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calls will not be executed. We will come back from the call and print the number 3.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first number that is printed in the inorder traversal is 3. After printing 3,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its right subtree that is also NULL. So we come back to node 3. Now as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 the left and right subtrees of 3 which itself is a left subtree of 4,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traversed the left subtree of 4. Now we print the value 4 and go to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4. We come at node 9. Before printing 9 we go to its left subtree that leads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 to node 7. In this subtree with root 7, we will not print 7. Now we will go to its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which is node 5. We look for the left subtree of 5 which is NULL.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 the value 5. Thus, we have so far printed the numbers 3, 4 and 5. Now we come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to 7. After traversing its left subtree, we print the number 7. The right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is NULL. Thus finally, we have traversed the whole tree whose root is 7. It is a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9. Now, we will come back to 9 and print it (as its left subtree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traversed). The right subtree of 9 is NULL. So there is no need to traverse it.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whole tree having 9 as its root has been traversed. So we come back to the root 4,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which is the tree with root 9. Resultantly, the left and right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have been traversed now. Thus we have printed the numbers 3, 4, 5, 7 and 9. 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here (i.e. node 4) we go to the node 14 whose left subtree has been traversed.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print 14 and go to its right subtree. The right subtree of 14 has 15 as the root.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here, we repeat the same process earlier carried out in case of the left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 As a result of this process, the numbers 15, 16, 17, 18 and 20 are printed.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the numbers stored in the tree in a sorted order. And we get the numbers printed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3, 4, 5, 7, 9, 14, 15, 16, 17, 18, 20. This sorted order is only in the inorder traversal.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apply the post order traversal on the same tree, the numbers we get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sorted order. The numbers got through postorder traversal are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3  5  7  9  4  17  16  20  18  15  14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that these are not in a sorted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every function has a signature. There is return type, function name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parameter list in the signature of a function. Then there comes the body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In the body of a function, there may be local variables and calls to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functions. Now if a statement in the body of a function is calling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in which it exists, it will be termed as a recursive call. For example if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in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calling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is a recursive call and the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called recursion.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how recursion is carried out. We know that the function calls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 through stacks at run time. Let’s see what happens when there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call. In a recursive call that means calling a function itself makes no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as far as the call stack is concerned. It is the same as a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only with the difference that now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calling to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following figure shows the stack layout when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recursively. </a:t>
            </a:r>
            <a:endParaRPr lang="ko-KR" altLang="en-US" dirty="0" smtClean="0" sz="1056"/>
          </a:p>
          <a:p>
            <a:pPr marL="0" indent="0" defTabSz="15240" algn="l">
              <a:lnSpc>
                <a:spcPts val="1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149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46505" y="1066800"/>
            <a:ext cx="2935605" cy="1688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7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462145" y="1066800"/>
            <a:ext cx="1447800" cy="8902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37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594360" y="5266690"/>
            <a:ext cx="6144895" cy="37160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7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Parameters(F)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variables(F)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address(F)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point of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During execution of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13.5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called first time, the parameters, local variables and its return address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put in a stack, as some function has called it. Now when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stack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increase the parameters, local variables and return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comes in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again. It is the second call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coming back from this second call, we go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 of first call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stack becomes as it was at first call. In the next lecture,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see the functionality of recursive calls by an example.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Exercise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Please find out the preorder, inorder and postorder traversal of the tree given below: </a:t>
            </a:r>
            <a:endParaRPr lang="ko-KR" altLang="en-US" dirty="0" smtClean="0" sz="1056"/>
          </a:p>
        </p:txBody>
      </p:sp>
      <p:sp>
        <p:nvSpPr>
          <p:cNvPr id="378" name="Rect 3"/>
          <p:cNvSpPr>
            <a:spLocks noGrp="1" noChangeArrowheads="1"/>
          </p:cNvSpPr>
          <p:nvPr/>
        </p:nvSpPr>
        <p:spPr>
          <a:xfrm rot="0">
            <a:off x="4343400" y="1862455"/>
            <a:ext cx="177800" cy="1460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sp </a:t>
            </a:r>
            <a:endParaRPr lang="ko-KR" altLang="en-US" dirty="0" smtClean="0" sz="1056"/>
          </a:p>
        </p:txBody>
      </p:sp>
      <p:sp>
        <p:nvSpPr>
          <p:cNvPr id="379" name="Rect 3"/>
          <p:cNvSpPr>
            <a:spLocks noGrp="1" noChangeArrowheads="1"/>
          </p:cNvSpPr>
          <p:nvPr/>
        </p:nvSpPr>
        <p:spPr>
          <a:xfrm rot="0">
            <a:off x="1652270" y="1965960"/>
            <a:ext cx="2426970" cy="6616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Parameters(F)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Parameters(F)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variables(F)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address(F)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14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4.3, 4.6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Recursive Calls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Preorder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Inorder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Non-Recursive Traversal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Traversal Trace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discussed the methods of traversal of the binary tree in the previous lecture.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are- preorder, inorder and postorder. It was witnessed that in the C++ 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coding of these methods becomes very short with the use of recursive calls.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whole tree can be traversed with a few lines of code. We also demonstrated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benefits of the methods with the help of an example in which a tree was traversed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preorder, inorder and postorder methods. Implementation of the recursion also came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 discussion in the previous lecture.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Recursive Calls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function calls are made with the help of stacks. When a function calls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other function, the parameters and return address of the function is put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The local variables of the function are also located at the stack and the control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passed to the called function. When the called function starts execution, it performs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job by using these parameters and local variables. When there in the function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a return statement or when the function ends then the return address,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the stack, is used and control goes back to the next statement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function. Similarly when a function is calling to itself, there is no problem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regarding the stack. We know, in recursion a function calls to itself instead of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other function. Thus the recursion is implemented in the way as other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calls are implemented.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Preorder Recursion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preorder traversal with respect to the recursion. We will see what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changes happen when preorder function calls itself recursively. Consider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binary search tree used in our previous example.  </a:t>
            </a:r>
            <a:endParaRPr lang="ko-KR" altLang="en-US" dirty="0" smtClean="0" sz="1056"/>
          </a:p>
          <a:p>
            <a:pPr marL="0" indent="0" defTabSz="15240" algn="l">
              <a:lnSpc>
                <a:spcPts val="6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286510"/>
            <a:ext cx="4773295" cy="30962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8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preorder(14)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..preorder(4)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....preorder(3)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......preorder(7)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..........preorder(NULL)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..........preorder(NULL)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14.1 (a) 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preorder recursion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......preorder(NULL)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preorder traversal, we call the preorder function and pass it the root node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(i.e. 14) as a parameter. We have discussed in the preorder traversing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method first prints the value of the node that is passed to it. So number 14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printed. After it, the preorder method calls itself recursively. Thus we will 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and give it the left subtree of 14 (actually the root node of left subtree) as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argument. So this call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it is preorder traversing, the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node i.e. 4 will be printed. Now the preorder method looks if there is a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the node (i.e.4). If it has a left subtree, the preorder function will call itself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again. The root node of this left subtree will be passed as an argument to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call. Here it is 3,		so the number 3 is printed. Thus by the previous three calls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(i.e. preorder(14), preorder(4) and preorder(3) ) we have printed the values 14, 4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Now the left subtree of 3 is NULL. We know that in preorder method, first of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check whether the node is NULL or not. If it is not NULL, the recursion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continues. It means that we print the value of the node and call the preorder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again. If the node is NULL, the process ends.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always a terminating condition in recursive call or recursive procedure.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lecture, while trying to end the factorial recursion, we defined the condition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factorial of zero is 1. When the factorial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starts, the factorial is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 and again by decreasing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1. So when we reach at 0, there is no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further recursive call for the factorial as we have set the condition for it i.e.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factorial of 0 is equal to 1. Thus the recursion ends. Equally is true about the preorder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process. When a node is NULL, then ‘if statement’ becomes false and we exit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(see code of preorder function in previous lecture).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the preorder process that started from node 14, came to an end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3 as the left subtree of 3 is NULL. Now this preorder process will make no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further recursive call. We will come back from here by using the return address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the stack. If we see the stack, this fourth call will come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to the third call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(3)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left subtree of 3 has ended. Now we have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152 of 519 </a:t>
            </a:r>
            <a:endParaRPr lang="ko-KR" altLang="en-US" dirty="0" smtClean="0" sz="1056"/>
          </a:p>
        </p:txBody>
      </p:sp>
      <p:sp>
        <p:nvSpPr>
          <p:cNvPr id="384" name="Rect 3"/>
          <p:cNvSpPr>
            <a:spLocks noGrp="1" noChangeArrowheads="1"/>
          </p:cNvSpPr>
          <p:nvPr/>
        </p:nvSpPr>
        <p:spPr>
          <a:xfrm rot="0">
            <a:off x="4258310" y="2688590"/>
            <a:ext cx="80518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....preorder(9) </a:t>
            </a:r>
            <a:endParaRPr lang="ko-KR" altLang="en-US" dirty="0" smtClean="0" sz="1056"/>
          </a:p>
        </p:txBody>
      </p:sp>
      <p:sp>
        <p:nvSpPr>
          <p:cNvPr id="385" name="Rect 3"/>
          <p:cNvSpPr>
            <a:spLocks noGrp="1" noChangeArrowheads="1"/>
          </p:cNvSpPr>
          <p:nvPr/>
        </p:nvSpPr>
        <p:spPr>
          <a:xfrm rot="0">
            <a:off x="3840480" y="2377440"/>
            <a:ext cx="1579880" cy="5880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......preorder(NULL)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......preorder(NULL) </a:t>
            </a:r>
            <a:endParaRPr lang="ko-KR" altLang="en-US" dirty="0" smtClean="0" sz="1056"/>
          </a:p>
        </p:txBody>
      </p:sp>
      <p:sp>
        <p:nvSpPr>
          <p:cNvPr id="386" name="Rect 3"/>
          <p:cNvSpPr>
            <a:spLocks noGrp="1" noChangeArrowheads="1"/>
          </p:cNvSpPr>
          <p:nvPr/>
        </p:nvSpPr>
        <p:spPr>
          <a:xfrm rot="0">
            <a:off x="3295015" y="2450465"/>
            <a:ext cx="2192655" cy="16370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........preorder(5)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........preorder(NULL)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traverse the right subtree of 3. Here the right subtree of 3 is also NULL.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of tree with node 3 as root has been completed. Now we return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(3)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reach one level backward at the node 4. The left subtree of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has been traversed. Now we go to traverse the right subtree of 4. The preorder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right subtree has started. This started from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(9)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.Note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that this call has made at the same level as was for node 3. It is because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the right subtree of the same tree that has node 4 as its root and 3 was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subtree.  After printing the number 9 we go to call the preorder process for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9. That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(7)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we go to 7, we print it and call the preorder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for its left subtree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(5)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after printing the number 5,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is applied to its left subtree i.e. NULL. So the preorder traversal of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5 ends this way. Now the preorder is applied to the right subtree of 5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also NULL. Thus the next two preorder calls (one for left subtree of 5 and one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5) after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the returning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takes the control back to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(7)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through the use of stack.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subtree of 7 has been traversed and now we go to the right subtree of it i.e. NULL.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there is a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we come back to node 9 completing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of its left subtree. Now we traverse the right subtree of 9 which again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happens to be NULL. So there is one more call of preorder with NULL. 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dots with the preorder calls in the figure describes the state of the stack.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ahead to traverse a node the dots increase in figure as the call made is put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When we come back to a node, the returning address is popped from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we mention it by decreasing a dot in the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these four calls of preorder with NULL as argument, we return to the node 4.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completed the tree (left and right subtree ) with node 4 as root. As seen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figure, this tree (having node 4 as root) is a left subtree of node 14. The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got printed upto now are 14, 4, 3, 9, 7 and 5. So after traversing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14, we come back to node 14 and start to traverse its right subtree.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the right subtree by applying the recursive calls of preorder in the way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done while traversing the left subtree of 14. The recursive calls involved in it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2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1026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9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......preorder(16)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..........preorder(NULL)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......preord		er(20)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........preorder(NULL)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preorder(NULL)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14.1 (b):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preorder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are at node 14 and know that in preorder, the value of the node is printed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going to its left subtree. And after traversing the left subtree, a programmer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back and goes to traverse the right subtree. As we have traversed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14 and have come back to 14, now we will traverse the right subtree of 14.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right subtree, we reach at node 15. We print the value 15 and look at its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The left subtree is NULL so the call to the preorder 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call makes the condition of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statement’ false and the recursive calls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ends on this side. Afterwards, we go to the right subtree of 15.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(18)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made, followed by printing of the value 18. Then we go to the left subtree of it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node 16. After calling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preorder(16)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printing it, we go to the left subtree of 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is NULL. Now we will move to right subtree of 16 and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(17)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prints the number 17. After it, the two next calls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the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17 are NULL. Thus after traversing the left and right subtree of 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(which itself is a left subtree of 18), we return to node 18. Then we go to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18 and reach at node 20. 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(20)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prints the value 20.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 two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calls as the left and right subtree of 20 are NULL.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 recursive call ends here. Now we go back and reach at node 14 whose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right subtrees have been traversed. That means the whole tree having 14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has traversed.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Inorder Recursion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inorder recursive calls for traversing a tree. It is not different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preorder. The pattern of recursive calls will be changed as in the inorder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the left subtree first before printing the root. Afterwards, the right subtree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traversed. The following figures (Fig 14.2(a) and 14.2(b)) explains this phenomenon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inorder recursion by showing the recursive calls. </a:t>
            </a:r>
            <a:endParaRPr lang="ko-KR" altLang="en-US" dirty="0" smtClean="0" sz="1056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154 of 519 </a:t>
            </a:r>
            <a:endParaRPr lang="ko-KR" altLang="en-US" dirty="0" smtClean="0" sz="1056"/>
          </a:p>
        </p:txBody>
      </p:sp>
      <p:sp>
        <p:nvSpPr>
          <p:cNvPr id="391" name="Rect 3"/>
          <p:cNvSpPr>
            <a:spLocks noGrp="1" noChangeArrowheads="1"/>
          </p:cNvSpPr>
          <p:nvPr/>
        </p:nvSpPr>
        <p:spPr>
          <a:xfrm rot="0">
            <a:off x="4178935" y="2505710"/>
            <a:ext cx="1006475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........preorder(17)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17 </a:t>
            </a:r>
            <a:endParaRPr lang="ko-KR" altLang="en-US" dirty="0" smtClean="0" sz="1056"/>
          </a:p>
        </p:txBody>
      </p:sp>
      <p:sp>
        <p:nvSpPr>
          <p:cNvPr id="392" name="Rect 3"/>
          <p:cNvSpPr>
            <a:spLocks noGrp="1" noChangeArrowheads="1"/>
          </p:cNvSpPr>
          <p:nvPr/>
        </p:nvSpPr>
        <p:spPr>
          <a:xfrm rot="0">
            <a:off x="3840480" y="2194560"/>
            <a:ext cx="1564640" cy="551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........preorder(NULL) </a:t>
            </a:r>
            <a:endParaRPr lang="ko-KR" altLang="en-US" dirty="0" smtClean="0" sz="1056"/>
          </a:p>
        </p:txBody>
      </p:sp>
      <p:sp>
        <p:nvSpPr>
          <p:cNvPr id="393" name="Rect 3"/>
          <p:cNvSpPr>
            <a:spLocks noGrp="1" noChangeArrowheads="1"/>
          </p:cNvSpPr>
          <p:nvPr/>
        </p:nvSpPr>
        <p:spPr>
          <a:xfrm rot="0">
            <a:off x="3295015" y="1256030"/>
            <a:ext cx="1976120" cy="2023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..preorder(15)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....preorder(NULL)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....preorder(18)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16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..........pre3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der(NULL)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3648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9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..inorder(4)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14.2 (a):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inorder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start the inorder with the call inorder (14) as the root of the tree is 14. Now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traversing, a programmer has to traverse the left subtree before printing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of the root node and then going to the right subtree. So the call to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14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 (4)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lead to the node 4. At the node 4, the same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calling its left subtree, before printing its value, will be applied and we reach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3 that is the left subtree of 4. From the node 3, we go to its left subtree. This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is NULL. Here in the inorder method, we have the same terminating condition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that seen in the preorder i.e. we will not make further recursive calls if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a NULL node in the method call. We end the recursion at that node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back. Now when we come back from the NULL left subtree of 3 this shows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visited the left subtree of 3. So the value of the node i.e. 3 is printed.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the right subtree of 3. Here the inorder call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call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statement, in the inorder method, false, leading to the end of the recursion.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we have visited the whole tree whose root is node 3. So we come back to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As the left subtree of node 4 has been visited, we print the value of node i.e. 4.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we have printed the numbers 3 and 4. Now we go to the right subtree of 4.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4 is the node 9. Now we send 9 as an argument to inorder method. 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 (9)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it is inorder traversing, we go to traverse its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printing the number 9. We reach the node 7 and make a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 (7)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Later,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go to the left subtree of 7 i.e. the node 5. Now we visit the left subtree of 5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NULL. So here the inorder recursion ends and we come back to node 5, print it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the right subtree of 5. The right subtree of 5 is also NULL. So ending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we have finally traversed the tree with 5 as its root. After traversing it, we come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to the node 7. After visiting the left subtree of 7, we print 7 and go to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7 which is NULL.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155 of 519 </a:t>
            </a:r>
            <a:endParaRPr lang="ko-KR" altLang="en-US" dirty="0" smtClean="0" sz="1056"/>
          </a:p>
        </p:txBody>
      </p:sp>
      <p:sp>
        <p:nvSpPr>
          <p:cNvPr id="396" name="Rect 3"/>
          <p:cNvSpPr>
            <a:spLocks noGrp="1" noChangeArrowheads="1"/>
          </p:cNvSpPr>
          <p:nvPr/>
        </p:nvSpPr>
        <p:spPr>
          <a:xfrm rot="0">
            <a:off x="4178935" y="2569210"/>
            <a:ext cx="872490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......inorder(7)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........inorder(5) </a:t>
            </a:r>
            <a:endParaRPr lang="ko-KR" altLang="en-US" dirty="0" smtClean="0" sz="1056"/>
          </a:p>
        </p:txBody>
      </p:sp>
      <p:sp>
        <p:nvSpPr>
          <p:cNvPr id="397" name="Rect 3"/>
          <p:cNvSpPr>
            <a:spLocks noGrp="1" noChangeArrowheads="1"/>
          </p:cNvSpPr>
          <p:nvPr/>
        </p:nvSpPr>
        <p:spPr>
          <a:xfrm rot="0">
            <a:off x="3840480" y="2255520"/>
            <a:ext cx="1076960" cy="554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....inorder(9) </a:t>
            </a:r>
            <a:endParaRPr lang="ko-KR" altLang="en-US" dirty="0" smtClean="0" sz="1056"/>
          </a:p>
        </p:txBody>
      </p:sp>
      <p:sp>
        <p:nvSpPr>
          <p:cNvPr id="398" name="Rect 3"/>
          <p:cNvSpPr>
            <a:spLocks noGrp="1" noChangeArrowheads="1"/>
          </p:cNvSpPr>
          <p:nvPr/>
        </p:nvSpPr>
        <p:spPr>
          <a:xfrm rot="0">
            <a:off x="3295015" y="1316990"/>
            <a:ext cx="1964055" cy="2023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inorder(14)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....inorder(3)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16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..........inorder(null)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349240"/>
            <a:ext cx="4773295" cy="33648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 (NULL)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 have traversed the tree having 7 as the root and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left subtree of 9. Thus we have visited the left subtree of 9. We print the number 9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going to traverse its right subtree. The right subtree of 9 is NULL so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recursion ends here and we come back to the node 4. The tree having node 4 as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been traversed now. This tree is a left subtree of node 14. Thus after traversing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come back to node 14 and print it (as we have traversed its left subtree i.e.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4 as root). It is evident here that before going to traverse the right subtree of 14,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printed the numbers 3, 4, 5, 7, 9 and 14.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after printing the number 14, we go to traverse the right subtree of 14.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of this right subtree with 15 as a root, is being carried out in the way,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 the left subtree. In the right subtree, we reach at node 15 and look at its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before printing it. This left subtree is NULL.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makes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condition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false and we come back to the root node i.e. 15. We print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number and go to the right subtree of 15. The right subtree of 15 is also a tree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node of which is 18. From this root node i.e. 18, we go to its left subtree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reach at node 16. NULL being the left subtree of 16, makes us to return to 16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 it (as its left subtree has been traversed, which is NULL). After printing 16,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the right subtree of 16. This leads us to node 17. As we are traversing the tree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process, so before printing the value 17, it will be necessary to go to traverse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left subtree. Its left subtree is NULL. So after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return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and print it. Now we look at the right subtree of 17 that is also NULL. So again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inorder (NULL)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ends the recursive calls for this tree.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traversed the whole tree having node 17 as root and it is a right subtree of 16.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already traversed the left subtree of 16.  </a:t>
            </a:r>
            <a:endParaRPr lang="ko-KR" altLang="en-US" dirty="0" smtClean="0" sz="1056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......inorder(16)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14.2 (b):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inorder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156 of 519 </a:t>
            </a:r>
            <a:endParaRPr lang="ko-KR" altLang="en-US" dirty="0" smtClean="0" sz="1056"/>
          </a:p>
        </p:txBody>
      </p:sp>
      <p:sp>
        <p:nvSpPr>
          <p:cNvPr id="401" name="Rect 3"/>
          <p:cNvSpPr>
            <a:spLocks noGrp="1" noChangeArrowheads="1"/>
          </p:cNvSpPr>
          <p:nvPr/>
        </p:nvSpPr>
        <p:spPr>
          <a:xfrm rot="0">
            <a:off x="4178935" y="6788150"/>
            <a:ext cx="1080135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..........inorder(null)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17 </a:t>
            </a:r>
            <a:endParaRPr lang="ko-KR" altLang="en-US" dirty="0" smtClean="0" sz="1056"/>
          </a:p>
        </p:txBody>
      </p:sp>
      <p:sp>
        <p:nvSpPr>
          <p:cNvPr id="402" name="Rect 3"/>
          <p:cNvSpPr>
            <a:spLocks noGrp="1" noChangeArrowheads="1"/>
          </p:cNvSpPr>
          <p:nvPr/>
        </p:nvSpPr>
        <p:spPr>
          <a:xfrm rot="0">
            <a:off x="3840480" y="6473825"/>
            <a:ext cx="1278255" cy="554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........inorder(17) </a:t>
            </a:r>
            <a:endParaRPr lang="ko-KR" altLang="en-US" dirty="0" smtClean="0" sz="1056"/>
          </a:p>
        </p:txBody>
      </p:sp>
      <p:sp>
        <p:nvSpPr>
          <p:cNvPr id="403" name="Rect 3"/>
          <p:cNvSpPr>
            <a:spLocks noGrp="1" noChangeArrowheads="1"/>
          </p:cNvSpPr>
          <p:nvPr/>
        </p:nvSpPr>
        <p:spPr>
          <a:xfrm rot="0">
            <a:off x="3295015" y="5535295"/>
            <a:ext cx="1756410" cy="2023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..inorder(15)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....inorder(18)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16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......inorder(20)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14145" y="8656320"/>
            <a:ext cx="3840480" cy="1708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0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have traversed the tree with node 16 as its root. This tree is a left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18. After traversing the left subtree of 18, we print the number 18 and go to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and reach at node 20. Now we go to the left subtree of 20 i.e. NULL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back to 20 and print it. Then go to its right subtree, which is also NULL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ends the recursion. Thus we have traversed the tree having node 20 as its root.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(having 20 as root) is a right subtree of 18 which itself is a right subtree of 15.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already traversed the left subtree of 15 and gone through the whole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having 15 as root. This tree is a right subtree of the main tree with 14 as the root.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already traversed its left subtree. So we have traversed the whole tree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process. From the figure 14.3 we see that by the inorder traversal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printed the numbers in the order as below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3, 4, 5, 7, 9, 14, 15, 16, 17, 18, 20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successfully demonstrated the preorder and inorder traversal of a tree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recursion method. The postorder traversal has been left for you as an exercise.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do it with the same above tree or build a tree on your own and traverse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data structure by nature is a recursive data structure. In the coming lecture,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see that most of the methods we write for tree operations are recursive.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programming point of view, the recursion is implemented internally by using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This stack is maintained by the run time environment. The recursion is there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machine code generated by the compiler. It is the programmer’s responsibility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 a terminating condition to stop the recursion. Otherwise, it will become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infinite recursion. If we do not put a terminating condition, the recursive calls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continued and the call stack will go on increasing. We know that when a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executes, it becomes a process and some memory is allocated to it by the system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call stack. This memory has a limit. Thus when the recursive calls do not end,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 memory left to be used for increasing call stack after a certain time. This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crash the program or the program will halt. So we should be very careful while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recursive calls and ensure the provision of a terminating condition in the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Non Recursive Traversal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also carry out these traversing with the help of non-recursive calls. Think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few moments that how can we keep track of going left or going right or coming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to the node with out using the recursion.. In the preorder, inorder and postorder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traversal, we visit nodes at different level and then return. We know the way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comeback or go further deep. Now if we are not using the recursion, how these things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managed? We have to manage all this in our methods. Let’s see how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write the non-recursive tree traversal methods. We can implement non-recursive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versions of the preorder, inorder and postorder traversal by using an explicit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cannot avoid stack. The stack will be used to store the tree nodes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appropriate order. Let’s try to write methods without using recursion. 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purpose, we have to create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for example, is the routine for inorder traversal that uses a stack.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inorder(TreeNode&lt;int&gt;* root)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14145" y="1130935"/>
            <a:ext cx="3840480" cy="34499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Stack&lt;TreeNode&lt;int&gt;* &gt; stack;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TreeNode&lt;int&gt;* 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p = root;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while( p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stack.push( p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p = p-&gt;getLeft();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at this point, left tree is empty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!stack.empty()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= stack.pop();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*(p-&gt;getInfo()) &lt;&lt; " 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// go back &amp; traverse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= p-&gt;getRight();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} while ( !stack.empty() || p != NULL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signature is same. The name of the function that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its return type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void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argument is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there is stack abstract data type.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store int, float or other data type in the stack. Here we want to store the TreeNode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stack		and then in the nodes we want to store integers. The statement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Stack&lt;TreeNode&lt;int&gt;* &gt; stack;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send a message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factory that creates a stack to store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TreeNode. The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integers will be stored in the 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almost two levels of template. Then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declare a TreeNode pointer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traverse the tree up and down. We point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Then we have a do-while loop. The loop checks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NULL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not empty. Inside the outer loop, we have an inner ‘while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loop’ which checks that p is not NULL. If p is not NULL, we push p on the stack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push the root on the stack. Then we replace the p with p-&gt;getLeft() . This shows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p is now pointing to the left subtree node. In case of having a left subtree of p,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back in the while loop as p is not NULL. Again we push p on the stack. Now 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pointing to the left subtree. You have presumed that this while loop will take us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 of the root. On the exit from the while loop, we have pushed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stack whose left subtree is NULL. Here, p is pointing to NULL. Now we check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stack is empty or not. If we have pushed some nodes in the stack, it will not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empty. We pop a value from the stack and assign it to p before printing the info stored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that node and assign p the right subtree of that node. We comeback to the outer do-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loop. It will continue executing till stack is empty or p is NULL.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understand this code, we will trace the code on the same tree, earlier used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inorder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441450"/>
            <a:ext cx="4773295" cy="36093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0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....push(3)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..push(9)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....push(7)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push(18)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..push(16)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..push(17)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14.3: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Non-Recursive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same tree earlier discussed with reference to node as 14. We create a stack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assign the root to the pointer p and have an inner while loop. In the while loop,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pushed the root node in the stack i.e. push(14). After this, we assign the pointer 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left subtree of the root and return to while loop again. Now p is pointing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with value 4, so we push 4 and then 3 on the stack. As the left subtree if 3 is null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exit from the inner loop. Afterwards, we pop the stack in the inner loop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 it. As we know that stack is a LIFO structure (last in, first out). Finally,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pushed the node 3. So this node will be popped and the number 3 will be printed.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assign the right subtree of the node 3 to the p. As this is NULL, the inner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will not be executed and again come to the if statement. We will pop the stack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if statement and as a result, the node 4 will be popped and printed. Then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 p to the right subtree of node 4 i.e. node 9. The control comes to the inner loop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which we will push the node 9 and all of its left nodes one by one i.e. push(9),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push(7) and push(5). As the left subtree of the node 5 is NULL, the inner while loop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terminated. We will pop the stack and print 5. As the right subtree of node 5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NULL, the node 7 will be popped and printed. Here the right subtree of node 7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NULL. The stack is again popped and the number 9 will be printed. Here,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node 9 is also NULL. The stack will be popped resulting in popping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printing of the node 14. Then we go the right subtree of the node 14 which is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The same rules of left subtree are applied here. You can understand it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table.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Traversal Trace </a:t>
            </a:r>
            <a:endParaRPr lang="ko-KR" altLang="en-US" dirty="0" smtClean="0" sz="1230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159 of 519 </a:t>
            </a:r>
            <a:endParaRPr lang="ko-KR" altLang="en-US" dirty="0" smtClean="0" sz="1056"/>
          </a:p>
        </p:txBody>
      </p:sp>
      <p:sp>
        <p:nvSpPr>
          <p:cNvPr id="410" name="Rect 3"/>
          <p:cNvSpPr>
            <a:spLocks noGrp="1" noChangeArrowheads="1"/>
          </p:cNvSpPr>
          <p:nvPr/>
        </p:nvSpPr>
        <p:spPr>
          <a:xfrm rot="0">
            <a:off x="4267200" y="2861945"/>
            <a:ext cx="125730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9 </a:t>
            </a:r>
            <a:endParaRPr lang="ko-KR" altLang="en-US" dirty="0" smtClean="0" sz="1056"/>
          </a:p>
        </p:txBody>
      </p:sp>
      <p:sp>
        <p:nvSpPr>
          <p:cNvPr id="411" name="Rect 3"/>
          <p:cNvSpPr>
            <a:spLocks noGrp="1" noChangeArrowheads="1"/>
          </p:cNvSpPr>
          <p:nvPr/>
        </p:nvSpPr>
        <p:spPr>
          <a:xfrm rot="0">
            <a:off x="3840480" y="2551430"/>
            <a:ext cx="1095375" cy="5695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......push(5)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</p:txBody>
      </p:sp>
      <p:sp>
        <p:nvSpPr>
          <p:cNvPr id="412" name="Rect 3"/>
          <p:cNvSpPr>
            <a:spLocks noGrp="1" noChangeArrowheads="1"/>
          </p:cNvSpPr>
          <p:nvPr/>
        </p:nvSpPr>
        <p:spPr>
          <a:xfrm rot="0">
            <a:off x="3295015" y="1456690"/>
            <a:ext cx="1506855" cy="3429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push(14)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..push(4)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16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push(15)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7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push(20)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41830" y="2066290"/>
            <a:ext cx="2785745" cy="1708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1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941830" y="2237105"/>
            <a:ext cx="2779395" cy="3444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1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compare the recursive inorder and non-recursive inorder and see whether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any difference between them. We find no difference between them. Function call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takes place with the help of stack. Explicit stack is also a stack and its behavior is also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same. Let’s compare these. In the left column, we have recursive inorder and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column there is non-recursive inorder.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recursive inorder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nonrecursive inorder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inorder(14)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push(14)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..inorder(4)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..push(4)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....inorder(3)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....push(3)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..inorder(9)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..push(9)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....inorder(7)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....push(7)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......inorder(5)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......push(5)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inorder(15)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push(15)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inorder(18)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push(18)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..inorder(16)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..push(16)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..inorder(17)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..push(17)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inorder(20)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push(20)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recursive inorder ,the function name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inorder().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are printing the values.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non-recursive, push() method is employed. You can see the order in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nodes are being pushed explicitly on the stack. Then we print the values and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in a special order to see the values of the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recursive inorder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inorder(14) while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non-recursive inorder,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push(14)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recursive inorder,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in the non-recursive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recursive inorder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inorder(3. Whereas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non-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inorder, you may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push(3)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pertinent to note that the only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in these two cases is that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inorder() is in the left column while 		push() will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be found in the right column.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You should not be surprised over this as stack is being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used in both recursive calls and non-recursive calls.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use recursive calls in which stack is used internally. However, in case of non-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calls, the stack is used explicitly. Now the question arises which one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methods is better. Let’s see some other aspects of recursion. When should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the recursion with respect to efficiency and implementation? How many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 were there in the inorder recursive function. The first statement was an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which is the terminating condition. After this, we have only three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statements, two calls and one cout statement. The order in the inorder is inorder(left),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and then inorder(right). That’s the complete function. Now see the non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There are a lot of statements in this function so that there should be more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in the non-recursive function. The second thing is the readability.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readability and understanding is better in the recursive function. One can easily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what is happening. To understand the non-recursive code, one has to read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with care. He has to go through every statement to see what you are doing.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also help ascertain if you are doing it right or not.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also an important aspect of programming. Program readability is also an issue.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you have written some program. Will you understand if after some months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why you have written this and how? The first thing may be that what you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doing in the program and how you do it? After going through the program, you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 it and recall that you have used this data structure for some purpose.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Always comment the code. Comment the data structure, logic and algorithm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program. Recursive procedure is an elegant procedure. Both the data structure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procedure are recursive. We have traversed a tree with only three four statements.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matter whatever is the size of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recursion happens with the help of function calls and stack.. There are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values also included. It has return address, local variables and parameters. When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function calls another function irrespective of recursive or non recursive like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F is calling function G. It will take time to put the values in the stack. If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your own stack, it takes time for creation and then push and pop will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consume time. Now think that which one of these will take more time. The situation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that function calls always takes place using stack irrespective of the language.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implementation of using stack is implemented very efficiently in the Assembly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language. In the computer architecture or Assembly language program, you will study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manipulation of stack calls that is push and pop and other methods are very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efficiently coded. Now you may think that there is a lot of work needed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calls and non- recursive calls are faster. If you think that the non-recursive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will work fast, it is wrong. The experience shows that if recursive calls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applied on recursive data structures, it will be more efficient in comparison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non-recursive calls written by you. We will see more data structures which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inherently recursive. If the data structures are recursive, then try to write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methods. We will further discuss binary tree, binary search tree and see more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examples. Whenever we write a method dealing with these data structures and use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recursion. With the use of recursion, our program will be small, efficient and less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error prone. While doing programming, we should avoid errors. We don’t want to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errors while writing a program and executing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Try to do these traversals by hands on trees. These traversals are very important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trees. We will write more methods while dealing with tree, used internally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or postorder traversal.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yet another way of traversing a binary tree that is not related to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procedures discussed previously. In level-order traversal, we visit the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each level before proceeding to the next level. At each level, we visit the nodes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left-to-right order. The traversal methods discussed earlier are inorder, preorder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 order. We print the node or to the left subtree or to the right subtree.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preorder, we traverse the complete left subtree before coming to the right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procedures are in one way , depth-oriented. Now we may like to traverse the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911350"/>
            <a:ext cx="4773295" cy="30327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1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0" y="0"/>
            <a:ext cx="585471" cy="585471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1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in a way that we go at one level and print all the nodes at that level.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algorithm in which we need level order traversal.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following figure, the level order traversal is represented using the arrows.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14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14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145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145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145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Level-order:    14  4  15  3  9  18  7  16  20  5  17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14.4: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level order traversal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started from the root with 14 as a root node. Later, we printed its value.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 to the next level. This is the binary tree so that we may have two elements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level i.e. 4 and 15. So we printed 4 and 15 while moving from left to right.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not moving to left or right subtree of any node. Rather, we move to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level. At next level, a programmer will have three nodes that are from left to right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3, 9 and 18. We printed these values. If we take root node as zero level, it will be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2. Now we move to the level 3. Here at level 3, we have 7, 16 and 20. At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level, we have 5 and 17. So the numbers we are having are- 14  4  15  3  9  18  7  16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 5  17. How can we programmatically traverse the tree in level order?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it in the next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19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79830" y="5666105"/>
            <a:ext cx="4218305" cy="24352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2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15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4.3, 4.3.5, 4.6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Level-order Traversal of a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Storing Other Types of Data in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Tree (BST) with Strings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Deleting a Node From BST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Level-order Traversal of a Binary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last lecture, we implemented the tree traversal in preorder, postorder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using recursive and non-recursive methods. We left one thing to explore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further that how can we print a binary tree level by level by employing recursive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non-recursive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409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409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15.1: Level-order Traversal </a:t>
            </a:r>
            <a:endParaRPr lang="ko-KR" altLang="en-US" dirty="0" smtClean="0" sz="1056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levels have been shown using arrows: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first level, there is only one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163 of 519 </a:t>
            </a:r>
            <a:endParaRPr lang="ko-KR" altLang="en-US" dirty="0" smtClean="0" sz="1056"/>
          </a:p>
        </p:txBody>
      </p:sp>
      <p:sp>
        <p:nvSpPr>
          <p:cNvPr id="421" name="Rect 3"/>
          <p:cNvSpPr>
            <a:spLocks noGrp="1" noChangeArrowheads="1"/>
          </p:cNvSpPr>
          <p:nvPr/>
        </p:nvSpPr>
        <p:spPr>
          <a:xfrm rot="0">
            <a:off x="2932430" y="5763895"/>
            <a:ext cx="250825" cy="1981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9">
                <a:solidFill>
                  <a:srgbClr val="000000"/>
                </a:solidFill>
                <a:latin typeface="Times New Roman"/>
              </a:rPr>
              <a:t>14 </a:t>
            </a:r>
            <a:endParaRPr lang="ko-KR" altLang="en-US" dirty="0" smtClean="0" sz="1409"/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2849880"/>
            <a:ext cx="4846320" cy="28257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2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second level, the numbers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third level,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numbers are present.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fourth level the numbers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on fifth and final level of this tree, we have numbers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will also be the order of the elements in the output if the level-order traversal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done for this tree. Surprisingly, its implementation is simple using non-recursive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and by employing queu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instead of stack. A queue is a FIFO structure, which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make the level-order traversal easier.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for the level-order traversal is 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void   levelorder( TreeNode &lt;int&gt; *   treeNode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    Queue &lt;TreeNode&lt;int&gt; *&gt;   q;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    if( treeNode  ==  NULL )   return;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     q.enqueue(treeNode);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     while( !q.empty()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9.         treeNode   =   q.dequeue();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         cout   &lt;&lt;   *(treeNode-&gt;getInfo())   &lt;&lt;   " 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         if(treeNode-&gt;getLeft()   !=  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q.enqueue( treeNode-&gt;getLeft());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13.         if(treeNode-&gt;getRight()   !=  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q.enqueue( treeNode-&gt;getRight());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16.     cout   &lt;&lt;  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17. 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of the 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levelorder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it is accepting a pointer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&lt;int&gt;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method will start traversing tree from the node being pointed to by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pointer. The first line ( line 3) in this method is creating a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factory interface. This queue will be containing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TreeNode&lt;int&gt; 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objects. Which means the queue will be containing nodes of the tree and within 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the element is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checking to see,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passed to the function is pointing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NULL. In case it is NULL, there is no node to traverse and the method will return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immediately.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very first node (the node pointed to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added in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(at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which runs until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does not become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empty. As we have recently added one element (at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so this loop is entered.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called to remove one node from the queue,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taken out. The return value will be a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next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inside this node is taken out and printed.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check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see if the left subtree of the tree node (we’ve taken out in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present.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the left subtree exists, it is inserted into the queue in the next statement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see if the right subtree of the node is there, it is inserted into the queue also.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386330"/>
            <a:ext cx="4450080" cy="24326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2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statement at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closes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The control goes back to the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it checks to see if there is some element left in the queue. If it is not empty,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is entered again until it becomes empty.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execute this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levelorder( TreeNode &lt;int&gt; *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hand on a tree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fig 15.1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understand the level order traversal better. We can see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of the tree is containing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node is inserted in the queue first,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below figure in gray shade.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409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40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Queue: 14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Output: 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i 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insertion of node containing number 14, we reach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statement,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this is taken out from the queue and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printed. Next the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subtrees are inserted in the queue. The following figure represents the current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stage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2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32560" y="1063625"/>
            <a:ext cx="4450080" cy="24326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2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66545" y="5135880"/>
            <a:ext cx="4450080" cy="24320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2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409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40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Queue: 4   15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Output: 14 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dd d 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 that has been printed on the output is shown with dark gray shade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elements that have been inserted are shown in the gray shade. After this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control is transferred again to the start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This time,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taken out (because it was inserted first and then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node) and printed. Further, the left and right nodes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are inserted in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depicts the latest picture of the queue.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409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40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Queue: 15   3   9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Output: 14   4 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numbers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have been inserted in the queue until now.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came back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starting point again and dequeued a node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This time a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came out. Firstly, the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printed and then we checked for its left and right child. There is no left child of the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11935" y="4919345"/>
            <a:ext cx="4450080" cy="24326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3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252855" y="1664335"/>
            <a:ext cx="3950335" cy="25965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2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(with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but the right child is there. Right child is a node containing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so this number is inserted in the queue.</a:t>
            </a:r>
            <a:endParaRPr lang="ko-KR" altLang="en-US" dirty="0" smtClean="0" sz="1056"/>
          </a:p>
          <a:p>
            <a:pPr marL="0" indent="0" defTabSz="15240" algn="l">
              <a:lnSpc>
                <a:spcPts val="2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time the node that is taken out is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printed on the output.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does not have any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children, therefore,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 new nodes is inserted in the queue in this iteration.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409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40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Queue: 9   18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Output: 14   4   15   3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iterati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																																																																	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Print it on the output.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for its left subtree, it is there, hence inserted in the queue. There is no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13890" y="4517390"/>
            <a:ext cx="4450080" cy="24352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3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34110" y="612775"/>
            <a:ext cx="4855210" cy="31940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7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if we keep on executing this function. The nodes are inserted in the queue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printed. At the end, we have the following picture of the tree: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409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17 </a:t>
            </a:r>
            <a:endParaRPr lang="ko-KR" altLang="en-US" dirty="0" smtClean="0" sz="140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Queue: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Output: 14   4   15   3   9   18   7   16   20   5   17 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the figure above,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gone empty and in the output we can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have printed the tree node elements in the level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algorithm, we have used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structure. We selected to use queue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 after we analyzed the problem and sought most suitable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selection of appropriate data structure is done before we think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programming constructs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loops. The selection of appropriate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 is very critical for a successful solution. For example, without 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4624070"/>
            <a:ext cx="4895215" cy="23342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data structure our problem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levelorder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traversal would not have been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easier.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is the reason of choosing queue data structure for this problem. We see that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levelorder (level by level) tree traversal, the levels come turn by turn. So this turn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turn guides us of thinking of using queue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Always remember that we don’t start writing code after collecting requirements,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that we select the appropriate data structures to be used as part of the design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phase. It is very important that as we are getting along on our course of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structures, you should take care why, how and when these structures are employed.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Storing Other Types of Data in Binary Tree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Until now, we have used to place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numbers in the tree nodes. We were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because they were easier to understand for sorting or comparison problems.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put any data type in tree nodes depending upon the problem where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employed. For example, if we want to enter the names of the people in the telephone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directory in the binary tree, we build a binary tree of strings.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Binary Search Tree (BST) with Strings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write C++ code to insert non-integer data in a binary search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wordTree()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TreeNode&lt;char&gt; *  root   =   new   TreeNode&lt;char&gt;();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static  char *  word[]   =   "babble", "fable", "jacket", 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"backup", "eagle","daily","gain","bandit","abandon",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"abash","accuse","economy","adhere","advise","cease",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"debunk","feeder","genius","fetch","chain", NULL};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root-&gt;setInfo( word[0]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 = 1; word[i]; i++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insert(root, word[i]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 root 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 &lt;&lt;  endl;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 name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wordTree()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first line,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node is constructed,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be containing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of data. After that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character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is containing words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babble, fable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etc. The last word or string of the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Next, we are putting the first word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babble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Further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which keeps on executing and inserting words in the tree using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insert (TreeNode&lt;char&gt; *, char *)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until there is a word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You might have noticed that we worked in the same manner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were inserting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 in the tree. Although,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array, we used –1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ending number of the array and here for words we are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inserting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whole array, we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to print the tree node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see the code for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169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4895215" cy="36055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insert(TreeNode&lt;char&gt; *  root, char *  info)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TreeNode&lt;char&gt; *  node   =   new  TreeNode&lt;char&gt;(info);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TreeNode&lt;char&gt; *p, *q;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 =   q   =   root;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 strcmp(info, p-&gt;getInfo()) != 0 &amp;&amp; q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 =   q;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strcmp(info, p-&gt;getInfo()) &lt; 0 )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   =   p-&gt;getLeft();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   =   p-&gt;getRight();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 strcmp(info, p-&gt;getInfo())  ==  0 )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 &lt;&lt;  "attempt to insert duplicate: "  &lt;&lt;  * info  &lt;&lt; 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 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if( strcmp(info, p-&gt;getInfo()) &lt; 0 )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p-&gt;setLeft( node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p-&gt;setRight( node );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insert(TreeNode&lt;char&gt; *  root, char *  info)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accepting two parameters.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pointer to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where the node is containing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type. The second 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line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we are creating a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containing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char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passed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parameter. In the next statement, two pointers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TreeNode&lt;char&gt;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declared. Further, both pointers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start pointing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node passed in the first 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must remember while constructing binary tree of numbers, we were incrementing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count instead of inserting the new node again if the same number is present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One the other hand, if the same number was not there but the new number was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the number in the node, we used to traverse to the left subtree of the node.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case, the new number was greater than the number in the node, we used to seek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in case of strings (words) here, we will increment the counter if it is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present, and will seek the left and right subtrees accordingly, if required.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case of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we could easily compare them and see which one is greater but what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happen in case of strings. You must remember, every character of a string has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associated ASCII value. We can make a lexicographic order of characters based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their ASCII values. For example, the ASCII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 (66)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(65),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character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character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if a word is starting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letter A, it is smaller than the words starting from B or any other character up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called lexicographic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provides us overloading facility to define the same operators (&lt;, &gt;, &lt;=, &gt;=, ==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etc) that were used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 to be used for other data types for example strings.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write functions instead of these operators if we desire.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strcmp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similar kind of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4724400"/>
            <a:ext cx="4895215" cy="32950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function, part of the standard C library, which compares two strings.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code above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strcmp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is used. It is comparing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the value inside the node pointed to by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first parameter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strcmp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return a negative number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smaller,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both are equal and a positive number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terminated if the same numbers are found. There is another condition, which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cause the termination of loop that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NULL.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statement inside the loop is the assignment of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insider statement, the same comparison is done again by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strcmp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 pointed to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smaller, we seek the left subtree otherwise we go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the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check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if-statement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if the reason of termination of loop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duplication. If it is, a message is displayed on the output and the newly constructed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(that was to be inserted) is deleted (deallocated).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reason of termination is not duplication, which means we have reached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where insertion of the new node is made. We check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smaller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 in the current tree node. If this is the case, the newly constructed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to the left of the current tree node. Otherwise, it is inserted to the right.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was called from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wordTree()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loop is teminated when the NULL is reached at the end of the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end, we printed the inserted elements of the tree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inorder()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output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Output: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abandon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abash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advise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babble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backup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bandit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cease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daily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debunk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eagle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economy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feeder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fetch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genius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jacket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Notice that the words have been printed in the sorted order. Sorting is in increasing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when the tree is traversed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manner. This should not come as a surprise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you consider how we built the binary search tree. For a given node, values less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node were all in the left subtree and values greater or equal were in the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78025" y="7391400"/>
            <a:ext cx="2063750" cy="19691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4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98650" y="4163695"/>
            <a:ext cx="2063750" cy="18776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prints the left subtree first, then the node itself and at the end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Building a binary search tree and doing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traversal leads to a sorting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found one way of sorting data. We build a binary tree of the data, traverse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fashion and have the output sorted in increasing order. Although,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one way of sorting, it may not be the efficient one. When we will study sorting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algorithms, will prove Mathematically that which method is the fastest.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Deleting a Node From BST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Until now, we have been discussing about adding data elements in a binary tree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may also require to delete some data (nodes) from a binary tree. Consider the case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we used binary tree to implement the telephone directory, when a person leaves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city, its telephone number from the directory is deleted.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common with many data structures that the hardest operation is deletion. Once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found the node to be deleted, we need to consider several possibilities.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case 1, If the node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leaf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can be deleted quite easily.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tree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409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409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409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40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15.9: BST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delete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as it is a leaf node,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pretty straight forward. We delete the leaf node containing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point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pointer to NULL.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case 2, if the node has one child, the node can be deleted after its parent adjusts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to bypass the node and connect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successor. 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40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15.10: Deleting a Node From BST</a:t>
            </a:r>
            <a:endParaRPr lang="ko-KR" altLang="en-US" dirty="0" smtClean="0" sz="1056" b="1"/>
          </a:p>
        </p:txBody>
      </p:sp>
      <p:sp>
        <p:nvSpPr>
          <p:cNvPr id="440" name="Rect 3"/>
          <p:cNvSpPr>
            <a:spLocks noGrp="1" noChangeArrowheads="1"/>
          </p:cNvSpPr>
          <p:nvPr/>
        </p:nvSpPr>
        <p:spPr>
          <a:xfrm rot="0">
            <a:off x="4782185" y="9180830"/>
            <a:ext cx="93408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Page 172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08050" y="2962910"/>
            <a:ext cx="5038725" cy="56718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want to delete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we have to adjust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pointer in the node containing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successor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point is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traversal order has to be maintained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230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230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23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23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15.11: Deletion in steps </a:t>
            </a:r>
            <a:endParaRPr lang="ko-KR" altLang="en-US" dirty="0" smtClean="0" sz="1056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case 3 is bit complicated, when the node to be deleted has both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strategy is to replace the data of this node containing the smallest data of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and recursively delete that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this strategy in action. See the tree below: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230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230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23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230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successor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173 of 519 </a:t>
            </a:r>
            <a:endParaRPr lang="ko-KR" altLang="en-US" dirty="0" smtClean="0" sz="1056"/>
          </a:p>
        </p:txBody>
      </p:sp>
      <p:sp>
        <p:nvSpPr>
          <p:cNvPr id="443" name="Rect 3"/>
          <p:cNvSpPr>
            <a:spLocks noGrp="1" noChangeArrowheads="1"/>
          </p:cNvSpPr>
          <p:nvPr/>
        </p:nvSpPr>
        <p:spPr>
          <a:xfrm rot="0">
            <a:off x="2834640" y="3508375"/>
            <a:ext cx="3076575" cy="50260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230"/>
          </a:p>
          <a:p>
            <a:pPr marL="0" indent="0" defTabSz="15240" algn="l">
              <a:lnSpc>
                <a:spcPts val="3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230"/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60120" y="3691255"/>
            <a:ext cx="1515110" cy="18167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4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493010" y="3691255"/>
            <a:ext cx="3359150" cy="18167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4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563370" y="6242050"/>
            <a:ext cx="3728085" cy="18199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4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tree, we want to delete the node containing number 2. Let’s do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inorder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of this tree first.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The 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traversal give us the numbers: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order to delete the node containing number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firstly we will see its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find the left most node of it.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most node in the right subtree is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Pay attention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nodes of the tree where these numbers are present. You will notice that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right child node 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instead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left child node of the right child node of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Also the left child pointer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NULL.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we have found the left most node in the right subtree of the node containing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copy the contents of this left most node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node to be deleted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step is to delete the left most node containing value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node, there will be no left subtree of it, it might have a right subtree. Therefore,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of this node is the case 2 deletion and the delete operation can be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recursively to delete the node.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traverse the tree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get the numbers as: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174 of 519 </a:t>
            </a:r>
            <a:endParaRPr lang="ko-KR" altLang="en-US" dirty="0" smtClean="0" sz="1056"/>
          </a:p>
        </p:txBody>
      </p:sp>
      <p:sp>
        <p:nvSpPr>
          <p:cNvPr id="446" name="Rect 3"/>
          <p:cNvSpPr>
            <a:spLocks noGrp="1" noChangeArrowheads="1"/>
          </p:cNvSpPr>
          <p:nvPr/>
        </p:nvSpPr>
        <p:spPr>
          <a:xfrm rot="0">
            <a:off x="4184650" y="5669280"/>
            <a:ext cx="153162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being the left most </a:t>
            </a:r>
            <a:endParaRPr lang="ko-KR" altLang="en-US" dirty="0" smtClean="0" sz="1056"/>
          </a:p>
        </p:txBody>
      </p:sp>
      <p:sp>
        <p:nvSpPr>
          <p:cNvPr id="447" name="Rect 3"/>
          <p:cNvSpPr>
            <a:spLocks noGrp="1" noChangeArrowheads="1"/>
          </p:cNvSpPr>
          <p:nvPr/>
        </p:nvSpPr>
        <p:spPr>
          <a:xfrm rot="0">
            <a:off x="1667510" y="5294630"/>
            <a:ext cx="3798570" cy="2602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 15 13 d l t (2)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 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endParaRPr lang="ko-KR" altLang="en-US" dirty="0" smtClean="0" sz="1056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Notice that these numbers are still sorted. In the next lecture, we will also see the C++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code for this deletion operation. </a:t>
            </a:r>
            <a:endParaRPr lang="ko-KR" altLang="en-US" dirty="0" smtClean="0" sz="1056"/>
          </a:p>
          <a:p>
            <a:pPr marL="0" indent="0" defTabSz="15240" algn="l">
              <a:lnSpc>
                <a:spcPts val="6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16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4.3 (all sub sections)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Deleting a node in BST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code for remove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Tree Class (BST)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Deleting a node in BST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talked about deleting a node. Now we will discuss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ways to delete nodes of a BST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 Search 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Suppose you want to delete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nodes of BST. There are three cases for deleting a node from the BST. Case I: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to be deleted is the leaf node i.e. it has no right or left child. It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 to delete such node. We make the pointer in the parent node pointing to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as NULL. If the memory for the node has been dynamically allocated,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release it. Case II: The node to be deleted has either left child (subtree) or right child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(subtree). Case III: The node to be deleted has both the left and right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(subtree). This is the most difficult case. Let’s recap this case. The following figure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the tree and the node to be deleted. </a:t>
            </a:r>
            <a:endParaRPr lang="ko-KR" altLang="en-US" dirty="0" smtClean="0" sz="1056"/>
          </a:p>
          <a:p>
            <a:pPr marL="0" indent="0" defTabSz="15240" algn="l">
              <a:lnSpc>
                <a:spcPts val="2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9495" y="5821680"/>
            <a:ext cx="1520825" cy="22860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5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566670" y="5821680"/>
            <a:ext cx="1520825" cy="22860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5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291330" y="5821680"/>
            <a:ext cx="1521460" cy="22860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54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362710" y="1127760"/>
            <a:ext cx="2059940" cy="26606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5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successor will be the left-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most node in the right subtree of 2.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inorder successor will not have a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Inorder 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successor </a:t>
            </a:r>
            <a:endParaRPr lang="ko-KR" altLang="en-US" dirty="0" smtClean="0" sz="1056" i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example, the node to be deleted is 2. It has both right and left subtrees.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this is the BST, so while traversing the tree in inorder, we will have sorted data.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strategy is to find the inorder successor of the node to be deleted. To search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successor, we have to go to its right subtree and find the smallest element.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Afterwards we will copy this value into the node to be deleted. In the above example,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3 is the smallest in the right subtree of the node 2. A view of data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shows that number 3 is the inorder successor of number 2. We copy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3 in the node to be deleted. Now in this transition tree, the number 3 is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places. Now we have to delete the inorder successor node i.e. node 3. The node 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only right child. So this is the Case II of deletion.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792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792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79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792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792"/>
          </a:p>
          <a:p>
            <a:pPr marL="0" indent="0" defTabSz="15240" algn="l">
              <a:lnSpc>
                <a:spcPts val="9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177 of 519 </a:t>
            </a:r>
            <a:endParaRPr lang="ko-KR" altLang="en-US" dirty="0" smtClean="0" sz="1056"/>
          </a:p>
        </p:txBody>
      </p:sp>
      <p:sp>
        <p:nvSpPr>
          <p:cNvPr id="454" name="Rect 3"/>
          <p:cNvSpPr>
            <a:spLocks noGrp="1" noChangeArrowheads="1"/>
          </p:cNvSpPr>
          <p:nvPr/>
        </p:nvSpPr>
        <p:spPr>
          <a:xfrm rot="0">
            <a:off x="3508375" y="5904230"/>
            <a:ext cx="1826895" cy="1123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792"/>
          </a:p>
        </p:txBody>
      </p:sp>
      <p:sp>
        <p:nvSpPr>
          <p:cNvPr id="455" name="Rect 3"/>
          <p:cNvSpPr>
            <a:spLocks noGrp="1" noChangeArrowheads="1"/>
          </p:cNvSpPr>
          <p:nvPr/>
        </p:nvSpPr>
        <p:spPr>
          <a:xfrm rot="0">
            <a:off x="2724785" y="2840990"/>
            <a:ext cx="2454910" cy="33223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child because if it did, that child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would be the left-most node.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8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409">
                <a:solidFill>
                  <a:srgbClr val="000000"/>
                </a:solidFill>
                <a:latin typeface="Wingdings 3"/>
                <a:ea typeface="Wingdings 3"/>
              </a:rPr>
              <a:t>Ä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Wingdings 3"/>
                <a:ea typeface="Wingdings 3"/>
              </a:rPr>
              <a:t>Ä</a:t>
            </a:r>
            <a:endParaRPr lang="ko-KR" altLang="en-US" dirty="0" smtClean="0" sz="1409"/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19530" y="6525895"/>
            <a:ext cx="4029710" cy="2355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5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846830" y="1127760"/>
            <a:ext cx="1953260" cy="23044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5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051560" y="1127760"/>
            <a:ext cx="1953895" cy="29381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5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Wingdings 3"/>
                <a:ea typeface="Wingdings 3"/>
              </a:rPr>
              <a:t>Ä</a:t>
            </a:r>
            <a:endParaRPr lang="ko-KR" altLang="en-US" dirty="0" smtClean="0" sz="140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get the inorder successor of node 3 i.e. number 4. Therefore we will connect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5 with node 4 that is the left pointer of 5 which was earlier pointing to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But now it is pointing to node 4. We delete the node 3. Remember that number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been copied in the node 2. This way, we will delete the node having right and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both subtrees.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C++ code for remove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the C++ code to carry out this deletion. In the above figures,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named the method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but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 keyword of C++. So we cannot write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method 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to name it something else, say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Keep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mind all the three cases of delete and the figures.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is the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method is used to remove a node from the BST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   remove(TreeNode&lt;int&gt;* tree, int info)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TreeNode&lt;int&gt;* 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cmp = info - *(tree-&gt;getInfo());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cmp &lt; 0 ){                           // node to delete is in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 = remove(tree-&gt;getLeft(), info);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tree-&gt;setLeft( 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else if( cmp &gt; 0 ){                  // node to delete is in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 = remove(tree-&gt;getRight(), info);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tree-&gt;setRight( 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178 of 519 </a:t>
            </a:r>
            <a:endParaRPr lang="ko-KR" altLang="en-US" dirty="0" smtClean="0" sz="1056"/>
          </a:p>
        </p:txBody>
      </p:sp>
      <p:sp>
        <p:nvSpPr>
          <p:cNvPr id="458" name="Rect 3"/>
          <p:cNvSpPr>
            <a:spLocks noGrp="1" noChangeArrowheads="1"/>
          </p:cNvSpPr>
          <p:nvPr/>
        </p:nvSpPr>
        <p:spPr>
          <a:xfrm rot="0">
            <a:off x="3730625" y="1298575"/>
            <a:ext cx="223520" cy="2038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9">
                <a:solidFill>
                  <a:srgbClr val="000000"/>
                </a:solidFill>
                <a:latin typeface="Wingdings 3"/>
              </a:rPr>
              <a:t>Ä</a:t>
            </a:r>
            <a:endParaRPr lang="ko-KR" altLang="en-US" dirty="0" smtClean="0" sz="1409"/>
          </a:p>
        </p:txBody>
      </p:sp>
      <p:sp>
        <p:nvSpPr>
          <p:cNvPr id="459" name="Rect 3"/>
          <p:cNvSpPr>
            <a:spLocks noGrp="1" noChangeArrowheads="1"/>
          </p:cNvSpPr>
          <p:nvPr/>
        </p:nvSpPr>
        <p:spPr>
          <a:xfrm rot="0">
            <a:off x="2261870" y="1231265"/>
            <a:ext cx="292100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19530" y="1130935"/>
            <a:ext cx="4029710" cy="31362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//two children, replace with inorder successor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else if(tree-&gt;getLeft() != NULL &amp;&amp; tree-&gt;getRight() != NULL ){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TreeNode&lt;int&gt;* minNode;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MinNode = findMin(tree-&gt;getRight());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tree-&gt;setInfo( minNode-&gt;getInfo()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 = remove(tree-&gt;getRight(), *(minNode-&gt;getInfo()));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tree-&gt;setRight( 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{  //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 1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TreeNode&lt;int&gt;* nodeToDelete = tree;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if( tree-&gt;getLeft() == NULL ) //will handle 0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tree = tree-&gt;getRight();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else if( tree-&gt;getRight()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tree = tree-&gt;getLeft();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else tree = NULL;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delete nodeToDelete;  // release the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tree;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return type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a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argument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contains two arguments, the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pointing the root of the tree and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containing the value of the node to be deleted. A thorough analysis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reveals that you need these two things.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are dealing with the templates and the nodes containing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values. Inside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function, we create a temporary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int type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provided in the argument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subtracted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(this is the value of the node to be deleted) and assigned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have conditional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which checks 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cmp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0,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recursively. 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zero, it means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the node provided in the argument.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zero, depicting that the value of the current node is greater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Therefore if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with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exists, it should be in the left subtree. So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on the left subtree. When we return from this call, the left subtree pointer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assigned to our temporary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first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 evaluates to true, it means that our required node is in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the current node.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recursively and remove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On coming back, we assign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left subtree pointer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Suppose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to be deleted is the immediate left child of the node. It will be deleted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When the node is deleted, some other node will come to its place,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necessitating the readjustment of the left pointer of the parent node. We can do it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pointing the left subtree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cmp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greater than zero, the node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should be in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the current node. Therefore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 recursively,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providing it the pointer to the right subtree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we return from that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179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76400" y="7379335"/>
            <a:ext cx="3315970" cy="14204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6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call, the right subtree is readjusted by assigning it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third case, we are at the node, which is to be deleted. Here we have to deal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three delete cases- 1) the node to be deleted is the leaf node 2) node to be deleted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either right or left child and 3) the node to be deleted has both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We will begin with the third case. We will check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else-if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and right subtrees are not NULL. It means that the node has both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subtrees. We create a temporary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minNode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minNode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local to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if-else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block. We assign it value by calling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findMin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findMin(tree-&gt;getRight())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delete case, we need to find the inorder successor of the node to be deleted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is the minimum value in the right subtree. Then we will put the value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to the node to be deleted. This node is saved 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be deleted is now pointed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get the value of the inorder successor,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assign it to the node to be deleted. Now we have to delete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For this purpose,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recursively providing it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and the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minNode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also changed the value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node and can also send this value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For clarity purposes,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provide it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value. The node returned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is stored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temporary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assign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right subtree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do it due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fact that the tree has to re-adjusted after the deletion of a node in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talk about other two cases i.e. the node to be deleted is the leaf node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left or right child. We will deal with these two cases together.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else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being employed in these cases. We create a temporary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nodeToDelete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 it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have to check whether this is the leaf node or has either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or right child. First we check that the left subtree of the tree is NULL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assigning the right subtree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check that the right subtree of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NULL. If it is NULL,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replaced by the left subtree. In the end,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the tree NULL and delete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nodeToDelete.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Here the memory is released.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dealing with this case of delete, we find the inorder successor from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i.e. the minimum value in the right subtree. That will also be the left most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of the right subtree. We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findMin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for this purpose. Let’s have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on the code of this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method is used to find the minimum node in a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findMin(TreeNode&lt;int&gt;* tree)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tree == NULL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tree-&gt;getLeft() == NULL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return tree; //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this is it. </a:t>
            </a:r>
            <a:endParaRPr lang="ko-KR" altLang="en-US" dirty="0" smtClean="0" sz="1056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76400" y="1130935"/>
            <a:ext cx="3315970" cy="3257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6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43000" y="6391910"/>
            <a:ext cx="4382770" cy="25114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6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findMin( tree-&gt;getLeft()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return type is a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will be the minimum node. The input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is also a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input argument is a root of some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which we have to find the minimum node. Inside the function, we have a couple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statements.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NULL, it will result in the return of the NULL. If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the tree is NULL,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returned. In the end, we are calling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findMin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recursively providing it the left subtree as argument. When we were talking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successor or the left most node, it was stated that this node will not contain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child because if it has a left child then it will not be a left most child. The left-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most node is the node which either does not have a left child or its left pointer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NULL. The above method works the same way. It looks for the left node having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NULL. This is the node with the minimum value. You must have noted that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function, we are making a recursive call in the end of the function. If a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recursive call as the last statement, it is known as tail recursion. We can replace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tail recursion with the loop. How can we do that? This is an exercise for you.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tail recursion, you have either to use the tail recursion or loop. While opting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loop, you will get rid of the recursion stack.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trace this function on the sample tree we have been using in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lecture. It can also be hand-traced. Provide the root of the BST to the method and try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find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employing the above method. You will see that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returned by this function is the minimum node. Also try to write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FindMin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non-recursive way i.e. use of the loop. You will get the same result.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Binary Search Tree Class (BST)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of the binary search tree (BST). We put the interface in the .h file.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have the state variable in addition to the public and private methods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in it. In the public methods, the user of the class calls with their objects.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 .h file for binary search tree and the objects of binary search tree obtained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factory will use the attributes defined in the .h file. Here is the .h file.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binarysearchtree.h file contains the interface of binary search tree (BST)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#ifndef _BINARY_SEARCH_TREE_H_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#define _BINARY_SEARCH_TREE_H_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&lt;iostream.h&gt;       // For NULL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Binary node and forward declaration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BinarySearchTree;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BinaryNode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EType element;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 *left;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43000" y="1130935"/>
            <a:ext cx="4382770" cy="15754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6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 *right;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constructor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BinaryNode( const EType &amp; theElement, BinaryNode *lt, BinaryNode *rt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element( theElement ), left( lt ), right( rt ) {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friend class BinarySearchTree&lt;EType&gt;;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continued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start of the file, we have conditional statement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ifndef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checks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constant _BINARY_SEARCH_TREE_H_. If this constant is not defined, we define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define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keyword. This is a programming trick. Sometimes, we include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.h file more than once. If we do not use this trick, the compiler will give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error on the inclusion of the file for the second time. Here, we have a statement: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BinarySearchTree;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forward declaration of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not defined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class so far. First we define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then by combining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nodes, a binary tree is created. This class is a template class. The nodes can contain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other than integers. Then we define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class and define three state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variables. The data of the node is stored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which is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Being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binary node, it may have a left and right child. We have declared two pointers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node. Then we have its constructor that takes three arguments, used to initialize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variables. We wrote the colon(:) and the initialization list.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three state variables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BinaryNode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create an object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BinaryNode,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all of these variables are created.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 also be some class so its object will be created and a call to its constructor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made. Whenever an object is created, its constructor will be called.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 the arguments. If we do not call the constructor explicitly, the default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constructor will be called. In the constructor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after the colon,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written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element(theElement).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theElement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argument in the constructor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It seems to be a function call but actually it is a call to the constructor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element was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String,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constructor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String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called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theElement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sent as argument. Through this way of writing the variables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colon, we are actually calling the explicit constructor for the state variables.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the constructor, we are not using the name of the class but the variable names.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should be no ambiguity. Then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left( lt 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right( rt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so the constructor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called. The body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constructor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empty.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not be familiar with this type of coding but it is commonly used in C++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coding. You can get further information on this from the C++ book or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internet. In some cases, a programmer is forced to use this syntax for having no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option. The last statement of the class definition has a friend class: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friend class BinarySearchTree&lt;EType&gt;;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572000"/>
            <a:ext cx="4093210" cy="42278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6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are familiar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friend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keyword. The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defined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as its friend class. It means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class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access the state variables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class. We can also declare friend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some class which can access the state variable of that class. We have not defined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 yet. We have just declared the class with the name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BinarySearchTree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as the forward declaration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This forward declaration is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compilers. When the compiler reads the file from top to bottom and encounters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 defining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friend, it gives an error. The compiler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 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BinarySearchTree.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To overcome this error we use forward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declaration. With this forward declaration, the compiler is communicated that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a class. Therefore, when the compiler reads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line, which defines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a friend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knows that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 class, which used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template and will be defined later. Now there is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ambiguity for the compiler. We must have to define this class later 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are giving it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template parameter.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make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generic and it can be used with integers,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strings, characters or with some other data type. Therefore, we have defined it as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class. The user of this class will create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its specific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type. The code is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binarysearchtree.h file also contains the definition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BinarySearchTree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BinarySearchTree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BinarySearchTree( const EType&amp; notFound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BinarySearchTree( const BinarySearchTree&amp; rhs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~BinarySearchTree(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EType&amp; findMin(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EType&amp; findMax(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EType&amp; find( const EType &amp; x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bool isEmpty(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printInorder(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insert( const EType&amp;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remove( const EType&amp;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BinarySearchTree &amp; operator = ( const BinarySearchTree &amp; rhs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BinaryNode&lt;EType&gt;* root;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ITEM_NOT_FOUND object used to signal failed finds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 ITEM_NOT_FOUND;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093210" cy="17310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EType&amp; elementAt( BinaryNode&lt;EType&gt;* 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insert(const EType&amp; x, BinaryNode&lt;EType&gt;* &amp; 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remove(const EType&amp; x, BinaryNode&lt;EType&gt;* &amp; 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BinaryNode&lt;EType&gt;* findMin(BinaryNode&lt;EType&gt;* 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BinaryNode&lt;EType&gt;* findMax(BinaryNode&lt;EType&gt;* 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BinaryNode&lt;EType&gt;* find(const EType&amp; x, BinaryNode&lt;EType&gt;* 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makeEmpty(BinaryNode&lt;EType&gt;* &amp; 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printInorder(BinaryNode&lt;EType&gt;* t);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000000"/>
                </a:solidFill>
                <a:latin typeface="Times New Roman"/>
                <a:ea typeface="Times New Roman"/>
              </a:rPr>
              <a:t>#endif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start the definition of our class with the public interface. The user of this class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interested in the public interface of the class. These are the methods, which the user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employ. We have two constructors for this class. One constructor takes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EType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parameter while other takes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a parameter. The types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constructors depend on the usage. We can have more constructors if needed.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destructor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BinarySearchTree.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Besides, we have interface methods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BinarySearchTree.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There are also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findMax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methods, which will return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minimum and maximum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tree respectively. We have used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with these functions. The reference variables in functions are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used. Next thing we are going to discuss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Its signature is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 EType&amp; find( const EType &amp; x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will takes an argument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will search the tree whether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exists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tree or not. Then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isEmpty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that will ascertain if the tree is empty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not. There is also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printInorder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which will print the tree in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traversal. If the tree has integers, we have sorted integers as a result of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traversal. Next thing we have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(const EType&amp; 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which inserts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a new node in the tree. After this, there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i.e.delete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renamed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because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 keyword of C++. We can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it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some other name which you think is suitable. The interface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class is almost complete. Now think as a user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decide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you need more methods. With the help of methods defined above, we can do a lot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work 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you feel to add more methods due to the usage need,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can be added later.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need some private variables and methods for this class. At First,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defined a pointer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BinaryNode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as root before defining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ITEM_NOT_FOUND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there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methods. But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signatures of these methods are different than public methods. The signature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insert method is: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insert(const EType&amp; x, BinaryNode&lt;EType&gt;* &amp; t);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public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we have only one argument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findMax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with different signatures. Then we have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413760"/>
            <a:ext cx="4773295" cy="54800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makeEmpty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printInorder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methods. Why we are talking about these methods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especially when these are the private ones. In C++, we have to do like this.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define the class and in .cpp file, the implementation of the class is given. The user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this class is advised not to look at the private part of the class. He should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interested only in the public part of the class. We are not the users of this class,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 the developers.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BinarySeachTree.h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file, we have defined two classes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Are these classes private or public? Can the user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benefit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class? Is it possible or not?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exercise for you. Study about the reference data types before coming to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Sample Program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is the code of the program.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BinarySearchTree.h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file contains the declaration of binary node and the binary search tree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#ifndef BINARY_SEARCH_TREE_H_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#define BINARY_SEARCH_TREE_H_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#include &lt;iostream.h&gt;       // For NULL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// Binary node and forward declaration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class BinarySearchTree;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class BinaryNode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EType element;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 *left;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 *right;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BinaryNode( const EType &amp; theElement, BinaryNode *lt, BinaryNode *rt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: element( theElement ), left( lt ), right( rt ) {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friend class BinarySearchTree&lt;EType&gt;;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BinarySearchTree class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CONSTRUCTION: with ITEM_NOT_FOUND object used to signal failed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******************PUBLIC OPERATIONS*********************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void insert( x )       --&gt; Insert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void remove( x )       --&gt; Remove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EType find( x )   --&gt; Return item that matches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EType findMin( )  --&gt; Return smallest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EType findMax( )  --&gt; Return largest item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65741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7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8327390"/>
            <a:ext cx="4773295" cy="4813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boolean isEmpty( )     --&gt; Return true if empty; else false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void makeEmpty( )      --&gt; Remove all items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// void printTree( )      --&gt; Print tree in sorted order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class BinarySearchTree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BinarySearchTree( const EType &amp; notFound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BinarySearchTree( const BinarySearchTree &amp; rhs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~BinarySearchTree(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EType &amp; findMin(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EType &amp; findMax(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EType &amp; find( const EType &amp; x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bool isEmpty(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printTree(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makeEmpty(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insert( const EType 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remove( const EType 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BinarySearchTree &amp; operator=( const BinarySearchTree &amp; rhs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BinaryNode&lt;EType&gt; *root;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EType ITEM_NOT_FOUND;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EType &amp; elementAt( BinaryNode&lt;EType&gt; *t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insert( const EType &amp; x, BinaryNode&lt;EType&gt; * &amp; 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remove( const EType &amp; x, BinaryNode&lt;EType&gt; * &amp; 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BinaryNode&lt;EType&gt; * findMin( BinaryNode&lt;EType&gt; *t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BinaryNode&lt;EType&gt; * findMax( BinaryNode&lt;EType&gt; *t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BinaryNode&lt;EType&gt; * find( const EType &amp; x, BinaryNode&lt;EType&gt; *t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makeEmpty( BinaryNode&lt;EType&gt; * &amp; 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void printTree( BinaryNode&lt;EType&gt; *t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BinaryNode&lt;EType&gt; * clone( BinaryNode&lt;EType&gt; *t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#include "BinarySearchTree.cpp"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#endif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BinarySearchTree.cpp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file contains the implementation of the binary search tree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#include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#include "BinarySearchTree.h"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Construct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BinarySearchTree&lt;EType&gt;::BinarySearchTree( const EType &amp; notFound ) 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ITEM_NOT_FOUND( notFound ), root(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Copy constructor.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BinarySearchTree( const BinarySearchTree&lt;EType&gt; &amp; rhs ) 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root( NULL ), ITEM_NOT_FOUND( rhs.ITEM_NOT_FOUND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*this = rhs;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Destructor for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BinarySearchTree&lt;EType&gt;::~BinarySearchTree(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makeEmpty(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Insert x into the tree; duplicates are ignored.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BinarySearchTree&lt;EType&gt;::insert( const EType &amp;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insert( x,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Remove x from the tree. Nothing is done if x is not found.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BinarySearchTree&lt;EType&gt;::remove( const EType &amp;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remove( x,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Find the smallest item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smallest item or ITEM_NOT_FOUND if empty.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const EType &amp; BinarySearchTree&lt;EType&gt;::findMin(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elementAt( findMin( root )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Find the largest item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the largest item of ITEM_NOT_FOUND if empty.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const EType &amp; BinarySearchTree&lt;EType&gt;::findMax(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elementAt( findMax( root )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Find item x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the matching item or ITEM_NOT_FOUND if not found.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const EType &amp;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             find( const EType &amp; x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elementAt( find( x, root )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Make the tree logically empty.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BinarySearchTree&lt;EType&gt;::makeEmpty(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makeEmpty(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Test if the tree is logically empty.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true if empty, false otherwise.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bool BinarySearchTree&lt;EType&gt;::isEmpty(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root ==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Print the tree contents in sorted order.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BinarySearchTree&lt;EType&gt;::printTree(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isEmpty( 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cout &lt;&lt; "Empty tree"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printTree(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Deep copy.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const BinarySearchTree&lt;EType&gt; &amp;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operator=( const BinarySearchTree&lt;EType&gt; &amp; rhs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this != &amp;rhs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makeEmpty(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root = clone( rhs.root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*this;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get element field in node 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the element field or ITEM_NOT_FOUND if t is NULL.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const EType &amp;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elementAt( BinaryNode&lt;EType&gt; *t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ITEM_NOT_FOUND;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t-&gt;element;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insert into a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x is the item to insert.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t is the node that roots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189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8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Set the new root.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insert( const EType &amp; x, BinaryNode&lt;EType&gt; * &amp; 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 = new BinaryNode&lt;EType&gt;( x, NULL, NULL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if( x &lt; t-&gt;element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insert( x, t-&gt;left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if( t-&gt;element &lt;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insert( x, t-&gt;right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;  // Duplicate; do nothing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remove from a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x is the item to remove.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t is the node that roots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Set the new root.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remove( const EType &amp; x, BinaryNode&lt;EType&gt; * &amp; 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return;   // Item not found; do nothing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x &lt; t-&gt;element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remove( x, t-&gt;left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if( t-&gt;element &lt;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remove( x, t-&gt;right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if( t-&gt;left != NULL &amp;&amp; t-&gt;right != NULL ) // Two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t-&gt;element = findMin( t-&gt;right )-&gt;element;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remove( t-&gt;element, t-&gt;right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BinaryNode&lt;EType&gt; *nodeToDelete = 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 = ( t-&gt;left != NULL ) ? t-&gt;left : t-&gt;right;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delete nodeToDelete;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find the smallest item in a subtree 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node containing the smallest item.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8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BinaryNode&lt;EType&gt;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BinarySearchTree&lt;EType&gt;::findMin( BinaryNode&lt;EType&gt; *t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t-&gt;left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findMin( t-&gt;left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find the largest item in a subtree 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node containing the largest item.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BinaryNode&lt;EType&gt;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BinarySearchTree&lt;EType&gt;::findMax( BinaryNode&lt;EType&gt; *t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while( t-&gt;right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t = t-&gt;right;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find an item in a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x is item to search for.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t is the node that roots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Return node containing the matched item.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BinaryNode&lt;EType&gt;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find( const EType &amp; x, BinaryNode&lt;EType&gt; *t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if( x &lt; t-&gt;element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find( x, t-&gt;left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if( t-&gt;element &lt;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find( x, t-&gt;right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t;    // Match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/****** NONRECURSIVE VERSION*************************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BinaryNode&lt;EType&gt;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668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find( const EType &amp; x, BinaryNode&lt;EType&gt; *t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while( t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if( x &lt; t-&gt;element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t = t-&gt;left;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else if( t-&gt;element &lt;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t = t-&gt;right;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return t;    // Match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NULL;   // No match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*****************************************************/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make subtree empty.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makeEmpty( BinaryNode&lt;EType&gt; * &amp; 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makeEmpty( t-&gt;left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makeEmpty( t-&gt;right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delete 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t =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print a subtree rooted at t in sorted order.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void BinarySearchTree&lt;EType&gt;::printTree( BinaryNode&lt;EType&gt; *t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!=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printTree( t-&gt;left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cout &lt;&lt; t-&gt;element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printTree( t-&gt;right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/**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 Internal method to clone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BinaryNode&lt;EType&gt; *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12617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9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2858770"/>
            <a:ext cx="4773295" cy="48590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9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48055" y="8025130"/>
            <a:ext cx="4773295" cy="7956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8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BinarySearchTree&lt;EType&gt;::clone( BinaryNode&lt;EType&gt; * t ) const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t == NULL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return new BinaryNode&lt;EType&gt;( t-&gt;element, clone( t-&gt;left ), clone( t-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&gt;right )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TestBinarySearchTree.cpp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file. This file contains the main program.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file contains the test program for the binary search tree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#include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#include "BinarySearchTree.h"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// Test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main( 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const int ITEM_NOT_FOUND = -9999;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BinarySearchTree&lt;int&gt; t( ITEM_NOT_FOUND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int NUMS = 30;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int i;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cout &lt;&lt; "Inserting elements (1 to 30) in the tree .......)"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for( i = 0; i &lt;= NUMS; i++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t.insert( i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cout &lt;&lt; "Printing the values of the nodes in tree .......)"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t.printTree();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cout &lt;&lt; "Removing the even number elements in the tree .......)"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for( i = 0; i &lt;= NUMS; i+= 2 )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t.remove( i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cout &lt;&lt; "Printing the values of the nodes in tree .......)"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t.printTree();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int abc;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cin &gt;&gt; i;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return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run the TestBinarySearch program the following output is obtained.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Inserting elements (1 to 30) in the tree .......)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Printing the values of the nodes in tree .......)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0440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9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Removing the even number elements in the tree .......)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Printing the values of the nodes in tree .......)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29 </a:t>
            </a:r>
            <a:endParaRPr lang="ko-KR" altLang="en-US" dirty="0" smtClean="0" sz="1056"/>
          </a:p>
          <a:p>
            <a:pPr marL="0" indent="0" defTabSz="15240" algn="l">
              <a:lnSpc>
                <a:spcPts val="8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17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Reference Variables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Sample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demonstrating the use of const and reference variables in the interface class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binary search tree in the previous lectures, we will now see what these reference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 are and how does internal process go on during the use of reference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Reference Variables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proceeding ahead, there is need to know why the reference variables are used;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what benefits a programmer can get while employing them. We will discuss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 things in detail with the help of examples.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symbol &amp;, used for reference variable has a few different purposes with respect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its occurrence in the code. In C++ programming, we have seen that when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ampersand sign i.e. &amp; appears in front of a variable name, it is the address operator.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the address of the variable in front of which it is written. Thus for example,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variable name,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&amp;x 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the address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general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say that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7379335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9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            &amp;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variablename ;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return the address of the variable. We know that an address can be stored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pointer. To further understand this concept, let’s suppose that there are following lines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our code.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x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int* ptr = &amp;x;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line declares a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the second one declares a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assigns it the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This address of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returned by the &amp;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sign written in front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a pointer variable is initialized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assigning it the address of a variable. This address of the variable is gotten by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&amp; sign with the variable name.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place where &amp; sign can appear is the signature of the function where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appears after the type of the parameter. Consider the insert and remove methods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BinarySearchTree class that were declared as the following.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insert( const EType&amp;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remove( const EType&amp; x );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Notice that the &amp; sign is after the type. Here we define the class and functions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templates. Whenever, we use these methods, the type EType will be replaced with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 data type.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we have designed the BinarySearchTree class to hold the integers only.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means that there are no templates and the class can be defined only for integers.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 insert and remove methods of this class will be as follows.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insert( const int&amp;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remove( const int&amp;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in the function signature, &amp; sign after the type of the parameter indicates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parameter is a reference variable. We can use this &amp; sign with any data type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built- in or user defined, of an argument to show that this is a reference variable.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syntax for the reference variable. Now let’s see why and how we use it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is its advantage? Let’s look at an example that will explain the reference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variable. Suppose we have the following three different functions.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of the first function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written as under.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//Function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intMinus1( int oldVal)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 = oldVal –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oldVal;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function takes an integer as an argument. The local name of this argument is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161030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49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047615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first statement in the body of the function decreases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1 then the next statement returns this value to the calling function.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second function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intMinus2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function takes a pointer to integer as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argument. In the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*oldVal = *oldVal – 2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*oldVal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means the value at the location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to. To get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way is called dereferencing. After experiencing a decrease by 2, this value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remains at the same location i.e.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oldVal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pointing to. Then the pointer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 is returned. This function is defined as follows.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Function 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intMinus2( int* oldVal)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*oldVal = *oldVal – 2;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*oldVal;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third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takes a reference variable as an argument. Its definition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as under.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Function 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intMinus3( int&amp; oldVal)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 = oldVal – 3;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oldVal;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&amp; sign after the type in the signature (declaration line) indicates that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is a reference variable. Notice that &amp; sign is used only in the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declaration, leaving no need for its use in the body of the function. The statements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body of the function decrease the vale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3 and return it to the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see that these three functions have the same return type and their body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performs the task of decreasing the passed value. However it is clear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declaration of these functions that the way of passing argument to these functions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different. We will now see what changes occur while passing the argument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ways. We will write calling functions those call the above three functions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by one. We will see how these calls are made and what differences happen during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process of passing same value (in different ways) to these functions. The use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 stack will help in ascertaining what happens to these local variables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function that calls the first function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286510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6297295"/>
            <a:ext cx="4242435" cy="25114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9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caller()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myInt = 31;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intMinus1( myInt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myInt &lt;&lt;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function (caller), we declare an integer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assign it a value 31.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declare a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intMinus1( myInt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call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passing it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(the value of which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31) and assign the return value of this function call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next statement,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print the value of these two variables.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talking about runtime environment, we noticed that an executable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in run, is loaded in the memory. It later becomes a process. This process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a block of memory, which it uses during its execution. Suppose we are running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many programs simultaneously i.e. browser, MS Word, Excel and dev-C++.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run programs written by us. The figure 17.1 shows that process4 is a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written by us. Every program, which we run takes a block of memory and becomes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process. The memory occupied by a process is further partitioned into different parts.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part of the memory is for the code of the program. This code is in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i.e. it is the compiled code. Afterwards, there is some area of memory for static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that holds static and global variables. Then in the memory, there becomes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This stack is used in function calls. At the end, there is some area, called heap.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allocate memory dynamically by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operator, this memory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allocated from the heap. The following figure shows the internal memory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organization of a program (ourtest.exe). 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(browser)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Static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(Word)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4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(ourtest.exe)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2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(Dev-C++)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Windows Os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</a:t>
            </a:r>
            <a:endParaRPr lang="ko-KR" altLang="en-US" dirty="0" smtClean="0" sz="1056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198 of 519 </a:t>
            </a:r>
            <a:endParaRPr lang="ko-KR" altLang="en-US" dirty="0" smtClean="0" sz="1056"/>
          </a:p>
        </p:txBody>
      </p:sp>
      <p:sp>
        <p:nvSpPr>
          <p:cNvPr id="500" name="Rect 3"/>
          <p:cNvSpPr>
            <a:spLocks noGrp="1" noChangeArrowheads="1"/>
          </p:cNvSpPr>
          <p:nvPr/>
        </p:nvSpPr>
        <p:spPr>
          <a:xfrm rot="0">
            <a:off x="4011295" y="7278370"/>
            <a:ext cx="357505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Stack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242435" cy="3257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28800" y="2831465"/>
            <a:ext cx="2346960" cy="19538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365375" y="4849495"/>
            <a:ext cx="174625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3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627505" y="6940550"/>
            <a:ext cx="2359025" cy="22218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3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041775" y="7348855"/>
            <a:ext cx="147828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3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041775" y="8287385"/>
            <a:ext cx="1679575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3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292225" y="9293225"/>
            <a:ext cx="3691255" cy="3384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0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Internal memory organization of a process (ourtest.exe)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discussed in detail the call stack that is used in function calls. We know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 function call is made, it’s all the arguments go on the stack. The return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of the function also goes to the stack. The local variables are placed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When a function calls some other function, an activation record is made. It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much information including all these things (parameters, return address etc).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detail of activation record relates to the compiler construction course. Here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concerned with only the call stack. Following figure shows the call stack layout.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(caller)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variables(caller)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address (caller)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Parameters (intMinus1)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variables(intMinus1)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grows downwards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17.2: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all stack layout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stack layout figure, there are the entries of the caller in the upper portion.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due to the fact that the caller function itself was called (executed) by some one else.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lower portion of the stack describes the stack status when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called. The stack contains parameters, local variables and return address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 is a stack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points to the top of the stack (the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shows the stack downward; it should not be confused with the top).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 has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this function is on the top of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shows the contents of the stack when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called.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199 of 519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layout when intMinus1 is called  </a:t>
            </a:r>
            <a:endParaRPr lang="ko-KR" altLang="en-US" dirty="0" smtClean="0" sz="1056"/>
          </a:p>
        </p:txBody>
      </p:sp>
      <p:sp>
        <p:nvSpPr>
          <p:cNvPr id="503" name="Rect 3"/>
          <p:cNvSpPr>
            <a:spLocks noGrp="1" noChangeArrowheads="1"/>
          </p:cNvSpPr>
          <p:nvPr/>
        </p:nvSpPr>
        <p:spPr>
          <a:xfrm rot="0">
            <a:off x="4123690" y="7397750"/>
            <a:ext cx="135763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calling function “caller” </a:t>
            </a:r>
            <a:endParaRPr lang="ko-KR" altLang="en-US" dirty="0" smtClean="0" sz="1056"/>
          </a:p>
        </p:txBody>
      </p:sp>
      <p:sp>
        <p:nvSpPr>
          <p:cNvPr id="504" name="Rect 3"/>
          <p:cNvSpPr>
            <a:spLocks noGrp="1" noChangeArrowheads="1"/>
          </p:cNvSpPr>
          <p:nvPr/>
        </p:nvSpPr>
        <p:spPr>
          <a:xfrm rot="0">
            <a:off x="2581910" y="4099560"/>
            <a:ext cx="2433320" cy="43859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dd</a:t>
            </a:r>
            <a:endParaRPr lang="ko-KR" altLang="en-US" dirty="0" smtClean="0" sz="1056"/>
          </a:p>
          <a:p>
            <a:pPr marL="0" indent="0" defTabSz="15240" algn="l">
              <a:lnSpc>
                <a:spcPts val="2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60830" y="7430770"/>
            <a:ext cx="2359025" cy="2225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974465" y="7842250"/>
            <a:ext cx="1478280" cy="2717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974465" y="8781415"/>
            <a:ext cx="1679575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07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225550" y="9662160"/>
            <a:ext cx="3690620" cy="2711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0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 shows the stack in two parts. The first part that is in the upper curly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bracket, shows the contents of the calling function i.e. caller. The lower part shows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contents of the called function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Recall that we declared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 in the caller function. These variables were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also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assigned a value 31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value (31) is in the memory location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When we declared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there was no value assigned to it. So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location contains nothing yet. After it, there is the other stuff of the caller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We have also shown the memory addresses of the locations on the left hand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side. We can see that the memory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1072 while that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1068. Similarly, we see the addresses 1060, 1056 and 1052 further down. We note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addresses are with a difference of four. This is because of the use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 variable, as an integer requires four bytes in the memory for storing. Similarly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variables are also of four bytes. The memory addresses are in 32 bits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four bytes (eight bits make a byte). Generally we start addressing the memory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down. The lowest byte is addressed 0, followed by 1, 2, 3 and so on to upward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direction. If we have larger variables, for example, objects created by our defined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classes, these will require more memory. In that case, the memory chunks will not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four bytes. Rather, it will be equal to the size of the object. In C++, we have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sizeof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which the size of a type or variable, acquired in the memory,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found. There are some machines that do not use byte addressing.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machines use word addressing. Every word is of 48 bits. All these things (memory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addressing etc) relate to computer architecture course.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in the stack, there are the entries of the called function. There is the parameter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called function in the stack. It has the value 31. This is the same value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caller function. As studied earlier, in call by value phenomenon,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arguments (whatever type they have) are sent to a function, a copy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arguments is made before sending. That copy is sent to the called function. The called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uses this copy of the argument. Thus a copy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passed to the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its 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value 31. Now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uses this value (i.e. oldVal) to do its functionality. It makes alternations to this copy.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original value that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does not change. This phenomenon is shown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figure. Here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decreases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 1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30. The original value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remains unchanged.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31    30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layout after subtraction in intMinus1  </a:t>
            </a:r>
            <a:endParaRPr lang="ko-KR" altLang="en-US" dirty="0" smtClean="0" sz="1056"/>
          </a:p>
        </p:txBody>
      </p:sp>
      <p:sp>
        <p:nvSpPr>
          <p:cNvPr id="507" name="Rect 3"/>
          <p:cNvSpPr>
            <a:spLocks noGrp="1" noChangeArrowheads="1"/>
          </p:cNvSpPr>
          <p:nvPr/>
        </p:nvSpPr>
        <p:spPr>
          <a:xfrm rot="0">
            <a:off x="4057015" y="7891145"/>
            <a:ext cx="1356995" cy="1466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calling function “caller” </a:t>
            </a:r>
            <a:endParaRPr lang="ko-KR" altLang="en-US" dirty="0" smtClean="0" sz="1056"/>
          </a:p>
        </p:txBody>
      </p:sp>
      <p:sp>
        <p:nvSpPr>
          <p:cNvPr id="508" name="Rect 3"/>
          <p:cNvSpPr>
            <a:spLocks noGrp="1" noChangeArrowheads="1"/>
          </p:cNvSpPr>
          <p:nvPr/>
        </p:nvSpPr>
        <p:spPr>
          <a:xfrm rot="0">
            <a:off x="3252470" y="7833360"/>
            <a:ext cx="39370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retVal </a:t>
            </a:r>
            <a:endParaRPr lang="ko-KR" altLang="en-US" dirty="0" smtClean="0" sz="1056"/>
          </a:p>
        </p:txBody>
      </p:sp>
      <p:sp>
        <p:nvSpPr>
          <p:cNvPr id="509" name="Rect 3"/>
          <p:cNvSpPr>
            <a:spLocks noGrp="1" noChangeArrowheads="1"/>
          </p:cNvSpPr>
          <p:nvPr/>
        </p:nvSpPr>
        <p:spPr>
          <a:xfrm rot="0">
            <a:off x="2602865" y="7781290"/>
            <a:ext cx="3113405" cy="15487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446520"/>
            <a:ext cx="4773295" cy="9512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60830" y="3602990"/>
            <a:ext cx="2359025" cy="20878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974465" y="4014470"/>
            <a:ext cx="1478280" cy="2679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225550" y="5687695"/>
            <a:ext cx="3690620" cy="2711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1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return call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executed, the control comes back to the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The stuff of the called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popped from the stack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moves up accordingly. In other words, the activation record of the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been removed from the stack.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(value of which is 30 now)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returned to the caller function. We have written in the code that this value is assigned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So in the call stack layout, the memory location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30. The figure 17.5 shows the stack layout after return from the called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intMinus1.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layout after return from intMinus1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call by value phenomenon of function calling, we can pass a literal or even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expression. Thus in the previous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caller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could have called the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follows.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caller()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intMinus1( 31 ); // a literal is passed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did not put the value 31 in an integer variable. Rather, it was directly passed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an argument in the function call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intMinus1 (31)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are not passing a variable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it was in the previous code of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caller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calling statement also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written as under: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intMinus1( 30 + 1 );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statement, first the expression 30 + 1 is evaluated and then the copy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 goes to the call stack as a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called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201 of 519 </a:t>
            </a:r>
            <a:endParaRPr lang="ko-KR" altLang="en-US" dirty="0" smtClean="0" sz="1056"/>
          </a:p>
        </p:txBody>
      </p:sp>
      <p:sp>
        <p:nvSpPr>
          <p:cNvPr id="512" name="Rect 3"/>
          <p:cNvSpPr>
            <a:spLocks noGrp="1" noChangeArrowheads="1"/>
          </p:cNvSpPr>
          <p:nvPr/>
        </p:nvSpPr>
        <p:spPr>
          <a:xfrm rot="0">
            <a:off x="4057015" y="4060190"/>
            <a:ext cx="135699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calling function “caller” </a:t>
            </a:r>
            <a:endParaRPr lang="ko-KR" altLang="en-US" dirty="0" smtClean="0" sz="1056"/>
          </a:p>
        </p:txBody>
      </p:sp>
      <p:sp>
        <p:nvSpPr>
          <p:cNvPr id="513" name="Rect 3"/>
          <p:cNvSpPr>
            <a:spLocks noGrp="1" noChangeArrowheads="1"/>
          </p:cNvSpPr>
          <p:nvPr/>
        </p:nvSpPr>
        <p:spPr>
          <a:xfrm rot="0">
            <a:off x="3252470" y="4004945"/>
            <a:ext cx="39370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retVal </a:t>
            </a:r>
            <a:endParaRPr lang="ko-KR" altLang="en-US" dirty="0" smtClean="0" sz="1056"/>
          </a:p>
        </p:txBody>
      </p:sp>
      <p:sp>
        <p:nvSpPr>
          <p:cNvPr id="514" name="Rect 3"/>
          <p:cNvSpPr>
            <a:spLocks noGrp="1" noChangeArrowheads="1"/>
          </p:cNvSpPr>
          <p:nvPr/>
        </p:nvSpPr>
        <p:spPr>
          <a:xfrm rot="0">
            <a:off x="2566670" y="3953510"/>
            <a:ext cx="19304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30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536190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694815" y="6236335"/>
            <a:ext cx="2359025" cy="2225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108450" y="6647815"/>
            <a:ext cx="147828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7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108450" y="7586345"/>
            <a:ext cx="1679575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17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359535" y="8592185"/>
            <a:ext cx="3691255" cy="3384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1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calling function (i.e. caller), it was witnessed that the value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passed variable (myInt) remained same when we passed the variable by value.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may be situations where we want to actually change the value of a variable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caller function from within the called function. In such a situation, we send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to the variable (i.e. the address of the variable) as an argument. Look 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code of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caller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code, we call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passing it the address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caller()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myInt = 31;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intMinus2( &amp;myInt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myInt &lt;&lt;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function calling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intMinus2( &amp;myInt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‘&amp;’ sign before the name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means that the address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is being passed. The called function will take it as a pointer. Remember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declared the argument of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int* 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means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function takes a pointer as an argument.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keeping in mind that a pointer is being sent to the function, let’s see what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happening in the call stack. The stack portion which has the stuff of the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caller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same as seen in the call by value process.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value 31 and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written after returning from the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Its stack layout is shown in the figure 17.6 below. </a:t>
            </a:r>
            <a:endParaRPr lang="ko-KR" altLang="en-US" dirty="0" smtClean="0" sz="1056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layout when intMinus2 is called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202 of 519 </a:t>
            </a:r>
            <a:endParaRPr lang="ko-KR" altLang="en-US" dirty="0" smtClean="0" sz="1056"/>
          </a:p>
        </p:txBody>
      </p:sp>
      <p:sp>
        <p:nvSpPr>
          <p:cNvPr id="517" name="Rect 3"/>
          <p:cNvSpPr>
            <a:spLocks noGrp="1" noChangeArrowheads="1"/>
          </p:cNvSpPr>
          <p:nvPr/>
        </p:nvSpPr>
        <p:spPr>
          <a:xfrm rot="0">
            <a:off x="4191000" y="6696710"/>
            <a:ext cx="1357630" cy="1460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calling function “caller” </a:t>
            </a:r>
            <a:endParaRPr lang="ko-KR" altLang="en-US" dirty="0" smtClean="0" sz="1056"/>
          </a:p>
        </p:txBody>
      </p:sp>
      <p:sp>
        <p:nvSpPr>
          <p:cNvPr id="518" name="Rect 3"/>
          <p:cNvSpPr>
            <a:spLocks noGrp="1" noChangeArrowheads="1"/>
          </p:cNvSpPr>
          <p:nvPr/>
        </p:nvSpPr>
        <p:spPr>
          <a:xfrm rot="0">
            <a:off x="3383280" y="6638290"/>
            <a:ext cx="397510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retVal </a:t>
            </a:r>
            <a:endParaRPr lang="ko-KR" altLang="en-US" dirty="0" smtClean="0" sz="1056"/>
          </a:p>
        </p:txBody>
      </p:sp>
      <p:sp>
        <p:nvSpPr>
          <p:cNvPr id="519" name="Rect 3"/>
          <p:cNvSpPr>
            <a:spLocks noGrp="1" noChangeArrowheads="1"/>
          </p:cNvSpPr>
          <p:nvPr/>
        </p:nvSpPr>
        <p:spPr>
          <a:xfrm rot="0">
            <a:off x="2736850" y="6586855"/>
            <a:ext cx="2345055" cy="11944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60830" y="3660775"/>
            <a:ext cx="1609090" cy="19538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169920" y="3724910"/>
            <a:ext cx="749935" cy="18256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96770" y="5611495"/>
            <a:ext cx="1411605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974465" y="4069080"/>
            <a:ext cx="147828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974465" y="5007610"/>
            <a:ext cx="1679575" cy="2717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225550" y="6013450"/>
            <a:ext cx="3690620" cy="3384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694815" y="6995160"/>
            <a:ext cx="2359025" cy="2225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4108450" y="7406640"/>
            <a:ext cx="147828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2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359535" y="9351010"/>
            <a:ext cx="3691255" cy="3384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stuff of the called function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intMinus2,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memory location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holds the value 1072. We can see on the left side of the stack in the figure above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1072 is the address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Look at the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*oldVal = *oldVal – 2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*oldVal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can be expressed as ‘the value at the memory address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In the stack layout, we see that the memory address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1072.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stored at the address 1072 is 31. The following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*oldVal = *oldVal – 2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decreases this value 2 and thus brings the value at the memory address 1072 down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29. As 1072 is the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thus actually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changed.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of stack layout depicts this process.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31   29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17.7: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layout after  *oldVal = *oldVal – 2;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when the execution of the called function ends after returning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*oldVal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activation record of this function is removed from the stack. The pointer of the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up. The value 29 is put 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calling function.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stack layout after return from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31    29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203 of 519 </a:t>
            </a:r>
            <a:endParaRPr lang="ko-KR" altLang="en-US" dirty="0" smtClean="0" sz="1056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17.8: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after return from intMinus2  </a:t>
            </a:r>
            <a:endParaRPr lang="ko-KR" altLang="en-US" dirty="0" smtClean="0" sz="1056"/>
          </a:p>
        </p:txBody>
      </p:sp>
      <p:sp>
        <p:nvSpPr>
          <p:cNvPr id="522" name="Rect 3"/>
          <p:cNvSpPr>
            <a:spLocks noGrp="1" noChangeArrowheads="1"/>
          </p:cNvSpPr>
          <p:nvPr/>
        </p:nvSpPr>
        <p:spPr>
          <a:xfrm rot="0">
            <a:off x="4057015" y="4117975"/>
            <a:ext cx="1491615" cy="34836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calling function “caller” </a:t>
            </a:r>
            <a:endParaRPr lang="ko-KR" altLang="en-US" dirty="0" smtClean="0" sz="1056"/>
          </a:p>
          <a:p>
            <a:pPr marL="0" indent="0" defTabSz="15240" algn="l">
              <a:lnSpc>
                <a:spcPts val="2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function “caller” </a:t>
            </a:r>
            <a:endParaRPr lang="ko-KR" altLang="en-US" dirty="0" smtClean="0" sz="1056"/>
          </a:p>
        </p:txBody>
      </p:sp>
      <p:sp>
        <p:nvSpPr>
          <p:cNvPr id="523" name="Rect 3"/>
          <p:cNvSpPr>
            <a:spLocks noGrp="1" noChangeArrowheads="1"/>
          </p:cNvSpPr>
          <p:nvPr/>
        </p:nvSpPr>
        <p:spPr>
          <a:xfrm rot="0">
            <a:off x="3252470" y="4062730"/>
            <a:ext cx="528320" cy="3484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retVal </a:t>
            </a:r>
            <a:endParaRPr lang="ko-KR" altLang="en-US" dirty="0" smtClean="0" sz="1056"/>
          </a:p>
          <a:p>
            <a:pPr marL="0" indent="0" defTabSz="15240" algn="l">
              <a:lnSpc>
                <a:spcPts val="2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</a:t>
            </a:r>
            <a:endParaRPr lang="ko-KR" altLang="en-US" dirty="0" smtClean="0" sz="1056"/>
          </a:p>
        </p:txBody>
      </p:sp>
      <p:sp>
        <p:nvSpPr>
          <p:cNvPr id="524" name="Rect 3"/>
          <p:cNvSpPr>
            <a:spLocks noGrp="1" noChangeArrowheads="1"/>
          </p:cNvSpPr>
          <p:nvPr/>
        </p:nvSpPr>
        <p:spPr>
          <a:xfrm rot="0">
            <a:off x="2602865" y="4011295"/>
            <a:ext cx="2345055" cy="34836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6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446520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Notice that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caller function has also been changed.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that in call by value a copy of the argument is passed and used by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function. In this method, the original value of the argument in the 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remains unchanged. In the other method, we saw that when we pass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of the variable, the pointer is used to manipulate the variable data.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case, the original value of the variable in the calling function is changed. Suppose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a function to change an object (variable/argument) but don’t want to send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copy of the object to the function. The reason of not sending a copy is that the object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large (as we have seen the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bank simulation example)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making a copy of it costs time and memory space. Say, the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of 500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bytes. Now when a calling function will call a function using call by value method,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copy of this object will be made on the call stack same as in our previous example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copy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was made. The copy constructor will make a copy of this whole object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costs time. Moreover, the copy of this object will take 500 bytes on the stack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 lot of memory consuming. There will be as many copies as the number of calls.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a large number of calls, there may be inefficient memory as call stack has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limited memory. So we do not use call by value methodology. Furthermore, we want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avoid the massive syntax of pointers. For this purpose, we do not use pointers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calling. Now the question arises is there any way through which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fulfill our requirement.  (i.e. we don’t want to make a copy and want to change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objective without using the pointers ). The use of reference variables may be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suitable answer to this very ticklish situation. The phenomenon of function calls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variables is termed as call by reference. Following is the code of the caller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that involves call by reference.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caller()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myInt = 31;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intMinus3( myInt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myInt &lt;&lt;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this is almost the same function, we wrote at first to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 difference is that here we are calling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instead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intMinus1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did not use &amp; sign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used in the call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 due to the fact that we are not sending an address. It is pertinent to note that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definition of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have used &amp; sign with the argument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variable. We have written it as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intMinus3( int&amp; oldVal)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27505" y="3867785"/>
            <a:ext cx="2359025" cy="1957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164080" y="5821680"/>
            <a:ext cx="141097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041775" y="4279265"/>
            <a:ext cx="1478280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041775" y="5218430"/>
            <a:ext cx="1679575" cy="2711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92225" y="6224270"/>
            <a:ext cx="3691255" cy="3378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560830" y="8192770"/>
            <a:ext cx="1877060" cy="1957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3437890" y="8256905"/>
            <a:ext cx="749935" cy="18351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4243070" y="8604250"/>
            <a:ext cx="1478280" cy="2717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29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4243070" y="9543415"/>
            <a:ext cx="1678940" cy="2711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2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statement means that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intMinus3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will take a reference as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argument. In other words, a reference of the argument variable will be passed to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Thus the idea of reference variable is that an object will be used exactly as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exists in the caller function. The called function simply accesses it through a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i.e. other than the name in the caller function. Here in our example, the called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accesses (and uses) the passed argument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the name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cannot use the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it is in the caller’s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scope. Now the both variable names (myInt and oldVal) refer to the same object.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the same memory cell where the object lies. We have read the scope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 that the local variables can be used only by the function in which they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declared. The other functions cannot use the local variables of a function. But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variables, we can access the memory location of a local variable in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by using another name. Thus in our example, we access the local variable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(actually the memory location) of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caller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other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the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following figure explains this phenomenon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variables with the help of call stack layout.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stack grows downward </a:t>
            </a:r>
            <a:endParaRPr lang="ko-KR" altLang="en-US" dirty="0" smtClean="0" sz="88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17.9: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call stack when intMinus3 is called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caller function part of the stack contains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retVal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other stuff of the caller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In the stack part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shows that it has nothing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portion but it is the other name of the memory location 1072, named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 function. The dotted arrow shows this.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following figure 17.10, we show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along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myInt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location. Here we want to show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oldVal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called function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myInt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caller function are the two names of the same memory location. 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  OldVal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     1072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  1068 </a:t>
            </a:r>
            <a:endParaRPr lang="ko-KR" altLang="en-US" dirty="0" smtClean="0" sz="702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callers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stuff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205 of 519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  1060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  1056 </a:t>
            </a:r>
            <a:endParaRPr lang="ko-KR" altLang="en-US" dirty="0" smtClean="0" sz="702"/>
          </a:p>
        </p:txBody>
      </p:sp>
      <p:sp>
        <p:nvSpPr>
          <p:cNvPr id="529" name="Rect 3"/>
          <p:cNvSpPr>
            <a:spLocks noGrp="1" noChangeArrowheads="1"/>
          </p:cNvSpPr>
          <p:nvPr/>
        </p:nvSpPr>
        <p:spPr>
          <a:xfrm rot="0">
            <a:off x="4121150" y="4328160"/>
            <a:ext cx="1561465" cy="44716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calling function “caller” </a:t>
            </a:r>
            <a:endParaRPr lang="ko-KR" altLang="en-US" dirty="0" smtClean="0" sz="1056"/>
          </a:p>
          <a:p>
            <a:pPr marL="0" indent="0" defTabSz="15240" algn="l">
              <a:lnSpc>
                <a:spcPts val="3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function “caller” </a:t>
            </a:r>
            <a:endParaRPr lang="ko-KR" altLang="en-US" dirty="0" smtClean="0" sz="1056"/>
          </a:p>
        </p:txBody>
      </p:sp>
      <p:sp>
        <p:nvSpPr>
          <p:cNvPr id="530" name="Rect 3"/>
          <p:cNvSpPr>
            <a:spLocks noGrp="1" noChangeArrowheads="1"/>
          </p:cNvSpPr>
          <p:nvPr/>
        </p:nvSpPr>
        <p:spPr>
          <a:xfrm rot="0">
            <a:off x="3315970" y="4270375"/>
            <a:ext cx="598805" cy="44742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retVal </a:t>
            </a:r>
            <a:endParaRPr lang="ko-KR" altLang="en-US" dirty="0" smtClean="0" sz="1056"/>
          </a:p>
          <a:p>
            <a:pPr marL="0" indent="0" defTabSz="15240" algn="l">
              <a:lnSpc>
                <a:spcPts val="3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</a:t>
            </a:r>
            <a:endParaRPr lang="ko-KR" altLang="en-US" dirty="0" smtClean="0" sz="1056"/>
          </a:p>
        </p:txBody>
      </p:sp>
      <p:sp>
        <p:nvSpPr>
          <p:cNvPr id="531" name="Rect 3"/>
          <p:cNvSpPr>
            <a:spLocks noGrp="1" noChangeArrowheads="1"/>
          </p:cNvSpPr>
          <p:nvPr/>
        </p:nvSpPr>
        <p:spPr>
          <a:xfrm rot="0">
            <a:off x="2670175" y="4221480"/>
            <a:ext cx="3219450" cy="5516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 “intMinus3” </a:t>
            </a:r>
            <a:endParaRPr lang="ko-KR" altLang="en-US" dirty="0" smtClean="0" sz="1056"/>
          </a:p>
          <a:p>
            <a:pPr marL="0" indent="0" defTabSz="15240" algn="l">
              <a:lnSpc>
                <a:spcPts val="2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7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function “intMinus3”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35990" y="7372985"/>
            <a:ext cx="6147435" cy="26854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3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661670" y="3925570"/>
            <a:ext cx="5991860" cy="7772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3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661670" y="4983480"/>
            <a:ext cx="5610860" cy="21672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when the body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intMinus3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executes the statement i.e.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 = oldVal – 3 ;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913630"/>
            <a:ext cx="4773295" cy="39192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phenomenon of call by reference is actually implemented by the compiler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pointers. The obtaining of address and de-referencing will be done behind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scene. We have no concern to do this. For a programmer, it is simply a renaming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abstraction, in which we rename the argument variable of the caller function and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in the called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Sample Program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program, which demonstrate the above three function calls that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in the previous example. We define the three functions intMinus1,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intMinus2 and intMinus3. These functions accept the argument as value, pointer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variable respectively.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endl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puts a new line and is used in the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output clarity. Here is the code of the program followed by the output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/*This program demonstrate tha how the value in a caller function is effected when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passed to a function by using call by value, by using pointers and by using call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methods.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*/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&lt;iostream.h&gt;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//Function 1, call by value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intMinus1( int oldVal)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 = oldVal –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oldVal;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Function 2, call by using pointers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intMinus2( int* oldVal)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*oldVal = *oldVal – 2;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*oldVal;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Function 3, call by reference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57943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3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7860665"/>
            <a:ext cx="4773295" cy="9480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intMinus3( int&amp; oldVal)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oldVal = oldVal – 3;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oldVal;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main ()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myInt = 31;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retVal;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intMinus1( myInt );  //call by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“After returning from the called function intMinus1” &lt;&lt; endl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”The value returned by the called function (retVal) is   :  ” &lt;&lt; retVal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endl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”The value of the calling function’s variable (myInt) is :  ” &lt;&lt; myInt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endl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now pass the argument by using pointer, also initialize the value of myInt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= 31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intMinus2( &amp;myInt );  /call by passing a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“After returning from the called function intMinus2”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”The value returned by the called function (retVal) is   :  ” &lt;&lt; retVal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cout &lt;&lt; ”The value of the calling function’s variable (myInt) is :  ” &lt;&lt; myInt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endl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now pass the argument by as reference, also initialize the value of myInt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myInt = 31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retVal = intMinus3( myInt );  //call by passing a reference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“After returning from the called function intMinus3”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”The value returned by the called function (retVal) is   :  ” &lt;&lt; retVal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cout &lt;&lt; ”The value of the calling function’s variable (myInt) is :  ” &lt;&lt; myInt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output of the program.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returning from the called function intMinus1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returned by the called function (retVal) is   :  30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of the calling function's variable (myInt) is :  31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returning from the called function intMinus2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returned by the called function (retVal) is   :  29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924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of the calling function's variable (myInt) is :  29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returning from the called function intMinus3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returned by the called function (retVal) is   :  28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of the calling function's variable (myInt) is :  28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see from the output of the program how the passed variable of the caller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is affected by these different ways of function calling. Note that the values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variables used are the same as we have discussed with the help of call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layout. </a:t>
            </a:r>
            <a:endParaRPr lang="ko-KR" altLang="en-US" dirty="0" smtClean="0" sz="1056"/>
          </a:p>
          <a:p>
            <a:pPr marL="0" indent="0" defTabSz="15240" algn="l">
              <a:lnSpc>
                <a:spcPts val="1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18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4.3.3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Variables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Tips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Reference Variables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last lecture we were discussing about reference variables, we saw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examples; call by value, call by reference and call by pointer. We saw the use of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a function is called by value, by reference or by pointer. The arguments passed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function and local variables are pushed on to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one important point to note that in this course, we are using C/C++ but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usage of stack is similar in most of the computer languages like FORTRAN and Java 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syntax we are using here is C++ specific, like we are sending a parameter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&amp;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sign. In Java, the native data types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float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passed by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objects are passed by reference. In FORTRAN, every parameter is passed by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209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reference. In PASCAL, you can pass a parameter by value or by reference like C++.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have heard of ALGOL, this language had provided another way of passing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call by 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kinds of topics are covered in subjects like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Study of Computer Languages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Compiler’s Theory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recommended while you are doing your degree, you study other computer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languages and compare them from different aspects. Java is quite popular now a day,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quite similar in syntax to C++. May be as a next language, you can study that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 its different aspects with C/C++. The concepts like how a program is loaded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memory to become a process, how the functions are called and the role of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etc are similar in all major languages.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discussed when the variables are passed by reference then behind the scene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goes on inside the stack. There are few important things to take care of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reference variables: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should be careful about transient objects that are stored by reference in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the local variables of a function are created on call stack. Those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 are created inside the function, remains in memory until the control is inside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 and destroyed when the function exits. Activation record comprise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call parameters, return address and local variables. The activation record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remains inside stack until the function is executing and it is destroyed once the control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returned from the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following code that stores and retrieves objects in a queue: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loadCustomer( Queue &amp;   q)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   c1(“irfan”);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   c2(“sohail”);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q.enqueue( c1 );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q.enqueue( c2 );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given is a small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 Queue &amp;)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accepts a parameter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type Queue by reference. Inside the function body, firstly, we are creating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c2 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both are initialized to string values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irfan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sohail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Then we queue up these objects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and finally the function returns.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the objects created inside the above function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local variables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created on stack, therefore, objects are also created on stack, no matter how big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size of the data members of the object.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Bank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example, in previous lecture,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saw that for each customer we have the name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characters maximum), arrival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(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type,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 4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bytes), transaction time (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type)and departure time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type)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customer. So the size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bytes.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on stack and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bytes occupied. It is important to mention here that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referring each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bytes of allocation with the name of the object. The allocated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44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bytes are bound with the name of the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Another significant point here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accepts the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reference. See the code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serviceCustomer()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which is executed after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serviceCustomer( Queue &amp;   q)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   c   =   q.dequeue();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cout   &lt;&lt;   c.getName()   &lt;&lt;   endl;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serviceCustomer(Queue &amp;)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also accepts one parameter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reference. In the first statement, it is taking out one element from the queue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assigning to newly created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Before assignment of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(c1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it  was inserted first), the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constructed by calling the default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(parameter less) constructor. In the next statement,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c.getName()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call is to get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of the customer and then to print it. What do you think about it? Will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be printed or not? Do you see any problem in its execution? In short,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will not work.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see the problem in this statement, we have to understand the mechanism; where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object was created, what was pushed on the stack, when the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returned and what had happened to the objects pushed on to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objects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were created locally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they were created on stack. After creating the objects, we had added their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addresses, not the objects themselves in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the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loadCustomer()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returned, the local objects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were destroyed but their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addresses were there in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some time,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serviceCustomer()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address of the object is retrieved from the queue and assigned to another newly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local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but when we wanted to call a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getName()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object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its retrieved address, we encountered the 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shows that this is true that use of reference alleviate the burden of copying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but storing of references of transient objects can create problems because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transient object (object created on stack) is destroyed when the function execution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finishes.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question arises, what can we do, if we do not want the objects created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to be destroyed. The answer to this is dynamic memory allocation.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 or objects created in a function that we want to access later are created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heap (sometimes called free store) using the dynamic memory allocation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functions or operators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Heap is an area in computer memory that is allocated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dynamically. You should remember that all the objects created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be explicitly destroyed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modified code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function, where the objects created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function are not transient, means they are created on heap to be used later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 outside the body of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loadCustomer( Queue &amp;   q)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 *   c1   =   new   Customer(“irfan”);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 *   c2   =   new   Customer(“sohail”);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q.enqueue( c1 ); // enqueue takes pointers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q.enqueue( c2 );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27505" y="4700270"/>
            <a:ext cx="3032760" cy="21913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4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179320" y="6961505"/>
            <a:ext cx="2255520" cy="3232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time, we are creating the same two objects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operator and assigning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starting addresses of those objects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pointers. Nameless objects (objects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accessed by pointers) are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anonymous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pointers to the objects not the actual objects themselves, as it was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previously. These starting addresses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objects are then queued using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As the objects lie on the heap, so there will not be any problem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objects will be accessible after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bit tricky point to understand here. Although, the objects are created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but the pointer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created on stack and they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definitely destroyed after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activation record is destroyed.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Importantly, you should understand the difference between the pointer variables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actual objects created on heap. The pointer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were just used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the starting addresses of the objects inside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once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is returned the pointer variables will not be there. But as the starting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addresses of the objects are put in the queue, they will be available to use later after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retrieving them from queue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dequeue()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operation. These dynamic objects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live in memory (one heap) unless explicitly deleted.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way, there is another heap, heap data structure that we are going to cover later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course.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moment, see the layout of computer memory and heap as we previously saw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course. Heap is an area in memory given to a process from operating system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process does dynamic memory allocation.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(Browser)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Static Data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(Word)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(Excel)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(Dev-C++)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Windows OS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18.1: Memory Organization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the left of the picture, we can see different processes in the computer memory.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zoomed into the one of the processes, we saw the picture on the right.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there is a section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then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static data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Stack grows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downward section. You can see the heap section given at the end, which grows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upward. An interesting question arises here is that why the stack grows downward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heap in the upward direction. Think about an endless recursive call of a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itself. For every invocation, there will be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activation record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stack.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keeps on growing and growing even it overwrites the heap section. One the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212 of 519 </a:t>
            </a:r>
            <a:endParaRPr lang="ko-KR" altLang="en-US" dirty="0" smtClean="0" sz="1056"/>
          </a:p>
        </p:txBody>
      </p:sp>
      <p:sp>
        <p:nvSpPr>
          <p:cNvPr id="546" name="Rect 3"/>
          <p:cNvSpPr>
            <a:spLocks noGrp="1" noChangeArrowheads="1"/>
          </p:cNvSpPr>
          <p:nvPr/>
        </p:nvSpPr>
        <p:spPr>
          <a:xfrm rot="0">
            <a:off x="4041775" y="5056505"/>
            <a:ext cx="357505" cy="15151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Stack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0"/>
            <a:ext cx="585471" cy="585471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4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87880" y="4590415"/>
            <a:ext cx="2853055" cy="36576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4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76730" y="8296910"/>
            <a:ext cx="3529965" cy="3225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hand, if your program is performing dynamic memory allocation endlessly,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grows in the upward direction such that it overwrites the stack section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destroys it.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have already understood the idea that if a process has some destructive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then it will not harm any other process, only its own destruction is caused.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way, lot of viruses exploit the stack overflow to change the memory contents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cause further destruction to the system.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that we allocate an array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 dynamically.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each object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bytes, therefore, the size of memory allocated on heap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4400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bytes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44 * 100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To explain the allocation mechanism on stack and heap,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figure below where the objects are created dynamically. </a:t>
            </a:r>
            <a:endParaRPr lang="ko-KR" altLang="en-US" dirty="0" smtClean="0" sz="1056"/>
          </a:p>
          <a:p>
            <a:pPr marL="0" indent="0" defTabSz="15240" algn="l">
              <a:lnSpc>
                <a:spcPts val="1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heap grows upwards </a:t>
            </a:r>
            <a:endParaRPr lang="ko-KR" altLang="en-US" dirty="0" smtClean="0" sz="1056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</a:t>
            </a:r>
            <a:endParaRPr lang="ko-KR" altLang="en-US" dirty="0" smtClean="0" sz="1056" b="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688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FFFFFF"/>
                </a:solidFill>
                <a:latin typeface="Times New Roman"/>
                <a:ea typeface="Times New Roman"/>
              </a:rPr>
              <a:t>sohail</a:t>
            </a:r>
            <a:endParaRPr lang="ko-KR" altLang="en-US" dirty="0" smtClean="0" sz="1056" b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644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FFFFFF"/>
                </a:solidFill>
                <a:latin typeface="Times New Roman"/>
                <a:ea typeface="Times New Roman"/>
              </a:rPr>
              <a:t>irfan</a:t>
            </a:r>
            <a:endParaRPr lang="ko-KR" altLang="en-US" dirty="0" smtClean="0" sz="1056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600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18.2: Heap layout during call to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loadCustomer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213 of 519 </a:t>
            </a:r>
            <a:endParaRPr lang="ko-KR" altLang="en-US" dirty="0" smtClean="0" sz="1056"/>
          </a:p>
        </p:txBody>
      </p:sp>
      <p:sp>
        <p:nvSpPr>
          <p:cNvPr id="549" name="Rect 3"/>
          <p:cNvSpPr>
            <a:spLocks noGrp="1" noChangeArrowheads="1"/>
          </p:cNvSpPr>
          <p:nvPr/>
        </p:nvSpPr>
        <p:spPr>
          <a:xfrm rot="0">
            <a:off x="4270375" y="5574665"/>
            <a:ext cx="1539875" cy="1767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</a:t>
            </a:r>
            <a:endParaRPr lang="ko-KR" altLang="en-US" dirty="0" smtClean="0" sz="1056" b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Customer(“sohail”) </a:t>
            </a:r>
            <a:r>
              <a:rPr lang="en-US" altLang="ko-KR" dirty="0" smtClean="0" sz="1056" b="1">
                <a:solidFill>
                  <a:srgbClr val="000000"/>
                </a:solidFill>
                <a:latin typeface="Courier New"/>
                <a:ea typeface="Courier New"/>
              </a:rPr>
              <a:t>-&gt;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c2 </a:t>
            </a:r>
            <a:endParaRPr lang="ko-KR" altLang="en-US" dirty="0" smtClean="0" sz="1056" b="1"/>
          </a:p>
          <a:p>
            <a:pPr marL="0" indent="0" defTabSz="15240"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Customer(“irfan”) -&gt; c1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84375" y="4276090"/>
            <a:ext cx="2145665" cy="31521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151630" y="4276090"/>
            <a:ext cx="185420" cy="31546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54150" y="7668895"/>
            <a:ext cx="4187825" cy="3232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objects are shown in this figure by using the names of the customers inside them.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Actually, there are three more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variables inside each object. You can see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object with string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irfan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from memory address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643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object with name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name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sohail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from address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644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687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when these objects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in the queue, only their starting addresses are inserted as shown in the below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figure. </a:t>
            </a:r>
            <a:endParaRPr lang="ko-KR" altLang="en-US" dirty="0" smtClean="0" sz="1056"/>
          </a:p>
          <a:p>
            <a:pPr marL="0" indent="0" defTabSz="15240" algn="l">
              <a:lnSpc>
                <a:spcPts val="2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1072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644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</a:t>
            </a:r>
            <a:endParaRPr lang="ko-KR" altLang="en-US" dirty="0" smtClean="0" sz="1056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. </a:t>
            </a:r>
            <a:endParaRPr lang="ko-KR" altLang="en-US" dirty="0" smtClean="0" sz="1230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. </a:t>
            </a:r>
            <a:endParaRPr lang="ko-KR" altLang="en-US" dirty="0" smtClean="0" sz="1230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. </a:t>
            </a:r>
            <a:endParaRPr lang="ko-KR" altLang="en-US" dirty="0" smtClean="0" sz="1230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.</a:t>
            </a:r>
            <a:endParaRPr lang="ko-KR" altLang="en-US" dirty="0" smtClean="0" sz="1230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1060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1052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stack grows downwards </a:t>
            </a:r>
            <a:endParaRPr lang="ko-KR" altLang="en-US" dirty="0" smtClean="0" sz="1056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18.3: Stack layout when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q.enqueue(2)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 called from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loadCustomer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being executed. It is containing two pointers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c2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the addresses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643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respectively.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enqueue(elt)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called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parameter values (which actually are addresses)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600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643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inserted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queue.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214 of 519 </a:t>
            </a:r>
            <a:endParaRPr lang="ko-KR" altLang="en-US" dirty="0" smtClean="0" sz="1056"/>
          </a:p>
        </p:txBody>
      </p:sp>
      <p:sp>
        <p:nvSpPr>
          <p:cNvPr id="552" name="Rect 3"/>
          <p:cNvSpPr>
            <a:spLocks noGrp="1" noChangeArrowheads="1"/>
          </p:cNvSpPr>
          <p:nvPr/>
        </p:nvSpPr>
        <p:spPr>
          <a:xfrm rot="0">
            <a:off x="3520440" y="4788535"/>
            <a:ext cx="1689735" cy="3441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c</a:t>
            </a:r>
            <a:endParaRPr lang="ko-KR" altLang="en-US" dirty="0" smtClean="0" sz="1056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loadCustome</a:t>
            </a:r>
            <a:endParaRPr lang="ko-KR" altLang="en-US" dirty="0" smtClean="0" sz="1056" b="1"/>
          </a:p>
        </p:txBody>
      </p:sp>
      <p:sp>
        <p:nvSpPr>
          <p:cNvPr id="553" name="Rect 3"/>
          <p:cNvSpPr>
            <a:spLocks noGrp="1" noChangeArrowheads="1"/>
          </p:cNvSpPr>
          <p:nvPr/>
        </p:nvSpPr>
        <p:spPr>
          <a:xfrm rot="0">
            <a:off x="2453640" y="4873625"/>
            <a:ext cx="2482215" cy="19475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600 </a:t>
            </a:r>
            <a:endParaRPr lang="ko-KR" altLang="en-US" dirty="0" smtClean="0" sz="1056"/>
          </a:p>
          <a:p>
            <a:pPr marL="0" indent="0" defTabSz="15240" algn="l">
              <a:lnSpc>
                <a:spcPts val="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(644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(elt</a:t>
            </a:r>
            <a:endParaRPr lang="ko-KR" altLang="en-US" dirty="0" smtClean="0" sz="1056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enqueue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the objects have been allocated on heap, therefore, there will no issue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them. The pointer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we used to store addresses,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destroyed. But the queue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 passed by reference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loadCustomer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and it is containing the starting addresses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objects. Those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valid addresses of valid objects, so they can used in the program later to access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objects. See the function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  serviceCustomer( Queue &amp;   q)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Customer* c   =   q.dequeue();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cout   &lt;&lt;  c-&gt;getName()   &lt;&lt;   endl;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delete   c; // the object in heap dies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that we are taking one pointer out of the queue and in the second line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the method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Customer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getName()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c-&gt;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are using -&gt;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because we are taking out pointer from the queue.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should be sure that this method will be executed successfully because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was created dynamically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loadCustomer()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The last statement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 the 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has been used to deallocate the object.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now, we understand that we cannot pass references to transient objects. If we want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use the objects later we create them on heap and keep the address. There is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 to mention here that in case, the object has already been deallocated and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accessing it (calling any of its member), it may the cause the program to crash.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of the object (when object has already been deallocated or released) is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dangling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The 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const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 Keyword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is used for something to be constant. The actual meanings depend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where it occurs but it generally means something is to held constant. There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constant functions, constant variables or parameters etc.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references are pointers internally, actually they are constant pointers. You cannot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any kind of arithmetic manipulation with references that you normally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pointers. You must be remembering when we wrote header file for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class, we had used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many times.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is often used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signatures. The function signature is also called the function prototype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mention the function name, its parameters and return type etc.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are some common uses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						The const keyword appears before a function parameter. E.g., in a chess program: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  movePiece(const    Piece &amp;   currentPiece)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movePiece()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above is passed one parameter, which is passed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reference. By writing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are saying that parameter must remain constant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life of the function. If we try to change value, for example, the parameter appears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side of the assignment, the compiler will generate an error. This also means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if the parameter is passed to another function, that function must not change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either.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reference parameters is very common. This is puzzling; why are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passing something by reference and then make it constant, i.e., don’t change it?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Doesn’t passing by reference mean we		want to change it?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Think about it, consult your C++ book and from the internet. We will discuss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answer in the next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5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Tips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The arithmetic operations we perform on pointers, cannot be performed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references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Reference variables must be declared and initialized in one statement.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To avoid dangling reference, don’t return the reference of a local variable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(transient) from a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In functions that return reference, return global, static or dynamically allocated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The reference data types are used as ordinary variables without any dereference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operator. We normally use arrow operator (-&gt;) with pointers.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 cannot be assigned any other value.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If an object is declared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a function then any further functions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this function cannot change the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</a:t>
            </a:r>
            <a:endParaRPr lang="ko-KR" altLang="en-US" dirty="0" smtClean="0" sz="1056"/>
          </a:p>
          <a:p>
            <a:pPr marL="0" indent="0" defTabSz="15240" algn="l">
              <a:lnSpc>
                <a:spcPts val="4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19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4.4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Usage of const keyword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Degenerate Binary Search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881">
                <a:solidFill>
                  <a:srgbClr val="000000"/>
                </a:solidFill>
                <a:latin typeface="Arial"/>
              </a:rPr>
              <a:t>AVL tree</a:t>
            </a:r>
            <a:endParaRPr lang="ko-KR" altLang="en-US" dirty="0" smtClean="0" sz="88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Usage of const keyword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dealt with a puzzle of constant keyword. We send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 to a function by using call by reference and put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it. With the help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reference variable, a function can change the value of the variable. But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time, we have used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so that it does not effect this change.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reference parameter, we need not to make the copy of the object to send it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calling function. In case of call by value, a copy of object is made and placed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time of function calling in the activation record. Here the copy constructor is used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make a copy of the object. If we don’t want the function to change the parameter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without going for the use of time, memory creating and storing an entire copy of,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advisable to use the reference parameter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By using the references, we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making the copy. Moreover,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keyword, the function cannot change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object. The calling function has read only access to this object. It can use this object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computation but can not change it. As we have marked it as constant,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cannot alter it, even by mistake. The language is supportive in averting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mistakes.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another use of keyword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keyword appears at the end of class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member’s function signature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EType&amp; findMin( ) const;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is used to find the minimum data value in the binary tree. As you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noted in the method signature, we had written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at the end. Such a function cannot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or write to member variables of that class. Member variables are those which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appear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public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private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part of the class. For example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BinaryTree,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as a member variable. Also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item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in the node class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 variable. These are also called state variables of the class. When we create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from the factory, it has these member variables and the methods of this class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manipulate the member variables. You will also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get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methods,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generally employed to set and get the values of the member variables. The member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can access and change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public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member variables of a class.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Suppose, we want that a member function can access the member variable but cannot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it. It means that we want to make the variables read only for that member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To impose that constraint on the member function, a programmer can put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keyword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end of the function. This is the way in the C++ language.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languages, there may be alternative methods to carry out it. These features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available in other object oriented languages. This type of usage often appears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functions that are supposed to read and return member variables.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Customer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we have used a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getName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that returns the name of the customer.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 function just returns the value of member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private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member. This function does not need to change the value of the variable.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written a class and its functions. Why we are imposing such restrictions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it? This is the question of discipline. As a programmer when we write programs,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 there are unintentional mistakes. On viewing the code, it seems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unbelievable that we have written like this. If these codes contain mistakes, the user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get errors. At that time, it was thought that we have imposed restrictions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and can avoid such mistakes at compile time or runtime. The discipline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programming is a must practice in the software engineering. We should not think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programs are error-free. Therefore, the programming languages help in averting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common errors. One of the examples of such support is the use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keyword.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another use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keyword appears at the beginning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type in function signature: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 EType&amp; findMin( ) const;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return type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findMin()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function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ETyper&amp;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means a reference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returned. At the start of the return type,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keyword. How is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 internally? There are two ways to achieve this. Firstly, the function puts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in a register that is taken by the caller. Secondly, the function puts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stack that is a part of activation record and the caller functions gets the value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point from the stack and use it. In the above example, we have return value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EType&amp;.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Can a function return a reference of its local variable? When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ends, the local variables are destroyed. So returning the reference of local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is a programming mistake. Therefore, a function returns the reference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member variable of the class. By not writing the &amp; with the return type,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 returning the value of the variable. In this case, a copy of the returning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is made and returned. The copy constructor is also used here to create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copy of the object. When we are returning by value, a copy is created to ascertain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whether it is a local variable or member variable. To avoid this, we use return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reference. Now we want that the variable being returned, does not get changed by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function especially if it is the member variable.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create an object from the factory, the member variable has some values.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not want that the user of this object has direct access to these member variables. 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get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methods are used to obtain and change the value of these member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variables. This is a programming practice that the values of the object should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changed while using these methods. This way, we have a clean interface. These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219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15695" y="5949950"/>
            <a:ext cx="4736465" cy="27368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6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are in a way sending messages to the object like give me the name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customer or change the name of the customer. The presence of a queue object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us send a message to it that gets an object and returns it. In these function-calling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mechanisms, there are chances that we start copying the objects that is a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consuming process. If you want that the function returns the reference of the member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without changing the value of the member variable using this reference,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 is put at the start of the function. It makes the reference as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reference.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value of this member variable cannot be changed while using this reference.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compiler will give error or at the runtime, you will get the error. When we return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object from some function, a copy is created and returned. If the object is very big,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will take time. To avoid this, we return this through the reference. At this point,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has to be very careful. If you do not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with the reference,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 object is not safe and the caller can change the values in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are the common usage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mostly used with the member function.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just due to the fact that we avoid creating copy of the object and secondly we get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programming disciplined. When we send a reference to some function or get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from some function, in both cases while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const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guard our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objects. Now these objects cannot be changed. If the user of these objects needs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the object, he should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of the object.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used such methods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BinarySearchTree.h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file. However,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this class has not been discussed so far. We advise you to try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write its code yourself and experiment with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Degenerate Binary Search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tree as shown below: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BST for 14, 15, 4, 9, 7, 18, 3, 5, 16, 20, 17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88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881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88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88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881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1560" y="3298190"/>
            <a:ext cx="4748530" cy="33585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6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tree contains nodes with values as 14, 15, 4, 9, 7, 18, 3, 5, 16, 20, 17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The root node is 14. The right subtree contains the numbers greater than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and the left subtree contains the numbers smaller than 14. This is the property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search tree that at any node, the left subtree contains the numbers smaller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this node and the right subtree contains the numbers greater than this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suppose that we are given data as 3, 4, 5, 7, 9, 14, 15, 16, 17, 18, 20 to create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containing these numbers. Now if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takes the data in the order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above, what will be the shape of our tree? Try to draw a sketch of the tree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initial numbers in your mind. The tree will look like: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BST for 3, 4, 5, 7, 9, 14, 15, 16, 17, 18, 20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923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does not seem to be a binary tree. Rather, it gives a look of a linked list, as there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 from 3 to 4, a link from 4 to 5, a link from 5 to 7. Similarly while traversing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link of the nodes, we reached at the node 20. There is no left child of any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That’s why, it looks like a link list. What is the characteristic of the link list? In link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list, every node has a pointer that points to the next node. While following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pointer, we can go to the next node. The root of this tree is 3. Now we have to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with value 20 in this tree. Remember that it is a tree, not a link list. We will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to search the number 20 in this tree. Now we will start from the root.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is greater than 3, the recursive call to the method find will be made and we come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node i.e. 4. As 20 is greater than 4, so again a recursive call is generated.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will come to 5, then 7, 9 and so on. In the end, we will reach at 20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recursion will stop here.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search the above tree through the method in which we started from 3,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4, 5 and so on, this will be the same technique as adopted in the link list. How much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it will take to find the number? We have seen in the link list that if the number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searched is at the last node, a programmer will have to traverse all the nodes.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in case of nodes having strength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loop will execute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times.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as shown in the above tree, our find method will be called recursively equal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number of nodes in the tree. We have designed binary search tree in such a fashion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search process is very short. You must be remembering the example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lecture that if we have one lakh numbers, it is possible to find the desired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in 20 iterations. If we have link list for one lakh elements, the required results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obtained only after executing the loop for one lakh times if the element to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searched is the last element. However, in case of BST, there are only 20 steps.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BST technique, as witnessed earlier, is quite different as compared to this tree. They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both left and right subtrees. What happened with this tree? The benefit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BST is not applicable here. It seems that it is a link list. This is only due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 that the data of the tree was given in the sorted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you want to create a tree out of a sorted data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method, it will look like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tree. It means that you do not want to have sorted data. But it is not easy,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not have control over this process. Consider the example of polling.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possible that all the voters come to the polling station in some specific order.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another example, if you are given a list of sorted data and asked to create a BST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this data. If you create a BST with data that is in an ascending order, it will look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like a link list. In the link list, the search takes a lot of time. You have created a BST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the operations on it are working as it is a singly link list. How can we avoid that?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the BST is very beneficial. One way to avoid this is that some how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the sorted data unsorted. How this can be done. It is not possible, as data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always provided as a complete set. Data is provided in chunks most of the times.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should we do? We will apply a technique here so that we can get the benefits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BST. We should keep the tree balanced. In the above tree, nodes have left child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no right child. So this tree is not balanced. One way to achieve it is that both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and right subtrees have the same height. While talking about the binary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tree, we discussed the height, depth and level of BST. Every node has some level.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go down to the tree from the root, the levels of the tree increased and also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nodes, if all the left and right subtrees are present. You have earlier seen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examples of tree. The complete binary tree is such a tree that has all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right subtrees and all the leaf nodes in the end. In the complete binary tree,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say that the number of nodes in the left subtree and right subtree are equal.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weigh that tree on the balance, from the root, both of its sides will be equal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nodes in the right subtree and left subtree are equal. If you have such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binary search tree with one lakh nodes, there will need of only 20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comparisons to find a number. The levels of this tree are 20. We have also used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formula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(100,000)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property of such a tree is that the search comparison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computed with the help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because subtrees are switched at every comparison.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above tree which is like a singly link list. We will try to convert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a balanced tree. Have a look on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95070"/>
            <a:ext cx="4721225" cy="18713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18 </a:t>
            </a:r>
            <a:endParaRPr lang="ko-KR" altLang="en-US" dirty="0" smtClean="0" sz="923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923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tree seems to be a balanced tree. We have made 14 as the root. The nodes 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side occur at the left of all the nodes i.e. left subtree of 14 is 9, the left subtree of 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7, the left subtree of 7 is 5 and so on. Similarly the right subtree contains the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15, 16, 17, 18, 20. This tree seems to be a balanced tree. Let’s see its level.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i.e. the root is at level zero. Then at level one, we have 9 and 15. At level two,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7 and 16.  Then 5 and 17, followed by 4 and 18. In the end, we have 3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20. It seems that we have twisted the tree in the middle, taking 14 as a root node.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take other nodes like 9 or 7, these have only left subtree. Similarly if we take 15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16, these have right subtrees only. These nodes do not have both right and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In the earlier example, we have seen that the nodes have right and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subtrees. In that example, the data was not sorted. Here the tree is not shallow. Still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not get the required BST. What should we do? With the sorted data,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not become complete binary search tree and the search is not optimized. We want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in unsorted form that may not be available.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make a balanced tree, keeping in mind that it should not be shallow one.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could insist that every node must have left and right subtrees of same height. But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requires that the tree be a complete binary tree. To achieve it, there must be 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d+1</a:t>
            </a:r>
            <a:endParaRPr lang="ko-KR" altLang="en-US" dirty="0" smtClean="0" sz="702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–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			data items,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depth of the tree. Here we are not pleading to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unsorted data. Rather, we need as much data which could help make a balanced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tree. If we have a tree 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 will be need of 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d+1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–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data items 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have left and right subtrees of every node with the same height. Now think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yourself that is it possible that whenever you build a tree or someone uses your BST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can fulfill this condition. This is not possible that whenever we are going to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 tree, there will be   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d+1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–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data items for a tree of depth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reason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most of the time you do not have control over the data. Therefore this is too rigid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condition. So this is also not a practical solution.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AVL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tree has been named after two persons Adelson-Velskii and Landis. These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had devised a technique to make the tree balanced. According to them, an AVL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identical to a BST, barring the following possible differences: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																											Height of the left and right subtrees may differ by at most 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																											Height of an empty tree is defined to be (–1).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223 of 519 </a:t>
            </a:r>
            <a:endParaRPr lang="ko-KR" altLang="en-US" dirty="0" smtClean="0" sz="1056"/>
          </a:p>
        </p:txBody>
      </p:sp>
      <p:sp>
        <p:nvSpPr>
          <p:cNvPr id="572" name="Rect 3"/>
          <p:cNvSpPr>
            <a:spLocks noGrp="1" noChangeArrowheads="1"/>
          </p:cNvSpPr>
          <p:nvPr/>
        </p:nvSpPr>
        <p:spPr>
          <a:xfrm rot="0">
            <a:off x="5504815" y="2770505"/>
            <a:ext cx="171450" cy="1314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20 </a:t>
            </a:r>
            <a:endParaRPr lang="ko-KR" altLang="en-US" dirty="0" smtClean="0" sz="923"/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718945" y="2404745"/>
            <a:ext cx="3392805" cy="18103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calculate the height of a subtree by counting its levels from the bottom.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node, we calculate the height of its left subtree and right subtree and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between them. Let’s understand this with the help of following fig.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Times New Roman"/>
                <a:ea typeface="Times New Roman"/>
              </a:rPr>
              <a:t>An AVL Tree </a:t>
            </a:r>
            <a:endParaRPr lang="ko-KR" altLang="en-US" dirty="0" smtClean="0" sz="1230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an AVL tree. The root of the tree is 5. At next level, we have 2 and 8, followed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1, 4 and 7 at next level where 1, 4 are left and right subtrees of node 2 and 7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subtree of node 8. At the level three, we have 3. We have shown the levels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at the right side. The root is at level 0, followed by the levels 1, 2 and 3.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height of the left subtree of 5. It is 3. Similarly the height of the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2. Now we have to calculate the difference of the height of left subtree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5. The height of left subtree of 5 is 3 and height of right subtree of 5 is 2.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 difference is 1. Similarly, we can have a tree in which right subtree is deeper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left subtree. The condition in the AVL tree is that at any node the height of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can be one more or one less than the height of right subtree. These heights,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course, can be equal. The difference of heights can not be more than 1.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can be -1 if we subtract the height of left subtree from right subtree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left subtree is one less than the height of right subtree. Remember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condition is not at the root. It should satisfy at any level at any node.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analyze the height of left subtree and right subtree of node 2. This should be -1, 0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The height of left subtree of node 2 is 1 while that of right subtree of the node 2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Therefore the absolute difference between them is 1. Similarly at node 8, the height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left subtree is 1 and right subtree does not exist so its height is zero. Therefore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is 1. At leaves, the height is zero, as there is no left or right subtree.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figure, the balanced condition is satisfactory at every level and node. Such 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special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another example. Here is the diagram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8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224 of 519 </a:t>
            </a:r>
            <a:endParaRPr lang="ko-KR" altLang="en-US" dirty="0" smtClean="0" sz="1056"/>
          </a:p>
        </p:txBody>
      </p:sp>
      <p:sp>
        <p:nvSpPr>
          <p:cNvPr id="575" name="Rect 3"/>
          <p:cNvSpPr>
            <a:spLocks noGrp="1" noChangeArrowheads="1"/>
          </p:cNvSpPr>
          <p:nvPr/>
        </p:nvSpPr>
        <p:spPr>
          <a:xfrm rot="0">
            <a:off x="2792095" y="2048510"/>
            <a:ext cx="2637155" cy="2115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Times New Roman"/>
                <a:ea typeface="Times New Roman"/>
              </a:rPr>
              <a:t>Level </a:t>
            </a:r>
            <a:endParaRPr lang="ko-KR" altLang="en-US" dirty="0" smtClean="0" sz="123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91310" y="1438910"/>
            <a:ext cx="3352800" cy="18224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7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Not an AVL </a:t>
            </a:r>
            <a:endParaRPr lang="ko-KR" altLang="en-US" dirty="0" smtClean="0" sz="1056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the left subtree of node 6 is three whereas the height of the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one. Therefore the difference is 2. The balanced condition is not satisfactory.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it is not an AVL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give this condition a formal shape that will become a guiding principle for us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creating a tree. We will try to satisfy this condition during the insertion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in the tree or a deletion of a node from the tree. We will also see later how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enforce this condition satisfactorily on our tree. As a result, we will get a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whose structure will not be like a singly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definition of height of a tree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a binary tree is the maximum level of its leaves (also called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depth).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a tree is the longest path from the root to the leaf. This can also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calculated as the maximum level of the tree. If we have to calculate the height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node, we should start counting the levels from that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of a node is defined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The balance of a node in a binary tree is defined as the height of its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minus height of its right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for example, is a balanced tree whose each node has an indicated balance of 1,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0, or –1. </a:t>
            </a:r>
            <a:endParaRPr lang="ko-KR" altLang="en-US" dirty="0" smtClean="0" sz="1056"/>
          </a:p>
          <a:p>
            <a:pPr marL="0" indent="0" defTabSz="15240" algn="l">
              <a:lnSpc>
                <a:spcPts val="1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225 of 519 </a:t>
            </a:r>
            <a:endParaRPr lang="ko-KR" altLang="en-US" dirty="0" smtClean="0" sz="1056"/>
          </a:p>
        </p:txBody>
      </p:sp>
      <p:sp>
        <p:nvSpPr>
          <p:cNvPr id="578" name="Rect 3"/>
          <p:cNvSpPr>
            <a:spLocks noGrp="1" noChangeArrowheads="1"/>
          </p:cNvSpPr>
          <p:nvPr/>
        </p:nvSpPr>
        <p:spPr>
          <a:xfrm rot="0">
            <a:off x="5090160" y="2670175"/>
            <a:ext cx="9271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</a:t>
            </a:r>
            <a:endParaRPr lang="ko-KR" altLang="en-US" dirty="0" smtClean="0" sz="1056"/>
          </a:p>
        </p:txBody>
      </p:sp>
      <p:sp>
        <p:nvSpPr>
          <p:cNvPr id="579" name="Rect 3"/>
          <p:cNvSpPr>
            <a:spLocks noGrp="1" noChangeArrowheads="1"/>
          </p:cNvSpPr>
          <p:nvPr/>
        </p:nvSpPr>
        <p:spPr>
          <a:xfrm rot="0">
            <a:off x="2670175" y="1258570"/>
            <a:ext cx="2655570" cy="2011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Level</a:t>
            </a:r>
            <a:endParaRPr lang="ko-KR" altLang="en-US" dirty="0" smtClean="0" sz="1056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9495" y="1127760"/>
            <a:ext cx="4590415" cy="18929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example, we have shown the balance of each node instead of the data item.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node, there is the value -1. With this information, you know that the height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subtree at this node is one greater than that of the left subtree. In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the root, we have node with value 1. You can understand from this example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height of the right subtree at this node is one less than the height of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subtree. In this tree, some nodes have balance -1, 0 or 1. You have been thinking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calculate the balance of each node. How can we do that? When we create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tree, there will be a need of some information on the balance factor of each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this information, we will try to balance the tree. So after getting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factor for each node, we will be able to create a balance tree even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data. There are other cases, which we will discuss, in the next lecture. In short,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balance tree with any kind of data facilitates the search process. </a:t>
            </a:r>
            <a:endParaRPr lang="ko-KR" altLang="en-US" dirty="0" smtClean="0" sz="1056"/>
          </a:p>
          <a:p>
            <a:pPr marL="0" indent="0" defTabSz="15240" algn="l">
              <a:lnSpc>
                <a:spcPts val="3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226 of 519 </a:t>
            </a:r>
            <a:endParaRPr lang="ko-KR" altLang="en-US" dirty="0" smtClean="0" sz="1056"/>
          </a:p>
        </p:txBody>
      </p:sp>
      <p:sp>
        <p:nvSpPr>
          <p:cNvPr id="582" name="Rect 3"/>
          <p:cNvSpPr>
            <a:spLocks noGrp="1" noChangeArrowheads="1"/>
          </p:cNvSpPr>
          <p:nvPr/>
        </p:nvSpPr>
        <p:spPr>
          <a:xfrm rot="0">
            <a:off x="3593465" y="2081530"/>
            <a:ext cx="1372870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endParaRPr lang="ko-KR" altLang="en-US" dirty="0" smtClean="0" sz="1056"/>
          </a:p>
        </p:txBody>
      </p:sp>
      <p:sp>
        <p:nvSpPr>
          <p:cNvPr id="583" name="Rect 3"/>
          <p:cNvSpPr>
            <a:spLocks noGrp="1" noChangeArrowheads="1"/>
          </p:cNvSpPr>
          <p:nvPr/>
        </p:nvSpPr>
        <p:spPr>
          <a:xfrm rot="0">
            <a:off x="2255520" y="1637030"/>
            <a:ext cx="3329305" cy="1325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20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4.4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Insertion in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Example (AVL Tree Building)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continue the discussion on AVL tree in this lecture. Before going ahead,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better to recap things talked about in the previous lecture. We built a balanced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tree (BST) with sorted data. The numbers put in that tree were in increasing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order.  The tree built in this way was like a linked list. It was witnessed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the tree data structure can help make the process of searches faster.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seen that in linked list or array, the searches are very time consuming. A loop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executed from start of the list up to the end. Due to this fact, we started using tree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It was evident that in case, both the left and right sub-trees of a tree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almost equal, a 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will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levels. If we want to search an item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tree, the required result can be achieved, whether the item is found or not,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comparisons.  Suppose we have 100,000 items (number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names) and have built a balanced search tree of these items. In 20 (i.e. log 100000)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comparisons, it will be possible to tell whether an item is there or not in these 100,000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AVL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year 1962, two Russian scientists, Adelson-Velskii and Landis, proposed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criteria to save the binary search tree (BST) from its degenerate form. This was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effort to propose the development of a balanced search tree by considering the height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 standard. This tree is known as AVL tree. The name AVL is an acronym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 of these two scientists.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AVL tree is identical to a BST, barring one difference i.e. the height of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right sub-trees can differ by at most 1.  Moreover, the height of an empty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defined to be (–1).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Keeping in mind the idea of the level of a tree, we can understand that if the root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is at level zero, its two children (subtrees) i.e. nodes will be at level 1. At level 2,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will be 4 nodes in case of a complete binary tree. Similarly at level 3,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nodes will be 8 and so on. As discussed earlier, in a complete binary tree,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of nodes at any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also seen the level 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of a tree. The term height is identical to the level of a tree. Following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of a tree in which level/height of nodes is shown. 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80160" y="1377950"/>
            <a:ext cx="2170430" cy="17005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level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levels of nodes in a tree 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in the figure, the root node i.e. 5 is at the height zero. The next two nodes 2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are at height (or level) 1. Then the nodes 1, 4 and 7 are at height 2 i.e. two levels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the root. At the last, the single node 3 is at level (height) 3. Looking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figure, we can say that the maximum height of the tree is 3. AVL states that a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be formed in such a form that the difference of the heights (maximum no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 i.e. depth) of left and right sub-trees of a node should not be greater than 1.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between the height of left subtree and height of right subtree is called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the node. In an AVL tree, the balance (also called balance factor) of a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1,0 or –1 depending on whether the height of its left subtree is greater than,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equal to or less than the height of its right subtree.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tree in the figure 20.1. Its root node is 5. Now go to its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find the deepest node in this subtree. We see that node 3 is at the deepest level.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level of this deepest node is 3, which means the height of this left subtree is 3.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from node 5, go to its right subtree and find the deepest level of a node.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7 is the deepest node in this right subtree and its level is 2. This means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of right subtree is 2. Thus the difference of height of left subtree (i.e. 3)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of right subtree (i.e. 2) is 1. So according to the AVL definition, this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one. But we know that the AVL definition does not apply only to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of the tree. Every node (non-leaf or leaf) should fulfill this definition.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the balance of every node should be 1, 0 or –1. Otherwise, it will not be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tree.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node 2 and apply the definition on it. Let’s see the result.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node 2 has the node 1 at deepest level i.e. level 2. The node 2, itself, is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1, so the height of the left subtree of node 2 is 2-1 i.e. 1. Now look at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node 2. The deepest level of this right subtree is 3 where the node 3 exists.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this right subtree of node 2 will be 3 –1 = 2 as the level of node 2 is 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difference of the height of left subtree (i.e. 1) and height of the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(i.e. 2) is –1. We subtract the height of left subtree from the height of the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see that node 2 also fulfills the AVL definition. Similarly we can see that all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of the tree (figure 20.1) fulfill the AVL definition. This means that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each node is 1, 0 or –1. Thus it is an AVL tree, also called the balanced tree.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shows the tree with the balance of each node.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228 of 519 </a:t>
            </a:r>
            <a:endParaRPr lang="ko-KR" altLang="en-US" dirty="0" smtClean="0" sz="1056"/>
          </a:p>
        </p:txBody>
      </p:sp>
      <p:sp>
        <p:nvSpPr>
          <p:cNvPr id="588" name="Rect 3"/>
          <p:cNvSpPr>
            <a:spLocks noGrp="1" noChangeArrowheads="1"/>
          </p:cNvSpPr>
          <p:nvPr/>
        </p:nvSpPr>
        <p:spPr>
          <a:xfrm rot="0">
            <a:off x="2399030" y="2444750"/>
            <a:ext cx="240538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14145" y="1981200"/>
            <a:ext cx="2170430" cy="17005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9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47470" y="6275705"/>
            <a:ext cx="2169795" cy="17037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9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balance of nodes in an AVL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a tree where the condition of an AVL tree is not being fulfilled.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shows such a tree in which the balance of a node (that is root node 6)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greater than 1. In this case, we see that the left subtree of node 6 has height 3 as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deepest nodes 3 and 5 are at level 3. Whereas the height of its right subtree is 1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deepest node of right subtree is 8 i.e. level 1. Thus the difference of heights (i.e.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balance) is 2. But according to AVL definition, the balance should be1, 0 or –1.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figure, this node 6 is only the node that violates the AVL definition (as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balance is other than 1, 0 and -1). The other nodes fulfill the AVL definition.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 that to be an AVL tree, each node of the tree should fulfill the definition. 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tree, the node 6 violates this definition so this is not an AVL tree.   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not an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229 of 519 </a:t>
            </a:r>
            <a:endParaRPr lang="ko-KR" altLang="en-US" dirty="0" smtClean="0" sz="1056"/>
          </a:p>
        </p:txBody>
      </p:sp>
      <p:sp>
        <p:nvSpPr>
          <p:cNvPr id="591" name="Rect 3"/>
          <p:cNvSpPr>
            <a:spLocks noGrp="1" noChangeArrowheads="1"/>
          </p:cNvSpPr>
          <p:nvPr/>
        </p:nvSpPr>
        <p:spPr>
          <a:xfrm rot="0">
            <a:off x="2243455" y="1837690"/>
            <a:ext cx="2716530" cy="565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level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</a:t>
            </a:r>
            <a:endParaRPr lang="ko-KR" altLang="en-US" dirty="0" smtClean="0" sz="1056"/>
          </a:p>
          <a:p>
            <a:pPr marL="0" indent="0" defTabSz="15240" algn="l">
              <a:lnSpc>
                <a:spcPts val="2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level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-----------------------------------------------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22705" y="3639185"/>
            <a:ext cx="4057015" cy="22402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9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above discussion, we encounter two terms i.e. height and balance which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defined as under.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Height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a binary tree is the maximum level of its leaves. This is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definition as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depth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a tree.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Balance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of a node in a binary search tree is defined as the height of its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minus height of its right subtree. In other words, at a particular node, the difference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heights of its left and right subtree gives the balance of the node.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shows a balanced tree. In this figure the balance of each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along with. We can see that each node has a balance 1, 0 or –1.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 balanced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in the figure, we see that the balance of the root (i.e. node 6) is –1. We can find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this balance. The deepest level of the left subtree is 3 where the nodes 1 and 3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located. Thus the height of left subtree is 3. In the right subtree, we see some 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at level 3 while some are found at level 4. But we know that the height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is the maximum level. So 4 is the height of the right subtree. Now we know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of the root node will be the result of height of left subtree minus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of right subtree. Thus the balance of the root node is 3 – 4 = -1. Similarly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confirm the balance of other nodes. The confirmation of balance of the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of the tree can be done. You should do it as an exercise. The process of height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computation should be understood as it is used for the insertion and deletion of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an AVL tree. We may come across a situation, when the tree does not remain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due to insertion or deletion. For making it a balanced one, we have to carry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the height computations.      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230 of 519 </a:t>
            </a:r>
            <a:endParaRPr lang="ko-KR" altLang="en-US" dirty="0" smtClean="0" sz="1056"/>
          </a:p>
        </p:txBody>
      </p:sp>
      <p:sp>
        <p:nvSpPr>
          <p:cNvPr id="594" name="Rect 3"/>
          <p:cNvSpPr>
            <a:spLocks noGrp="1" noChangeArrowheads="1"/>
          </p:cNvSpPr>
          <p:nvPr/>
        </p:nvSpPr>
        <p:spPr>
          <a:xfrm rot="0">
            <a:off x="2980690" y="4428490"/>
            <a:ext cx="2040255" cy="817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</p:txBody>
      </p:sp>
      <p:sp>
        <p:nvSpPr>
          <p:cNvPr id="595" name="Rect 3"/>
          <p:cNvSpPr>
            <a:spLocks noGrp="1" noChangeArrowheads="1"/>
          </p:cNvSpPr>
          <p:nvPr/>
        </p:nvSpPr>
        <p:spPr>
          <a:xfrm rot="0">
            <a:off x="1911350" y="4495800"/>
            <a:ext cx="1567180" cy="6826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</p:txBody>
      </p:sp>
      <p:sp>
        <p:nvSpPr>
          <p:cNvPr id="596" name="Rect 3"/>
          <p:cNvSpPr>
            <a:spLocks noGrp="1" noChangeArrowheads="1"/>
          </p:cNvSpPr>
          <p:nvPr/>
        </p:nvSpPr>
        <p:spPr>
          <a:xfrm rot="0">
            <a:off x="1441450" y="4026535"/>
            <a:ext cx="2503805" cy="1219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50010" y="5562600"/>
            <a:ext cx="4109085" cy="24263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9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dealing with AVL trees, we have to keep the information of balance factor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nodes along with the data of nodes. Similarly, a programmer has to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additional information (i.e. balance) of the nodes while writing code for AVL tree.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Insertion of Node in an AVL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process of insertion in an AVL tree. We have to take care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should remain AVL tree after the insertion of new node(s) in it. We will now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an AVL tree is affected by the insertion of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discussed the process of inserting a new node in a binary search tree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lectures. To insert a node in a BST, we compare its data with the root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new data item is less than the root node item in a particular order, this data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hold its place in the left subtree of the root. Now we compare the new data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root of this left subtree and decide its place. Thus at last, the new data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a leaf node at a proper place. After inserting the new data item,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the tree with the inorder traversal, then that data item will			become				at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appropriate position in the data items. To further understand the insertion process,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the tree of figure 20.4. The following figure (Fig 20.5) shows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with the difference that each node shows the balance along with the data item.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a new node will be inserted as a leaf node. This will be inserted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facility of adding a node is available. In the figure, we have indicated the positions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a new node can be added. We have used two labels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 where a node can be added. The label B indicates that if we add a node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position, the tree will remain balanced tree. On the other hand, the addition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at the position labeled as U1, U2 ….U12, the tree will become unbalanced.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at some node the difference of heights of left and right subtree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greater than 1.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U1      U2        U3        U4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 B     B      B       B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U5      U6            U7          U8                  U9          U10     U11      U12     </a:t>
            </a:r>
            <a:endParaRPr lang="ko-KR" altLang="en-US" dirty="0" smtClean="0" sz="88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20.5: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 Insertions and effect in a balanced tree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231 of 519 </a:t>
            </a:r>
            <a:endParaRPr lang="ko-KR" altLang="en-US" dirty="0" smtClean="0" sz="1056"/>
          </a:p>
        </p:txBody>
      </p:sp>
      <p:sp>
        <p:nvSpPr>
          <p:cNvPr id="599" name="Rect 3"/>
          <p:cNvSpPr>
            <a:spLocks noGrp="1" noChangeArrowheads="1"/>
          </p:cNvSpPr>
          <p:nvPr/>
        </p:nvSpPr>
        <p:spPr>
          <a:xfrm rot="0">
            <a:off x="2380615" y="6351905"/>
            <a:ext cx="2707640" cy="8172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>
                <a:solidFill>
                  <a:srgbClr val="000000"/>
                </a:solidFill>
                <a:latin typeface="Times New Roman"/>
              </a:rPr>
              <a:t>B       B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</p:txBody>
      </p:sp>
      <p:sp>
        <p:nvSpPr>
          <p:cNvPr id="600" name="Rect 3"/>
          <p:cNvSpPr>
            <a:spLocks noGrp="1" noChangeArrowheads="1"/>
          </p:cNvSpPr>
          <p:nvPr/>
        </p:nvSpPr>
        <p:spPr>
          <a:xfrm rot="0">
            <a:off x="1978025" y="6419215"/>
            <a:ext cx="1567815" cy="6826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</p:txBody>
      </p:sp>
      <p:sp>
        <p:nvSpPr>
          <p:cNvPr id="601" name="Rect 3"/>
          <p:cNvSpPr>
            <a:spLocks noGrp="1" noChangeArrowheads="1"/>
          </p:cNvSpPr>
          <p:nvPr/>
        </p:nvSpPr>
        <p:spPr>
          <a:xfrm rot="0">
            <a:off x="1505585" y="5949950"/>
            <a:ext cx="2506345" cy="1219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82040" y="5727065"/>
            <a:ext cx="4705985" cy="25514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0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looking at the labels B, U1, U2 …….U12, we conclude some conditions that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implemented while writing the code for insert method of a balanced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may conclude that the tree becomes unbalanced only if the newly inserted node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Is a left descendent of a node that previously had a balance of 1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(in the figure 20.5 these positions are U1, U2 …..U8)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Or is a descendent of a node that previously had a balance of –1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(in the tree in fig 20.5 these positions are U9, U10, U11 and U12)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conditions are obvious. The balance 1 of a node indicates that the height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left subtree is 1 more than the height of its right subtree. Now if we add a node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left subtree, it will increase the level of the tree by 1. Thus the difference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heights will become 2. It violates the AVL rule, making the tree unbalanced.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balance –1 of a node indicates that the right subtree of this node is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deep than the left subtree of the node. Now if the new node is added in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subtree, this right subtree will become deeper. Its depth/height will increase as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added at a new level that will increase the level of the tree and the height.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balance of the node, that previously has a balance –1, will become –2.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(Fig 20.6) depicts this rule. In this figure, we have associated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positions with their grand parent. The figure shows that U1, U2, U3 and U4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descendents of the node that has a balance 1. So according to the condition,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insertion of new node at these positions will unbalance the tree. Similarly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 U5, U6, U7 and U8 are the left descendents of the node that has a balance 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Moreover we see that the positions U9, U10, U11 and U12 are the right descendents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node that has balance –1. So according to the second condition as stated earlier,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insertion of a new node at these positions would unbalance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U1      U2        U3        U4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 B     B      B      B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U5      U6            U7          U8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U9      U10            U11     U12</a:t>
            </a:r>
            <a:endParaRPr lang="ko-KR" altLang="en-US" dirty="0" smtClean="0" sz="88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20.6: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Insertions and effect in a balanced tree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232 of 519 </a:t>
            </a:r>
            <a:endParaRPr lang="ko-KR" altLang="en-US" dirty="0" smtClean="0" sz="1056"/>
          </a:p>
        </p:txBody>
      </p:sp>
      <p:sp>
        <p:nvSpPr>
          <p:cNvPr id="604" name="Rect 3"/>
          <p:cNvSpPr>
            <a:spLocks noGrp="1" noChangeArrowheads="1"/>
          </p:cNvSpPr>
          <p:nvPr/>
        </p:nvSpPr>
        <p:spPr>
          <a:xfrm rot="0">
            <a:off x="2447290" y="6513830"/>
            <a:ext cx="2707640" cy="8197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>
                <a:solidFill>
                  <a:srgbClr val="000000"/>
                </a:solidFill>
                <a:latin typeface="Times New Roman"/>
              </a:rPr>
              <a:t>B       B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</p:txBody>
      </p:sp>
      <p:sp>
        <p:nvSpPr>
          <p:cNvPr id="605" name="Rect 3"/>
          <p:cNvSpPr>
            <a:spLocks noGrp="1" noChangeArrowheads="1"/>
          </p:cNvSpPr>
          <p:nvPr/>
        </p:nvSpPr>
        <p:spPr>
          <a:xfrm rot="0">
            <a:off x="2042160" y="6580505"/>
            <a:ext cx="1570990" cy="685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</p:txBody>
      </p:sp>
      <p:sp>
        <p:nvSpPr>
          <p:cNvPr id="606" name="Rect 3"/>
          <p:cNvSpPr>
            <a:spLocks noGrp="1" noChangeArrowheads="1"/>
          </p:cNvSpPr>
          <p:nvPr/>
        </p:nvSpPr>
        <p:spPr>
          <a:xfrm rot="0">
            <a:off x="1576070" y="6111240"/>
            <a:ext cx="2503170" cy="12223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55065" y="2465705"/>
            <a:ext cx="4438015" cy="24263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0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28800" y="9918065"/>
            <a:ext cx="469265" cy="5397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0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566670" y="9918065"/>
            <a:ext cx="535940" cy="5397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0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discuss what should we do when the insertion of a node makes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unbalanced. For this purpose, consider the node that has a balance 1 in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This is the root of the left subtree of the previous tree. This tree is shown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shaded in 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U1      U2        U3        U4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 B     B      B       B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U5      U6            U7          U8                  U9          U10     U11      U12     </a:t>
            </a:r>
            <a:endParaRPr lang="ko-KR" altLang="en-US" dirty="0" smtClean="0" sz="88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20.7: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node that has balance 1 under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now focus our discussion on this left subtree of node having balance 1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applying it to other nodes. Look at the following figure (Fig 20.8). Here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talking about the tree that has a node with balance 1 as the root. We did not mention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part of the tree. We indicate the root node of this left subtree with label A.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balance 1. The label B mentions the first node of its left subtree. Here we did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mention other nodes individually. Rather, we show a triangle that depicts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subtrees. The triangle T3 encloses the right subtree of the node A.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concerned about the number of nodes in it. The triangles T1 and T2 mention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and right subtree of the B node respectively. The balance of node B is 0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describes that its left and right subtrees are at same height. This is also shown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figure. Similarly we see that the balance of node A is 1 i.e. its left subtree is one level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deep than its right subtree. The dotted lines in the figure show that the difference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depth/height of left and right subtree of node A is 1 and that is the balance of node A.  </a:t>
            </a:r>
            <a:endParaRPr lang="ko-KR" altLang="en-US" dirty="0" smtClean="0" sz="1056"/>
          </a:p>
        </p:txBody>
      </p:sp>
      <p:sp>
        <p:nvSpPr>
          <p:cNvPr id="609" name="Rect 3"/>
          <p:cNvSpPr>
            <a:spLocks noGrp="1" noChangeArrowheads="1"/>
          </p:cNvSpPr>
          <p:nvPr/>
        </p:nvSpPr>
        <p:spPr>
          <a:xfrm rot="0">
            <a:off x="2514600" y="3252470"/>
            <a:ext cx="2704465" cy="8197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>
                <a:solidFill>
                  <a:srgbClr val="000000"/>
                </a:solidFill>
                <a:latin typeface="Times New Roman"/>
              </a:rPr>
              <a:t>B       B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 </a:t>
            </a:r>
            <a:endParaRPr lang="ko-KR" altLang="en-US" dirty="0" smtClean="0" sz="1056"/>
          </a:p>
        </p:txBody>
      </p:sp>
      <p:sp>
        <p:nvSpPr>
          <p:cNvPr id="610" name="Rect 3"/>
          <p:cNvSpPr>
            <a:spLocks noGrp="1" noChangeArrowheads="1"/>
          </p:cNvSpPr>
          <p:nvPr/>
        </p:nvSpPr>
        <p:spPr>
          <a:xfrm rot="0">
            <a:off x="2109470" y="3319145"/>
            <a:ext cx="1567180" cy="685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</p:txBody>
      </p:sp>
      <p:sp>
        <p:nvSpPr>
          <p:cNvPr id="611" name="Rect 3"/>
          <p:cNvSpPr>
            <a:spLocks noGrp="1" noChangeArrowheads="1"/>
          </p:cNvSpPr>
          <p:nvPr/>
        </p:nvSpPr>
        <p:spPr>
          <a:xfrm rot="0">
            <a:off x="1639570" y="2849880"/>
            <a:ext cx="2506980" cy="12223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86585" y="4175760"/>
            <a:ext cx="2767965" cy="24231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1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93190" y="701040"/>
            <a:ext cx="3843020" cy="21031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considering the notations of figure 20.8, let’s insert a new node in this tree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observe the effect of this insertion in the tree. The new node can be inserted in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T1, T2 or T3. We suppose that the new node goes to the tree T1. We know that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 will not replace any node in the tree. Rather, it will be added as a leaf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next level in this tree (T1). The following figure (fig 20.9) shows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phenomenon. 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T3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T2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20.9: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Inserting new node in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the increase of level in T1, its difference with the right subtree of node A (i.e.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T3) will become 2. This is shown with the help of dotted line in the above figure.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will affect the balances of node A and B. Now the balance of node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2 while balance of node B becomes 1. These new balances are also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figure. Now due to the balance of node A (that is 2), the AVL condition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violated. This condition states that in an AVL tree the balance of a node cannot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than 1, 0 or –1. Thus the tree in fig 20.9 is not a balanced (AVL)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question arises what a programmer should do in case of violation of AVL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 .In case of a binary search tree, we insert the data in a particular order. So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234 of 519 </a:t>
            </a:r>
            <a:endParaRPr lang="ko-KR" altLang="en-US" dirty="0" smtClean="0" sz="1056"/>
          </a:p>
        </p:txBody>
      </p:sp>
      <p:sp>
        <p:nvSpPr>
          <p:cNvPr id="614" name="Rect 3"/>
          <p:cNvSpPr>
            <a:spLocks noGrp="1" noChangeArrowheads="1"/>
          </p:cNvSpPr>
          <p:nvPr/>
        </p:nvSpPr>
        <p:spPr>
          <a:xfrm rot="0">
            <a:off x="2416810" y="5056505"/>
            <a:ext cx="2165350" cy="1066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1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53895" y="5352415"/>
            <a:ext cx="2365375" cy="1953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1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at any time if we traverse the tree with inorder traversal, only sorted data could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obtained. The order of the data depends on its nature. For example, if the data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numbers, these may be in ascending order. If we are storing letters, then A is less than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and B is less than C. Thus the letters are generally in the order A, B, C …….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of letters is called lexographic order. Our dictionaries and lists of names follow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want that the inorder traversal of the tree should give us the sorted data,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be necessary that the nodes of these data items in the tree should be at particular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positions. While building a tree, two things should be kept in mind.  Firstly,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be a binary tree. Secondly, its inorder traversal should give the data in a sorted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order. Adelson-Velskii and Landis considered these two points. They said that if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after insertion, the tree is going to be unbalanced. Then the things should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reorganized in such a way that the balance of nodes should fulfill the AVL condition.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the inorder traversal should remain the same.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example of tree in figure 20.9 and look what we should do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the tree in such a way that the inorder traversal of the tree remains the same.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in figure 20.9 that the new node is inserted in the tree T1 as a new 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Thus T1has been modified and its level is increased by 1. Now due to this,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of T1 and T3 is 2. This difference is the balance of node A as T1 and T3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its left and right subtrees respectively. The inorder traversal of this tree gives 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result as given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T1 B T2 A T3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rearrange the tree and it is shown in the following figure i.e. Fig 20.10. </a:t>
            </a:r>
            <a:endParaRPr lang="ko-KR" altLang="en-US" dirty="0" smtClean="0" sz="1056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0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T1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T3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20.10: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Rearranged tree after inserting a new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observing the tree in the above figure we notice at first that node A is no longer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of the tree. Now Node B is the root.  Secondly, we see that the tree T2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the right subtree of B has become the left subtree of A. However, tree T3 is still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subtree of A. The node A has become the right subtree of B. This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with respect to node A and B. The balance of A is 0 as T2 and T3 are at the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727960" y="4944110"/>
            <a:ext cx="847090" cy="6762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1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60650" y="6918960"/>
            <a:ext cx="1085215" cy="12192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1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level. The level of T1 has increased due to the insertion of new node. It is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same level as that of T2 and T3. Thus the balance of B is also 0. The important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thing in this modified tree is that the inorder traversal of it is the same as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tree (fig 10.9) and is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T1 B T2 A T3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that the above two trees give us data items in the same order by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traversal. So it is not necessary that data items in a tree should be in a particular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a particular position. This process of tree modification is called rotation.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Example (AVL Tree Building)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build an AVL tree as an example. We will insert the numbers and take care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of nodes after each insertion. While inserting a node, if the balance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becomes greater than 1 (that means tree becomes unbalance), we will rearrange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so that it should become balanced again. Let’s see this process.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Assume that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routine (we will write its code later) that takes a data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an argument and inserts it as a new node in the tree. Now for the first node,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say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(1)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there is one node in the tree i.e. 1. Next,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(2)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while inserting a new data item in a binary search tree, if the new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 is greater than the existing node, it will go to the right subtree. Otherwise,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the left subtree. In the call to insert method, we are passing 2 to it. This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 i.e. 2 is greater than 1. So it will become the right subtree of 1 as shown below.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there are only two nodes in the tree, there is no problem of balance yet.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insert the number 3 in the tree by calling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(3)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compare the number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root i.e.1. This comparison results that 3 will go to the right subtree of 1.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subtree of 1 there becomes 2. The comparison of 3 with it results that 3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the right subtree of 2. There is no subtree of 2, so 3 will become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2. This is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balance of nodes at this stage. We see that node 1 is at level 0 (as it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node). The nodes 2 and 3 are at level 1 and 2 respectively. So with respect to the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236 of 519 </a:t>
            </a:r>
            <a:endParaRPr lang="ko-KR" altLang="en-US" dirty="0" smtClean="0" sz="1056"/>
          </a:p>
        </p:txBody>
      </p:sp>
      <p:sp>
        <p:nvSpPr>
          <p:cNvPr id="619" name="Rect 3"/>
          <p:cNvSpPr>
            <a:spLocks noGrp="1" noChangeArrowheads="1"/>
          </p:cNvSpPr>
          <p:nvPr/>
        </p:nvSpPr>
        <p:spPr>
          <a:xfrm rot="0">
            <a:off x="2980690" y="6949440"/>
            <a:ext cx="13843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-2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86840" y="4358640"/>
            <a:ext cx="1085215" cy="12192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2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935095" y="4468495"/>
            <a:ext cx="1085215" cy="8896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2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825750" y="4736465"/>
            <a:ext cx="822960" cy="2197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1, the deepest level (height) of its right subtree is 2. As there is no left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1 the level of left subtree of 1 is 0. The difference of the heights of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1 is –2 and that is its balance. So here at node 1, the AVL condition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violated. We will not insert a new node at this time. First we will do the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make the tree (up to this step) balanced. In the process of inserting nodes,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the rotation before inserting next node at the points where the AVL condition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violated. We have to identify some things for doing rotation. We have to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on what nodes this rotation will be applied. That means what nodes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rearranged. Some times, it is obvious that at what nodes the rotation should be done.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there may situations, when the things will not be that clear. We will see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things with the help of some examples.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example under consideration, we apply the rotation at nodes1 and 2. We rotate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nodes to the left and thus the node 1 (along with any tree if were associated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it) becomes down and node 2 gets up. The node 3 (and trees associated with it, here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 tree as it is leaf node) goes one level upward. Now 2 is the root node of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1 and 3 are its left and right subtrees respectively as shown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figure.  </a:t>
            </a:r>
            <a:endParaRPr lang="ko-KR" altLang="en-US" dirty="0" smtClean="0" sz="1056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Non AVL Tree                                            AVL tree after applying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that after the rotation, the tree has become balanced. The figure reflects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of node 1, 2 and 3 is 0. We see that the inorder traversal of the above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rotation (tree on left hand side) is 1 2 3. Now if we traverse the tree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(tree on right hand side) by inorder traversal, it is also 1 2 3. With respect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inorder traversal, both the traversals are same. So we observe that the position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a tree does not matter as long as the inorder traversal remains the same.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seen this in the above figure where two different trees give the same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traversal. In the same way we can insert more nodes to the tree. After inserting a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check the balance of nodes whether it violates the AVL condition. If the tree,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inserting a node, becomes unbalance then we will apply rotation to make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balance. In this way we can build a tree of any number of nodes.   </a:t>
            </a:r>
            <a:endParaRPr lang="ko-KR" altLang="en-US" dirty="0" smtClean="0" sz="1056"/>
          </a:p>
          <a:p>
            <a:pPr marL="0" indent="0" defTabSz="15240" algn="l">
              <a:lnSpc>
                <a:spcPts val="1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237 of 519 </a:t>
            </a:r>
            <a:endParaRPr lang="ko-KR" altLang="en-US" dirty="0" smtClean="0" sz="1056"/>
          </a:p>
        </p:txBody>
      </p:sp>
      <p:sp>
        <p:nvSpPr>
          <p:cNvPr id="622" name="Rect 3"/>
          <p:cNvSpPr>
            <a:spLocks noGrp="1" noChangeArrowheads="1"/>
          </p:cNvSpPr>
          <p:nvPr/>
        </p:nvSpPr>
        <p:spPr>
          <a:xfrm rot="0">
            <a:off x="4377055" y="4523105"/>
            <a:ext cx="12573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1056"/>
          </a:p>
        </p:txBody>
      </p:sp>
      <p:sp>
        <p:nvSpPr>
          <p:cNvPr id="623" name="Rect 3"/>
          <p:cNvSpPr>
            <a:spLocks noGrp="1" noChangeArrowheads="1"/>
          </p:cNvSpPr>
          <p:nvPr/>
        </p:nvSpPr>
        <p:spPr>
          <a:xfrm rot="0">
            <a:off x="1710055" y="4389120"/>
            <a:ext cx="13525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-2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721610" y="4651375"/>
            <a:ext cx="2420620" cy="21304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2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31390" y="7552690"/>
            <a:ext cx="1224915" cy="9848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2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21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4.4, 4.4.1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Tree Building Example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Cases for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AVL Tree Building Example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lecture is a sequel of the previous one in which we had briefly discussed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building an AVL tree. We had inserted three elements in the tree before coming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 of the lecture.  The discussion on the same example will continue in this lecture.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tree’s figures below: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74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474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74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474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74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474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474" b="1">
                <a:solidFill>
                  <a:srgbClr val="000000"/>
                </a:solidFill>
                <a:latin typeface="Arial"/>
              </a:rPr>
              <a:t>F ig  21.1: in sert(3) sin g le left ro tatio n</a:t>
            </a:r>
            <a:endParaRPr lang="ko-KR" altLang="en-US" dirty="0" smtClean="0" sz="1474" b="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0" b="1">
                <a:solidFill>
                  <a:srgbClr val="000000"/>
                </a:solidFill>
                <a:latin typeface="Arial"/>
              </a:rPr>
              <a:t>Fig 21.2: insert(3)</a:t>
            </a:r>
            <a:endParaRPr lang="ko-KR" altLang="en-US" dirty="0" smtClean="0" sz="1050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238 of 519 </a:t>
            </a:r>
            <a:endParaRPr lang="ko-KR" altLang="en-US" dirty="0" smtClean="0" sz="1056"/>
          </a:p>
        </p:txBody>
      </p:sp>
      <p:sp>
        <p:nvSpPr>
          <p:cNvPr id="626" name="Rect 3"/>
          <p:cNvSpPr>
            <a:spLocks noGrp="1" noChangeArrowheads="1"/>
          </p:cNvSpPr>
          <p:nvPr/>
        </p:nvSpPr>
        <p:spPr>
          <a:xfrm rot="0">
            <a:off x="3386455" y="4913630"/>
            <a:ext cx="213995" cy="2190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74">
                <a:solidFill>
                  <a:srgbClr val="000000"/>
                </a:solidFill>
                <a:latin typeface="Arial"/>
              </a:rPr>
              <a:t>-2</a:t>
            </a:r>
            <a:endParaRPr lang="ko-KR" altLang="en-US" dirty="0" smtClean="0" sz="1474"/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28215" y="2545080"/>
            <a:ext cx="1691640" cy="1576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2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28215" y="6324600"/>
            <a:ext cx="2087880" cy="20942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2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became the root node after the rotation of the node having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Note the direction of rotation here.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insert few more nodes in the tree. We will build an AVL tree and rotate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required to fulfill the conditions of an AVL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insert a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 will, at first, compare the number inside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The current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is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right side of the root. In the right subtree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root, there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4 is also greater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become the right child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21.3: insert(4)</a:t>
            </a:r>
            <a:endParaRPr lang="ko-KR" altLang="en-US" dirty="0" smtClean="0" sz="105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Once we insert a node in the tree, it is necessary to check its balance to see whether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within AVL defined balance. If it is not so, then we have to rotate a node.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factor 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zero due to the absence of any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right subtrees. Now, we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has no left child, but only right subtree,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For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height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that of the right subtree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Therefore,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 – 2 = 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every node in the tree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fig. 21.3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either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or less than that. You must be remembering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 for a tree to be an AVL tree, every node’s balance needs not to be zero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necessarily. Rather, the tree will be called AVL tree,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in a 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 the way,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each node inside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will be a perfectly balanced tree. 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2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2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2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Fig 21.4: insert(5)</a:t>
            </a:r>
            <a:endParaRPr lang="ko-KR" altLang="en-US" dirty="0" smtClean="0" sz="1052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insert a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each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the node containing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for the node containing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-2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condition for AVL is not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239 of 519 </a:t>
            </a:r>
            <a:endParaRPr lang="ko-KR" altLang="en-US" dirty="0" smtClean="0" sz="1056"/>
          </a:p>
        </p:txBody>
      </p:sp>
      <p:sp>
        <p:nvSpPr>
          <p:cNvPr id="629" name="Rect 3"/>
          <p:cNvSpPr>
            <a:spLocks noGrp="1" noChangeArrowheads="1"/>
          </p:cNvSpPr>
          <p:nvPr/>
        </p:nvSpPr>
        <p:spPr>
          <a:xfrm rot="0">
            <a:off x="3523615" y="7144385"/>
            <a:ext cx="683895" cy="11703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-2</a:t>
            </a:r>
            <a:endParaRPr lang="ko-KR" altLang="en-US" dirty="0" smtClean="0" sz="1052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2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28215" y="1764665"/>
            <a:ext cx="1645920" cy="1463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3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satisfied				here for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3,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–2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operation will be performed here as with the help of an arrow as shown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rotating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new tree will be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21.5: insert(5)</a:t>
            </a:r>
            <a:endParaRPr lang="ko-KR" altLang="en-US" dirty="0" smtClean="0" sz="105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see in the above figure that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node with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been rotated.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become the left child of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different nodes containing numbers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get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see that the height of the left subtree containing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height of the right subtree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–1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saw that all the nodes in the tree above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Fig 21.5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fulfill the AVL tree condition.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traverse the 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in inorder tree traversal, we get: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1   2   3   4   5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if we traverse the tree in inorder given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(the tree before we had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rotated the 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following will be the output.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1   2   3   4   5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both the cases above, before and after rotation, we saw that the inorder traversal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trees gives the same result. Also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(node 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remained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above. Considering the inorder traversal, we could arrange the tree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such a manner that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becomes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tree,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the left child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the left child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output after traversing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changed tree in inorder will still produce the same result: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1   2   3   4   5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building an AVL tree, we rotate a node immediately after finding that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going out of balance. This ensures that tree does not become shallow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remains within the defined limit for an AVL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insert another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tree. The figure of the tree becomes: </a:t>
            </a:r>
            <a:endParaRPr lang="ko-KR" altLang="en-US" dirty="0" smtClean="0" sz="1056"/>
          </a:p>
          <a:p>
            <a:pPr marL="0" indent="0" defTabSz="15240" algn="l">
              <a:lnSpc>
                <a:spcPts val="10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240 of 519 </a:t>
            </a:r>
            <a:endParaRPr lang="ko-KR" altLang="en-US" dirty="0" smtClean="0" sz="1056"/>
          </a:p>
        </p:txBody>
      </p:sp>
      <p:sp>
        <p:nvSpPr>
          <p:cNvPr id="632" name="Rect 3"/>
          <p:cNvSpPr>
            <a:spLocks noGrp="1" noChangeArrowheads="1"/>
          </p:cNvSpPr>
          <p:nvPr/>
        </p:nvSpPr>
        <p:spPr>
          <a:xfrm rot="0">
            <a:off x="3267710" y="2456815"/>
            <a:ext cx="101600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28215" y="1139825"/>
            <a:ext cx="2047875" cy="18688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3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28215" y="4584065"/>
            <a:ext cx="2157730" cy="1261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3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21.6: insert(6)</a:t>
            </a:r>
            <a:endParaRPr lang="ko-KR" altLang="en-US" dirty="0" smtClean="0" sz="105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newly inserted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becomes the right child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Usually,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of a node, we will find out the node factor for each node and rotate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immediately. This is carried out after finding the difference out of limit.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0 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		balance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Finally, we check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node,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subtree’s height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right subtree’s height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Therefore,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–2,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which necessitates the rotation of the		root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Have a look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following figure to see how we have rotated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21.7: insert(6)</a:t>
            </a:r>
            <a:endParaRPr lang="ko-KR" altLang="en-US" dirty="0" smtClean="0" sz="1051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tree.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was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node,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the left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still on their earlier places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remaining the right child and sub-child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respectively. However,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was left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has become the right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 the inorder traversal of this tree: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1   2   3   4   5   6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are required to practice this inorder traversal. It is very important and the basic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 of performing the rotation operation is to preserve the inorder traversal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There is another point to note here that in Binary Search Tree (BST),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remains the same (the node that is inserted first). But in an AVL tree,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keeps on changing.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we had to traverse three links (node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then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to reach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While after rotation, (in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21.7)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have to traverse the two links (node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241 of 519 </a:t>
            </a:r>
            <a:endParaRPr lang="ko-KR" altLang="en-US" dirty="0" smtClean="0" sz="1056"/>
          </a:p>
        </p:txBody>
      </p:sp>
      <p:sp>
        <p:nvSpPr>
          <p:cNvPr id="635" name="Rect 3"/>
          <p:cNvSpPr>
            <a:spLocks noGrp="1" noChangeArrowheads="1"/>
          </p:cNvSpPr>
          <p:nvPr/>
        </p:nvSpPr>
        <p:spPr>
          <a:xfrm rot="0">
            <a:off x="3041650" y="1301750"/>
            <a:ext cx="1235710" cy="44405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-2</a:t>
            </a:r>
            <a:endParaRPr lang="ko-KR" altLang="en-US" dirty="0" smtClean="0" sz="105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1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28215" y="2858770"/>
            <a:ext cx="2511425" cy="17862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3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28215" y="5626735"/>
            <a:ext cx="2432050" cy="12553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to reach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You can prove it mathematically that inside an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built of n items; you can search up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1.44log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levels to find a node inside. After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number of links traversal, a programmer will have success or failure, as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1.44log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maximum height of the AVL tree. Consider the BST case, where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had constructed a linked list. If we want to build a BST of these six numbers, a linked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structure is formed. In order to reach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will have to traverse five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links. In case of AVL tree, we had to traverse two links only.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add few more items in the AVL tree and see the rotations performed to maintain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characteristics of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21.8: insert(7)</a:t>
            </a:r>
            <a:endParaRPr lang="ko-KR" altLang="en-US" dirty="0" smtClean="0" sz="1051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inserted as the right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start to see the balance factors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nodes. The balance factors 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respectively. As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 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rotation will be performed on this node. After rotation,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the tree as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21.9: insert(7)</a:t>
            </a:r>
            <a:endParaRPr lang="ko-KR" altLang="en-US" dirty="0" smtClean="0" sz="105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rotation,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left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see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21.9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that the tree has become the perfect binary tree. While writing our program,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have to compute the balance factors of each node to know that the tree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perfectly balanced binary tree. We find that balance factor for all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0. Therefore,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know that the tree is a perfect balanced tree. Let’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output here: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1   2   3   4   5   6   7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still in the same sequence and the number 7 has been added at the end. </a:t>
            </a:r>
            <a:endParaRPr lang="ko-KR" altLang="en-US" dirty="0" smtClean="0" sz="1056"/>
          </a:p>
          <a:p>
            <a:pPr marL="0" indent="0" defTabSz="15240" algn="l">
              <a:lnSpc>
                <a:spcPts val="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242 of 519 </a:t>
            </a:r>
            <a:endParaRPr lang="ko-KR" altLang="en-US" dirty="0" smtClean="0" sz="1056"/>
          </a:p>
        </p:txBody>
      </p:sp>
      <p:sp>
        <p:nvSpPr>
          <p:cNvPr id="638" name="Rect 3"/>
          <p:cNvSpPr>
            <a:spLocks noGrp="1" noChangeArrowheads="1"/>
          </p:cNvSpPr>
          <p:nvPr/>
        </p:nvSpPr>
        <p:spPr>
          <a:xfrm rot="0">
            <a:off x="4069080" y="3374390"/>
            <a:ext cx="482600" cy="3324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-2</a:t>
            </a:r>
            <a:endParaRPr lang="ko-KR" altLang="en-US" dirty="0" smtClean="0" sz="1051"/>
          </a:p>
          <a:p>
            <a:pPr marL="0" indent="0" defTabSz="15240" algn="l">
              <a:lnSpc>
                <a:spcPts val="2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051"/>
          </a:p>
        </p:txBody>
      </p:sp>
      <p:sp>
        <p:nvSpPr>
          <p:cNvPr id="639" name="Rect 3"/>
          <p:cNvSpPr>
            <a:spLocks noGrp="1" noChangeArrowheads="1"/>
          </p:cNvSpPr>
          <p:nvPr/>
        </p:nvSpPr>
        <p:spPr>
          <a:xfrm rot="0">
            <a:off x="3648710" y="3453130"/>
            <a:ext cx="982345" cy="33286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051"/>
          </a:p>
          <a:p>
            <a:pPr marL="0" indent="0" defTabSz="15240" algn="l">
              <a:lnSpc>
                <a:spcPts val="1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28215" y="1139825"/>
            <a:ext cx="2834640" cy="1576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4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28215" y="3983990"/>
            <a:ext cx="2834640" cy="19291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4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5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21.10: insert(16)</a:t>
            </a:r>
            <a:endParaRPr lang="ko-KR" altLang="en-US" dirty="0" smtClean="0" sz="105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inserted a new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tree as shown in the above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has been added as the right child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Now, let’s compute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factors for the nodes. The balance factor for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7, 5, 3, 1, 6, 2 and 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either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–1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this fulfills the condition of a tree to be an AVL. Let’s insert another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number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this tree. The tree becomes as given in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21.11: insert(15)</a:t>
            </a:r>
            <a:endParaRPr lang="ko-KR" altLang="en-US" dirty="0" smtClean="0" sz="105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step is to find out the balance factor of each node. The factors for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16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respectively. This is within limits of an AVL tree but the balance factor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–2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this is out of the limits of AVL, we will perform the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here. In the above diagram, you see the direction of rotation. After rotation,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the following tree: </a:t>
            </a:r>
            <a:endParaRPr lang="ko-KR" altLang="en-US" dirty="0" smtClean="0" sz="1056"/>
          </a:p>
          <a:p>
            <a:pPr marL="0" indent="0" defTabSz="15240" algn="l">
              <a:lnSpc>
                <a:spcPts val="1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243 of 519 </a:t>
            </a:r>
            <a:endParaRPr lang="ko-KR" altLang="en-US" dirty="0" smtClean="0" sz="1056"/>
          </a:p>
        </p:txBody>
      </p:sp>
      <p:sp>
        <p:nvSpPr>
          <p:cNvPr id="642" name="Rect 3"/>
          <p:cNvSpPr>
            <a:spLocks noGrp="1" noChangeArrowheads="1"/>
          </p:cNvSpPr>
          <p:nvPr/>
        </p:nvSpPr>
        <p:spPr>
          <a:xfrm rot="0">
            <a:off x="4751705" y="4883150"/>
            <a:ext cx="144145" cy="1581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-2</a:t>
            </a:r>
            <a:endParaRPr lang="ko-KR" altLang="en-US" dirty="0" smtClean="0" sz="1051"/>
          </a:p>
        </p:txBody>
      </p:sp>
      <p:sp>
        <p:nvSpPr>
          <p:cNvPr id="643" name="Rect 3"/>
          <p:cNvSpPr>
            <a:spLocks noGrp="1" noChangeArrowheads="1"/>
          </p:cNvSpPr>
          <p:nvPr/>
        </p:nvSpPr>
        <p:spPr>
          <a:xfrm rot="0">
            <a:off x="4450080" y="2057400"/>
            <a:ext cx="101600" cy="2999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051"/>
          </a:p>
          <a:p>
            <a:pPr marL="0" indent="0" defTabSz="15240" algn="l">
              <a:lnSpc>
                <a:spcPts val="2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051"/>
          </a:p>
        </p:txBody>
      </p:sp>
      <p:sp>
        <p:nvSpPr>
          <p:cNvPr id="644" name="Rect 3"/>
          <p:cNvSpPr>
            <a:spLocks noGrp="1" noChangeArrowheads="1"/>
          </p:cNvSpPr>
          <p:nvPr/>
        </p:nvSpPr>
        <p:spPr>
          <a:xfrm rot="0">
            <a:off x="3648710" y="1654810"/>
            <a:ext cx="899795" cy="41579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7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28215" y="1139825"/>
            <a:ext cx="2428875" cy="19780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4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Fig 21.12: insert(15)</a:t>
            </a:r>
            <a:endParaRPr lang="ko-KR" altLang="en-US" dirty="0" smtClean="0" sz="105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left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attained the form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the balance factors for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respectively. Note that the single rotation above when we rotated node 7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enough as our tree is still not an AVL one. This is a complex case that we had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encountered before in this example.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Cases of Rotation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single rotation does not seem to restore the balance. We will re-visit the tree and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rotations to identify the problem area. We will call the node that is to be rotated as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(node requires to be re-balanced). Since any node has at the most two children, and a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imbalance requires that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’s two sub-trees differ by two (or –2), the violation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occur in four cases: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An insertion into left subtree of the left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An insertion into right subtree of the left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An insertion into left subtree of the right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An insertion into right subtree of the right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insertion occurs on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outside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(i.e., left-left or right-right)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cases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4.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rotation can fix the balance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cases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occurs on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inside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cases 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a single rotation cannot fix. </a:t>
            </a:r>
            <a:endParaRPr lang="ko-KR" altLang="en-US" dirty="0" smtClean="0" sz="1056"/>
          </a:p>
          <a:p>
            <a:pPr marL="0" indent="0" defTabSz="15240" algn="l">
              <a:lnSpc>
                <a:spcPts val="18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244 of 519 </a:t>
            </a:r>
            <a:endParaRPr lang="ko-KR" altLang="en-US" dirty="0" smtClean="0" sz="1056"/>
          </a:p>
        </p:txBody>
      </p:sp>
      <p:sp>
        <p:nvSpPr>
          <p:cNvPr id="647" name="Rect 3"/>
          <p:cNvSpPr>
            <a:spLocks noGrp="1" noChangeArrowheads="1"/>
          </p:cNvSpPr>
          <p:nvPr/>
        </p:nvSpPr>
        <p:spPr>
          <a:xfrm rot="0">
            <a:off x="4733290" y="2136775"/>
            <a:ext cx="99060" cy="1581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051"/>
          </a:p>
        </p:txBody>
      </p:sp>
      <p:sp>
        <p:nvSpPr>
          <p:cNvPr id="648" name="Rect 3"/>
          <p:cNvSpPr>
            <a:spLocks noGrp="1" noChangeArrowheads="1"/>
          </p:cNvSpPr>
          <p:nvPr/>
        </p:nvSpPr>
        <p:spPr>
          <a:xfrm rot="0">
            <a:off x="4413250" y="2057400"/>
            <a:ext cx="175260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51"/>
          </a:p>
        </p:txBody>
      </p:sp>
      <p:sp>
        <p:nvSpPr>
          <p:cNvPr id="649" name="Rect 3"/>
          <p:cNvSpPr>
            <a:spLocks noGrp="1" noChangeArrowheads="1"/>
          </p:cNvSpPr>
          <p:nvPr/>
        </p:nvSpPr>
        <p:spPr>
          <a:xfrm rot="0">
            <a:off x="3648710" y="1654810"/>
            <a:ext cx="939800" cy="13627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240790"/>
            <a:ext cx="4809490" cy="22002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21080" y="6278880"/>
            <a:ext cx="1661160" cy="19113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294505" y="6461760"/>
            <a:ext cx="1533525" cy="1304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993390" y="6590030"/>
            <a:ext cx="701040" cy="1644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5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2127">
                <a:solidFill>
                  <a:srgbClr val="FFFFFF"/>
                </a:solidFill>
                <a:latin typeface="Symbol"/>
                <a:ea typeface="Symbol"/>
              </a:rPr>
              <a:t>∇</a:t>
            </a:r>
            <a:endParaRPr lang="ko-KR" altLang="en-US" dirty="0" smtClean="0" sz="2127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795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130" i="1" b="1">
                <a:solidFill>
                  <a:srgbClr val="FFFFFF"/>
                </a:solidFill>
                <a:latin typeface="Arial"/>
              </a:rPr>
              <a:t>1</a:t>
            </a:r>
            <a:endParaRPr lang="ko-KR" altLang="en-US" dirty="0" smtClean="0" sz="1130" i="1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97" i="1">
                <a:solidFill>
                  <a:srgbClr val="000000"/>
                </a:solidFill>
                <a:latin typeface="Arial"/>
              </a:rPr>
              <a:t>Level n-2</a:t>
            </a:r>
            <a:endParaRPr lang="ko-KR" altLang="en-US" dirty="0" smtClean="0" sz="897" i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349" i="1">
                <a:solidFill>
                  <a:srgbClr val="000000"/>
                </a:solidFill>
                <a:latin typeface="Arial"/>
              </a:rPr>
              <a:t>X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349" i="1">
                <a:solidFill>
                  <a:srgbClr val="000000"/>
                </a:solidFill>
                <a:latin typeface="Arial"/>
              </a:rPr>
              <a:t>Y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49" i="1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349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97">
                <a:solidFill>
                  <a:srgbClr val="000000"/>
                </a:solidFill>
                <a:latin typeface="Arial"/>
              </a:rPr>
              <a:t>new</a:t>
            </a:r>
            <a:endParaRPr lang="ko-KR" altLang="en-US" dirty="0" smtClean="0" sz="897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97" i="1">
                <a:solidFill>
                  <a:srgbClr val="000000"/>
                </a:solidFill>
                <a:latin typeface="Arial"/>
              </a:rPr>
              <a:t>Level n</a:t>
            </a:r>
            <a:endParaRPr lang="ko-KR" altLang="en-US" dirty="0" smtClean="0" sz="897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97">
                <a:solidFill>
                  <a:srgbClr val="000000"/>
                </a:solidFill>
                <a:latin typeface="Arial"/>
              </a:rPr>
              <a:t>new</a:t>
            </a:r>
            <a:endParaRPr lang="ko-KR" altLang="en-US" dirty="0" smtClean="0" sz="897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897" b="1">
                <a:solidFill>
                  <a:srgbClr val="000000"/>
                </a:solidFill>
                <a:latin typeface="Arial"/>
              </a:rPr>
              <a:t>Fig 21.13: Single right rotation to fix case 1</a:t>
            </a:r>
            <a:endParaRPr lang="ko-KR" altLang="en-US" dirty="0" smtClean="0" sz="897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shown, single right notation to fix case 1. Two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figure,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(and also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	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its left child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Z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triangle is its right child. The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the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 new node is also shown below to the triangle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exact position (whether this node will be right or left child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mentioned here. As the new node is inserted as a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why it is called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outside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insertion, the insertion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inside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the new node is inserted as a child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insertion falls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mentioned above, so by our definition above,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rotation should fix the balance.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has been rotated single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towards right to become the right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left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traverse the tree in inorder fashion, we will see that the output is same: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   k1   Y   k2   Z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597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005" i="1" b="1">
                <a:solidFill>
                  <a:srgbClr val="FFFFFF"/>
                </a:solidFill>
                <a:latin typeface="Arial"/>
              </a:rPr>
              <a:t>1</a:t>
            </a:r>
            <a:endParaRPr lang="ko-KR" altLang="en-US" dirty="0" smtClean="0" sz="1005" i="1" b="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201" i="1">
                <a:solidFill>
                  <a:srgbClr val="000000"/>
                </a:solidFill>
                <a:latin typeface="Arial"/>
              </a:rPr>
              <a:t>X</a:t>
            </a:r>
            <a:endParaRPr lang="ko-KR" altLang="en-US" dirty="0" smtClean="0" sz="1201" i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201" i="1">
                <a:solidFill>
                  <a:srgbClr val="000000"/>
                </a:solidFill>
                <a:latin typeface="Arial"/>
              </a:rPr>
              <a:t>Y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798" i="1">
                <a:solidFill>
                  <a:srgbClr val="000000"/>
                </a:solidFill>
                <a:latin typeface="Arial"/>
              </a:rPr>
              <a:t>Level n-1</a:t>
            </a:r>
            <a:endParaRPr lang="ko-KR" altLang="en-US" dirty="0" smtClean="0" sz="798" i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8" i="1">
                <a:solidFill>
                  <a:srgbClr val="000000"/>
                </a:solidFill>
                <a:latin typeface="Arial"/>
              </a:rPr>
              <a:t>Level n</a:t>
            </a:r>
            <a:endParaRPr lang="ko-KR" altLang="en-US" dirty="0" smtClean="0" sz="798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Arial"/>
              </a:rPr>
              <a:t>Fig 21.14: Single left rotation to fix case 4</a:t>
            </a:r>
            <a:endParaRPr lang="ko-KR" altLang="en-US" dirty="0" smtClean="0" sz="798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figure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21.14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the new node has been inserted as a child node of Z,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why it is shown in bigger size covering the next level. Now this is an example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because the new node is inserted below the right subtree of the right child of the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245 of 519 </a:t>
            </a:r>
            <a:endParaRPr lang="ko-KR" altLang="en-US" dirty="0" smtClean="0" sz="1056"/>
          </a:p>
        </p:txBody>
      </p:sp>
      <p:sp>
        <p:nvSpPr>
          <p:cNvPr id="652" name="Rect 3"/>
          <p:cNvSpPr>
            <a:spLocks noGrp="1" noChangeArrowheads="1"/>
          </p:cNvSpPr>
          <p:nvPr/>
        </p:nvSpPr>
        <p:spPr>
          <a:xfrm rot="0">
            <a:off x="4693920" y="1261745"/>
            <a:ext cx="973455" cy="6334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95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130" i="1" b="1">
                <a:solidFill>
                  <a:srgbClr val="FFFFFF"/>
                </a:solidFill>
                <a:latin typeface="Arial"/>
              </a:rPr>
              <a:t>1</a:t>
            </a:r>
            <a:endParaRPr lang="ko-KR" altLang="en-US" dirty="0" smtClean="0" sz="1130" i="1" b="1"/>
          </a:p>
          <a:p>
            <a:pPr marL="0" indent="0" defTabSz="15240" algn="l">
              <a:lnSpc>
                <a:spcPts val="4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</a:t>
            </a:r>
            <a:r>
              <a:rPr lang="en-US" altLang="ko-KR" dirty="0" smtClean="0" sz="1201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201" i="1"/>
          </a:p>
        </p:txBody>
      </p:sp>
      <p:sp>
        <p:nvSpPr>
          <p:cNvPr id="653" name="Rect 3"/>
          <p:cNvSpPr>
            <a:spLocks noGrp="1" noChangeArrowheads="1"/>
          </p:cNvSpPr>
          <p:nvPr/>
        </p:nvSpPr>
        <p:spPr>
          <a:xfrm rot="0">
            <a:off x="2209800" y="1179830"/>
            <a:ext cx="3496945" cy="6553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43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endParaRPr lang="ko-KR" altLang="en-US" dirty="0" smtClean="0" sz="143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95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130" i="1">
                <a:solidFill>
                  <a:srgbClr val="FFFFFF"/>
                </a:solidFill>
                <a:latin typeface="Arial"/>
              </a:rPr>
              <a:t>2</a:t>
            </a:r>
            <a:endParaRPr lang="ko-KR" altLang="en-US" dirty="0" smtClean="0" sz="1130" i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49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349" i="1"/>
          </a:p>
          <a:p>
            <a:pPr marL="0" indent="0" defTabSz="15240" algn="l">
              <a:lnSpc>
                <a:spcPts val="29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01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8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98" i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05" i="1">
                <a:solidFill>
                  <a:srgbClr val="FFFFFF"/>
                </a:solidFill>
                <a:latin typeface="Arial"/>
              </a:rPr>
              <a:t>2</a:t>
            </a:r>
            <a:endParaRPr lang="ko-KR" altLang="en-US" dirty="0" smtClean="0" sz="1005" i="1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01" i="1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201" i="1"/>
          </a:p>
        </p:txBody>
      </p:sp>
      <p:sp>
        <p:nvSpPr>
          <p:cNvPr id="654" name="Rect 3"/>
          <p:cNvSpPr>
            <a:spLocks noGrp="1" noChangeArrowheads="1"/>
          </p:cNvSpPr>
          <p:nvPr/>
        </p:nvSpPr>
        <p:spPr>
          <a:xfrm rot="0">
            <a:off x="2020570" y="1261745"/>
            <a:ext cx="2768600" cy="65563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95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130" i="1" b="1">
                <a:solidFill>
                  <a:srgbClr val="FFFFFF"/>
                </a:solidFill>
                <a:latin typeface="Arial"/>
              </a:rPr>
              <a:t>2</a:t>
            </a:r>
            <a:endParaRPr lang="ko-KR" altLang="en-US" dirty="0" smtClean="0" sz="1130" i="1" b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349" i="1">
                <a:solidFill>
                  <a:srgbClr val="000000"/>
                </a:solidFill>
                <a:latin typeface="Arial"/>
              </a:rPr>
              <a:t>Z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349" i="1">
                <a:solidFill>
                  <a:srgbClr val="000000"/>
                </a:solidFill>
                <a:latin typeface="Arial"/>
              </a:rPr>
              <a:t>X</a:t>
            </a:r>
            <a:endParaRPr lang="ko-KR" altLang="en-US" dirty="0" smtClean="0" sz="1349" i="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</a:t>
            </a:r>
            <a:r>
              <a:rPr lang="en-US" altLang="ko-KR" dirty="0" smtClean="0" sz="897" i="1">
                <a:solidFill>
                  <a:srgbClr val="000000"/>
                </a:solidFill>
                <a:latin typeface="Arial"/>
              </a:rPr>
              <a:t>Level n-1</a:t>
            </a:r>
            <a:endParaRPr lang="ko-KR" altLang="en-US" dirty="0" smtClean="0" sz="897" i="1"/>
          </a:p>
          <a:p>
            <a:pPr marL="0" indent="0" defTabSz="15240" algn="l">
              <a:lnSpc>
                <a:spcPts val="2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97" i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005" i="1">
                <a:solidFill>
                  <a:srgbClr val="FFFFFF"/>
                </a:solidFill>
                <a:latin typeface="Arial"/>
              </a:rPr>
              <a:t>1</a:t>
            </a:r>
            <a:endParaRPr lang="ko-KR" altLang="en-US" dirty="0" smtClean="0" sz="1005" i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1597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1005" i="1" b="1">
                <a:solidFill>
                  <a:srgbClr val="FFFFFF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97" i="1" b="1">
                <a:solidFill>
                  <a:srgbClr val="FFFFFF"/>
                </a:solidFill>
                <a:latin typeface="Arial"/>
              </a:rPr>
              <a:t>k</a:t>
            </a:r>
            <a:endParaRPr lang="ko-KR" altLang="en-US" dirty="0" smtClean="0" sz="1597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798" i="1">
                <a:solidFill>
                  <a:srgbClr val="000000"/>
                </a:solidFill>
                <a:latin typeface="Arial"/>
              </a:rPr>
              <a:t>Level n-2</a:t>
            </a:r>
            <a:endParaRPr lang="ko-KR" altLang="en-US" dirty="0" smtClean="0" sz="798" i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01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201" i="1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2395855"/>
            <a:ext cx="1374775" cy="14903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060065" y="2477770"/>
            <a:ext cx="673735" cy="1587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584960" y="3904615"/>
            <a:ext cx="161290" cy="1917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7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340225" y="2395855"/>
            <a:ext cx="1487805" cy="14903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57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5081270" y="3904615"/>
            <a:ext cx="158115" cy="1917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node (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). One rotation towards should make it balanced within limits of AVL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The figure on the right is after rotation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one time towards left.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right child node of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our function of insertion in our code, we will do insertion, will compute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factors for nodes and make rotations.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will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cases 2 and 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these are not resolved by a single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1531" i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964" i="1">
                <a:solidFill>
                  <a:srgbClr val="FFFFFF"/>
                </a:solidFill>
                <a:latin typeface="Arial"/>
              </a:rPr>
              <a:t>1</a:t>
            </a:r>
            <a:endParaRPr lang="ko-KR" altLang="en-US" dirty="0" smtClean="0" sz="964" i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</a:t>
            </a:r>
            <a:r>
              <a:rPr lang="en-US" altLang="ko-KR" dirty="0" smtClean="0" sz="1531" i="1" b="1">
                <a:solidFill>
                  <a:srgbClr val="FFFFFF"/>
                </a:solidFill>
                <a:latin typeface="Arial"/>
              </a:rPr>
              <a:t>k</a:t>
            </a:r>
            <a:endParaRPr lang="ko-KR" altLang="en-US" dirty="0" smtClean="0" sz="1531" i="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151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X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Y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151" i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65" i="1">
                <a:solidFill>
                  <a:srgbClr val="000000"/>
                </a:solidFill>
                <a:latin typeface="Arial"/>
              </a:rPr>
              <a:t>Level n</a:t>
            </a:r>
            <a:endParaRPr lang="ko-KR" altLang="en-US" dirty="0" smtClean="0" sz="765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765">
                <a:solidFill>
                  <a:srgbClr val="000000"/>
                </a:solidFill>
                <a:latin typeface="Arial"/>
              </a:rPr>
              <a:t>new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65">
                <a:solidFill>
                  <a:srgbClr val="000000"/>
                </a:solidFill>
                <a:latin typeface="Arial"/>
              </a:rPr>
              <a:t>new</a:t>
            </a:r>
            <a:endParaRPr lang="ko-KR" altLang="en-US" dirty="0" smtClean="0" sz="765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765" b="1">
                <a:solidFill>
                  <a:srgbClr val="000000"/>
                </a:solidFill>
                <a:latin typeface="Arial"/>
              </a:rPr>
              <a:t>Fig 21.15: Single right rotation fails to fix case 2</a:t>
            </a:r>
            <a:endParaRPr lang="ko-KR" altLang="en-US" dirty="0" smtClean="0" sz="765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here that the new node is inserted below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inside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insertion. The balance factor for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make single rotation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making right rotation on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shown in the figure on the right. We compute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factor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 –2. So the tree is still not within the limits of AVL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Primarily the reason for this failure is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subtree, which is unchanged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 after making one rotation. It changes its parent node but its subtree remains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intact. We will cover the double rotation in the next lecture.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very important that you study the examples given in your text book and try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practice the concepts rigorously.  </a:t>
            </a:r>
            <a:endParaRPr lang="ko-KR" altLang="en-US" dirty="0" smtClean="0" sz="1056"/>
          </a:p>
          <a:p>
            <a:pPr marL="0" indent="0" defTabSz="15240" algn="l">
              <a:lnSpc>
                <a:spcPts val="2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246 of 519 </a:t>
            </a:r>
            <a:endParaRPr lang="ko-KR" altLang="en-US" dirty="0" smtClean="0" sz="1056"/>
          </a:p>
        </p:txBody>
      </p:sp>
      <p:sp>
        <p:nvSpPr>
          <p:cNvPr id="657" name="Rect 3"/>
          <p:cNvSpPr>
            <a:spLocks noGrp="1" noChangeArrowheads="1"/>
          </p:cNvSpPr>
          <p:nvPr/>
        </p:nvSpPr>
        <p:spPr>
          <a:xfrm rot="0">
            <a:off x="4428490" y="2724785"/>
            <a:ext cx="1086485" cy="8991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</a:t>
            </a:r>
            <a:r>
              <a:rPr lang="en-US" altLang="ko-KR" dirty="0" smtClean="0" sz="1531" i="1" b="1">
                <a:solidFill>
                  <a:srgbClr val="FFFFFF"/>
                </a:solidFill>
                <a:latin typeface="Arial"/>
              </a:rPr>
              <a:t>k</a:t>
            </a:r>
            <a:r>
              <a:rPr lang="en-US" altLang="ko-KR" dirty="0" smtClean="0" sz="964" i="1" b="1">
                <a:solidFill>
                  <a:srgbClr val="FFFFFF"/>
                </a:solidFill>
                <a:latin typeface="Arial"/>
              </a:rPr>
              <a:t>2</a:t>
            </a:r>
            <a:endParaRPr lang="ko-KR" altLang="en-US" dirty="0" smtClean="0" sz="964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X</a:t>
            </a:r>
            <a:endParaRPr lang="ko-KR" altLang="en-US" dirty="0" smtClean="0" sz="1151" i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51" i="1"/>
          </a:p>
        </p:txBody>
      </p:sp>
      <p:sp>
        <p:nvSpPr>
          <p:cNvPr id="658" name="Rect 3"/>
          <p:cNvSpPr>
            <a:spLocks noGrp="1" noChangeArrowheads="1"/>
          </p:cNvSpPr>
          <p:nvPr/>
        </p:nvSpPr>
        <p:spPr>
          <a:xfrm rot="0">
            <a:off x="1438910" y="2270760"/>
            <a:ext cx="3624580" cy="13474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endParaRPr lang="ko-KR" altLang="en-US" dirty="0" smtClean="0" sz="107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65" i="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51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65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65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64" i="1">
                <a:solidFill>
                  <a:srgbClr val="FFFFFF"/>
                </a:solidFill>
                <a:latin typeface="Arial"/>
              </a:rPr>
              <a:t>2</a:t>
            </a:r>
            <a:endParaRPr lang="ko-KR" altLang="en-US" dirty="0" smtClean="0" sz="964" i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765" i="1">
                <a:solidFill>
                  <a:srgbClr val="000000"/>
                </a:solidFill>
                <a:latin typeface="Arial"/>
              </a:rPr>
              <a:t>Level n-2</a:t>
            </a:r>
            <a:endParaRPr lang="ko-KR" altLang="en-US" dirty="0" smtClean="0" sz="765" i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765" i="1">
                <a:solidFill>
                  <a:srgbClr val="000000"/>
                </a:solidFill>
                <a:latin typeface="Arial"/>
              </a:rPr>
              <a:t>Level n-1</a:t>
            </a:r>
            <a:endParaRPr lang="ko-KR" altLang="en-US" dirty="0" smtClean="0" sz="765" i="1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4730" y="6809105"/>
            <a:ext cx="4660900" cy="17799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6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22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4.4.2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Cases of rotations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Left-right double rotation to fix case 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Right-left double rotation to fix case 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Code for avlInsert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Cases of rotations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how to make insertions in the AVL tree. It was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seen that due to the insertion of a node, the tree has become unbalanced. Resultantly,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was difficult to fix it with the single rotation. We have analyzed the insertion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again and talked about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node. The new node will be inserted at the left or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’s left child or at the left or right subtree of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’s right child.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question arises whether the single rotation help us in balancing the tree or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not. If the new node is inserted in the left subtree of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’s left child or in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		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’s right child, the balance will be restored through single rotation.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However, if the new node goes inside the tree, the single rotation is not going to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successful in balancing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face four scenarios in this case. We said that in the case-1 and case-4, single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is successful while in the case-2 and case-3 single rotation does not work.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tree in the diagram given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Single right rotation fails to fix case 2. </a:t>
            </a:r>
            <a:endParaRPr lang="ko-KR" altLang="en-US" dirty="0" smtClean="0" sz="923" b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49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749" i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Level n-2 </a:t>
            </a:r>
            <a:endParaRPr lang="ko-KR" altLang="en-US" dirty="0" smtClean="0" sz="923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X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Y </a:t>
            </a:r>
            <a:endParaRPr lang="ko-KR" altLang="en-US" dirty="0" smtClean="0" sz="1145" i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Level n </a:t>
            </a:r>
            <a:endParaRPr lang="ko-KR" altLang="en-US" dirty="0" smtClean="0" sz="923" i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new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 b="1">
                <a:solidFill>
                  <a:srgbClr val="000000"/>
                </a:solidFill>
                <a:latin typeface="Arial"/>
              </a:rPr>
              <a:t>new</a:t>
            </a:r>
            <a:endParaRPr lang="ko-KR" altLang="en-US" dirty="0" smtClean="0" sz="923" b="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247 of 519 </a:t>
            </a:r>
            <a:endParaRPr lang="ko-KR" altLang="en-US" dirty="0" smtClean="0" sz="1056"/>
          </a:p>
        </p:txBody>
      </p:sp>
      <p:sp>
        <p:nvSpPr>
          <p:cNvPr id="661" name="Rect 3"/>
          <p:cNvSpPr>
            <a:spLocks noGrp="1" noChangeArrowheads="1"/>
          </p:cNvSpPr>
          <p:nvPr/>
        </p:nvSpPr>
        <p:spPr>
          <a:xfrm rot="0">
            <a:off x="5464810" y="7885430"/>
            <a:ext cx="156845" cy="1701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Z </a:t>
            </a:r>
            <a:endParaRPr lang="ko-KR" altLang="en-US" dirty="0" smtClean="0" sz="1145" i="1"/>
          </a:p>
        </p:txBody>
      </p:sp>
      <p:sp>
        <p:nvSpPr>
          <p:cNvPr id="662" name="Rect 3"/>
          <p:cNvSpPr>
            <a:spLocks noGrp="1" noChangeArrowheads="1"/>
          </p:cNvSpPr>
          <p:nvPr/>
        </p:nvSpPr>
        <p:spPr>
          <a:xfrm rot="0">
            <a:off x="4087495" y="6815455"/>
            <a:ext cx="1204595" cy="12738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49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49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X </a:t>
            </a:r>
            <a:endParaRPr lang="ko-KR" altLang="en-US" dirty="0" smtClean="0" sz="1145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Y </a:t>
            </a:r>
            <a:endParaRPr lang="ko-KR" altLang="en-US" dirty="0" smtClean="0" sz="1145" i="1"/>
          </a:p>
        </p:txBody>
      </p:sp>
      <p:sp>
        <p:nvSpPr>
          <p:cNvPr id="663" name="Rect 3"/>
          <p:cNvSpPr>
            <a:spLocks noGrp="1" noChangeArrowheads="1"/>
          </p:cNvSpPr>
          <p:nvPr/>
        </p:nvSpPr>
        <p:spPr>
          <a:xfrm rot="0">
            <a:off x="1987550" y="6833870"/>
            <a:ext cx="2740660" cy="1276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49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49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49" i="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Z </a:t>
            </a:r>
            <a:endParaRPr lang="ko-KR" altLang="en-US" dirty="0" smtClean="0" sz="1145" i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Level n-1</a:t>
            </a:r>
            <a:endParaRPr lang="ko-KR" altLang="en-US" dirty="0" smtClean="0" sz="923" i="1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07210" y="3334385"/>
            <a:ext cx="2633980" cy="26943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6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tree, we have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has a left child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Whereas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its left and right children.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a right child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the newly inserted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works as the left or right child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Due to this insertion, one level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increased in the tree. We have applied single rotation on the link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side tree in the figure is the post-rotation tree.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now at the top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comes down and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changes its position. Now if you see the levels of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node, these are seen same. Have a look on the level of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reflects that the difference between the left and right side levels is still 2. So the single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does not work here.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how we can fix that problem. A fresh look on the following diagram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us understand the problem.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145" i="1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X </a:t>
            </a:r>
            <a:endParaRPr lang="ko-KR" altLang="en-US" dirty="0" smtClean="0" sz="1758" i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Y </a:t>
            </a:r>
            <a:endParaRPr lang="ko-KR" altLang="en-US" dirty="0" smtClean="0" sz="1758" i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root node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Z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the right and left children respectively.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node is inserted under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so we have shown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a big triangle. The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inserted in the right subtree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increasing its level by 1.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not empty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 was inserted in it.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empty, the new node will be inserted under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a shape of a tree having a root and possibly left and right subtrees.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view the entire tree with four subtrees connected with 3 nodes. See the diagram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below. </a:t>
            </a:r>
            <a:endParaRPr lang="ko-KR" altLang="en-US" dirty="0" smtClean="0" sz="1056"/>
          </a:p>
          <a:p>
            <a:pPr marL="0" indent="0" defTabSz="15240" algn="l">
              <a:lnSpc>
                <a:spcPts val="1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248 of 519 </a:t>
            </a:r>
            <a:endParaRPr lang="ko-KR" altLang="en-US" dirty="0" smtClean="0" sz="1056"/>
          </a:p>
        </p:txBody>
      </p:sp>
      <p:sp>
        <p:nvSpPr>
          <p:cNvPr id="666" name="Rect 3"/>
          <p:cNvSpPr>
            <a:spLocks noGrp="1" noChangeArrowheads="1"/>
          </p:cNvSpPr>
          <p:nvPr/>
        </p:nvSpPr>
        <p:spPr>
          <a:xfrm rot="0">
            <a:off x="4096385" y="4312920"/>
            <a:ext cx="223520" cy="2622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Z </a:t>
            </a:r>
            <a:endParaRPr lang="ko-KR" altLang="en-US" dirty="0" smtClean="0" sz="1758" i="1"/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57070" y="1130935"/>
            <a:ext cx="2636520" cy="32950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145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758" i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758" i="1"/>
          </a:p>
          <a:p>
            <a:pPr marL="0" indent="0" defTabSz="15240" algn="l">
              <a:lnSpc>
                <a:spcPts val="6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expanded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shown the root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K2,		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its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subtrees. We have also changed the notations of other nodes. Here,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as subtrees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as the nodes. Let’s see where the new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in this expanded tree and how can we restore its balance. Either 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levels deeper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we are not sure which one is deeper. The value of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be compared with the data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that will decide that this new node should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inserted in the right subtree or left subtree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value in the new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be inserted in the right subtree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value in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smaller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be inserted in the left subtree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See the diagram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2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249 of 519 </a:t>
            </a:r>
            <a:endParaRPr lang="ko-KR" altLang="en-US" dirty="0" smtClean="0" sz="1056"/>
          </a:p>
        </p:txBody>
      </p:sp>
      <p:sp>
        <p:nvSpPr>
          <p:cNvPr id="669" name="Rect 3"/>
          <p:cNvSpPr>
            <a:spLocks noGrp="1" noChangeArrowheads="1"/>
          </p:cNvSpPr>
          <p:nvPr/>
        </p:nvSpPr>
        <p:spPr>
          <a:xfrm rot="0">
            <a:off x="4264025" y="2106295"/>
            <a:ext cx="187325" cy="2622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1758" i="1"/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84630" y="1222375"/>
            <a:ext cx="3505200" cy="36328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145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 i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140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1409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140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40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new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new’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New node inserted at either of the two spots</a:t>
            </a:r>
            <a:endParaRPr lang="ko-KR" altLang="en-US" dirty="0" smtClean="0" sz="1013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the both possible locations of the new node in the above diagram.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difference of levels of the right and left subtrees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difference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2. Therefore the expansion of either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due to the insertion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node, will lead to a difference of 2. Therefore, it does not matter whether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 is inserted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both of the cases, the difference becomes 2.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try to balance the tree with the help of single rotation. Here the single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does not work and the tree remains unbalanced. To re-balance it,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cannot be left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root. Now the question arises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cannot become root, then which node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root? In the single rotation,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were involved. So either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down. We have two options i.e. left rotation or right rotation. If we 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root, the tree will be still unbalanced. The only alternative is to place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root. So we have to make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root to balance the tree. How can we do that?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make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root, it forces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‘s left child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be its right child.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carry out these changes, the condition is followed by the inorder traversal.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above tree in the diagram. In that diagram,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root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child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right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Here,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B, 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subtrees.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should know the inorder traversal of this tree. It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k1, B, k2, C, 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A, B, 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means the complete inorder traversal of these subtrees.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memorize this tree traversal. 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250 of 519 </a:t>
            </a:r>
            <a:endParaRPr lang="ko-KR" altLang="en-US" dirty="0" smtClean="0" sz="1056"/>
          </a:p>
        </p:txBody>
      </p:sp>
      <p:sp>
        <p:nvSpPr>
          <p:cNvPr id="672" name="Rect 3"/>
          <p:cNvSpPr>
            <a:spLocks noGrp="1" noChangeArrowheads="1"/>
          </p:cNvSpPr>
          <p:nvPr/>
        </p:nvSpPr>
        <p:spPr>
          <a:xfrm rot="0">
            <a:off x="4629785" y="3788410"/>
            <a:ext cx="174625" cy="210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409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2190" y="2941320"/>
            <a:ext cx="4721225" cy="25539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to take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the root of this tree and rearrange the subtrees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B, 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the left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going to be its right child. Finally if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this new tree, it will be the same as seen above. If it is not same, it will mean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there is something wrong in the rotation. We have to find some other solution.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how we can rotate our tree so that we get the desired results.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Left-right double rotation to fix case 2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perform a double rotation to achieve our desired results. Let’s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diagram below: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Left-right double rotation to fix case 2. </a:t>
            </a:r>
            <a:endParaRPr lang="ko-KR" altLang="en-US" dirty="0" smtClean="0" sz="88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881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881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88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881" b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new’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</a:t>
            </a:r>
            <a:endParaRPr lang="ko-KR" altLang="en-US" dirty="0" smtClean="0" sz="881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left side, we have the same tree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its root. We have also shown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the new node will be attached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first,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carry out the left rotation between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During the process of left rotation,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comes down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goes up. Afterwards,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become the left child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the left subtree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will become the right subtree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rotation. You can see the new rotated tree in the above figure. It also shows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become the right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Moreover, the new node is seen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perform the inorder traversal of this new rotated tree. It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k1, B, k2, C, 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same as witnessed in case of the inorder traversal of original tree. With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rotation,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gone one step up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come down. Now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the left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are trying to make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root of this tree.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rotation should we perform to achieve this?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perform right rotation to make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root of the tree. As a result,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have become its left and right children respectively. The new node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new tree is shown in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251 of 519 </a:t>
            </a:r>
            <a:endParaRPr lang="ko-KR" altLang="en-US" dirty="0" smtClean="0" sz="1056"/>
          </a:p>
        </p:txBody>
      </p:sp>
      <p:sp>
        <p:nvSpPr>
          <p:cNvPr id="675" name="Rect 3"/>
          <p:cNvSpPr>
            <a:spLocks noGrp="1" noChangeArrowheads="1"/>
          </p:cNvSpPr>
          <p:nvPr/>
        </p:nvSpPr>
        <p:spPr>
          <a:xfrm rot="0">
            <a:off x="4230370" y="3694430"/>
            <a:ext cx="1351280" cy="15176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881" b="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B</a:t>
            </a:r>
            <a:endParaRPr lang="ko-KR" altLang="en-US" dirty="0" smtClean="0" sz="88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new’ </a:t>
            </a:r>
            <a:endParaRPr lang="ko-KR" altLang="en-US" dirty="0" smtClean="0" sz="881" b="1"/>
          </a:p>
        </p:txBody>
      </p:sp>
      <p:sp>
        <p:nvSpPr>
          <p:cNvPr id="676" name="Rect 3"/>
          <p:cNvSpPr>
            <a:spLocks noGrp="1" noChangeArrowheads="1"/>
          </p:cNvSpPr>
          <p:nvPr/>
        </p:nvSpPr>
        <p:spPr>
          <a:xfrm rot="0">
            <a:off x="2987040" y="3623945"/>
            <a:ext cx="1832610" cy="16097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Rotate left</a:t>
            </a:r>
            <a:endParaRPr lang="ko-KR" altLang="en-US" dirty="0" smtClean="0" sz="1013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88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88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881" b="1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2190" y="1197610"/>
            <a:ext cx="4848860" cy="26123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7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881" b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B</a:t>
            </a:r>
            <a:endParaRPr lang="ko-KR" altLang="en-US" dirty="0" smtClean="0" sz="881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88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 </a:t>
            </a:r>
            <a:endParaRPr lang="ko-KR" altLang="en-US" dirty="0" smtClean="0" sz="881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levels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new’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Of these, one is the new node. Here you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the levels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new’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are the same. The new tree is now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one. Let’s check the inorder traversal of this tree. It should be the same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of the original tree. The inorder traversal of new 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k1, B, k2, C, 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is same as that of the original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known as double rotation. In double rotation, we perform two single rotations.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a result, the balance is restored and the AVL condition is again fulfilled.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see in which order, the double rotation is performed? We performed a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between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link, followed by a right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Right-left double rotation to fix case 3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case, the node is inserted in left subtree of the right child, we encounter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situation as discussed above. But here, we will perform right rotation at first before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for a left rotation. Let’s discuss this symmetric case and see how we can apply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double rotation here. First we perform the right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1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252 of 519 </a:t>
            </a:r>
            <a:endParaRPr lang="ko-KR" altLang="en-US" dirty="0" smtClean="0" sz="1056"/>
          </a:p>
        </p:txBody>
      </p:sp>
      <p:sp>
        <p:nvSpPr>
          <p:cNvPr id="679" name="Rect 3"/>
          <p:cNvSpPr>
            <a:spLocks noGrp="1" noChangeArrowheads="1"/>
          </p:cNvSpPr>
          <p:nvPr/>
        </p:nvSpPr>
        <p:spPr>
          <a:xfrm rot="0">
            <a:off x="4316095" y="1499870"/>
            <a:ext cx="768985" cy="20478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013" i="1" b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659" i="1" b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659" i="1" b="1"/>
          </a:p>
          <a:p>
            <a:pPr marL="0" indent="0" defTabSz="15240" algn="l">
              <a:lnSpc>
                <a:spcPts val="1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new’ </a:t>
            </a:r>
            <a:endParaRPr lang="ko-KR" altLang="en-US" dirty="0" smtClean="0" sz="881" b="1"/>
          </a:p>
        </p:txBody>
      </p:sp>
      <p:sp>
        <p:nvSpPr>
          <p:cNvPr id="680" name="Rect 3"/>
          <p:cNvSpPr>
            <a:spLocks noGrp="1" noChangeArrowheads="1"/>
          </p:cNvSpPr>
          <p:nvPr/>
        </p:nvSpPr>
        <p:spPr>
          <a:xfrm rot="0">
            <a:off x="2145665" y="1576070"/>
            <a:ext cx="3555365" cy="195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Rotate right</a:t>
            </a:r>
            <a:endParaRPr lang="ko-KR" altLang="en-US" dirty="0" smtClean="0" sz="1013"/>
          </a:p>
          <a:p>
            <a:pPr marL="0" indent="0" defTabSz="15240" algn="l">
              <a:lnSpc>
                <a:spcPts val="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881" b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881" b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1" b="1">
                <a:solidFill>
                  <a:srgbClr val="000000"/>
                </a:solidFill>
                <a:latin typeface="Arial"/>
              </a:rPr>
              <a:t>new’ </a:t>
            </a:r>
            <a:endParaRPr lang="ko-KR" altLang="en-US" dirty="0" smtClean="0" sz="881" b="1"/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4730" y="4931410"/>
            <a:ext cx="4846320" cy="19843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8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14730" y="1410970"/>
            <a:ext cx="1804670" cy="19418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8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849880" y="1410970"/>
            <a:ext cx="3011170" cy="19418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8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Right-left double rotation to fix case 3.</a:t>
            </a:r>
            <a:endParaRPr lang="ko-KR" altLang="en-US" dirty="0" smtClean="0" sz="1145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834" i="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34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277" i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834" i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1277" i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root of the tree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right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the inner child.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tree expanded again here and the new node will be inserted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left subtree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we have to transform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into the root of the tree, 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rotation between the link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will be carried out. As a result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come up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go down. The subtree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gone up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subtree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now attached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make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root of the tree,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the left rotation between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Let’s see this rotation in the figure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below: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834" i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834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277" i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834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277" i="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277" i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 at the right side, we have the final shape of the tree. You can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become the root of the tree.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its left and right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While performing the inorder traversal, you will see that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preserved our inorder traversal.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started this activity while building an example tree. We inserted numbers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When the balance factor becomes more than one, rotation is performed. During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process, we came at a point when single rotation failed to balance the tree. Now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need to perform double rotation to balance the tree that is actually two single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rotations. Do not take double rotation as some complex function, it is simply two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253 of 519 </a:t>
            </a:r>
            <a:endParaRPr lang="ko-KR" altLang="en-US" dirty="0" smtClean="0" sz="1056"/>
          </a:p>
        </p:txBody>
      </p:sp>
      <p:sp>
        <p:nvSpPr>
          <p:cNvPr id="683" name="Rect 3"/>
          <p:cNvSpPr>
            <a:spLocks noGrp="1" noChangeArrowheads="1"/>
          </p:cNvSpPr>
          <p:nvPr/>
        </p:nvSpPr>
        <p:spPr>
          <a:xfrm rot="0">
            <a:off x="4361815" y="1438910"/>
            <a:ext cx="1442720" cy="48945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34" i="1"/>
          </a:p>
          <a:p>
            <a:pPr marL="0" indent="0" defTabSz="15240" algn="l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34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B </a:t>
            </a:r>
            <a:endParaRPr lang="ko-KR" altLang="en-US" dirty="0" smtClean="0" sz="1277" i="1"/>
          </a:p>
          <a:p>
            <a:pPr marL="0" indent="0" defTabSz="15240" algn="l">
              <a:lnSpc>
                <a:spcPts val="1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834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834" i="1"/>
          </a:p>
          <a:p>
            <a:pPr marL="0" indent="0" defTabSz="15240" algn="l">
              <a:lnSpc>
                <a:spcPts val="7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277" i="1"/>
          </a:p>
        </p:txBody>
      </p:sp>
      <p:sp>
        <p:nvSpPr>
          <p:cNvPr id="684" name="Rect 3"/>
          <p:cNvSpPr>
            <a:spLocks noGrp="1" noChangeArrowheads="1"/>
          </p:cNvSpPr>
          <p:nvPr/>
        </p:nvSpPr>
        <p:spPr>
          <a:xfrm rot="0">
            <a:off x="2581910" y="1417320"/>
            <a:ext cx="3228340" cy="54070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Rotate right</a:t>
            </a:r>
            <a:endParaRPr lang="ko-KR" altLang="en-US" dirty="0" smtClean="0" sz="1145"/>
          </a:p>
          <a:p>
            <a:pPr marL="0" indent="0" defTabSz="15240" algn="l">
              <a:lnSpc>
                <a:spcPts val="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277" i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277" i="1"/>
          </a:p>
          <a:p>
            <a:pPr marL="0" indent="0" defTabSz="15240" algn="l">
              <a:lnSpc>
                <a:spcPts val="1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Rotate left</a:t>
            </a:r>
            <a:endParaRPr lang="ko-KR" altLang="en-US" dirty="0" smtClean="0" sz="1145"/>
          </a:p>
          <a:p>
            <a:pPr marL="0" indent="0" defTabSz="15240" algn="l">
              <a:lnSpc>
                <a:spcPts val="7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277" i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277" i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1277" i="1"/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2553970"/>
            <a:ext cx="4389120" cy="39446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8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rotations in a special order. This order depends on the final position of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Either the new node is inserted at the right subtree of the left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or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left subtree of the right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node. In first case, we have to perform left-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rotation while in the second case, the right-left rotation will be carried out.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go back to our example and try to complete it. So far, we have 1, 2, 3, 4, 5, 6,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16 in the tree and inserted 15 which becomes the left child of the node 16.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758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758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X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(null</a:t>
            </a:r>
            <a:endParaRPr lang="ko-KR" altLang="en-US" dirty="0" smtClean="0" sz="1409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shown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Z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in case of the double rotation. We have shown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Y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expanded and 15 is inside it. Here we will perform the double rotation, beginning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right rotation first.  </a:t>
            </a:r>
            <a:endParaRPr lang="ko-KR" altLang="en-US" dirty="0" smtClean="0" sz="1056"/>
          </a:p>
          <a:p>
            <a:pPr marL="0" indent="0" defTabSz="15240" algn="l">
              <a:lnSpc>
                <a:spcPts val="1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254 of 519 </a:t>
            </a:r>
            <a:endParaRPr lang="ko-KR" altLang="en-US" dirty="0" smtClean="0" sz="1056"/>
          </a:p>
        </p:txBody>
      </p:sp>
      <p:sp>
        <p:nvSpPr>
          <p:cNvPr id="687" name="Rect 3"/>
          <p:cNvSpPr>
            <a:spLocks noGrp="1" noChangeArrowheads="1"/>
          </p:cNvSpPr>
          <p:nvPr/>
        </p:nvSpPr>
        <p:spPr>
          <a:xfrm rot="0">
            <a:off x="4166870" y="3919855"/>
            <a:ext cx="1119505" cy="19475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 i="1"/>
          </a:p>
          <a:p>
            <a:pPr marL="0" indent="0" defTabSz="15240" algn="l">
              <a:lnSpc>
                <a:spcPts val="9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Z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(null</a:t>
            </a:r>
            <a:endParaRPr lang="ko-KR" altLang="en-US" dirty="0" smtClean="0" sz="1409"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5157470"/>
            <a:ext cx="3742690" cy="3072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9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57910" y="1130935"/>
            <a:ext cx="3398520" cy="30937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8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758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758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identified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k1, 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nodes. This is the case where we have to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right-left double rotation. Here we want to promote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upwards. For this purpose,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rotation on the link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15 and 16 will be carried out.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758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758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84">
                <a:solidFill>
                  <a:srgbClr val="000000"/>
                </a:solidFill>
                <a:latin typeface="Arial"/>
              </a:rPr>
              <a:t>Rotate left</a:t>
            </a:r>
            <a:endParaRPr lang="ko-KR" altLang="en-US" dirty="0" smtClean="0" sz="1584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15 now comes up while node 16 has gone down. We have to promote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top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become its right and left children respectively. Now we will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255 of 519 </a:t>
            </a:r>
            <a:endParaRPr lang="ko-KR" altLang="en-US" dirty="0" smtClean="0" sz="1056"/>
          </a:p>
        </p:txBody>
      </p:sp>
      <p:sp>
        <p:nvSpPr>
          <p:cNvPr id="690" name="Rect 3"/>
          <p:cNvSpPr>
            <a:spLocks noGrp="1" noChangeArrowheads="1"/>
          </p:cNvSpPr>
          <p:nvPr/>
        </p:nvSpPr>
        <p:spPr>
          <a:xfrm rot="0">
            <a:off x="4136390" y="3270250"/>
            <a:ext cx="1424305" cy="46697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584">
                <a:solidFill>
                  <a:srgbClr val="000000"/>
                </a:solidFill>
                <a:latin typeface="Arial"/>
              </a:rPr>
              <a:t>Rotate right </a:t>
            </a:r>
            <a:endParaRPr lang="ko-KR" altLang="en-US" dirty="0" smtClean="0" sz="1584"/>
          </a:p>
          <a:p>
            <a:pPr marL="0" indent="0" defTabSz="15240" algn="l">
              <a:lnSpc>
                <a:spcPts val="2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1600200"/>
            <a:ext cx="3541395" cy="24904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9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left rotation on the link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7 and 15. With this left rotation, 15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up and 7 and 16 become its left and right children respectively.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758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to check two things. At first, the tree is balanced or not i.e. the AVL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 is fulfilled or not. Secondly we will confirm that the inorder traversal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preserved or not. The inorder traversal should be the same as that of the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of original tree. Let’s check these two conditions. The depth of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node 4 is 2 while the depth of the right subtree of node 4 is three.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the difference of the levels at node 4 is one. So the AVL condition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fulfilled at node 4. At node 6, we have one level on it left side while at the right side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node 6, there are two levels. As the difference of levels is one, therefore node 6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balanced according to the AVL condition. Similarly other nodes are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fulfilling the AVL condition. If you see the figure above, it is clear that the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doing all this to avoid the link list structure. Whenever we perform rotation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tree, it becomes clear from the figure that it is balanced. If the tree is balanced,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searching, we will not have to go very deep in the tree. After going through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mathematical analysis, you will see that in the worst case scenario, the height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is 1.44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n. This means that the searching in AVL is logarithmic. Therefore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there are ten million nodes in an AVL tree, its levels will be roughly as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(10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million) which is very few. So the traversal in an AVL tree is very simple.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insert some more nodes in our example tree. We will perform single and double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rotations, needed to make the tree balanced. The next number to be inserted is 14.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node 14, according to the inorder traversal, is the right child of 7. Let’s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in the diagram as: </a:t>
            </a:r>
            <a:endParaRPr lang="ko-KR" altLang="en-US" dirty="0" smtClean="0" sz="1056"/>
          </a:p>
          <a:p>
            <a:pPr marL="0" indent="0" defTabSz="15240" algn="l">
              <a:lnSpc>
                <a:spcPts val="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5538470"/>
            <a:ext cx="3867785" cy="32308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69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57910" y="1130935"/>
            <a:ext cx="3541395" cy="31603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9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 i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758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584">
                <a:solidFill>
                  <a:srgbClr val="000000"/>
                </a:solidFill>
                <a:latin typeface="Arial"/>
              </a:rPr>
              <a:t>Rotate right </a:t>
            </a:r>
            <a:endParaRPr lang="ko-KR" altLang="en-US" dirty="0" smtClean="0" sz="1584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node 14 is inserted as the right child of 7 that is the inner subtree of 15.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perform double rotation again. We have identified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to become the root of this subtree. The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come down with their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going to become the root of this subtree. After the right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will be as: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 i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584">
                <a:solidFill>
                  <a:srgbClr val="000000"/>
                </a:solidFill>
                <a:latin typeface="Arial"/>
              </a:rPr>
              <a:t>Rotate left</a:t>
            </a:r>
            <a:endParaRPr lang="ko-KR" altLang="en-US" dirty="0" smtClean="0" sz="1584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758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758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257 of 519 </a:t>
            </a:r>
            <a:endParaRPr lang="ko-KR" altLang="en-US" dirty="0" smtClean="0" sz="1056"/>
          </a:p>
        </p:txBody>
      </p:sp>
      <p:sp>
        <p:nvSpPr>
          <p:cNvPr id="695" name="Rect 3"/>
          <p:cNvSpPr>
            <a:spLocks noGrp="1" noChangeArrowheads="1"/>
          </p:cNvSpPr>
          <p:nvPr/>
        </p:nvSpPr>
        <p:spPr>
          <a:xfrm rot="0">
            <a:off x="3425825" y="2910840"/>
            <a:ext cx="1454785" cy="57670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  <a:p>
            <a:pPr marL="0" indent="0" defTabSz="15240" algn="l">
              <a:lnSpc>
                <a:spcPts val="2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7910" y="2380615"/>
            <a:ext cx="3541395" cy="24930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right rotation,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come one step up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has been turned into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still up. Now we will perform a left rotation on the link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k1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make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root of this subtree. Now think that after this rotation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rearrangement of node what will be the shape of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double rotation, the final shape of the tree will be as: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 i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758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145" i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the root of the subtree.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attained the role of the left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become the right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other nodes 5, 14 and 16 have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rearranged according to the inorder traversal. The node 7 has come up where as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and 15 have become its left and right child. Now just by viewing the above figure,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clear that the tree is balanced according to the AVL condition. Also if we find 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inorder traversal, it should be the same as the inorder traversal of original tree.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of the above tree is 1, 2, 3, 4, 5, 6, 7, 14, 15, and 16. This is in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so with the rotations the inorder traversal is preserved.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insert some more numbers in our tree. The next number to be inserted is 13.  </a:t>
            </a:r>
            <a:endParaRPr lang="ko-KR" altLang="en-US" dirty="0" smtClean="0" sz="1056"/>
          </a:p>
          <a:p>
            <a:pPr marL="0" indent="0" defTabSz="15240" algn="l">
              <a:lnSpc>
                <a:spcPts val="18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258 of 519 </a:t>
            </a:r>
            <a:endParaRPr lang="ko-KR" altLang="en-US" dirty="0" smtClean="0" sz="1056"/>
          </a:p>
        </p:txBody>
      </p:sp>
      <p:sp>
        <p:nvSpPr>
          <p:cNvPr id="698" name="Rect 3"/>
          <p:cNvSpPr>
            <a:spLocks noGrp="1" noChangeArrowheads="1"/>
          </p:cNvSpPr>
          <p:nvPr/>
        </p:nvSpPr>
        <p:spPr>
          <a:xfrm rot="0">
            <a:off x="3904615" y="3477895"/>
            <a:ext cx="217170" cy="2774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758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1145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 i="1"/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45210" y="1130935"/>
            <a:ext cx="4764405" cy="58064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758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758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75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1758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perform single rotation here and rearrange the tree. It will look like as: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362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62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362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7 has become the root of the tree. The nodes 4, 2, 1, 3, 6, 5 have gone to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side while the nodes 15, 14, 13, 16 are on its right side. Now try to memorize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which we build with these sorted numbers. If you remember that it looks like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 list. The root of that tree was 1. After that we have its right child as 2,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2 as 3, then its right child 4 and so on up to 16. The shape of that tree looks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exactly like a linked list. Compare that with this tree. This tree is a balanced one.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have to traverse this tree for search purposes, we have to go at the most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you must be clear why we need to balance the trees especially if we have to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balanced search trees. While dealing with this AVL condition, it does not matter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259 of 519 </a:t>
            </a:r>
            <a:endParaRPr lang="ko-KR" altLang="en-US" dirty="0" smtClean="0" sz="1056"/>
          </a:p>
        </p:txBody>
      </p:sp>
      <p:sp>
        <p:nvSpPr>
          <p:cNvPr id="701" name="Rect 3"/>
          <p:cNvSpPr>
            <a:spLocks noGrp="1" noChangeArrowheads="1"/>
          </p:cNvSpPr>
          <p:nvPr/>
        </p:nvSpPr>
        <p:spPr>
          <a:xfrm rot="0">
            <a:off x="3239770" y="1304290"/>
            <a:ext cx="939800" cy="55016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584">
                <a:solidFill>
                  <a:srgbClr val="000000"/>
                </a:solidFill>
                <a:latin typeface="Arial"/>
              </a:rPr>
              <a:t>Rotate left</a:t>
            </a:r>
            <a:endParaRPr lang="ko-KR" altLang="en-US" dirty="0" smtClean="0" sz="1584"/>
          </a:p>
          <a:p>
            <a:pPr marL="0" indent="0" defTabSz="15240" algn="l">
              <a:lnSpc>
                <a:spcPts val="39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1362"/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443855"/>
            <a:ext cx="4773295" cy="34499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0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whether the data, provided to a programmer is sorted or unsorted. The data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in ascending order or descending order. It may contain alphabets or names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any order. We will keep our tree balanced during the insertion and tree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at each point. Our tree will not be balanced in the end, it will be balanced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each insertion. It will not be completely balanced. At the maximum, if we pick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any node, the difference in the levels of its right subtree and left subtree will not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than 1.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have 9 or 10 nodes in the tree and take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of this, it will be near 3.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our tree has three levels after that there are its leaf nodes. Please keep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mind that originally we have thought BST as an abstract data type.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defined operations on it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the major method was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takes a data item and searches the tree. It will also show that this data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exists or not in the tree. We also right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findMax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methods. In case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BST, we can find the minimum and maximum value in it. The minimum will be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most node of the tree while the right most node of BST will give the maximum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value. You can confirm it by applying this on the above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C++ Code for avlInsert method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C++ code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Now we have to include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balancing procedure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We have already written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takes some value and adds a node in the tree. That procedure does not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balancing. Now we will include this balancing feature in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so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newly created tree fulfills the AVL condition.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is the code of the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is the function used to insert nodes satisfying the AVL condition.*/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  avlInsert(TreeNode&lt;int&gt;* root, int info)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info &lt; root-&gt;getInfo() ){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root-&gt;setLeft(avlInsert(root-&gt;getLeft(), info));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htdiff = height(root-&gt;getLeft()) – height(root-&gt;getRight());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if( htdiff == 2 )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info &lt; root-&gt;getLeft()-&gt;getInfo() ) // outside insertion case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root = singleRightRotation(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 // inside insertion case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root = doubleLeftRightRotation(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else if(info &gt; root-&gt;getInfo()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root-&gt;setRight(avlInsert(root-&gt;getRight(),info));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int htdiff = height(root-&gt;getRight()) – height(root-&gt;getLeft());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if( htdiff == 2 )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if( info &gt; root-&gt;getRight()-&gt;getInfo()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root = singleLeftRotation( root 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else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root = doubleRightLeftRotation( root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1106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0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else a node with info is already in the tree.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// case, reset the height of this root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ht = Max(height(root-&gt;getLeft()), height(root-&gt;getRight()));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root-&gt;setHeight( ht + 1 ); // new height for root.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root;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named the function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input arguments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of the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our example, we are having a 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data type. But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course, we can have any other data type. The return type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TreeNode&lt;int&gt;*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inserted either in the right subtree or left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first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is making this decision by comparing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of root. If the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is less than the info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inserted in the left subtree of root. In the next statement, we have a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 as seen in the following statement.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avlInsert(root-&gt;getLeft(), info)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are calling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again. We are passing it the first node of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value. We are trying to insert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left subtree of root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does not already exist in it. In the same statement, we are setting the left of root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return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Why we are doing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As we know that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AVL tree and the new data is going to be inserted in the left subtree of root.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balance this tree after the insertion of the node. After insertion, left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be rearranged to balance the tree and its root can be changed. You have seen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example in which node 1 was the root node in the start and in the end node 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its root node. During the process of creation of that tree, the root nodes have been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changing. After the return from the recursive call in our method, the left node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than the one that was before insertion. The complete call is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root-&gt;setLeft(avlInsert(root-&gt;getLeft(), info));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Here we are inserting the new node and also getting the root of the left subtree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insertion of the new node. If the root of the left subtree has been changed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insertion, we will update our tree by assigning this new left-node to the left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the insertion of the new node if we have rearranged the tree, then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 of the root node can be changed. So after this, we check the balance factor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node. We call a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get the height of left and right subtree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takes a node as a parameter and calculates the height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node. It returns an integer. After getting the heights of left and right subtrees,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its difference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htdiff = height(root-&gt;getLeft()) – height(root-&gt;getRight());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the difference of the heights of left and right subtrees is greater than 1,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rebalance the tree. We are trying to balance the tree during the insertion of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 in the tree. If this difference is 2, we will perform single rotation or double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to balance the tree. We have to deal with one of the four cases as discussed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earlier. This rotation will be carried out with only one node where the balance factor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2. As a result, the tree will be balanced. We do not need to rotate each node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the tree. This is characteristic of an AVL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these rotations in the diagrams. Now we have to perform these ones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code. We have four cases. The new node is inserted in the left or right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or the new node is inserted in the left or right subtree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node. How can we identify this in the code? We will identify this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help of the info value of the new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check whether the difference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htdiff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equal to 2 or not.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condition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checks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less than the value of left node of the current node (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node). If this condition is true, it shows that it is the case of outside insertion.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be inserted as the left-most child. We have to perform single rotation. If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part is executed, it means that this is the case of inside insertion. So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double rotation. We are passing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	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to the rotation function. When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performs these rotations, he gets another node that is assigned to root.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due to the fact that the root may change during the rotations.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encounter this case when the new node is inserted in the left subtree of the root.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node can be inserted in the right subtree of the root. With respect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symmetry, that code is also similar. You can easily understand that. In the code,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if-else condition that checks whether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greater than the value of root.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it will be inserted in the right subtree. Here again, we made a recursive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passing it the first node of the right subtree of the root. When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call is completed, we may have to perform rotations. We set the right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root as the node returned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avlInsert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this, we check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factor. We calculate the difference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htdiff = height(root-&gt;getRight()) – height(root-&gt;getLeft());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case, we have subtracted the height of right tree from left tree.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subtraction the height of left tree from the right tree. This is due to the fact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want to avoid the -ve value. But it does not matter whether we get the -ve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value. We can take its absolute value and test it. 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htdiff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2 ,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identify the case. We check that the new node is to be inserted in the right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 or in the left subtree of the right child of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the value of the right child of root, it is the case 4. Here we will restore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of the tree by performing single rotation.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else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part is executed,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perform the double rotation. These rotation routines will return the root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rearranged tree that will be set as a root.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end, we have the third case. This is the case when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equal to the root.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the data is already in the tree. Here we will readjust the height if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needed. We will take the maximum height between the left and right subtree and set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height plus one as the height of the root. We have added one to the height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adding one node to the tree. In the end, we return the root. We have included the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balancing functionality in our tree and it will remain balanced.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not seen the code of rotation routines so far. The code of these methods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very simple. We have to move some of pointers. You can easily understand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code. We will discuss this in the next lecture. Please see the code of single and double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in the book and try to understand it. </a:t>
            </a:r>
            <a:endParaRPr lang="ko-KR" altLang="en-US" dirty="0" smtClean="0" sz="1056"/>
          </a:p>
          <a:p>
            <a:pPr marL="0" indent="0" defTabSz="15240" algn="l">
              <a:lnSpc>
                <a:spcPts val="5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562090"/>
            <a:ext cx="4773295" cy="23564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1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23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4.4.1, 4.4.2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Single Right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Single Left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Double Right-Left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Double Left- Right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Deletion in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Cases of Deletion in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demonstrated how to write the insert procedure for an AVL tree in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lecture. The single and double rotation call methods were also discussed at length.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inserting a node if we see that the tree is going to be unbalanced, it means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AVL condition is being violated. We also carried out the balancing of the tree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single or double rotation. Now let’s see the code of these routines i.e. single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double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Single Right Rotation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first, we will discuss the code of SingleRightRotation function. Its argument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TreeNode, which is given the name k2. The reason of using k2 is that it alongwtih k1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etc was used in the earlier discussion. After the rotation, this function will return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pointer, as tree will be re-organized. Resultantly, its root will be changed.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code of this SingleRightRotation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 singleRightRotation(TreeNode&lt;int&gt;* k2)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k2 == NULL )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k1 (first node in k2's left subtree) will be the new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TreeNode&lt;int&gt;* k1 = k2-&gt;getLeft();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Y moves from k1's right to k2's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k2-&gt;setLeft( k1-&gt;getRight() 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k1-&gt;setRight(k2);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reassign heights. First k2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h = Max(height(k2-&gt;getLeft()), height(k2-&gt;getRight()));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k2-&gt;setHeight(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k2 is now k1's right subtree 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6369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1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2709545"/>
            <a:ext cx="4773295" cy="25057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h = Max( height(k1-&gt;getLeft()), k2-&gt;getHeight());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k1-&gt;setHeight(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k1;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function, at first, we check whether k2 is NULL. If it is NULL, the function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exited by returning NULL. If it is not NULL, the rotation process starts. The figure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depicts the single right rotation process. In this diagram, we see that k2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shown as the root node to this function. We see that k1 is the left subtree of k2.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923" i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923" i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Y </a:t>
            </a:r>
            <a:endParaRPr lang="ko-KR" altLang="en-US" dirty="0" smtClean="0" sz="1409" i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X </a:t>
            </a:r>
            <a:endParaRPr lang="ko-KR" altLang="en-US" dirty="0" smtClean="0" sz="1409" i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Single Right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going to apply single right rotation on the link between k1 and k2.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 will be the new root node after rotation. So we get its value by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 &lt;int&gt;* k1 = k2 -&gt; getLeft()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Due to the single right rotation, k2 has come down, resulting in the upward movement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k1. The tree Y has to find its new place. The place of the trees X and Z remains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intact. The change of place of Y is written in the code as below.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k2-&gt;setLeft( k1-&gt;getRight() );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statement, we get the right child of k1 (i.e. k1 -&gt; getRight() ) i.e. Y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 it to setLeft function of k2. Thus it becomes the left child of k2. By the statement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k1 -&gt; setRight (k2)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set the node k2 as right child of k1. Now after these three statements, the tree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transformed into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265 of 519 </a:t>
            </a:r>
            <a:endParaRPr lang="ko-KR" altLang="en-US" dirty="0" smtClean="0" sz="1056"/>
          </a:p>
        </p:txBody>
      </p:sp>
      <p:sp>
        <p:nvSpPr>
          <p:cNvPr id="714" name="Rect 3"/>
          <p:cNvSpPr>
            <a:spLocks noGrp="1" noChangeArrowheads="1"/>
          </p:cNvSpPr>
          <p:nvPr/>
        </p:nvSpPr>
        <p:spPr>
          <a:xfrm rot="0">
            <a:off x="3688080" y="3550920"/>
            <a:ext cx="132080" cy="210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409" i="1"/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286510"/>
            <a:ext cx="4773295" cy="20694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1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923" i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923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923" i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X </a:t>
            </a:r>
            <a:endParaRPr lang="ko-KR" altLang="en-US" dirty="0" smtClean="0" sz="1409" i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Fig 23.2: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after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above figure, it is reflected that k1 is now the root of the tree while k2 is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child. The Y, earlier the right subtree of k1 (see fig 23.1), has now become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 of k2. We see that the inorder traversal of this tree is X k1 Y k2 Z.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as of the tree before rotation in fig 23.1 i.e. X k1 Y k2 Z.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set the heights of k1 and k2 in this re-arranged tree. In the code, to set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of k2, we have written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 = Max(height(k2-&gt;getLeft()) , height(k2-&gt;getRight()));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k2-&gt;setHeight(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take an integer h and assign it a value. This value is the maximum height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among the two subtrees i.e. height of left subtree of k2 and height of right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k2. Then we add 1 to this value and set this value as the height of k2. We add 1 to h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root is one more than its child.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set the height of k1 and get the heights of its left and right subtrees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finding the higher value of these two by the Max function. Afterwards, we add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to this value and set this value as the height of k1. The following two statements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this task.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= Max( height(k1-&gt;getLeft()), k2-&gt;getHeight());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end, we return the root node i.e. k1. Thus the right single rotation is completed.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routine, we saw that this routine takes root node of a tree as an argument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rearranges it, resets the heights and returns the new root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Arial"/>
              </a:rPr>
              <a:t>Height Function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SingleRightRotation, we used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routine. This routine calls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getHeight function for the argument passed to it and returns the value got from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function. If there is an empty tree, then by definition its height will be -1. So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routine, we return the value -1 if the argument passed to it is NULL. Following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of this routine. </a:t>
            </a:r>
            <a:endParaRPr lang="ko-KR" altLang="en-US" dirty="0" smtClean="0" sz="1056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266 of 519 </a:t>
            </a:r>
            <a:endParaRPr lang="ko-KR" altLang="en-US" dirty="0" smtClean="0" sz="1056"/>
          </a:p>
        </p:txBody>
      </p:sp>
      <p:sp>
        <p:nvSpPr>
          <p:cNvPr id="717" name="Rect 3"/>
          <p:cNvSpPr>
            <a:spLocks noGrp="1" noChangeArrowheads="1"/>
          </p:cNvSpPr>
          <p:nvPr/>
        </p:nvSpPr>
        <p:spPr>
          <a:xfrm rot="0">
            <a:off x="3886200" y="2468880"/>
            <a:ext cx="135255" cy="2070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Z</a:t>
            </a:r>
            <a:endParaRPr lang="ko-KR" altLang="en-US" dirty="0" smtClean="0" sz="1409" i="1"/>
          </a:p>
        </p:txBody>
      </p:sp>
      <p:sp>
        <p:nvSpPr>
          <p:cNvPr id="718" name="Rect 3"/>
          <p:cNvSpPr>
            <a:spLocks noGrp="1" noChangeArrowheads="1"/>
          </p:cNvSpPr>
          <p:nvPr/>
        </p:nvSpPr>
        <p:spPr>
          <a:xfrm rot="0">
            <a:off x="3258185" y="2505710"/>
            <a:ext cx="144145" cy="210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409" i="1"/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7924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2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3200400"/>
            <a:ext cx="4773295" cy="24447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2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48055" y="6111240"/>
            <a:ext cx="4773295" cy="26701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2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height( TreeNode&lt;int&gt;* node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node != NULL ) return node-&gt;getHeight();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–1;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Single Left Rotation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rotation is almost similar to the single right rotation. We start from k1. k1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while k2 is its right child. Due to the left rotation, the right child k2 of the root k1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become the root. The k1 will go down to the left child of k2. The following figure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that we have to change the positions of some pointers. The condition of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and after single left rotation is also seen.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 </a:t>
            </a:r>
            <a:endParaRPr lang="ko-KR" altLang="en-US" dirty="0" smtClean="0" sz="702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702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Y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Z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Single Left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code of the function performing the single left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singleLeftRotation( TreeNode&lt;int&gt;* k1 )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k1 == NULL )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k2 is now the new root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TreeNode&lt;int&gt;* k2 = k1-&gt;getRight();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k1-&gt;setRight( k2-&gt;getLeft() ); // 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k2-&gt;setLeft( k1 );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reassign heights. First k1 (demoted)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h = Max(height(k1-&gt;getLeft()), height(k1-&gt;getRight()));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k1-&gt;setHeight(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k1 is now k2's left subtree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h = Max( height(k2-&gt;getRight()), k1-&gt;getHeight());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k2-&gt;setHeight(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k2;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267 of 519 </a:t>
            </a:r>
            <a:endParaRPr lang="ko-KR" altLang="en-US" dirty="0" smtClean="0" sz="1056"/>
          </a:p>
        </p:txBody>
      </p:sp>
      <p:sp>
        <p:nvSpPr>
          <p:cNvPr id="721" name="Rect 3"/>
          <p:cNvSpPr>
            <a:spLocks noGrp="1" noChangeArrowheads="1"/>
          </p:cNvSpPr>
          <p:nvPr/>
        </p:nvSpPr>
        <p:spPr>
          <a:xfrm rot="0">
            <a:off x="5288280" y="4297680"/>
            <a:ext cx="147320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Z </a:t>
            </a:r>
            <a:endParaRPr lang="ko-KR" altLang="en-US" dirty="0" smtClean="0" sz="1056" b="1"/>
          </a:p>
        </p:txBody>
      </p:sp>
      <p:sp>
        <p:nvSpPr>
          <p:cNvPr id="722" name="Rect 3"/>
          <p:cNvSpPr>
            <a:spLocks noGrp="1" noChangeArrowheads="1"/>
          </p:cNvSpPr>
          <p:nvPr/>
        </p:nvSpPr>
        <p:spPr>
          <a:xfrm rot="0">
            <a:off x="3862070" y="3270250"/>
            <a:ext cx="1033780" cy="12776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70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 </a:t>
            </a:r>
            <a:endParaRPr lang="ko-KR" altLang="en-US" dirty="0" smtClean="0" sz="702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X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2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code, it is evident that if the node passed to the function is not NULL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(that means k1 is not NULL), we assign to k2 the value of k1 -&gt; getRight (). Now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rotation, Y tree i.e. the left subtree of k2, becomes the right subtree of k1.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write it in the next statement as.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k1-&gt;setRight( k2-&gt;getLeft()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statement, we get the left child of k2 i.e. Y and set it as the right child of k1.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Afterwards, k1 is set as the left child of k2. The following statement reflects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k2-&gt;setLeft( k1 );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single left rotation, the k2 becomes the root node after going up. However, k1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down as the left child of k2. The tree Y, earlier the left child of k2 has,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the right child of k1.X and Z continue to remain at the previous positions.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has been transformed with changes into the heights of k1 and k2. We re-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 the heights to these nodes in line with the process adopted in the right single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rotation. At first, we adjust the height of k1. We get the heights of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 of k1. The greater of these is taken and assigned to an int h. Then we add 1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value and set it as the height of k1. The following two lines of the code execute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task.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 = Max(height(k1-&gt;getLeft()), height(k1-&gt;getRight()));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we adjust the height of k2 by getting the greater one among the heights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right subtree and its left subtree. Taking k1 as its left subtree, we get the height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k1. We add 1 and set it as the height of k2. Following are the statements that perform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task.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h = Max( height(k2-&gt;getRight()), k1-&gt;getHeight());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k2-&gt;setHeight( h+1 );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Finally, k2 is returned as the root of the tree.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Double Right-Left Rotation 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obvious from the nomenclature, in the double rotation, we at first carry 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rotation before going ahead with the left rotation. Let’s say that we pass it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k1. Look at the following figure to see what are the nodes k1, k2 and k3.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23.4 shows the first step (A) of double right-left rotation that is the single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rotation. It shows the rearranged tree on the right side in the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10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441450"/>
            <a:ext cx="4998720" cy="28257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2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364480"/>
            <a:ext cx="4773295" cy="18834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 </a:t>
            </a:r>
            <a:endParaRPr lang="ko-KR" altLang="en-US" dirty="0" smtClean="0" sz="702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endParaRPr lang="ko-KR" altLang="en-US" dirty="0" smtClean="0" sz="1056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 4: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Double Right-Left Rotation  (A)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left portion of the above figure, we see that k1 is the root of the tree. k3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 of k1 while k2 is the left child of k3. A, B, C and D are trees. We carry 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rotation between the link of k3 and k2. In the code, it is shown that if k1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NULL, we go ahead and perform the rotation. The code of this double rotation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doubleRightLeftRotation(TreeNode&lt;int&gt;* k1)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k1 == NULL )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single right rotate with k3 (k1's right child)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k1-&gt;setRight( singleRightRotation(k1-&gt;getRight()));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now single left rotate with k1 as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singleLeftRotation(k1);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perform the right rotation with the help of k3. Now think about the single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rotation. We are at k3 and its left child k2 will be involved in the rotation. In the code,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single right rotation, we have written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k1-&gt;setRight( singleRightRotation(k1-&gt;getRight()));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we are passing the right child of k1 (i.e. k3) to the single right rotation.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singleRightRotation itself will find the left child of k3 to perform the single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rotation. The singleRightRotation will take k3 downward and bring up its left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269 of 519 </a:t>
            </a:r>
            <a:endParaRPr lang="ko-KR" altLang="en-US" dirty="0" smtClean="0" sz="1056"/>
          </a:p>
        </p:txBody>
      </p:sp>
      <p:sp>
        <p:nvSpPr>
          <p:cNvPr id="727" name="Rect 3"/>
          <p:cNvSpPr>
            <a:spLocks noGrp="1" noChangeArrowheads="1"/>
          </p:cNvSpPr>
          <p:nvPr/>
        </p:nvSpPr>
        <p:spPr>
          <a:xfrm rot="0">
            <a:off x="5245735" y="2685415"/>
            <a:ext cx="159385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 </a:t>
            </a:r>
            <a:endParaRPr lang="ko-KR" altLang="en-US" dirty="0" smtClean="0" sz="702"/>
          </a:p>
        </p:txBody>
      </p:sp>
      <p:sp>
        <p:nvSpPr>
          <p:cNvPr id="728" name="Rect 3"/>
          <p:cNvSpPr>
            <a:spLocks noGrp="1" noChangeArrowheads="1"/>
          </p:cNvSpPr>
          <p:nvPr/>
        </p:nvSpPr>
        <p:spPr>
          <a:xfrm rot="0">
            <a:off x="4370705" y="2755265"/>
            <a:ext cx="1357630" cy="7588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B </a:t>
            </a:r>
            <a:endParaRPr lang="ko-KR" altLang="en-US" dirty="0" smtClean="0" sz="1056" b="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161030"/>
            <a:ext cx="4773295" cy="26847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3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7589520"/>
            <a:ext cx="4773295" cy="1261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i.e. k2. The left subtree of k2 i.e. C, now becomes the right subtree of k3. Due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single right rotation, the tree will be transformed into the one, shown in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the figure 23.4.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 we apply the single left rotation on this tree that is got from the single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rotation. This single left rotation is done by passing it k1. In this rotation, k1 goes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 and k2 i.e. the right child of k1, becomes the root. We return the result of single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rotation. The following statement in the above code performs this task.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singleLeftRotation(k1);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tree gets its final form i.e. after the double right-left rotation.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shows the single left rotation and the final form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endParaRPr lang="ko-KR" altLang="en-US" dirty="0" smtClean="0" sz="70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 </a:t>
            </a:r>
            <a:endParaRPr lang="ko-KR" altLang="en-US" dirty="0" smtClean="0" sz="70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 </a:t>
            </a:r>
            <a:endParaRPr lang="ko-KR" altLang="en-US" dirty="0" smtClean="0" sz="70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23.5: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Double right-left rotation (B)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it was witnessed that the double rotation consists of few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statements. That’s why, we have had written the routines for single right and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rotations. In the double right-left rotation, we just carried out a single right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single left rotation to complete the double right-left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Double Left-Right Rotation 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performing the double left-right rotation, we simply carry out the single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at first. It is followed by the single right rotation. Following is the code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double Left-Right rotation. 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TreeNode&lt;int&gt;* doubleLeftRightRotation(TreeNode&lt;int&gt;* k3)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k3 == NULL ) return NULL;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single left rotate with k1 (k3's left child)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k3-&gt;setLeft( singleLeftRotation(k3-&gt;getLeft()));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270 of 519 </a:t>
            </a:r>
            <a:endParaRPr lang="ko-KR" altLang="en-US" dirty="0" smtClean="0" sz="1056"/>
          </a:p>
        </p:txBody>
      </p:sp>
      <p:sp>
        <p:nvSpPr>
          <p:cNvPr id="731" name="Rect 3"/>
          <p:cNvSpPr>
            <a:spLocks noGrp="1" noChangeArrowheads="1"/>
          </p:cNvSpPr>
          <p:nvPr/>
        </p:nvSpPr>
        <p:spPr>
          <a:xfrm rot="0">
            <a:off x="5443855" y="4532630"/>
            <a:ext cx="15621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 </a:t>
            </a:r>
            <a:endParaRPr lang="ko-KR" altLang="en-US" dirty="0" smtClean="0" sz="1056"/>
          </a:p>
        </p:txBody>
      </p:sp>
      <p:sp>
        <p:nvSpPr>
          <p:cNvPr id="732" name="Rect 3"/>
          <p:cNvSpPr>
            <a:spLocks noGrp="1" noChangeArrowheads="1"/>
          </p:cNvSpPr>
          <p:nvPr/>
        </p:nvSpPr>
        <p:spPr>
          <a:xfrm rot="0">
            <a:off x="2999105" y="4474210"/>
            <a:ext cx="1894205" cy="701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 i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4813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3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2703830"/>
            <a:ext cx="4797425" cy="27825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3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48055" y="6736080"/>
            <a:ext cx="4773295" cy="20878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3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now single right rotate with k3 as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singleRightRotation(k3);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 the above code, we receive the argument node as k3. As we have to do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first, it is applied to the left child of k3. From the figure below (Fig 23.6),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the left child of k3 is k1. However, when we send k1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singleLeftRotation it will take the right child of k1 i.e. k2. This process will rotate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 between k1and k2. The tree formed as a result of this single left rotation,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at the right side in the figure 23.6. 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792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792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230" i="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230" i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23.6: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Double left-right rotation (A)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new rearranged tree, k2 comes up while k1 goes down, becoming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k2. The subtree B, earlier left subtree of k2, now becomes the right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k1.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second step in the double left-right rotation is to apply the single right rotation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new tree. We will carry out the single right rotation on k3. The pictorial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representation of this single right rotation on k3 is given in 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792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792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230" i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230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23.7: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Double left-right rotation (B)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271 of 519 </a:t>
            </a:r>
            <a:endParaRPr lang="ko-KR" altLang="en-US" dirty="0" smtClean="0" sz="1056"/>
          </a:p>
        </p:txBody>
      </p:sp>
      <p:sp>
        <p:nvSpPr>
          <p:cNvPr id="735" name="Rect 3"/>
          <p:cNvSpPr>
            <a:spLocks noGrp="1" noChangeArrowheads="1"/>
          </p:cNvSpPr>
          <p:nvPr/>
        </p:nvSpPr>
        <p:spPr>
          <a:xfrm rot="0">
            <a:off x="3837305" y="3486785"/>
            <a:ext cx="1793240" cy="42094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230" i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92" i="1"/>
          </a:p>
          <a:p>
            <a:pPr marL="0" indent="0" defTabSz="15240" algn="l">
              <a:lnSpc>
                <a:spcPts val="2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792" i="1"/>
          </a:p>
        </p:txBody>
      </p:sp>
      <p:sp>
        <p:nvSpPr>
          <p:cNvPr id="736" name="Rect 3"/>
          <p:cNvSpPr>
            <a:spLocks noGrp="1" noChangeArrowheads="1"/>
          </p:cNvSpPr>
          <p:nvPr/>
        </p:nvSpPr>
        <p:spPr>
          <a:xfrm rot="0">
            <a:off x="1743710" y="2843530"/>
            <a:ext cx="3905250" cy="59378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792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92" i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230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1230" i="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B </a:t>
            </a:r>
            <a:endParaRPr lang="ko-KR" altLang="en-US" dirty="0" smtClean="0" sz="1230" i="1"/>
          </a:p>
          <a:p>
            <a:pPr marL="0" indent="0" defTabSz="15240" algn="l">
              <a:lnSpc>
                <a:spcPts val="19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k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92" i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1230" i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230" i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 i="1">
                <a:solidFill>
                  <a:srgbClr val="000000"/>
                </a:solidFill>
                <a:latin typeface="Arial"/>
              </a:rPr>
              <a:t>B </a:t>
            </a:r>
            <a:endParaRPr lang="ko-KR" altLang="en-US" dirty="0" smtClean="0" sz="1230" i="1"/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6369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3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 the code, we wrote the statement for this as below.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return singleRightRotation(k3);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pass k3 to the singleRightRotation. It is, internally applied to the left child of k3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ie. k2. Now due to the right rotation, k2 will come up and k3 will become its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child. The node k1 will remain the left child of k2. The subtree C that was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k2, will now be the left subtree of k3.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now, the discussion on the insert routine has been completed. We have written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routine so that data item could be passed to it and inserted at a proper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tree. After inserting a node, the routine checks the balance or height factors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does the left or right rotation if needed and re-balances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a property of the AVL tree is that while inserting a node in an AVL tree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balance the tree then we have to do only one single right or left rotation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double rotation to balance the tree. There is no such situation that we have to do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rotations. We do the one single or one double rotation at the node whose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has become 2 after inserting a node.  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Deletion in AVL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deletion of a data item from a data structure has always been difficult whatever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 we use. The deletion is the inverse of insertion. In deletion there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an AVL tree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delete the node containing the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rebalance the tree if it becomes unbalance after deleting the node. We will see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of a node is considerably more complex than the insertion of a node.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complex in the sense that we may have to do more than one rotations to rebalance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after deleting a node. We will discuss the deletion case by case and will see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what points we have to take care in the deletion process.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not going to write the code for deletion here. If we have to use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routines or class, the deletion and insertion routines of AVL tree are available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standard library. We can use these routines in our program. We have no need to write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routines. But here we discuss these to understand their functionality.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insertion in a height-balanced tree requires at most one single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one double rotation. We do this rotation at the node whose balance violates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condition. We can use rotations to restore the balance when we do a deletion. If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becomes unbalance after deleting a node then we use rotations to rebalance 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may have to do a rotation at every level of the tree. Thus in the worst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we have to do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rotations. As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number of levels of a 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an example of deleting a node from a tree. In this example,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the worst case of deletion that is we have to do rotation at each level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deleting a node. Look at the following figure i.e. Fig 23.8.  In this figure the root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is node N and we have expanded only the left subtree of this node.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it is indicated by a triangle. We focus on the left subtree of N. The balance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536190"/>
            <a:ext cx="4773295" cy="36449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4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each non-leaf node of the left subtree of N is –1. This means that at every non-leaf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the depth/height of left subtree is one shorter than the height of right subtree.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look at the node C. The left subtree of C is one level deep where as it’s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is two levels deep. So balance of it is 1 – 2 = -1. If we look at node I its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has height 2 as there are two levels where nodes G and H exists.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I has number of levels (i.e. height) 3 where exists the nodes K, L and 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Thus the balance of I is 2 – 3 = -1. Similarly we can see that other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have the balance –1. This tree is shown in the following figure.    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N </a:t>
            </a:r>
            <a:endParaRPr lang="ko-KR" altLang="en-US" dirty="0" smtClean="0" sz="1362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62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K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L </a:t>
            </a:r>
            <a:endParaRPr lang="ko-KR" altLang="en-US" dirty="0" smtClean="0" sz="136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M </a:t>
            </a:r>
            <a:endParaRPr lang="ko-KR" altLang="en-US" dirty="0" smtClean="0" sz="1362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23.8: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Tree under consideration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in this tree, the deletion of node A from the left subtree causes the worst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in the sense that we have to do a large number of rotations. Now we delete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A from the tree. The effect of this deletion is that if we consider the node 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height of its left subtree is zero now. The height of the right subtree of C is 2.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balance of C is 2 now. This makes the tree unbalance. Now we will do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to make the tree balanced. We rotate the right subtree of C that means the link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between C and D so that D comes up and C goes down. This is mentioned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3864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4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142230"/>
            <a:ext cx="4806315" cy="32854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N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62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K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L </a:t>
            </a:r>
            <a:endParaRPr lang="ko-KR" altLang="en-US" dirty="0" smtClean="0" sz="136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M </a:t>
            </a:r>
            <a:endParaRPr lang="ko-KR" altLang="en-US" dirty="0" smtClean="0" sz="1362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23.9: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Single left rotation after deleting node A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 rotation the tree has transformed into the following figure. Now D becomes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child of F and C becomes the left child of D. 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N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62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K </a:t>
            </a:r>
            <a:endParaRPr lang="ko-KR" altLang="en-US" dirty="0" smtClean="0" sz="1362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L </a:t>
            </a:r>
            <a:endParaRPr lang="ko-KR" altLang="en-US" dirty="0" smtClean="0" sz="136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M </a:t>
            </a:r>
            <a:endParaRPr lang="ko-KR" altLang="en-US" dirty="0" smtClean="0" sz="1362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23.10: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Tree (Fig 23.9) after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looking at the inorder traversal of the tree, we notice that it is preserved.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of the tree before rotation (i.e. fig 23.8) is C D E F G H I J K L M N.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691130"/>
            <a:ext cx="4773295" cy="31394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4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traverse the tree after rotation (i.e. fig 23.9) by inorder traversal we get 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E F G H I J K L M N, which is the same as it was before rotation.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 rotation we see that the tree having D as root is balanced. But if we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F we notice that the height of its left subtree is 2 and height of its right subtree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Thus the balance of F is –2 (or 2 if we take the absolute value) now. Thus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unbalance. So we have to do rotation again to balance the tree. The whole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subtree of F is shorter so we do the left rotation on the link of F and I (in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fig 23.9) to bring F down and I up so that the difference of height could be less.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rotation the tree gets the new form that is shown in 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N </a:t>
            </a:r>
            <a:endParaRPr lang="ko-KR" altLang="en-US" dirty="0" smtClean="0" sz="136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K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L </a:t>
            </a:r>
            <a:endParaRPr lang="ko-KR" altLang="en-US" dirty="0" smtClean="0" sz="136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M </a:t>
            </a:r>
            <a:endParaRPr lang="ko-KR" altLang="en-US" dirty="0" smtClean="0" sz="1362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23.11: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Tree (fig 23.10) after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see that the nodes G and H, which were in the left subtree of I, now become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subtree of F. We see that the tree with I as root is balanced now.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node N. We have not expanded the right subtree of N. Although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shown but there may be nodes in the right subtree of N. If the difference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heights of left and right subtree of N is greater than 1 then we have to do rotation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node to balance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we see that there may be such a tree that if we delete a node from it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rotation at each level of the tree. We notice that we have to do more rotations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as compared to insertion. In deletion when we delete a node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check the balance at each level up to the root. We do rotation if any node at any level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violates the AVL condition. If nodes at a level do not violate AVL condition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not stop here we check the nodes at each level and go up to the root. We know that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binary tree has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 levels (where N is total number of nodes) thus we have to do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 rotations. We have to identify the required rotations that mean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identify that which one rotation out of the four rotations (i.e. single left rotation,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right rotation, double right-left rotation and double left-right rotation)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do. We have to identify this at each level. 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summarize the deletion procedure as under.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the node as in binary search tree. We have seen in the discussion of deleting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from a BST that we have three cases, which we discussed as follows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I: The node to be deleted is the leaf node i.e. it has no right or left child.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very simple to delete such node. We make the pointer in the parent node pointing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node as NULL. If the memory for the node has been dynamically allocated,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release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II: The node to be deleted has either left child (subtree) or right child (subtree).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 we bypass the node in such a way that we find the inorder successor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node and then link the parent of the node to be deleted to this successor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node was deleted.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III: The node to be deleted has both the left and right children (subtree).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most difficult case. In this case we find the inorder successor of the node.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most node of the right subtree will be the inorder successor of it. We put the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inorder successor node into the node to be deleted. After it we delete the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 node recursively.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deletion in AVL tree, we delete the node as we delete it in a BST. In third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in BST we note that the node deleted will be either a leaf or have just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(that will be the right subtree as node deleted is the left most subtree so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cannot have a left subtree). Now we are talking about deletion in an AVL tree. Since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an AVL tree so if the deleted node has one subtree that subtree contains only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node. Why it is so? Think about its reason and answer.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deleting the node we traverse up the tree from the deleted node checking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each node at each level up to the root. Thus the deletion in AVL tree is like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deletion in BST except that here in AVL tree we have to rebalance the tree using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rotations.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Cases of Deletion in AVL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consider the cases of deletion that will help to identify what rotation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applied at what point.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5 cases to consider. Let’s go through the cases graphically and determine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actions are needed to be taken. We will not develop the C++ code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deleteNode in AVL tree. This is left as an exercise.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Case 1a: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case is that the parent of the deleted node had a balance of 0 and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deleted in the parent’s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following figure (Fig 23.12) the left portion shows the parent node with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horizontal line in it. This horizontal line indicates that the left and right subtrees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node have the same heights and thus the balance of this node is 0.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a node from its left subtree then height of its right subtree becomes larger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subtree. The right portion in the figure shows this. We are showing a symbol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balance of node inside the node. The notation (symbol) in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603375"/>
            <a:ext cx="4773295" cy="21977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4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364480"/>
            <a:ext cx="4773295" cy="23533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4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indicates that the height of left subtree is shorter than the height of right subtree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  </a:t>
            </a:r>
            <a:endParaRPr lang="ko-KR" altLang="en-US" dirty="0" smtClean="0" sz="1056"/>
          </a:p>
          <a:p>
            <a:pPr marL="0" indent="0" defTabSz="15240" algn="l">
              <a:lnSpc>
                <a:spcPts val="1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Delete 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23.12: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Deletion Case 1a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his side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action that will be taken in this case is that, change the balance of the parent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and stop. No further effect on balance of any higher node. There is no need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rotation in this case. Thus it is the easiest case of deletion.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an example to demonstrate the above case.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tree shown in the following figure i.e. Fig 23.13. This is a perfectly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tree. The root of this tree is 4 and nodes 1, 2 and 3 are in its left subtree.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5, 6 and 7 are in the right subtree.  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--------------------------------------  0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  1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  2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Fig 23.13: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Tree under consideration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node 2. We have shown the balance of this node with a horizontal line,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indicates that the height of its left subtree is equal to that of its right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have shown the balance of node 4.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remove the node 1 which is the left subtree of node 2. After removing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(subtree) of 2 the height of left subtree of 2 is 0. The height of right subtree of 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1 so the balance of node 2 becomes –1. This is shown in the figure by placing a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066290"/>
            <a:ext cx="5200015" cy="55841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5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sign that is down ward to right side, which indicates that height of right subtree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left subtree. Now we check the node 4.  Here the height of left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still 2. The height of its right subtree is also 2. So balance of the node 4 is 0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indicated by the small horizontal line (minus sign) in the figure below. Here we don’t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to change the balance of 4.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362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36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23.14: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Tree before and after deleting node 1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Case 1b: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case is symmetric to case 1a. In this case, the parent of the deleted node had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0 and the node was deleted in the parent’s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subtree.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shows that the balance of the node was zero as left and right subtree of it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heights.  </a:t>
            </a:r>
            <a:endParaRPr lang="ko-KR" altLang="en-US" dirty="0" smtClean="0" sz="1056"/>
          </a:p>
          <a:p>
            <a:pPr marL="0" indent="0" defTabSz="15240" algn="l">
              <a:lnSpc>
                <a:spcPts val="1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on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side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Fig23.15: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Deletion Case 1b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removing the right child the balance of it changes and it becomes 1,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of its left subtree is 1 greater than the height of right subtree. The action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performed in this case is the same as that in case 1a. That is change the balance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node and stop. No further effect on balance of any higher node.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can be done for this case only with the change that remove the right child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2 i.e. 3. 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278 of 519 </a:t>
            </a:r>
            <a:endParaRPr lang="ko-KR" altLang="en-US" dirty="0" smtClean="0" sz="1056"/>
          </a:p>
        </p:txBody>
      </p:sp>
      <p:sp>
        <p:nvSpPr>
          <p:cNvPr id="751" name="Rect 3"/>
          <p:cNvSpPr>
            <a:spLocks noGrp="1" noChangeArrowheads="1"/>
          </p:cNvSpPr>
          <p:nvPr/>
        </p:nvSpPr>
        <p:spPr>
          <a:xfrm rot="0">
            <a:off x="5876290" y="3437890"/>
            <a:ext cx="168910" cy="2044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362"/>
          </a:p>
        </p:txBody>
      </p:sp>
      <p:sp>
        <p:nvSpPr>
          <p:cNvPr id="752" name="Rect 3"/>
          <p:cNvSpPr>
            <a:spLocks noGrp="1" noChangeArrowheads="1"/>
          </p:cNvSpPr>
          <p:nvPr/>
        </p:nvSpPr>
        <p:spPr>
          <a:xfrm rot="0">
            <a:off x="5276215" y="3395345"/>
            <a:ext cx="168275" cy="2012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362"/>
          </a:p>
        </p:txBody>
      </p:sp>
      <p:sp>
        <p:nvSpPr>
          <p:cNvPr id="753" name="Rect 3"/>
          <p:cNvSpPr>
            <a:spLocks noGrp="1" noChangeArrowheads="1"/>
          </p:cNvSpPr>
          <p:nvPr/>
        </p:nvSpPr>
        <p:spPr>
          <a:xfrm rot="0">
            <a:off x="4773295" y="2282825"/>
            <a:ext cx="973455" cy="13595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362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362"/>
          </a:p>
        </p:txBody>
      </p:sp>
      <p:sp>
        <p:nvSpPr>
          <p:cNvPr id="754" name="Rect 3"/>
          <p:cNvSpPr>
            <a:spLocks noGrp="1" noChangeArrowheads="1"/>
          </p:cNvSpPr>
          <p:nvPr/>
        </p:nvSpPr>
        <p:spPr>
          <a:xfrm rot="0">
            <a:off x="2502535" y="2200910"/>
            <a:ext cx="2052320" cy="15208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---------------------------------------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---------------------------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-------------------------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069465"/>
            <a:ext cx="4773295" cy="18865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5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89890" y="389890"/>
            <a:ext cx="2615565" cy="4210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Case 2a: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case where the parent of the deleted node had a balance of 1 and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deleted in the parent’s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subtree. This means that the height of left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parent node is 1 greater than the height of its right subtree. It is shown in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portion of 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0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on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side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23.16: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Deletion Case 2a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we remove a node from the left subtree of this node then the height of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will decrease by 1 and get equal to the height of right subtree.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this node will be zero. In this case, the action that we will perform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the tree is that change the balance of the parent node. This deletion of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have caused imbalance in higher nodes. So it is advised to continue up to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tree. We will do rotation wherever the balance of the node violates the AVL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condition.  </a:t>
            </a:r>
            <a:endParaRPr lang="ko-KR" altLang="en-US" dirty="0" smtClean="0" sz="1056"/>
          </a:p>
          <a:p>
            <a:pPr marL="0" indent="0" defTabSz="15240" algn="l">
              <a:lnSpc>
                <a:spcPts val="3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279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377440" y="6690360"/>
            <a:ext cx="2435225" cy="10636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5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947545" y="7784465"/>
            <a:ext cx="807720" cy="426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5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990215" y="8007350"/>
            <a:ext cx="932815" cy="2647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5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24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4.4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in 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Uses of Binary Trees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Deletion in AVL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end of last lecture, we were discussing about deleting a node from an AVL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There are five cases to consider while deleting a node of an AVL tree. When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deleted, the tree can become unbalanced. We calculate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node and perform rotation for unbalanced nodes. But this rotation can prolong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In case of insertion, only one node’s balance was adjusted as we saw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lectures but in case of deletion, this process of rotation may expand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However, there may also be cases when we delete a node and perform no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one rotation only.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will see the five cases of deletion. A side note is that we are not going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 these cases in C++ in this lecture, you can do it yourself as an exercise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the code given inside your text book. In this lecture, the emphasis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on the deletion process and what necessary actions we take when a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to be deleted from an AVL tree. Actually, there are two kinds of actions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taken here, one is deletion and the other one is the rotation of the nodes.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Case 1a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The parent of the deleted node had a balance of 0 and a node was deleted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parent’s left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9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side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left tree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24.1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horizontal line inside the tree node indicates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balance is 0,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subtrees of the node are of equal levels. Now,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node is deleted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the 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this node, this may reduce by one level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cause the balance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the node to increase by 1 relatively. The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280 of 519 </a:t>
            </a:r>
            <a:endParaRPr lang="ko-KR" altLang="en-US" dirty="0" smtClean="0" sz="1056"/>
          </a:p>
        </p:txBody>
      </p:sp>
      <p:sp>
        <p:nvSpPr>
          <p:cNvPr id="759" name="Rect 3"/>
          <p:cNvSpPr>
            <a:spLocks noGrp="1" noChangeArrowheads="1"/>
          </p:cNvSpPr>
          <p:nvPr/>
        </p:nvSpPr>
        <p:spPr>
          <a:xfrm rot="0">
            <a:off x="3072130" y="8049895"/>
            <a:ext cx="513080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Fig 24.1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2755265"/>
            <a:ext cx="3761105" cy="18135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6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511425" y="6306185"/>
            <a:ext cx="2435225" cy="10610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6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529840" y="7372985"/>
            <a:ext cx="2404745" cy="6064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the node in favor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is shown by a triangular knob tilted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towards right. Now, the action required in this case to make the tree balanced again is: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FF0000"/>
                </a:solidFill>
                <a:latin typeface="Times New Roman"/>
                <a:ea typeface="Times New Roman"/>
              </a:rPr>
              <a:t>Change the balance of the parent node and stop. There is no further effect 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FF0000"/>
                </a:solidFill>
                <a:latin typeface="Times New Roman"/>
                <a:ea typeface="Times New Roman"/>
              </a:rPr>
              <a:t>balance of any higher node.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the balance of the tree is changed from 0 to –1, which is within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defined limits of AVL tree, therefore, no rotation is performed in this case.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is a tree in which the height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does not change after deleting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node from it.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978" b="1">
                <a:solidFill>
                  <a:srgbClr val="000000"/>
                </a:solidFill>
                <a:latin typeface="Times New Roman"/>
                <a:ea typeface="Times New Roman"/>
              </a:rPr>
              <a:t>Fig 24.2</a:t>
            </a:r>
            <a:endParaRPr lang="ko-KR" altLang="en-US" dirty="0" smtClean="0" sz="978" b="1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145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145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4 is the root node, nodes 2 and 6 are on level 1 and nodes 1, 3, 5, 7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on level 2. Now, if we delete the node 1, the balance of the node 2 is tilted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towards right, it is –1. The balance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4 is unchanged as there is no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in the number of levels within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subtrees of it. Similarly,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 change in the balances of other nodes. So we don’t need to perform any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in this case.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second case.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Case 1b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the parent of the deleted node had a balance of 0 and the node was deleted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parent’s right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side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24.3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left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24.3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tree is within the balance limits of AVL. After a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deleted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it. The balance of the tree is tilted towards left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right tree show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Fig 24.3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Now, we see what action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to make the tree balanced again. </a:t>
            </a:r>
            <a:endParaRPr lang="ko-KR" altLang="en-US" dirty="0" smtClean="0" sz="1056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281 of 519 </a:t>
            </a:r>
            <a:endParaRPr lang="ko-KR" altLang="en-US" dirty="0" smtClean="0" sz="1056"/>
          </a:p>
        </p:txBody>
      </p:sp>
      <p:sp>
        <p:nvSpPr>
          <p:cNvPr id="762" name="Rect 3"/>
          <p:cNvSpPr>
            <a:spLocks noGrp="1" noChangeArrowheads="1"/>
          </p:cNvSpPr>
          <p:nvPr/>
        </p:nvSpPr>
        <p:spPr>
          <a:xfrm rot="0">
            <a:off x="5367655" y="2719070"/>
            <a:ext cx="95250" cy="1460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78">
                <a:solidFill>
                  <a:srgbClr val="000000"/>
                </a:solidFill>
                <a:latin typeface="Arial"/>
              </a:rPr>
              <a:t>0</a:t>
            </a:r>
            <a:endParaRPr lang="ko-KR" altLang="en-US" dirty="0" smtClean="0" sz="978"/>
          </a:p>
        </p:txBody>
      </p:sp>
      <p:sp>
        <p:nvSpPr>
          <p:cNvPr id="763" name="Rect 3"/>
          <p:cNvSpPr>
            <a:spLocks noGrp="1" noChangeArrowheads="1"/>
          </p:cNvSpPr>
          <p:nvPr/>
        </p:nvSpPr>
        <p:spPr>
          <a:xfrm rot="0">
            <a:off x="2861945" y="2856230"/>
            <a:ext cx="2607310" cy="1508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145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78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978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78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978"/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89050" y="2673350"/>
            <a:ext cx="2993390" cy="15786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6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the balance of the parent node and stop. No further effect on balance of any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higher node (same as 1a).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in this case also, we don’t need to perform rotation as the tree is still an AVL (as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saw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Case 1a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It is important to note that in both of the cases above,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the parent node was 0. Now, we will see the cases when the balance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node is not 0 previously.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Case 2a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The parent of the deleted node had a balance of 1 and the node was deleted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parent’s left subtree. </a:t>
            </a:r>
            <a:endParaRPr lang="ko-KR" altLang="en-US" dirty="0" smtClean="0" sz="1056"/>
          </a:p>
          <a:p>
            <a:pPr marL="0" indent="0" defTabSz="15240" algn="l">
              <a:lnSpc>
                <a:spcPts val="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side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Fig 24.4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above, the tree on the left contains the balance factor as 1,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left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subtree of the parent node is one level more than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it. When we delete one node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node, the height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is changed and the balance becomes 0 as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side 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24.4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it is very important understand that this change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 may cause the change of balance of higher nodes in the tree i.e.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Change the balance of the parent node. May have caused imbalance in higher nodes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so continue up the tree.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in order to ensure that the upper nodes are balanced, we calculate their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balance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factor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 for all nodes in higher levels and rotate them when required.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Case 2b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 The parent of the deleted node had a balance of -1 and the node was deleted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 the parent’s right subtree.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Case 2a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will do the following action: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the balance of the parent node. May have caused imbalance in higher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continue up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7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282 of 519 </a:t>
            </a:r>
            <a:endParaRPr lang="ko-KR" altLang="en-US" dirty="0" smtClean="0" sz="1056"/>
          </a:p>
        </p:txBody>
      </p:sp>
      <p:sp>
        <p:nvSpPr>
          <p:cNvPr id="766" name="Rect 3"/>
          <p:cNvSpPr>
            <a:spLocks noGrp="1" noChangeArrowheads="1"/>
          </p:cNvSpPr>
          <p:nvPr/>
        </p:nvSpPr>
        <p:spPr>
          <a:xfrm rot="0">
            <a:off x="1957070" y="4044950"/>
            <a:ext cx="513080" cy="1549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Fig 24.4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85215" y="1703705"/>
            <a:ext cx="3651250" cy="16764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6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399030" y="5059680"/>
            <a:ext cx="2273300" cy="16579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see another case.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Case 3a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:The parent had balance of -1 and the node was deleted in the parent’s left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subtree, right subtree was balanced.</a:t>
            </a:r>
            <a:endParaRPr lang="ko-KR" altLang="en-US" dirty="0" smtClean="0" sz="1056" i="1"/>
          </a:p>
          <a:p>
            <a:pPr marL="0" indent="0" defTabSz="15240" algn="l">
              <a:lnSpc>
                <a:spcPts val="1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24.5 </a:t>
            </a:r>
            <a:endParaRPr lang="ko-KR" altLang="en-US" dirty="0" smtClean="0" sz="1056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Fig 24.5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node A is tilted towards right but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A (node B above) is balanced. The deleted node lies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A. After deletion, the height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is changed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depicted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right tree of above figure. In this situation, we will do the following action: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single rotation, adjust balance. No effect on balance of higher nodes so stop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Single rotate</a:t>
            </a:r>
            <a:endParaRPr lang="ko-KR" altLang="en-US" dirty="0" smtClean="0" sz="1056" b="1"/>
          </a:p>
          <a:p>
            <a:pPr marL="0" indent="0" defTabSz="15240" algn="l">
              <a:lnSpc>
                <a:spcPts val="1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 has become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node B and node 2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node B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node A. The balance of node B is tiled towards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of node A is tilted towards right but somehow, both are within AVL limits.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Hence, after a single rotation, the balance of the tree is restored in this case.  </a:t>
            </a:r>
            <a:endParaRPr lang="ko-KR" altLang="en-US" dirty="0" smtClean="0" sz="1056"/>
          </a:p>
          <a:p>
            <a:pPr marL="0" indent="0" defTabSz="15240" algn="l">
              <a:lnSpc>
                <a:spcPts val="1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58240" y="1710055"/>
            <a:ext cx="4163695" cy="19081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922905" y="5050790"/>
            <a:ext cx="2282825" cy="16484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673225" y="5224145"/>
            <a:ext cx="975360" cy="5029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1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908175" y="6437630"/>
            <a:ext cx="807720" cy="2711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7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Case 4a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 Parent had balance of -1 and the node was deleted in the parent’s left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subtree, right subtree was unbalanced.</a:t>
            </a:r>
            <a:endParaRPr lang="ko-KR" altLang="en-US" dirty="0" smtClean="0" sz="1056" i="1"/>
          </a:p>
          <a:p>
            <a:pPr marL="0" indent="0" defTabSz="15240" algn="l">
              <a:lnSpc>
                <a:spcPts val="1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24.7 </a:t>
            </a:r>
            <a:endParaRPr lang="ko-KR" altLang="en-US" dirty="0" smtClean="0" sz="1056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last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case 3a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node A was balanced. But in this case,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figure above, the node C is tilted towards left. The node to be deleted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lies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node A. After deleting the node the height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node A has become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balance of the node A is shown tilted towards right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showing two triangular knobs inside node A. So what is the action here.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Double rotation at B. May have affected the balance of higher nodes, so continue up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double 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rotate </a:t>
            </a:r>
            <a:endParaRPr lang="ko-KR" altLang="en-US" dirty="0" smtClean="0" sz="1056" b="1"/>
          </a:p>
          <a:p>
            <a:pPr marL="0" indent="0" defTabSz="15240" algn="l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24.8 </a:t>
            </a:r>
            <a:endParaRPr lang="ko-KR" altLang="en-US" dirty="0" smtClean="0" sz="1056" b="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A, which was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previously, has become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child of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B. Node C, which was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child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 node C has now become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child of the new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B. </a:t>
            </a:r>
            <a:endParaRPr lang="ko-KR" altLang="en-US" dirty="0" smtClean="0" sz="1056"/>
          </a:p>
          <a:p>
            <a:pPr marL="0" indent="0" defTabSz="15240" algn="l">
              <a:lnSpc>
                <a:spcPts val="1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10970" y="1438910"/>
            <a:ext cx="3325495" cy="15113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462530" y="4209415"/>
            <a:ext cx="1612900" cy="13773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371600" y="4218305"/>
            <a:ext cx="975360" cy="5029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7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Case 5a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 The parent had balance of -1 and the node was deleted in the parent’s left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subtree, right subtree was unbalanced.</a:t>
            </a:r>
            <a:endParaRPr lang="ko-KR" altLang="en-US" dirty="0" smtClean="0" sz="1056" i="1"/>
          </a:p>
          <a:p>
            <a:pPr marL="0" indent="0" defTabSz="15240" algn="l">
              <a:lnSpc>
                <a:spcPts val="1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24.9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figure above,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of the node B has a height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right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is of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we remove a node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of node A,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tree is shown on the right side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Fig 24.9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subtree 1 has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now,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subtrees 2 and 3 have the same heights. So the action we will do in this case is: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rotation at B. May have effected the balance of higher nodes, so continue up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tree.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single </a:t>
            </a:r>
            <a:endParaRPr lang="ko-KR" altLang="en-US" dirty="0" smtClean="0" sz="1056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rotate </a:t>
            </a:r>
            <a:endParaRPr lang="ko-KR" altLang="en-US" dirty="0" smtClean="0" sz="1056" b="1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24.10 </a:t>
            </a:r>
            <a:endParaRPr lang="ko-KR" altLang="en-US" dirty="0" smtClean="0" sz="1056" b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were the five cases of deletion of a node from an AVL tree. Until now,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trying to understand the concept using the figures. You might have noticed the phrase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‘continue up the tree’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actions above. How will we do it? One way is to maintain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of the parent node inside each node. But often the easiest method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in downward direction and then upward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recursion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recursion, the work to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done later is pushed on to the stack and we keep on moving forward until at a certain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 we back track and do remaining work present in the stack. We delete a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reach at the desired location and then while traversing back, do the rotation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on our way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Symmetrical to case 2b, we may also have cases 3b, 4b and 5b. This should not be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in doing it yourself. </a:t>
            </a:r>
            <a:endParaRPr lang="ko-KR" altLang="en-US" dirty="0" smtClean="0" sz="1056"/>
          </a:p>
          <a:p>
            <a:pPr marL="0" indent="0" defTabSz="15240"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5888990"/>
            <a:ext cx="4459605" cy="24688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Other Uses of Binary Trees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characteristic of binary trees is that the values inside nodes on the left of a node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smaller than the value in the node. And the values inside the nodes on the right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are greater than the value in the node. This is the way a binary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Whatever is the size of the tree, the search is performed after traversing upto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 maximum.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observed that the binary tree becomes a linked list and it can become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shallow. The AVL conditions came into picture to control the height balance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tree. While searching in an AVL tree, in the worst case scenario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1.44 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levels. For searches, binary and AVL trees are the most efficient but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do have some other kinds of trees that will be studied later.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Lets see what could be some other uses of binary trees, we start our discussion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Expression Trees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Expression Trees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trees, the more general parse trees and abstract syntax trees are significant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components of compilers.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already know about compilers that whenever we write our program or code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computer language like C++ or Java. These programs are compiled into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assembly language or byte code (in case of Java). This assembly language code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translated converted into machine language and an executable file is made by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 called the assembler.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way, if you have seen your syllabus, you might have seen that there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dedicated subject on compilers. We study in detail about compilers in that course.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course, we will see expression or parse trees.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take some examples of expression trees and we will not delve into much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depth of it rather that would be an introduction to expression trees.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72" b="1">
                <a:solidFill>
                  <a:srgbClr val="000000"/>
                </a:solidFill>
                <a:latin typeface="Courier New"/>
                <a:ea typeface="Courier New"/>
              </a:rPr>
              <a:t>(a+b*c)+((d*e+f)*g)</a:t>
            </a:r>
            <a:endParaRPr lang="ko-KR" altLang="en-US" dirty="0" smtClean="0" sz="1072" b="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+</a:t>
            </a:r>
            <a:endParaRPr lang="ko-KR" altLang="en-US" dirty="0" smtClean="0" sz="1072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*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+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g</a:t>
            </a:r>
            <a:endParaRPr lang="ko-KR" altLang="en-US" dirty="0" smtClean="0" sz="1072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*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1072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713" b="1">
                <a:solidFill>
                  <a:srgbClr val="000000"/>
                </a:solidFill>
                <a:latin typeface="Times New Roman"/>
                <a:ea typeface="Times New Roman"/>
              </a:rPr>
              <a:t>Fig 24.11</a:t>
            </a:r>
            <a:endParaRPr lang="ko-KR" altLang="en-US" dirty="0" smtClean="0" sz="713" b="1"/>
          </a:p>
          <a:p>
            <a:pPr marL="0" indent="0" defTabSz="15240" algn="l">
              <a:lnSpc>
                <a:spcPts val="7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286 of 519 </a:t>
            </a:r>
            <a:endParaRPr lang="ko-KR" altLang="en-US" dirty="0" smtClean="0" sz="1056"/>
          </a:p>
        </p:txBody>
      </p:sp>
      <p:sp>
        <p:nvSpPr>
          <p:cNvPr id="775" name="Rect 3"/>
          <p:cNvSpPr>
            <a:spLocks noGrp="1" noChangeArrowheads="1"/>
          </p:cNvSpPr>
          <p:nvPr/>
        </p:nvSpPr>
        <p:spPr>
          <a:xfrm rot="0">
            <a:off x="3014345" y="5977255"/>
            <a:ext cx="1805305" cy="22739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+</a:t>
            </a:r>
            <a:endParaRPr lang="ko-KR" altLang="en-US" dirty="0" smtClean="0" sz="1072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*</a:t>
            </a:r>
            <a:endParaRPr lang="ko-KR" altLang="en-US" dirty="0" smtClean="0" sz="1072"/>
          </a:p>
          <a:p>
            <a:pPr marL="0" indent="0" defTabSz="15240" algn="l">
              <a:lnSpc>
                <a:spcPts val="1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072">
                <a:solidFill>
                  <a:srgbClr val="000000"/>
                </a:solidFill>
                <a:latin typeface="Arial"/>
              </a:rPr>
              <a:t>e</a:t>
            </a:r>
            <a:endParaRPr lang="ko-KR" altLang="en-US" dirty="0" smtClean="0" sz="1072"/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3105785" y="4041775"/>
            <a:ext cx="3273425" cy="24657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801110" y="3822065"/>
            <a:ext cx="679450" cy="2133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252345" y="3776345"/>
            <a:ext cx="1280160" cy="2559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778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072255" y="6617335"/>
            <a:ext cx="721995" cy="2952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7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the infix expression above (a + b * c) + ( (d * e + f) * g), it is represented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tree form also.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from bottom of the tree that the nodes b and c in the nodes are present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level and their parent node is multiplication (*) symbol. From the expression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also, we see that the b and c are being multiplied. The parent node of a is +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+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b*c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You might have understood already that this subtree is depicting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a+b*c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On the right side, node d and e are connected to the parent *. Symbol +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of * and node f. The expression of the subtree at node +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d*e+f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parent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+ is * node,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is g. So expression of the subtree at this node *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d*e+f)*g)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root node of the tree is +.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expression trees are useful in compilers and in spreadsheets also, they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 called parse trees.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Parse Tree in Compilers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expression tree of expression A := A + B * C below. We are adding B and C,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adding the resultant in A and then finally assigning the resultant to A.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:= A + B * C </a:t>
            </a:r>
            <a:endParaRPr lang="ko-KR" altLang="en-US" dirty="0" smtClean="0" sz="1056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&lt;id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&lt;expr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&lt;term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&lt;factor&gt;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&lt;id&gt;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&lt;id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Expression grammar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&lt;assign&gt;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Wingdings"/>
                <a:ea typeface="Wingdings"/>
              </a:rPr>
              <a:t>Æ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&lt;id&gt; := &lt;expr&gt;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&lt;id&gt;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Wingdings"/>
                <a:ea typeface="Wingdings"/>
              </a:rPr>
              <a:t>Æ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 | B | 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&lt;expr&gt;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Wingdings"/>
                <a:ea typeface="Wingdings"/>
              </a:rPr>
              <a:t>Æ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&lt;expr&gt; + &lt;term&gt; | &lt;term&gt;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&lt;term&gt;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Wingdings"/>
                <a:ea typeface="Wingdings"/>
              </a:rPr>
              <a:t>Æ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&lt;term&gt; * &lt;factor&gt; | &lt;factor&gt; 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in the parse tree shown above is &lt;assign&gt;.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assignment statement (&lt;assign&gt;) has three parts. On the left of it, there is always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identifier (single or an array reference)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l-value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l-value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shown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above is &lt;id&gt; and the identifier is A in the expression above. The second part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assignment statement is assignment operator (= or :=). One the right of assignment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lies the third part of assignment statement, which is an expression.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A := A + B * C above , the expression after assignment operator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B *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tree, it is represented by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&lt;expr&gt;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&lt;expr&gt;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subnodes: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&lt;expr&gt;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&lt;term&gt;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&lt;expr&gt;’s further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is &lt;expr&gt;, &lt;term&gt;,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&lt;factor&gt;, &lt;id&gt; and then finally is B.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subchild &lt;term&gt; has further subnodes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287 of 519 </a:t>
            </a:r>
            <a:endParaRPr lang="ko-KR" altLang="en-US" dirty="0" smtClean="0" sz="1056"/>
          </a:p>
        </p:txBody>
      </p:sp>
      <p:sp>
        <p:nvSpPr>
          <p:cNvPr id="778" name="Rect 3"/>
          <p:cNvSpPr>
            <a:spLocks noGrp="1" noChangeArrowheads="1"/>
          </p:cNvSpPr>
          <p:nvPr/>
        </p:nvSpPr>
        <p:spPr>
          <a:xfrm rot="0">
            <a:off x="6035040" y="6004560"/>
            <a:ext cx="159385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056"/>
          </a:p>
        </p:txBody>
      </p:sp>
      <p:sp>
        <p:nvSpPr>
          <p:cNvPr id="779" name="Rect 3"/>
          <p:cNvSpPr>
            <a:spLocks noGrp="1" noChangeArrowheads="1"/>
          </p:cNvSpPr>
          <p:nvPr/>
        </p:nvSpPr>
        <p:spPr>
          <a:xfrm rot="0">
            <a:off x="3867785" y="3877310"/>
            <a:ext cx="2470150" cy="29381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&lt;assign</a:t>
            </a:r>
            <a:endParaRPr lang="ko-KR" altLang="en-US" dirty="0" smtClean="0" sz="1056"/>
          </a:p>
          <a:p>
            <a:pPr marL="0" indent="0" defTabSz="15240" algn="l">
              <a:lnSpc>
                <a:spcPts val="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&lt;expr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+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&lt;term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&lt;term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*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&lt;factor&gt;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&lt;factor&gt;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&lt;id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B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24.12 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64920" y="5669280"/>
            <a:ext cx="4349750" cy="22313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&lt;term&gt;, * and &lt;factor&gt;. &lt;factor&gt; has &lt;id&gt; as subchild and &lt;id&gt; has C.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the nodes in gray shade in the tree above form A = A + B * C.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 creates these parse trees. We will see how to make these trees, when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parse any language tree like C++. Parsing mean to read and then extract the required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A compiler parses a computer language like C++ to form parse trees.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when we do speech recognition. Each sentence is broken down into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certain structure in form of a tree. Hand writing recognition also involves this.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tablet PCs these days has lot of implementation of parse trees.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Parse Tree for an SQL Query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another example of parse trees inside databases. The parse trees are used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query processing. The queries are questions to the databases to see a particular kind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data. Consider you have a database for a video store that contains data of movies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artists etc. You are querying that database to find the titles of movies with stars born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1960. The language used to query from the database is called SQL (Structured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Query Language), this language will be dealt in depth in the databases course.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tables lying in this movies database are: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StarsIn(title, year, starName)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MovieStar(name, address, gender, birthdate)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SQL query is used to retrieve information from this database: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 title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   StarsIn, MovieStar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starName = name AND birthdate LIKE ‘%1960’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query is asking to retrieve the titles of those movies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StarsIn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MovieStar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tables where the birthdate of an actor is 1960. We see in query processing a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formed as shown in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 Query &gt;</a:t>
            </a:r>
            <a:endParaRPr lang="ko-KR" altLang="en-US" dirty="0" smtClean="0" sz="795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SELECT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&lt;SelList&gt;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FROM</a:t>
            </a:r>
            <a:endParaRPr lang="ko-KR" altLang="en-US" dirty="0" smtClean="0" sz="795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&lt;Attribute&gt;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&lt;RelName&gt;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&lt;FromList&gt;</a:t>
            </a:r>
            <a:endParaRPr lang="ko-KR" altLang="en-US" dirty="0" smtClean="0" sz="795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title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StarsIn</a:t>
            </a:r>
            <a:endParaRPr lang="ko-KR" altLang="en-US" dirty="0" smtClean="0" sz="795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MovieStar</a:t>
            </a:r>
            <a:endParaRPr lang="ko-KR" altLang="en-US" dirty="0" smtClean="0" sz="79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Condition</a:t>
            </a:r>
            <a:endParaRPr lang="ko-KR" altLang="en-US" dirty="0" smtClean="0" sz="79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&lt;Attribute&gt;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&lt;Attribute&gt;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&lt;Attribute&gt;</a:t>
            </a:r>
            <a:endParaRPr lang="ko-KR" altLang="en-US" dirty="0" smtClean="0" sz="795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Times New Roman"/>
                <a:ea typeface="Times New Roman"/>
              </a:rPr>
              <a:t>Fig 24.13</a:t>
            </a:r>
            <a:endParaRPr lang="ko-KR" altLang="en-US" dirty="0" smtClean="0" sz="795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setName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name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‘%1960’</a:t>
            </a:r>
            <a:endParaRPr lang="ko-KR" altLang="en-US" dirty="0" smtClean="0" sz="795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is Query. This node is further divided into SELECT, &lt;SelList&gt;,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FROM, &lt;FromList&gt;, WHERE and &lt;Condition&gt; subnodes. &lt;SelList&gt; will be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Attribute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finally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title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reached. Observe the tree figure above, how the tree is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288 of 519 </a:t>
            </a:r>
            <a:endParaRPr lang="ko-KR" altLang="en-US" dirty="0" smtClean="0" sz="1056"/>
          </a:p>
        </p:txBody>
      </p:sp>
      <p:sp>
        <p:nvSpPr>
          <p:cNvPr id="782" name="Rect 3"/>
          <p:cNvSpPr>
            <a:spLocks noGrp="1" noChangeArrowheads="1"/>
          </p:cNvSpPr>
          <p:nvPr/>
        </p:nvSpPr>
        <p:spPr>
          <a:xfrm rot="0">
            <a:off x="4355465" y="6391910"/>
            <a:ext cx="1497965" cy="13163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AND</a:t>
            </a:r>
            <a:endParaRPr lang="ko-KR" altLang="en-US" dirty="0" smtClean="0" sz="795" b="1"/>
          </a:p>
          <a:p>
            <a:pPr marL="0" indent="0" defTabSz="15240" algn="l">
              <a:lnSpc>
                <a:spcPts val="8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LIKE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&lt;Pattern&gt;</a:t>
            </a:r>
            <a:endParaRPr lang="ko-KR" altLang="en-US" dirty="0" smtClean="0" sz="795"/>
          </a:p>
        </p:txBody>
      </p:sp>
      <p:sp>
        <p:nvSpPr>
          <p:cNvPr id="783" name="Rect 3"/>
          <p:cNvSpPr>
            <a:spLocks noGrp="1" noChangeArrowheads="1"/>
          </p:cNvSpPr>
          <p:nvPr/>
        </p:nvSpPr>
        <p:spPr>
          <a:xfrm rot="0">
            <a:off x="2721610" y="6065520"/>
            <a:ext cx="2473325" cy="19659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&lt;FromList&gt;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WHERE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&lt;Condition&gt;</a:t>
            </a:r>
            <a:endParaRPr lang="ko-KR" altLang="en-US" dirty="0" smtClean="0" sz="79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,</a:t>
            </a:r>
            <a:endParaRPr lang="ko-KR" altLang="en-US" dirty="0" smtClean="0" sz="795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&lt;RelName&gt;</a:t>
            </a:r>
            <a:endParaRPr lang="ko-KR" altLang="en-US" dirty="0" smtClean="0" sz="79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Condition</a:t>
            </a:r>
            <a:endParaRPr lang="ko-KR" altLang="en-US" dirty="0" smtClean="0" sz="795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95">
                <a:solidFill>
                  <a:srgbClr val="000000"/>
                </a:solidFill>
                <a:latin typeface="Arial"/>
              </a:rPr>
              <a:t>=</a:t>
            </a:r>
            <a:endParaRPr lang="ko-KR" altLang="en-US" dirty="0" smtClean="0" sz="795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795" b="1">
                <a:solidFill>
                  <a:srgbClr val="000000"/>
                </a:solidFill>
                <a:latin typeface="Arial"/>
              </a:rPr>
              <a:t>birthdate</a:t>
            </a:r>
            <a:endParaRPr lang="ko-KR" altLang="en-US" dirty="0" smtClean="0" sz="795" b="1"/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2359025"/>
            <a:ext cx="4812665" cy="27343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8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expanded when we go in the downward direction. When the database engine does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query process, it makes these trees. The database engine also performs query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optimization using these trees.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Compiler Optmization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another expression tree here: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Common subexpression:</a:t>
            </a:r>
            <a:endParaRPr lang="ko-KR" altLang="en-US" dirty="0" smtClean="0" sz="79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(f+d*e) + ((d*e+f)*g)</a:t>
            </a:r>
            <a:endParaRPr lang="ko-KR" altLang="en-US" dirty="0" smtClean="0" sz="79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+</a:t>
            </a:r>
            <a:endParaRPr lang="ko-KR" altLang="en-US" dirty="0" smtClean="0" sz="1197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+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*</a:t>
            </a:r>
            <a:endParaRPr lang="ko-KR" altLang="en-US" dirty="0" smtClean="0" sz="1197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*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+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g</a:t>
            </a:r>
            <a:endParaRPr lang="ko-KR" altLang="en-US" dirty="0" smtClean="0" sz="1197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*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1197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97">
                <a:solidFill>
                  <a:srgbClr val="000000"/>
                </a:solidFill>
                <a:latin typeface="Arial"/>
              </a:rPr>
              <a:t>e</a:t>
            </a:r>
            <a:endParaRPr lang="ko-KR" altLang="en-US" dirty="0" smtClean="0" sz="1197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932" b="1">
                <a:solidFill>
                  <a:srgbClr val="000000"/>
                </a:solidFill>
                <a:latin typeface="Times New Roman"/>
                <a:ea typeface="Times New Roman"/>
              </a:rPr>
              <a:t>Fig 24.14</a:t>
            </a:r>
            <a:endParaRPr lang="ko-KR" altLang="en-US" dirty="0" smtClean="0" sz="932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left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subtree is capturing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f+d*e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expression while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is capturing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(d*e+f)*g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Normally compilers has intelligence to look at the common parts inside parse trees.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example in the tree above, the expressions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f+d*e and d*e+f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same basically.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common subtrees are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common subexpressions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gain efficiency,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calculating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common subexpressions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again, the compilers calculates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 once and use them at other places. The part of the compiler that is responsible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this kind of optimization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optimizer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figure below, the optimizer (part of compiler) will create the following graph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performing the optimization. Because both subtrees were equivalent, it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taken out one subtree and connected the link from node * to node +.  </a:t>
            </a:r>
            <a:endParaRPr lang="ko-KR" altLang="en-US" dirty="0" smtClean="0" sz="1056"/>
          </a:p>
          <a:p>
            <a:pPr marL="0" indent="0" defTabSz="15240" algn="l">
              <a:lnSpc>
                <a:spcPts val="1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289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6320" y="1200785"/>
            <a:ext cx="4794250" cy="19932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61">
                <a:solidFill>
                  <a:srgbClr val="000000"/>
                </a:solidFill>
                <a:latin typeface="Arial"/>
              </a:rPr>
              <a:t>(Common Subexpression:</a:t>
            </a:r>
            <a:endParaRPr lang="ko-KR" altLang="en-US" dirty="0" smtClean="0" sz="86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861">
                <a:solidFill>
                  <a:srgbClr val="000000"/>
                </a:solidFill>
                <a:latin typeface="Arial"/>
              </a:rPr>
              <a:t>(f+d*e) + ((d*e+f)*g)</a:t>
            </a:r>
            <a:endParaRPr lang="ko-KR" altLang="en-US" dirty="0" smtClean="0" sz="86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+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*</a:t>
            </a:r>
            <a:endParaRPr lang="ko-KR" altLang="en-US" dirty="0" smtClean="0" sz="1295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*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g</a:t>
            </a:r>
            <a:endParaRPr lang="ko-KR" altLang="en-US" dirty="0" smtClean="0" sz="1295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e</a:t>
            </a:r>
            <a:endParaRPr lang="ko-KR" altLang="en-US" dirty="0" smtClean="0" sz="1295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figure is not a tree now because it has two or more different paths to reach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Therefore, this has become a graph. The new connection is containing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directed edge, which is there in graphs.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Optimizer uses the expressions trees and converts them to graphs for efficiency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purposes. You read out from your book, how the expression trees are formed, what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the different methods of creating them. </a:t>
            </a:r>
            <a:endParaRPr lang="ko-KR" altLang="en-US" dirty="0" smtClean="0" sz="1056"/>
          </a:p>
          <a:p>
            <a:pPr marL="0" indent="0" defTabSz="15240" algn="l">
              <a:lnSpc>
                <a:spcPts val="3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290 of 519 </a:t>
            </a:r>
            <a:endParaRPr lang="ko-KR" altLang="en-US" dirty="0" smtClean="0" sz="1056"/>
          </a:p>
        </p:txBody>
      </p:sp>
      <p:sp>
        <p:nvSpPr>
          <p:cNvPr id="788" name="Rect 3"/>
          <p:cNvSpPr>
            <a:spLocks noGrp="1" noChangeArrowheads="1"/>
          </p:cNvSpPr>
          <p:nvPr/>
        </p:nvSpPr>
        <p:spPr>
          <a:xfrm rot="0">
            <a:off x="3139440" y="1264920"/>
            <a:ext cx="1153160" cy="19780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95">
                <a:solidFill>
                  <a:srgbClr val="000000"/>
                </a:solidFill>
                <a:latin typeface="Arial"/>
              </a:rPr>
              <a:t>+</a:t>
            </a:r>
            <a:endParaRPr lang="ko-KR" altLang="en-US" dirty="0" smtClean="0" sz="1295"/>
          </a:p>
          <a:p>
            <a:pPr marL="0" indent="0" defTabSz="15240" algn="l">
              <a:lnSpc>
                <a:spcPts val="7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008" b="1">
                <a:solidFill>
                  <a:srgbClr val="000000"/>
                </a:solidFill>
                <a:latin typeface="Times New Roman"/>
                <a:ea typeface="Times New Roman"/>
              </a:rPr>
              <a:t>Graph!</a:t>
            </a:r>
            <a:endParaRPr lang="ko-KR" altLang="en-US" dirty="0" smtClean="0" sz="1008" b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008" b="1">
                <a:solidFill>
                  <a:srgbClr val="000000"/>
                </a:solidFill>
                <a:latin typeface="Times New Roman"/>
                <a:ea typeface="Times New Roman"/>
              </a:rPr>
              <a:t>Fig 24.15</a:t>
            </a:r>
            <a:endParaRPr lang="ko-KR" altLang="en-US" dirty="0" smtClean="0" sz="1008" b="1"/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9495" y="4846320"/>
            <a:ext cx="4773295" cy="21729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9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25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4, 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4.2.2, 10.1.2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Huffman Encoding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Expression tree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discussed the concept of expression trees in detail in the previous lecture. 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used in many other ways in the computer science. Compilers and database are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major examples in this regard. In case of compilers, when the languages are translated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machine language, tree-like structures are used. We have also seen an example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tree comprising the mathematical expression. Let’s have more discussion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expression trees. We will see what are the benefits of expression trees and how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we build an expression tree. Following is the figure of an expression tree.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96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96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96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tree, the expression on the left side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b * 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on the right side,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* e + f * 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you look at the figure, it becomes evident that the inner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 operators while leaf nodes have operands. We know that there are two types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nodes in the tree i.e. inner nodes and leaf nodes. The leaf nodes are such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have left and right subtrees as null. You will find these at the bottom level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tree. The leaf nodes are connected with the inner nodes. So in trees, we have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inner nodes and some leaf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diagram, all the inner nodes (the nodes which have either left or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or both) have operators. In this case,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operators. Whereas leaf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291 of 519 </a:t>
            </a:r>
            <a:endParaRPr lang="ko-KR" altLang="en-US" dirty="0" smtClean="0" sz="1056"/>
          </a:p>
        </p:txBody>
      </p:sp>
      <p:sp>
        <p:nvSpPr>
          <p:cNvPr id="791" name="Rect 3"/>
          <p:cNvSpPr>
            <a:spLocks noGrp="1" noChangeArrowheads="1"/>
          </p:cNvSpPr>
          <p:nvPr/>
        </p:nvSpPr>
        <p:spPr>
          <a:xfrm rot="0">
            <a:off x="4087495" y="5879465"/>
            <a:ext cx="1677035" cy="6432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966"/>
          </a:p>
        </p:txBody>
      </p:sp>
      <p:sp>
        <p:nvSpPr>
          <p:cNvPr id="792" name="Rect 3"/>
          <p:cNvSpPr>
            <a:spLocks noGrp="1" noChangeArrowheads="1"/>
          </p:cNvSpPr>
          <p:nvPr/>
        </p:nvSpPr>
        <p:spPr>
          <a:xfrm rot="0">
            <a:off x="2334895" y="5471160"/>
            <a:ext cx="2817495" cy="10363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66">
                <a:solidFill>
                  <a:srgbClr val="000000"/>
                </a:solidFill>
                <a:latin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966"/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9495" y="4096385"/>
            <a:ext cx="4773295" cy="21736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9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contain operands only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a, b, c, d, e, f, 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tree is binary as the operators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binary. We have discussed the evaluation of postfix and infix expressions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seen that the binary operators need two operands. In the infix expressions,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 is on the left side of the operator and the other is on the right side. Suppose,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+ operator, it will be written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 + 4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However, in case of multiplication,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write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5*6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may have unary operators like negation (-) or in Boolean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we have NOT. In this example, there are all the binary operators.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this tree is a binary tree. This is not the Binary Search Tree. In BST,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on the left side of the nodes are smaller and the values on the right side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the node. Therefore, this is not a BST. Here we have an expression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no sorting process involved.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not necessary that expression tree is always binary tree. Suppose we have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unary operator like negation. In this case, we have a node which has (-) in it and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only one leaf node under it. It means just negate that operand.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 traversal of the expression tree. The inorder traversal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executed here.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96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96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96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yields: a+b*c+d*e+f*g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use the inorder routine and give the root of this tree. The inorder traversal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a+b*c+d*e+f*g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You might have noted that there is no parenthesis. In such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expressions when there is addition and multiplication together, we have to decide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operation should be performed first. At that time, we have talked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operator precedence. While converting infix expression into postfix expression,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written a routine, which tells about the precedence of the operators like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multiplication has higher precedence than the addition. In case of the expression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 + 3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* 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first evaluate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 * 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before adding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result. We are used to solve such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expressions and know how to evaluate such expressions. But in the computers,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set the precedence in our functions.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an expression tree and perform inorder traversal on it. We get the infix form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expression with the inorder traversal but without parenthesis. To have the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292 of 519 </a:t>
            </a:r>
            <a:endParaRPr lang="ko-KR" altLang="en-US" dirty="0" smtClean="0" sz="1056"/>
          </a:p>
        </p:txBody>
      </p:sp>
      <p:sp>
        <p:nvSpPr>
          <p:cNvPr id="795" name="Rect 3"/>
          <p:cNvSpPr>
            <a:spLocks noGrp="1" noChangeArrowheads="1"/>
          </p:cNvSpPr>
          <p:nvPr/>
        </p:nvSpPr>
        <p:spPr>
          <a:xfrm rot="0">
            <a:off x="4087495" y="5129530"/>
            <a:ext cx="1677035" cy="6400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966"/>
          </a:p>
        </p:txBody>
      </p:sp>
      <p:sp>
        <p:nvSpPr>
          <p:cNvPr id="796" name="Rect 3"/>
          <p:cNvSpPr>
            <a:spLocks noGrp="1" noChangeArrowheads="1"/>
          </p:cNvSpPr>
          <p:nvPr/>
        </p:nvSpPr>
        <p:spPr>
          <a:xfrm rot="0">
            <a:off x="2334895" y="4721225"/>
            <a:ext cx="2817495" cy="10363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66">
                <a:solidFill>
                  <a:srgbClr val="000000"/>
                </a:solidFill>
                <a:latin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966"/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791970" y="1755775"/>
            <a:ext cx="3084830" cy="22002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9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 also in the expressions, we will have to do some extra work.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is the code of the inorder routine which puts parenthesis in the expression.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inorder traversal routine using the parenthesis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inorder(TreeNode&lt;int&gt;* treeNode)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treeNode != NULL ){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"(";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inorder(treeNode-&gt;getLeft());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")";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*(treeNode-&gt;getInfo());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"(";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inorder(treeNode-&gt;getRight());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")";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same inorder routine used by us earlier. It takes the root of the tree to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traversed. First of all, we check that the root node is not null. In the previous routine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check, we have a recursive call to inorder passing it the left node, print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then call the inorder for the right node. Here we have included parenthesis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statements. We print out the opening parenthesis ‘(‘before the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 to inorder. After this, we close the parenthesis. Then we print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again have opening parenthesis and recursive call to inorder with the right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having closing parenthesis in the end. You must have understood that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parenthesis in a special order. We want to put the opening parenthesis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the start of the expression or sub expression of the left node. Then we close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parenthesis. So inside the parenthesis, there is a sub expression.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executing this inorder routine, we have the expression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 a + ( b * c )) + ((( d * 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) + f ) * g 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2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9495" y="5830570"/>
            <a:ext cx="4773295" cy="21736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0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39495" y="1127760"/>
            <a:ext cx="4773295" cy="21729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96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96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96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Inorder: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 a + ( b * c )) + ((( d * e ) + f ) * g )</a:t>
            </a:r>
            <a:endParaRPr lang="ko-KR" altLang="en-US" dirty="0" smtClean="0" sz="1056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put an opening parenthesis and start from the root and reach at the node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 After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reaching at plus (+), we have a recursive call for the subtree *. Before this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call, there is an opening parenthesis. After the call, we have a closing parenthesis.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the expression becomes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(a + ( b * c ))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we recursively 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node of the tree. Whenever, we have a recursive call, there is an opening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parenthesis. When the call ends, we have a closing parenthesis. As a result,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expression with parenthesis, which saves a programmer from any problem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precedence now.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used the inorder traversal. If we traverse this tree using the postorder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mode, then what expression we will have? As a result of postorder traversal,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postorder expression.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96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96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96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Postorder traversal: a b c * + d e * f + g * +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same tree as seen by us earlier. Here we are performing postorder traversal.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postorder, we print left, right and then the parent. At first, we will print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294 of 519 </a:t>
            </a:r>
            <a:endParaRPr lang="ko-KR" altLang="en-US" dirty="0" smtClean="0" sz="1056"/>
          </a:p>
        </p:txBody>
      </p:sp>
      <p:sp>
        <p:nvSpPr>
          <p:cNvPr id="801" name="Rect 3"/>
          <p:cNvSpPr>
            <a:spLocks noGrp="1" noChangeArrowheads="1"/>
          </p:cNvSpPr>
          <p:nvPr/>
        </p:nvSpPr>
        <p:spPr>
          <a:xfrm rot="0">
            <a:off x="4087495" y="2160905"/>
            <a:ext cx="1677035" cy="53460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96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66">
                <a:solidFill>
                  <a:srgbClr val="000000"/>
                </a:solidFill>
                <a:latin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3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endParaRPr lang="ko-KR" altLang="en-US" dirty="0" smtClean="0" sz="966"/>
          </a:p>
        </p:txBody>
      </p:sp>
      <p:sp>
        <p:nvSpPr>
          <p:cNvPr id="802" name="Rect 3"/>
          <p:cNvSpPr>
            <a:spLocks noGrp="1" noChangeArrowheads="1"/>
          </p:cNvSpPr>
          <p:nvPr/>
        </p:nvSpPr>
        <p:spPr>
          <a:xfrm rot="0">
            <a:off x="2334895" y="1752600"/>
            <a:ext cx="2817495" cy="57391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66">
                <a:solidFill>
                  <a:srgbClr val="000000"/>
                </a:solidFill>
                <a:latin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966"/>
          </a:p>
          <a:p>
            <a:pPr marL="0" indent="0" defTabSz="15240" algn="l">
              <a:lnSpc>
                <a:spcPts val="2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66">
                <a:solidFill>
                  <a:srgbClr val="000000"/>
                </a:solidFill>
                <a:latin typeface="Times New Roman"/>
              </a:rPr>
              <a:t>* </a:t>
            </a:r>
            <a:endParaRPr lang="ko-KR" altLang="en-US" dirty="0" smtClean="0" sz="96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Times New Roman"/>
                <a:ea typeface="Times New Roman"/>
              </a:rPr>
              <a:t>f </a:t>
            </a:r>
            <a:endParaRPr lang="ko-KR" altLang="en-US" dirty="0" smtClean="0" sz="966"/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printing +, we will go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print it. This way, we will get the postorder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of this tree and the postfix expression of the left side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b c * +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while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side, the postfix expression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d e * f + g * 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complete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b c * + d e * f + g * 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expression undergoes an alteration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change in the traversal order. If we have some expression tree, there may be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infix, prefix and postfix expression just by traversing the same tree. Also note that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postfix form, we do not need parenthesis.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how we can build this tree. We have some mathematical expressions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having binary operators. We want to develop an algorithm to convert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into an expression tree. This means that the expression should be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postfix form. In the start of this course, we have seen how to covert an infix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into postfix expression. Suppose someone is using a spreadsheet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typed a mathematical expression in the infix form. We will first convert the infix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 into the postfix expression before building expression tree with this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already have an expression to convert an infix expression into postfix. So we get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postfix expression. In the next step, we will read a symbol from the postfix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expression. If the symbol is an operand, put it in a tree node and push it on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postfix expression, we have either operators or operands. We will start reading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expression from left to right. If the symbol is operand, make a tree node and push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on the stack. How can we make a tree node? Try to memorize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pass it some data and it returns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object. We insert it into the tree.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can also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routine to create a tree node and put it in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will create a tree node of the operand and push it on the stack. We have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templates in the stack examples. We have used different data types for stacks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like numbers, characters etc. Now we are pushing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the stack.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of templates, any kind of data can be pushed on the stack. Here the data type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stack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push and pop elements of type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We will use the same stack routines.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symbol is an operator, pop two trees from the stack, form a new tree with operator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root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left and right subtrees and push this tree on the stack.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pushing operands on the stacks. After getting an operator, we will pop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operands from the stack. As our operators are binary, so it will be advisable to pop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operands. Now we will link these two nodes with a parent node. Thus,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operator in the parent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 example to understand it. We have a postfix expression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b + c d e + *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you are asked to evaluate it, it can be done with the help of old routine. Here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build an expression tree with this expression. Suppose that we have an empty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We are not concerned with the internal implementation of stack. It may be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or link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we have the symbol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is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 operand. We made a tree node and push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on the stack. The next symbol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 made a tree node and pushed it on the stack.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below diagram, stack is shown.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6209030"/>
            <a:ext cx="2849880" cy="1463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0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17650" y="5873750"/>
            <a:ext cx="2517775" cy="3048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0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009015" y="1185545"/>
            <a:ext cx="5507355" cy="28867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0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stack is growing from left to right. The top is moving towards right.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two nodes in the stack. Go back and read the expression, the next symbol is 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is an operator. When we have an operator, then according to the algorithm,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operands are popped. Therefore we pop two operands from the stack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made a tree node of +. Please note that we are making tree nodes of operands as well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operators. We made the + node parent of the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left link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+ is pointing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right link is pointing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push the + node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b		+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 d e + * * </a:t>
            </a:r>
            <a:endParaRPr lang="ko-KR" altLang="en-US" dirty="0" smtClean="0" sz="1056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symbol is an operator, pop two trees from the stack, form a new tree with operator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root and T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left and right subtrees and push this tree on the stack.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Actually, we push this subtree in the stack. Next three symbols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c, d,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made three nodes of these and push these on the stack. 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47800" y="4879975"/>
            <a:ext cx="3700145" cy="18865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0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657985" y="4541520"/>
            <a:ext cx="2514600" cy="3048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0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47800" y="1566545"/>
            <a:ext cx="3700145" cy="18865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0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859280" y="1231265"/>
            <a:ext cx="2517775" cy="3048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0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b		+ c d 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 * * </a:t>
            </a:r>
            <a:endParaRPr lang="ko-KR" altLang="en-US" dirty="0" smtClean="0" sz="1056"/>
          </a:p>
          <a:p>
            <a:pPr marL="0" indent="0" defTabSz="15240" algn="l">
              <a:lnSpc>
                <a:spcPts val="9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we have an operator symbol as +. We popped two elements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the + node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before pushing it on the stack. Now we have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the stack, first + node under which there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second node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the third node is again + node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left and right nodes.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b		+ c d e +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* * </a:t>
            </a:r>
            <a:endParaRPr lang="ko-KR" altLang="en-US" dirty="0" smtClean="0" sz="1056"/>
          </a:p>
          <a:p>
            <a:pPr marL="0" indent="0" defTabSz="15240" algn="l">
              <a:lnSpc>
                <a:spcPts val="9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symbol is * which is multiplication operator. We popped two nodes i.e.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of + node having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child nodes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We made a node of *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linked it with the two popped nodes.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on the left side of the *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node + with subtree is on the right side.  </a:t>
            </a:r>
            <a:endParaRPr lang="ko-KR" altLang="en-US" dirty="0" smtClean="0" sz="1056"/>
          </a:p>
          <a:p>
            <a:pPr marL="0" indent="0" defTabSz="15240" algn="l">
              <a:lnSpc>
                <a:spcPts val="1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4758055"/>
            <a:ext cx="3837305" cy="3368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47800" y="1466215"/>
            <a:ext cx="3700145" cy="28251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59280" y="1130935"/>
            <a:ext cx="2517775" cy="3048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1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b + c d e +		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* </a:t>
            </a:r>
            <a:endParaRPr lang="ko-KR" altLang="en-US" dirty="0" smtClean="0" sz="1056"/>
          </a:p>
          <a:p>
            <a:pPr marL="0" indent="0" defTabSz="15240" algn="l">
              <a:lnSpc>
                <a:spcPts val="9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last symbol is the * which is an operator. The final shape of the stack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 b + c d e + * * </a:t>
            </a:r>
            <a:endParaRPr lang="ko-KR" altLang="en-US" dirty="0" smtClean="0" sz="1056" b="1"/>
          </a:p>
          <a:p>
            <a:pPr marL="0" indent="0" defTabSz="15240" algn="l">
              <a:lnSpc>
                <a:spcPts val="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923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23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c </a:t>
            </a:r>
            <a:endParaRPr lang="ko-KR" altLang="en-US" dirty="0" smtClean="0" sz="923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+ </a:t>
            </a:r>
            <a:endParaRPr lang="ko-KR" altLang="en-US" dirty="0" smtClean="0" sz="923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endParaRPr lang="ko-KR" altLang="en-US" dirty="0" smtClean="0" sz="923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there is a complete expression tree. Now try to traverse this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inorder. We will get the infix form which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+ b * c * d + 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don’t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parenthesis here but can put these as discussed earlier. 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298 of 519 </a:t>
            </a:r>
            <a:endParaRPr lang="ko-KR" altLang="en-US" dirty="0" smtClean="0" sz="1056"/>
          </a:p>
        </p:txBody>
      </p:sp>
      <p:sp>
        <p:nvSpPr>
          <p:cNvPr id="811" name="Rect 3"/>
          <p:cNvSpPr>
            <a:spLocks noGrp="1" noChangeArrowheads="1"/>
          </p:cNvSpPr>
          <p:nvPr/>
        </p:nvSpPr>
        <p:spPr>
          <a:xfrm rot="0">
            <a:off x="2642870" y="2541905"/>
            <a:ext cx="860425" cy="41636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* </a:t>
            </a:r>
            <a:endParaRPr lang="ko-KR" altLang="en-US" dirty="0" smtClean="0" sz="1056"/>
          </a:p>
          <a:p>
            <a:pPr marL="0" indent="0" defTabSz="15240" algn="l">
              <a:lnSpc>
                <a:spcPts val="30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* </a:t>
            </a:r>
            <a:endParaRPr lang="ko-KR" altLang="en-US" dirty="0" smtClean="0" sz="923"/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way to build an expression tree. We have used the algorithm to convert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infix form into postfix form. We have also used stack data structure. With the help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templates, we can insert any type of data in the stack. We have used the expression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algorithm and very easily built the expression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computer science, trees like structures are used very often especially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compilers and processing of different languages.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Huffman Encoding </a:t>
            </a:r>
            <a:endParaRPr lang="ko-KR" altLang="en-US" dirty="0" smtClean="0" sz="1230" b="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other uses of binary trees. One of these is in the compression of data.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known as Huffman Encoding. Data compression plays a significant role in computer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networks. To transmit data to its destination faster, it is necessary to either increase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rate of the transmission media or simply send less data. The data compression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used in computer networks. To make the computer networks faster, we have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options i.e. one is to somehow increase the data rate of transmission or somehow send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less data. But it does not mean that less information should be sent or transmitted.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must be complete at any cost.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you want to send some data to some other computer. We usually compress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file (using winzip) before sending. The receiver of the file decompresses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making its use. The other way is to increase the bandwidth. We may want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the fiber cables or replace the slow modem with a faster one to increase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network speed. This way, we try to change the media of transmission to make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network faster. Now changing the media is the field of electrical or communication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engineers. Nowadays, fiber optics is used to increase the transmission rate of data.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compression utilities, we can compress up to 70% of the data. How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we compress our file without losing the information? Suppose our file is of size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Mb and after compression the size will be just 300Kb. If it takes ten minutes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transmit the 1 Mb data, the compressed file will take 3 minutes for its transmission.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also used the gif images, jpeg images and mpeg movie files. All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standards are used to compress the data to reduce their transmission time.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Compression methods are used for text, images, voice and other types of data.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not cover all of these compression algorithms here. You will study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 and compression in the course of algorithm. Here, we will discuss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special compression algorithm that uses binary tree for this purpose. This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 and efficient method. This is also used in jpg standard. We use modems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connect to the internet. The modems perform the live data compression. When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to the modem, it compresses it and sends to other modem. At different points,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compression is automatically performed. Let’s discuss Huffman Encoding algorithm.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Huffman code is method for the compression of standard text documents. It makes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of a binary tree to develop codes of varying lengths for the letters used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original message. Huffman code is also part of the JPEG image compression scheme.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algorithm was introduced by David Huffman in 1952 as part of a course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assignment at MIT.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how Huffman Encoding make use of the binary tree. We will take a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299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142490" y="7379335"/>
            <a:ext cx="2383790" cy="14230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1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 example to understand it. The example is to encode the 33-character phrase: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"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traversing threaded binary trees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"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phrase we have four words including spaces. There is a new line character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end. The total characters in the phrase are 33 including the space. We have to send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phrase to some other computer. You know that binary codes are used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alphabets and other language characters. For English alphabets, we use ASCII codes.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normally consists of eight bits. We can represent lower case alphabets, upper case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alphabets, 0,1,…9 and special symbols like $, ! etc while using ASCII codes.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Internally, it consists of eight bits. If you have eight bits, how many different patterns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be have? You can have 256 different patterns. In English, you have 26 lower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and 26 upper case alphabets. If you have seen the ASCII table, there are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printable characters and some unprintable characters in it. There are some graphic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also in the ASCII table.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our example, we have 33 characters. Of these, 29 characters are alphabets, 3 spaces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one new line character. The ASCII code for space is 32 and ASCII code for new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 character is 10. The ASCII value for ‘a’ is 95 and the value of A is 65. How many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bits we need to send 33 characters? As every character is of 8 bits, therefore for 33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characters, we need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33 * 8 = 264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the use of Huffman algorithm can help send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message with only 116 bits. So we can save around 40% using the Huffman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how the Huffman algorithm works. The algorithm is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List all the letters used, including the "space" character, along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with which they occur in the message.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Consider each of these (character, frequency) pairs to be nodes; they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 leaf nodes, as we will see.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Pick the two nodes with the lowest frequency. If there is a tie, pick randomly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amongst those with equal frequencies.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Make a new node out of these two, and turn two nodes into its children.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This new node is assigned the sum of the frequencies of its children.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Continue the process of combining the two nodes of lowest frequency till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only one node, the root is left.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apply this algorithm on our sample phrase. In the table below, we have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used in the phrase and their frequencies.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Original text: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traversing threaded binary trees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size: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(space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newline)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Letters :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Frequency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NL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1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300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142490" y="1130935"/>
            <a:ext cx="2383790" cy="11061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09015" y="3883025"/>
            <a:ext cx="4346575" cy="9480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5386070" y="4346575"/>
            <a:ext cx="240665" cy="1981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8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600710" y="5556250"/>
            <a:ext cx="6266180" cy="16129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18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612775" y="7491730"/>
            <a:ext cx="6299835" cy="20637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:    1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line occurs only once and is represented in the above table as NL.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white space occurs three times. We counted the alphabets that occur in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words. The letter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occurs three times, letter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occurs just once and so 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make tree with these alphabets and their frequencies.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is equal to sum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frequencies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145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endParaRPr lang="ko-KR" altLang="en-US" dirty="0" smtClean="0" sz="1145"/>
          </a:p>
        </p:txBody>
      </p:sp>
      <p:sp>
        <p:nvSpPr>
          <p:cNvPr id="818" name="Rect 3"/>
          <p:cNvSpPr>
            <a:spLocks noGrp="1" noChangeArrowheads="1"/>
          </p:cNvSpPr>
          <p:nvPr/>
        </p:nvSpPr>
        <p:spPr>
          <a:xfrm rot="0">
            <a:off x="4620895" y="4401185"/>
            <a:ext cx="1049655" cy="868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  <p:sp>
        <p:nvSpPr>
          <p:cNvPr id="819" name="Rect 3"/>
          <p:cNvSpPr>
            <a:spLocks noGrp="1" noChangeArrowheads="1"/>
          </p:cNvSpPr>
          <p:nvPr/>
        </p:nvSpPr>
        <p:spPr>
          <a:xfrm rot="0">
            <a:off x="2788920" y="4221480"/>
            <a:ext cx="1403350" cy="990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endParaRPr lang="ko-KR" altLang="en-US" dirty="0" smtClean="0" sz="1145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  <p:sp>
        <p:nvSpPr>
          <p:cNvPr id="820" name="Rect 3"/>
          <p:cNvSpPr>
            <a:spLocks noGrp="1" noChangeArrowheads="1"/>
          </p:cNvSpPr>
          <p:nvPr/>
        </p:nvSpPr>
        <p:spPr>
          <a:xfrm rot="0">
            <a:off x="2411095" y="4062730"/>
            <a:ext cx="1781175" cy="11125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endParaRPr lang="ko-KR" altLang="en-US" dirty="0" smtClean="0" sz="1145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  <p:sp>
        <p:nvSpPr>
          <p:cNvPr id="821" name="Rect 3"/>
          <p:cNvSpPr>
            <a:spLocks noGrp="1" noChangeArrowheads="1"/>
          </p:cNvSpPr>
          <p:nvPr/>
        </p:nvSpPr>
        <p:spPr>
          <a:xfrm rot="0">
            <a:off x="1493520" y="4096385"/>
            <a:ext cx="3088640" cy="10579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09600" y="1273810"/>
            <a:ext cx="5772785" cy="37007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2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69265" y="5495290"/>
            <a:ext cx="6681470" cy="13900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2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26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4.4.2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Hoffman Encoding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Mathematical Properties of Binary Trees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Huffman Encoding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continue our discussion on the Huffman encoding in this lecture.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lecture, we talked about the situation where the data structure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built. Huffman encoding is used in data compression. Compression technique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employed while transferring the data. Suppose there is a word-document (text file)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want to send on the network. If the file is, say, of one MB, there will be a lot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time required to send this file. However, in case of reduction of size by half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through compression, the network transmission time also get halved. After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it will be quite easy to understand the Hoffman encoding to compress a text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file.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Huffman code is a method for the compression of standard text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documents. It makes use of a binary tree to develop codes of varying lengths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letters used in the original message. Huffman code is also a part of the JPEG image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compression scheme. David Huffman introduced this algorithm in the year 1952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a course assignment at MIT.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had started discussing a simple example to understand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Huffman encoding. In that example, we were encoding the 32-character phrase: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"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traversing threaded binary trees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". If this phrase were sent as a message in a network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standard 8-bit ASCII codes, we would have to send 8*32= 256 bits. However,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Huffman algorithm can help cut down the size of the message to 116 bits.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Huffman encoding, following steps are involved: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						List all the letters used, including the "space" character, along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with which they occur in the message.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						Consider each of these (character, frequency) pairs as nodes; these are actually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nodes, as we will see later.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						Pick two nodes with the lowest frequency. If there is a tie, pick randomly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amongst those with equal frequencies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						Make a new node out of these two and develop two nodes as its children.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						This new node is assigned the sum of the frequencies of its children.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						Continue the process of combining the two nodes of lowest frequency till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time, only one node, the root, is left.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step, we make a list of all letters (characters) including space and end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 and find out the number of occurrences of each letter/character. For example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306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11935" y="6910070"/>
            <a:ext cx="282511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2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11935" y="7074535"/>
            <a:ext cx="2825115" cy="12985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2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115185" y="3255010"/>
            <a:ext cx="1621790" cy="10001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2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ascertain how many times the letter ‘a’ is found in the file and how many times ‘b’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occurs and so on. Thus we find the number of occurrences (i.e. frequency) of 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letter in the text file.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step 2, we consider the pair (i.e. letter and its frequency) as a node.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these as leaf nodes. Afterwards, we pick two nodes with the lowest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in the list. If there are more than one pairs of same frequency,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choose a pair randomly amongst those with equal frequencies.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Suppose, in a file, the letter ‘a’ occurs 50 times and ‘b’ and ‘c’ five times each. Here,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‘b’ and ‘c’ have the lowest frequency. We will take these two letters as leaf nodes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 the tree from these ones. As fourth step states, we make a new node 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of these two nodes. The ‘b’ and ‘c’ are its children. In the fifth step, we assign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this new node the frequency equal to the sum of the frequencies of its children.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a three-node tree comes into existence. This is shown in the following figure. 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a, 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b, 5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26.1: 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continue this process of combining the two nodes of lowest frequency till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time, only one node i.e. the root is left.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come back to our example. In this example, there is a text string as written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threaded binary trees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size of this character string is 33 (it includes 3 space characters and one new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character). In the first step, we perform the counting of different characters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string manually. We do not assign a fake or zero frequency to a letter that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present in the string. A programmer may be concerned only with the characters/letters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are present in the text. We see that the letters and their frequencies in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text is as given below.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Table 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Frequency table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second step, we make nodes of these pairs of letters and frequencies. The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307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005455"/>
            <a:ext cx="4773295" cy="28403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2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(fig 26.2) depicts the letters as nodes. We have written the frequency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each letter with the node. The nodes have been categorized with respect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frequencies for simplicity. We are going to build the tree from downside i.e.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lowest frequency.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according to third step, two nodes of lowest frequency are picked up. We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nodes NL, b, g, h, v and y have the frequency 1. We randomly choose the nodes v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y. now, as the fourth step, we make a new node and join the leaf nodes v and y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as its children. We assign the frequency to this new (parent) node equal to the sum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frequencies of its children i.e. v and y. Thus in the fifth step; the frequency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new node is 2. We have written no letter in this node as shown in the figure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 is equal to sum 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of the frequencies of 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the two children </a:t>
            </a:r>
            <a:endParaRPr lang="ko-KR" altLang="en-US" dirty="0" smtClean="0" sz="88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d</a:t>
            </a:r>
            <a:endParaRPr lang="ko-KR" altLang="en-US" dirty="0" smtClean="0" sz="88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     Fig 26.2: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with their respective frequencies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continue this process with other nodes. Now we join the nodes g and h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of a new node. The frequency of this node is 2 i.e. the sum of frequencies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and h. After this, we join the nodes NL and b. This also makes a new node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2. Thus the nodes having frequency 1 have joined to the respective parent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This process is shown in the following figure (Fig 26.3). </a:t>
            </a:r>
            <a:endParaRPr lang="ko-KR" altLang="en-US" dirty="0" smtClean="0" sz="1056"/>
          </a:p>
          <a:p>
            <a:pPr marL="0" indent="0" defTabSz="15240" algn="l">
              <a:lnSpc>
                <a:spcPts val="1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308 of 519 </a:t>
            </a:r>
            <a:endParaRPr lang="ko-KR" altLang="en-US" dirty="0" smtClean="0" sz="1056"/>
          </a:p>
        </p:txBody>
      </p:sp>
      <p:sp>
        <p:nvSpPr>
          <p:cNvPr id="830" name="Rect 3"/>
          <p:cNvSpPr>
            <a:spLocks noGrp="1" noChangeArrowheads="1"/>
          </p:cNvSpPr>
          <p:nvPr/>
        </p:nvSpPr>
        <p:spPr>
          <a:xfrm rot="0">
            <a:off x="4492625" y="3791585"/>
            <a:ext cx="71120" cy="1644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r</a:t>
            </a:r>
            <a:endParaRPr lang="ko-KR" altLang="en-US" dirty="0" smtClean="0" sz="1145"/>
          </a:p>
        </p:txBody>
      </p:sp>
      <p:sp>
        <p:nvSpPr>
          <p:cNvPr id="831" name="Rect 3"/>
          <p:cNvSpPr>
            <a:spLocks noGrp="1" noChangeArrowheads="1"/>
          </p:cNvSpPr>
          <p:nvPr/>
        </p:nvSpPr>
        <p:spPr>
          <a:xfrm rot="0">
            <a:off x="4084320" y="3947160"/>
            <a:ext cx="1530985" cy="7893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</p:txBody>
      </p:sp>
      <p:sp>
        <p:nvSpPr>
          <p:cNvPr id="832" name="Rect 3"/>
          <p:cNvSpPr>
            <a:spLocks noGrp="1" noChangeArrowheads="1"/>
          </p:cNvSpPr>
          <p:nvPr/>
        </p:nvSpPr>
        <p:spPr>
          <a:xfrm rot="0">
            <a:off x="4084320" y="3791585"/>
            <a:ext cx="1586230" cy="7804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</p:txBody>
      </p:sp>
      <p:sp>
        <p:nvSpPr>
          <p:cNvPr id="833" name="Rect 3"/>
          <p:cNvSpPr>
            <a:spLocks noGrp="1" noChangeArrowheads="1"/>
          </p:cNvSpPr>
          <p:nvPr/>
        </p:nvSpPr>
        <p:spPr>
          <a:xfrm rot="0">
            <a:off x="1490345" y="3928745"/>
            <a:ext cx="3609975" cy="12287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1240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3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373370"/>
            <a:ext cx="4773295" cy="26854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26.3: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joining leaf nodes to create new nodes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come to the nodes with a frequency 2. Here we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join the pair of nodes d and i and also the pair n and s.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Resultantly, the two nodes coming into being after joining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have the frequency 4.  This frequency is the sum of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frequencies of their children. Now, we will bring the nodes,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 and t together. The parent node of a and t has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frequency 6 i.e. the sum of a and t. These new nodes are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shown in the following figure. </a:t>
            </a:r>
            <a:endParaRPr lang="ko-KR" altLang="en-US" dirty="0" smtClean="0" sz="1409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145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26.4: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joining different nodes to create new nodes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consider these new nodes as inner nodes and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build the tree upward towards the root. Now we take the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node SP and join it with the node that is the parent of v </a:t>
            </a:r>
            <a:endParaRPr lang="ko-KR" altLang="en-US" dirty="0" smtClean="0" sz="1409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309 of 519 </a:t>
            </a:r>
            <a:endParaRPr lang="ko-KR" altLang="en-US" dirty="0" smtClean="0" sz="1056"/>
          </a:p>
        </p:txBody>
      </p:sp>
      <p:sp>
        <p:nvSpPr>
          <p:cNvPr id="836" name="Rect 3"/>
          <p:cNvSpPr>
            <a:spLocks noGrp="1" noChangeArrowheads="1"/>
          </p:cNvSpPr>
          <p:nvPr/>
        </p:nvSpPr>
        <p:spPr>
          <a:xfrm rot="0">
            <a:off x="5169535" y="6062345"/>
            <a:ext cx="147320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145"/>
          </a:p>
        </p:txBody>
      </p:sp>
      <p:sp>
        <p:nvSpPr>
          <p:cNvPr id="837" name="Rect 3"/>
          <p:cNvSpPr>
            <a:spLocks noGrp="1" noChangeArrowheads="1"/>
          </p:cNvSpPr>
          <p:nvPr/>
        </p:nvSpPr>
        <p:spPr>
          <a:xfrm rot="0">
            <a:off x="4084320" y="6217920"/>
            <a:ext cx="497840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</p:txBody>
      </p:sp>
      <p:sp>
        <p:nvSpPr>
          <p:cNvPr id="838" name="Rect 3"/>
          <p:cNvSpPr>
            <a:spLocks noGrp="1" noChangeArrowheads="1"/>
          </p:cNvSpPr>
          <p:nvPr/>
        </p:nvSpPr>
        <p:spPr>
          <a:xfrm rot="0">
            <a:off x="4084320" y="2033270"/>
            <a:ext cx="1530985" cy="41998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30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r</a:t>
            </a:r>
            <a:endParaRPr lang="ko-KR" altLang="en-US" dirty="0" smtClean="0" sz="1145"/>
          </a:p>
        </p:txBody>
      </p:sp>
      <p:sp>
        <p:nvSpPr>
          <p:cNvPr id="839" name="Rect 3"/>
          <p:cNvSpPr>
            <a:spLocks noGrp="1" noChangeArrowheads="1"/>
          </p:cNvSpPr>
          <p:nvPr/>
        </p:nvSpPr>
        <p:spPr>
          <a:xfrm rot="0">
            <a:off x="2051050" y="1414145"/>
            <a:ext cx="3619500" cy="56051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  <a:p>
            <a:pPr marL="0" indent="0" defTabSz="15240" algn="l">
              <a:lnSpc>
                <a:spcPts val="3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14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</p:txBody>
      </p:sp>
      <p:sp>
        <p:nvSpPr>
          <p:cNvPr id="840" name="Rect 3"/>
          <p:cNvSpPr>
            <a:spLocks noGrp="1" noChangeArrowheads="1"/>
          </p:cNvSpPr>
          <p:nvPr/>
        </p:nvSpPr>
        <p:spPr>
          <a:xfrm rot="0">
            <a:off x="1511935" y="1258570"/>
            <a:ext cx="3588385" cy="61664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r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9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550920"/>
            <a:ext cx="4773295" cy="30295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and y. The resultant node has frequency 5 as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frequencies of its children are 2 and 5 respectively. Now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we join these nodes of higher frequencies. In other words,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node r is joined with the newly created node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frequency 5 that is on the left side of node r in the figure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26.5. Thus a new node of frequency 10 is created. We join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node e and the node of frequency 4 on its right side.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Resultantly, a new node of frequency 9 comes into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existence. Then we join the nodes having frequency 4 and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create a new node of frequency 8. The following figure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shows the nodes created so far.  </a:t>
            </a:r>
            <a:endParaRPr lang="ko-KR" altLang="en-US" dirty="0" smtClean="0" sz="1409"/>
          </a:p>
          <a:p>
            <a:pPr marL="0" indent="0" defTabSz="15240"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145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26.5: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joining of nodes to build a tree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join the nodes of frequency 6 and 8 to create the node of frequency 14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join the nodes of frequency of 9 and 10 to develop a new node of frequency of 19.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end, we make the root node with the frequency 33 and it comprises nodes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14 and 19. Thus the tree is completed and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310 of 519 </a:t>
            </a:r>
            <a:endParaRPr lang="ko-KR" altLang="en-US" dirty="0" smtClean="0" sz="1056"/>
          </a:p>
        </p:txBody>
      </p:sp>
      <p:sp>
        <p:nvSpPr>
          <p:cNvPr id="843" name="Rect 3"/>
          <p:cNvSpPr>
            <a:spLocks noGrp="1" noChangeArrowheads="1"/>
          </p:cNvSpPr>
          <p:nvPr/>
        </p:nvSpPr>
        <p:spPr>
          <a:xfrm rot="0">
            <a:off x="4492625" y="4587240"/>
            <a:ext cx="824230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145"/>
          </a:p>
        </p:txBody>
      </p:sp>
      <p:sp>
        <p:nvSpPr>
          <p:cNvPr id="844" name="Rect 3"/>
          <p:cNvSpPr>
            <a:spLocks noGrp="1" noChangeArrowheads="1"/>
          </p:cNvSpPr>
          <p:nvPr/>
        </p:nvSpPr>
        <p:spPr>
          <a:xfrm rot="0">
            <a:off x="4084320" y="4739640"/>
            <a:ext cx="497840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</p:txBody>
      </p:sp>
      <p:sp>
        <p:nvSpPr>
          <p:cNvPr id="845" name="Rect 3"/>
          <p:cNvSpPr>
            <a:spLocks noGrp="1" noChangeArrowheads="1"/>
          </p:cNvSpPr>
          <p:nvPr/>
        </p:nvSpPr>
        <p:spPr>
          <a:xfrm rot="0">
            <a:off x="4084320" y="4587240"/>
            <a:ext cx="107950" cy="170815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846" name="Rect 3"/>
          <p:cNvSpPr>
            <a:spLocks noGrp="1" noChangeArrowheads="1"/>
          </p:cNvSpPr>
          <p:nvPr/>
        </p:nvSpPr>
        <p:spPr>
          <a:xfrm rot="0">
            <a:off x="2051050" y="4084320"/>
            <a:ext cx="3619500" cy="14566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1145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14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</p:txBody>
      </p:sp>
      <p:sp>
        <p:nvSpPr>
          <p:cNvPr id="847" name="Rect 3"/>
          <p:cNvSpPr>
            <a:spLocks noGrp="1" noChangeArrowheads="1"/>
          </p:cNvSpPr>
          <p:nvPr/>
        </p:nvSpPr>
        <p:spPr>
          <a:xfrm rot="0">
            <a:off x="1511935" y="4184650"/>
            <a:ext cx="3588385" cy="17653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145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691130"/>
            <a:ext cx="4773295" cy="42398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 33</a:t>
            </a:r>
            <a:endParaRPr lang="ko-KR" altLang="en-US" dirty="0" smtClean="0" sz="1145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145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145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26.6: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Hoffman encoding tree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perform other steps of Hoffman encoding and develop character-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encoding scheme needed for data compression.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go ahead, we have to do the following steps.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Start at the root. Assign 0 to left branch and 1 to the right branch.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Repeat the process down the left and right subtrees.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To get the code for a character, traverse the tree from the root to the character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 and read off the 0 and 1 along the path.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start from the root node of the tree and assign the value 0 to the left branch and 1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311 of 519 </a:t>
            </a:r>
            <a:endParaRPr lang="ko-KR" altLang="en-US" dirty="0" smtClean="0" sz="1056"/>
          </a:p>
        </p:txBody>
      </p:sp>
      <p:sp>
        <p:nvSpPr>
          <p:cNvPr id="850" name="Rect 3"/>
          <p:cNvSpPr>
            <a:spLocks noGrp="1" noChangeArrowheads="1"/>
          </p:cNvSpPr>
          <p:nvPr/>
        </p:nvSpPr>
        <p:spPr>
          <a:xfrm rot="0">
            <a:off x="5169535" y="4934585"/>
            <a:ext cx="147320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145"/>
          </a:p>
        </p:txBody>
      </p:sp>
      <p:sp>
        <p:nvSpPr>
          <p:cNvPr id="851" name="Rect 3"/>
          <p:cNvSpPr>
            <a:spLocks noGrp="1" noChangeArrowheads="1"/>
          </p:cNvSpPr>
          <p:nvPr/>
        </p:nvSpPr>
        <p:spPr>
          <a:xfrm rot="0">
            <a:off x="4084320" y="5090160"/>
            <a:ext cx="497840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</p:txBody>
      </p:sp>
      <p:sp>
        <p:nvSpPr>
          <p:cNvPr id="852" name="Rect 3"/>
          <p:cNvSpPr>
            <a:spLocks noGrp="1" noChangeArrowheads="1"/>
          </p:cNvSpPr>
          <p:nvPr/>
        </p:nvSpPr>
        <p:spPr>
          <a:xfrm rot="0">
            <a:off x="4084320" y="4934585"/>
            <a:ext cx="479425" cy="1708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r</a:t>
            </a:r>
            <a:endParaRPr lang="ko-KR" altLang="en-US" dirty="0" smtClean="0" sz="1145"/>
          </a:p>
        </p:txBody>
      </p:sp>
      <p:sp>
        <p:nvSpPr>
          <p:cNvPr id="853" name="Rect 3"/>
          <p:cNvSpPr>
            <a:spLocks noGrp="1" noChangeArrowheads="1"/>
          </p:cNvSpPr>
          <p:nvPr/>
        </p:nvSpPr>
        <p:spPr>
          <a:xfrm rot="0">
            <a:off x="2051050" y="4431665"/>
            <a:ext cx="3619500" cy="1459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1145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14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</p:txBody>
      </p:sp>
      <p:sp>
        <p:nvSpPr>
          <p:cNvPr id="854" name="Rect 3"/>
          <p:cNvSpPr>
            <a:spLocks noGrp="1" noChangeArrowheads="1"/>
          </p:cNvSpPr>
          <p:nvPr/>
        </p:nvSpPr>
        <p:spPr>
          <a:xfrm rot="0">
            <a:off x="1511935" y="3727450"/>
            <a:ext cx="3588385" cy="25698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1145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145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005455"/>
            <a:ext cx="4773295" cy="42367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right branch. Afterwards, we repeat this value assigning at nodes in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subtrees. Thus all the paths have a value 0 or 1 as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develop the code with the help of these path values. </a:t>
            </a:r>
            <a:endParaRPr lang="ko-KR" altLang="en-US" dirty="0" smtClean="0" sz="1056"/>
          </a:p>
          <a:p>
            <a:pPr marL="0" indent="0" defTabSz="15240" algn="l">
              <a:lnSpc>
                <a:spcPts val="1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 33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9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14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 26.7: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Hoffman encoding tree with path values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the last step, we get the code for the characters. To get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code for a character, there is need of traversing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tree from the root to the character leaf node and read off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0 and 1 along the path. We start from the root and go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the letter of leaf node following the edges. 0 and 1 are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written down in the order in which they come in this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traversal to leaf node. For example, we want the code of </a:t>
            </a:r>
            <a:endParaRPr lang="ko-KR" altLang="en-US" dirty="0" smtClean="0" sz="1409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312 of 519 </a:t>
            </a:r>
            <a:endParaRPr lang="ko-KR" altLang="en-US" dirty="0" smtClean="0" sz="1056"/>
          </a:p>
        </p:txBody>
      </p:sp>
      <p:sp>
        <p:nvSpPr>
          <p:cNvPr id="857" name="Rect 3"/>
          <p:cNvSpPr>
            <a:spLocks noGrp="1" noChangeArrowheads="1"/>
          </p:cNvSpPr>
          <p:nvPr/>
        </p:nvSpPr>
        <p:spPr>
          <a:xfrm rot="0">
            <a:off x="4486910" y="5248910"/>
            <a:ext cx="823595" cy="3714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14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</p:txBody>
      </p:sp>
      <p:sp>
        <p:nvSpPr>
          <p:cNvPr id="858" name="Rect 3"/>
          <p:cNvSpPr>
            <a:spLocks noGrp="1" noChangeArrowheads="1"/>
          </p:cNvSpPr>
          <p:nvPr/>
        </p:nvSpPr>
        <p:spPr>
          <a:xfrm rot="0">
            <a:off x="4081145" y="5401310"/>
            <a:ext cx="494665" cy="1701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45"/>
          </a:p>
        </p:txBody>
      </p:sp>
      <p:sp>
        <p:nvSpPr>
          <p:cNvPr id="859" name="Rect 3"/>
          <p:cNvSpPr>
            <a:spLocks noGrp="1" noChangeArrowheads="1"/>
          </p:cNvSpPr>
          <p:nvPr/>
        </p:nvSpPr>
        <p:spPr>
          <a:xfrm rot="0">
            <a:off x="2401570" y="5349240"/>
            <a:ext cx="3208020" cy="8413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14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</p:txBody>
      </p:sp>
      <p:sp>
        <p:nvSpPr>
          <p:cNvPr id="860" name="Rect 3"/>
          <p:cNvSpPr>
            <a:spLocks noGrp="1" noChangeArrowheads="1"/>
          </p:cNvSpPr>
          <p:nvPr/>
        </p:nvSpPr>
        <p:spPr>
          <a:xfrm rot="0">
            <a:off x="2099945" y="4745990"/>
            <a:ext cx="3567430" cy="1478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114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e</a:t>
            </a:r>
            <a:endParaRPr lang="ko-KR" altLang="en-US" dirty="0" smtClean="0" sz="1145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SP </a:t>
            </a:r>
            <a:endParaRPr lang="ko-KR" altLang="en-US" dirty="0" smtClean="0" sz="114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</p:txBody>
      </p:sp>
      <p:sp>
        <p:nvSpPr>
          <p:cNvPr id="861" name="Rect 3"/>
          <p:cNvSpPr>
            <a:spLocks noGrp="1" noChangeArrowheads="1"/>
          </p:cNvSpPr>
          <p:nvPr/>
        </p:nvSpPr>
        <p:spPr>
          <a:xfrm rot="0">
            <a:off x="1798320" y="4846320"/>
            <a:ext cx="2305050" cy="1276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14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</p:txBody>
      </p:sp>
      <p:sp>
        <p:nvSpPr>
          <p:cNvPr id="862" name="Rect 3"/>
          <p:cNvSpPr>
            <a:spLocks noGrp="1" noChangeArrowheads="1"/>
          </p:cNvSpPr>
          <p:nvPr/>
        </p:nvSpPr>
        <p:spPr>
          <a:xfrm rot="0">
            <a:off x="1344295" y="3462655"/>
            <a:ext cx="3752850" cy="31483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  <a:ea typeface="Arial"/>
              </a:rPr>
              <a:t>6 </a:t>
            </a:r>
            <a:endParaRPr lang="ko-KR" altLang="en-US" dirty="0" smtClean="0" sz="114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145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145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v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y</a:t>
            </a:r>
            <a:endParaRPr lang="ko-KR" altLang="en-US" dirty="0" smtClean="0" sz="1145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12265" y="4324985"/>
            <a:ext cx="2724785" cy="3263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6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612265" y="4648200"/>
            <a:ext cx="272478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6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612265" y="4809490"/>
            <a:ext cx="272478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6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612265" y="5126990"/>
            <a:ext cx="2724785" cy="3257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65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612265" y="5449570"/>
            <a:ext cx="2724785" cy="4940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6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letter d. To reach d from the root; we have to go through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nodes of frequency 14. This path has value 0. Here, 0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will be the first digit in the code of d. From 14, we go to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node of frequency 8. This link (from 14 to 8) has value 1.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Thus the second digit in code is 1. From node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frequency 8, we go to node of frequency 4 to its left side.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This side has value 0, meaning that 0 is the third digit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code. From 4, we finally go to d and in this link we get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value 0. Thus we see that to reach at d from the root, we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have gone through the branches 0, 1, 0 and 0. Thus,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code of letter d is 0100. Similarly the code of i is 0101.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same way, we find the code for each letter in the tree.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following table shows the letters and their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correspondent codes.  </a:t>
            </a:r>
            <a:endParaRPr lang="ko-KR" altLang="en-US" dirty="0" smtClean="0" sz="140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0101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0110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0111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0100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001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11100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11101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10011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Table 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Hoffman code table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every character is stored in the computer in binary format. Each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 has a code, called ASCII code. The ASCII code of a character consists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ones and zeros i.e. it is in binary form. ASCII code is of eight bits. Normally,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 the decimal value of the characters. For example, letter ‘A’ has decimal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65. We can easily convert the decimal value into binary one in bit pattern.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not to remember these values. ASCII value of any character can be found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ASCII table. The ASCII code of each character is represented in eight bits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bit patterns.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in the example, we assign a code of our own (i.e. Hoffman code) to the letters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are in the message text. This code also consists of ones and zeros.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shows the characters and their Hoffman code. Now we come back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 text from which we developed the tree and assigned codes to the letters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text.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 table (Table 2) shown above. Here we notice that the code of letters is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length. We see that letters with higher frequency have shorter code.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codes with a length five that are the codes of NL, b, g, h, v and y. Similarly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the letters SP, d, i, n and s have codes of length four. The codes of the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474720"/>
            <a:ext cx="4773295" cy="11004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remaining letters have length three. If we look at the frequency table (Table 1)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letters, we see that the letters with some higher frequency like a, e, r, and t,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code of shorter length, whereas the letters of lower frequency (like NL, b, g, h, v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y) have codes of larger length.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in the table of the Hoffman codes of the letters that there will be need of 5,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in some codes only 3 bits to represent a character, whereas in ASCII code, we need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bits for each character. Now we replace the letters in the text message with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codes. In the code format i.e. in the form of ones and zeros, the message becomes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original message was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traversing threaded binary trees  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encoded form of the message is as under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t        r       a          v          e       r         s          i            n         g                        t   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00111000011100101110011101010110100101111001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100111101010000100101010011111000101010110000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110111011111001110101101011110000</a:t>
            </a:r>
            <a:endParaRPr lang="ko-KR" altLang="en-US" dirty="0" smtClean="0" sz="140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that there are only ones and zeros in the code of message. Some letters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shown with their corresponding code. The first three bits 001 are for letter ‘t’.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three bits 110 are for letter ‘r’. After this the letter ‘a’ has three bits i.e. 000.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to it is the letter ‘v’ that has five bits. These bits are 11100 (shaded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figure). Similarly we have replaced all the letters of the message with their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corresponding Hoffman code. The encoded message is shown above.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compare this Hoffman encoded message with the encoding of message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ASCII code. The ASCII code encoding means that if we have encoded this message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8 bits per character, the total length of message would be 264. As there are 33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characters, so the total length is 33 x 8 = 264. But in the Hoffman encoded message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(written in above table), there are only 120 bits. This number of bits is 54% less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of bits in ASCII encoding form. Thus we can send the message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almost half of the original length to a receiver.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the Hoffman encoding process comes to an end.  In this process, we took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message, did the frequency count of its characters and built a tree from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frequencies. From this tree, we made codes of letters consisting of ones and zeros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only. Then with the help of these codes, we did the data compression. In this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saw that less data is required for the same message.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an important thing to be noted is regarding the tree building. We have built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with our choices of nodes with same and different frequencies. Now if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chosen the nodes to join in different way, the tree built would be in a different form.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results in the different Hoffman code for the letters. These will be in ones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zeros but with different pattern. Thus the encoded message would have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codes for the letters. Now the question arises how does the receiver come to know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what code is used for what letter? The answer is very simple that the sender has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tell the receiver that he is using such codes for letters. One way to tackle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is that the sender sends the tree built through the use of frequencies,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receiver to decode the message. The receiver keeps a copy of this tree. Afterwards,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sender sends a message, the receiver will match it with respect to bit pattern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tree to see that what letter the sender has sent. The receiver will find the letter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first 2, 3, 4 or what numbers of bits match to a letter that it has in the tree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receiver also has a copy of the tree. We know that a tree has a root, inner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leaf node(s). The leaf node is a node whose left and right links is NULL. An inner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has a left or right or both children. Now consider that the receiver has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data structure that the sender used to construct the codes. The sender has sent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 that we have discussed above. The sender sends the 122 bits encoded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 to the receiver. The receiver will take the first bit of message and being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of the tree, it will decide that on what side this bit will go. If the bit is zero,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go to the left of the root. However, if the bit is one, it will go to the right side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before reaching to the child node. The next bit will go to the next level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to the left or right side depending on zero or one. Thus the traversal will go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down on receiving a bit. If we (the receiver) are on a path of the tree where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 is at level 6, it cannot reach the leaf node unless the receiver receives 6 bits.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consider the case of letter ‘e’ whose code was of three bits. In this case, we go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level by first bit and the second bit takes us to the third level. Finally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reaching the third level with the third bit, we get the leaf node. We know that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letter ‘e’ as the sender has sent us (as receiver) the whole tree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in the nodes. Thus after traversing the three bits, the receiver has confirmed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it has received the letter ‘e’. Now on receiving the fourth bit, the receiver will go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 to the root and continue to choose the path i.e. on zero it will go to the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one it will go to right. This way, it will reach the leaf node. The character at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be the next character of the message. The bit pattern that was comprised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these links in the tree is extracted from the message. On the next bit,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receiver again goes to the root node and the previous procedure is repeated to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character. This way, it decodes the whole message.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compression is very useful technique especially for communication purposes.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we have to send a file of one Mb. Here each line in the file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compressed to 50 or 60 percent. Thus the file of one MB will be compressed to half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MB and can be sent more easily.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one more thing about this tree. When we started to build the tree from 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i.e. bottom-up build of tree, we saw that there were choices for us to choose any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leaf nodes to join. In our example, we chose them at random. The other way to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the priority queue. We have seen the example of bank simulation. There we used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priority queue for the events. We know that in a priority queue, the elements do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 the FIFO (first in first out) rule. But the elements have their position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with respect to a priority. In the example of bank simulation, in the Event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Queue, we remove the element from the queue that was going to occur first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future. We can use priority queue here in such a way that we put the letters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with respect to their frequencies. We will put and remove letters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with respect to their frequency. In this priority queue, the character with lowest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frequency is at the start of the queue. If two characters have the same frequency,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one after the other in the queue. The character with the larger frequency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in the last of the queue. Now we take two frequencies from the queue and join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 to make a new node. Suppose that the nodes that we joined have frequency 1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2 respectively. So the frequency of the new node will be 3. We put this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queue. It takes its position in the queue with respect to its frequency as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priority queue. It is evident in procedure that we proceed to take two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the queue. These are removed and their parent node goes back to the queue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new frequency. This procedure goes on till the time the queue is empty. The last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that becomes in the queue in the result of this procedure is the root node.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node has frequency 33 if we apply this procedure to our previous example.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some general things related to Hoffman encoding. We use modems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connect to Internet. These modems do the compression. The modem has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compression feature. The modem has a chip that performs the task of compression.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give a sentence of say 80 characters to the modem to send, the modem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makes a Hoffman encoded tree of these characters. Then it will make codes from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We know that there is also a modem on the other end that will decode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message. The sender modem will send the tree structure to the receiver. Now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sender modem will send the data in compressed form. The receiving modem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decode this compressed data by using the Hoffman encoded tree. Now the question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arises, will these codes be useful for other messages? In our example message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letter ‘y’ has lower frequency and code of five bits. It may happen that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messages ‘y’ has higher frequency, needing code of less number of bits. To solve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problem, the modems (sender and receiver) revise the codes after a certain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period or after a particular number of bytes. In this revision, they build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Hoffman tree and exchange it to use it for communication for the next time period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next fixed number of bytes.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some other compression techniques/algorithms for compression. The zip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routines like winzip and the jpeg, mpeg and other image formatting routines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algorithms for compression. We will read the compression algorithm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detail in the course of Algorithms.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Mathematical Properties of Binary Trees  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some mathematical properties of binary trees, which are actually theorems.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not prove these here. Most of these properties will be studied in some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courses where we will prove them as theorem. Here we are going to talk about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properties, much needed in the next topic about trees.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property is that a binary 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internal nodes has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external nodes.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familiar with the term binary tree and internal node. The term external node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one. To understand the external nodes, look at 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17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48385" y="1112520"/>
            <a:ext cx="4761230" cy="33559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7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8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figure, the nodes with value i.e. A, B, C, D, E, F and G are the internal nodes.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the leaf nodes are also included in internal nodes. In the figure, we see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pointer of B is NULL. Similarly, the left pointer of D is NULL. The square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the figure are the NULL nodes. There is no data in these nodes as these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 pointers. However these are the positions where the nodes can exist.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square nodes are the external nodes. Now we see in the figure that the internal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(leaf nodes are also included) are 9 and the external nodes (NULL nodes indicated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squares) are 10 (i.e. 9 + 1). Hence it is the property that we have stated.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usage of this property in the upcoming lectures. </a:t>
            </a:r>
            <a:endParaRPr lang="ko-KR" altLang="en-US" dirty="0" smtClean="0" sz="1056"/>
          </a:p>
          <a:p>
            <a:pPr marL="0" indent="0" defTabSz="15240" algn="l">
              <a:lnSpc>
                <a:spcPts val="2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27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4.3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Properties of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Threaded Binary Trees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Adding Threads During Insert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is Inorder Successor?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Properties of Binary Tree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end of the last lecture, we were having a discussion about the properties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trees. Let us recall, that I told you about a property of the binary 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regarding relationship between internal nodes and external nodes i.e. If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 nodes is N, the number of external nodes will be N+1. Today I am going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another property of the binary trees, which together with the previous lecture,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give us a start into a new topic. Let me have your attention to the second property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binary trees.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Property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binary tree with N internal nodes has 2N links, N-1 links to internal nodes and N+1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 to external nodes.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Please recall that the first property dealt with the relationship between internal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external nodes. This property is dealing with the relationship of links to the internal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what is a link? As you might already have understood, a link is that line,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draw between two nodes in a tree. Internally we use pointers in C++ to realize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links. In pictorial sketches, however, we use a line to show a link between the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The property defines, that if you have a binary tree with Nodes, how many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links, it will have between the internal nodes (remember, it includes the leaf nodes),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how many links it will have between the external nodes. We have not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showing any links between the external nodes in the diagrams. These are, in fact, null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pointers. That means, these are the links, which we will show with the help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square nodes. Let us see a binary tree, on the basis of which, we will further explore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property. In the following figure, the binary tree is shown again, which,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addition to the normal links between the internal nodes, also contains external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squares and the external links as lines going to those squares. 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1146175"/>
            <a:ext cx="4185285" cy="23044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7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Arial"/>
              </a:rPr>
              <a:t>Internal links: 8</a:t>
            </a:r>
            <a:endParaRPr lang="ko-KR" altLang="en-US" dirty="0" smtClean="0" sz="854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Arial"/>
              </a:rPr>
              <a:t>External links: 10</a:t>
            </a:r>
            <a:endParaRPr lang="ko-KR" altLang="en-US" dirty="0" smtClean="0" sz="854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99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Arial"/>
              </a:rPr>
              <a:t>external link</a:t>
            </a:r>
            <a:endParaRPr lang="ko-KR" altLang="en-US" dirty="0" smtClean="0" sz="854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999" b="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999" b="1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Times New Roman"/>
                <a:ea typeface="Times New Roman"/>
              </a:rPr>
              <a:t>Fig 27.1</a:t>
            </a:r>
            <a:endParaRPr lang="ko-KR" altLang="en-US" dirty="0" smtClean="0" sz="999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you count the total number of links in the diagram between internal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external nodes, it will be 2N. Remember, we are talking about links and not nodes.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tree, we have 9 nodes marked with capital letters, 8 internal links and 10 external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links. Adding the both kinds of links, we get 18, which is exactly 2 x 9.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discussed already that these properties are mathematical theorems and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be proven mathematically. Let us now prove this property as to how do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2N links in a binary tree with N internal nodes.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Property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 binary tree with N internal nodes has 2N links, N-1 links to internal nodes and N+1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links to external nodes.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In every rooted tree, each node, except the root, has a unique parent.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Every link connects a node to its parents, so there are N-1 links connecting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internal nodes.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Similarly each of the N+1 external nodes has one link to its parents.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Thus N-1+N+1=2N links.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lectures, I told you about the important property of the trees, that they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 only one link between the two nodes.  I had also shown you some structures,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did not follow this property and I told you, that those were graphs.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Threaded Binary Trees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In many applications binary tree traversals are carried out repeatedly.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overhead of stack operations during recursive calls can be costly.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same would true if we use a non-recursive but stack-driven traversal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procedure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It would be useful to modify the tree data structure which represents the binary </a:t>
            </a:r>
            <a:endParaRPr lang="ko-KR" altLang="en-US" dirty="0" smtClean="0" sz="1056" i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319 of 519 </a:t>
            </a:r>
            <a:endParaRPr lang="ko-KR" altLang="en-US" dirty="0" smtClean="0" sz="1056"/>
          </a:p>
        </p:txBody>
      </p:sp>
      <p:sp>
        <p:nvSpPr>
          <p:cNvPr id="877" name="Rect 3"/>
          <p:cNvSpPr>
            <a:spLocks noGrp="1" noChangeArrowheads="1"/>
          </p:cNvSpPr>
          <p:nvPr/>
        </p:nvSpPr>
        <p:spPr>
          <a:xfrm rot="0">
            <a:off x="2944495" y="1234440"/>
            <a:ext cx="2030730" cy="11309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999" b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854">
                <a:solidFill>
                  <a:srgbClr val="000000"/>
                </a:solidFill>
                <a:latin typeface="Arial"/>
              </a:rPr>
              <a:t>Internal link</a:t>
            </a:r>
            <a:endParaRPr lang="ko-KR" altLang="en-US" dirty="0" smtClean="0" sz="854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999" b="1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999" b="1"/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tree so as to speed up, say, the inorder traversal process: make it "stack-free". 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must be remembering that there were four traversing methods of binary trees: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preorder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postorder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levelorder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First three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preorder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postorder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were implemented using recursion. Those recursive routines were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small, 3 to 4 lines of code and they could be employed to traverse a tree of any size.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traversed BST in inorder to retrieve the information in sorted order.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employed stacks in recursive implementations. Although, recursive routines are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few lines but when recursion is in action, recursive stack is formed that contains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calls. We also explicitly used stack for inorder non-recursive traversal.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calling pattern of recursive and non-recursive stack based routines were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compared, the calling pattern of both of the routines were similar.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we have a BST that is traversed again and again for some operations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or print. Due to lot of recursive operations, the stack size keeps on growing.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result, the performance is affected. To overcome this performance bottleneck,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non-recursive method but stack-driven traversal will again be an issue.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push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 of stack for insertion and retrieval will again take time. So is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way to do traversal without using a stack neither of implicit function call stack nor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explicit. The same idea is presented in the last bullets above that leads to threaded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It would be useful to modify the tree data structure which represents the binary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tree so as to speed up, say, the inorder traversal process: make it "stack-free".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idea in the above statement is to modify the tree data structure to speed up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it stack-free. Now, we see what kind of modification is required in the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Oddly, most of the pointer fields in our representation of binary trees are NULL! 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Since every node (except the root) is pointed to, there are only N-1 non-NULL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pointers out of a possible 2N (for an N node tree), so that N+1 pointers are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NULL.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all the leaf node pointers are NULL. Each node of the tree contains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part, two pointer variables for left and right nodes links. But these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variables are used when the node has further child nodes. We know that in a binary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the total number of links are 2N including both internal and external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NULL pointers is N+1.  </a:t>
            </a:r>
            <a:endParaRPr lang="ko-KR" altLang="en-US" dirty="0" smtClean="0" sz="1056"/>
          </a:p>
          <a:p>
            <a:pPr marL="0" indent="0" defTabSz="15240" algn="l">
              <a:lnSpc>
                <a:spcPts val="1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1149350"/>
            <a:ext cx="4206240" cy="24561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912">
                <a:solidFill>
                  <a:srgbClr val="000000"/>
                </a:solidFill>
                <a:latin typeface="Arial"/>
              </a:rPr>
              <a:t>Internal nodes: 9</a:t>
            </a:r>
            <a:endParaRPr lang="ko-KR" altLang="en-US" dirty="0" smtClean="0" sz="912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912">
                <a:solidFill>
                  <a:srgbClr val="000000"/>
                </a:solidFill>
                <a:latin typeface="Arial"/>
              </a:rPr>
              <a:t>External nodes: 10</a:t>
            </a:r>
            <a:endParaRPr lang="ko-KR" altLang="en-US" dirty="0" smtClean="0" sz="91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1067" b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1067" b="1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G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1067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12">
                <a:solidFill>
                  <a:srgbClr val="000000"/>
                </a:solidFill>
                <a:latin typeface="Arial"/>
              </a:rPr>
              <a:t>external node</a:t>
            </a:r>
            <a:endParaRPr lang="ko-KR" altLang="en-US" dirty="0" smtClean="0" sz="912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Times New Roman"/>
                <a:ea typeface="Times New Roman"/>
              </a:rPr>
              <a:t>Fig 27.2</a:t>
            </a:r>
            <a:endParaRPr lang="ko-KR" altLang="en-US" dirty="0" smtClean="0" sz="1067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figure above, the tree is the same as shown in Fig 27.1. The square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this figure are external nodes. Thinking in terms of pointers all the pointers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these nodes are NULL or in other words they are available to be used later.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recognize these nodes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leaf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nodes. Besides that, what can we achieve using them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be covered in Threaded Binary Trees.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threaded tree data structure will replace these NULL pointers with pointers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to the inorder successor (predecessor) of a node as appropriate.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creating a new data structure inside the tree and when the tree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constructed, it will be called a threaded binary tree. The NULL pointers are replaced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the inorder successor or predecessor. That means while visiting a node, we can tell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nodes will be printed before and after that node.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We'll need to know whenever formerly NULL pointers have been replaced by non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 pointers to successor/predecessor nodes, since otherwise there's no way to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distinguish those pointers from the customary pointers to children.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an important point as we need to modify our previous logic of identifying 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Previously the node with left and right nodes as NULL was considered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leaf node but after this change the leaf node will contain pointers to predecessor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successor. So in order to identify that the pointers has been modified to point to their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successor and predecessor, two flags will be required in the node. One flag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used for successor and other for predecessor. If both the pointers were NULL,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pointer variable will be used to point inorder predecessor, the flag for this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turned on and the right pointer variable will be used to keep inorder successor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flag will be turned on once the successor address is assigned.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Adding Threads During Insert </a:t>
            </a:r>
            <a:endParaRPr lang="ko-KR" altLang="en-US" dirty="0" smtClean="0" sz="1230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321 of 519 </a:t>
            </a:r>
            <a:endParaRPr lang="ko-KR" altLang="en-US" dirty="0" smtClean="0" sz="1056"/>
          </a:p>
        </p:txBody>
      </p:sp>
      <p:sp>
        <p:nvSpPr>
          <p:cNvPr id="882" name="Rect 3"/>
          <p:cNvSpPr>
            <a:spLocks noGrp="1" noChangeArrowheads="1"/>
          </p:cNvSpPr>
          <p:nvPr/>
        </p:nvSpPr>
        <p:spPr>
          <a:xfrm rot="0">
            <a:off x="3075305" y="1243330"/>
            <a:ext cx="2207895" cy="12071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1067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912">
                <a:solidFill>
                  <a:srgbClr val="000000"/>
                </a:solidFill>
                <a:latin typeface="Arial"/>
              </a:rPr>
              <a:t>Internal node</a:t>
            </a:r>
            <a:endParaRPr lang="ko-KR" altLang="en-US" dirty="0" smtClean="0" sz="912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1067" b="1"/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39825"/>
            <a:ext cx="4270375" cy="22707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8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456815" y="3803650"/>
            <a:ext cx="411480" cy="1066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8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endParaRPr lang="ko-KR" altLang="en-US" dirty="0" smtClean="0" sz="1231" b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27.3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print the above tree in inorder we will get the following output: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14 15 18 20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the node 14 contains both left and right links. The left pointer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pointing to a subtree while the right subtree is pointing to the node 15. The node 15’s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link is towards 18 but the left link is NULL but we have indicated it with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rounded dotted line towards 14. This indicates that the left pointer points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predecessor of the node.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is the code snippet for this logic.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t-&gt;L  =  p-&gt;L; // copy the thread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t-&gt;LTH  =  thread;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t-&gt;R  =  p;   // *p is successor of *t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t-&gt;RTH  =  thread; p-&gt;L  =  t; // attach the new leaf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p-&gt;LTH  =  child; 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insert a new node in the tree shown in the above figure. The Fig 27.4 indicates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new insertion. </a:t>
            </a:r>
            <a:endParaRPr lang="ko-KR" altLang="en-US" dirty="0" smtClean="0" sz="1056"/>
          </a:p>
          <a:p>
            <a:pPr marL="0" indent="0" defTabSz="15240" algn="l">
              <a:lnSpc>
                <a:spcPts val="1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322 of 519 </a:t>
            </a:r>
            <a:endParaRPr lang="ko-KR" altLang="en-US" dirty="0" smtClean="0" sz="1056"/>
          </a:p>
        </p:txBody>
      </p:sp>
      <p:sp>
        <p:nvSpPr>
          <p:cNvPr id="885" name="Rect 3"/>
          <p:cNvSpPr>
            <a:spLocks noGrp="1" noChangeArrowheads="1"/>
          </p:cNvSpPr>
          <p:nvPr/>
        </p:nvSpPr>
        <p:spPr>
          <a:xfrm rot="0">
            <a:off x="3060065" y="3550920"/>
            <a:ext cx="446405" cy="4235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231" b="1"/>
          </a:p>
        </p:txBody>
      </p:sp>
      <p:sp>
        <p:nvSpPr>
          <p:cNvPr id="886" name="Rect 3"/>
          <p:cNvSpPr>
            <a:spLocks noGrp="1" noChangeArrowheads="1"/>
          </p:cNvSpPr>
          <p:nvPr/>
        </p:nvSpPr>
        <p:spPr>
          <a:xfrm rot="0">
            <a:off x="4191000" y="2453640"/>
            <a:ext cx="199390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39825"/>
            <a:ext cx="4270375" cy="23926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8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endParaRPr lang="ko-KR" altLang="en-US" dirty="0" smtClean="0" sz="1231" b="1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27.4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node 16 is shown in the tree. The left and right pointers of this new node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NULL. As node 16 has been created, it should be pointed to by some variable.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of that variable is t. Next, we see the location in the tree where this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number 16 can be inserted. Clearly this will be after the node 15 but before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18. As a first step to insert this node in the tree as the left child of the node 18, we did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   t-&gt;L  =  p-&gt;L; // copy the thread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    t-&gt;LTH  =  thread;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   t-&gt;R  =  p; // *p is successor of *t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   t-&gt;RTH  =  thread;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    p-&gt;L  =  t; // attach the new leaf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    p-&gt;LTH  =  child;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current predecessor of node 18 is 15. After node 16 will be inserted in the tree,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will become the inorder predecessor of 18, therefore, in the first line of the code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t-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&gt;L  =  p-&gt;L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left pointer of node 18 (pointed to by pointer p) is assigned to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of node 16 (pointer to by pointer t).  </a:t>
            </a:r>
            <a:endParaRPr lang="ko-KR" altLang="en-US" dirty="0" smtClean="0" sz="1056"/>
          </a:p>
          <a:p>
            <a:pPr marL="0" indent="0" defTabSz="15240" algn="l">
              <a:lnSpc>
                <a:spcPts val="1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323 of 519 </a:t>
            </a:r>
            <a:endParaRPr lang="ko-KR" altLang="en-US" dirty="0" smtClean="0" sz="1056"/>
          </a:p>
        </p:txBody>
      </p:sp>
      <p:sp>
        <p:nvSpPr>
          <p:cNvPr id="889" name="Rect 3"/>
          <p:cNvSpPr>
            <a:spLocks noGrp="1" noChangeArrowheads="1"/>
          </p:cNvSpPr>
          <p:nvPr/>
        </p:nvSpPr>
        <p:spPr>
          <a:xfrm rot="0">
            <a:off x="4992370" y="3056890"/>
            <a:ext cx="202565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</p:txBody>
      </p:sp>
      <p:sp>
        <p:nvSpPr>
          <p:cNvPr id="890" name="Rect 3"/>
          <p:cNvSpPr>
            <a:spLocks noGrp="1" noChangeArrowheads="1"/>
          </p:cNvSpPr>
          <p:nvPr/>
        </p:nvSpPr>
        <p:spPr>
          <a:xfrm rot="0">
            <a:off x="3282950" y="2453640"/>
            <a:ext cx="1107440" cy="9512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231" b="1"/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39825"/>
            <a:ext cx="4270375" cy="24809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9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21080" y="4748530"/>
            <a:ext cx="4270375" cy="24936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9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27.5</a:t>
            </a:r>
            <a:endParaRPr lang="ko-KR" altLang="en-US" dirty="0" smtClean="0" sz="1231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line of code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t-&gt;LTH  =  thread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left flag is assigned a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thread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is used to indicate that it is on. 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23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27.6</a:t>
            </a:r>
            <a:endParaRPr lang="ko-KR" altLang="en-US" dirty="0" smtClean="0" sz="123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third line of code,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t-&gt;R  =  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18 being the successor of node 18, its pointer p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assigned to the right pointer (t-&gt;R) of node 16.  </a:t>
            </a:r>
            <a:endParaRPr lang="ko-KR" altLang="en-US" dirty="0" smtClean="0" sz="1056"/>
          </a:p>
          <a:p>
            <a:pPr marL="0" indent="0" defTabSz="15240"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324 of 519 </a:t>
            </a:r>
            <a:endParaRPr lang="ko-KR" altLang="en-US" dirty="0" smtClean="0" sz="1056"/>
          </a:p>
        </p:txBody>
      </p:sp>
      <p:sp>
        <p:nvSpPr>
          <p:cNvPr id="893" name="Rect 3"/>
          <p:cNvSpPr>
            <a:spLocks noGrp="1" noChangeArrowheads="1"/>
          </p:cNvSpPr>
          <p:nvPr/>
        </p:nvSpPr>
        <p:spPr>
          <a:xfrm rot="0">
            <a:off x="3931920" y="2456815"/>
            <a:ext cx="1263015" cy="45808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2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39825"/>
            <a:ext cx="4270375" cy="25025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89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21080" y="4407535"/>
            <a:ext cx="4270375" cy="25050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9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27.7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line,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t-&gt;RTH  =  thread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flag turning on code. 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27.8</a:t>
            </a:r>
            <a:endParaRPr lang="ko-KR" altLang="en-US" dirty="0" smtClean="0" sz="123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p-&gt;L  =  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node 16 is attached as the left child of the node 18. </a:t>
            </a:r>
            <a:endParaRPr lang="ko-KR" altLang="en-US" dirty="0" smtClean="0" sz="1056"/>
          </a:p>
          <a:p>
            <a:pPr marL="0" indent="0" defTabSz="15240" algn="l">
              <a:lnSpc>
                <a:spcPts val="1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325 of 519 </a:t>
            </a:r>
            <a:endParaRPr lang="ko-KR" altLang="en-US" dirty="0" smtClean="0" sz="1056"/>
          </a:p>
        </p:txBody>
      </p:sp>
      <p:sp>
        <p:nvSpPr>
          <p:cNvPr id="896" name="Rect 3"/>
          <p:cNvSpPr>
            <a:spLocks noGrp="1" noChangeArrowheads="1"/>
          </p:cNvSpPr>
          <p:nvPr/>
        </p:nvSpPr>
        <p:spPr>
          <a:xfrm rot="0">
            <a:off x="4191000" y="5723890"/>
            <a:ext cx="199390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</p:txBody>
      </p:sp>
      <p:sp>
        <p:nvSpPr>
          <p:cNvPr id="897" name="Rect 3"/>
          <p:cNvSpPr>
            <a:spLocks noGrp="1" noChangeArrowheads="1"/>
          </p:cNvSpPr>
          <p:nvPr/>
        </p:nvSpPr>
        <p:spPr>
          <a:xfrm rot="0">
            <a:off x="3529330" y="2453640"/>
            <a:ext cx="1665605" cy="42551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1"/>
          </a:p>
          <a:p>
            <a:pPr marL="0" indent="0" defTabSz="15240" algn="l">
              <a:lnSpc>
                <a:spcPts val="19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39825"/>
            <a:ext cx="4270375" cy="25057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0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21080" y="4587240"/>
            <a:ext cx="4041775" cy="25298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9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</a:t>
            </a:r>
            <a:endParaRPr lang="ko-KR" altLang="en-US" dirty="0" smtClean="0" sz="123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5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27.9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flag is truned on in the last line,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p-&gt;LTH  =  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insert few more nodes in the tree, we have the tree as 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0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given is a BST and you have seen many BSTs before, which are not thread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trees. Without the threads, it is clear from the figure that there are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 present in the tree that are NULL. We have converted the NULLs to threads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do inorder non-recursive traversal of the tree. We started at 14 then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link came to 4 and  after it to 3. If we use recursion then after the call for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is finished (after printing 3), it returns to node 4 call and then 4 is printed 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call stack. Here we will print 3 but will not stop. As we have used threads,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the right pointer of node 3 that is not NULL and pointing to its successor node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326 of 519 </a:t>
            </a:r>
            <a:endParaRPr lang="ko-KR" altLang="en-US" dirty="0" smtClean="0" sz="1056"/>
          </a:p>
        </p:txBody>
      </p:sp>
      <p:sp>
        <p:nvSpPr>
          <p:cNvPr id="900" name="Rect 3"/>
          <p:cNvSpPr>
            <a:spLocks noGrp="1" noChangeArrowheads="1"/>
          </p:cNvSpPr>
          <p:nvPr/>
        </p:nvSpPr>
        <p:spPr>
          <a:xfrm rot="0">
            <a:off x="4191000" y="2453640"/>
            <a:ext cx="199390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</p:txBody>
      </p:sp>
      <p:sp>
        <p:nvSpPr>
          <p:cNvPr id="901" name="Rect 3"/>
          <p:cNvSpPr>
            <a:spLocks noGrp="1" noChangeArrowheads="1"/>
          </p:cNvSpPr>
          <p:nvPr/>
        </p:nvSpPr>
        <p:spPr>
          <a:xfrm rot="0">
            <a:off x="4057015" y="2545080"/>
            <a:ext cx="113665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231"/>
          </a:p>
        </p:txBody>
      </p:sp>
      <p:sp>
        <p:nvSpPr>
          <p:cNvPr id="902" name="Rect 3"/>
          <p:cNvSpPr>
            <a:spLocks noGrp="1" noChangeArrowheads="1"/>
          </p:cNvSpPr>
          <p:nvPr/>
        </p:nvSpPr>
        <p:spPr>
          <a:xfrm rot="0">
            <a:off x="2475230" y="2627630"/>
            <a:ext cx="2719705" cy="45199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1"/>
          </a:p>
          <a:p>
            <a:pPr marL="0" indent="0" defTabSz="15240" algn="l">
              <a:lnSpc>
                <a:spcPts val="1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0" b="1"/>
          </a:p>
          <a:p>
            <a:pPr marL="0" indent="0" defTabSz="15240" algn="l">
              <a:lnSpc>
                <a:spcPts val="1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Fig 27.10</a:t>
            </a:r>
            <a:endParaRPr lang="ko-KR" altLang="en-US" dirty="0" smtClean="0" sz="1230" b="1"/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4, we go to 4 and print it. Now which node is inorder successor of node 4. It is node 5.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node 4, we traversed to right child of it node 9. From node 9, we went to node 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then finally node 5. Now, this node 5 is a leaf node. Previously, without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threads, we could identify leaf nodes, whose both pointers left and right were NULL.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using threads, as discussed above, we set the pointers and turn the flags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when a pointer left or right is set to its predecessor or successor. After printing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5, we traverse its right thread and go to node 7. In this fashion, whole of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traversed without recursion.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 some code: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TreeNode*  nextInorder(TreeNode*  p)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if(p-&gt;RTH  ==  thread)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return(p-&gt;R);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=  p-&gt;R;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while(p-&gt;LTH  ==  child)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=  p-&gt;L;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p;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given is a routine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gives the inorder successor of a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passed in parameter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what it does is: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flag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(the node passed in the parameter)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thread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the node being pointed by the right thread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p-&gt;R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which would be its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successor. Otherwise, it does the following.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goes to the right node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starts pointing it using the same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it keeps on moving (in a loop fashion) towards the left of the node as long 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p-&gt;LTH  == child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true. After this loop is terminated, the node p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see this pictorially. </a:t>
            </a:r>
            <a:endParaRPr lang="ko-KR" altLang="en-US" dirty="0" smtClean="0" sz="1056"/>
          </a:p>
          <a:p>
            <a:pPr marL="0" indent="0" defTabSz="15240" algn="l">
              <a:lnSpc>
                <a:spcPts val="1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Where is Inorder Successor?</a:t>
            </a:r>
            <a:endParaRPr lang="ko-KR" altLang="en-US" dirty="0" smtClean="0" sz="1230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51305" y="1307465"/>
            <a:ext cx="4041775" cy="25330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0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51305" y="4541520"/>
            <a:ext cx="4041775" cy="25330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0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993265" y="7108190"/>
            <a:ext cx="377825" cy="1828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0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Inorder successor of 4.</a:t>
            </a:r>
            <a:endParaRPr lang="ko-KR" altLang="en-US" dirty="0" smtClean="0" sz="1051" b="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1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at node 4 and want to find its inorder successor. If you remember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discussed in the previous lecture, where we searched for the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 and found it to be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left-most node in the right subtree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node.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1" b="1">
                <a:solidFill>
                  <a:srgbClr val="000000"/>
                </a:solidFill>
                <a:latin typeface="Arial"/>
              </a:rPr>
              <a:t>Inorder successor of 4.</a:t>
            </a:r>
            <a:endParaRPr lang="ko-KR" altLang="en-US" dirty="0" smtClean="0" sz="1051" b="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0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Fig 27.12</a:t>
            </a:r>
            <a:endParaRPr lang="ko-KR" altLang="en-US" dirty="0" smtClean="0" sz="1230" b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Left most node in right subtree of 4</a:t>
            </a:r>
            <a:endParaRPr lang="ko-KR" altLang="en-US" dirty="0" smtClean="0" sz="105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figure, the right subtree of 4 is starting from node 9 and ending at node 5.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is the left most node of it and this is also the inorder successor of node 4. We cannot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node 5 directly from node 4, we go to node 9 first then node 7 and finally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5. </a:t>
            </a:r>
            <a:endParaRPr lang="ko-KR" altLang="en-US" dirty="0" smtClean="0" sz="1056"/>
          </a:p>
          <a:p>
            <a:pPr marL="0" indent="0" defTabSz="15240" algn="l">
              <a:lnSpc>
                <a:spcPts val="7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328 of 519 </a:t>
            </a:r>
            <a:endParaRPr lang="ko-KR" altLang="en-US" dirty="0" smtClean="0" sz="1056"/>
          </a:p>
        </p:txBody>
      </p:sp>
      <p:sp>
        <p:nvSpPr>
          <p:cNvPr id="907" name="Rect 3"/>
          <p:cNvSpPr>
            <a:spLocks noGrp="1" noChangeArrowheads="1"/>
          </p:cNvSpPr>
          <p:nvPr/>
        </p:nvSpPr>
        <p:spPr>
          <a:xfrm rot="0">
            <a:off x="2983865" y="1417320"/>
            <a:ext cx="1205230" cy="38220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  <a:p>
            <a:pPr marL="0" indent="0" defTabSz="15240" algn="l">
              <a:lnSpc>
                <a:spcPts val="1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27.11</a:t>
            </a:r>
            <a:endParaRPr lang="ko-KR" altLang="en-US" dirty="0" smtClean="0" sz="1231" b="1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 b="1">
                <a:solidFill>
                  <a:srgbClr val="000000"/>
                </a:solidFill>
                <a:latin typeface="Arial"/>
                <a:ea typeface="Arial"/>
              </a:rPr>
              <a:t>14</a:t>
            </a:r>
            <a:endParaRPr lang="ko-KR" altLang="en-US" dirty="0" smtClean="0" sz="1230" b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0" b="1"/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51305" y="1151890"/>
            <a:ext cx="4041775" cy="25330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0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Inorder successor of 9.</a:t>
            </a:r>
            <a:endParaRPr lang="ko-KR" altLang="en-US" dirty="0" smtClean="0" sz="1052" b="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1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1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1" b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Follow right thread to 14.</a:t>
            </a:r>
            <a:endParaRPr lang="ko-KR" altLang="en-US" dirty="0" smtClean="0" sz="1052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Times New Roman"/>
                <a:ea typeface="Times New Roman"/>
              </a:rPr>
              <a:t>Fig 27.13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move from node 9 to node 5 following the normal tree link and not thread.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long as the normal left tree link is there of a node, we have set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flag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reach at node 5, the left link is a thread and it is indicated with a flag.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while loop given in the above routine again: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while(p-&gt;LTH  ==  child)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=  p-&gt;L;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p;  </a:t>
            </a:r>
            <a:endParaRPr lang="ko-KR" altLang="en-US" dirty="0" smtClean="0" sz="1056"/>
          </a:p>
          <a:p>
            <a:pPr marL="0" indent="0" defTabSz="15240" algn="l">
              <a:lnSpc>
                <a:spcPts val="3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329 of 519 </a:t>
            </a:r>
            <a:endParaRPr lang="ko-KR" altLang="en-US" dirty="0" smtClean="0" sz="1056"/>
          </a:p>
        </p:txBody>
      </p:sp>
      <p:sp>
        <p:nvSpPr>
          <p:cNvPr id="910" name="Rect 3"/>
          <p:cNvSpPr>
            <a:spLocks noGrp="1" noChangeArrowheads="1"/>
          </p:cNvSpPr>
          <p:nvPr/>
        </p:nvSpPr>
        <p:spPr>
          <a:xfrm rot="0">
            <a:off x="2983865" y="1261745"/>
            <a:ext cx="1205230" cy="5854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 b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1" b="1"/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2606040"/>
            <a:ext cx="4041775" cy="25298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1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Inorder Traversal  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by using this routine, we try to make our inorder traversal procedure that is non-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and totally stack free.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If we can get things started correctly, we can simply call nextInorder repeatedly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(in a simple loop) and move rapidly around the tree inorder printing node labels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(say) - without a stack. </a:t>
            </a:r>
            <a:endParaRPr lang="ko-KR" altLang="en-US" dirty="0" smtClean="0" sz="1056" i="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0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Fig 27.14</a:t>
            </a:r>
            <a:endParaRPr lang="ko-KR" altLang="en-US" dirty="0" smtClean="0" sz="1230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of the tree. If we start traversing from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and pass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pointer to our routine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nexInorder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above, it will create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the routine again to see the problem area clearly: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TreeNode*  nextInorder(TreeNode*  p)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if(p-&gt;RTH  ==  thread)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return(p-&gt;R);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=  p-&gt;R;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while(p-&gt;LTH  ==  child)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  =  p-&gt;L;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 p;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part, it is checking for the RTH flag to be set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thread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 not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for the root node. The control will be passed to the else part of the routine.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 part, in the very first step, we are moving towards right of root that is to node 15.  </a:t>
            </a:r>
            <a:endParaRPr lang="ko-KR" altLang="en-US" dirty="0" smtClean="0" sz="1056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330 of 519 </a:t>
            </a:r>
            <a:endParaRPr lang="ko-KR" altLang="en-US" dirty="0" smtClean="0" sz="1056"/>
          </a:p>
        </p:txBody>
      </p:sp>
      <p:sp>
        <p:nvSpPr>
          <p:cNvPr id="913" name="Rect 3"/>
          <p:cNvSpPr>
            <a:spLocks noGrp="1" noChangeArrowheads="1"/>
          </p:cNvSpPr>
          <p:nvPr/>
        </p:nvSpPr>
        <p:spPr>
          <a:xfrm rot="0">
            <a:off x="3258185" y="2673350"/>
            <a:ext cx="397510" cy="627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 b="1">
                <a:solidFill>
                  <a:srgbClr val="000000"/>
                </a:solidFill>
                <a:latin typeface="Times New Roman"/>
              </a:rPr>
              <a:t>P</a:t>
            </a:r>
            <a:endParaRPr lang="ko-KR" altLang="en-US" dirty="0" smtClean="0" sz="1051" b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0" b="1"/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139825"/>
            <a:ext cx="4041775" cy="25298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1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1230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20</a:t>
            </a:r>
            <a:endParaRPr lang="ko-KR" altLang="en-US" dirty="0" smtClean="0" sz="1230" b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Fig 27.15</a:t>
            </a:r>
            <a:endParaRPr lang="ko-KR" altLang="en-US" dirty="0" smtClean="0" sz="1230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If we call nextInorder with the root of the binary tree, we're going to have some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difficulty. The code won't work at all the way we want.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in this tree inorder traversal, the first number we should print is 3 but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reached to node 15 and we don’t know how can we reach node 3. This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a problem. In the lecture, we will make a small change in this routine to cater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this situation i.e. when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pointer is passed to it as a parameter. After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change the routine will work properly in case of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root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node also and it will be non-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recursive, stack free routine to traverse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29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331 of 519 </a:t>
            </a:r>
            <a:endParaRPr lang="ko-KR" altLang="en-US" dirty="0" smtClean="0" sz="1056"/>
          </a:p>
        </p:txBody>
      </p:sp>
      <p:sp>
        <p:nvSpPr>
          <p:cNvPr id="916" name="Rect 3"/>
          <p:cNvSpPr>
            <a:spLocks noGrp="1" noChangeArrowheads="1"/>
          </p:cNvSpPr>
          <p:nvPr/>
        </p:nvSpPr>
        <p:spPr>
          <a:xfrm rot="0">
            <a:off x="4331335" y="1703705"/>
            <a:ext cx="208280" cy="155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 b="1">
                <a:solidFill>
                  <a:srgbClr val="000000"/>
                </a:solidFill>
                <a:latin typeface="Times New Roman"/>
              </a:rPr>
              <a:t>P ?</a:t>
            </a:r>
            <a:endParaRPr lang="ko-KR" altLang="en-US" dirty="0" smtClean="0" sz="1051" b="1"/>
          </a:p>
        </p:txBody>
      </p:sp>
      <p:sp>
        <p:nvSpPr>
          <p:cNvPr id="917" name="Rect 3"/>
          <p:cNvSpPr>
            <a:spLocks noGrp="1" noChangeArrowheads="1"/>
          </p:cNvSpPr>
          <p:nvPr/>
        </p:nvSpPr>
        <p:spPr>
          <a:xfrm rot="0">
            <a:off x="3456305" y="1649095"/>
            <a:ext cx="199390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230" b="1"/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25625" y="4657090"/>
            <a:ext cx="3017520" cy="18840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1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28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6.3.1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in threaded trees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Inorder traversal in threaded trees 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Discussion on the inroder traversal of the threaded binary tree will continue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lecture. We have introduced the threads in the tree and have written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nextInorder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routine. It is sure that the provision of the root can help this routine perform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routine properly. It will go to the left most node before following the threads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find the inorder successors. The code of the routine is 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  The inorder routine for threaded binary tree  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TreeNode* nextInorder(TreeNode* p){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if(p-&gt;RTH == thread) return(p-&gt;R);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else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p = p-&gt;R;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while(p-&gt;LTH == child)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p = p-&gt;L;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return p;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apply this routine on the sample tree, it does not work properly because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that points to the node goes in the wrong direction. How can we fix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problem? Let’s review the threaded binary tree again: </a:t>
            </a:r>
            <a:endParaRPr lang="ko-KR" altLang="en-US" dirty="0" smtClean="0" sz="1056"/>
          </a:p>
          <a:p>
            <a:pPr marL="0" indent="0" defTabSz="15240" algn="l">
              <a:lnSpc>
                <a:spcPts val="1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1560" y="1136650"/>
            <a:ext cx="4748530" cy="26308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277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77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277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277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277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we have a binary search tree. Threads are also seen in it.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threads points to the successor and predecessor.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routine, first of all checks that the right pointer of the node is thread.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means that it does not point to any tree node. In this case, we will return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of the node as it is pointing to the inorder successor of that node. Otherwise,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go to some other part. Here we will change the value of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its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running a while loops as long as the left pointer is the node. That means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child is not a thread. We move to the left of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keep on doing so till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time the left pointer becomes a thread.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pass the root of the tree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routine.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pointing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node 14 i.e. the root node. As the right pointer of the node 14 is not a thread,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move to the node 15 as shown below: </a:t>
            </a:r>
            <a:endParaRPr lang="ko-KR" altLang="en-US" dirty="0" smtClean="0" sz="1056"/>
          </a:p>
          <a:p>
            <a:pPr marL="0" indent="0" defTabSz="15240" algn="l">
              <a:lnSpc>
                <a:spcPts val="2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333 of 519 </a:t>
            </a:r>
            <a:endParaRPr lang="ko-KR" altLang="en-US" dirty="0" smtClean="0" sz="1056"/>
          </a:p>
        </p:txBody>
      </p:sp>
      <p:sp>
        <p:nvSpPr>
          <p:cNvPr id="922" name="Rect 3"/>
          <p:cNvSpPr>
            <a:spLocks noGrp="1" noChangeArrowheads="1"/>
          </p:cNvSpPr>
          <p:nvPr/>
        </p:nvSpPr>
        <p:spPr>
          <a:xfrm rot="0">
            <a:off x="3681730" y="1155065"/>
            <a:ext cx="144780" cy="213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541" i="1" b="1">
                <a:solidFill>
                  <a:srgbClr val="000000"/>
                </a:solidFill>
                <a:latin typeface="Courier New"/>
              </a:rPr>
              <a:t>p</a:t>
            </a:r>
            <a:endParaRPr lang="ko-KR" altLang="en-US" dirty="0" smtClean="0" sz="1541" i="1" b="1"/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1560" y="1127760"/>
            <a:ext cx="4700270" cy="25666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2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277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77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277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277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277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want the inorder traversal. It is obvious from the above figure that 15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value. The first value should be 3. This means that we have moved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wrong direction. How this problem can be overcome? We may want to implement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logic that in case of the root node, it is better not to go towards the right side.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Rather, the left side movement will be appropriate. If this is not the root node, do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usual. It may lend complexities to our code. Is there any other way to fix it? Here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use a programming trick to fix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make this routine as a private member function of the class so other classes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not have access to it. Now what is the trick? We will insert a new node in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this node, it will be easy to find out whether we are on the root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not. This way,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move in the correct direction.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this trick. We will insert an extra node in the binary tree and call it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This is well reflected in the diagram of the tree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see where that dummy node has been inserted.  </a:t>
            </a:r>
            <a:endParaRPr lang="ko-KR" altLang="en-US" dirty="0" smtClean="0" sz="1056"/>
          </a:p>
          <a:p>
            <a:pPr marL="0" indent="0" defTabSz="15240" algn="l">
              <a:lnSpc>
                <a:spcPts val="20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334 of 519 </a:t>
            </a:r>
            <a:endParaRPr lang="ko-KR" altLang="en-US" dirty="0" smtClean="0" sz="1056"/>
          </a:p>
        </p:txBody>
      </p:sp>
      <p:sp>
        <p:nvSpPr>
          <p:cNvPr id="925" name="Rect 3"/>
          <p:cNvSpPr>
            <a:spLocks noGrp="1" noChangeArrowheads="1"/>
          </p:cNvSpPr>
          <p:nvPr/>
        </p:nvSpPr>
        <p:spPr>
          <a:xfrm rot="0">
            <a:off x="4883150" y="1700530"/>
            <a:ext cx="896620" cy="1219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541" i="1" b="1">
                <a:solidFill>
                  <a:srgbClr val="000000"/>
                </a:solidFill>
                <a:latin typeface="Courier New"/>
              </a:rPr>
              <a:t>p?</a:t>
            </a:r>
            <a:endParaRPr lang="ko-KR" altLang="en-US" dirty="0" smtClean="0" sz="1541" i="1" b="1"/>
          </a:p>
          <a:p>
            <a:pPr marL="0" indent="0" defTabSz="15240" algn="l">
              <a:lnSpc>
                <a:spcPts val="6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277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277"/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90015" y="5730240"/>
            <a:ext cx="3889375" cy="9512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2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45210" y="1127760"/>
            <a:ext cx="4693920" cy="28587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2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dummy </a:t>
            </a:r>
            <a:endParaRPr lang="ko-KR" altLang="en-US" dirty="0" smtClean="0" sz="109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098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098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098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098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098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dummy node has either no value or some dummy value. The left pointer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pointing to the root node of the tree while the right pointer is seen pointing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itself i.e.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dummy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There is no problem in doing all these things. We have put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address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 in its right pointer and pointed the left thread of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most node towards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Similarly the right thread of the right-most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pointing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node. Now we have some extra pointers whose help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routine function properly.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a routine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fastInorder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that can be in the public interface of the class.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This routine will traverse the binary search tree 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fastInorder(TreeNode* p)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while((p=nexInorder(p)) != dummy)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cout &lt;&lt; p-&gt;getInfo();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routine takes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TreeNode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an argument that make it pass through the root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In the while loop, we are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routine and pass it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returned from this routine is then assigned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a programming style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C. We are performing two tasks in a single statement i.e.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passing it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the value returned by this routine is saved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check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returned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routine that is now actually saved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is not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Then we print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info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node. This function is called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fastInorder(dummy);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not passing it the root of the tree but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node. Now we will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correct values and see in the diagrams below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is now moving in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direction. Let’s try to understand this with the help of diagrams.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42670" y="1593850"/>
            <a:ext cx="4693920" cy="28594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2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routine passing it the dummy node.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41" i="1" b="1">
                <a:solidFill>
                  <a:srgbClr val="000000"/>
                </a:solidFill>
                <a:latin typeface="Courier New"/>
                <a:ea typeface="Courier New"/>
              </a:rPr>
              <a:t>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dummy </a:t>
            </a:r>
            <a:endParaRPr lang="ko-KR" altLang="en-US" dirty="0" smtClean="0" sz="1098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098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098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098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098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98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098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pointing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dummy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node. Now we will check whether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of this node is not thread. If so, then it is advisable to move the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towards the right pointer of the node. Now we will go to the while loop and start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moving on the left of the node till the time we get a node with the left pointer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thread.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move from dummy to node 14. As the left pointer of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 is not thread 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move to node 4. Again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move to node 3. As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thread, the while loop will finish here. This value will be returned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pointing to node 3. The node 3 should be printed first of all regarding the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traversal. So with the help of our trick, we get the right information.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while loop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fastInorder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will again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routine.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updated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fastInorder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that is now pointing to the node 3.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shown in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18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00785" y="1127760"/>
            <a:ext cx="4355465" cy="26517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dummy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452" i="1" b="1">
                <a:solidFill>
                  <a:srgbClr val="000000"/>
                </a:solidFill>
                <a:latin typeface="Courier New"/>
                <a:ea typeface="Courier New"/>
              </a:rPr>
              <a:t>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the code, we have to follow the right thread of the node 3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pointing to the node 4. Therefore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now pointing to the node 4. Here 4 is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 of 3. So the pointer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moved to the correct node for inorder traversal.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right pointer of the node 4 is a link,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move to node 9. Later, we will go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of nodes and reach at the node 5. Looking at the tree, we know that the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successor of the node 4 is node 5. In the next step, we will get the node 7 and so 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threads and links, we are successful in getting the correct inorder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traversal. No recursive call has been made so far. Therefore stack is not used.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inorder traversal will be faster than the recursive inorder traversal. When other classes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this routine, it will be faster. We have not used any additional memory 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routine. We are using the null links and putting the values of thread in it. This routine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very simple to understand. In the recursive routines, we have to stop the recursion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some condition. Otherwise, it will keep on executing and lead to the aborting of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Complete Binary Tree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earlier discussed the properties of the binary trees besides talking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 and external nodes’ theorem. Now we will discuss another property of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trees that is related to its storage before dilating upon the complete binary tree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abstract data type.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is the definition of a complete binary tree: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A complete binary tree is a tree that is completely filled, with the possible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exception of the bottom level.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The bottom level is filled from left to right.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may find the definition of complete binary tree in the books little bit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this. A perfectly complete binary tree has all the leaf nodes. In the complete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tree, all the nodes have left and right child nodes except the bottom level. At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54735" y="1752600"/>
            <a:ext cx="4742815" cy="41211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bottom level, you will find the nodes from left to right. The bottom level may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completely filled, depicting that the tree is not a perfectly complete one. Let’s see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 in 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362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362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endParaRPr lang="ko-KR" altLang="en-US" dirty="0" smtClean="0" sz="1362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62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tree, we have nodes as A, B, C, D, E, F, G, H, I, J. The node D has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at the lowest level whereas node E has only left child at the lowest level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J. The right child of the node E is missing. Similarly node F and G also lack child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This is a complete binary tree according to the definition given above.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lowest level, leaf nodes are present from left to right but all the inner nodes have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children. Let’s recap some of the properties of complete binary tree.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A complete binary tree of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between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–1 nodes.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The height of such a tree is        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  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number of nodes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Because the tree is so regular, it can be stored in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array.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No pointers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taken the floor of the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N. If the answer is not an integer, we will take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smaller integer. So far, we have been using the pointers for the implementation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trees.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treeNode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class has left and right pointers. We have pointers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 tree also. In the threaded trees, these pointers were used in a different way.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now we can say that an array can be stored in a complete binary tree without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needing the help of any pointer.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try to remember the characteristics of the tree. 1) The data element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numbers, strings, name or some other data type. The information is stored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We may retrieve, change or delete it. 2) We link these nodes in a special way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a node can have left or right subtree or both. Now we will see why the pointers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used. We just started using these. If we have some other structure in which trees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stored and information may be searched, then these may be used. There should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reason for choosing that structure or pointer for the manipulation of the trees. If we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61415" y="1908175"/>
            <a:ext cx="4328160" cy="21945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3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385945"/>
            <a:ext cx="4912995" cy="5060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complete binary tree, it can be stored in an array easily.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example can help understand this process. Consider the above tree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again.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40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40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G </a:t>
            </a:r>
            <a:endParaRPr lang="ko-KR" altLang="en-US" dirty="0" smtClean="0" sz="1409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409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 B C D E F G 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40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an array of size 15 in which the data elements A, B, C, D, E, F, G, H, I,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J have been stored, starting from position 1. The question arises why we have stored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element this way and what is justification of storing the element at the 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st</a:t>
            </a:r>
            <a:endParaRPr lang="ko-KR" altLang="en-US" dirty="0" smtClean="0" sz="702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the array instead of 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position? You will get the answers of these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shortly.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node of this tree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the left and right children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 array. While storing elements in the array, we follow a rule 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For any array element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left child is at 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right child is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+1) and the parent is at floor(i/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tree, we have links between the parent node and the children nodes.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having a node with left and right children, stored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array,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will be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the right child will be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position. 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2, the parent will be at position 2 and the left child will be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4 .The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 will be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5. You must be aware that we have not started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It is simply due to the fact if the position is 0,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also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0.  So we will start from the 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position, ignoring the 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Lets see this formula on the above array.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at the first position and it has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According to the formula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and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 will be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3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Take the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has two children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endParaRPr lang="ko-KR" altLang="en-US" dirty="0" smtClean="0" sz="1056" i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339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99490" y="5601970"/>
            <a:ext cx="4672965" cy="15335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3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99490" y="1923415"/>
            <a:ext cx="4672965" cy="9906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position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2 i.e.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2. Its left child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at positon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4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and its right child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5. This is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 below: </a:t>
            </a:r>
            <a:endParaRPr lang="ko-KR" altLang="en-US" dirty="0" smtClean="0" sz="1056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B C D E F G 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19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want to keep the tree’s data in the array, the children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should be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4 and 5. This is true. We can apply this formula on the remaining nodes also.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you have understood how to store tree’s data in an array. In one respect,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pointers here. These are not C++ pointers. In other words, we have implicit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in the array. These pointers are hidden. With the help of the formula,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obtain the left and right children of the nodes i.e. if the node is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ith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position,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will be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position. Let’s see the position of other nodes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at position 3, its children should be at 2*3 i.e. 6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and 2*3+1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7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The children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which should be at 6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7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at position 4. Its children should be at position 8 and 9.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position 5 so its children should be at 10 and 11 positions. All the nodes have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the array. As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does not have a right child, the position 11 is empty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B C D E F G 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19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that there is only one array going out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 is a link between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node and the child node. In this array, we can find the children of a node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help of the formula i.e. if the parent node is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ith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position, its children will be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position. Similarly there is a link between the child and the parent. A child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get its parent with the help of formula i.e. if a node is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ith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position, its parent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floor(i/2)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position. Let’s check this fact in our sample tree. See the diagram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below: </a:t>
            </a:r>
            <a:endParaRPr lang="ko-KR" altLang="en-US" dirty="0" smtClean="0" sz="1056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61745" y="1228090"/>
            <a:ext cx="4233545" cy="21488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4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51560" y="3444240"/>
            <a:ext cx="4809490" cy="499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36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36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362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362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10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endParaRPr lang="ko-KR" altLang="en-US" dirty="0" smtClean="0" sz="136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A B C D E F G 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6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6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Level Order Numbers &amp; Array index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at position is 10. According to the formula, its parent should be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floor(10/2)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5 which is true.  As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at position 9, its parent should be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floor(9/2)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4. The result of 9/2 is 4.5. But due to the floor, we will round it down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result will be 4. We can see that the parent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which is at position 4.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parent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floor(8/2)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means that it will be at 4.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its parent. The links shown in the figure depict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two children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easily prove this formula for the other nodes.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above discussion we note three things. 1) We have a complete binary tree,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stores some information. It may or may not be a binary search tree. This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stored in an array. 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indexing scheme to put the nodes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Now we can apply the algorithms of tree structure on this array structure, if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talk about the usage of pointers and array. We have read that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implementing data structures, the use of array makes it easy and fast to add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data from arrays. In an array, we can directly locate a required position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help of a single index, where we want to add or remove data. Array is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that it is a part of the language. Whereas the data structures like tree, stack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queue are not the part of C or C++ language as a language construct. However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write our classes for these data structures. As these data structures are not a part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language, a programmer can not declare them directly. We can not declare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or a stack in a program. Whereas we can declare an array directly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 x [];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data type is so efficient and is of so common use that most of the languages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support it. The compiler of a language handles the array and the programmer has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nothing for declaring and using an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built the binary trees with pointers. The use of pointers in the memory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341 of 519 </a:t>
            </a:r>
            <a:endParaRPr lang="ko-KR" altLang="en-US" dirty="0" smtClean="0" sz="1056"/>
          </a:p>
        </p:txBody>
      </p:sp>
      <p:sp>
        <p:nvSpPr>
          <p:cNvPr id="940" name="Rect 3"/>
          <p:cNvSpPr>
            <a:spLocks noGrp="1" noChangeArrowheads="1"/>
          </p:cNvSpPr>
          <p:nvPr/>
        </p:nvSpPr>
        <p:spPr>
          <a:xfrm rot="0">
            <a:off x="1746250" y="1304290"/>
            <a:ext cx="3716655" cy="19996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362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36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endParaRPr lang="ko-KR" altLang="en-US" dirty="0" smtClean="0" sz="1362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62"/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58570" y="5662930"/>
            <a:ext cx="4234180" cy="21488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4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48385" y="7879080"/>
            <a:ext cx="4810125" cy="499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requires some time. In compilers or operating system course, we will read that when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 is stored in the memory and becomes a process, the executable code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in the memory. There is a term paging or virtual memory. When a program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executes, some part of it comes in the memory. If we are using pointers to go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parts of the program, some part of the code of program will be coming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(loading) to memory while some other may be removed (unloading)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memory. This loading and unloading of program code is executed by a mechanism,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paging. In Windows operating system, for this virtual memory (paging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mechanism), a file is used, called page file. With the use of pointers, this process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paging may increase. Due to this, the program may execute slowly. In the course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Operating System and Compilers, you will read in detail that the usage of pointers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cause many problems.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should use arrays where ever it can fulfill our requirements. The array is a very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fast and efficient data structure and is supported by the compiler. There are some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situations where the use of pointers is beneficial. The balancing of AVL tree is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in this regard. Here pointers are more efficient. If we are using array,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need of moving a large data here and there to balance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discussion on use of pointers and array, we conclude that the use of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be made whenever it is required. Now it is clear that binary tree is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data structure. Now we see that whether we can store it in an array or not.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surely use the array. The functions of tree are possible with help of array.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previous example of binary tree. In this tree, the order of the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maintained was for the indexing purpose of the array. Moreover we know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level-order traversal of the tree. We used queue for the level-order of a tree. If we do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level-order traversal of the tree, the order of nodes visited is shown with numbers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36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362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362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362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10 </a:t>
            </a:r>
            <a:endParaRPr lang="ko-KR" altLang="en-US" dirty="0" smtClean="0" sz="1362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62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A B C D E F G 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6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6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we see that the number of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1. The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on number 2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342 of 519 </a:t>
            </a:r>
            <a:endParaRPr lang="ko-KR" altLang="en-US" dirty="0" smtClean="0" sz="1056"/>
          </a:p>
        </p:txBody>
      </p:sp>
      <p:sp>
        <p:nvSpPr>
          <p:cNvPr id="943" name="Rect 3"/>
          <p:cNvSpPr>
            <a:spLocks noGrp="1" noChangeArrowheads="1"/>
          </p:cNvSpPr>
          <p:nvPr/>
        </p:nvSpPr>
        <p:spPr>
          <a:xfrm rot="0">
            <a:off x="1743710" y="5736590"/>
            <a:ext cx="3716020" cy="1292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362"/>
          </a:p>
          <a:p>
            <a:pPr marL="0" indent="0" defTabSz="15240" algn="l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36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362">
                <a:solidFill>
                  <a:srgbClr val="000000"/>
                </a:solidFill>
                <a:latin typeface="Arial"/>
              </a:rPr>
              <a:t>G </a:t>
            </a:r>
            <a:endParaRPr lang="ko-KR" altLang="en-US" dirty="0" smtClean="0" sz="1362"/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on number 3. At the next level, the number of nodes D, E, F and G are 4, 5,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7 respectively. At the lowest level, the numbers 8, 9 and 10 are written with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H, I and J respectively. This is the level-order traversal. You must remember that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example where we did the preorder, inorder and post order traversal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recursion by using stack. We can do the level-order traversal by using a queue.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level-order traversal, let’s look at the array shown in the lower portion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figure. In this array, we see that the numbers of A, B, C and other nodes are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as in the level-order traversal. Thus, if we use the numbers of level-order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traversal as index, the values are precisely stored at that numbers in the array.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easy for us to store a given tree in an array. We simply traverse the tree by level-order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use the order number of nodes as index to store the values of nodes in the array.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can do the level-order traversal with queue as we had carried out in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before. We preserve the number of nodes in the queue before traversing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for nodes and putting the nodes in the array. We do not carry out this process,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it is unnecessarily long and very time consuming. However, we see that the level-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traversal directly gives us the index of the array depending upon which data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stored. </a:t>
            </a:r>
            <a:endParaRPr lang="ko-KR" altLang="en-US" dirty="0" smtClean="0" sz="1056"/>
          </a:p>
          <a:p>
            <a:pPr marL="0" indent="0" defTabSz="15240" algn="l">
              <a:lnSpc>
                <a:spcPts val="4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29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6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6.3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 Heap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Complete Binary Tree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talked about the ways to store a complete binary tree in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The 2i and 2i+1 scheme were employed to store the link of the parent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and link of children to parent. Through this link, a programmer can go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of a node. We know that array is a very efficient data structure. In a number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languages, it is found as a built-in data type. Now the question arises if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the binary tree in an array, why there should be the use of pointers? It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 that an array is used when the tree is a complete binary tree. Array can also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used for the trees that are not complete binary trees. But there will be a problem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case. The size of the array will be with respect to the deepest level of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the traversal order. Due to incomplete binary tree, there will be holes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that means that there will be some positions in the array with no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data. We can understand it with a simple example. Look at the following figure 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store a complete binary tree in an array by using 2i and 2i+1 scheme. Here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the nodes from A to J in the array at index 1 to 10 respectively.  </a:t>
            </a:r>
            <a:endParaRPr lang="ko-KR" altLang="en-US" dirty="0" smtClean="0" sz="1056"/>
          </a:p>
          <a:p>
            <a:pPr marL="0" indent="0" defTabSz="15240" algn="l">
              <a:lnSpc>
                <a:spcPts val="17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4867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5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403850"/>
            <a:ext cx="4782185" cy="33350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31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1319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C </a:t>
            </a:r>
            <a:endParaRPr lang="ko-KR" altLang="en-US" dirty="0" smtClean="0" sz="131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319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10 </a:t>
            </a:r>
            <a:endParaRPr lang="ko-KR" altLang="en-US" dirty="0" smtClean="0" sz="131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H </a:t>
            </a:r>
            <a:endParaRPr lang="ko-KR" altLang="en-US" dirty="0" smtClean="0" sz="1319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B C D E F G 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1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this tree is not complete. In other words, B has no right subtree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E and J are not there. Similarly we suppose that there is no right subtree of A.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tree will be in the form as shown in the following figure (29.2).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31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319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B </a:t>
            </a:r>
            <a:endParaRPr lang="ko-KR" altLang="en-US" dirty="0" smtClean="0" sz="131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319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</a:t>
            </a:r>
            <a:endParaRPr lang="ko-KR" altLang="en-US" dirty="0" smtClean="0" sz="131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1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Not a complete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345 of 519 </a:t>
            </a:r>
            <a:endParaRPr lang="ko-KR" altLang="en-US" dirty="0" smtClean="0" sz="1056"/>
          </a:p>
        </p:txBody>
      </p:sp>
      <p:sp>
        <p:nvSpPr>
          <p:cNvPr id="950" name="Rect 3"/>
          <p:cNvSpPr>
            <a:spLocks noGrp="1" noChangeArrowheads="1"/>
          </p:cNvSpPr>
          <p:nvPr/>
        </p:nvSpPr>
        <p:spPr>
          <a:xfrm rot="0">
            <a:off x="1715770" y="1310640"/>
            <a:ext cx="3573780" cy="55105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319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319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G </a:t>
            </a:r>
            <a:endParaRPr lang="ko-KR" altLang="en-US" dirty="0" smtClean="0" sz="1319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J </a:t>
            </a:r>
            <a:endParaRPr lang="ko-KR" altLang="en-US" dirty="0" smtClean="0" sz="1319"/>
          </a:p>
          <a:p>
            <a:pPr marL="0" indent="0" defTabSz="15240" algn="l">
              <a:lnSpc>
                <a:spcPts val="18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319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D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99490" y="2724785"/>
            <a:ext cx="4672965" cy="4908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5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the effort to store this tree in the array will be of no use as the 2i and 2i+1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scheme cannot be applied to it. To store this tree, it may be supposed that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at the positions of C, F, G, E and J (that were there in previous figure). Thus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transform it into a complete binary tree. Now we store the tree in the array by using 2i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2i +1 scheme. Afterwards, the data is removed from the array at the positions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imaginary nodes (in this example, the nodes are C, F, G, E and J). Thus we notice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nodes A, B and H etc are at the positions, depicting the presence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tree. The locations of C, f, G, E and J in the array are empty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A 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I </a:t>
            </a:r>
            <a:endParaRPr lang="ko-KR" altLang="en-US" dirty="0" smtClean="0" sz="131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19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imagine that an incomplete binary tree is very deep. We can store this tree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that needs to be of large size. There will be holes in the array.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wastage of memory. Due to this reason, it is thought that if a tree is not completely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binary, it is not good to store it into an array. Rather, a programmer will prefer to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for the storage.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 that two things are kept into view while constructing a data structure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memory and time. There should such a data structure that could ensure the running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programs in a fast manner. Secondly, a data structure should not use a lot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so that a large part of memory occupied by it does not go waste. To manage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memory in an efficient way, we use dynamic memory with the help of pointers.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use of pointers only the required amount of memory is occupied.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use pointers for complex operations with data structure as witnessed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operation in AVL tree. One of the problems with arrays is that the memory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useless in case of too many empty positions in the array. We cannot free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use in other programs as the memory of an array is contiguous. It is difficult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free the memory of locations from 50 to 100 in an array of 200 locations. To manage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memory in a better way, we have to use pointers.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come to a new data structure, called ‘heap’.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Heap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is a data structure of big use and benefit. It is used in priority queue. Recall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of bank simulation. In that case, we used event-based queues. We put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events that were going to happen in a special queue i.e. priority queue. This priority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queue does not follow the FIFO rule. We put the elements in the queue at the end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later got the element with respect to its priority. We get the element that is going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occur first in the future. In that example, we implemented the priority queue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arrays. It was seen that when we insert an element in the queue, the internally used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was sorted in the array. Thus the event with minimum time of occurrence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at first position in the sorted array. We get the event with minimum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first. After the removal of the element, a programmer shifts the array elements to left.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insert a new element, the array is sorted again. As there, in the bank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were five or six events, the use of array fulfilled our requirement. We need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to have other data type that makes the queue efficient. The array is efficient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is an expensive procedure. It may be complex and time-consuming. Secondly,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193665"/>
            <a:ext cx="4773295" cy="28257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5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shift elements while adding or removing them from the array.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priority queue with an array is not efficient in terms of time.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an alternate that is called heap. The use of priority queue with the help of heap is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major application. The priority queue is itself a major data structure, much-used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operating systems. Similarly priority queue data structure is used in network devices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especially in routers. Heap data structure is also employed in sorting algorithms.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also other uses of heap.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heap data structure with special reference to its definition,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“The definition of heap is that it is a complete binary tree that conforms to the heap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order”.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definition there is a term ‘heap order’. The heap order is a property that states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in a (min) heap for every node X, the key in the parent is smaller than (or equal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to) the key in X. In other words, the parent node has key smaller than or equal to both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its children nodes. This means that the value in the parent node is less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on its children nodes. It is evident from the definition that we implement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by complete binary tree. It can also be implemented by some other method. But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normally, we implement heap with complete binary tree. We know that in a binary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tree, the value of a node is greater than the values in its left subtree and less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the values in its right subtree. The heap has a variation to it. In heap, the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node is less than the values of its left and right children. The values in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 may be more or less with each other but these will be greater than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their parent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tree shown in 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32 </a:t>
            </a:r>
            <a:endParaRPr lang="ko-KR" altLang="en-US" dirty="0" smtClean="0" sz="1319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29.3: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 min heap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 complete binary tree. Now consider the values (numbers) in the nodes.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not a binary search tree. If we carry out the inorder traversal, the result will be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65, 24, 26, 21, 32, 31, 13, 19, 16, 68.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see that it is not in a sorted order as got while traversing a binary search tree.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260850"/>
            <a:ext cx="4773295" cy="28105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it is not a binary search tree. It’s simply a complete binary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see the heap order in this tree. We start from node having value 13. Its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has value 21 while the value possessed by the right child is 16. So this is in line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heap order property. Now we come to node 21. The values in its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 are 24 and 31 respectively. These values are greater than 21. Thus, it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fulfills the heap order property. Now we consider the node having value 16.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left child node of it is 19 and value in right child node is 68. So the value of parent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(i.e. 16) is less than the values of its children nodes. Similarly we can see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The node 24 is less than its children that are 65 and 26 respectively.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31 is less than its child i.e. 32. Now for this tree, three things have been proved.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First, this is a binary tree. Secondly it is a complete binary tree. Thirdly it fulfills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order property i.e. the value of the parent node is less than that of its left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 nodes. This property is valid for every node of the tree. The leaf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no child so there is no question of heap property. The heap shown in the figure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is a min heap. In the min heap, the value of parent node is less than the values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its child nodes. Thus in a min heap, the value of the root node is the smallest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tree.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tree in the following figure. This is a complete binary tree.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neither a search tree, nor a heap. 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Wingdings 2"/>
                <a:ea typeface="Wingdings 2"/>
              </a:rPr>
              <a:t>9</a:t>
            </a:r>
            <a:endParaRPr lang="ko-KR" altLang="en-US" dirty="0" smtClean="0" sz="1758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endParaRPr lang="ko-KR" altLang="en-US" dirty="0" smtClean="0" sz="131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758">
                <a:solidFill>
                  <a:srgbClr val="000000"/>
                </a:solidFill>
                <a:latin typeface="Wingdings 2"/>
                <a:ea typeface="Wingdings 2"/>
              </a:rPr>
              <a:t>9</a:t>
            </a:r>
            <a:endParaRPr lang="ko-KR" altLang="en-US" dirty="0" smtClean="0" sz="1758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32 </a:t>
            </a:r>
            <a:endParaRPr lang="ko-KR" altLang="en-US" dirty="0" smtClean="0" sz="1319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Not a heap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the node having value 19. The values in its left and right child nodes are 16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68 respectively.  Thus the value of left child (i.e. 16) is less than that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parent. So it is not a heap. If it were a heap or min heap, the value 16 should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parent and the value 19 should have its child. Due to this violation, (the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is less than that of the parent) it is not a heap (min heap).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Max Heap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also make a max heap. In max heap, each node has a value greater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of its left and right child nodes. Moreover, in this case, the value of the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be largest and will become lesser at downward levels. The following figure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a max heap.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348 of 519 </a:t>
            </a:r>
            <a:endParaRPr lang="ko-KR" altLang="en-US" dirty="0" smtClean="0" sz="1056"/>
          </a:p>
        </p:txBody>
      </p:sp>
      <p:sp>
        <p:nvSpPr>
          <p:cNvPr id="957" name="Rect 3"/>
          <p:cNvSpPr>
            <a:spLocks noGrp="1" noChangeArrowheads="1"/>
          </p:cNvSpPr>
          <p:nvPr/>
        </p:nvSpPr>
        <p:spPr>
          <a:xfrm rot="0">
            <a:off x="1880870" y="5483225"/>
            <a:ext cx="3588385" cy="1981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755775"/>
            <a:ext cx="4773295" cy="28251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5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73 </a:t>
            </a:r>
            <a:endParaRPr lang="ko-KR" altLang="en-US" dirty="0" smtClean="0" sz="1319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63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57 </a:t>
            </a:r>
            <a:endParaRPr lang="ko-KR" altLang="en-US" dirty="0" smtClean="0" sz="1319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25 </a:t>
            </a:r>
            <a:endParaRPr lang="ko-KR" altLang="en-US" dirty="0" smtClean="0" sz="131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29.5: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 max heap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min heap again. By removing the root from the min heap, we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smallest value. Now if the remaining values adjust themselves to again form a heap,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minimum value among these remaining values will get on the top. And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this value, there will be the second minimum value of the heap.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remaining values again form a heap and there will be the smallest number among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on the top. Thus we will get the third minimum number. If we continue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of getting the root node and forming a heap of remaining values, the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get in ascending order. Thus we get the sorted data. By putting data in heap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getting it in a particular way, we achieve a sorting procedure. This way, a programmer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gets sorted data.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suppose that the numbers in heap are priorities or events. If we build the max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heap, the number with greater priority will get on the top. Now if we get data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heap, the data on top will be gotten first. As it is max heap, the data on top will be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largest value.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Insertion in a Heap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discuss the insertion of a value in a min or max heap. We insert a value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 heap and rearrange it in such a way that the smallest value gets on the top.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if we are inserting a value in a max heap, the largest value goes on the top.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discuss insertion in min heap, consider the following existing heap.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heap discussed earlier. As it is a complete binary tree, we keep it in an array.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figure, the level order of numbers of the nodes is also seen that describes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nodes (index number) in the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349 of 519 </a:t>
            </a:r>
            <a:endParaRPr lang="ko-KR" altLang="en-US" dirty="0" smtClean="0" sz="1056"/>
          </a:p>
        </p:txBody>
      </p:sp>
      <p:sp>
        <p:nvSpPr>
          <p:cNvPr id="960" name="Rect 3"/>
          <p:cNvSpPr>
            <a:spLocks noGrp="1" noChangeArrowheads="1"/>
          </p:cNvSpPr>
          <p:nvPr/>
        </p:nvSpPr>
        <p:spPr>
          <a:xfrm rot="0">
            <a:off x="1999615" y="3688080"/>
            <a:ext cx="979170" cy="1949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066290"/>
            <a:ext cx="4773295" cy="39624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6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8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13 21 16 24 31 19 68 65 26 32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29.6: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 existing heap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add a new node to this existing heap. Suppose the node that we want to add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a value 14. We will add this node at a position in such a way that the tree should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 complete binary one. Following this guideline, this node will be added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side of node 31. In the array, the node 31 is presently at position 5.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the formula of 2i and 2i+1, the left child of 31 will be at positions 10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already exists. The right child of 31 (that is 14 now) will be at position 11 in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addition of node in the tree and value in the array is shown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figure. We have shown the node link and position in the array with dotted lines.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this, it is shown that the node of value 14 may become here. We did not actually put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there. We have to put it at such position so that the heap should remain intact.  </a:t>
            </a:r>
            <a:endParaRPr lang="ko-KR" altLang="en-US" dirty="0" smtClean="0" sz="1056"/>
          </a:p>
          <a:p>
            <a:pPr marL="0" indent="0" defTabSz="15240" algn="l">
              <a:lnSpc>
                <a:spcPts val="1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350 of 519 </a:t>
            </a:r>
            <a:endParaRPr lang="ko-KR" altLang="en-US" dirty="0" smtClean="0" sz="1056"/>
          </a:p>
        </p:txBody>
      </p:sp>
      <p:sp>
        <p:nvSpPr>
          <p:cNvPr id="963" name="Rect 3"/>
          <p:cNvSpPr>
            <a:spLocks noGrp="1" noChangeArrowheads="1"/>
          </p:cNvSpPr>
          <p:nvPr/>
        </p:nvSpPr>
        <p:spPr>
          <a:xfrm rot="0">
            <a:off x="4961890" y="3230880"/>
            <a:ext cx="260350" cy="1981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</p:txBody>
      </p:sp>
      <p:sp>
        <p:nvSpPr>
          <p:cNvPr id="964" name="Rect 3"/>
          <p:cNvSpPr>
            <a:spLocks noGrp="1" noChangeArrowheads="1"/>
          </p:cNvSpPr>
          <p:nvPr/>
        </p:nvSpPr>
        <p:spPr>
          <a:xfrm rot="0">
            <a:off x="2401570" y="3273425"/>
            <a:ext cx="2439670" cy="7531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 </a:t>
            </a:r>
            <a:endParaRPr lang="ko-KR" altLang="en-US" dirty="0" smtClean="0" sz="1056"/>
          </a:p>
        </p:txBody>
      </p:sp>
      <p:sp>
        <p:nvSpPr>
          <p:cNvPr id="965" name="Rect 3"/>
          <p:cNvSpPr>
            <a:spLocks noGrp="1" noChangeArrowheads="1"/>
          </p:cNvSpPr>
          <p:nvPr/>
        </p:nvSpPr>
        <p:spPr>
          <a:xfrm rot="0">
            <a:off x="1697990" y="3200400"/>
            <a:ext cx="1231900" cy="8902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9 </a:t>
            </a:r>
            <a:endParaRPr lang="ko-KR" altLang="en-US" dirty="0" smtClean="0" sz="1056"/>
          </a:p>
        </p:txBody>
      </p:sp>
      <p:sp>
        <p:nvSpPr>
          <p:cNvPr id="966" name="Rect 3"/>
          <p:cNvSpPr>
            <a:spLocks noGrp="1" noChangeArrowheads="1"/>
          </p:cNvSpPr>
          <p:nvPr/>
        </p:nvSpPr>
        <p:spPr>
          <a:xfrm rot="0">
            <a:off x="1225550" y="2682240"/>
            <a:ext cx="3274060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225040"/>
            <a:ext cx="4773295" cy="40601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0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13 21 16 24 31 19 68 65 26 32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1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29.7: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addition of new node, we see that this is still a complete binary tree and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stored in an array. There are no holes in the array, leading to no wastage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preservation of the heap order is needed. We are discussing the min heap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example. In the min heap, the smallest element is at the top (root). And at each level,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node has a smaller value than that of its children nodes. Now we have to put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14 at its proper position with respect to heap order. Thus heap is being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implemented with complete binary tree with the help of an array. We have to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final; position of node 14 in the tree and array preserving the heap order. A look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 in the previous figure shows that if we put node 14 (shown with dotted line)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that position, the heap order will not be preserved. By considering the node 31,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the value of its right child (i.e. 14) is less than it. Thus heap property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violated. To preserve heap property, the node 14 should be up and node 31 should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down. If node 14 is at position of 31 and it is compared with its parent that is 21,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to know that node 21 should also be at down position. How do we take node 14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351 of 519 </a:t>
            </a:r>
            <a:endParaRPr lang="ko-KR" altLang="en-US" dirty="0" smtClean="0" sz="1056"/>
          </a:p>
        </p:txBody>
      </p:sp>
      <p:sp>
        <p:nvSpPr>
          <p:cNvPr id="969" name="Rect 3"/>
          <p:cNvSpPr>
            <a:spLocks noGrp="1" noChangeArrowheads="1"/>
          </p:cNvSpPr>
          <p:nvPr/>
        </p:nvSpPr>
        <p:spPr>
          <a:xfrm rot="0">
            <a:off x="3535680" y="4017010"/>
            <a:ext cx="257175" cy="1955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</p:txBody>
      </p:sp>
      <p:sp>
        <p:nvSpPr>
          <p:cNvPr id="970" name="Rect 3"/>
          <p:cNvSpPr>
            <a:spLocks noGrp="1" noChangeArrowheads="1"/>
          </p:cNvSpPr>
          <p:nvPr/>
        </p:nvSpPr>
        <p:spPr>
          <a:xfrm rot="0">
            <a:off x="3307080" y="3386455"/>
            <a:ext cx="1915160" cy="7435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</p:txBody>
      </p:sp>
      <p:sp>
        <p:nvSpPr>
          <p:cNvPr id="971" name="Rect 3"/>
          <p:cNvSpPr>
            <a:spLocks noGrp="1" noChangeArrowheads="1"/>
          </p:cNvSpPr>
          <p:nvPr/>
        </p:nvSpPr>
        <p:spPr>
          <a:xfrm rot="0">
            <a:off x="2663825" y="3429000"/>
            <a:ext cx="2177415" cy="838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32 </a:t>
            </a:r>
            <a:endParaRPr lang="ko-KR" altLang="en-US" dirty="0" smtClean="0" sz="1319"/>
          </a:p>
        </p:txBody>
      </p:sp>
      <p:sp>
        <p:nvSpPr>
          <p:cNvPr id="972" name="Rect 3"/>
          <p:cNvSpPr>
            <a:spLocks noGrp="1" noChangeArrowheads="1"/>
          </p:cNvSpPr>
          <p:nvPr/>
        </p:nvSpPr>
        <p:spPr>
          <a:xfrm rot="0">
            <a:off x="1697990" y="2825750"/>
            <a:ext cx="2439035" cy="1386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</p:txBody>
      </p:sp>
      <p:sp>
        <p:nvSpPr>
          <p:cNvPr id="973" name="Rect 3"/>
          <p:cNvSpPr>
            <a:spLocks noGrp="1" noChangeArrowheads="1"/>
          </p:cNvSpPr>
          <p:nvPr/>
        </p:nvSpPr>
        <p:spPr>
          <a:xfrm rot="0">
            <a:off x="1225550" y="2840990"/>
            <a:ext cx="3274060" cy="14262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26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386330"/>
            <a:ext cx="4773295" cy="40538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7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90600" y="7811770"/>
            <a:ext cx="5086985" cy="21126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its proper position? To achieve this objective, we have to take node 21 and 31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 and move the node 14 up. Now let’s see how we can do this.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figure, the position is seen where a new node can be added with an empty circle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(hole). The value of this node is not shown. However, the new inserted value may go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that position. Similarly in the array we show that there will be some value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11.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13 21 16 24 31 19 68 65 26 32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29.8: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compare the new value to be inserted (that is 14) at position 11 with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node. The parent node of newly inserted node is 31 that is greater than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value. This is against the (min) heap property. According to the heap property,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14 may be the parent of 31 but not its child. So we move the node 31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11 and the new node to the position 5 that was earlier the position of 31.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technique is also employed in the array. Thus we get the array and tree in the form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following figure. </a:t>
            </a:r>
            <a:endParaRPr lang="ko-KR" altLang="en-US" dirty="0" smtClean="0" sz="1056"/>
          </a:p>
        </p:txBody>
      </p:sp>
      <p:sp>
        <p:nvSpPr>
          <p:cNvPr id="976" name="Rect 3"/>
          <p:cNvSpPr>
            <a:spLocks noGrp="1" noChangeArrowheads="1"/>
          </p:cNvSpPr>
          <p:nvPr/>
        </p:nvSpPr>
        <p:spPr>
          <a:xfrm rot="0">
            <a:off x="3307080" y="3544570"/>
            <a:ext cx="1915160" cy="7410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</p:txBody>
      </p:sp>
      <p:sp>
        <p:nvSpPr>
          <p:cNvPr id="977" name="Rect 3"/>
          <p:cNvSpPr>
            <a:spLocks noGrp="1" noChangeArrowheads="1"/>
          </p:cNvSpPr>
          <p:nvPr/>
        </p:nvSpPr>
        <p:spPr>
          <a:xfrm rot="0">
            <a:off x="2401570" y="3587750"/>
            <a:ext cx="2439670" cy="7493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 </a:t>
            </a:r>
            <a:endParaRPr lang="ko-KR" altLang="en-US" dirty="0" smtClean="0" sz="1056"/>
          </a:p>
        </p:txBody>
      </p:sp>
      <p:sp>
        <p:nvSpPr>
          <p:cNvPr id="978" name="Rect 3"/>
          <p:cNvSpPr>
            <a:spLocks noGrp="1" noChangeArrowheads="1"/>
          </p:cNvSpPr>
          <p:nvPr/>
        </p:nvSpPr>
        <p:spPr>
          <a:xfrm rot="0">
            <a:off x="1697990" y="3514090"/>
            <a:ext cx="1231900" cy="8902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9 </a:t>
            </a:r>
            <a:endParaRPr lang="ko-KR" altLang="en-US" dirty="0" smtClean="0" sz="1056"/>
          </a:p>
        </p:txBody>
      </p:sp>
      <p:sp>
        <p:nvSpPr>
          <p:cNvPr id="979" name="Rect 3"/>
          <p:cNvSpPr>
            <a:spLocks noGrp="1" noChangeArrowheads="1"/>
          </p:cNvSpPr>
          <p:nvPr/>
        </p:nvSpPr>
        <p:spPr>
          <a:xfrm rot="0">
            <a:off x="1225550" y="2995930"/>
            <a:ext cx="3274060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342890"/>
            <a:ext cx="4773295" cy="23469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8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862330" y="1304290"/>
            <a:ext cx="5455920" cy="28194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6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the new node comes at the position 5, its parent (that is node 21 at position 2)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again greater than it. This again violates the heap property because the parent (i.e.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21) is greater than the child whose value is 14. So we bring the node 21 down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new node up. Thus the node 21 goes to the position 5 and the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attains the position 2 in the tree and array as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353 of 519 </a:t>
            </a:r>
            <a:endParaRPr lang="ko-KR" altLang="en-US" dirty="0" smtClean="0" sz="1056"/>
          </a:p>
        </p:txBody>
      </p:sp>
      <p:sp>
        <p:nvSpPr>
          <p:cNvPr id="982" name="Rect 3"/>
          <p:cNvSpPr>
            <a:spLocks noGrp="1" noChangeArrowheads="1"/>
          </p:cNvSpPr>
          <p:nvPr/>
        </p:nvSpPr>
        <p:spPr>
          <a:xfrm rot="0">
            <a:off x="3307080" y="6507480"/>
            <a:ext cx="1915160" cy="7435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</p:txBody>
      </p:sp>
      <p:sp>
        <p:nvSpPr>
          <p:cNvPr id="983" name="Rect 3"/>
          <p:cNvSpPr>
            <a:spLocks noGrp="1" noChangeArrowheads="1"/>
          </p:cNvSpPr>
          <p:nvPr/>
        </p:nvSpPr>
        <p:spPr>
          <a:xfrm rot="0">
            <a:off x="2401570" y="6550025"/>
            <a:ext cx="2439670" cy="7835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1319"/>
          </a:p>
        </p:txBody>
      </p:sp>
      <p:sp>
        <p:nvSpPr>
          <p:cNvPr id="984" name="Rect 3"/>
          <p:cNvSpPr>
            <a:spLocks noGrp="1" noChangeArrowheads="1"/>
          </p:cNvSpPr>
          <p:nvPr/>
        </p:nvSpPr>
        <p:spPr>
          <a:xfrm rot="0">
            <a:off x="1697990" y="6477000"/>
            <a:ext cx="1231900" cy="8902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9 </a:t>
            </a:r>
            <a:endParaRPr lang="ko-KR" altLang="en-US" dirty="0" smtClean="0" sz="1056"/>
          </a:p>
        </p:txBody>
      </p:sp>
      <p:sp>
        <p:nvSpPr>
          <p:cNvPr id="985" name="Rect 3"/>
          <p:cNvSpPr>
            <a:spLocks noGrp="1" noChangeArrowheads="1"/>
          </p:cNvSpPr>
          <p:nvPr/>
        </p:nvSpPr>
        <p:spPr>
          <a:xfrm rot="0">
            <a:off x="1225550" y="5958840"/>
            <a:ext cx="3274060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16275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98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011295"/>
            <a:ext cx="4773295" cy="40538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5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16 24 21 19 68 65 26 32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29.10: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interchange the positions of values in the array, only these values are swapped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is very easy process. We can do this easily in arrays. Now if the new value 14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at the position 2, the heap property will be preserved due to the fact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of this node i.e. the node of value 13 is less than its child (the new node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14). Thus the final position of new node 14 is determined and we put it here i.e.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2. This is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13 14 16 24 21 19 68 65 26 32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29.11: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clear by now that the tree after insertion of a new value follows the heap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that there is an algorithm for inserting a new value in the heap. If we have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stored in an array as a complete binary tree, a new value is put in the array at a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354 of 519 </a:t>
            </a:r>
            <a:endParaRPr lang="ko-KR" altLang="en-US" dirty="0" smtClean="0" sz="1056"/>
          </a:p>
        </p:txBody>
      </p:sp>
      <p:sp>
        <p:nvSpPr>
          <p:cNvPr id="988" name="Rect 3"/>
          <p:cNvSpPr>
            <a:spLocks noGrp="1" noChangeArrowheads="1"/>
          </p:cNvSpPr>
          <p:nvPr/>
        </p:nvSpPr>
        <p:spPr>
          <a:xfrm rot="0">
            <a:off x="3535680" y="5797550"/>
            <a:ext cx="257175" cy="1981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</p:txBody>
      </p:sp>
      <p:sp>
        <p:nvSpPr>
          <p:cNvPr id="989" name="Rect 3"/>
          <p:cNvSpPr>
            <a:spLocks noGrp="1" noChangeArrowheads="1"/>
          </p:cNvSpPr>
          <p:nvPr/>
        </p:nvSpPr>
        <p:spPr>
          <a:xfrm rot="0">
            <a:off x="3307080" y="5169535"/>
            <a:ext cx="1915160" cy="7435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</p:txBody>
      </p:sp>
      <p:sp>
        <p:nvSpPr>
          <p:cNvPr id="990" name="Rect 3"/>
          <p:cNvSpPr>
            <a:spLocks noGrp="1" noChangeArrowheads="1"/>
          </p:cNvSpPr>
          <p:nvPr/>
        </p:nvSpPr>
        <p:spPr>
          <a:xfrm rot="0">
            <a:off x="1944370" y="5212080"/>
            <a:ext cx="2896870" cy="8350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32 </a:t>
            </a:r>
            <a:endParaRPr lang="ko-KR" altLang="en-US" dirty="0" smtClean="0" sz="1319"/>
          </a:p>
        </p:txBody>
      </p:sp>
      <p:sp>
        <p:nvSpPr>
          <p:cNvPr id="991" name="Rect 3"/>
          <p:cNvSpPr>
            <a:spLocks noGrp="1" noChangeArrowheads="1"/>
          </p:cNvSpPr>
          <p:nvPr/>
        </p:nvSpPr>
        <p:spPr>
          <a:xfrm rot="0">
            <a:off x="1697990" y="5139055"/>
            <a:ext cx="1231900" cy="8566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</p:txBody>
      </p:sp>
      <p:sp>
        <p:nvSpPr>
          <p:cNvPr id="992" name="Rect 3"/>
          <p:cNvSpPr>
            <a:spLocks noGrp="1" noChangeArrowheads="1"/>
          </p:cNvSpPr>
          <p:nvPr/>
        </p:nvSpPr>
        <p:spPr>
          <a:xfrm rot="0">
            <a:off x="1225550" y="4620895"/>
            <a:ext cx="3274060" cy="14077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099560"/>
            <a:ext cx="4773295" cy="39592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9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so that it can hold preserving the property of complete binary tree. In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it is the position 11 where new value may be put. We know that the parent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a node is at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floor (i / 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we find the position of parent node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node and compare this new value with that. If the parent node has a value greater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this new value (i.e. its child), the heap property is violated. To maintain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property, we exchange these values. Now at the new position we find the parent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position and compare the value with the value at that position. Thus the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 by level-order. After a comparison, we go one level up in the tree. And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 to upward by looking at the parent node of the newly inserted node level by level.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stop at the position where the value of the parent node is less than the value of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i.e. the node to be inserted. To insert a node, it is necessary to find the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node before putting the value there. This is efficient and fast way as actual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are not exchange in this case. We simply move the data. Under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method, it can also be done with exchanges. Let’s do this for our previous heap. Look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following figure. Here we put the new node 14 at its position. It is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node 31. We have already seen that this is the position where a new node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added so that the tree remains complete binary tree. In the array, it is at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 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13 14 16 24 21 19 68 65 26 32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9 10 11 12 13 14 </a:t>
            </a:r>
            <a:endParaRPr lang="ko-KR" altLang="en-US" dirty="0" smtClean="0" sz="131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29.12: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check the heap order and compare node 14 with its parent that is node 31.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seen that this child node i.e. 14 is less than its parent i.e. 31. Thus the heap 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property is violated. We exchange the node 14 and 31due to which the node 14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the parent and node 31 turns into its child. That is why, the node 31 is now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355 of 519 </a:t>
            </a:r>
            <a:endParaRPr lang="ko-KR" altLang="en-US" dirty="0" smtClean="0" sz="1056"/>
          </a:p>
        </p:txBody>
      </p:sp>
      <p:sp>
        <p:nvSpPr>
          <p:cNvPr id="995" name="Rect 3"/>
          <p:cNvSpPr>
            <a:spLocks noGrp="1" noChangeArrowheads="1"/>
          </p:cNvSpPr>
          <p:nvPr/>
        </p:nvSpPr>
        <p:spPr>
          <a:xfrm rot="0">
            <a:off x="3535680" y="5885815"/>
            <a:ext cx="257175" cy="1981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</p:txBody>
      </p:sp>
      <p:sp>
        <p:nvSpPr>
          <p:cNvPr id="996" name="Rect 3"/>
          <p:cNvSpPr>
            <a:spLocks noGrp="1" noChangeArrowheads="1"/>
          </p:cNvSpPr>
          <p:nvPr/>
        </p:nvSpPr>
        <p:spPr>
          <a:xfrm rot="0">
            <a:off x="3303905" y="5257800"/>
            <a:ext cx="1915160" cy="7435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</p:txBody>
      </p:sp>
      <p:sp>
        <p:nvSpPr>
          <p:cNvPr id="997" name="Rect 3"/>
          <p:cNvSpPr>
            <a:spLocks noGrp="1" noChangeArrowheads="1"/>
          </p:cNvSpPr>
          <p:nvPr/>
        </p:nvSpPr>
        <p:spPr>
          <a:xfrm rot="0">
            <a:off x="2401570" y="5306695"/>
            <a:ext cx="2439670" cy="810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 </a:t>
            </a:r>
            <a:endParaRPr lang="ko-KR" altLang="en-US" dirty="0" smtClean="0" sz="1056"/>
          </a:p>
        </p:txBody>
      </p:sp>
      <p:sp>
        <p:nvSpPr>
          <p:cNvPr id="998" name="Rect 3"/>
          <p:cNvSpPr>
            <a:spLocks noGrp="1" noChangeArrowheads="1"/>
          </p:cNvSpPr>
          <p:nvPr/>
        </p:nvSpPr>
        <p:spPr>
          <a:xfrm rot="0">
            <a:off x="1944370" y="5233670"/>
            <a:ext cx="985520" cy="901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32 </a:t>
            </a:r>
            <a:endParaRPr lang="ko-KR" altLang="en-US" dirty="0" smtClean="0" sz="1319"/>
          </a:p>
        </p:txBody>
      </p:sp>
      <p:sp>
        <p:nvSpPr>
          <p:cNvPr id="999" name="Rect 3"/>
          <p:cNvSpPr>
            <a:spLocks noGrp="1" noChangeArrowheads="1"/>
          </p:cNvSpPr>
          <p:nvPr/>
        </p:nvSpPr>
        <p:spPr>
          <a:xfrm rot="0">
            <a:off x="1222375" y="4709160"/>
            <a:ext cx="3277235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805930"/>
            <a:ext cx="4773295" cy="21094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0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99490" y="4507865"/>
            <a:ext cx="4672965" cy="12496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0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99490" y="1746250"/>
            <a:ext cx="4672965" cy="12528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0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position 11 and node 14 is at position 5. After this exchange, the tree remains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one as we only have exchanged the values of nodes.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representation shows this. </a:t>
            </a:r>
            <a:endParaRPr lang="ko-KR" altLang="en-US" dirty="0" smtClean="0" sz="1056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13 21 16 24 </a:t>
            </a:r>
            <a:r>
              <a:rPr lang="en-US" altLang="ko-KR" dirty="0" smtClean="0" sz="1319">
                <a:solidFill>
                  <a:srgbClr val="C0C0C0"/>
                </a:solidFill>
                <a:latin typeface="Arial"/>
              </a:rPr>
              <a:t>				14 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				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 we compare the node 14 with its new parent. The new parent of node 14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found by the formula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floor (i / 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parent node of 14 will be at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floor (5/2)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position 2. We can see that the node at position 2 is 21.  Thus 21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its child i.e. 14, violating the heap property. So we again exchange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values. The node 14 now becomes the parent of 21 and 21 gets its child. In the array,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nodes 14 and 21 are at positions 2 and 5 respectively. The array representation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as below. </a:t>
            </a:r>
            <a:endParaRPr lang="ko-KR" altLang="en-US" dirty="0" smtClean="0" sz="1056"/>
          </a:p>
          <a:p>
            <a:pPr marL="0" indent="0" defTabSz="15240"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1319">
                <a:solidFill>
                  <a:srgbClr val="C0C0C0"/>
                </a:solidFill>
                <a:latin typeface="Arial"/>
              </a:rPr>
              <a:t>				14 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				16 24 21 19 68 65 26 32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compare this node 14 with its new parent i.e. 13. Here the heap property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stands preserved due to the fact that the parent node i.e. 13 is less than its child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14. So this tree is a heap now. The following figure shows this heap and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representation of it.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356 of 519 </a:t>
            </a:r>
            <a:endParaRPr lang="ko-KR" altLang="en-US" dirty="0" smtClean="0" sz="1056"/>
          </a:p>
        </p:txBody>
      </p:sp>
      <p:sp>
        <p:nvSpPr>
          <p:cNvPr id="1002" name="Rect 3"/>
          <p:cNvSpPr>
            <a:spLocks noGrp="1" noChangeArrowheads="1"/>
          </p:cNvSpPr>
          <p:nvPr/>
        </p:nvSpPr>
        <p:spPr>
          <a:xfrm rot="0">
            <a:off x="3307080" y="7967345"/>
            <a:ext cx="1915160" cy="7435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/>
          </a:p>
        </p:txBody>
      </p:sp>
      <p:sp>
        <p:nvSpPr>
          <p:cNvPr id="1003" name="Rect 3"/>
          <p:cNvSpPr>
            <a:spLocks noGrp="1" noChangeArrowheads="1"/>
          </p:cNvSpPr>
          <p:nvPr/>
        </p:nvSpPr>
        <p:spPr>
          <a:xfrm rot="0">
            <a:off x="2401570" y="8009890"/>
            <a:ext cx="2439670" cy="7835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</p:txBody>
      </p:sp>
      <p:sp>
        <p:nvSpPr>
          <p:cNvPr id="1004" name="Rect 3"/>
          <p:cNvSpPr>
            <a:spLocks noGrp="1" noChangeArrowheads="1"/>
          </p:cNvSpPr>
          <p:nvPr/>
        </p:nvSpPr>
        <p:spPr>
          <a:xfrm rot="0">
            <a:off x="1697990" y="7936865"/>
            <a:ext cx="1231900" cy="8902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9 </a:t>
            </a:r>
            <a:endParaRPr lang="ko-KR" altLang="en-US" dirty="0" smtClean="0" sz="1056"/>
          </a:p>
        </p:txBody>
      </p:sp>
      <p:sp>
        <p:nvSpPr>
          <p:cNvPr id="1005" name="Rect 3"/>
          <p:cNvSpPr>
            <a:spLocks noGrp="1" noChangeArrowheads="1"/>
          </p:cNvSpPr>
          <p:nvPr/>
        </p:nvSpPr>
        <p:spPr>
          <a:xfrm rot="0">
            <a:off x="1225550" y="7418705"/>
            <a:ext cx="3274060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0389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0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260850"/>
            <a:ext cx="4773295" cy="39046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13 14 16 24 21 19 68 65 26 32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29.13: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add another node to this heap. This new node has value 15.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heap is a complete binary tree, so this new node will be added as left child of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19. In the array, we see that the position of 19 is 6 so the position of its left child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(by formula of 2i) 6 x 2 that is 12. This is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7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13 14 16 24 21 19 68 65 26 32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1319">
                <a:solidFill>
                  <a:srgbClr val="C0C0C0"/>
                </a:solidFill>
                <a:latin typeface="Arial"/>
              </a:rPr>
              <a:t>				15 </a:t>
            </a:r>
            <a:endParaRPr lang="ko-KR" altLang="en-US" dirty="0" smtClean="0" sz="1319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29.14: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the new node 15 is less than its parent node (i.e. 19). To preserve the heap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property, we have to exchange these values. Thus the value 15 goes to the position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value 19 attains the position 12 as shown in the array in figure below. 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357 of 519 </a:t>
            </a:r>
            <a:endParaRPr lang="ko-KR" altLang="en-US" dirty="0" smtClean="0" sz="1056"/>
          </a:p>
        </p:txBody>
      </p:sp>
      <p:sp>
        <p:nvSpPr>
          <p:cNvPr id="1008" name="Rect 3"/>
          <p:cNvSpPr>
            <a:spLocks noGrp="1" noChangeArrowheads="1"/>
          </p:cNvSpPr>
          <p:nvPr/>
        </p:nvSpPr>
        <p:spPr>
          <a:xfrm rot="0">
            <a:off x="2904490" y="5467985"/>
            <a:ext cx="1735455" cy="7531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</p:txBody>
      </p:sp>
      <p:sp>
        <p:nvSpPr>
          <p:cNvPr id="1009" name="Rect 3"/>
          <p:cNvSpPr>
            <a:spLocks noGrp="1" noChangeArrowheads="1"/>
          </p:cNvSpPr>
          <p:nvPr/>
        </p:nvSpPr>
        <p:spPr>
          <a:xfrm rot="0">
            <a:off x="1697990" y="5483225"/>
            <a:ext cx="3304540" cy="802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19 </a:t>
            </a:r>
            <a:endParaRPr lang="ko-KR" altLang="en-US" dirty="0" smtClean="0" sz="131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</p:txBody>
      </p:sp>
      <p:sp>
        <p:nvSpPr>
          <p:cNvPr id="1010" name="Rect 3"/>
          <p:cNvSpPr>
            <a:spLocks noGrp="1" noChangeArrowheads="1"/>
          </p:cNvSpPr>
          <p:nvPr/>
        </p:nvSpPr>
        <p:spPr>
          <a:xfrm rot="0">
            <a:off x="1225550" y="4876800"/>
            <a:ext cx="3274060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050665"/>
            <a:ext cx="4773295" cy="37947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1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99490" y="1402080"/>
            <a:ext cx="4672965" cy="12865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1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13 14 16 24 21 </a:t>
            </a:r>
            <a:r>
              <a:rPr lang="en-US" altLang="ko-KR" dirty="0" smtClean="0" sz="1319">
                <a:solidFill>
                  <a:srgbClr val="C0C0C0"/>
                </a:solidFill>
                <a:latin typeface="Arial"/>
              </a:rPr>
              <a:t>				15 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				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31 19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compare the value 15 with its new parent i.e.16. Here again the parent (16)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its child (15). So to preserve the heap property we need to exchange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values. After the exchange, the value 15 is now at position 3 and value 16 is seen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6. The following figure shows this step. </a:t>
            </a:r>
            <a:endParaRPr lang="ko-KR" altLang="en-US" dirty="0" smtClean="0" sz="1056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319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7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13 14 15 24 21 16 68 65 26 32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31 19 </a:t>
            </a:r>
            <a:endParaRPr lang="ko-KR" altLang="en-US" dirty="0" smtClean="0" sz="1319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9 10 11 12 13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319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29.15: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inserting new value in a heap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figure also shows that the node 15 is greater than its new parent i.e. 13. In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words, the parent node is less than its child. So the heap property has been preserved,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warranting no exchange of values. The node 15 has gone to its proper position .All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this tree now follow the heap order. Thus it is a heap in which a new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been inserted. 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358 of 519 </a:t>
            </a:r>
            <a:endParaRPr lang="ko-KR" altLang="en-US" dirty="0" smtClean="0" sz="1056"/>
          </a:p>
        </p:txBody>
      </p:sp>
      <p:sp>
        <p:nvSpPr>
          <p:cNvPr id="1013" name="Rect 3"/>
          <p:cNvSpPr>
            <a:spLocks noGrp="1" noChangeArrowheads="1"/>
          </p:cNvSpPr>
          <p:nvPr/>
        </p:nvSpPr>
        <p:spPr>
          <a:xfrm rot="0">
            <a:off x="3910330" y="5855335"/>
            <a:ext cx="19304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12 </a:t>
            </a:r>
            <a:endParaRPr lang="ko-KR" altLang="en-US" dirty="0" smtClean="0" sz="1056"/>
          </a:p>
        </p:txBody>
      </p:sp>
      <p:sp>
        <p:nvSpPr>
          <p:cNvPr id="1014" name="Rect 3"/>
          <p:cNvSpPr>
            <a:spLocks noGrp="1" noChangeArrowheads="1"/>
          </p:cNvSpPr>
          <p:nvPr/>
        </p:nvSpPr>
        <p:spPr>
          <a:xfrm rot="0">
            <a:off x="2301240" y="5870575"/>
            <a:ext cx="1595120" cy="1981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319"/>
          </a:p>
        </p:txBody>
      </p:sp>
      <p:sp>
        <p:nvSpPr>
          <p:cNvPr id="1015" name="Rect 3"/>
          <p:cNvSpPr>
            <a:spLocks noGrp="1" noChangeArrowheads="1"/>
          </p:cNvSpPr>
          <p:nvPr/>
        </p:nvSpPr>
        <p:spPr>
          <a:xfrm rot="0">
            <a:off x="1944370" y="5891530"/>
            <a:ext cx="260350" cy="1955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26 </a:t>
            </a:r>
            <a:endParaRPr lang="ko-KR" altLang="en-US" dirty="0" smtClean="0" sz="1319"/>
          </a:p>
        </p:txBody>
      </p:sp>
      <p:sp>
        <p:nvSpPr>
          <p:cNvPr id="1016" name="Rect 3"/>
          <p:cNvSpPr>
            <a:spLocks noGrp="1" noChangeArrowheads="1"/>
          </p:cNvSpPr>
          <p:nvPr/>
        </p:nvSpPr>
        <p:spPr>
          <a:xfrm rot="0">
            <a:off x="1697990" y="5266690"/>
            <a:ext cx="3304540" cy="802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16 </a:t>
            </a:r>
            <a:endParaRPr lang="ko-KR" altLang="en-US" dirty="0" smtClean="0" sz="131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32 </a:t>
            </a:r>
            <a:endParaRPr lang="ko-KR" altLang="en-US" dirty="0" smtClean="0" sz="1319"/>
          </a:p>
        </p:txBody>
      </p:sp>
      <p:sp>
        <p:nvSpPr>
          <p:cNvPr id="1017" name="Rect 3"/>
          <p:cNvSpPr>
            <a:spLocks noGrp="1" noChangeArrowheads="1"/>
          </p:cNvSpPr>
          <p:nvPr/>
        </p:nvSpPr>
        <p:spPr>
          <a:xfrm rot="0">
            <a:off x="1225550" y="4660265"/>
            <a:ext cx="3414395" cy="14084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31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319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19">
                <a:solidFill>
                  <a:srgbClr val="000000"/>
                </a:solidFill>
                <a:latin typeface="Arial"/>
                <a:ea typeface="Arial"/>
              </a:rPr>
              <a:t>65 </a:t>
            </a:r>
            <a:endParaRPr lang="ko-KR" altLang="en-US" dirty="0" smtClean="0" sz="1319"/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30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6.3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Inserting into a Min-Heap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Deleting from a Min-Heap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Building a Heap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Inserting into a Min-Heap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about the heap data structure besides touching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upon the concept of storage of complete binary tree in an array. For the study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parent-child relationship, the ‘2i and 2i+1 scheme’ was used. Then we changed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focus to heap and found it best for the priority queues. In the previous lecture, we did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really discuss the uses of heap. Rather, most of the discussion remained focused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insertion method in the binary tree employed at the time of implementation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help of an array. After inserting a new element in the array and by moving few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elements, a programmer can have minimum or maximum heap. In case of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heap, the minimum value in the tree is always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tree. However, in case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maximum heap, the maximum value in the tree lies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insert a new element in the tree implemented with the help of an array,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element at the last position (of the array). Due to this insertion at the end,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order may be violated. Therefore, we start moving this element upwards. While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moving upward, this element may reach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tree. It is important to note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only one branch of the tree is affected because of this movement in the upward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direction. This process, being of localized nature, will not disturb the entire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recap, see the figure Fig 30.1, where we are inserting an element 15. </a:t>
            </a:r>
            <a:endParaRPr lang="ko-KR" altLang="en-US" dirty="0" smtClean="0" sz="1056"/>
          </a:p>
          <a:p>
            <a:pPr marL="0" indent="0" defTabSz="15240" algn="l">
              <a:lnSpc>
                <a:spcPts val="2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359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53185" y="1136650"/>
            <a:ext cx="4172585" cy="18288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2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53185" y="3105785"/>
            <a:ext cx="3953510" cy="8839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2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341120" y="5334000"/>
            <a:ext cx="4032250" cy="17614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2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02080" y="7196455"/>
            <a:ext cx="3822065" cy="8502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2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Insert (15)</a:t>
            </a:r>
            <a:endParaRPr lang="ko-KR" altLang="en-US" dirty="0" smtClean="0" sz="824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with exchange</a:t>
            </a:r>
            <a:endParaRPr lang="ko-KR" altLang="en-US" dirty="0" smtClean="0" sz="824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24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24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24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24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24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5" b="1">
                <a:solidFill>
                  <a:srgbClr val="000000"/>
                </a:solidFill>
                <a:latin typeface="Arial"/>
              </a:rPr>
              <a:t>Fig 30.1</a:t>
            </a:r>
            <a:endParaRPr lang="ko-KR" altLang="en-US" dirty="0" smtClean="0" sz="965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element 15 is inserted at the last array position 12. Being a complete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tree, the next new node will be the left child of node 19. As node 19 is at array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6 (or level order traversal), its left child will be 6 * 2 = 12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node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at 12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in the array. Now, we see where we will have to carry out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exchange operation. As the parent of 15, the number 19 is greater than it,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exchange will be among 19 and 15 as shown in the above figure. After exchange,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figure is shown in Fig 30.2.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Insert (15)</a:t>
            </a:r>
            <a:endParaRPr lang="ko-KR" altLang="en-US" dirty="0" smtClean="0" sz="794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with exchange</a:t>
            </a:r>
            <a:endParaRPr lang="ko-KR" altLang="en-US" dirty="0" smtClean="0" sz="794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94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794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794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794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794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9" b="1">
                <a:solidFill>
                  <a:srgbClr val="000000"/>
                </a:solidFill>
                <a:latin typeface="Arial"/>
              </a:rPr>
              <a:t>Fig 30.2</a:t>
            </a:r>
            <a:endParaRPr lang="ko-KR" altLang="en-US" dirty="0" smtClean="0" sz="929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that both the elements have exchanged positions i.e. 19 has come down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15 gone up. But number 15 is still less than its parent 16, so we will have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exchange operation.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360 of 519 </a:t>
            </a:r>
            <a:endParaRPr lang="ko-KR" altLang="en-US" dirty="0" smtClean="0" sz="1056"/>
          </a:p>
        </p:txBody>
      </p:sp>
      <p:sp>
        <p:nvSpPr>
          <p:cNvPr id="1022" name="Rect 3"/>
          <p:cNvSpPr>
            <a:spLocks noGrp="1" noChangeArrowheads="1"/>
          </p:cNvSpPr>
          <p:nvPr/>
        </p:nvSpPr>
        <p:spPr>
          <a:xfrm rot="0">
            <a:off x="3855720" y="6858000"/>
            <a:ext cx="162560" cy="1403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929"/>
          </a:p>
        </p:txBody>
      </p:sp>
      <p:sp>
        <p:nvSpPr>
          <p:cNvPr id="1023" name="Rect 3"/>
          <p:cNvSpPr>
            <a:spLocks noGrp="1" noChangeArrowheads="1"/>
          </p:cNvSpPr>
          <p:nvPr/>
        </p:nvSpPr>
        <p:spPr>
          <a:xfrm rot="0">
            <a:off x="3642360" y="6784975"/>
            <a:ext cx="140970" cy="118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94"/>
          </a:p>
        </p:txBody>
      </p:sp>
      <p:sp>
        <p:nvSpPr>
          <p:cNvPr id="1024" name="Rect 3"/>
          <p:cNvSpPr>
            <a:spLocks noGrp="1" noChangeArrowheads="1"/>
          </p:cNvSpPr>
          <p:nvPr/>
        </p:nvSpPr>
        <p:spPr>
          <a:xfrm rot="0">
            <a:off x="2584450" y="2651760"/>
            <a:ext cx="1296670" cy="4346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929"/>
          </a:p>
        </p:txBody>
      </p:sp>
      <p:sp>
        <p:nvSpPr>
          <p:cNvPr id="1025" name="Rect 3"/>
          <p:cNvSpPr>
            <a:spLocks noGrp="1" noChangeArrowheads="1"/>
          </p:cNvSpPr>
          <p:nvPr/>
        </p:nvSpPr>
        <p:spPr>
          <a:xfrm rot="0">
            <a:off x="2407920" y="2719070"/>
            <a:ext cx="1713865" cy="41630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965"/>
          </a:p>
          <a:p>
            <a:pPr marL="0" indent="0" defTabSz="15240" algn="l">
              <a:lnSpc>
                <a:spcPts val="30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794"/>
          </a:p>
        </p:txBody>
      </p:sp>
      <p:sp>
        <p:nvSpPr>
          <p:cNvPr id="1026" name="Rect 3"/>
          <p:cNvSpPr>
            <a:spLocks noGrp="1" noChangeArrowheads="1"/>
          </p:cNvSpPr>
          <p:nvPr/>
        </p:nvSpPr>
        <p:spPr>
          <a:xfrm rot="0">
            <a:off x="2164080" y="2621280"/>
            <a:ext cx="440055" cy="4377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24"/>
          </a:p>
          <a:p>
            <a:pPr marL="0" indent="0" defTabSz="15240" algn="l">
              <a:lnSpc>
                <a:spcPts val="3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929"/>
          </a:p>
        </p:txBody>
      </p:sp>
      <p:sp>
        <p:nvSpPr>
          <p:cNvPr id="1027" name="Rect 3"/>
          <p:cNvSpPr>
            <a:spLocks noGrp="1" noChangeArrowheads="1"/>
          </p:cNvSpPr>
          <p:nvPr/>
        </p:nvSpPr>
        <p:spPr>
          <a:xfrm rot="0">
            <a:off x="1950720" y="1222375"/>
            <a:ext cx="2683510" cy="56813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965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24"/>
          </a:p>
          <a:p>
            <a:pPr marL="0" indent="0" defTabSz="15240"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24"/>
          </a:p>
          <a:p>
            <a:pPr marL="0" indent="0" defTabSz="15240" algn="l">
              <a:lnSpc>
                <a:spcPts val="20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929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794"/>
          </a:p>
          <a:p>
            <a:pPr marL="0" indent="0" defTabSz="15240" algn="l">
              <a:lnSpc>
                <a:spcPts val="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794"/>
          </a:p>
        </p:txBody>
      </p:sp>
      <p:sp>
        <p:nvSpPr>
          <p:cNvPr id="1028" name="Rect 3"/>
          <p:cNvSpPr>
            <a:spLocks noGrp="1" noChangeArrowheads="1"/>
          </p:cNvSpPr>
          <p:nvPr/>
        </p:nvSpPr>
        <p:spPr>
          <a:xfrm rot="0">
            <a:off x="1444625" y="1243330"/>
            <a:ext cx="3990975" cy="66294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24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6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65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965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965"/>
          </a:p>
          <a:p>
            <a:pPr marL="0" indent="0" defTabSz="15240" algn="l">
              <a:lnSpc>
                <a:spcPts val="6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4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824"/>
          </a:p>
          <a:p>
            <a:pPr marL="0" indent="0" defTabSz="15240" algn="l">
              <a:lnSpc>
                <a:spcPts val="1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94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2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2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29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929"/>
          </a:p>
          <a:p>
            <a:pPr marL="0" indent="0" defTabSz="15240" algn="l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4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794"/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37945" y="1136650"/>
            <a:ext cx="3980815" cy="19234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3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56360" y="3136265"/>
            <a:ext cx="3773170" cy="929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3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337945" y="5105400"/>
            <a:ext cx="3980815" cy="18529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31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38910" y="7028815"/>
            <a:ext cx="3773170" cy="8959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Insert (15)</a:t>
            </a:r>
            <a:endParaRPr lang="ko-KR" altLang="en-US" dirty="0" smtClean="0" sz="867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with exchange</a:t>
            </a:r>
            <a:endParaRPr lang="ko-KR" altLang="en-US" dirty="0" smtClean="0" sz="867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67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67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67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867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67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15" b="1">
                <a:solidFill>
                  <a:srgbClr val="000000"/>
                </a:solidFill>
                <a:latin typeface="Arial"/>
              </a:rPr>
              <a:t>Fig 30.3</a:t>
            </a:r>
            <a:endParaRPr lang="ko-KR" altLang="en-US" dirty="0" smtClean="0" sz="1015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new parent of 15 is 13 which is less than it. Therefore, the exchange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will stop here as 15 has found its destination in the tree. This new tree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violating any condition of heap order as witnessed before insertion of 15. It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min-heap again while maintaining its status as a complete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Insert (15)</a:t>
            </a:r>
            <a:endParaRPr lang="ko-KR" altLang="en-US" dirty="0" smtClean="0" sz="835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with exchange</a:t>
            </a:r>
            <a:endParaRPr lang="ko-KR" altLang="en-US" dirty="0" smtClean="0" sz="835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35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35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35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835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35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77" b="1">
                <a:solidFill>
                  <a:srgbClr val="000000"/>
                </a:solidFill>
                <a:latin typeface="Arial"/>
              </a:rPr>
              <a:t>Fig 30.4</a:t>
            </a:r>
            <a:endParaRPr lang="ko-KR" altLang="en-US" dirty="0" smtClean="0" sz="977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view of the path shows that the number 15 has gone through to find its final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destination in the tree. It has only affected the right sub-tree’s left branch that was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16, 19 and 15. It has not affected any other branch. This is not a binary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361 of 519 </a:t>
            </a:r>
            <a:endParaRPr lang="ko-KR" altLang="en-US" dirty="0" smtClean="0" sz="1056"/>
          </a:p>
        </p:txBody>
      </p:sp>
      <p:sp>
        <p:nvSpPr>
          <p:cNvPr id="1031" name="Rect 3"/>
          <p:cNvSpPr>
            <a:spLocks noGrp="1" noChangeArrowheads="1"/>
          </p:cNvSpPr>
          <p:nvPr/>
        </p:nvSpPr>
        <p:spPr>
          <a:xfrm rot="0">
            <a:off x="3605530" y="2731135"/>
            <a:ext cx="150495" cy="40322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0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35"/>
          </a:p>
        </p:txBody>
      </p:sp>
      <p:sp>
        <p:nvSpPr>
          <p:cNvPr id="1032" name="Rect 3"/>
          <p:cNvSpPr>
            <a:spLocks noGrp="1" noChangeArrowheads="1"/>
          </p:cNvSpPr>
          <p:nvPr/>
        </p:nvSpPr>
        <p:spPr>
          <a:xfrm rot="0">
            <a:off x="2566670" y="2804160"/>
            <a:ext cx="1421130" cy="40506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1015"/>
          </a:p>
          <a:p>
            <a:pPr marL="0" indent="0" defTabSz="15240" algn="l">
              <a:lnSpc>
                <a:spcPts val="29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977"/>
          </a:p>
        </p:txBody>
      </p:sp>
      <p:sp>
        <p:nvSpPr>
          <p:cNvPr id="1033" name="Rect 3"/>
          <p:cNvSpPr>
            <a:spLocks noGrp="1" noChangeArrowheads="1"/>
          </p:cNvSpPr>
          <p:nvPr/>
        </p:nvSpPr>
        <p:spPr>
          <a:xfrm rot="0">
            <a:off x="2386330" y="2700655"/>
            <a:ext cx="150495" cy="40322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67"/>
          </a:p>
          <a:p>
            <a:pPr marL="0" indent="0" defTabSz="15240" algn="l">
              <a:lnSpc>
                <a:spcPts val="29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35"/>
          </a:p>
        </p:txBody>
      </p:sp>
      <p:sp>
        <p:nvSpPr>
          <p:cNvPr id="1034" name="Rect 3"/>
          <p:cNvSpPr>
            <a:spLocks noGrp="1" noChangeArrowheads="1"/>
          </p:cNvSpPr>
          <p:nvPr/>
        </p:nvSpPr>
        <p:spPr>
          <a:xfrm rot="0">
            <a:off x="1938655" y="1225550"/>
            <a:ext cx="2536825" cy="55378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1015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67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67"/>
          </a:p>
          <a:p>
            <a:pPr marL="0" indent="0" defTabSz="15240" algn="l">
              <a:lnSpc>
                <a:spcPts val="18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977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35"/>
          </a:p>
          <a:p>
            <a:pPr marL="0" indent="0" defTabSz="15240" algn="l">
              <a:lnSpc>
                <a:spcPts val="7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35"/>
          </a:p>
        </p:txBody>
      </p:sp>
      <p:sp>
        <p:nvSpPr>
          <p:cNvPr id="1035" name="Rect 3"/>
          <p:cNvSpPr>
            <a:spLocks noGrp="1" noChangeArrowheads="1"/>
          </p:cNvSpPr>
          <p:nvPr/>
        </p:nvSpPr>
        <p:spPr>
          <a:xfrm rot="0">
            <a:off x="1438910" y="1249680"/>
            <a:ext cx="3801745" cy="64890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67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015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1015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1015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1015"/>
          </a:p>
          <a:p>
            <a:pPr marL="0" indent="0" defTabSz="15240" algn="l">
              <a:lnSpc>
                <a:spcPts val="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67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867"/>
          </a:p>
          <a:p>
            <a:pPr marL="0" indent="0" defTabSz="15240"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3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977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77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977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977"/>
          </a:p>
          <a:p>
            <a:pPr marL="0" indent="0" defTabSz="15240" algn="l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5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835"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94105" y="4922520"/>
            <a:ext cx="4389120" cy="20148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tree. Here we are only fulfilling one condition that the parent value should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that of its two-children. These exchanges will not take long as we did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mathematically that a tree containing N nodes; can go to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 level maximum. You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know, when we built binary tree for balancing, it had turned into a linked list.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case is different. the number of levels in complete binary tree will be around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 while building a complete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should be clear that a new element can go up to what maximum level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If the number is greater than all parent nodes, it will be already at its destination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place, needing no exchange. If we insert a number smaller than all parent nodes,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exchange operation reaches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tree. But this exchange operation’s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intensity does not increase from the one we saw in our previous case of linked lists.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Deleting from a Min-Heap (deleteMin)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will see how the delete operation is executed in the heap. We do a lot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and delete (removal from the data structure) operations especially when heap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used in the priority queue. Normally the delete operation is a bit complex. However,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it is quite easy-to-do.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write a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deleteMin(),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will find and delete the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from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Finding the minimum is easy; it is at the top of the heap.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heap below. It is a min-heap. Now the question arises where the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will be lying. It is clear from the definition of min-heap that it should be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tree. So finding the minimum is very easy.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908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908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90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90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63" b="1">
                <a:solidFill>
                  <a:srgbClr val="000000"/>
                </a:solidFill>
                <a:latin typeface="Arial"/>
              </a:rPr>
              <a:t>Fig 30.5</a:t>
            </a:r>
            <a:endParaRPr lang="ko-KR" altLang="en-US" dirty="0" smtClean="0" sz="1063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understand it better, consider the tree form first, instead of thinking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Remember, we have implemented the complete binary tree with the help of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for the sake of efficiency. It is not necessary to implement it this way.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implement it with pointers. However, heap is normally implemented through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Coming back to the deletion, it is necessary to understand that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Deletion  (or removal) causes a hole which needs to be filled.</a:t>
            </a:r>
            <a:endParaRPr lang="ko-KR" altLang="en-US" dirty="0" smtClean="0" sz="1056" i="1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362 of 519 </a:t>
            </a:r>
            <a:endParaRPr lang="ko-KR" altLang="en-US" dirty="0" smtClean="0" sz="1056"/>
          </a:p>
        </p:txBody>
      </p:sp>
      <p:sp>
        <p:nvSpPr>
          <p:cNvPr id="1038" name="Rect 3"/>
          <p:cNvSpPr>
            <a:spLocks noGrp="1" noChangeArrowheads="1"/>
          </p:cNvSpPr>
          <p:nvPr/>
        </p:nvSpPr>
        <p:spPr>
          <a:xfrm rot="0">
            <a:off x="2450465" y="6668770"/>
            <a:ext cx="1007110" cy="158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1063"/>
          </a:p>
        </p:txBody>
      </p:sp>
      <p:sp>
        <p:nvSpPr>
          <p:cNvPr id="1039" name="Rect 3"/>
          <p:cNvSpPr>
            <a:spLocks noGrp="1" noChangeArrowheads="1"/>
          </p:cNvSpPr>
          <p:nvPr/>
        </p:nvSpPr>
        <p:spPr>
          <a:xfrm rot="0">
            <a:off x="2255520" y="6559550"/>
            <a:ext cx="156210" cy="1371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908"/>
          </a:p>
        </p:txBody>
      </p:sp>
      <p:sp>
        <p:nvSpPr>
          <p:cNvPr id="1040" name="Rect 3"/>
          <p:cNvSpPr>
            <a:spLocks noGrp="1" noChangeArrowheads="1"/>
          </p:cNvSpPr>
          <p:nvPr/>
        </p:nvSpPr>
        <p:spPr>
          <a:xfrm rot="0">
            <a:off x="1758950" y="5474335"/>
            <a:ext cx="2792730" cy="12465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908"/>
          </a:p>
          <a:p>
            <a:pPr marL="0" indent="0" defTabSz="15240" algn="l">
              <a:lnSpc>
                <a:spcPts val="7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908"/>
          </a:p>
        </p:txBody>
      </p:sp>
      <p:sp>
        <p:nvSpPr>
          <p:cNvPr id="1041" name="Rect 3"/>
          <p:cNvSpPr>
            <a:spLocks noGrp="1" noChangeArrowheads="1"/>
          </p:cNvSpPr>
          <p:nvPr/>
        </p:nvSpPr>
        <p:spPr>
          <a:xfrm rot="0">
            <a:off x="1210310" y="5017135"/>
            <a:ext cx="4179570" cy="18103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1063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63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908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1063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063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1063"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51890" y="1136650"/>
            <a:ext cx="4328160" cy="19875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4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49350" y="4580890"/>
            <a:ext cx="4251960" cy="19691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4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deleteMin()</a:t>
            </a:r>
            <a:endParaRPr lang="ko-KR" altLang="en-US" dirty="0" smtClean="0" sz="89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9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9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9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49" b="1">
                <a:solidFill>
                  <a:srgbClr val="000000"/>
                </a:solidFill>
                <a:latin typeface="Arial"/>
              </a:rPr>
              <a:t>Fig 30.6</a:t>
            </a:r>
            <a:endParaRPr lang="ko-KR" altLang="en-US" dirty="0" smtClean="0" sz="1049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we have deleted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node, resulting in a hole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root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To maintain it as a complete binary tree, we have to fill this hole. Now,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identify the appropriate candidates to fill this hole. As the parent is the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compared to its right and left children, the appropriate candidates are both right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children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Both children will be compared and the smaller one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vacant place. In the above figure, the children 14 and 16 are candidates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vacant position. Being the minimum, 14 will be put in the hole.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deleteMin()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04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88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8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8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40" b="1">
                <a:solidFill>
                  <a:srgbClr val="000000"/>
                </a:solidFill>
                <a:latin typeface="Arial"/>
              </a:rPr>
              <a:t>Fig 30.7</a:t>
            </a:r>
            <a:endParaRPr lang="ko-KR" altLang="en-US" dirty="0" smtClean="0" sz="1040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Fig 30.7, we can see that the 14 has been placed 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However,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vacuum at the previous position of 14 has created a hole. To fill this hole,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logic is applied i.e. we compare both right and left children of the hole and let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minimum take over the place. Here 24 and 21 are compared. Being the smaller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one, 21 is placed at the vacant position. This way we get the latest figure of the tree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seen in the following figure. (Fig 30.8.) </a:t>
            </a:r>
            <a:endParaRPr lang="ko-KR" altLang="en-US" dirty="0" smtClean="0" sz="1056"/>
          </a:p>
          <a:p>
            <a:pPr marL="0" indent="0" defTabSz="15240" algn="l">
              <a:lnSpc>
                <a:spcPts val="9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363 of 519 </a:t>
            </a:r>
            <a:endParaRPr lang="ko-KR" altLang="en-US" dirty="0" smtClean="0" sz="1056"/>
          </a:p>
        </p:txBody>
      </p:sp>
      <p:sp>
        <p:nvSpPr>
          <p:cNvPr id="1044" name="Rect 3"/>
          <p:cNvSpPr>
            <a:spLocks noGrp="1" noChangeArrowheads="1"/>
          </p:cNvSpPr>
          <p:nvPr/>
        </p:nvSpPr>
        <p:spPr>
          <a:xfrm rot="0">
            <a:off x="2462530" y="2858770"/>
            <a:ext cx="1022350" cy="35814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1049"/>
          </a:p>
          <a:p>
            <a:pPr marL="0" indent="0" defTabSz="15240" algn="l">
              <a:lnSpc>
                <a:spcPts val="2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1040"/>
          </a:p>
        </p:txBody>
      </p:sp>
      <p:sp>
        <p:nvSpPr>
          <p:cNvPr id="1045" name="Rect 3"/>
          <p:cNvSpPr>
            <a:spLocks noGrp="1" noChangeArrowheads="1"/>
          </p:cNvSpPr>
          <p:nvPr/>
        </p:nvSpPr>
        <p:spPr>
          <a:xfrm rot="0">
            <a:off x="2273935" y="2752090"/>
            <a:ext cx="177800" cy="35604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96"/>
          </a:p>
          <a:p>
            <a:pPr marL="0" indent="0" defTabSz="15240" algn="l">
              <a:lnSpc>
                <a:spcPts val="2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88"/>
          </a:p>
        </p:txBody>
      </p:sp>
      <p:sp>
        <p:nvSpPr>
          <p:cNvPr id="1046" name="Rect 3"/>
          <p:cNvSpPr>
            <a:spLocks noGrp="1" noChangeArrowheads="1"/>
          </p:cNvSpPr>
          <p:nvPr/>
        </p:nvSpPr>
        <p:spPr>
          <a:xfrm rot="0">
            <a:off x="1795145" y="1679575"/>
            <a:ext cx="2985135" cy="46570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96"/>
          </a:p>
          <a:p>
            <a:pPr marL="0" indent="0" defTabSz="15240" algn="l">
              <a:lnSpc>
                <a:spcPts val="7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96"/>
          </a:p>
          <a:p>
            <a:pPr marL="0" indent="0" defTabSz="15240" algn="l">
              <a:lnSpc>
                <a:spcPts val="1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40"/>
          </a:p>
          <a:p>
            <a:pPr marL="0" indent="0" defTabSz="15240" algn="l">
              <a:lnSpc>
                <a:spcPts val="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888"/>
          </a:p>
        </p:txBody>
      </p:sp>
      <p:sp>
        <p:nvSpPr>
          <p:cNvPr id="1047" name="Rect 3"/>
          <p:cNvSpPr>
            <a:spLocks noGrp="1" noChangeArrowheads="1"/>
          </p:cNvSpPr>
          <p:nvPr/>
        </p:nvSpPr>
        <p:spPr>
          <a:xfrm rot="0">
            <a:off x="1261745" y="1252855"/>
            <a:ext cx="4128135" cy="51873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9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4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896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1049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049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1049"/>
          </a:p>
          <a:p>
            <a:pPr marL="0" indent="0" defTabSz="15240" algn="l">
              <a:lnSpc>
                <a:spcPts val="1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88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88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888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1040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040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1040"/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46175" y="1136650"/>
            <a:ext cx="4117975" cy="18872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5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55065" y="3992880"/>
            <a:ext cx="4395470" cy="20421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deleteMin()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995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50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50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50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95" b="1">
                <a:solidFill>
                  <a:srgbClr val="000000"/>
                </a:solidFill>
                <a:latin typeface="Arial"/>
              </a:rPr>
              <a:t>Fig 30.8</a:t>
            </a:r>
            <a:endParaRPr lang="ko-KR" altLang="en-US" dirty="0" smtClean="0" sz="995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hole is now created at previous position of 21. This time, the children- 32 and 31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compared and being smaller, 31 takes over the place and the tree becomes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figure Fig 30.9.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deleteMin()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078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92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92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92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78" b="1">
                <a:solidFill>
                  <a:srgbClr val="000000"/>
                </a:solidFill>
                <a:latin typeface="Arial"/>
              </a:rPr>
              <a:t>Fig 30.9</a:t>
            </a:r>
            <a:endParaRPr lang="ko-KR" altLang="en-US" dirty="0" smtClean="0" sz="1078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hole has been transferred from top to the bottom. It has reached at such a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it can be deleted.  </a:t>
            </a:r>
            <a:endParaRPr lang="ko-KR" altLang="en-US" dirty="0" smtClean="0" sz="1056"/>
          </a:p>
          <a:p>
            <a:pPr marL="0" indent="0" defTabSz="15240" algn="l">
              <a:lnSpc>
                <a:spcPts val="18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364 of 519 </a:t>
            </a:r>
            <a:endParaRPr lang="ko-KR" altLang="en-US" dirty="0" smtClean="0" sz="1056"/>
          </a:p>
        </p:txBody>
      </p:sp>
      <p:sp>
        <p:nvSpPr>
          <p:cNvPr id="1050" name="Rect 3"/>
          <p:cNvSpPr>
            <a:spLocks noGrp="1" noChangeArrowheads="1"/>
          </p:cNvSpPr>
          <p:nvPr/>
        </p:nvSpPr>
        <p:spPr>
          <a:xfrm rot="0">
            <a:off x="2416810" y="2770505"/>
            <a:ext cx="949325" cy="31515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31</a:t>
            </a:r>
            <a:endParaRPr lang="ko-KR" altLang="en-US" dirty="0" smtClean="0" sz="995"/>
          </a:p>
          <a:p>
            <a:pPr marL="0" indent="0" defTabSz="15240" algn="l">
              <a:lnSpc>
                <a:spcPts val="2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1078"/>
          </a:p>
        </p:txBody>
      </p:sp>
      <p:sp>
        <p:nvSpPr>
          <p:cNvPr id="1051" name="Rect 3"/>
          <p:cNvSpPr>
            <a:spLocks noGrp="1" noChangeArrowheads="1"/>
          </p:cNvSpPr>
          <p:nvPr/>
        </p:nvSpPr>
        <p:spPr>
          <a:xfrm rot="0">
            <a:off x="2233930" y="2670175"/>
            <a:ext cx="241935" cy="31178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50"/>
          </a:p>
          <a:p>
            <a:pPr marL="0" indent="0" defTabSz="15240" algn="l">
              <a:lnSpc>
                <a:spcPts val="2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921"/>
          </a:p>
        </p:txBody>
      </p:sp>
      <p:sp>
        <p:nvSpPr>
          <p:cNvPr id="1052" name="Rect 3"/>
          <p:cNvSpPr>
            <a:spLocks noGrp="1" noChangeArrowheads="1"/>
          </p:cNvSpPr>
          <p:nvPr/>
        </p:nvSpPr>
        <p:spPr>
          <a:xfrm rot="0">
            <a:off x="1771015" y="1652270"/>
            <a:ext cx="2844800" cy="41605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50"/>
          </a:p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50"/>
          </a:p>
          <a:p>
            <a:pPr marL="0" indent="0" defTabSz="15240" algn="l">
              <a:lnSpc>
                <a:spcPts val="1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921"/>
          </a:p>
          <a:p>
            <a:pPr marL="0" indent="0" defTabSz="15240" algn="l">
              <a:lnSpc>
                <a:spcPts val="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921"/>
          </a:p>
        </p:txBody>
      </p:sp>
      <p:sp>
        <p:nvSpPr>
          <p:cNvPr id="1053" name="Rect 3"/>
          <p:cNvSpPr>
            <a:spLocks noGrp="1" noChangeArrowheads="1"/>
          </p:cNvSpPr>
          <p:nvPr/>
        </p:nvSpPr>
        <p:spPr>
          <a:xfrm rot="0">
            <a:off x="1252855" y="1246505"/>
            <a:ext cx="4204335" cy="46755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50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95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9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995"/>
          </a:p>
          <a:p>
            <a:pPr marL="0" indent="0" defTabSz="15240" algn="l">
              <a:lnSpc>
                <a:spcPts val="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92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078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92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1078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078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1078"/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31265" y="1136650"/>
            <a:ext cx="4203065" cy="18872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5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deleteMin(): heap size is reduced by 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995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50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50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50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95" b="1">
                <a:solidFill>
                  <a:srgbClr val="000000"/>
                </a:solidFill>
                <a:latin typeface="Arial"/>
              </a:rPr>
              <a:t>Fig 30.10</a:t>
            </a:r>
            <a:endParaRPr lang="ko-KR" altLang="en-US" dirty="0" smtClean="0" sz="995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using array to store complete binary tree, we can free array element at the end.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above figure Fig 30.10, the last array index 11 is no more there and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been deleted.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saw that the data element was inserted at the bottom of the tree and moved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upwards while comparing it with the parents (following the i/2 scheme) until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destination was found. Similarly, when we deleted a node, the hole was produced.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following the definition of min-heap, the hole kept on moving from top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bottom (following the 2i or 2i+1 scheme). </a:t>
            </a:r>
            <a:endParaRPr lang="ko-KR" altLang="en-US" dirty="0" smtClean="0" sz="1056"/>
          </a:p>
          <a:p>
            <a:pPr marL="0" indent="0" defTabSz="15240" algn="l">
              <a:lnSpc>
                <a:spcPts val="3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365 of 519 </a:t>
            </a:r>
            <a:endParaRPr lang="ko-KR" altLang="en-US" dirty="0" smtClean="0" sz="1056"/>
          </a:p>
        </p:txBody>
      </p:sp>
      <p:sp>
        <p:nvSpPr>
          <p:cNvPr id="1056" name="Rect 3"/>
          <p:cNvSpPr>
            <a:spLocks noGrp="1" noChangeArrowheads="1"/>
          </p:cNvSpPr>
          <p:nvPr/>
        </p:nvSpPr>
        <p:spPr>
          <a:xfrm rot="0">
            <a:off x="2529840" y="2770505"/>
            <a:ext cx="17145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995"/>
          </a:p>
        </p:txBody>
      </p:sp>
      <p:sp>
        <p:nvSpPr>
          <p:cNvPr id="1057" name="Rect 3"/>
          <p:cNvSpPr>
            <a:spLocks noGrp="1" noChangeArrowheads="1"/>
          </p:cNvSpPr>
          <p:nvPr/>
        </p:nvSpPr>
        <p:spPr>
          <a:xfrm rot="0">
            <a:off x="2340610" y="2670175"/>
            <a:ext cx="150495" cy="1276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50"/>
          </a:p>
        </p:txBody>
      </p:sp>
      <p:sp>
        <p:nvSpPr>
          <p:cNvPr id="1058" name="Rect 3"/>
          <p:cNvSpPr>
            <a:spLocks noGrp="1" noChangeArrowheads="1"/>
          </p:cNvSpPr>
          <p:nvPr/>
        </p:nvSpPr>
        <p:spPr>
          <a:xfrm rot="0">
            <a:off x="1868170" y="1652270"/>
            <a:ext cx="2671445" cy="11671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50"/>
          </a:p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850"/>
          </a:p>
        </p:txBody>
      </p:sp>
      <p:sp>
        <p:nvSpPr>
          <p:cNvPr id="1059" name="Rect 3"/>
          <p:cNvSpPr>
            <a:spLocks noGrp="1" noChangeArrowheads="1"/>
          </p:cNvSpPr>
          <p:nvPr/>
        </p:nvSpPr>
        <p:spPr>
          <a:xfrm rot="0">
            <a:off x="1341120" y="1713230"/>
            <a:ext cx="4003040" cy="12065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95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</a:t>
            </a:r>
            <a:r>
              <a:rPr lang="en-US" altLang="ko-KR" dirty="0" smtClean="0" sz="85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9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995">
                <a:solidFill>
                  <a:srgbClr val="000000"/>
                </a:solidFill>
                <a:latin typeface="Arial"/>
              </a:rPr>
              <a:t>26</a:t>
            </a:r>
            <a:endParaRPr lang="ko-KR" altLang="en-US" dirty="0" smtClean="0" sz="995"/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Building a Heap (buildHeap)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will see how a heap can be made and in which peculiar conditions, it should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built. We may have the data (for example, numbers) on hand, needed to used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 the tree .These data elements may be acquired one by one to construct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A programmer may face either the situations. If we consider priority queue,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normally empty initially. Events are inserted in the queue as these are received.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also consider priority queue in another application where data can be inserted into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queue or taken out at one time.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Let’s say we have a large unsorted list of names and want to sort it. This list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with the help of the heap sort algorithm. When we l construct the heap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binary tree of the list, the smallest name (considering alphabet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smallest) in the list will take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place in the tree. The remaining names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their places in the nodes below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according to their order.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Remember, we are not constructing binary search tree but a min-heap to sort the data.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construction of the min-heap from all the names in the list, we start taking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elements out (deleting) from the heap in order to retrieve the sorted data.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that is taken out would be the smallest name in the heap. The remaining heap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taking out the deleted node will be reduced by one element in size and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will be at the root position. It is taken out to further reduce the tree size by one.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way, the continuation of the process of taking out the elements from the heap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ultimately lead to a situation when  there is no more node left in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keeping in view the time consumption factor, can we find a better way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this? We may change the data structure or algorithm for that. There are data structures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are more efficient than heap. But at the moment, we are focusing the heap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We will see, what we can do algorithmically to improve the performance,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having all the data simultaneously to construct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are some of the important facts about building a heap.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Suppose we are given as input N keys (or items) to build a heap of the keys.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Obviously, this can be done with N successive inserts.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Each call to insert will either take unit time (leaf node) or log2N (if new key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percolates all the way up to the root). </a:t>
            </a:r>
            <a:endParaRPr lang="ko-KR" altLang="en-US" dirty="0" smtClean="0" sz="1056" i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worst time for building a heap of N keys could be Nlog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It turns out that we can build a heap in linear time.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Suppose we have a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that moves down the key in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downwards.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This is what happens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.We have used the word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first point.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same concept as that of the database keys, used to identify information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uniquely. Using the example of telephone directory (also discussed in a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lectures), we see that it contains the person name (first, middle and last),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(street address, district and postal code) and telephone number. All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together form a data record. This set of information fields (record)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always be together. The key item here can be the unique name of the person or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telephone number.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that we have N number of items i.e. names. One way is to call insert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element one by one. For N elements, it will be N number of calls obviously.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an iterative process, this insertion technique can be executed in a loop fashion.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 time taken to insert a node in the tree. It depends on the value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inserted and the values already present in the tree. The number of exchanges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variable. Therefore, the insertion time is also variable. Each call will be a unit time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4605655"/>
            <a:ext cx="4519930" cy="2317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6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(in case of leaf node) or log2N (if new key percolates all the way up to the root node).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whole tree, the worst time for N keys would be Nlog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point tells about the possibility of reducing the time from Nlog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 and it can turn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to be a linear time. This is our target and we want to achieve it. Let’s talk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ways to achieve the linear time.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word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percolate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above means something is going upward from downward.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terminology is coming from coffee maker, where the hot water moves upwards.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phenomenon happens at the time of insertion. On the contrary, in delete operation,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hole moves towards the bottom of the tree. You must be remembering that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about insertion in the heap without making exchanges and by finding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destination position first before making any change. Similarly in case of deletion,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hole moves downward while the data moves upwards. Let’s write a method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operation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This method will find which child of the hole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moved upwards and the movement of hole to the bottom of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see, using this method, how can we built a heap that will be take lesser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Nlog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N. 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Initial data (N = 15)</a:t>
            </a:r>
            <a:endParaRPr lang="ko-KR" altLang="en-US" dirty="0" smtClean="0" sz="899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99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99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Fig 30.11</a:t>
            </a:r>
            <a:endParaRPr lang="ko-KR" altLang="en-US" dirty="0" smtClean="0" sz="1052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the figure Fig 30.11, we are given a list of 15 elements and asked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 a heap of them. The numbers are stored in an array, starting from index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(position) 1. This start of array from position 1 is to make the tree construction easier.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will be clear in a moment. Contrary to the previous situation when array was used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store heap or complete binary tree, we should now think what would be the picture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complete binary tree out of it. It may seem complex. But actually it is quite easy.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start from the very first element in the array i.e.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tree. The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root are present at 2i and 2i+1, which in this case, are at positions 2(1) = 2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2(1)+1=3. The children nodes for the node at position 2 are at positions 2(2)=4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2(2)+1=5. Similarly, the children nodes for the node at position 3 are at positions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7. Apply this logic to the whole of this array and try to construct a tree yourself.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should build a tree as given in the figure Fig 30.12. </a:t>
            </a:r>
            <a:endParaRPr lang="ko-KR" altLang="en-US" dirty="0" smtClean="0" sz="1056"/>
          </a:p>
          <a:p>
            <a:pPr marL="0" indent="0" defTabSz="15240" algn="l">
              <a:lnSpc>
                <a:spcPts val="1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367 of 519 </a:t>
            </a:r>
            <a:endParaRPr lang="ko-KR" altLang="en-US" dirty="0" smtClean="0" sz="1056"/>
          </a:p>
        </p:txBody>
      </p:sp>
      <p:sp>
        <p:nvSpPr>
          <p:cNvPr id="1064" name="Rect 3"/>
          <p:cNvSpPr>
            <a:spLocks noGrp="1" noChangeArrowheads="1"/>
          </p:cNvSpPr>
          <p:nvPr/>
        </p:nvSpPr>
        <p:spPr>
          <a:xfrm rot="0">
            <a:off x="4465320" y="4849495"/>
            <a:ext cx="1016000" cy="1339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99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99"/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50010" y="3313430"/>
            <a:ext cx="3929380" cy="2133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6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07465" y="1240790"/>
            <a:ext cx="4297680" cy="18072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Initial data (N = 15)</a:t>
            </a:r>
            <a:endParaRPr lang="ko-KR" altLang="en-US" dirty="0" smtClean="0" sz="814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14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14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14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14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14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14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52" b="1">
                <a:solidFill>
                  <a:srgbClr val="000000"/>
                </a:solidFill>
                <a:latin typeface="Arial"/>
              </a:rPr>
              <a:t>Fig 30.12</a:t>
            </a:r>
            <a:endParaRPr lang="ko-KR" altLang="en-US" dirty="0" smtClean="0" sz="952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this tree binary one? Yes, every node has only two left and right children.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it a complete binary tree? It surely is as there is no node that has missing left or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child.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question is; is it a min-heap. By looking at the root node and its children,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 node is containing 65 and the children nodes are containing 31 and 32, you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abruptly say that no, it is not a min-heap.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can we make min-heap out of it? We may look for pe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rcolateDown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).method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convert it into a min-heap. As discussed above,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).moves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down to its destination in the min-heap tree orders. The destination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node, can be its next level or maximum the bottom of the tree (the leaf node).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come down to its true position (destination) as per min-heap order and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(the other data) will be automatically moving in the upward direction.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general algorithm is to place the N keys in an array and consider it to be an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unordered binary tree.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following algorithm will build a heap out of N keys.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for( i = N/2; i &gt; 0; i-- )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percolateDown(i);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close look on the above loop shows that it is starts from N/2 position and goes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 to 0. The loop will be terminated, once the position 0 is reached. Inside,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is a single function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percolateDown(i)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try to understand this loop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figures. </a:t>
            </a:r>
            <a:endParaRPr lang="ko-KR" altLang="en-US" dirty="0" smtClean="0" sz="1056"/>
          </a:p>
          <a:p>
            <a:pPr marL="0" indent="0" defTabSz="15240" algn="l">
              <a:lnSpc>
                <a:spcPts val="1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368 of 519 </a:t>
            </a:r>
            <a:endParaRPr lang="ko-KR" altLang="en-US" dirty="0" smtClean="0" sz="1056"/>
          </a:p>
        </p:txBody>
      </p:sp>
      <p:sp>
        <p:nvSpPr>
          <p:cNvPr id="1067" name="Rect 3"/>
          <p:cNvSpPr>
            <a:spLocks noGrp="1" noChangeArrowheads="1"/>
          </p:cNvSpPr>
          <p:nvPr/>
        </p:nvSpPr>
        <p:spPr>
          <a:xfrm rot="0">
            <a:off x="4794250" y="2764790"/>
            <a:ext cx="732790" cy="1428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952"/>
          </a:p>
        </p:txBody>
      </p:sp>
      <p:sp>
        <p:nvSpPr>
          <p:cNvPr id="1068" name="Rect 3"/>
          <p:cNvSpPr>
            <a:spLocks noGrp="1" noChangeArrowheads="1"/>
          </p:cNvSpPr>
          <p:nvPr/>
        </p:nvSpPr>
        <p:spPr>
          <a:xfrm rot="0">
            <a:off x="4611370" y="2691130"/>
            <a:ext cx="690245" cy="119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14"/>
          </a:p>
        </p:txBody>
      </p:sp>
      <p:sp>
        <p:nvSpPr>
          <p:cNvPr id="1069" name="Rect 3"/>
          <p:cNvSpPr>
            <a:spLocks noGrp="1" noChangeArrowheads="1"/>
          </p:cNvSpPr>
          <p:nvPr/>
        </p:nvSpPr>
        <p:spPr>
          <a:xfrm rot="0">
            <a:off x="4380230" y="2785745"/>
            <a:ext cx="92075" cy="1403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952"/>
          </a:p>
        </p:txBody>
      </p:sp>
      <p:sp>
        <p:nvSpPr>
          <p:cNvPr id="1070" name="Rect 3"/>
          <p:cNvSpPr>
            <a:spLocks noGrp="1" noChangeArrowheads="1"/>
          </p:cNvSpPr>
          <p:nvPr/>
        </p:nvSpPr>
        <p:spPr>
          <a:xfrm rot="0">
            <a:off x="3526790" y="2736850"/>
            <a:ext cx="144145" cy="121920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1071" name="Rect 3"/>
          <p:cNvSpPr>
            <a:spLocks noGrp="1" noChangeArrowheads="1"/>
          </p:cNvSpPr>
          <p:nvPr/>
        </p:nvSpPr>
        <p:spPr>
          <a:xfrm rot="0">
            <a:off x="2508250" y="2804160"/>
            <a:ext cx="1388110" cy="1435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52"/>
          </a:p>
        </p:txBody>
      </p:sp>
      <p:sp>
        <p:nvSpPr>
          <p:cNvPr id="1072" name="Rect 3"/>
          <p:cNvSpPr>
            <a:spLocks noGrp="1" noChangeArrowheads="1"/>
          </p:cNvSpPr>
          <p:nvPr/>
        </p:nvSpPr>
        <p:spPr>
          <a:xfrm rot="0">
            <a:off x="2338070" y="2706370"/>
            <a:ext cx="1954530" cy="121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14"/>
          </a:p>
        </p:txBody>
      </p:sp>
      <p:sp>
        <p:nvSpPr>
          <p:cNvPr id="1073" name="Rect 3"/>
          <p:cNvSpPr>
            <a:spLocks noGrp="1" noChangeArrowheads="1"/>
          </p:cNvSpPr>
          <p:nvPr/>
        </p:nvSpPr>
        <p:spPr>
          <a:xfrm rot="0">
            <a:off x="1896110" y="1734185"/>
            <a:ext cx="2479040" cy="11245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14"/>
          </a:p>
          <a:p>
            <a:pPr marL="0" indent="0" defTabSz="15240" algn="l">
              <a:lnSpc>
                <a:spcPts val="6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14"/>
          </a:p>
        </p:txBody>
      </p:sp>
      <p:sp>
        <p:nvSpPr>
          <p:cNvPr id="1074" name="Rect 3"/>
          <p:cNvSpPr>
            <a:spLocks noGrp="1" noChangeArrowheads="1"/>
          </p:cNvSpPr>
          <p:nvPr/>
        </p:nvSpPr>
        <p:spPr>
          <a:xfrm rot="0">
            <a:off x="1408430" y="1325880"/>
            <a:ext cx="3822700" cy="2331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952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952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52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952">
                <a:solidFill>
                  <a:srgbClr val="000000"/>
                </a:solidFill>
                <a:latin typeface="Arial"/>
              </a:rPr>
              <a:t>24</a:t>
            </a:r>
            <a:endParaRPr lang="ko-KR" altLang="en-US" dirty="0" smtClean="0" sz="952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14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14"/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55065" y="3270250"/>
            <a:ext cx="3761105" cy="2076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7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115695" y="1240790"/>
            <a:ext cx="4468495" cy="17678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77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64590" y="7510145"/>
            <a:ext cx="4010660" cy="2133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77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121410" y="5401310"/>
            <a:ext cx="4389120" cy="18376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7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i = 15/2 = 7</a:t>
            </a:r>
            <a:endParaRPr lang="ko-KR" altLang="en-US" dirty="0" smtClean="0" sz="797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97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97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797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797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797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68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97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797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33" b="1">
                <a:solidFill>
                  <a:srgbClr val="000000"/>
                </a:solidFill>
                <a:latin typeface="Arial"/>
              </a:rPr>
              <a:t>Fig 30.13</a:t>
            </a:r>
            <a:endParaRPr lang="ko-KR" altLang="en-US" dirty="0" smtClean="0" sz="933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the top left of the figure Fig 30.13. It is given i = 15/2 = 7.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 value of i .The value in the array at position 7 is 68. In our discussion,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interchangeably discuss array and binary tree. The facts arising in the discussion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would be applicable to both. Considering this position 7, we will try to build min-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below that. We know that for position 7, we have children at positions 2(7)=14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2(7)+1=15. So as children of the number 68 (which is the value at position 7),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70 and 12. After applying 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percolateDown(i)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get the tree as shown in Fig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30.14.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i = 15/2 = 7</a:t>
            </a:r>
            <a:endParaRPr lang="ko-KR" altLang="en-US" dirty="0" smtClean="0" sz="828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28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28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28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28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82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828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28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9" b="1">
                <a:solidFill>
                  <a:srgbClr val="000000"/>
                </a:solidFill>
                <a:latin typeface="Arial"/>
              </a:rPr>
              <a:t>Fig 30.14</a:t>
            </a:r>
            <a:endParaRPr lang="ko-KR" altLang="en-US" dirty="0" smtClean="0" sz="969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in the figure that 12 has moved upward and 68 has gone down. Now,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about this little tree starting from 12 and below it is min-heap. Surely, it is.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go for second iteration in the loop, the value of i is decremented and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6. 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369 of 519 </a:t>
            </a:r>
            <a:endParaRPr lang="ko-KR" altLang="en-US" dirty="0" smtClean="0" sz="1056"/>
          </a:p>
        </p:txBody>
      </p:sp>
      <p:sp>
        <p:nvSpPr>
          <p:cNvPr id="1077" name="Rect 3"/>
          <p:cNvSpPr>
            <a:spLocks noGrp="1" noChangeArrowheads="1"/>
          </p:cNvSpPr>
          <p:nvPr/>
        </p:nvSpPr>
        <p:spPr>
          <a:xfrm rot="0">
            <a:off x="4797425" y="2658110"/>
            <a:ext cx="141605" cy="118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797"/>
          </a:p>
        </p:txBody>
      </p:sp>
      <p:sp>
        <p:nvSpPr>
          <p:cNvPr id="1078" name="Rect 3"/>
          <p:cNvSpPr>
            <a:spLocks noGrp="1" noChangeArrowheads="1"/>
          </p:cNvSpPr>
          <p:nvPr/>
        </p:nvSpPr>
        <p:spPr>
          <a:xfrm rot="0">
            <a:off x="4450080" y="2731135"/>
            <a:ext cx="979170" cy="43643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933"/>
          </a:p>
          <a:p>
            <a:pPr marL="0" indent="0" defTabSz="15240" algn="l">
              <a:lnSpc>
                <a:spcPts val="3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69"/>
          </a:p>
        </p:txBody>
      </p:sp>
      <p:sp>
        <p:nvSpPr>
          <p:cNvPr id="1079" name="Rect 3"/>
          <p:cNvSpPr>
            <a:spLocks noGrp="1" noChangeArrowheads="1"/>
          </p:cNvSpPr>
          <p:nvPr/>
        </p:nvSpPr>
        <p:spPr>
          <a:xfrm rot="0">
            <a:off x="4276090" y="2658110"/>
            <a:ext cx="922020" cy="4340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797"/>
          </a:p>
          <a:p>
            <a:pPr marL="0" indent="0" defTabSz="15240" algn="l">
              <a:lnSpc>
                <a:spcPts val="3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28"/>
          </a:p>
        </p:txBody>
      </p:sp>
      <p:sp>
        <p:nvSpPr>
          <p:cNvPr id="1080" name="Rect 3"/>
          <p:cNvSpPr>
            <a:spLocks noGrp="1" noChangeArrowheads="1"/>
          </p:cNvSpPr>
          <p:nvPr/>
        </p:nvSpPr>
        <p:spPr>
          <a:xfrm rot="0">
            <a:off x="4053840" y="2749550"/>
            <a:ext cx="296545" cy="43675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933"/>
          </a:p>
          <a:p>
            <a:pPr marL="0" indent="0" defTabSz="15240" algn="l">
              <a:lnSpc>
                <a:spcPts val="3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969"/>
          </a:p>
        </p:txBody>
      </p:sp>
      <p:sp>
        <p:nvSpPr>
          <p:cNvPr id="1081" name="Rect 3"/>
          <p:cNvSpPr>
            <a:spLocks noGrp="1" noChangeArrowheads="1"/>
          </p:cNvSpPr>
          <p:nvPr/>
        </p:nvSpPr>
        <p:spPr>
          <a:xfrm rot="0">
            <a:off x="3237230" y="2697480"/>
            <a:ext cx="296545" cy="4340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97"/>
          </a:p>
          <a:p>
            <a:pPr marL="0" indent="0" defTabSz="15240" algn="l">
              <a:lnSpc>
                <a:spcPts val="3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28"/>
          </a:p>
        </p:txBody>
      </p:sp>
      <p:sp>
        <p:nvSpPr>
          <p:cNvPr id="1082" name="Rect 3"/>
          <p:cNvSpPr>
            <a:spLocks noGrp="1" noChangeArrowheads="1"/>
          </p:cNvSpPr>
          <p:nvPr/>
        </p:nvSpPr>
        <p:spPr>
          <a:xfrm rot="0">
            <a:off x="2264410" y="2770505"/>
            <a:ext cx="1497965" cy="4364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33"/>
          </a:p>
          <a:p>
            <a:pPr marL="0" indent="0" defTabSz="15240" algn="l">
              <a:lnSpc>
                <a:spcPts val="3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69"/>
          </a:p>
        </p:txBody>
      </p:sp>
      <p:sp>
        <p:nvSpPr>
          <p:cNvPr id="1083" name="Rect 3"/>
          <p:cNvSpPr>
            <a:spLocks noGrp="1" noChangeArrowheads="1"/>
          </p:cNvSpPr>
          <p:nvPr/>
        </p:nvSpPr>
        <p:spPr>
          <a:xfrm rot="0">
            <a:off x="2096770" y="2675890"/>
            <a:ext cx="2070735" cy="4340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97"/>
          </a:p>
          <a:p>
            <a:pPr marL="0" indent="0" defTabSz="15240" algn="l">
              <a:lnSpc>
                <a:spcPts val="3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28"/>
          </a:p>
        </p:txBody>
      </p:sp>
      <p:sp>
        <p:nvSpPr>
          <p:cNvPr id="1084" name="Rect 3"/>
          <p:cNvSpPr>
            <a:spLocks noGrp="1" noChangeArrowheads="1"/>
          </p:cNvSpPr>
          <p:nvPr/>
        </p:nvSpPr>
        <p:spPr>
          <a:xfrm rot="0">
            <a:off x="1679575" y="1380490"/>
            <a:ext cx="3838575" cy="5657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Why i = n/2?</a:t>
            </a:r>
            <a:endParaRPr lang="ko-KR" altLang="en-US" dirty="0" smtClean="0" sz="797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797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797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797"/>
          </a:p>
          <a:p>
            <a:pPr marL="0" indent="0" defTabSz="15240" algn="l">
              <a:lnSpc>
                <a:spcPts val="2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2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828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828"/>
          </a:p>
        </p:txBody>
      </p:sp>
      <p:sp>
        <p:nvSpPr>
          <p:cNvPr id="1085" name="Rect 3"/>
          <p:cNvSpPr>
            <a:spLocks noGrp="1" noChangeArrowheads="1"/>
          </p:cNvSpPr>
          <p:nvPr/>
        </p:nvSpPr>
        <p:spPr>
          <a:xfrm rot="0">
            <a:off x="1210310" y="1322705"/>
            <a:ext cx="3917315" cy="65379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933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933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33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933">
                <a:solidFill>
                  <a:srgbClr val="000000"/>
                </a:solidFill>
                <a:latin typeface="Arial"/>
              </a:rPr>
              <a:t>24</a:t>
            </a:r>
            <a:endParaRPr lang="ko-KR" altLang="en-US" dirty="0" smtClean="0" sz="933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7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797"/>
          </a:p>
          <a:p>
            <a:pPr marL="0" indent="0" defTabSz="15240" algn="l">
              <a:lnSpc>
                <a:spcPts val="1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96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96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969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969">
                <a:solidFill>
                  <a:srgbClr val="000000"/>
                </a:solidFill>
                <a:latin typeface="Arial"/>
              </a:rPr>
              <a:t>24</a:t>
            </a:r>
            <a:endParaRPr lang="ko-KR" altLang="en-US" dirty="0" smtClean="0" sz="969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2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28"/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30935" y="3270250"/>
            <a:ext cx="4041775" cy="2197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8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88390" y="1136650"/>
            <a:ext cx="4419600" cy="18592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8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27760" y="6684010"/>
            <a:ext cx="3974465" cy="2076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088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088390" y="4648200"/>
            <a:ext cx="4343400" cy="17741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838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838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838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838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838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838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38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81" b="1">
                <a:solidFill>
                  <a:srgbClr val="000000"/>
                </a:solidFill>
                <a:latin typeface="Arial"/>
              </a:rPr>
              <a:t>Fig 30.15</a:t>
            </a:r>
            <a:endParaRPr lang="ko-KR" altLang="en-US" dirty="0" smtClean="0" sz="981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at position 6 is 19. Here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percolateDown(i)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applied and we get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latest tree as shown in Fig 30.16.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i = 5</a:t>
            </a:r>
            <a:endParaRPr lang="ko-KR" altLang="en-US" dirty="0" smtClean="0" sz="799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99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79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79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799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799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799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799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35" b="1">
                <a:solidFill>
                  <a:srgbClr val="000000"/>
                </a:solidFill>
                <a:latin typeface="Arial"/>
              </a:rPr>
              <a:t>Fig 30.16</a:t>
            </a:r>
            <a:endParaRPr lang="ko-KR" altLang="en-US" dirty="0" smtClean="0" sz="935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5 has come upward while the node 19 has moved downward. Its value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decremented. It is now ready for next iteration. If we see the positions of i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tree, we can see that it is traveling in one level of the tree, which is the second last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question might have already arisen in your minds that why did we start i by N/2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N. You think about it and try to find the answer. The answer will be given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lecture. We will continue with this example in the next lecture. You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strongly encouraged to complete it yourself before the next lecture. 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370 of 519 </a:t>
            </a:r>
            <a:endParaRPr lang="ko-KR" altLang="en-US" dirty="0" smtClean="0" sz="1056"/>
          </a:p>
        </p:txBody>
      </p:sp>
      <p:sp>
        <p:nvSpPr>
          <p:cNvPr id="1088" name="Rect 3"/>
          <p:cNvSpPr>
            <a:spLocks noGrp="1" noChangeArrowheads="1"/>
          </p:cNvSpPr>
          <p:nvPr/>
        </p:nvSpPr>
        <p:spPr>
          <a:xfrm rot="0">
            <a:off x="4611370" y="6144895"/>
            <a:ext cx="739140" cy="1403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35"/>
          </a:p>
        </p:txBody>
      </p:sp>
      <p:sp>
        <p:nvSpPr>
          <p:cNvPr id="1089" name="Rect 3"/>
          <p:cNvSpPr>
            <a:spLocks noGrp="1" noChangeArrowheads="1"/>
          </p:cNvSpPr>
          <p:nvPr/>
        </p:nvSpPr>
        <p:spPr>
          <a:xfrm rot="0">
            <a:off x="4428490" y="6071870"/>
            <a:ext cx="693420" cy="118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799"/>
          </a:p>
        </p:txBody>
      </p:sp>
      <p:sp>
        <p:nvSpPr>
          <p:cNvPr id="1090" name="Rect 3"/>
          <p:cNvSpPr>
            <a:spLocks noGrp="1" noChangeArrowheads="1"/>
          </p:cNvSpPr>
          <p:nvPr/>
        </p:nvSpPr>
        <p:spPr>
          <a:xfrm rot="0">
            <a:off x="4157345" y="6163310"/>
            <a:ext cx="162560" cy="139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935"/>
          </a:p>
        </p:txBody>
      </p:sp>
      <p:sp>
        <p:nvSpPr>
          <p:cNvPr id="1091" name="Rect 3"/>
          <p:cNvSpPr>
            <a:spLocks noGrp="1" noChangeArrowheads="1"/>
          </p:cNvSpPr>
          <p:nvPr/>
        </p:nvSpPr>
        <p:spPr>
          <a:xfrm rot="0">
            <a:off x="3962400" y="2706370"/>
            <a:ext cx="1464310" cy="35026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981"/>
          </a:p>
          <a:p>
            <a:pPr marL="0" indent="0" defTabSz="15240" algn="l">
              <a:lnSpc>
                <a:spcPts val="2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99"/>
          </a:p>
        </p:txBody>
      </p:sp>
      <p:sp>
        <p:nvSpPr>
          <p:cNvPr id="1092" name="Rect 3"/>
          <p:cNvSpPr>
            <a:spLocks noGrp="1" noChangeArrowheads="1"/>
          </p:cNvSpPr>
          <p:nvPr/>
        </p:nvSpPr>
        <p:spPr>
          <a:xfrm rot="0">
            <a:off x="3538855" y="2627630"/>
            <a:ext cx="1656080" cy="36937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38"/>
          </a:p>
          <a:p>
            <a:pPr marL="0" indent="0" defTabSz="15240" algn="l">
              <a:lnSpc>
                <a:spcPts val="27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35"/>
          </a:p>
        </p:txBody>
      </p:sp>
      <p:sp>
        <p:nvSpPr>
          <p:cNvPr id="1093" name="Rect 3"/>
          <p:cNvSpPr>
            <a:spLocks noGrp="1" noChangeArrowheads="1"/>
          </p:cNvSpPr>
          <p:nvPr/>
        </p:nvSpPr>
        <p:spPr>
          <a:xfrm rot="0">
            <a:off x="3331210" y="2724785"/>
            <a:ext cx="1010285" cy="3505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981"/>
          </a:p>
          <a:p>
            <a:pPr marL="0" indent="0" defTabSz="15240" algn="l">
              <a:lnSpc>
                <a:spcPts val="2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99"/>
          </a:p>
        </p:txBody>
      </p:sp>
      <p:sp>
        <p:nvSpPr>
          <p:cNvPr id="1094" name="Rect 3"/>
          <p:cNvSpPr>
            <a:spLocks noGrp="1" noChangeArrowheads="1"/>
          </p:cNvSpPr>
          <p:nvPr/>
        </p:nvSpPr>
        <p:spPr>
          <a:xfrm rot="0">
            <a:off x="2301240" y="2670175"/>
            <a:ext cx="1214120" cy="36512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38"/>
          </a:p>
          <a:p>
            <a:pPr marL="0" indent="0" defTabSz="15240" algn="l">
              <a:lnSpc>
                <a:spcPts val="26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935"/>
          </a:p>
        </p:txBody>
      </p:sp>
      <p:sp>
        <p:nvSpPr>
          <p:cNvPr id="1095" name="Rect 3"/>
          <p:cNvSpPr>
            <a:spLocks noGrp="1" noChangeArrowheads="1"/>
          </p:cNvSpPr>
          <p:nvPr/>
        </p:nvSpPr>
        <p:spPr>
          <a:xfrm rot="0">
            <a:off x="2127250" y="2746375"/>
            <a:ext cx="1623060" cy="34626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981"/>
          </a:p>
          <a:p>
            <a:pPr marL="0" indent="0" defTabSz="15240" algn="l">
              <a:lnSpc>
                <a:spcPts val="2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799"/>
          </a:p>
        </p:txBody>
      </p:sp>
      <p:sp>
        <p:nvSpPr>
          <p:cNvPr id="1096" name="Rect 3"/>
          <p:cNvSpPr>
            <a:spLocks noGrp="1" noChangeArrowheads="1"/>
          </p:cNvSpPr>
          <p:nvPr/>
        </p:nvSpPr>
        <p:spPr>
          <a:xfrm rot="0">
            <a:off x="1889760" y="2645410"/>
            <a:ext cx="3152775" cy="36760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38"/>
          </a:p>
          <a:p>
            <a:pPr marL="0" indent="0" defTabSz="15240" algn="l">
              <a:lnSpc>
                <a:spcPts val="2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935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24</a:t>
            </a:r>
            <a:endParaRPr lang="ko-KR" altLang="en-US" dirty="0" smtClean="0" sz="935"/>
          </a:p>
        </p:txBody>
      </p:sp>
      <p:sp>
        <p:nvSpPr>
          <p:cNvPr id="1097" name="Rect 3"/>
          <p:cNvSpPr>
            <a:spLocks noGrp="1" noChangeArrowheads="1"/>
          </p:cNvSpPr>
          <p:nvPr/>
        </p:nvSpPr>
        <p:spPr>
          <a:xfrm rot="0">
            <a:off x="1682750" y="1645920"/>
            <a:ext cx="2725420" cy="45840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838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838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838"/>
          </a:p>
          <a:p>
            <a:pPr marL="0" indent="0" defTabSz="15240" algn="l">
              <a:lnSpc>
                <a:spcPts val="18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799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799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799"/>
          </a:p>
        </p:txBody>
      </p:sp>
      <p:sp>
        <p:nvSpPr>
          <p:cNvPr id="1098" name="Rect 3"/>
          <p:cNvSpPr>
            <a:spLocks noGrp="1" noChangeArrowheads="1"/>
          </p:cNvSpPr>
          <p:nvPr/>
        </p:nvSpPr>
        <p:spPr>
          <a:xfrm rot="0">
            <a:off x="1188720" y="1222375"/>
            <a:ext cx="3933190" cy="5791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98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98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98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981">
                <a:solidFill>
                  <a:srgbClr val="000000"/>
                </a:solidFill>
                <a:latin typeface="Arial"/>
              </a:rPr>
              <a:t>24</a:t>
            </a:r>
            <a:endParaRPr lang="ko-KR" altLang="en-US" dirty="0" smtClean="0" sz="981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38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838"/>
          </a:p>
          <a:p>
            <a:pPr marL="0" indent="0" defTabSz="15240" algn="l">
              <a:lnSpc>
                <a:spcPts val="8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935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935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935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35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935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799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799"/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31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6.3.3, 6.3.4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BuildHeap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Heap methods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 Code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BuildHeap 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BuildHeap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of heap abstract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structure. In this handout, you are going to know why a programmer adopts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method. Suppose we have some data that can be numbers or characters or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form and want to build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max-Heap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out of it. One way is to use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insert()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to build the heap by inserting elements one by one. In this method,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property will be maintained. However, the analysis shows that it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NlogN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 i.e. the time required for this will be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NlogN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Secondly,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all the data ready, then it will be better to build a heap at once as it is a better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option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NlogN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delete procedure, when we delete the root, a new element takes the place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root. In case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minimum value will come up and the larger elements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move downwards. In this regard, percolate procedures may be of great help.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procedure will move the smaller value up and bigger value down.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way, we will create the heap at once, without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insert()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internally. Let’s revisit it again: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The general algorithm is to place the N keys in an array and consider it to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unordered binary tree.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The following algorithm will build a heap out of N keys.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( i = N/2; i &gt; 0; i--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percolateDown(i);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Suppose, there are N data elements (also called as N Keys). We will put this data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array and call it as a binary tree. As discussed earlier, a complete binary tree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in an array. We have a tree in an array but it is not a heap yet.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 that the heap property is satisfied. In the next step, we apply the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Why did we start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N/2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Let’s apply this algorithm on the actual data.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use the diagram to understand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Consider the diagram given below:  </a:t>
            </a:r>
            <a:endParaRPr lang="ko-KR" altLang="en-US" dirty="0" smtClean="0" sz="1056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9775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0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23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23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23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Bookman Old Style"/>
                <a:ea typeface="Bookman Old Style"/>
              </a:rPr>
              <a:t>i </a:t>
            </a:r>
            <a:endParaRPr lang="ko-KR" altLang="en-US" dirty="0" smtClean="0" sz="1230" i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68 13 24 15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5 70 12 </a:t>
            </a:r>
            <a:endParaRPr lang="ko-KR" altLang="en-US" dirty="0" smtClean="0" sz="123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9 10 11 12 13 14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diagram, there is an array containing the elements as 65, 31, 32, 26, 21,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19, 68, 13, 24, 15, 14, 16, 5, 70, 12. We have all the data in this array. The zeroth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of the array is empty. We kept it empty intentionally to apply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2i+1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scheme. We will take this array as a complete binary tree. Let’s take the first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is 65, applying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2i+1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formula. This element has 31 and 32 as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children. Take the second element i.e. 32 and use the formula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Its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26 and 21. We can take the remaining elements one by one to build the tree.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is shown in the above figure. This tree is not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min-heap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as it has 65 as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while there are smaller elements like 13, 15, 5 as its children. So, this being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 has been stored in an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think about the above formula, written for the heap building. What will be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the value of N is 15, so the value of i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(i=N/2)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7 (integer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division). The first call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be made with the help of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7. The element at 7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is 68. It will take this node as a root of subtree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this subtree a minimum heap. In this case, the left child of node 68 is 70 while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child of node 68 is 12. The element 68 will come down while the element 12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moves up.  </a:t>
            </a:r>
            <a:endParaRPr lang="ko-KR" altLang="en-US" dirty="0" smtClean="0" sz="1056"/>
          </a:p>
          <a:p>
            <a:pPr marL="0" indent="0" defTabSz="15240" algn="l">
              <a:lnSpc>
                <a:spcPts val="1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372 of 519 </a:t>
            </a:r>
            <a:endParaRPr lang="ko-KR" altLang="en-US" dirty="0" smtClean="0" sz="1056"/>
          </a:p>
        </p:txBody>
      </p:sp>
      <p:sp>
        <p:nvSpPr>
          <p:cNvPr id="1103" name="Rect 3"/>
          <p:cNvSpPr>
            <a:spLocks noGrp="1" noChangeArrowheads="1"/>
          </p:cNvSpPr>
          <p:nvPr/>
        </p:nvSpPr>
        <p:spPr>
          <a:xfrm rot="0">
            <a:off x="5102225" y="2746375"/>
            <a:ext cx="241935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</p:txBody>
      </p:sp>
      <p:sp>
        <p:nvSpPr>
          <p:cNvPr id="1104" name="Rect 3"/>
          <p:cNvSpPr>
            <a:spLocks noGrp="1" noChangeArrowheads="1"/>
          </p:cNvSpPr>
          <p:nvPr/>
        </p:nvSpPr>
        <p:spPr>
          <a:xfrm rot="0">
            <a:off x="3694430" y="2804160"/>
            <a:ext cx="1896745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</a:t>
            </a:r>
            <a:endParaRPr lang="ko-KR" altLang="en-US" dirty="0" smtClean="0" sz="1231"/>
          </a:p>
        </p:txBody>
      </p:sp>
      <p:sp>
        <p:nvSpPr>
          <p:cNvPr id="1105" name="Rect 3"/>
          <p:cNvSpPr>
            <a:spLocks noGrp="1" noChangeArrowheads="1"/>
          </p:cNvSpPr>
          <p:nvPr/>
        </p:nvSpPr>
        <p:spPr>
          <a:xfrm rot="0">
            <a:off x="3435350" y="2727960"/>
            <a:ext cx="1348105" cy="182880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1106" name="Rect 3"/>
          <p:cNvSpPr>
            <a:spLocks noGrp="1" noChangeArrowheads="1"/>
          </p:cNvSpPr>
          <p:nvPr/>
        </p:nvSpPr>
        <p:spPr>
          <a:xfrm rot="0">
            <a:off x="2831465" y="2746375"/>
            <a:ext cx="1449070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231"/>
          </a:p>
        </p:txBody>
      </p:sp>
      <p:sp>
        <p:nvSpPr>
          <p:cNvPr id="1107" name="Rect 3"/>
          <p:cNvSpPr>
            <a:spLocks noGrp="1" noChangeArrowheads="1"/>
          </p:cNvSpPr>
          <p:nvPr/>
        </p:nvSpPr>
        <p:spPr>
          <a:xfrm rot="0">
            <a:off x="2490470" y="2179320"/>
            <a:ext cx="3155315" cy="810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Wingdings"/>
                <a:ea typeface="Wingdings"/>
              </a:rPr>
              <a:t>Í</a:t>
            </a:r>
            <a:r>
              <a:rPr lang="en-US" altLang="ko-KR" dirty="0" smtClean="0" sz="1230" i="1">
                <a:solidFill>
                  <a:srgbClr val="000000"/>
                </a:solidFill>
                <a:latin typeface="Bookman Old Style"/>
                <a:ea typeface="Bookman Old Style"/>
              </a:rPr>
              <a:t>		i </a:t>
            </a:r>
            <a:endParaRPr lang="ko-KR" altLang="en-US" dirty="0" smtClean="0" sz="1230" i="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  <a:ea typeface="Arial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/>
          </a:p>
        </p:txBody>
      </p:sp>
      <p:sp>
        <p:nvSpPr>
          <p:cNvPr id="1108" name="Rect 3"/>
          <p:cNvSpPr>
            <a:spLocks noGrp="1" noChangeArrowheads="1"/>
          </p:cNvSpPr>
          <p:nvPr/>
        </p:nvSpPr>
        <p:spPr>
          <a:xfrm rot="0">
            <a:off x="1920240" y="1670050"/>
            <a:ext cx="3073400" cy="12407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</p:txBody>
      </p:sp>
      <p:sp>
        <p:nvSpPr>
          <p:cNvPr id="1109" name="Rect 3"/>
          <p:cNvSpPr>
            <a:spLocks noGrp="1" noChangeArrowheads="1"/>
          </p:cNvSpPr>
          <p:nvPr/>
        </p:nvSpPr>
        <p:spPr>
          <a:xfrm rot="0">
            <a:off x="1463040" y="1240790"/>
            <a:ext cx="3762375" cy="17494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123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123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68</a:t>
            </a:r>
            <a:endParaRPr lang="ko-KR" altLang="en-US" dirty="0" smtClean="0" sz="123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24 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855210" cy="29775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1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824855"/>
            <a:ext cx="4773295" cy="30111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1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23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23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23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Bookman Old Style"/>
                <a:ea typeface="Bookman Old Style"/>
              </a:rPr>
              <a:t>i </a:t>
            </a:r>
            <a:endParaRPr lang="ko-KR" altLang="en-US" dirty="0" smtClean="0" sz="1230" i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12 13 24 15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5 70 68 </a:t>
            </a:r>
            <a:endParaRPr lang="ko-KR" altLang="en-US" dirty="0" smtClean="0" sz="123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9 10 11 12 13 14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this subtree with 12 as the root node. Its left and right children are smaller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root. This subtree is a minimum heap. Now in the loop,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decreased by 1, coming to the mark of 6. The element at 6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is 19 that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passed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It will convert this small tree into a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heap. The element 19 is greater than both of its children i.e.16 and 5. One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move up. Which node should move up? The node 5 will move up while node 19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move down. In the next repetition,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becomes 5, i.e. the element 21.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apply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again and convert it into minimum heap.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subtree with node 26 will be converted into a minimum heap.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23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23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0" i="1">
                <a:solidFill>
                  <a:srgbClr val="000000"/>
                </a:solidFill>
                <a:latin typeface="Bookman Old Style"/>
                <a:ea typeface="Bookman Old Style"/>
              </a:rPr>
              <a:t>i </a:t>
            </a:r>
            <a:endParaRPr lang="ko-KR" altLang="en-US" dirty="0" smtClean="0" sz="1230" i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12 26 24 15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19 70 68 </a:t>
            </a:r>
            <a:endParaRPr lang="ko-KR" altLang="en-US" dirty="0" smtClean="0" sz="123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9 10 11 12 13 14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373 of 519 </a:t>
            </a:r>
            <a:endParaRPr lang="ko-KR" altLang="en-US" dirty="0" smtClean="0" sz="1056"/>
          </a:p>
        </p:txBody>
      </p:sp>
      <p:sp>
        <p:nvSpPr>
          <p:cNvPr id="1112" name="Rect 3"/>
          <p:cNvSpPr>
            <a:spLocks noGrp="1" noChangeArrowheads="1"/>
          </p:cNvSpPr>
          <p:nvPr/>
        </p:nvSpPr>
        <p:spPr>
          <a:xfrm rot="0">
            <a:off x="4843145" y="2804160"/>
            <a:ext cx="833120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231"/>
          </a:p>
        </p:txBody>
      </p:sp>
      <p:sp>
        <p:nvSpPr>
          <p:cNvPr id="1113" name="Rect 3"/>
          <p:cNvSpPr>
            <a:spLocks noGrp="1" noChangeArrowheads="1"/>
          </p:cNvSpPr>
          <p:nvPr/>
        </p:nvSpPr>
        <p:spPr>
          <a:xfrm rot="0">
            <a:off x="4626610" y="2727960"/>
            <a:ext cx="241935" cy="182880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1114" name="Rect 3"/>
          <p:cNvSpPr>
            <a:spLocks noGrp="1" noChangeArrowheads="1"/>
          </p:cNvSpPr>
          <p:nvPr/>
        </p:nvSpPr>
        <p:spPr>
          <a:xfrm rot="0">
            <a:off x="4121150" y="2746375"/>
            <a:ext cx="1308100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</p:txBody>
      </p:sp>
      <p:sp>
        <p:nvSpPr>
          <p:cNvPr id="1115" name="Rect 3"/>
          <p:cNvSpPr>
            <a:spLocks noGrp="1" noChangeArrowheads="1"/>
          </p:cNvSpPr>
          <p:nvPr/>
        </p:nvSpPr>
        <p:spPr>
          <a:xfrm rot="0">
            <a:off x="3776345" y="2804160"/>
            <a:ext cx="1616710" cy="48399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231"/>
          </a:p>
          <a:p>
            <a:pPr marL="0" indent="0" defTabSz="15240" algn="l">
              <a:lnSpc>
                <a:spcPts val="3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</p:txBody>
      </p:sp>
      <p:sp>
        <p:nvSpPr>
          <p:cNvPr id="1116" name="Rect 3"/>
          <p:cNvSpPr>
            <a:spLocks noGrp="1" noChangeArrowheads="1"/>
          </p:cNvSpPr>
          <p:nvPr/>
        </p:nvSpPr>
        <p:spPr>
          <a:xfrm rot="0">
            <a:off x="3520440" y="2727960"/>
            <a:ext cx="2122170" cy="49745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</a:t>
            </a:r>
            <a:endParaRPr lang="ko-KR" altLang="en-US" dirty="0" smtClean="0" sz="1231"/>
          </a:p>
          <a:p>
            <a:pPr marL="0" indent="0" defTabSz="15240" algn="l">
              <a:lnSpc>
                <a:spcPts val="3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231"/>
          </a:p>
        </p:txBody>
      </p:sp>
      <p:sp>
        <p:nvSpPr>
          <p:cNvPr id="1117" name="Rect 3"/>
          <p:cNvSpPr>
            <a:spLocks noGrp="1" noChangeArrowheads="1"/>
          </p:cNvSpPr>
          <p:nvPr/>
        </p:nvSpPr>
        <p:spPr>
          <a:xfrm rot="0">
            <a:off x="2853055" y="2746375"/>
            <a:ext cx="1972945" cy="48977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 </a:t>
            </a:r>
            <a:endParaRPr lang="ko-KR" altLang="en-US" dirty="0" smtClean="0" sz="1231"/>
          </a:p>
          <a:p>
            <a:pPr marL="0" indent="0" defTabSz="15240" algn="l">
              <a:lnSpc>
                <a:spcPts val="3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</a:t>
            </a:r>
            <a:endParaRPr lang="ko-KR" altLang="en-US" dirty="0" smtClean="0" sz="1231"/>
          </a:p>
        </p:txBody>
      </p:sp>
      <p:sp>
        <p:nvSpPr>
          <p:cNvPr id="1118" name="Rect 3"/>
          <p:cNvSpPr>
            <a:spLocks noGrp="1" noChangeArrowheads="1"/>
          </p:cNvSpPr>
          <p:nvPr/>
        </p:nvSpPr>
        <p:spPr>
          <a:xfrm rot="0">
            <a:off x="2505710" y="2179320"/>
            <a:ext cx="3222625" cy="55232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Wingdings"/>
                <a:ea typeface="Wingdings"/>
              </a:rPr>
              <a:t>Í</a:t>
            </a:r>
            <a:r>
              <a:rPr lang="en-US" altLang="ko-KR" dirty="0" smtClean="0" sz="1230" i="1">
                <a:solidFill>
                  <a:srgbClr val="000000"/>
                </a:solidFill>
                <a:latin typeface="Bookman Old Style"/>
                <a:ea typeface="Bookman Old Style"/>
              </a:rPr>
              <a:t>		i </a:t>
            </a:r>
            <a:endParaRPr lang="ko-KR" altLang="en-US" dirty="0" smtClean="0" sz="1230" i="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231"/>
          </a:p>
          <a:p>
            <a:pPr marL="0" indent="0" defTabSz="15240" algn="l">
              <a:lnSpc>
                <a:spcPts val="30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23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</a:t>
            </a:r>
            <a:endParaRPr lang="ko-KR" altLang="en-US" dirty="0" smtClean="0" sz="1231"/>
          </a:p>
        </p:txBody>
      </p:sp>
      <p:sp>
        <p:nvSpPr>
          <p:cNvPr id="1119" name="Rect 3"/>
          <p:cNvSpPr>
            <a:spLocks noGrp="1" noChangeArrowheads="1"/>
          </p:cNvSpPr>
          <p:nvPr/>
        </p:nvSpPr>
        <p:spPr>
          <a:xfrm rot="0">
            <a:off x="1932305" y="1670050"/>
            <a:ext cx="3146425" cy="59740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 </a:t>
            </a:r>
            <a:endParaRPr lang="ko-KR" altLang="en-US" dirty="0" smtClean="0" sz="1231"/>
          </a:p>
          <a:p>
            <a:pPr marL="0" indent="0" defTabSz="15240" algn="l">
              <a:lnSpc>
                <a:spcPts val="2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966">
                <a:solidFill>
                  <a:srgbClr val="000000"/>
                </a:solidFill>
                <a:latin typeface="Wingdings"/>
                <a:ea typeface="Wingdings"/>
              </a:rPr>
              <a:t>Í</a:t>
            </a:r>
            <a:r>
              <a:rPr lang="en-US" altLang="ko-KR" dirty="0" smtClean="0" sz="1230" i="1">
                <a:solidFill>
                  <a:srgbClr val="000000"/>
                </a:solidFill>
                <a:latin typeface="Bookman Old Style"/>
                <a:ea typeface="Bookman Old Style"/>
              </a:rPr>
              <a:t>		i </a:t>
            </a:r>
            <a:endParaRPr lang="ko-KR" altLang="en-US" dirty="0" smtClean="0" sz="1230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 </a:t>
            </a:r>
            <a:endParaRPr lang="ko-KR" altLang="en-US" dirty="0" smtClean="0" sz="1231"/>
          </a:p>
        </p:txBody>
      </p:sp>
      <p:sp>
        <p:nvSpPr>
          <p:cNvPr id="1120" name="Rect 3"/>
          <p:cNvSpPr>
            <a:spLocks noGrp="1" noChangeArrowheads="1"/>
          </p:cNvSpPr>
          <p:nvPr/>
        </p:nvSpPr>
        <p:spPr>
          <a:xfrm rot="0">
            <a:off x="1469390" y="1240790"/>
            <a:ext cx="3844290" cy="6461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123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123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24 </a:t>
            </a:r>
            <a:endParaRPr lang="ko-KR" altLang="en-US" dirty="0" smtClean="0" sz="1231"/>
          </a:p>
          <a:p>
            <a:pPr marL="0" indent="0" defTabSz="15240" algn="l">
              <a:lnSpc>
                <a:spcPts val="2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123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</a:t>
            </a:r>
            <a:endParaRPr lang="ko-KR" altLang="en-US" dirty="0" smtClean="0" sz="123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</a:t>
            </a:r>
            <a:endParaRPr lang="ko-KR" altLang="en-US" dirty="0" smtClean="0" sz="123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24 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410710"/>
            <a:ext cx="4788535" cy="30784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2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3. The element at 3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is 32. You can see that the level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has also been changed. We have moved one level up. Now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will take this node as the root of the tree. It needs to move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minimum value at this position. The minimum value is 5 so the values 32 and 5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be exchanged with each other. Now 32 becomes the parent of node 16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19 which are smaller values. Therefore, it will further move down to node 16.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dotted line in the above figure shows the path of nodes that will be replaced.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 has been converted into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2 while the element is 31. It will change its position with 13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and then with 24. So the node 31 will move down and become a leaf node.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seen that some nodes are moving up and some moving downwards.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phenomenon is known as percolate. Therefore we have named this method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it makes big values move down and smaller values upward.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Finally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1. The element at first position is 65. As it is not the smallest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value, so it will move down and the smallest value will move up. It will move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7 as it is greater than 68 and 70. The node 5 will move to the top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final figure is shown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23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23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231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14 16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65 26 31 15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19 70 68 </a:t>
            </a:r>
            <a:endParaRPr lang="ko-KR" altLang="en-US" dirty="0" smtClean="0" sz="123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9 10 11 12 13 14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this a minimum heap? Does the heap property satisfy or not? Let’s analyze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Start from the root of the tree. Is the value of the root is smaller than that of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and right children? The node 5 is smaller than the node 13 and node 12. Check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on the next level. You will see that the values at each node are smaller than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children. Therefore it satisfies the definition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to understand why we have started the ‘for loop’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= N/2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from N.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moves from level to level in the tree. If we start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N, it will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374 of 519 </a:t>
            </a:r>
            <a:endParaRPr lang="ko-KR" altLang="en-US" dirty="0" smtClean="0" sz="1056"/>
          </a:p>
        </p:txBody>
      </p:sp>
      <p:sp>
        <p:nvSpPr>
          <p:cNvPr id="1123" name="Rect 3"/>
          <p:cNvSpPr>
            <a:spLocks noGrp="1" noChangeArrowheads="1"/>
          </p:cNvSpPr>
          <p:nvPr/>
        </p:nvSpPr>
        <p:spPr>
          <a:xfrm rot="0">
            <a:off x="5169535" y="6047105"/>
            <a:ext cx="241935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endParaRPr lang="ko-KR" altLang="en-US" dirty="0" smtClean="0" sz="1231"/>
          </a:p>
        </p:txBody>
      </p:sp>
      <p:sp>
        <p:nvSpPr>
          <p:cNvPr id="1124" name="Rect 3"/>
          <p:cNvSpPr>
            <a:spLocks noGrp="1" noChangeArrowheads="1"/>
          </p:cNvSpPr>
          <p:nvPr/>
        </p:nvSpPr>
        <p:spPr>
          <a:xfrm rot="0">
            <a:off x="3742690" y="6104890"/>
            <a:ext cx="1918335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68 </a:t>
            </a:r>
            <a:endParaRPr lang="ko-KR" altLang="en-US" dirty="0" smtClean="0" sz="1231"/>
          </a:p>
        </p:txBody>
      </p:sp>
      <p:sp>
        <p:nvSpPr>
          <p:cNvPr id="1125" name="Rect 3"/>
          <p:cNvSpPr>
            <a:spLocks noGrp="1" noChangeArrowheads="1"/>
          </p:cNvSpPr>
          <p:nvPr/>
        </p:nvSpPr>
        <p:spPr>
          <a:xfrm rot="0">
            <a:off x="3481070" y="6026150"/>
            <a:ext cx="1360170" cy="182880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1126" name="Rect 3"/>
          <p:cNvSpPr>
            <a:spLocks noGrp="1" noChangeArrowheads="1"/>
          </p:cNvSpPr>
          <p:nvPr/>
        </p:nvSpPr>
        <p:spPr>
          <a:xfrm rot="0">
            <a:off x="2871470" y="6047105"/>
            <a:ext cx="1460500" cy="182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endParaRPr lang="ko-KR" altLang="en-US" dirty="0" smtClean="0" sz="1231"/>
          </a:p>
        </p:txBody>
      </p:sp>
      <p:sp>
        <p:nvSpPr>
          <p:cNvPr id="1127" name="Rect 3"/>
          <p:cNvSpPr>
            <a:spLocks noGrp="1" noChangeArrowheads="1"/>
          </p:cNvSpPr>
          <p:nvPr/>
        </p:nvSpPr>
        <p:spPr>
          <a:xfrm rot="0">
            <a:off x="2523490" y="5459095"/>
            <a:ext cx="1699260" cy="8286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16</a:t>
            </a:r>
            <a:endParaRPr lang="ko-KR" altLang="en-US" dirty="0" smtClean="0" sz="1231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21 </a:t>
            </a:r>
            <a:endParaRPr lang="ko-KR" altLang="en-US" dirty="0" smtClean="0" sz="1231"/>
          </a:p>
        </p:txBody>
      </p:sp>
      <p:sp>
        <p:nvSpPr>
          <p:cNvPr id="1128" name="Rect 3"/>
          <p:cNvSpPr>
            <a:spLocks noGrp="1" noChangeArrowheads="1"/>
          </p:cNvSpPr>
          <p:nvPr/>
        </p:nvSpPr>
        <p:spPr>
          <a:xfrm rot="0">
            <a:off x="1950720" y="4959350"/>
            <a:ext cx="3103880" cy="1249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3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</p:txBody>
      </p:sp>
      <p:sp>
        <p:nvSpPr>
          <p:cNvPr id="1129" name="Rect 3"/>
          <p:cNvSpPr>
            <a:spLocks noGrp="1" noChangeArrowheads="1"/>
          </p:cNvSpPr>
          <p:nvPr/>
        </p:nvSpPr>
        <p:spPr>
          <a:xfrm rot="0">
            <a:off x="1487170" y="4523105"/>
            <a:ext cx="3802380" cy="17646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23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65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31 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from the right most leaf node. As long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l less than N/2 it will remain on leaf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level. Is the leaf node alone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not? Yes it is. As it does not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any left or right child to compare that it is smaller or not. All the leaf nodes satisfy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min-heap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definition. Therefore we do not need to start with the leaf nodes. We can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but there is no reason to do that. For efficiency purposes we start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from N/2.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one level up to the leaf node level. We applied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node at this level. Due to this some nodes move down and some nodes move up.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apply this on each level and reaches at the root. In the end we have a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have data available, the use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BuildHeap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may be more appropriate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method. Moreover,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BuildHeap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takes less time. How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prove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BuildHeap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takes less time? Some mathematical analysis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prove it.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NlogN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BuildHeap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should be better than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Other Heap Methods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have a look on some more methods of heap and see the C++ codes.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decreaseKey(p, delta)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lowers the value of the key at position ‘p’ by the amount ‘delta’. Since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might violate the heap order, so it (the heap) must be reorganized with percolate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 (in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or down (in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max-heap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takes a pointer to the node that may be the array position as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implementing it as an array internally. The user wants to decrease the value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by delta. Suppose we have a node with value 17 and want to decrease it by 10.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new value will be 10. By decreasing the value of a node, the heap order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violated. If heap order is disturbed, then we will have to restore it. We may not need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build the whole tree. The node value may become smaller than that of the parents,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it is advisable to exchange these nodes. 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percolateUp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to maintain the heap order. Here the question arises why we want to decrease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of some node? The major use of heap is in priority queues. Priority queues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not FIFO or LIFO. The elements are taken out on some key value, also known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 value. Suppose we have some value in the priority queue and want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decrease its priority. If we are using heap for the priority queue, the priority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elements can be decreased so that it could be taken out later and some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that now has higher priority will be taken out first. You can find many real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life examples to understand why we need to increase or decrease the priority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of these examples is priorities of processes. You will read about this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operating system course. You can see the priorities of the processes using the task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manager. Task manager can be activated by pressing Ctrl+Alt+Del. Under the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tab, we may see the priority of each process. Normally, there is one processor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and there is lot of processes running in it. How can we decide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should be given the CPU time and how much time should be given to this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process? We will cover all of these topics in the operating system course. Suppose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25 processes with different priorities. How can we decide which process should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given the CPU time? We gave the CPU to the highest priority process for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second. We can schedule this by using the priority queue. For some reason,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decrease the priority of some process. Now its turn will come later. We may increase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priority of some process so that it should be given the CPU time. Therefore,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adopt the increase and decrease methods. If we are implementing the priority queue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using the heap, the increase or decrease method of priority queue will use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increase and decrease method of heap internally. Using this method, the turn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will be according to the new priority.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increaseKey(p, delta)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is the opposite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decreaseKey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will increase the value of the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delta. These methods are useful while implementing the priority queues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remove(p)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removes the node at position p from the heap. This is done first by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decreaseKey(p,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∋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then performing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deleteMin()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First of all, we will decrease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of the node by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∋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call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deleteMin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deletes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root. If we have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root node contains the smallest value of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deleting the node, we will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to restore the order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heap.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user can delete any node from the tree. We can write a special procedure 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purpose. Here we will use the methods which are already available. At first,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decreaseKey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will be called and value of node decreased by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∋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It will result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making the value of this node smallest of all the nodes. If the value is in integers,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have the smallest integer. Now this node has the minimum value, so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the root of the heap. Now we will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deleteMin()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root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deleted which is the required node. The value in this node is not useful for us. The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∋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mathematical notation. It is not available in the C++. Actually we want to make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minimum possible value of this node supported by the computer.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C++ Code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look at the C++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class. The objects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may be got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this factory class. This class will contain the methods including those discussed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earlier and some new ones. Heap is used both in priority queues and sorting.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some public and private methods in the class. Let’s have a look on the code.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The heap class. This is heap.h file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 Heap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public: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Heap( int capacity = 100 );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insert( const eType 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deleteMin( eType &amp; minItem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 &amp; getMin(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Bool isEmpty(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Bool isFull(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Heap&lt;eType&gt;::getSize(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private: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 currentSize; // Number of elements in heap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eType* array;     // The heap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   capacity;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percolateDown( int hole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may like to store different type of data in the heap like integers, strings, floating-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 numbers or some other data type etc. For this purpose, template is used.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help of template, we can store any type of object in the heap. Therefore first of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used as a type parameter. We can use any meaningful name. Then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declare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class. In the public part of the class, there is a constructor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Heap( int capacity = 100 );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parameter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capacity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constructor. Its default value is 100. If we call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without providing the parameter, the capacity will be set to 100. If we 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constructor by providing it some value like 200, the capacity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object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200.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we have an insert method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insert( const eType &amp; x );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a reference element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is of constant nature.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method, we will have the reference of the element provided by the caller. The copy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is not provided through this method. We will store this element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have a delete method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void deleteMin( eType &amp; minItem );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is used to delete the element from the heap.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want to know the minimum value of the heap,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getMin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can be useful.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signatures are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const eType &amp; getMin(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will return the reference of the minimum element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other methods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class to check whether it is empty or full. Similarly,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method to check its size. The signatures are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isEmpty(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isFull(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Heap&lt;eType&gt;::getSize( );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will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become full? As we are implementing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the help of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array, the fixed data type, so the array may get full at some time.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responsibility of the caller not to insert more elements when the heap is full.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facilitate the caller, we can provide the methods to check whether the heap is full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not. We can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getSize()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to ascertain the size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private part, we have some data elements and methods. At first,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element. It will have the number of elements in the heap. Then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array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array will be dynamically allocated and its size depends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capacity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one private method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.h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file, now we will see the implementation of these methods that is in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file. The code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heap.cpp file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#include "Heap.h“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Heap&lt;eType&gt;::Heap( int capacity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array = new eType[capacity + 1];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currentSize=0;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/* Insert item x into the heap, maintaining heap order. Duplicates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allowed. */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Heap&lt;eType&gt;::insert( const eType &amp; x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isFull( ) 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cout &lt;&lt; "insert - Heap is full."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return 0;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// Percolate up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hole = ++currentSize;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for(; hole &gt; 1 &amp;&amp; x &lt; array[hole/2 ]; hole /= 2)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array[ hole ] = array[ hole / 2 ];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array[hole] = x;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Heap&lt;eType&gt;::deleteMin( eType &amp; minItem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isEmpty( ) ) 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cout &lt;&lt; "heap is empty.“ &lt;&lt; endl;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return;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minItem = array[ 1 ];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array[ 1 ] = array[ currentSize-- 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percolateDown( 1 );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include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heap.h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file before having the constructor of the heap. If we do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capacity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will be set to 100 that is default. In the constructor,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dynamically creating our array. We have added 1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capacity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first position of the array is not in use. We also initialize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zero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initially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empty.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method. This method helps insert item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into the heap,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maintaining heap order. Duplicates are allowed. Inside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method, we will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isFull()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If the heap is full, we will display a message and return 0. If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is not full, we will insert the element in the heap and take a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assign it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plus one value. Then we will have a ‘for loop’ which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executed as long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greater than 1. This is due to the fact that at position one,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root of the array. Secondly, the element which we want to insert in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smaller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array[hole/2]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loop, we will assign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array[hole/2]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array[hole]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divide the hole by 2 and again check the loop condition.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exiting from the loop, we assign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array[hole]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understand this insert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process, you can get help from the pictorial diagrams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discussed earlier.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complete binary tree stored in an array and placed this new element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available position in the array and with respect to tree it was left most leaf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new node may have smaller value so it has to change its position. If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min-heap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this value should be moved upward. We will compare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parent. If the parent is bigger, it will move down and child will move up.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array notation, the parent of a child is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i/2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child is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position.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try to find the final position of this new node and exchange the values. You might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remember the example of insert discussed in some earlier lecture.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a hole going up. Now the swapping function generally contains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 and is not an expensive operation. But if we perform swapping again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again, it may cost some time. Therefore we will first find the final position of the new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379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and then insert it at that position. In the ‘for loop’ we are finding the final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the node and the hole is moving upwards. In the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array[hole] =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array[hole/2];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are moving the parent down till the time final position of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is achieved. Then we insert the node at its final position. It is advisable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execute this code only for actual data and see how it works.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method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First of all, it calls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isEmpty()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If heap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empty, it will display a message and return. If the heap is not empty, it will delete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As the minimum value lies at the first position of the array, we save this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variable and store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currentSize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at the first position of the array. At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time, we reduce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 one as one element is being deleted. Then we call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method, providing it the new root node. It will readjust the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put the last element of the array which is the right most leaf node of the tree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element will be deleted now. With this operation, the heap order can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disturbed. Therefore we will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percolateDown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which has the ability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readjust the tree. This method will make the tree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min-heap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again. There are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methods which we will cover in the next lecture.  </a:t>
            </a:r>
            <a:endParaRPr lang="ko-KR" altLang="en-US" dirty="0" smtClean="0" sz="1056"/>
          </a:p>
          <a:p>
            <a:pPr marL="0" indent="0" defTabSz="15240" algn="l">
              <a:lnSpc>
                <a:spcPts val="4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32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6.3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perculateDown Method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getMin Method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buildHeap Method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buildHeap in Linear Time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Theorem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defined a heap class and discussed methods for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implementation. Besides, the insert and delete procedures were talked about. Here,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continue with discussion on other methods of the heap class. C++ language 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written for these procedures so that we could complete the heap class and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to make heap objects.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well aware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In this method,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array[1]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( a root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element) is put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minItem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In the min heap case, this root element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smallest among the heap elements. Afterwards, the last element of the array is put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position of the array. The following two code lines perform this task.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minItem = array[ 1 ];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array[ 1 ] = array[ currentSize-- 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perculateDown Method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perculateDown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This is the same method earlier employed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build heap process. We passed it the node, say i, form where it starts its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restore the heap order. Let’s look at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perculateDown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It takes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as an argument and starts its functionality from that index. In the code, we give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this array index. Following is the code of this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 is the index at which the percolate begins.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Heap&lt;eType&gt;::percolateDown( int hole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int child;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eType tmp = array[ hole 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 ; hole * 2 &lt;= currentSize; hole = child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child = hole * 2;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if( child != currentSize &amp;&amp; array[child+1] &lt; array[ child ] )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child++;  //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right child is smaller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if( array[ child ] &lt; tmp 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array[ hole ] = array[ child 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else break;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array[ hole ] = tmp;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code of this function, it declares an integer variable 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before putting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at the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array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It is followed by a ‘for loop’,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core of this method. The termination condition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hole * 2 &lt;=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currentSize;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know the 2i (or i * 2) formula that gives us index position of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i. In the code given above, we are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instead of i. This variable 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loop variable. In other words, the termination condition means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will continue as long as the left child (hole * 2) is less than or equal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size (currentSize) of the heap. Before looking at the third condition in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change the value of loop variable, let’s have a view of the iteration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body of the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loop’, we assign the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 * 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child of an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located at the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it is obvious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has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number of the left child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there is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statement. In this statement,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check two conditions combined with &amp;&amp; (logical AND) operator.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if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 returns TRUE only if both the conditions are TRUE. The first condition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checks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(index) should not be equal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currentSize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while in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second condition, we compare the value at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 + 1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check whether the value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 + 1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the value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at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left child of its parent as we have found it by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formula of 2i (here we used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 * 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Thus the value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 + 1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of the parent (i.e. hole). Actually, we are comparing the left and right children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e. If both the conditions are TRUE, it means that right child is less than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child. Resultantly, we increment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by 1 to set it to the right child.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 in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statement, we compare the value at index child (which is left or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child depending upon our previous check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statement)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value. If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value, we will put the value of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the index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Otherwise,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is less than the child, we exit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by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break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statement. Thus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comes to the position of the parent (i.e. hole).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gets downward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child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goes upward. The ‘for loop’ continues, bringing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downward and setting it to its proper position. When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reaches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position, the ‘for loop’ exits (it may exit by meeting the break statement) and we put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tmp value in the array at the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method, at first, the final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hole is determined before putting value in it. Here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perculateDown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procedure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ends.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question arises why we are bringing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(index) downward? Why don’t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exchange the values? We can execute the process of exchanging values.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swap procedure to do this exchange. The swap process is carried out in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statements. We have to do this swapping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It is time-consuming process.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Contrast to it,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perculateDown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we execute one statement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three swap statements. So it is better to use one statement instead of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statements. This increases the efficiency with respect to time.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getMin Method 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discussed this method in the previous lectures while talking about the interface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heap. Under this method, the minimum value in the heap is determined. We just try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element and do not remove it. It is like the top method of stack that gives 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on the top of the stack but do not remove it from the stack. Similarly,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getMin method gives us the minimum value in the heap, which is not deleted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heap. This method is written in the following manner.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 eType&amp; Heap&lt;eType&gt;::getMin(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if( !isEmpty( )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return array[ 1 ];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discuss the buildHeap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buildHeap Method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takes an array along with its size as an argument and builds a heap out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Following is the code of this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Heap&lt;eType&gt;::buildHeap(eType* anArray, int n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for(int i = 1; i &lt;= n; i++)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array[i] = anArray[i-1];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currentSize = n;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for( int i = currentSize / 2; i &gt; 0; i--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percolateDown( i 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body of this method, at first, there is a ‘for loop’ that copies the argument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(i.e. anArray) into our internal array, called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array’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do this copy as the array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method gets as an argument starts from index zero. But we want that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start from index 1 so that the formula of  2i and 2i +1 could be used easily.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for loop, we start putting values in the internal array from index 1. Afterwards,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set the currentSize variable equal to the number of the elements got as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argument. Next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that we have already seen while discussing the build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heap. In the previous lecture, we used ‘N’ for number of elements but here, it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appropriate to use the currentSize, which is also the number of elements. We start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from the value i = currentSize / 2 and decrement the value of i by 1 for each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iteration and execute this loop till the value of i is greater than 0. In this for loop,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 the method perculateDown to find the proper position of the value given as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to this method. Thus we find the position for each element and get a heap.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there are three small methods. The isEmpty method is used to check whether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is empty. Similarly the isFull method is used to check if the heap is full.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getSize method is used to get the size of the heap. These three methods i.e. isEmpty,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isFull ans getSize are written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//isEmpty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Heap&lt;eType&gt;::isEmpty( 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currentSize ==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//isFull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 Heap&lt;eType&gt;::isFull( 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currentSize == capacity;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//getSize method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template &lt;class eType&gt;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Heap&lt;eType&gt;::getSize(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return currentSize;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buildHeap in Linear Time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takes an array to make a heap out of it. This process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making heap (buildHeap algorithm) works better than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N. We will prove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mathematically. Although our course is Data Structures, yet we have been discussing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efficiency of the data structures from the day one of this course. We talked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efficiently a data structure uses memory storage and how much it is efficient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respect to time. In different cases, mathematics is employed to check or compare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efficiency of different data structures.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we will show that the buildHeap is a linear time algorithm and is better than 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 algorithm which is not of linear nature. Linear algorithm is such a thing that if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draw its graph, it will be a straight line with some slope. Whereas the graph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non-linear algorithm will be like a curve. We will discuss it in detail later. To prove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superiority of the buildHeap over the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N, we need to show that the sum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heights is a linear function of N (number of nodes). Now we will a mathematical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proof that proves that the buildHeap algorithm is better than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N. Now consider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theorem.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Theorem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this theorem, “For a perfect binary tree of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containing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+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nodes, the sum of the heights of nodes is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+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 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h-1”.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theorem is about heights of tree. Let’s try to understand the concept of height.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start from the root node and go to the deepest leaf node of the tree,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links we pass to go to the deepest leaf node is called the height of the tree.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using the term depth and level for it also. Height can also be measured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to the deepest leaf node at height zero and going upward to the root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Normally we start from the root and go to the deepest level to determine the height. A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perfect binary tree of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total number of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equal to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+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Now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691130"/>
            <a:ext cx="4773295" cy="24295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5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according to the theorem, the sum of heights of nodes will be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- h –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prove it mathematically.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perfect binary tree, there are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level 0,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level 1,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 2 and so on. Generally, 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nodes. Now in terms of height, in a perfect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tree,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height of the root node, there are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so on. In general, there are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height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h-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 Following figure shows a perfect binary tree with the number of nodes at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heights.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 </a:t>
            </a:r>
            <a:endParaRPr lang="ko-KR" altLang="en-US" dirty="0" smtClean="0" sz="1145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1145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G</a:t>
            </a:r>
            <a:endParaRPr lang="ko-KR" altLang="en-US" dirty="0" smtClean="0" sz="1145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H </a:t>
            </a:r>
            <a:endParaRPr lang="ko-KR" altLang="en-US" dirty="0" smtClean="0" sz="1145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32.1: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Perfect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figure, we can see that there are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h-3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same is true about the number of nodes at other heights.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making use of this property, we find the sum of heights of all the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mathematically in the following manner. Suppose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sum of the heights of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nodes. Then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 = ∑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( h - i ),  for i = 0 to h – 1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  = h + 2(h-1) + 4(h-2) + 8(h-3)+ ….. + 2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    (1)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multiplying by 2 the both sides of equation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2S =       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 + 4(h-1) + 8(h-2) + 16(h-3)+ ….. + 2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(2)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subtracting the equation 2 from equation 1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h – 2 – 4 – 8 – 16 – …… –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h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-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 + 2 + 4 + 8 + 16+ ….. + 2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h-1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+2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endParaRPr lang="ko-KR" altLang="en-US" dirty="0" smtClean="0" sz="702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 = 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h+1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– 1) - (h+1)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sum of heights. Thus it proves the theorem.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stated earlier, in a perfect binary tree of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total number of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h+1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– 1). So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by replacing it in the above equation, we get S =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	– ( h + 1).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Since a binary complete tree has nodes between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equation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 = 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h+1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– 1) - (h+1)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also be written as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385 of 519 </a:t>
            </a:r>
            <a:endParaRPr lang="ko-KR" altLang="en-US" dirty="0" smtClean="0" sz="1056"/>
          </a:p>
        </p:txBody>
      </p:sp>
      <p:sp>
        <p:nvSpPr>
          <p:cNvPr id="1152" name="Rect 3"/>
          <p:cNvSpPr>
            <a:spLocks noGrp="1" noChangeArrowheads="1"/>
          </p:cNvSpPr>
          <p:nvPr/>
        </p:nvSpPr>
        <p:spPr>
          <a:xfrm rot="0">
            <a:off x="4748530" y="4404360"/>
            <a:ext cx="866775" cy="170815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1153" name="Rect 3"/>
          <p:cNvSpPr>
            <a:spLocks noGrp="1" noChangeArrowheads="1"/>
          </p:cNvSpPr>
          <p:nvPr/>
        </p:nvSpPr>
        <p:spPr>
          <a:xfrm rot="0">
            <a:off x="1508760" y="2865120"/>
            <a:ext cx="4106545" cy="16852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13" i="1">
                <a:solidFill>
                  <a:srgbClr val="000000"/>
                </a:solidFill>
                <a:latin typeface="Bookman Old Style"/>
                <a:ea typeface="Bookman Old Style"/>
              </a:rPr>
              <a:t>h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  <a:ea typeface="Arial"/>
              </a:rPr>
              <a:t> : 2</a:t>
            </a:r>
            <a:r>
              <a:rPr lang="en-US" altLang="ko-KR" dirty="0" smtClean="0" sz="659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 nodes </a:t>
            </a:r>
            <a:endParaRPr lang="ko-KR" altLang="en-US" dirty="0" smtClean="0" sz="1013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13" i="1">
                <a:solidFill>
                  <a:srgbClr val="000000"/>
                </a:solidFill>
                <a:latin typeface="Bookman Old Style"/>
                <a:ea typeface="Bookman Old Style"/>
              </a:rPr>
              <a:t>h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  <a:ea typeface="Arial"/>
              </a:rPr>
              <a:t> -1: 2</a:t>
            </a:r>
            <a:r>
              <a:rPr lang="en-US" altLang="ko-KR" dirty="0" smtClean="0" sz="659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 nodes </a:t>
            </a:r>
            <a:endParaRPr lang="ko-KR" altLang="en-US" dirty="0" smtClean="0" sz="1013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13" i="1">
                <a:solidFill>
                  <a:srgbClr val="000000"/>
                </a:solidFill>
                <a:latin typeface="Bookman Old Style"/>
                <a:ea typeface="Bookman Old Style"/>
              </a:rPr>
              <a:t>h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  <a:ea typeface="Arial"/>
              </a:rPr>
              <a:t> -2: 2</a:t>
            </a:r>
            <a:r>
              <a:rPr lang="en-US" altLang="ko-KR" dirty="0" smtClean="0" sz="659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 nodes </a:t>
            </a:r>
            <a:endParaRPr lang="ko-KR" altLang="en-US" dirty="0" smtClean="0" sz="1013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I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J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K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N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O</a:t>
            </a:r>
            <a:endParaRPr lang="ko-KR" altLang="en-US" dirty="0" smtClean="0" sz="1145"/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 ~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– 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(N+1)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equation,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stands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(2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h+1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– 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(N+1)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taken the place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(h+1)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equation is in term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(number of nodes) and there is no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height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equation. Moreover, it also shows that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getting larger, the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+1) term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insignificant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becomes a function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a value 1000000,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(1000000) will be approximately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20. We can see that it is insignificant with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1000000. Thus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say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approximately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insignificance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shows that when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build a heap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elements, the values move up and down to maintain heap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order. Thus in buildHeap case, the values traverse the tree up and down. 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question arises what will be the maximum number of these traversals? This means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if every node has to go up and down, what will be the maximum number of level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height. We have proved that the sum of heights (i.e. S) is approximately equal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total number of nodes (i.e. N) as N becomes larger. Now in the buildHeap,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number of up down movement of values is actually the sum of heights 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S. This S is the upper limit of number of movements in buildHeap. As this S is equal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N, so this upper limit is N and there is not any log term involved in it. Thus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buildHeap is a linear time application.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prove the previous theorem with a non-mathematical method. We know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a node in the tree is equal to the number of edges on the longest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downward path to a leaf. So if we want to find the height of a node, it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advisable to go to the deepest leaf node in the tree by following the links (edges)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path (the number of links traveled) to the leaf node is the height of that node.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 of a tree is the height of its root node. After these definitions, consider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two points that prove the theorem.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For any node in the tree that has some height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darken h tree edges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–Go down the tree by traversing left edge then only right edges.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There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 tree edges,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edges on right path, so number of darkened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edges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– 1 –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proves the theorem.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explain these two points with the help of figures.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perfect binary tree, shown in the figure below.  </a:t>
            </a:r>
            <a:endParaRPr lang="ko-KR" altLang="en-US" dirty="0" smtClean="0" sz="1056"/>
          </a:p>
          <a:p>
            <a:pPr marL="0" indent="0" defTabSz="15240" algn="l">
              <a:lnSpc>
                <a:spcPts val="19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441450"/>
            <a:ext cx="4773295" cy="23901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5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233670"/>
            <a:ext cx="4773295" cy="25876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5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32.2: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Marking the left edges for height 1 nodes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no values shown in the nodes. We are concerned with the heights of nodes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the values do not matter. We mark the left edges of the nodes having height 1.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leaf nodes are at height 0, so the one level above nodes has height 1,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edges of which are marked (shown light gray in above figure).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mark the first left edge and the subsequent right edge up to the leaf node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node at height 2. These marked edges are shown in the figure below with gray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color. </a:t>
            </a:r>
            <a:endParaRPr lang="ko-KR" altLang="en-US" dirty="0" smtClean="0" sz="1056"/>
          </a:p>
          <a:p>
            <a:pPr marL="0" indent="0" defTabSz="15240" algn="l">
              <a:lnSpc>
                <a:spcPts val="17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32.3: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Marking the first left edge and the subsequent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         right edge for height 2 nodes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go to the nodes at height 3, mark the first left edge and the subsequent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edge up to the leaf node. Thus we mark one left and then two right edges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at height 3. This is shown in the following figure. The edges marked in this step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seen as the dark lines.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441450"/>
            <a:ext cx="4773295" cy="25882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6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660265"/>
            <a:ext cx="4773295" cy="24199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5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32.4: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Marking the first left edge and the subsequent two right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edges for height 3 nodes 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reach at the root whose height is 4. We mark the first left edge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subsequent three right edges for this node. This is shown in 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1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32.5: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Marking the first left edge and the subsequent three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right edges for height 4 nodes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 the following figure. In this figure, we show all the marked edges (that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marked in the previous steps) in   gray and the non-marked edges are shown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dotted lines.  </a:t>
            </a:r>
            <a:endParaRPr lang="ko-KR" altLang="en-US" dirty="0" smtClean="0" sz="1056"/>
          </a:p>
          <a:p>
            <a:pPr marL="0" indent="0" defTabSz="15240" algn="l">
              <a:lnSpc>
                <a:spcPts val="1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600200"/>
            <a:ext cx="4773295" cy="23863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32.6: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Marked and unmarked edges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marked links are the ones through which the data can move up and down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We can move the data in any node at a height to a node at other height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marked links. However, for the movement of the data in the root node to right side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it, we can have opposite of the above figure. The opposite of the above figure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drawn by symmetry of the above steps. That means we first mark the right edge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then the subsequent left edges. This will give us the figure of marked links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we can move to the right subtree of root.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sort out different aspects of the tree shown in above figure. We know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case of 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nodes, there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 –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in the tree above there are 31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that means n = 31, so the number of edges is 31 - 1 = 30. The height of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4. Height is represented by the letter H. so H = 4. The number of dotted edges (that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were not marked) in the tree is 4 that is the same as the height of the tree. Now we put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values in the formula for the sum of the heights of the nodes. We know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formula i.e.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 = N – H –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putting values in this formula, we get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 = 31 – 4 – 1 =  26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count the darkened edges (marled links) in the above tree, it is also 26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equal to the sum of heights. Thus with the help of these figures, the theorem earlier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proved mathematically, is established by a non-mathematical way. </a:t>
            </a:r>
            <a:endParaRPr lang="ko-KR" altLang="en-US" dirty="0" smtClean="0" sz="1056"/>
          </a:p>
          <a:p>
            <a:pPr marL="0" indent="0" defTabSz="15240" algn="l">
              <a:lnSpc>
                <a:spcPts val="1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389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93775" y="1149350"/>
            <a:ext cx="6629400" cy="78117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6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 b="1">
                <a:solidFill>
                  <a:srgbClr val="000000"/>
                </a:solidFill>
                <a:latin typeface="Arial"/>
                <a:ea typeface="Arial"/>
              </a:rPr>
              <a:t>36</a:t>
            </a:r>
            <a:endParaRPr lang="ko-KR" altLang="en-US" dirty="0" smtClean="0" sz="702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In</a:t>
            </a:r>
            <a:endParaRPr lang="ko-KR" altLang="en-US" dirty="0" smtClean="0" sz="70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</a:t>
            </a:r>
            <a:r>
              <a:rPr lang="en-US" altLang="ko-KR" dirty="0" smtClean="0" sz="1409" u="sng" b="1">
                <a:solidFill>
                  <a:srgbClr val="800080"/>
                </a:solidFill>
                <a:latin typeface="Arial"/>
              </a:rPr>
              <a:t>33</a:t>
            </a:r>
            <a:endParaRPr lang="ko-KR" altLang="en-US" dirty="0" smtClean="0" sz="1409" u="sng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 6,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6.3, 8.1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linkes in the tree are counted then the sum </a:t>
            </a:r>
            <a:endParaRPr lang="ko-KR" altLang="en-US" dirty="0" smtClean="0" sz="70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been iteratinglot of times that the best use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of heap is implementing priority queues.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Lets try to develop a class of priority </a:t>
            </a:r>
            <a:endParaRPr lang="ko-KR" altLang="en-US" dirty="0" smtClean="0" sz="702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Priority Queue Using Heap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that was implementedusing an array.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Selection Problem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Heap Sort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code to use heap instead of any array. The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Disjoint Set ADT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Equivalence Relations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Priority Queue Using Heap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As discussed 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 previous lecture, we 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generally prefer to employ the		buildHeap to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this is containing all the events used for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construct 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instead of using insert 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	if we have all the required data.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		buildHeap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is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optimized as compared to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insert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as it takes lesser time than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Nlog</a:t>
            </a:r>
            <a:r>
              <a:rPr lang="en-US" altLang="ko-KR" dirty="0" smtClean="0" sz="702" u="sng" i="1">
                <a:solidFill>
                  <a:srgbClr val="800080"/>
                </a:solidFill>
                <a:latin typeface="Times New Roman"/>
              </a:rPr>
              <a:t>2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. In 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At the second line, we have included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previous discussion, we had proved a theorem that if the number of links in the tree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are counted, the sum of all is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N-h-1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We have been iterating a lot of times that the best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 maximum size of the priority queue to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use of heap is		priority queue’s implementation. Let’s try to develop a class of priority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queue with the help of a heap. You are very familiar with the concept of bank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6 indicating that all class members below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simulation. While explaining the bank simulation, we had used a priority queue		that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will be of public scope. Line 7 is starting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was implemented by using an array. Now, we will implement the same queue with 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9, a new heap object is being created, this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help of a heap. For this purpose, the code will be modified so that heap is used in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object is a collection of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Event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type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place of array. The interface (.h file) will remain the same. However,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implementation (.cpp file) will be changed. Let’s see the following cpp code, which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(pointer) of the newly created heap is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also shows the change in the .cpp file: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  <a:ea typeface="Times New Roman"/>
              </a:rPr>
              <a:t>PriorityQueue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class. Next comes the </a:t>
            </a:r>
            <a:endParaRPr lang="ko-KR" altLang="en-US" dirty="0" smtClean="0" sz="702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1. #include   “Event.cpp”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2. #include   “Heap.cpp”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resources) the pointer variable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. Next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3. #define   PQMAX   30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4. class   PriorityQueue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lectures.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method is returning an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5. {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6.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public: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which is checking whether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is not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PriorityQueue()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to the block)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Event*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variable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9.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   =   new   Heap &lt;Event&gt; ( PQMAX );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10.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(remove) an element from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, the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11.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~PriorityQueue()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You might have noticed already that in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u="sng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implementation we used reference. In the </a:t>
            </a:r>
            <a:endParaRPr lang="ko-KR" altLang="en-US" dirty="0" smtClean="0" sz="702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390 of 519 </a:t>
            </a:r>
            <a:endParaRPr lang="ko-KR" altLang="en-US" dirty="0" smtClean="0" sz="1056"/>
          </a:p>
        </p:txBody>
      </p:sp>
      <p:sp>
        <p:nvSpPr>
          <p:cNvPr id="1164" name="Rect 3"/>
          <p:cNvSpPr>
            <a:spLocks noGrp="1" noChangeArrowheads="1"/>
          </p:cNvSpPr>
          <p:nvPr/>
        </p:nvSpPr>
        <p:spPr>
          <a:xfrm rot="0">
            <a:off x="6056630" y="1532890"/>
            <a:ext cx="1555115" cy="7287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 b="1">
                <a:solidFill>
                  <a:srgbClr val="000000"/>
                </a:solidFill>
                <a:latin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discussed a lot about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.</a:t>
            </a:r>
            <a:endParaRPr lang="ko-KR" altLang="en-US" dirty="0" smtClean="0" sz="70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If we have all the data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available then</a:t>
            </a:r>
            <a:endParaRPr lang="ko-KR" altLang="en-US" dirty="0" smtClean="0" sz="70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we can use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to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construct heap.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is optimized as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compared to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method because it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takes lesserthan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Nlog</a:t>
            </a:r>
            <a:r>
              <a:rPr lang="en-US" altLang="ko-KR" dirty="0" smtClean="0" sz="438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time. We also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proved a theorem that if the number of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of heights of the nodes is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N-h-1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. We have </a:t>
            </a:r>
            <a:endParaRPr lang="ko-KR" altLang="en-US" dirty="0" smtClean="0" sz="702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queue using heap. You might be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remembering, when we did bank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simulation, weused a priority queue but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Now, we will implement the same queue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using a heap. We will modify the same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interface (.h file) will remain the same but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 implementation (.cpp file) will be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changed. As .cpp file will change, so let’s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see the .cpp code below:¶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 first line is including a file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Event.cpp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simulation. </a:t>
            </a:r>
            <a:r>
              <a:rPr lang="en-US" altLang="ko-KR" dirty="0" smtClean="0" sz="702">
                <a:solidFill>
                  <a:srgbClr val="FF0000"/>
                </a:solidFill>
                <a:latin typeface="Times New Roman"/>
              </a:rPr>
              <a:t>We are including .cpp files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FF0000"/>
                </a:solidFill>
                <a:latin typeface="Times New Roman"/>
                <a:ea typeface="Times New Roman"/>
              </a:rPr>
              <a:t>here as we have used templates of C++.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  <a:ea typeface="Times New Roman"/>
              </a:rPr>
              <a:t>heap.cpp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. In the third line, we are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defining a constant PQMAX, declaring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be 30. In line 4, class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PriorityQueue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declared.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public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keyword is given at line </a:t>
            </a:r>
            <a:endParaRPr lang="ko-KR" altLang="en-US" dirty="0" smtClean="0" sz="702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 class constructor’s definition. At line </a:t>
            </a:r>
            <a:endParaRPr lang="ko-KR" altLang="en-US" dirty="0" smtClean="0" sz="702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objects and the number of elements in the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collection is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PQMAX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. The address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stored in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object pointer. The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  <a:ea typeface="Times New Roman"/>
              </a:rPr>
              <a:t>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is a private pointer variable of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destructor of the class, where we are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deleting (deallocating the allocated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isthe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method that was sometimes,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named as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dequeue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in our previous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  <a:ea typeface="Times New Roman"/>
              </a:rPr>
              <a:t>Event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pointer. Inside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, the first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statement at line 19 is an if-condition;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empty. If the condition is true (i.e. the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  <a:ea typeface="Times New Roman"/>
              </a:rPr>
              <a:t>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is not empty), a local variable (local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declared. In the next line at line 22, we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are calling deleteMin method to delete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removed element is assigned to the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passed in parameter pointer variable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this version of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, the parameter is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being passed by pointer, in the previous </a:t>
            </a:r>
            <a:endParaRPr lang="ko-KR" altLang="en-US" dirty="0" smtClean="0" sz="702"/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09015" y="1130935"/>
            <a:ext cx="6614160" cy="59493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delete   heap;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15.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16.  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Event *   remove()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19.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if( !heap-&gt;isEmpty()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20.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21.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Event *   e;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heap-&gt;deleteMin( e );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return   e;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25.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cout  &lt;&lt;  "remove - queue is empty."  &lt;&lt;  endl;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26.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return  (Event *)  NULL;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27.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28.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29.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int   insert(Event *   e)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30.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31.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if( !heap-&gt;isFull()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1.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heap-&gt;insert( e );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34.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return   1;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35.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36.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cout  &lt;&lt;  "insert queue is full."  &lt;&lt;  endl;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return  0;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38.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39. 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40.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int  full(void)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41.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42.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return  heap-&gt;isFull();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43.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44. 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45.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int  length()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46.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47.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return  heap-&gt;getSize();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48.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};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49. }; </a:t>
            </a:r>
            <a:endParaRPr lang="ko-KR" altLang="en-US" dirty="0" smtClean="0" sz="1056" u="sng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 first line has a file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Event.cpp that contains 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all the events used for simulation. We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are including .cpp files here as done in case of templates of C++. In the second line,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there is heap.cpp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 while 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a constant PQMAX has been defined in third line, declaring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 maximum size of the priority queue to be 30. In line 4, class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PriorityQueue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is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declared.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public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keyword is given at line 6 indicating that all class members below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will be of public scope. Line 7 starts the class constructor’s definition while in the line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9; a new heap object is being created. This object is a collection of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Event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type objects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and the number of elements in the collection is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PQMAX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The address (pointer) of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newly created heap is stored in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heap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object pointer.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heap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is a private pointer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variable of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PriorityQueue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class. Now there is  the destructor of the class, where we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647690" y="8622665"/>
            <a:ext cx="1975485" cy="1739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are deleting (deallocating the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The first line is including a file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Event.cpp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all the events used for simulation. At the second line, we have included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heap.cpp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third line, we are defining a constant PQMAX, declaring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size of the priority queue to be 30. In line 4,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PriorityQueue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public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keyword is given at line 6 indicating that all class members below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of public scope. Line 7 is starting the class constructor’s definition. At line 9,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new heap object is being created, this object is a collection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Event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type objects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of elements in the collection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PQMAX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address (pointer)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newly created heap is stored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 pointer.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private pointer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PriorityQueue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class. Next comes the destructor of the class, where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deleting (deallocating the allocated resources) the pointer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Next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that was sometimes, named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dequeue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our previous lectures.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returning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Event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pointer. Inside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first statement at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is an if-condition; which is checking whether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empty. If the condition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true (i.e.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empty), a local variable (local to the block)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Event*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declared. In the next line at line 22, we are calling deleteMin method to delete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(remove) an element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removed element is assigned to the passed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parameter pointer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You might have noticed already that in this version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deleteMin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parameter is being passed by pointer, in the previous implementation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used reference. In the next line, the retrieved value is returned, the function returns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returning the pointer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if the heap was empty when checked at line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19, the control is transferred to the line 25. At line 25, a message is displayed to show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heap is empty and the next line returns a NULL pointer.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important to understand one thing that previously when we wrote the array based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We used to take an element out from the start of the array and shifted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remaining elements to left. As in this implementation, we are using heap,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all the responsibilities of maintaining the heap elements lie with the heap.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deleteMin() is called, it returns the minimum number.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We now observe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	insert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				line by line. It is accepting a pointer type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parameter of type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	Event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As the heap may become full, if we keep on inserting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elements into it, so the first line inside the insert function is checking whether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 has gone full. If the heap is not full, the if-block is entered. At line 33 inside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if-block, an element that is passed as a parameter to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insert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of heap is inserted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into the queue by calling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insert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of heap. This insert call will internally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perform percolate up and down operations to place the new element at its correct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position. The returned value 1 indicates the successful insertion in the queue. If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 has gone full, a message is displayed i.e. ‘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insert queue is full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’. Note that we have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used the word queue, not heap in that message. It needs to be done this way.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Otherwise, the users of the PriorityQueue class are unaware of the internal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representation of the queue (whether it is implemented using a heap or an array). Next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line is returning 0 while indicating that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insert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operation was not successful. Below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to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insert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, we have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full()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method. This method returns an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int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value. Internally, it is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calling is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Full()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of heap.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full()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returns whatever is returned by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  <a:ea typeface="Times New Roman"/>
              </a:rPr>
              <a:t>isFull()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of heap. Next is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length()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as the size of heap is also that of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queue. Therefore,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length()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is internally calling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getSize()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method of heap.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In this new implementation, the code is better readable than the PriorityQueue’s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431790" y="1124585"/>
            <a:ext cx="2191385" cy="1739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7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303905" y="1295400"/>
            <a:ext cx="4319270" cy="76231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7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implementation with array. While implementing the PriorityQueue with an array,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array,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had to sort the internal array every time 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	at each insertion in the array. This new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.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implementation is more efficient as the heap can readjust itself in log</a:t>
            </a:r>
            <a:r>
              <a:rPr lang="en-US" altLang="ko-KR" dirty="0" smtClean="0" sz="702" u="sng">
                <a:solidFill>
                  <a:srgbClr val="800080"/>
                </a:solidFill>
                <a:latin typeface="Times New Roman"/>
              </a:rPr>
              <a:t>2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N times. Gain in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performance is the major benefit of implementing PriorityQueue with heap as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implementation is more efficient because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compared to implementation with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There are other significant benefits of the heap that will be covered in this course time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benefit of implementing PriorityQueue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to time. At the moment, we will have some common example usages of heap		to make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you clear about other uses of heap. The heap data structure will be covered in 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as a student of Data Structures.¶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Algorithms course also.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uses of heap that would be covered in this </a:t>
            </a:r>
            <a:endParaRPr lang="ko-KR" altLang="en-US" dirty="0" smtClean="0" sz="70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u="sng" b="1">
                <a:solidFill>
                  <a:srgbClr val="800080"/>
                </a:solidFill>
                <a:latin typeface="Arial"/>
              </a:rPr>
              <a:t>The Selection Problem </a:t>
            </a:r>
            <a:endParaRPr lang="ko-KR" altLang="en-US" dirty="0" smtClean="0" sz="1230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Given a list of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elements (numbers, names etc.) which can be totally ordered and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heap in order to make you clear about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an integer k, find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k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smallest (or largest) element.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structure will be covered in the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Suppose, we have list of N names (names of students or names of motor vehicles or a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list of numbers of motor vehicles or list of roll numbers of students or id card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 b="1">
                <a:solidFill>
                  <a:srgbClr val="000000"/>
                </a:solidFill>
                <a:latin typeface="Arial"/>
              </a:rPr>
              <a:t>The Selection Problem¶</a:t>
            </a:r>
            <a:endParaRPr lang="ko-KR" altLang="en-US" dirty="0" smtClean="0" sz="702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numbers of the students, whatever). However, we are confronting the problem of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finding out the k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smallest element. Suppose we have a list of 1000 numbers and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want to find the 10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smallest number in it. The sorting is applied				to make 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and an integer k, find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smallest (or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elements ordered. After sorting out list of numbers, it will be very easy to find out any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desired smallest number.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Suppose we have list of N names (names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One way is to put these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elements in an array and sort it.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k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is at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k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problem is to findout the k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smallest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It will take Nlog</a:t>
            </a:r>
            <a:r>
              <a:rPr lang="en-US" altLang="ko-KR" dirty="0" smtClean="0" sz="702" u="sng">
                <a:solidFill>
                  <a:srgbClr val="800080"/>
                </a:solidFill>
                <a:latin typeface="Times New Roman"/>
              </a:rPr>
              <a:t>2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N time ,in case we use array data structure. Now, we want to see if it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smallest number in it. The sorting is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is possible to reduce the time from Nlog</a:t>
            </a:r>
            <a:r>
              <a:rPr lang="en-US" altLang="ko-KR" dirty="0" smtClean="0" sz="702" u="sng">
                <a:solidFill>
                  <a:srgbClr val="800080"/>
                </a:solidFill>
                <a:latin typeface="Times New Roman"/>
              </a:rPr>
              <a:t>2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N by using some other data structure or by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improving the algorithm? Yes, we can apply heap data structure					to make this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(in any order ascending or decending,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operation more efficient. 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very easy to findany desired smallest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A faster way is to put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elements into an array and apply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buildHeap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algorithm on this array.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&lt;#&gt;One way is to put these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elements in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Finally, we perform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k deleteMin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operations. The last element extracted from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 is our answer.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It will take Nlog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 time in case we use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buildHeap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algorithm is used to construct a heap of given N elements. If we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construct  ‘min-heap, the minimum of the N elements, will be positioned in the root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Nlog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 by using some other data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node of the heap. If we take out (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deleteMin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) k elements from the heap, we can get 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structure or by improving the algorithm?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Kth smallest element.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BuildHeap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</a:rPr>
              <a:t> works in linear time to make a min or a max-heap.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order to make this operation more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efficient. ¶</a:t>
            </a:r>
            <a:endParaRPr lang="ko-KR" altLang="en-US" dirty="0" smtClean="0" sz="702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The interesting case is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k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= À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</a:t>
            </a:r>
            <a:r>
              <a:rPr lang="en-US" altLang="ko-KR" dirty="0" smtClean="0" sz="1056" u="sng">
                <a:solidFill>
                  <a:srgbClr val="800080"/>
                </a:solidFill>
                <a:latin typeface="Bookman Old Style"/>
                <a:ea typeface="Bookman Old Style"/>
              </a:rPr>
              <a:t>/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2Â as it is also is known as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median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&lt;#&gt;A faster way is to put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elements 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In Statistics, we take the average of numbers to find the minimum, maximum and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&lt;#&gt;Finally, we perform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 deleteMin</a:t>
            </a:r>
            <a:endParaRPr lang="ko-KR" altLang="en-US" dirty="0" smtClean="0" sz="702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median. Median is defined as a number in the sequence where the half of the numbers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are greater than this number while the remaining half are smaller ones. Now, we can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come up with the mechanism to find median from a given N numbers. Suppose, we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algorithm is used to 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  <a:ea typeface="Tahoma"/>
              </a:rPr>
              <a:t>... [2]</a:t>
            </a:r>
            <a:endParaRPr lang="ko-KR" altLang="en-US" dirty="0" smtClean="0" sz="707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want to compute the median of final marks of students of our class while 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maximum aggregate marks for a student are 100. We use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buildHeap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to construct 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heap for N number of students. By calling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deleteMin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for N/2 times, the minimum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marks of the half number students will be taken out. The N/2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marks would be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393 of 519 </a:t>
            </a:r>
            <a:endParaRPr lang="ko-KR" altLang="en-US" dirty="0" smtClean="0" sz="1056"/>
          </a:p>
        </p:txBody>
      </p:sp>
      <p:sp>
        <p:nvSpPr>
          <p:cNvPr id="1171" name="Rect 3"/>
          <p:cNvSpPr>
            <a:spLocks noGrp="1" noChangeArrowheads="1"/>
          </p:cNvSpPr>
          <p:nvPr/>
        </p:nvSpPr>
        <p:spPr>
          <a:xfrm rot="0">
            <a:off x="6059170" y="4352290"/>
            <a:ext cx="1518920" cy="304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a list of numbers of motor vehicles or list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of roll numbers of students or id card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numbers of the students, whatever). The </a:t>
            </a:r>
            <a:endParaRPr lang="ko-KR" altLang="en-US" dirty="0" smtClean="0" sz="702"/>
          </a:p>
        </p:txBody>
      </p:sp>
      <p:sp>
        <p:nvSpPr>
          <p:cNvPr id="1172" name="Rect 3"/>
          <p:cNvSpPr>
            <a:spLocks noGrp="1" noChangeArrowheads="1"/>
          </p:cNvSpPr>
          <p:nvPr/>
        </p:nvSpPr>
        <p:spPr>
          <a:xfrm rot="0">
            <a:off x="4663440" y="4438015"/>
            <a:ext cx="2807970" cy="18713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617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smallest of these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element. So let’s say we have a list of </a:t>
            </a:r>
            <a:endParaRPr lang="ko-KR" altLang="en-US" dirty="0" smtClean="0" sz="702"/>
          </a:p>
          <a:p>
            <a:pPr marL="0" indent="0" defTabSz="15240" algn="l">
              <a:lnSpc>
                <a:spcPts val="9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  <a:ea typeface="Times New Roman"/>
              </a:rPr>
              <a:t>th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smallest of </a:t>
            </a:r>
            <a:endParaRPr lang="ko-KR" altLang="en-US" dirty="0" smtClean="0" sz="702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  <a:ea typeface="Times New Roman"/>
              </a:rPr>
              <a:t>th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position.¶</a:t>
            </a:r>
            <a:endParaRPr lang="ko-KR" altLang="en-US" dirty="0" smtClean="0" sz="702"/>
          </a:p>
        </p:txBody>
      </p:sp>
      <p:sp>
        <p:nvSpPr>
          <p:cNvPr id="1173" name="Rect 3"/>
          <p:cNvSpPr>
            <a:spLocks noGrp="1" noChangeArrowheads="1"/>
          </p:cNvSpPr>
          <p:nvPr/>
        </p:nvSpPr>
        <p:spPr>
          <a:xfrm rot="0">
            <a:off x="1725295" y="1508760"/>
            <a:ext cx="5868035" cy="73825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Deleted: 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Clearly then this new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 heap can readjusts itself in log</a:t>
            </a:r>
            <a:r>
              <a:rPr lang="en-US" altLang="ko-KR" dirty="0" smtClean="0" sz="438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times. Gain in performance is the major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using heap over implementing with array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and very important for you to remember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There are other significant benefits of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using heap and there are number of other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course time to time. At the moment, we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willsome common example usages of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other uses of heap. The heap data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Algorithms course also. ¶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&lt;#&gt;Given a list of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 elements (numbers, 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names etc.), which can be totally ordered,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largest) element.¶</a:t>
            </a:r>
            <a:endParaRPr lang="ko-KR" altLang="en-US" dirty="0" smtClean="0" sz="702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of students or names of motor vehicles or </a:t>
            </a:r>
            <a:endParaRPr lang="ko-KR" altLang="en-US" dirty="0" smtClean="0" sz="702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617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position.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1000 numbers and we want to find the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applied in order to make the elements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ordered. After sorting out list of numbers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let’s do in ascending in this as we are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finding the smallest number), it will be 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number.¶</a:t>
            </a:r>
            <a:endParaRPr lang="ko-KR" altLang="en-US" dirty="0" smtClean="0" sz="702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an array and sort it.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</a:t>
            </a:r>
            <a:endParaRPr lang="ko-KR" altLang="en-US" dirty="0" smtClean="0" sz="702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these is at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k</a:t>
            </a:r>
            <a:endParaRPr lang="ko-KR" altLang="en-US" dirty="0" smtClean="0" sz="702" i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array data structure. Now, we want to see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if it is possible to reduce the time from </a:t>
            </a:r>
            <a:endParaRPr lang="ko-KR" altLang="en-US" dirty="0" smtClean="0" sz="702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Yes, we can apply heap data structure in </a:t>
            </a:r>
            <a:endParaRPr lang="ko-KR" altLang="en-US" dirty="0" smtClean="0" sz="702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¶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into an array and apply the 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buildHeap</a:t>
            </a:r>
            <a:endParaRPr lang="ko-KR" altLang="en-US" dirty="0" smtClean="0" sz="702" i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algorithm on this array.¶</a:t>
            </a:r>
            <a:endParaRPr lang="ko-KR" altLang="en-US" dirty="0" smtClean="0" sz="702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operations. The last element extracted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from the heap is our answer.¶</a:t>
            </a:r>
            <a:endParaRPr lang="ko-KR" altLang="en-US" dirty="0" smtClean="0" sz="702"/>
          </a:p>
          <a:p>
            <a:pPr marL="0" indent="0" defTabSz="15240" algn="l">
              <a:lnSpc>
                <a:spcPts val="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647690" y="3181985"/>
            <a:ext cx="1975485" cy="1739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7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5654040" y="3660775"/>
            <a:ext cx="1969135" cy="1733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7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5654040" y="5416550"/>
            <a:ext cx="1969135" cy="1733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76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5654040" y="7775575"/>
            <a:ext cx="1969135" cy="1733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median of the marks of our class. The alternate methods are there to calculate median.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However, we are discussing		the possible uses of heap. Let’s see another use of heap.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u="sng" b="1">
                <a:solidFill>
                  <a:srgbClr val="800080"/>
                </a:solidFill>
                <a:latin typeface="Arial"/>
              </a:rPr>
              <a:t>Heap Sort </a:t>
            </a:r>
            <a:endParaRPr lang="ko-KR" altLang="en-US" dirty="0" smtClean="0" sz="1230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To take the 100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minimum element out from the min-heap, we will call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deleteMin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to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take out 1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st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element, 2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nd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element, 3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rd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element. Eventually we will call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deleteMin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100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time to take out our required 100</a:t>
            </a:r>
            <a:r>
              <a:rPr lang="en-US" altLang="ko-KR" dirty="0" smtClean="0" sz="702">
                <a:solidFill>
                  <a:srgbClr val="800080"/>
                </a:solidFill>
                <a:latin typeface="Times New Roman"/>
              </a:rPr>
              <a:t>th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minimum element. Suppose, if the size of the heap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is 100			elements, we have taken out all the elements out from the heap. Interestingly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 elements are sorted in ascending order. If somehow, we can store these		numbers,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let’s say in an array, all the elements sorted (in ascending order in this min-heap case)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can be had.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Hence,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If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k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=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, and we record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deleteMin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elements as they come off the heap. We will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have essentially sorted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elements.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Later in the course, we will fine-tune this idea to obtain a fast sorting algorithm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called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heapsort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We conclude our discussion on the heap here. However, it will be discussed in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forthcoming courses. At the moment, let’ see another Abstract Data Type.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u="sng" b="1">
                <a:solidFill>
                  <a:srgbClr val="800080"/>
                </a:solidFill>
                <a:latin typeface="Arial"/>
              </a:rPr>
              <a:t>Disjoint Set ADT</a:t>
            </a:r>
            <a:endParaRPr lang="ko-KR" altLang="en-US" dirty="0" smtClean="0" sz="1230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Before actually moving to an Abstract Data Type (ADT), we need to see what that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ADT is, how it works and in which situations it can be helpful. We are going to cover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Disjoint Set ADT. Firstly, we will have its introduction, examples and later the ways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of its implementation.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Suppose we have a database of people.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We want to figure out who is related to whom.Initially, we only have a list of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people, and information about relations is obtained by updating the form “Haaris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is related to Saad”.Let’s say we have a list of names of all people in a locality but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are not aware of their relationships to each other. After having the list of all people,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we start getting some information about their relationships gradually. For example,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“Ali Abbas is the son of Abbas”.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 situation becomes interesting when we have relationships like “Ali Abbas is first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cousin of Ayesha Ali (i.e. fathers of both are brothers) but Ayesha Ali has other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immediate cousins also from her mother’s side. Therefore, other immediate cousins of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Ayesha Ali also get related to Ali Abbas despite the fact that they are not immediate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to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him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</a:rPr>
              <a:t>”.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So as we keep on getting relationship details of the people, the direct and indirect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relationships can be established.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Key property: If Haaris is related to Saad and Saad is related to Ahmad, then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Haaris is related to Ahmad.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See the key property line’s first part above “Harris is related to Saad and Saad is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related to Ahmad”. Suppose we have a program to handle this list of people and their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relationships. After providing all the names “Harris, Saad and Ahmad” to that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program and					their relationships, the program might be able to determine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remaining part “Harris related to Ahmad”.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647690" y="1749425"/>
            <a:ext cx="1975485" cy="1739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7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 same problem (the intelligence required in the program) is described in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sentence below: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Once we have relationships information, it will be easy for us to  answer queries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like “Is Haaris related to Ahmad?”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To answer this kind of queries and		have that intelligence in our programs,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Disjoint Set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  <a:ea typeface="Times New Roman"/>
              </a:rPr>
              <a:t>ADT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is used. Before going for more information about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Disjoint Set			ADT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, we see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another application of this ADT in image analysis. This problem is known as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Blob 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  <a:ea typeface="Times New Roman"/>
              </a:rPr>
              <a:t>Coloring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i="1" b="1">
                <a:solidFill>
                  <a:srgbClr val="800080"/>
                </a:solidFill>
                <a:latin typeface="Times New Roman"/>
                <a:ea typeface="Times New Roman"/>
              </a:rPr>
              <a:t>Blob Coloring </a:t>
            </a:r>
            <a:endParaRPr lang="ko-KR" altLang="en-US" dirty="0" smtClean="0" sz="1056" u="sng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  <a:ea typeface="Times New Roman"/>
              </a:rPr>
              <a:t>A well-known low-level computer vision problem for black and white images is the 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  <a:ea typeface="Times New Roman"/>
              </a:rPr>
              <a:t>following: 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Put together all the picture elements (pixels) that belong to the same "blobs", and give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each pixel in each different blob an identical label.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You must have heard of robots that perform certain tasks automatically. How do they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know from the images provided to them that			in which direction should they move?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They can catch things and carry them. They do different things the way human		beings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do. Obviously, there is a software working internally in robots’ body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doing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all this controlling part and vision to the robot. This is very complex problem and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broad area of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			Computer Science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and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			Electrical Engineering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called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				Robotics</a:t>
            </a:r>
            <a:endParaRPr lang="ko-KR" altLang="en-US" dirty="0" smtClean="0" sz="1056" u="sng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Computer Vision 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in particular).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3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75230" y="1481455"/>
            <a:ext cx="1082040" cy="11487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8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30350" y="5364480"/>
            <a:ext cx="1663700" cy="1545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8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416935" y="5379720"/>
            <a:ext cx="1670050" cy="15392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180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5647690" y="3623945"/>
            <a:ext cx="1975485" cy="1739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7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Consider the image below: </a:t>
            </a:r>
            <a:endParaRPr lang="ko-KR" altLang="en-US" dirty="0" smtClean="0" sz="1056" u="sng"/>
          </a:p>
          <a:p>
            <a:pPr marL="0" indent="0" defTabSz="15240" algn="l">
              <a:lnSpc>
                <a:spcPts val="9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 b="1">
                <a:solidFill>
                  <a:srgbClr val="800080"/>
                </a:solidFill>
                <a:latin typeface="Times New Roman"/>
                <a:ea typeface="Times New Roman"/>
              </a:rPr>
              <a:t>``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1056" u="sng" b="1">
                <a:solidFill>
                  <a:srgbClr val="800080"/>
                </a:solidFill>
                <a:latin typeface="Times New Roman"/>
                <a:ea typeface="Times New Roman"/>
              </a:rPr>
              <a:t>Fig 33.1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This image is black and white, consisting of five non-overlapping black colored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regions of different shapes, called blobs. These blobs are two elliptics- n and u shaped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(two blobs) and one arc at the bottom. We can see these five blobs. How can robot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identify them? So the problem is: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								We want to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partition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the pixels into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disjoint sets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, one set per blob.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</a:t>
            </a:r>
            <a:r>
              <a:rPr lang="en-US" altLang="ko-KR" dirty="0" smtClean="0" sz="707" b="1">
                <a:solidFill>
                  <a:srgbClr val="000000"/>
                </a:solidFill>
                <a:latin typeface="Tahoma"/>
                <a:ea typeface="Tahoma"/>
              </a:rPr>
              <a:t>Formatted:</a:t>
            </a:r>
            <a:r>
              <a:rPr lang="en-US" altLang="ko-KR" dirty="0" smtClean="0" sz="707">
                <a:solidFill>
                  <a:srgbClr val="000000"/>
                </a:solidFill>
                <a:latin typeface="Tahoma"/>
              </a:rPr>
              <a:t> Bullets and Numbering</a:t>
            </a:r>
            <a:endParaRPr lang="ko-KR" altLang="en-US" dirty="0" smtClean="0" sz="707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If we make one set per blob, there will be five sets for the above image. To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understand the concept of disjoint sets, we can take an analogy with two sets- A and B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(as in Mathematics) where none of the elements inside set A is present in set B. The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800080"/>
                </a:solidFill>
                <a:latin typeface="Times New Roman"/>
                <a:ea typeface="Times New Roman"/>
              </a:rPr>
              <a:t>sets A and B are called disjoint sets.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Another problem related to the Computer Vision is the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image segmentation problem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See the image below on the left of an old ship in gray scales.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2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u="sng" b="1">
                <a:solidFill>
                  <a:srgbClr val="800080"/>
                </a:solidFill>
                <a:latin typeface="Times New Roman"/>
                <a:ea typeface="Times New Roman"/>
              </a:rPr>
              <a:t>Fig 33.2 </a:t>
            </a:r>
            <a:endParaRPr lang="ko-KR" altLang="en-US" dirty="0" smtClean="0" sz="1056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We want to find regions of different colors in this picture e.g. all regions in the picture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of color black and all regions in the image of color gray. The image on the right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represents the resultant image.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Different scanning processes carried out in hospitals through MRI (Magnetic </a:t>
            </a:r>
            <a:endParaRPr lang="ko-KR" altLang="en-US" dirty="0" smtClean="0" sz="1056" u="sng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Resonance Imaging), CAT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 Scan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or CT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 Scan views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the inner parts of the whole body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of human beings. These scan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ned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 images in gray scales represent organs of the human </a:t>
            </a:r>
            <a:endParaRPr lang="ko-KR" altLang="en-US" dirty="0" smtClean="0" sz="1056" u="sng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  <a:ea typeface="Times New Roman"/>
              </a:rPr>
              <a:t>body. All these are applications of </a:t>
            </a:r>
            <a:r>
              <a:rPr lang="en-US" altLang="ko-KR" dirty="0" smtClean="0" sz="1056" u="sng" i="1">
                <a:solidFill>
                  <a:srgbClr val="800080"/>
                </a:solidFill>
                <a:latin typeface="Times New Roman"/>
              </a:rPr>
              <a:t>Disjoint Set ADT</a:t>
            </a:r>
            <a:r>
              <a:rPr lang="en-US" altLang="ko-KR" dirty="0" smtClean="0" sz="1056" u="sng">
                <a:solidFill>
                  <a:srgbClr val="800080"/>
                </a:solidFill>
                <a:latin typeface="Times New Roman"/>
              </a:rPr>
              <a:t>. </a:t>
            </a:r>
            <a:endParaRPr lang="ko-KR" altLang="en-US" dirty="0" smtClean="0" sz="1056" u="sng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Equivalence Relations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some Mathematics about sets. You might have realized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Mathematics is handy whenever we perform analysis of some data structure.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A binary relation R over a set S is called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equivalence relation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it has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propertiesReflexivity: for all element x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∈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S, x R x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					Symmetry: for all elements x and y, x R y if and only if y R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					Transitivity: for all elements x, y and z, if x R y and y R z then x R z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The relation “is related to” is an equivalence relation over the set of people.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are advised to read about equivalence relations yourself from your text books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internet.</a:t>
            </a:r>
            <a:endParaRPr lang="ko-KR" altLang="en-US" dirty="0" smtClean="0" sz="1056"/>
          </a:p>
          <a:p>
            <a:pPr marL="0" indent="0" defTabSz="15240" algn="l">
              <a:lnSpc>
                <a:spcPts val="4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34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8.1, 8.2, 8.3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Equivalence Relations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Disjoint Sets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Dynamic Equivalence Problem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Equivalence Relations 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continue discussion on the abstract data structure, ‘disjointSets’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lecture with special emphasis on the mathematical concept of Equivalence Relations.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are aware of the rules and examples in this regard. Let’s discuss it further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define the concept of Equivalence Relations.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‘A binary relation R over a set S is called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equivalence relation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it has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properties’: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						Reflexivity: for all element x ξ S, x R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						Symmetry: for all elements x and y, x R y if and only if y R 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						Transitivity: for all elements x, y and z, if x R y and y R z then x R z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relation “is related to” is an equivalence relation over the set of people. This is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of Equivalence Relations. Now let’s see how the relations among people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satisfy the conditions of Equivalence Relation. Consider the example of Haris, Saad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Ahmed. Haris and Saad are related to each other as brother. Saad and Ahmed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related to each other as cousin. Here Haris “is related to” Saad and Saad “is related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to” Ahmed. Let’s see whether this binary relation is Equivalence Relation or not.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be ascertained by applying the above mentioned three rules.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rule is reflexive i.e. for all element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ξ S, x R 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Suppose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Haris 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Haris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 Haris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true because everyone is related to each other. Second is Symmetry: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all elements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y, x R 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if and only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R 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Suppose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Saad. According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rule,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Haris R Saad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if and only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Saad R Haris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two persons are related,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relationship is symmetric i.e. if I am cousin of someone so is he. Therefore if Haris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brother of Saad, then Saad is certainly the brother of Haris. The family relationship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symmetric. This is not the symmetric in terms of respect but in terms of relationship.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transitivity is: ‘for all elements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x, 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R 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R 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R 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Haris,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Saad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z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Ahmed. If Haris “is related to” Saad, Saad “is related to”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Ahmed. We can deduce that Haris “is related to” Ahmed. This is also true in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18690" y="7031990"/>
            <a:ext cx="2231390" cy="12249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8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relationships. If you are cousin of someone, the cousin of that person is also related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you. He may not be your first cousin but is related to you.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see an example of binary relationship that is not based on equivalence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relationship. The ≤ relationship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 equivalence relation. We will prove this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applying the three rules. The first rule is reflexive. It is reflexive, since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≤ 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less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but surely is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Let’s check the transitive condition. Since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≤ y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≤ 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implies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≤ z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., it is also true. However it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not symmetric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 ≤ 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≤ 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Two rules are satisfied but symmetric rule does not. Therefore ≤ is not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equivalence relation.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another example of binary relationship that is also equivalence relation.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from the electric circuit domain. Electrical connectivity, where all connections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metal wires, is an equivalence relation. You can make the circuit diagram on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paper including transistor, resistors and capacitors etc. These parts are connected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other with the metal wire. Now let’s apply the rules of equivalence relations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It is clearly reflexive, since the component is connected to itself. In a circuit,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transistor is connected to itself. It is symmetric due to the fact that if component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connected to component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b,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must be electrically connected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Suppose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two capacitors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capacitor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connected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capacitor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connected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also transitive. If component a is connected to component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connected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connected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also true in electrical connectivity.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 the three rules of equivalence relations satisfy in this case. Therefore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equivalence relation.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Disjoint Sets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beginning of the lecture, it was told that equivalence relationship partitioned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set. Suppose we have a set of elements and a relation which is also equivalence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relation. Let’s see what it does mathematically to the set. An equivalence relation 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over a set S can be viewed as a partitioning of S into disjoint sets. Here we have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equivalence relationship which satisfies the three conditions. Keep in mind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 of family relationships or electrical circuits. Here the second point is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set of the partition is called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equivalence class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R (all elements that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related).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diagram below. We have a set in the shape of an ellipse.  </a:t>
            </a:r>
            <a:endParaRPr lang="ko-KR" altLang="en-US" dirty="0" smtClean="0" sz="1056"/>
          </a:p>
          <a:p>
            <a:pPr marL="0" indent="0" defTabSz="15240" algn="l">
              <a:lnSpc>
                <a:spcPts val="1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set has been partitioned into multiple sets. All these parts are disjoint sets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belong to an equivalence class. 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399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an example to understand it. Suppose there are many people around you.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can we separate those who are related to each other in this gathering? We make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groups of people who are related to each other. The people in one group will say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they are related to each other. Similarly we can have many groups. So every group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say that they are related to each other with family relationship and there is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group that is related to any other group. The people in the group will say that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a single person in the other group who is related to them. There is a possibility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 boy from one group marries to a girl from the other group. Now a relation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established between these two groups. The people in both groups are related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other due to this marriage and become a bigger family. With the marriages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people living in different families are grouped together. We will do operations like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in case of disjoint sets by combining two sets. You must be aware of the union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intersection operations in sets.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member of S appears in exactly one equivalence class. We have divided a set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many disjoint sets. One member of the set can appear in only one equivalence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class. Keeping in mind the example of family relations, if a person belongs to a group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 cannot go to some other group. The second point is to decide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 R b.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purpose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need only to check whether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in the same equivalence class.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example of pixels. If a pixel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 a region and want to know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 of pixel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it, there is only the need to confirm that these two pixels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same region. Lastly, this provides a strategy to solve the equivalence problem.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second point we can get help to solve the equivalence problem.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far, we have not seen the disjoint sets and its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Dynamic Equivalence Problem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 data structure. Suppose we have a set and converted into disjoint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sets. Now we have to decide if these disjoint sets hold equivalence relation or not.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Keep in mind the example of family relations in which we had divided the people into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groups depending upon their relations. Suppose we have to decide that two persons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belong to the same family or not. You have to make this decision at once.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given a set of people and know the binary relation between them i.e. a person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cousin of other, a person is brother of other etc. So the relation between two persons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known to us. How we can take that decision? What is the data available to us?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people (with their names) and the binary relation among them. So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 and the pair of relations. Think that Haris and Ahmed are related to each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not i.e. they belong to the same family or not. How can we solve this? One way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out the relationship is given below.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relation is stored as a two-dimensional array of booleans, this can be done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constant time. The problem is that the relation is usually not explicitly defined,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implicit terms. Suppose we are given 1000 names of persons and relations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among them. Here we are not talking about the friendship as it is not a family relation.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only talking about the family relations like son-father, brother-brother, cousin-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cousin, brother-sister, etc. Can we deduce some more relations from these given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relations? Make a two dimensional array, write the names of persons as the columns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rows headings. Suppose Haris is the name of first column and first row. Saad is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of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col and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row. Similarly Ahmed, Omar, Asim and Qasim are in the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11935" y="2307590"/>
            <a:ext cx="3709035" cy="27673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8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4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5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and 6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columns and rows respectively. The names are arranged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way in columns and rows.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Haaris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endParaRPr lang="ko-KR" altLang="en-US" dirty="0" smtClean="0" sz="1056" i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Ahmed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endParaRPr lang="ko-KR" altLang="en-US" dirty="0" smtClean="0" sz="1056" i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Omar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endParaRPr lang="ko-KR" altLang="en-US" dirty="0" smtClean="0" sz="1056" i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Asim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endParaRPr lang="ko-KR" altLang="en-US" dirty="0" smtClean="0" sz="1056" i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Qasim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 </a:t>
            </a:r>
            <a:endParaRPr lang="ko-KR" altLang="en-US" dirty="0" smtClean="0" sz="1056" i="1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visit each cell of matrix. If two persons are related, store T(true)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corresponding column and row. As Haris and Saad are related to each other, so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row of Haris and column of Saad and store T in that cell. Also take the row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Saad and column of Ahmed and mark it with T. By now, we do not know that Haris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Ahmed are related so the entry in this regard will be false. We cannot write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T(True) here as this relationship has not be stated explicitly. We can deduce that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cannot write it in the matrix. Take all the pairs of relations and fill the matrix.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Haris is related to Haris so we will write T in the Haris row and Haris column.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the same can be done in the Saad row and Saad column and so on. This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square matrix as its rows and columns are equal. All of the diagonal entries are 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a person is related to himself. This is a self relation. Can we find out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Haris and Ahmed are related? We can find the answer of this question with the help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two relations between Haris &amp; Saad and Saad &amp; Ahmed. Now we can write T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Haris row and Ahmed column. The problem is that this information was not given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initially but we deduced this from the given information. We have 1000 people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of the matrix will be 1000 rows * 1000 columns. Suppose if we have 100,000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people, then the size of the array will be 100,000*100,000. If each entry requires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byte then how much storage will be required to store the whole array? Suppose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one million people, the size will be 10 to the power 14. Do we have as much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available in the computer? We have one solution but it is not efficient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terms of memory. There is always need of efficient solution in terms of space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time. For having a fast algorithm, we can compromise on the space. If we want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conserve memory, a slow algorithm can be used. The algorithm we discussed is fast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401 of 519 </a:t>
            </a:r>
            <a:endParaRPr lang="ko-KR" altLang="en-US" dirty="0" smtClean="0" sz="1056"/>
          </a:p>
        </p:txBody>
      </p:sp>
      <p:sp>
        <p:nvSpPr>
          <p:cNvPr id="1190" name="Rect 3"/>
          <p:cNvSpPr>
            <a:spLocks noGrp="1" noChangeArrowheads="1"/>
          </p:cNvSpPr>
          <p:nvPr/>
        </p:nvSpPr>
        <p:spPr>
          <a:xfrm rot="0">
            <a:off x="4047490" y="2148840"/>
            <a:ext cx="8636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</a:t>
            </a:r>
            <a:endParaRPr lang="ko-KR" altLang="en-US" dirty="0" smtClean="0" sz="1056"/>
          </a:p>
        </p:txBody>
      </p:sp>
      <p:sp>
        <p:nvSpPr>
          <p:cNvPr id="1191" name="Rect 3"/>
          <p:cNvSpPr>
            <a:spLocks noGrp="1" noChangeArrowheads="1"/>
          </p:cNvSpPr>
          <p:nvPr/>
        </p:nvSpPr>
        <p:spPr>
          <a:xfrm rot="0">
            <a:off x="3660775" y="2094230"/>
            <a:ext cx="128905" cy="6153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</a:t>
            </a:r>
            <a:endParaRPr lang="ko-KR" altLang="en-US" dirty="0" smtClean="0" sz="1056"/>
          </a:p>
        </p:txBody>
      </p:sp>
      <p:sp>
        <p:nvSpPr>
          <p:cNvPr id="1192" name="Rect 3"/>
          <p:cNvSpPr>
            <a:spLocks noGrp="1" noChangeArrowheads="1"/>
          </p:cNvSpPr>
          <p:nvPr/>
        </p:nvSpPr>
        <p:spPr>
          <a:xfrm rot="0">
            <a:off x="3041650" y="1993265"/>
            <a:ext cx="1137920" cy="7715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</a:t>
            </a:r>
            <a:endParaRPr lang="ko-KR" altLang="en-US" dirty="0" smtClean="0" sz="1056"/>
          </a:p>
        </p:txBody>
      </p:sp>
      <p:sp>
        <p:nvSpPr>
          <p:cNvPr id="1193" name="Rect 3"/>
          <p:cNvSpPr>
            <a:spLocks noGrp="1" noChangeArrowheads="1"/>
          </p:cNvSpPr>
          <p:nvPr/>
        </p:nvSpPr>
        <p:spPr>
          <a:xfrm rot="0">
            <a:off x="2706370" y="2094230"/>
            <a:ext cx="802640" cy="6153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310130" y="4971415"/>
            <a:ext cx="1835150" cy="16306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9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utilized too much space.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try to find out some more efficient solution of this problem. Consider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example. Suppose the equivalence relation is defined over the five-element set {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3,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5}. These elements can be the name of people, pixels, electrical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components etc. How many pairs we can have in this set? We have a pair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a1-a1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a1-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a1-a3, a1-a4, a1-a5, a2-a2, a2-a3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etc. The pair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a1-a2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a2-a1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equal due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symmetric. We also find some self-pairs (i.e.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a1-a1, a2-a2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etc). There are 25 pairs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elements, each of which is related or not (30 pairs – 5 self-pairs = 25). These are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total pairs and we may not have as much relations. What will be size of array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five elements? The size will be 5*5 = 25. We are also given relations i.e.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2,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3 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5 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4 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2,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five people in the example and their relation is given in four pairs. If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persons are brothers, then cousin of one brother is also the cousin of other.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out this information with the help of a matrix. We would like to be able to infer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information quickly.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made nodes of each element. These five nodes are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a1, a2, a3, a4, a5.</a:t>
            </a:r>
            <a:endParaRPr lang="ko-KR" altLang="en-US" dirty="0" smtClean="0" sz="1056" i="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84" i="1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013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84" i="1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2 </a:t>
            </a:r>
            <a:endParaRPr lang="ko-KR" altLang="en-US" dirty="0" smtClean="0" sz="1013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84" i="1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584" i="1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013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 R a2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so we link the nodes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a3 R a4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these two nodes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linked. Following this pattern, it is established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a5 R a1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a4 R a2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connect these nodes too. It is clear from the figure that all of these nodes are related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other. If they are related to each other as cousin, then all of these five persons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belong to the same family. They need to be in the same set. They are not in disjoint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sets.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a3 R a5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You can easily say yes. How you get this information? This relation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not provided in the given four relations. With the above tree or graph we can tell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a3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related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can get the information of relationship between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persons using these nodes and may not need the matrix.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get the information soon after the availability of the input data.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is processed immediately. The input is initially a collection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sets, each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element. Suppose if we have 1000 people, then there will be need of 1000 sets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402 of 519 </a:t>
            </a:r>
            <a:endParaRPr lang="ko-KR" altLang="en-US" dirty="0" smtClean="0" sz="1056"/>
          </a:p>
        </p:txBody>
      </p:sp>
      <p:sp>
        <p:nvSpPr>
          <p:cNvPr id="1196" name="Rect 3"/>
          <p:cNvSpPr>
            <a:spLocks noGrp="1" noChangeArrowheads="1"/>
          </p:cNvSpPr>
          <p:nvPr/>
        </p:nvSpPr>
        <p:spPr>
          <a:xfrm rot="0">
            <a:off x="3837305" y="5489575"/>
            <a:ext cx="208280" cy="2470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584" i="1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13"/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having only one person. Are these people related to each other? No, because every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 is in different set. This initial representation is that all relations (except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reflexive relations) are false. We have made 1000 sets for 1000 people, so only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reflexive relation (every person is related to himself) is true. Now mathematically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speaking, each set has a different element so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 ∩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j = Ø which makes the sets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disjoint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 person in one set has no relation with a person in another set, therefore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intersection is null. Now here we have 1000 sets each containing only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person. Only the reflexive relation is true and all the 1000 sets are disjoint. If we take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intersection of any two sets that will be null set i.e. there is no common member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Sometimes, we are given some binary relations and are asked to find 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relationship between two persons. In other words, we are not given the details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pair of 1000 persons. The names of 1000 persons and around 50 relations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provided. With the help of these 50 relations, we can find out more relations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persons. Such examples were seen above while find out the relationship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 of graph.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two permissible operations in these sets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method, we are given one element (name of the person) and asked to find which set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belongs to. Initially, we have 1000 sets and asked in which set person 99 is?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say that every person is in a separate set and person 99 is in set 99. When we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of relationships between different persons, the process of joining the sets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together can be started. This is the union operation. When we apply union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two sets, the members of both sets combined together and form a new set.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case, there will be no duplicate entry in the new sets as these were disjoint.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definitions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the name of the set (equivalence class) that contains a given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element, i.e.,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 = find(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merges two sets to create a new set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 =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 U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j.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give an element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and it returns the name of the set. The method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groups the member of two sets into a new set. We will have these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 in the disjoint abstract data type. If we want to add the relation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R 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need to see whether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already related. 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may be two persons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 relation is given between them. First of all we will see that they are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related or not. This is done by performing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on both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check whether they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in the same set or not. At first, we will send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and get the name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its set before sending b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If the name of both sets is same,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these two belong to the same set. If they are in the same set, there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 between them. We did not get any useful information with this relation.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 take the example of the Haris and Saad. We know that Haris is the brother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Saad, so they can be placed into a new set. Afterwards, we get the information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Saad is the brother of Haris.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question arises, if they are not in the same set, what should we do?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waste this information and apply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merges the two sets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into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set. This information will be helpful later on. We keep on building the database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this information. Let’s take the example of pixels. Suppose we have two pixels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are told that these two belong to the same region, have same color or these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pixels belong to the liver in CT scan. We will keep these two pixels and put them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set. We can name that set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liver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use union operation to merge two sets.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algorithm to do this is frequently known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/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this reason.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certain points to note here. We do not perform any operations comparing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relative values of set elements. That means that we are not considering that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 is older than the other, younger or one electrical component is bigger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etc. We merely require knowledge of their location, i.e., which set an element,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belongs to.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 algorithm building process. We can assume that all elements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numbered sequentially from 1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Initially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{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}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1 through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give numbers to persons like person1, person2 etc. Consider the example of jail.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jail, every prisoner is given a number. He is identified by a number, not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name. So you can say that persons in a cell of jail are related. We will use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to make our algorithm run faster. We can give numbers to every person,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pixel, each electrical component etc. Under this scheme, the member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S10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10. That number 10 can be of a person, a pixel or an electrical component.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concerned only with number.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Secondly, the name of the set returned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fairly arbitrary. All that really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matters is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=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if and only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in the same set. We will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 a solution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/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problem that for any sequence of at most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finds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up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-1 unions will require time proportional to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We are only storing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in the sets and not keeping any other relevant information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Similarly we are using numbers for the names of the sets. Therefore we may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that the method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just returns the number of the set i.e. the person 10 belongs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which set number. The answer may be that the person 10 belongs to set number 10.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set number of person 99 may be set 99. So if the set numbers of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persons is not equal, we can decide that these two persons do not belong to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set. With the help of this scheme, we will develop our algorithm that will run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fast. In the next lecture, we will discuss this algorithm and the data structure in detail.  </a:t>
            </a:r>
            <a:endParaRPr lang="ko-KR" altLang="en-US" dirty="0" smtClean="0" sz="1056"/>
          </a:p>
          <a:p>
            <a:pPr marL="0" indent="0" defTabSz="15240" algn="l">
              <a:lnSpc>
                <a:spcPts val="2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35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8.2, 8.3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Dynamic Equivalence Problem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Initialization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Find (i)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Union (i, j)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 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Initialization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union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find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Running Time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talking about the data structure implementation in detail, we will recap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things discussed in the previous lecture. The concepts that came under discussion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last lecture included the implementation of the disjoint set. It was observed that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data elements, we assign a unique number to each element to make sets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numbers. Moreover, techniques of merger and searching in these sets by using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operations union and find were, talked about. It was seen that if we send a set item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a number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method, it tells us the set of which this item is a member.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the name of the set. This name of set may also be a number. We talked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in which members of two sets join together to form a new set.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returns the name or number of this new set.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discuss the data structure used to implement the disjoint sets, besides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ascertaining whether this data structure implements the find and union operations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efficiently.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Dynamic Equivalence Problem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using sets to store the elements. For this purpose, it is essential to remember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element belongs to which set. We know that the elements in a set are unique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 tree is used to represent a set. Each element in a tree has the same root,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can be used to name the set. The item (number) in the root will be unique as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 has unique values of items. We use this root as the name of set for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convenience. Otherwise, we can use any name of our choice. So the element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 (the number) is used as the name of the set.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will return this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5038090"/>
            <a:ext cx="4773295" cy="12712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0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7245350"/>
            <a:ext cx="4773295" cy="16243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0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name. Due to the presence of many sets, there will be a collection of trees.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collection, each tree will be representing one set. If there are ten elements,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ten sets initially. Thus there will be ten trees at the beginning. In general,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N elements and initially there will be N trees. Each tree will have one element.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there will be N trees of one node. Now here comes a definition for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collection of trees, which states that a collection of trees is called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forest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trees used for the sets are not necessarily binary trees. That means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 that each node should have a maximum of two children nodes. Here a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have more than two children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execute the union operation in two sets, we merge the two trees of these sets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such a manner that the root of one tree points to the root of other. So there will be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root, resulting in the merger of the trees. We will consider an example to explain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union operation later.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find operation, when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 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helps us to know which set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belongs to. Internally, we find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a tree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forest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found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the number at root node (the name of the set) of that tree.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Example 1    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consider an example to understand this phenomenon. Suppose,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developed a data structure and apply the union and find operations on it.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eight elements in this data structure i.e.1 to 8. These may be the names of people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we have assigned these numbers. It may be other distinct eight elements.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proceed with these numbers and make a set of each number. The following figure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shows these numbers in different sets.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Eight elements, initially in different sets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carry out union operation on the sets 5 and 6. The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union(5,6)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means,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 the sets 5 and 6 and return the new set developed due to the merger of the sets-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and 6. In the following figure, we see this union. We put the set 6 below set 5,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join together.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(5, 6) </a:t>
            </a:r>
            <a:endParaRPr lang="ko-KR" altLang="en-US" dirty="0" smtClean="0" sz="1056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161030"/>
            <a:ext cx="4773295" cy="16243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0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6031865"/>
            <a:ext cx="4773295" cy="20237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0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the merger, the new set contains two members 5 and 6. Now the question arises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will be the name of this new set. In the above union operation, the set 6 becomes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of 5. It may be in reverse i.e. 5 could be a node of 6. In the above figure,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put 6 as node of 5. Moreover the arrow joining these is from 6 to 5. In the new set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formed due to the merger of 5 and 6, it seems that 5 has some superiority.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of the new set is 5. We passed two arguments 5 and 6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union made 6 a member of 5. Thus, if we pass S1 and S2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make S2 a member of S1. And the name of the new set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S1. That means the name of first argument will be the name of the new set.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 (7,8)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this call, 7 and 8 form a new set in which 8 is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member of 7 and the name of this new set is 7 (that is the first argument in the call).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other words, 7 is root and 8 its child. This is shown in the following figure.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(7, 8)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call the union function by passing it set 5 and set 7 as arguments i.e. we call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union (5,7)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Here the sets 5 and 7 have two members each. 5 and 6 are the members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5 and similarly the two members of 7 are 7 and 8. After merging these sets,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of the new set will be 5 as stated earlier that the new set will be named after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argument. The following figure (figure 35.4) shows that now in the set 5,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four members i.e. 5, 6, 7 and 8.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(5, 7)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see that there are four unique set members in this set (i.e. 5).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demonstrate the union operation with the help of another example. Suppose,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made another union that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(3,4)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call merges the set 4 with the set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3. The following figure shows this.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286510"/>
            <a:ext cx="4773295" cy="20237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0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4090670"/>
            <a:ext cx="4773295" cy="26269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0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35.5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(3, 4)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figure, we see that there are four sets that are 1, 2, 3 and 5. Now we unite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sets 4 and 5 and make a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(4,5)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following figure shows the outcome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call. In this figure, the set 5 points to 3 whereas we made a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(4,5)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 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(4, 5)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conclude that it is not necessary that the caller should send the roots to union.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necessary that the union function should be such that if a caller sends elements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sets, it should find the sets of those elements, merge them and return the name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set. Thus our previous call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 (4,5)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was actually carried out in the way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first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finds the root of 4 that is 3. Then it looks for 5 that itself is a root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its set. After this, it merges both the trees (sets). This merger is shown in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i.e. Figure 35.6.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 to now, we have come to know that the formation of this tree is not like a binary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in which we go down ward. Moreover, a binary tree has left and right children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are not seen yet in the tree we developed. This is a tree like structure with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properties.  </a:t>
            </a:r>
            <a:endParaRPr lang="ko-KR" altLang="en-US" dirty="0" smtClean="0" sz="10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these properties.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see that typical tree traversal (like inorder, preorder or postorder) is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required. So there is no need for pointers to point to the children. Instead, we need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to parent, as it’s an up-tree. We call it up-tree due to the fact that it is such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structure in which the pointers are upward. These parent pointers can be stored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array. Here we have to keep (and find) pointer to the parent of a node unlike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tree in which we keep pointer to child nodes. In the array, we will set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of root to –1. We can write it as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Parent[i] = -1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// if i is the root 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keep these tree structures (forest) in an array in the same manner.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merger of the trees, the parents of the nodes will be changed. There may be nodes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have no parent (we have seen this in the previous example). For such nodes,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keep –1 in the array. This shows that this node has no parent. Moreover,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will be a root that may be a parent of some other node.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develop the algorithm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Let’s consider an example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the implementation of this disjoint set data structure with an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Parent Array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Initialization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at the start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elements. These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 may be the original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 of the elements or unique numbers assigned to them. Now we take an array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keep these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 as root of each set in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numbers are used as the index of the array before storing –1 at each location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index zero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keep –1 to indicate a number as root. In code,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written as under.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( i = 0; i &lt; n ; i 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 [i] = -1 ;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Find ( i ) </a:t>
            </a:r>
            <a:endParaRPr lang="ko-KR" altLang="en-US" dirty="0" smtClean="0" sz="140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look at the following code of a loop. This loop is used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find the parent of an element or the name of the set that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contains that element. 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// traverse to the root (-1)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for(j=i; parent[j] &gt;= 0; j=parent[j])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j;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  <a:ea typeface="Arial"/>
              </a:rPr>
              <a:t>n this loop,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	i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is an argument passed to the find function.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execution of the loop starts from the value, passed to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find function. We assign this value to a variable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and </a:t>
            </a:r>
            <a:endParaRPr lang="ko-KR" altLang="en-US" dirty="0" smtClean="0" sz="1409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409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check whether its parent is greater than zero. It means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that it is not –1. If it is greater than zero, its parent exists,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necessitating the re-initialization of the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with this parent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for the next iteration. Thus this loop continues till we find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parent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(parent [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]) less than zero (i.e. -1). This means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that we come to the root before returning this number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  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Union ( i, j ) </a:t>
            </a:r>
            <a:endParaRPr lang="ko-KR" altLang="en-US" dirty="0" smtClean="0" sz="140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let’s see the code for the function of union. Here we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pass two elements to the function union. The union finds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roots of i and j. If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i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and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are disjoint sets, it will merge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them. Following is the code of this function. </a:t>
            </a:r>
            <a:endParaRPr lang="ko-KR" altLang="en-US" dirty="0" smtClean="0" sz="140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root_i = find(i);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root_j = find(j);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(root_i != root_j)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parent[root_j] = root_i;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code, we see that at first it finds the root of tree in which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exists by the find(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method and similarly finds the root of the set containing j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by find(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). Then there is a check in if statement to see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whether these sets (roots) are same or not. If these are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not the same, it merges them in such a fashion that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root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i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is set as the parent of root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Thus, in the array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where the value of root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exists, the value of root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i</a:t>
            </a:r>
            <a:endParaRPr lang="ko-KR" altLang="en-US" dirty="0" smtClean="0" sz="1409" i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becomes there. 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Example 2 </a:t>
            </a:r>
            <a:endParaRPr lang="ko-KR" altLang="en-US" dirty="0" smtClean="0" sz="140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understand these concepts, let’s consider an example.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We re-consider the same previous example of eight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numbers and see how the initialization, union and find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work. 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Initialization </a:t>
            </a:r>
            <a:endParaRPr lang="ko-KR" altLang="en-US" dirty="0" smtClean="0" sz="140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the following figure (figure 35.7), we have shown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initialization step. Here we make an array of eight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locations and have initialized them with –1 as these are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roots of the eight sets. This –1 indicates that there is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 parent of this number. We start the index of array from </a:t>
            </a:r>
            <a:endParaRPr lang="ko-KR" altLang="en-US" dirty="0" smtClean="0" sz="1409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703705"/>
            <a:ext cx="4773295" cy="17773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1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6324600"/>
            <a:ext cx="4773295" cy="21824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1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 for our convenience. Otherwise, we know that the index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of an array starts from zero.  </a:t>
            </a:r>
            <a:endParaRPr lang="ko-KR" altLang="en-US" dirty="0" smtClean="0" sz="140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35.7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Eight elements, initially in different sets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Union Operation </a:t>
            </a:r>
            <a:endParaRPr lang="ko-KR" altLang="en-US" dirty="0" smtClean="0" sz="140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come to the union operation. First of all, we call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union (5,6). This union operation forms an up-tree in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which 5 is up and 6 down to it. Moreover 6 is pointing to 5.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the array, we put 5 instead of –1 at the position 6. This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shows that now the parent of 6 is 5. The other positions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have –1 that indicates that these numbers are the roots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some tree. The only number, not a root now is 6. It is now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child of 5 or in other words, its parent is 5 as shown in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array in the following figure. </a:t>
            </a:r>
            <a:endParaRPr lang="ko-KR" altLang="en-US" dirty="0" smtClean="0" sz="1409"/>
          </a:p>
          <a:p>
            <a:pPr marL="0" indent="0" defTabSz="15240" algn="l">
              <a:lnSpc>
                <a:spcPts val="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(5, 6) </a:t>
            </a:r>
            <a:endParaRPr lang="ko-KR" altLang="en-US" dirty="0" smtClean="0" sz="1056"/>
          </a:p>
          <a:p>
            <a:pPr marL="0" indent="0" defTabSz="15240" algn="l">
              <a:lnSpc>
                <a:spcPts val="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112010"/>
            <a:ext cx="4773295" cy="21824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17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7263130"/>
            <a:ext cx="4773295" cy="1619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1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carry out the same process (i.e. union) with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numbers 7 and 8 by calling union (7,8). The following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figure represents this operation. Here we can see that the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parent of 8 is 7 and 7 itself is still a root.   </a:t>
            </a:r>
            <a:endParaRPr lang="ko-KR" altLang="en-US" dirty="0" smtClean="0" sz="140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(7, 8)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execute the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union (5,7)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The following figure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represents the tree and array status after the performance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of this union operation.  </a:t>
            </a:r>
            <a:endParaRPr lang="ko-KR" altLang="en-US" dirty="0" smtClean="0" sz="1409"/>
          </a:p>
          <a:p>
            <a:pPr marL="0" indent="0" defTabSz="15240" algn="l">
              <a:lnSpc>
                <a:spcPts val="3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4320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1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5782310"/>
            <a:ext cx="4773295" cy="25844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1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(5, 7)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tree in the figure shows that 7 points to 5 now. In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array, we see that the value at position 7 is 5. This means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that the parent of 7 is 5 now. Whereas the parent of 5 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still –1 that means it is still a root. Moreover, we can see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that the parent of 8 is 7 as before. 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Afterwards, we call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union (3,4)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The effect of this call 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shown in the following figure. Here in the array at position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4, there is 3 instead of –1. This shows that the parent of 4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is 3. </a:t>
            </a:r>
            <a:endParaRPr lang="ko-KR" altLang="en-US" dirty="0" smtClean="0" sz="1409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(3, 4) </a:t>
            </a:r>
            <a:endParaRPr lang="ko-KR" altLang="en-US" dirty="0" smtClean="0" sz="1056"/>
          </a:p>
          <a:p>
            <a:pPr marL="0" indent="0" defTabSz="15240" algn="l">
              <a:lnSpc>
                <a:spcPts val="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6038215"/>
            <a:ext cx="4773295" cy="1644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2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By looking at the array only, we can know that how many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trees are there in the collection (forest). The number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trees will be equal to the number of –1 in the array. In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above figure, we see that there are four –1 in the array so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number of trees is four and the trees in the figure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confirms this. These four trees are with the roots 1, 2 3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and 5 respectively.  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carry out another union operation. In this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operation, we do the union of 4 and 5 i.e. union (4, 5).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Here the number 4 is not a root. Rather, it is an element of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 set. We have already discussed that the union operation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finds the set (root) of the element passed to it before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putting together those sets. So here the union finds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set containing 4 that is 3. The element 5 itself is a name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(root) of a set. Now the union operation merges the two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sets by making the second set a member of the first set.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this call (union (4, 5)), the first set is 3 (that is found for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element 4) and second is 5. So the union joins 5 with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 while 5 is pointing to 3. Due to this union operation, now,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the array, there is 3 at position 5 instead of –1. The 3 at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this position 5 indicates that the parent of 5 is 3.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following figure shows the tree and array after the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operation union (4,5).  </a:t>
            </a:r>
            <a:endParaRPr lang="ko-KR" altLang="en-US" dirty="0" smtClean="0" sz="1409"/>
          </a:p>
          <a:p>
            <a:pPr marL="0" indent="0" defTabSz="15240" algn="l">
              <a:lnSpc>
                <a:spcPts val="2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0359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2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8244840"/>
            <a:ext cx="4773295" cy="16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2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After union (4, 5)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These were the union operations while using parent array.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let’s look at the find operation.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Find Operation </a:t>
            </a:r>
            <a:endParaRPr lang="ko-KR" altLang="en-US" dirty="0" smtClean="0" sz="1409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understand the find operation, we make a call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find (8)</a:t>
            </a:r>
            <a:endParaRPr lang="ko-KR" altLang="en-US" dirty="0" smtClean="0" sz="1409" i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the above forest. This call means that the caller wants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know the set in which number 8 is lying. We know that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the root of the tree is also the name of the set. By looking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at the trees in the figure below, we come to know that 8 is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the tree with 3 as root. This means 8 is in set 3.  </a:t>
            </a:r>
            <a:endParaRPr lang="ko-KR" altLang="en-US" dirty="0" smtClean="0" sz="1409"/>
          </a:p>
          <a:p>
            <a:pPr marL="0" indent="0" defTabSz="15240" algn="l">
              <a:lnSpc>
                <a:spcPts val="2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30359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2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5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7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Arial"/>
              </a:rPr>
              <a:t>8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35.13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find (8)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Thus from the figure, we find the set containing 8. This 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being implemented with the parent array to ultimately find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it in the array. For this find operation in the array, we have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discussed the algorithm in which we used a ‘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for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loop. This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‘for loop’ starts from the position that given to the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find</a:t>
            </a:r>
            <a:endParaRPr lang="ko-KR" altLang="en-US" dirty="0" smtClean="0" sz="1409" i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function. Here it is 8. The condition in the for loop was that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as long as parent [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] is greater than zero, set this parent [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]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Now we execute the loop with the value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equal to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8. First of all, the loop goes to position 8 and looks for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value of parent of 8. This value is 7, which sets the value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to 7 and goes to position 7. At that position, the value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of parent of 7 is 5. It goes to position 5. At position 5,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value of parent is 3. So the loop sets the value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j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equal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3 and goes to the position 3. Here it finds that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parent of 3 is –1 i.e. less than zero so the loop ends. This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position 3 is the root and name of the set as parent of it 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–1. Thus the name of the set that contains 8 is 3. The find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will return 3 which mean that 8 is a member of set 3. 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Similarly, in the above array, we can execute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operation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find (6)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. This will also return 3 as the loop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execution will be at the positions 6 before going to 5 and </a:t>
            </a:r>
            <a:endParaRPr lang="ko-KR" altLang="en-US" dirty="0" smtClean="0" sz="1409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finally to 3. It will end here, as the parent of 3 is –1. Thus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find (6)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returns 3 as the set that contains 6. 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Running Time analysis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discuss how the implementation of disjoint set is better. We must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 that while discussing the implementation of disjoint set, we talked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Boolean matrix. This is a two dimensional structure in which the equivalence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relations is kept as a set of Boolean values. Here in the parent array, we also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keeping the same information. The union will be used when the two items are related.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two-dimensional matrix, we can easily find an item by its index. Now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an array that is a single dimensional structure and seems better with respect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space. We keep all the information in this array which is at first kept in a matrix.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think about a single dimension array versus a two dimensional array. Suppose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1000 set members i.e. names of people. If we make a Boolean matrix for 1000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items, its size will be 1000 x 1000. Thus we need 1000000 locations for Boolean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values. In case of an array, the number of locations will be 1000. Thus this use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i.e.tree like structure is better than two-dimensional array in terms of space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keep disjoint sets and doing union and find operations. Moreover, we do not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(addresses) that are used in C++. We use array indices as pointers.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find, we follow some indices (pointers) to find the set containing a particular member.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these points of discussion, we conclude that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	union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clearly a constant time operation.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Running time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proportional to the height of the tree containing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This can be proportional to n in the worst case (but not always)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 Goal: Modify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ensure that heights stay small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discuss these points in detail in the next lecture.  </a:t>
            </a:r>
            <a:endParaRPr lang="ko-KR" altLang="en-US" dirty="0" smtClean="0" sz="1056"/>
          </a:p>
          <a:p>
            <a:pPr marL="0" indent="0" defTabSz="15240" algn="l">
              <a:lnSpc>
                <a:spcPts val="2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36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8.4, 8.5, 8.6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Running Time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Union by Size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Analysis of Union by Size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Union by Height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Sprucing up find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Timing with Optimization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Running Time Analysis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constructed up trees through arrays to implement disjoint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sets. u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methods along with their codes were discussed with the help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figures. We also talked about the ways to improve these methods. As far 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is concerned, considering the parent array, it was related to changing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of the array. The root value of the merging tree was put into that.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find, we have to go to the root node following the up pointers.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studying the balanced trees, we had constructed a binary search tree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already sorted data. The resultant tree becomes a linked list with height N. Similar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kind of risks involved here. Suppose, we have eight members i.e.1, 2, 3, 4, 5, 6, 7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as discussed in an example in the previous lecture. Suppose their unions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performed as union(1,2), union(2,3), union(3,4) and so on up to union(7,8). When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trees of these unions are merged together, there will be a longer tree of height 8. If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a find operation for an element that is present in the lowest node in the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N-1 links are traversed. In this particular case, 8-1=7 links.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with reduced tree (with lesser height), the time required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will also be reduced. We have to see whether it is possible to reduce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(in terms of height) of the resultant tree (formed after unions of trees). Therefore,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goal is: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								Goal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Modify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ensure that heights stay small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had already seen this goal in the last slide of our previous lecture, which is given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below in full: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union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clearly a constant-time operation.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Running time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proportional to the height of the tree containing node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This can be proportional to n in the worst case (but not always)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Goal: Modify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ensure that heights stay small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be thinking of employing the balancing technique here. But it will not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sagacious to apply it here. Due to the use of array, the ‘balancing’ may prove an error-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prone operation and is likely to decrease the performance too. We have an easier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appropriate method,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by 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by Weight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Union by Size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are the salient characteristics of this method: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Maintain sizes (number of nodes) of all trees, and during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Make smaller tree, the subtree of the larger one.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Implementation: for each root node 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, instead of setting 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parent[i]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to 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, set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-k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if tree rooted at 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has 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nodes.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This is also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union-by-weight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maintain the sizes of the trees as given in the first point. Until now,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not maintaining the size but only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If the value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a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–1, then this indicates that the node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Consider the code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again: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// find(i):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// traverse to the root (-1)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for(j=i; parent[j] &gt;= 0; j=parent[j])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return j;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terminating condition for loop is checking for non-negative values. At any point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parent[j]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gets negative, the loop terminates. Note that the condition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does not specify exactly the negative number. It may be the number –1, –2 , –3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other negative number that can cause the loop to be terminated. That means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also put the number of nodes (size) in the tree in this place. We can put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nodes in a tree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in the negative form. It means that if a tree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consists of six nodes,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will be containing –6 in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Therefore,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can be identified as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being the negative number and the magnitude (the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absolute value) of the number will be the size (the number of nodes) of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the two trees would be combined for union operation, the tree with smaller size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become part of the larger one. This will cause the reduction in tree size. 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why it is called union-by-size or union-by-weight.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pseudo-code of this union operation (quite close to C++ language).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contains the logic for reducing tree size as discussed above: </a:t>
            </a:r>
            <a:endParaRPr lang="ko-KR" altLang="en-US" dirty="0" smtClean="0" sz="1056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419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78025" y="7239000"/>
            <a:ext cx="2572385" cy="3352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3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//union(i,j):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root1 = find(i);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2.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root2 = find(j);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3.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(root1 != root2)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4.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if (parent[root1] &lt;= parent[root2])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// first tree has more nodes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parent[root1] += parent[root2];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parent[root2] = root1;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else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// second tree has more nodes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parent[root2] += parent[root1];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parent[root1] = root2;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15.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operation performs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two sets; element i’s set and element j’s set.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two lines are finding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 of the sets of both the elements i.e.i and j. Line 3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performing a check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case of being unequal, these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merged together. In next statement (line 4), the numbers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nodes are compared. Note that, the comparison is not on absolute values. So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with greater number of nodes would contain the lesser number mathematically.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condition at line 4 will be true, if the tree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in size than that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line 7, the size of the smaller tree is being added to the size of the greater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one. Line 8 is containing the statement that causes the trees to merge.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being pointed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is greater in size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tree,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if–condition at line 4 returns false and the control is transferred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else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part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if-condition.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(the size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tree) is added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root2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line 13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is merged into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tree using the statement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 14.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practice this approach using our previous example of array of eight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8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-1</a:t>
            </a:r>
            <a:endParaRPr lang="ko-KR" altLang="en-US" dirty="0" smtClean="0" sz="12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2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978" b="1">
                <a:solidFill>
                  <a:srgbClr val="000000"/>
                </a:solidFill>
                <a:latin typeface="Arial"/>
              </a:rPr>
              <a:t>Eight elements, initially in different sets.</a:t>
            </a:r>
            <a:endParaRPr lang="ko-KR" altLang="en-US" dirty="0" smtClean="0" sz="978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78" b="1">
                <a:solidFill>
                  <a:srgbClr val="000000"/>
                </a:solidFill>
                <a:latin typeface="Arial"/>
              </a:rPr>
              <a:t>Fig 36.1</a:t>
            </a:r>
            <a:endParaRPr lang="ko-KR" altLang="en-US" dirty="0" smtClean="0" sz="978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are eight nodes containing initially –1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indicating that each tree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420 of 519 </a:t>
            </a:r>
            <a:endParaRPr lang="ko-KR" altLang="en-US" dirty="0" smtClean="0" sz="1056"/>
          </a:p>
        </p:txBody>
      </p:sp>
      <p:sp>
        <p:nvSpPr>
          <p:cNvPr id="1233" name="Rect 3"/>
          <p:cNvSpPr>
            <a:spLocks noGrp="1" noChangeArrowheads="1"/>
          </p:cNvSpPr>
          <p:nvPr/>
        </p:nvSpPr>
        <p:spPr>
          <a:xfrm rot="0">
            <a:off x="1017905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256"/>
          </a:p>
        </p:txBody>
      </p:sp>
      <p:sp>
        <p:nvSpPr>
          <p:cNvPr id="1234" name="Rect 3"/>
          <p:cNvSpPr>
            <a:spLocks noGrp="1" noChangeArrowheads="1"/>
          </p:cNvSpPr>
          <p:nvPr/>
        </p:nvSpPr>
        <p:spPr>
          <a:xfrm rot="0">
            <a:off x="1657985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56"/>
          </a:p>
        </p:txBody>
      </p:sp>
      <p:sp>
        <p:nvSpPr>
          <p:cNvPr id="1235" name="Rect 3"/>
          <p:cNvSpPr>
            <a:spLocks noGrp="1" noChangeArrowheads="1"/>
          </p:cNvSpPr>
          <p:nvPr/>
        </p:nvSpPr>
        <p:spPr>
          <a:xfrm rot="0">
            <a:off x="2298065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256"/>
          </a:p>
        </p:txBody>
      </p:sp>
      <p:sp>
        <p:nvSpPr>
          <p:cNvPr id="1236" name="Rect 3"/>
          <p:cNvSpPr>
            <a:spLocks noGrp="1" noChangeArrowheads="1"/>
          </p:cNvSpPr>
          <p:nvPr/>
        </p:nvSpPr>
        <p:spPr>
          <a:xfrm rot="0">
            <a:off x="2934970" y="6449695"/>
            <a:ext cx="363855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56"/>
          </a:p>
        </p:txBody>
      </p:sp>
      <p:sp>
        <p:nvSpPr>
          <p:cNvPr id="1237" name="Rect 3"/>
          <p:cNvSpPr>
            <a:spLocks noGrp="1" noChangeArrowheads="1"/>
          </p:cNvSpPr>
          <p:nvPr/>
        </p:nvSpPr>
        <p:spPr>
          <a:xfrm rot="0">
            <a:off x="3575050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56"/>
          </a:p>
        </p:txBody>
      </p:sp>
      <p:sp>
        <p:nvSpPr>
          <p:cNvPr id="1238" name="Rect 3"/>
          <p:cNvSpPr>
            <a:spLocks noGrp="1" noChangeArrowheads="1"/>
          </p:cNvSpPr>
          <p:nvPr/>
        </p:nvSpPr>
        <p:spPr>
          <a:xfrm rot="0">
            <a:off x="4215130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256"/>
          </a:p>
        </p:txBody>
      </p:sp>
      <p:sp>
        <p:nvSpPr>
          <p:cNvPr id="1239" name="Rect 3"/>
          <p:cNvSpPr>
            <a:spLocks noGrp="1" noChangeArrowheads="1"/>
          </p:cNvSpPr>
          <p:nvPr/>
        </p:nvSpPr>
        <p:spPr>
          <a:xfrm rot="0">
            <a:off x="4855210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56"/>
          </a:p>
        </p:txBody>
      </p:sp>
      <p:sp>
        <p:nvSpPr>
          <p:cNvPr id="1240" name="Rect 3"/>
          <p:cNvSpPr>
            <a:spLocks noGrp="1" noChangeArrowheads="1"/>
          </p:cNvSpPr>
          <p:nvPr/>
        </p:nvSpPr>
        <p:spPr>
          <a:xfrm rot="0">
            <a:off x="5495290" y="6449695"/>
            <a:ext cx="360680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56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256"/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3075305" y="1469390"/>
            <a:ext cx="360045" cy="10299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4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304415" y="2724785"/>
            <a:ext cx="2758440" cy="3600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4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15770" y="4800600"/>
            <a:ext cx="365760" cy="10636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43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112135" y="4800600"/>
            <a:ext cx="365760" cy="10636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43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502535" y="6099175"/>
            <a:ext cx="2804160" cy="3657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contains only one node. Let’s unite two trees of 4 and 6. The new tree will be like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shown in Fig 36.2.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347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48" b="1">
                <a:solidFill>
                  <a:srgbClr val="000000"/>
                </a:solidFill>
                <a:latin typeface="Arial"/>
              </a:rPr>
              <a:t>Union(4,6)</a:t>
            </a:r>
            <a:endParaRPr lang="ko-KR" altLang="en-US" dirty="0" smtClean="0" sz="1048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-1</a:t>
            </a:r>
            <a:endParaRPr lang="ko-KR" altLang="en-US" dirty="0" smtClean="0" sz="1347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347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48" b="1">
                <a:solidFill>
                  <a:srgbClr val="000000"/>
                </a:solidFill>
                <a:latin typeface="Arial"/>
              </a:rPr>
              <a:t>Fig 36.2</a:t>
            </a:r>
            <a:endParaRPr lang="ko-KR" altLang="en-US" dirty="0" smtClean="0" sz="1048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figure, you can see the node 6 has come down to node 4. The array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depicts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position 4 is containing –2.  The number of nodes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2. The position 6 is set to 4 indicating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6 is 4. Next, we similarly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on nodes 2 and 3.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371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37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After union(2,3)</a:t>
            </a:r>
            <a:endParaRPr lang="ko-KR" altLang="en-US" dirty="0" smtClean="0" sz="1067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37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67" b="1">
                <a:solidFill>
                  <a:srgbClr val="000000"/>
                </a:solidFill>
                <a:latin typeface="Arial"/>
              </a:rPr>
              <a:t>Fig 36.3</a:t>
            </a:r>
            <a:endParaRPr lang="ko-KR" altLang="en-US" dirty="0" smtClean="0" sz="1067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perform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further and merge the trees 1 and 4.  </a:t>
            </a:r>
            <a:endParaRPr lang="ko-KR" altLang="en-US" dirty="0" smtClean="0" sz="1056"/>
          </a:p>
          <a:p>
            <a:pPr marL="0" indent="0" defTabSz="15240" algn="l">
              <a:lnSpc>
                <a:spcPts val="1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421 of 519 </a:t>
            </a:r>
            <a:endParaRPr lang="ko-KR" altLang="en-US" dirty="0" smtClean="0" sz="1056"/>
          </a:p>
        </p:txBody>
      </p:sp>
      <p:sp>
        <p:nvSpPr>
          <p:cNvPr id="1243" name="Rect 3"/>
          <p:cNvSpPr>
            <a:spLocks noGrp="1" noChangeArrowheads="1"/>
          </p:cNvSpPr>
          <p:nvPr/>
        </p:nvSpPr>
        <p:spPr>
          <a:xfrm rot="0">
            <a:off x="1017905" y="1469390"/>
            <a:ext cx="385445" cy="3594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347"/>
          </a:p>
        </p:txBody>
      </p:sp>
      <p:sp>
        <p:nvSpPr>
          <p:cNvPr id="1244" name="Rect 3"/>
          <p:cNvSpPr>
            <a:spLocks noGrp="1" noChangeArrowheads="1"/>
          </p:cNvSpPr>
          <p:nvPr/>
        </p:nvSpPr>
        <p:spPr>
          <a:xfrm rot="0">
            <a:off x="1703705" y="1469390"/>
            <a:ext cx="385445" cy="3594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347"/>
          </a:p>
        </p:txBody>
      </p:sp>
      <p:sp>
        <p:nvSpPr>
          <p:cNvPr id="1245" name="Rect 3"/>
          <p:cNvSpPr>
            <a:spLocks noGrp="1" noChangeArrowheads="1"/>
          </p:cNvSpPr>
          <p:nvPr/>
        </p:nvSpPr>
        <p:spPr>
          <a:xfrm rot="0">
            <a:off x="2389505" y="1469390"/>
            <a:ext cx="385445" cy="3594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347"/>
          </a:p>
        </p:txBody>
      </p:sp>
      <p:sp>
        <p:nvSpPr>
          <p:cNvPr id="1246" name="Rect 3"/>
          <p:cNvSpPr>
            <a:spLocks noGrp="1" noChangeArrowheads="1"/>
          </p:cNvSpPr>
          <p:nvPr/>
        </p:nvSpPr>
        <p:spPr>
          <a:xfrm rot="0">
            <a:off x="3761105" y="1469390"/>
            <a:ext cx="385445" cy="3594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347"/>
          </a:p>
        </p:txBody>
      </p:sp>
      <p:sp>
        <p:nvSpPr>
          <p:cNvPr id="1247" name="Rect 3"/>
          <p:cNvSpPr>
            <a:spLocks noGrp="1" noChangeArrowheads="1"/>
          </p:cNvSpPr>
          <p:nvPr/>
        </p:nvSpPr>
        <p:spPr>
          <a:xfrm rot="0">
            <a:off x="4788535" y="1450975"/>
            <a:ext cx="384810" cy="3594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347"/>
          </a:p>
        </p:txBody>
      </p:sp>
      <p:sp>
        <p:nvSpPr>
          <p:cNvPr id="1248" name="Rect 3"/>
          <p:cNvSpPr>
            <a:spLocks noGrp="1" noChangeArrowheads="1"/>
          </p:cNvSpPr>
          <p:nvPr/>
        </p:nvSpPr>
        <p:spPr>
          <a:xfrm rot="0">
            <a:off x="5474335" y="1450975"/>
            <a:ext cx="384810" cy="3594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347"/>
          </a:p>
        </p:txBody>
      </p:sp>
      <p:sp>
        <p:nvSpPr>
          <p:cNvPr id="1249" name="Rect 3"/>
          <p:cNvSpPr>
            <a:spLocks noGrp="1" noChangeArrowheads="1"/>
          </p:cNvSpPr>
          <p:nvPr/>
        </p:nvSpPr>
        <p:spPr>
          <a:xfrm rot="0">
            <a:off x="1017905" y="4800600"/>
            <a:ext cx="391160" cy="365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1</a:t>
            </a:r>
            <a:endParaRPr lang="ko-KR" altLang="en-US" dirty="0" smtClean="0" sz="1371"/>
          </a:p>
        </p:txBody>
      </p:sp>
      <p:sp>
        <p:nvSpPr>
          <p:cNvPr id="1250" name="Rect 3"/>
          <p:cNvSpPr>
            <a:spLocks noGrp="1" noChangeArrowheads="1"/>
          </p:cNvSpPr>
          <p:nvPr/>
        </p:nvSpPr>
        <p:spPr>
          <a:xfrm rot="0">
            <a:off x="3810000" y="4800600"/>
            <a:ext cx="387985" cy="365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371"/>
          </a:p>
        </p:txBody>
      </p:sp>
      <p:sp>
        <p:nvSpPr>
          <p:cNvPr id="1251" name="Rect 3"/>
          <p:cNvSpPr>
            <a:spLocks noGrp="1" noChangeArrowheads="1"/>
          </p:cNvSpPr>
          <p:nvPr/>
        </p:nvSpPr>
        <p:spPr>
          <a:xfrm rot="0">
            <a:off x="4855210" y="4800600"/>
            <a:ext cx="391160" cy="365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371"/>
          </a:p>
        </p:txBody>
      </p:sp>
      <p:sp>
        <p:nvSpPr>
          <p:cNvPr id="1252" name="Rect 3"/>
          <p:cNvSpPr>
            <a:spLocks noGrp="1" noChangeArrowheads="1"/>
          </p:cNvSpPr>
          <p:nvPr/>
        </p:nvSpPr>
        <p:spPr>
          <a:xfrm rot="0">
            <a:off x="5464810" y="4800600"/>
            <a:ext cx="391160" cy="365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371"/>
          </a:p>
        </p:txBody>
      </p:sp>
      <p:sp>
        <p:nvSpPr>
          <p:cNvPr id="1253" name="Rect 3"/>
          <p:cNvSpPr>
            <a:spLocks noGrp="1" noChangeArrowheads="1"/>
          </p:cNvSpPr>
          <p:nvPr/>
        </p:nvSpPr>
        <p:spPr>
          <a:xfrm rot="0">
            <a:off x="2606040" y="2209800"/>
            <a:ext cx="2622550" cy="41636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347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347"/>
          </a:p>
          <a:p>
            <a:pPr marL="0" indent="0" defTabSz="15240" algn="l">
              <a:lnSpc>
                <a:spcPts val="29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-2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-2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371">
                <a:solidFill>
                  <a:srgbClr val="000000"/>
                </a:solidFill>
                <a:latin typeface="Arial"/>
              </a:rPr>
              <a:t>-1</a:t>
            </a:r>
            <a:endParaRPr lang="ko-KR" altLang="en-US" dirty="0" smtClean="0" sz="1371"/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152015" y="1139825"/>
            <a:ext cx="1112520" cy="11550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5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44295" y="1139825"/>
            <a:ext cx="399415" cy="11550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5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200910" y="2553970"/>
            <a:ext cx="3056890" cy="3962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56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374775" y="5879465"/>
            <a:ext cx="3700145" cy="20694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5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494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494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163" b="1">
                <a:solidFill>
                  <a:srgbClr val="000000"/>
                </a:solidFill>
                <a:latin typeface="Arial"/>
              </a:rPr>
              <a:t>union(1,4)</a:t>
            </a:r>
            <a:endParaRPr lang="ko-KR" altLang="en-US" dirty="0" smtClean="0" sz="1163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94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63" b="1">
                <a:solidFill>
                  <a:srgbClr val="000000"/>
                </a:solidFill>
                <a:latin typeface="Arial"/>
              </a:rPr>
              <a:t>Fig 36.4</a:t>
            </a:r>
            <a:endParaRPr lang="ko-KR" altLang="en-US" dirty="0" smtClean="0" sz="1163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was a single node tree (-1 in the array at position 1) and 4 was the root node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 with two elements (-2 in the array at position 4) 4 and 6. As the tree with root 4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greater, therefore, node 1 will become part of it. Previously (when the union was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based on weight), it happened contrary to it with second argument tree becoming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the first tree.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case, the number of levels in the tree still remains the same (of two levels)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in the greater tree (with root 4). But we apply our previous logic i.e. 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levels of the trees would have been increased from two to three after the union.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Reducing the tree size was our goal of this approach.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step, we merge the trees of 2 and 4. The size of the tree with root 2 is 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(actually –2 in the parent array) while the size of the tree with root 4 is 3 (actually –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3). So the tree of node 2 will be joined in the tree with root 4. 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403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403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403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092" b="1">
                <a:solidFill>
                  <a:srgbClr val="000000"/>
                </a:solidFill>
                <a:latin typeface="Arial"/>
              </a:rPr>
              <a:t>union(2,4)</a:t>
            </a:r>
            <a:endParaRPr lang="ko-KR" altLang="en-US" dirty="0" smtClean="0" sz="1092" b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92" b="1">
                <a:solidFill>
                  <a:srgbClr val="000000"/>
                </a:solidFill>
                <a:latin typeface="Arial"/>
              </a:rPr>
              <a:t>Fig 36.5</a:t>
            </a:r>
            <a:endParaRPr lang="ko-KR" altLang="en-US" dirty="0" smtClean="0" sz="1092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latest values in the array i.e. at position 4, have been updated to –5 (indicating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of the tree has reached 5). At position 2, the new value is 4, which indicates that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422 of 519 </a:t>
            </a:r>
            <a:endParaRPr lang="ko-KR" altLang="en-US" dirty="0" smtClean="0" sz="1056"/>
          </a:p>
        </p:txBody>
      </p:sp>
      <p:sp>
        <p:nvSpPr>
          <p:cNvPr id="1256" name="Rect 3"/>
          <p:cNvSpPr>
            <a:spLocks noGrp="1" noChangeArrowheads="1"/>
          </p:cNvSpPr>
          <p:nvPr/>
        </p:nvSpPr>
        <p:spPr>
          <a:xfrm rot="0">
            <a:off x="3623945" y="1139825"/>
            <a:ext cx="424815" cy="3962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494"/>
          </a:p>
        </p:txBody>
      </p:sp>
      <p:sp>
        <p:nvSpPr>
          <p:cNvPr id="1257" name="Rect 3"/>
          <p:cNvSpPr>
            <a:spLocks noGrp="1" noChangeArrowheads="1"/>
          </p:cNvSpPr>
          <p:nvPr/>
        </p:nvSpPr>
        <p:spPr>
          <a:xfrm rot="0">
            <a:off x="4766945" y="1139825"/>
            <a:ext cx="421640" cy="3962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494"/>
          </a:p>
        </p:txBody>
      </p:sp>
      <p:sp>
        <p:nvSpPr>
          <p:cNvPr id="1258" name="Rect 3"/>
          <p:cNvSpPr>
            <a:spLocks noGrp="1" noChangeArrowheads="1"/>
          </p:cNvSpPr>
          <p:nvPr/>
        </p:nvSpPr>
        <p:spPr>
          <a:xfrm rot="0">
            <a:off x="5431790" y="1139825"/>
            <a:ext cx="421640" cy="3962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94"/>
          </a:p>
        </p:txBody>
      </p:sp>
      <p:sp>
        <p:nvSpPr>
          <p:cNvPr id="1259" name="Rect 3"/>
          <p:cNvSpPr>
            <a:spLocks noGrp="1" noChangeArrowheads="1"/>
          </p:cNvSpPr>
          <p:nvPr/>
        </p:nvSpPr>
        <p:spPr>
          <a:xfrm rot="0">
            <a:off x="5126990" y="5879465"/>
            <a:ext cx="403225" cy="3721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03"/>
          </a:p>
        </p:txBody>
      </p:sp>
      <p:sp>
        <p:nvSpPr>
          <p:cNvPr id="1260" name="Rect 3"/>
          <p:cNvSpPr>
            <a:spLocks noGrp="1" noChangeArrowheads="1"/>
          </p:cNvSpPr>
          <p:nvPr/>
        </p:nvSpPr>
        <p:spPr>
          <a:xfrm rot="0">
            <a:off x="2304415" y="2627630"/>
            <a:ext cx="2865755" cy="5577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-2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-3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94">
                <a:solidFill>
                  <a:srgbClr val="000000"/>
                </a:solidFill>
                <a:latin typeface="Arial"/>
              </a:rPr>
              <a:t>-1</a:t>
            </a:r>
            <a:endParaRPr lang="ko-KR" altLang="en-US" dirty="0" smtClean="0" sz="1494"/>
          </a:p>
          <a:p>
            <a:pPr marL="0" indent="0" defTabSz="15240" algn="l">
              <a:lnSpc>
                <a:spcPts val="37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-5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-1</a:t>
            </a:r>
            <a:endParaRPr lang="ko-KR" altLang="en-US" dirty="0" smtClean="0" sz="1403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03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03"/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2075815"/>
            <a:ext cx="4593590" cy="20300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6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up node of 2 is 4.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perform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union(5,4)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operation. We know that the size of the tree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4 is 5 (-5 in the array) and node 5 is single node tree. As per our rules of union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size, the node 5 will become part of the tree 4.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581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581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5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58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Fig 36.6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updates inside the array can be seen as the value at position 4 has been changed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–6 and new value at position 5 is 4. This is the tree obtained after applying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union-by-size approach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Consider, if we had applied the previous method of union,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tree’s depth would have been increased more.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seems that we have achieved our goal of reducing the tree size up to certain extent.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Remember, the benefit of reducing the tree height is to increase performance while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finding the elements inside the tree.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Analysis of Union by Size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If unions are done by weight (size), the depth of any element is never greater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834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following the		previous method of union where second tree becomes the part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tree, the depth of the tree may extend to N. Here N is the number of nodes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But if we take size into account and perform union by size, the depth of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834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maximum. Suppose the N is 100,000  i.e.for 100,000 nodes. The previous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methods may give us a tree with depth level as 100,000. But on the other hand,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834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100000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approximately 20.U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nion-by-size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gives us a tree of 20 levels of depth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maximum. So this is a significant improvement.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Mathematical proof of this improvement is very complex .We are not covering it 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only providing the logic or reasoning in intuitive proof. </a:t>
            </a:r>
            <a:endParaRPr lang="ko-KR" altLang="en-US" dirty="0" smtClean="0" sz="1056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423 of 519 </a:t>
            </a:r>
            <a:endParaRPr lang="ko-KR" altLang="en-US" dirty="0" smtClean="0" sz="1056"/>
          </a:p>
        </p:txBody>
      </p:sp>
      <p:sp>
        <p:nvSpPr>
          <p:cNvPr id="1263" name="Rect 3"/>
          <p:cNvSpPr>
            <a:spLocks noGrp="1" noChangeArrowheads="1"/>
          </p:cNvSpPr>
          <p:nvPr/>
        </p:nvSpPr>
        <p:spPr>
          <a:xfrm rot="0">
            <a:off x="2231390" y="2910840"/>
            <a:ext cx="2984500" cy="93853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union(5,4)</a:t>
            </a:r>
            <a:endParaRPr lang="ko-KR" altLang="en-US" dirty="0" smtClean="0" sz="1231" b="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-6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-1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-1</a:t>
            </a:r>
            <a:endParaRPr lang="ko-KR" altLang="en-US" dirty="0" smtClean="0" sz="1581"/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Intuitive Proof: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Initially, every element is at depth zero.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When its depth increases as a result of a union operation (it’s in the smaller tree),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is placed in a tree that becomes at least twice as large as before (union of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equal size trees).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How often can each union be carried out? -- log</a:t>
            </a:r>
            <a:r>
              <a:rPr lang="en-US" altLang="ko-KR" dirty="0" smtClean="0" sz="834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times, because after at most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log</a:t>
            </a:r>
            <a:r>
              <a:rPr lang="en-US" altLang="ko-KR" dirty="0" smtClean="0" sz="834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unions, the tree will contain 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Union by Height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Alternative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union-by-size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strategy: maintain heights,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During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make a tree with smaller height a subtree of the other.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Details are left as an exercise.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an alternate way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union-by-size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we maintain heights of the trees and join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 based on their heights. The tree with smaller height will become part of the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greater height. This is quite similar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union-by-size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order to implement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Disjoint Set ADT, any of these solutions can work. Both the techniques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union-by-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union-by-height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equivalent, although, there are minor differences when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analyzed thoroughly.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 what can we do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to make it faster.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Sprucing up Find </a:t>
            </a:r>
            <a:endParaRPr lang="ko-KR" altLang="en-US" dirty="0" smtClean="0" sz="1231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So far we have tried to optimize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Can we optimize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Yes, it can be achieved by using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path compression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(or compaction).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Considering performance, we can optimize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We have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optimized the trees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and now we will see how can optimize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path compression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During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), as we traverse the path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update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entries for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nodes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This reduces the heights of all these nodes.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Pay now, and reap the benefits later!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Subsequent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may do less work.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understand the statements above, let’s see the updated code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find (i) 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if (parent[i] &lt; 0)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return i; </a:t>
            </a:r>
            <a:endParaRPr lang="ko-KR" altLang="en-US" dirty="0" smtClean="0" sz="1056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3163570"/>
            <a:ext cx="4812665" cy="30543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6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else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return parent[i] = find(parent[i]);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modified the code in the body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implementation is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nature.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parent[i]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negative means that we have reached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we are returning i. If this is not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node, then find method is being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called recursively. We know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parent[i]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may be positive or negative. But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it will not be negative due to being an index. To understand this recursive call,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elaborate it further with the help of figure.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with argument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87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70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870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870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35</a:t>
            </a:r>
            <a:endParaRPr lang="ko-KR" altLang="en-US" dirty="0" smtClean="0" sz="87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70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870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tree is bigger as compared to the ones in our previous examples, it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constructed after performing some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 on trees. Now we have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with argument 1. We want to find the set with node 1. By following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method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will traverse the tree from 1 to 2, from 2 to 9, 9 to 4, 4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 and finally from 13 to 7, which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node, containing the negative number.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the find will return 7.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apply recursive mechanism given in the above code, the recursive call will start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find(1). 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parent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find(1))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2. The recursive call for 2 will take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control to node 9, then to 4, 13 and then eventually to 7. When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find(7)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called,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 the negative number and reach the recursion stopping condition. Afterwards,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recursive calls, on the stack are executed one by one. The call for 13,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find(13)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7.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find(4)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7 because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find(parent(4))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returns 7. That is why the link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between 4 and 13 has been dropped and a new link is established between 4 and 7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Fig 36.7. So the idea is to make the traversal path shorter from a node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remaining recursive calls will also return 7 as the result of find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425 of 519 </a:t>
            </a:r>
            <a:endParaRPr lang="ko-KR" altLang="en-US" dirty="0" smtClean="0" sz="1056"/>
          </a:p>
        </p:txBody>
      </p:sp>
      <p:sp>
        <p:nvSpPr>
          <p:cNvPr id="1268" name="Rect 3"/>
          <p:cNvSpPr>
            <a:spLocks noGrp="1" noChangeArrowheads="1"/>
          </p:cNvSpPr>
          <p:nvPr/>
        </p:nvSpPr>
        <p:spPr>
          <a:xfrm rot="0">
            <a:off x="3715385" y="4519930"/>
            <a:ext cx="2052320" cy="1554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70"/>
          </a:p>
          <a:p>
            <a:pPr marL="0" indent="0" defTabSz="15240" algn="l">
              <a:lnSpc>
                <a:spcPts val="10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70" b="1">
                <a:solidFill>
                  <a:srgbClr val="000000"/>
                </a:solidFill>
                <a:latin typeface="Arial"/>
              </a:rPr>
              <a:t>Fig 36.7</a:t>
            </a:r>
            <a:endParaRPr lang="ko-KR" altLang="en-US" dirty="0" smtClean="0" sz="870" b="1"/>
          </a:p>
        </p:txBody>
      </p:sp>
      <p:sp>
        <p:nvSpPr>
          <p:cNvPr id="1269" name="Rect 3"/>
          <p:cNvSpPr>
            <a:spLocks noGrp="1" noChangeArrowheads="1"/>
          </p:cNvSpPr>
          <p:nvPr/>
        </p:nvSpPr>
        <p:spPr>
          <a:xfrm rot="0">
            <a:off x="1886585" y="3666490"/>
            <a:ext cx="3530600" cy="24415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87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70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30</a:t>
            </a:r>
            <a:endParaRPr lang="ko-KR" altLang="en-US" dirty="0" smtClean="0" sz="870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870" b="1">
                <a:solidFill>
                  <a:srgbClr val="000000"/>
                </a:solidFill>
                <a:latin typeface="Arial"/>
              </a:rPr>
              <a:t>Find (1)</a:t>
            </a:r>
            <a:endParaRPr lang="ko-KR" altLang="en-US" dirty="0" smtClean="0" sz="870" b="1"/>
          </a:p>
          <a:p>
            <a:pPr marL="0" indent="0" defTabSz="15240" algn="l">
              <a:lnSpc>
                <a:spcPts val="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870"/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1606550"/>
            <a:ext cx="4812665" cy="31756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7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17905" y="5730240"/>
            <a:ext cx="4581525" cy="30295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operation. Therefore, for subsequent calls we establish the links directly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87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70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870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870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35</a:t>
            </a:r>
            <a:endParaRPr lang="ko-KR" altLang="en-US" dirty="0" smtClean="0" sz="87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870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870"/>
          </a:p>
          <a:p>
            <a:pPr marL="0" indent="0" defTabSz="15240"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node 2 is directly connected to the root node and the interlink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2 and 9 is dropped.  </a:t>
            </a:r>
            <a:endParaRPr lang="ko-KR" altLang="en-US" dirty="0" smtClean="0" sz="1056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754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54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754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754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35</a:t>
            </a:r>
            <a:endParaRPr lang="ko-KR" altLang="en-US" dirty="0" smtClean="0" sz="754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54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754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426 of 519 </a:t>
            </a:r>
            <a:endParaRPr lang="ko-KR" altLang="en-US" dirty="0" smtClean="0" sz="1056"/>
          </a:p>
        </p:txBody>
      </p:sp>
      <p:sp>
        <p:nvSpPr>
          <p:cNvPr id="1272" name="Rect 3"/>
          <p:cNvSpPr>
            <a:spLocks noGrp="1" noChangeArrowheads="1"/>
          </p:cNvSpPr>
          <p:nvPr/>
        </p:nvSpPr>
        <p:spPr>
          <a:xfrm rot="0">
            <a:off x="3584575" y="3084830"/>
            <a:ext cx="2183130" cy="55530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870"/>
          </a:p>
          <a:p>
            <a:pPr marL="0" indent="0" defTabSz="15240" algn="l">
              <a:lnSpc>
                <a:spcPts val="10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870" b="1">
                <a:solidFill>
                  <a:srgbClr val="000000"/>
                </a:solidFill>
                <a:latin typeface="Arial"/>
              </a:rPr>
              <a:t>Fig 36.8</a:t>
            </a:r>
            <a:endParaRPr lang="ko-KR" altLang="en-US" dirty="0" smtClean="0" sz="870" b="1"/>
          </a:p>
          <a:p>
            <a:pPr marL="0" indent="0" defTabSz="15240" algn="l">
              <a:lnSpc>
                <a:spcPts val="2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54"/>
          </a:p>
          <a:p>
            <a:pPr marL="0" indent="0" defTabSz="15240"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54" b="1">
                <a:solidFill>
                  <a:srgbClr val="000000"/>
                </a:solidFill>
                <a:latin typeface="Arial"/>
              </a:rPr>
              <a:t>Fig 36.9</a:t>
            </a:r>
            <a:endParaRPr lang="ko-KR" altLang="en-US" dirty="0" smtClean="0" sz="754" b="1"/>
          </a:p>
        </p:txBody>
      </p:sp>
      <p:sp>
        <p:nvSpPr>
          <p:cNvPr id="1273" name="Rect 3"/>
          <p:cNvSpPr>
            <a:spLocks noGrp="1" noChangeArrowheads="1"/>
          </p:cNvSpPr>
          <p:nvPr/>
        </p:nvSpPr>
        <p:spPr>
          <a:xfrm rot="0">
            <a:off x="1847215" y="2231390"/>
            <a:ext cx="3569970" cy="64338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870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870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30</a:t>
            </a:r>
            <a:endParaRPr lang="ko-KR" altLang="en-US" dirty="0" smtClean="0" sz="870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870" b="1">
                <a:solidFill>
                  <a:srgbClr val="000000"/>
                </a:solidFill>
                <a:latin typeface="Arial"/>
              </a:rPr>
              <a:t>Find (1)</a:t>
            </a:r>
            <a:endParaRPr lang="ko-KR" altLang="en-US" dirty="0" smtClean="0" sz="870" b="1"/>
          </a:p>
          <a:p>
            <a:pPr marL="0" indent="0" defTabSz="15240" algn="l">
              <a:lnSpc>
                <a:spcPts val="6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</a:t>
            </a:r>
            <a:r>
              <a:rPr lang="en-US" altLang="ko-KR" dirty="0" smtClean="0" sz="870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870"/>
          </a:p>
          <a:p>
            <a:pPr marL="0" indent="0" defTabSz="15240" algn="l">
              <a:lnSpc>
                <a:spcPts val="1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754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754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30</a:t>
            </a:r>
            <a:endParaRPr lang="ko-KR" altLang="en-US" dirty="0" smtClean="0" sz="754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754" b="1">
                <a:solidFill>
                  <a:srgbClr val="000000"/>
                </a:solidFill>
                <a:latin typeface="Arial"/>
              </a:rPr>
              <a:t>Find (1)</a:t>
            </a:r>
            <a:endParaRPr lang="ko-KR" altLang="en-US" dirty="0" smtClean="0" sz="754" b="1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54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754"/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1447800"/>
            <a:ext cx="4309745" cy="30543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7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17905" y="4977130"/>
            <a:ext cx="4806950" cy="32404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will happen with 1. </a:t>
            </a:r>
            <a:endParaRPr lang="ko-KR" altLang="en-US" dirty="0" smtClean="0" sz="1056"/>
          </a:p>
          <a:p>
            <a:pPr marL="0" indent="0" defTabSz="15240" algn="l">
              <a:lnSpc>
                <a:spcPts val="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705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05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705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705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35</a:t>
            </a:r>
            <a:endParaRPr lang="ko-KR" altLang="en-US" dirty="0" smtClean="0" sz="705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05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705"/>
          </a:p>
          <a:p>
            <a:pPr marL="0" indent="0" defTabSz="15240" algn="l">
              <a:lnSpc>
                <a:spcPts val="9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747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47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747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9</a:t>
            </a:r>
            <a:endParaRPr lang="ko-KR" altLang="en-US" dirty="0" smtClean="0" sz="747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35</a:t>
            </a:r>
            <a:endParaRPr lang="ko-KR" altLang="en-US" dirty="0" smtClean="0" sz="747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13</a:t>
            </a:r>
            <a:endParaRPr lang="ko-KR" altLang="en-US" dirty="0" smtClean="0" sz="747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18</a:t>
            </a:r>
            <a:endParaRPr lang="ko-KR" altLang="en-US" dirty="0" smtClean="0" sz="747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is based on size or weight but the reducing the in-between links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path compression from nodes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done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427 of 519 </a:t>
            </a:r>
            <a:endParaRPr lang="ko-KR" altLang="en-US" dirty="0" smtClean="0" sz="1056"/>
          </a:p>
        </p:txBody>
      </p:sp>
      <p:sp>
        <p:nvSpPr>
          <p:cNvPr id="1276" name="Rect 3"/>
          <p:cNvSpPr>
            <a:spLocks noGrp="1" noChangeArrowheads="1"/>
          </p:cNvSpPr>
          <p:nvPr/>
        </p:nvSpPr>
        <p:spPr>
          <a:xfrm rot="0">
            <a:off x="3404870" y="3127375"/>
            <a:ext cx="2347595" cy="49650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05"/>
          </a:p>
          <a:p>
            <a:pPr marL="0" indent="0" defTabSz="15240" algn="l">
              <a:lnSpc>
                <a:spcPts val="8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5" b="1">
                <a:solidFill>
                  <a:srgbClr val="000000"/>
                </a:solidFill>
                <a:latin typeface="Arial"/>
              </a:rPr>
              <a:t>Fig 36.10</a:t>
            </a:r>
            <a:endParaRPr lang="ko-KR" altLang="en-US" dirty="0" smtClean="0" sz="705" b="1"/>
          </a:p>
          <a:p>
            <a:pPr marL="0" indent="0" defTabSz="15240" algn="l">
              <a:lnSpc>
                <a:spcPts val="18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747"/>
          </a:p>
          <a:p>
            <a:pPr marL="0" indent="0" defTabSz="15240"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747" b="1">
                <a:solidFill>
                  <a:srgbClr val="000000"/>
                </a:solidFill>
                <a:latin typeface="Arial"/>
              </a:rPr>
              <a:t>Fig 36.11</a:t>
            </a:r>
            <a:endParaRPr lang="ko-KR" altLang="en-US" dirty="0" smtClean="0" sz="747" b="1"/>
          </a:p>
        </p:txBody>
      </p:sp>
      <p:sp>
        <p:nvSpPr>
          <p:cNvPr id="1277" name="Rect 3"/>
          <p:cNvSpPr>
            <a:spLocks noGrp="1" noChangeArrowheads="1"/>
          </p:cNvSpPr>
          <p:nvPr/>
        </p:nvSpPr>
        <p:spPr>
          <a:xfrm rot="0">
            <a:off x="1795145" y="2435225"/>
            <a:ext cx="3606800" cy="56845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705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705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30</a:t>
            </a:r>
            <a:endParaRPr lang="ko-KR" altLang="en-US" dirty="0" smtClean="0" sz="705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705" b="1">
                <a:solidFill>
                  <a:srgbClr val="000000"/>
                </a:solidFill>
                <a:latin typeface="Arial"/>
              </a:rPr>
              <a:t>Find (1)</a:t>
            </a:r>
            <a:endParaRPr lang="ko-KR" altLang="en-US" dirty="0" smtClean="0" sz="705" b="1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5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705"/>
          </a:p>
          <a:p>
            <a:pPr marL="0" indent="0" defTabSz="15240" algn="l">
              <a:lnSpc>
                <a:spcPts val="1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747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747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32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30</a:t>
            </a:r>
            <a:endParaRPr lang="ko-KR" altLang="en-US" dirty="0" smtClean="0" sz="747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747" b="1">
                <a:solidFill>
                  <a:srgbClr val="000000"/>
                </a:solidFill>
                <a:latin typeface="Arial"/>
              </a:rPr>
              <a:t>Find (1)</a:t>
            </a:r>
            <a:endParaRPr lang="ko-KR" altLang="en-US" dirty="0" smtClean="0" sz="747" b="1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</a:t>
            </a:r>
            <a:r>
              <a:rPr lang="en-US" altLang="ko-KR" dirty="0" smtClean="0" sz="747">
                <a:solidFill>
                  <a:srgbClr val="000000"/>
                </a:solidFill>
                <a:latin typeface="Arial"/>
              </a:rPr>
              <a:t>19</a:t>
            </a:r>
            <a:endParaRPr lang="ko-KR" altLang="en-US" dirty="0" smtClean="0" sz="747"/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1606550"/>
            <a:ext cx="2917190" cy="33769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8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14730" y="5931535"/>
            <a:ext cx="3005455" cy="17887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7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will connect all the nodes on the path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directly.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path compression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depicted by the following tree: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5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85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5">
                <a:solidFill>
                  <a:srgbClr val="000000"/>
                </a:solidFill>
                <a:latin typeface="Arial"/>
              </a:rPr>
              <a:t>e</a:t>
            </a:r>
            <a:endParaRPr lang="ko-KR" altLang="en-US" dirty="0" smtClean="0" sz="85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5">
                <a:solidFill>
                  <a:srgbClr val="000000"/>
                </a:solidFill>
                <a:latin typeface="Arial"/>
              </a:rPr>
              <a:t>d</a:t>
            </a:r>
            <a:endParaRPr lang="ko-KR" altLang="en-US" dirty="0" smtClean="0" sz="855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</a:t>
            </a:r>
            <a:r>
              <a:rPr lang="en-US" altLang="ko-KR" dirty="0" smtClean="0" sz="665" b="1">
                <a:solidFill>
                  <a:srgbClr val="000000"/>
                </a:solidFill>
                <a:latin typeface="Arial"/>
              </a:rPr>
              <a:t>Find(a)</a:t>
            </a:r>
            <a:endParaRPr lang="ko-KR" altLang="en-US" dirty="0" smtClean="0" sz="665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</a:t>
            </a:r>
            <a:r>
              <a:rPr lang="en-US" altLang="ko-KR" dirty="0" smtClean="0" sz="855">
                <a:solidFill>
                  <a:srgbClr val="000000"/>
                </a:solidFill>
                <a:latin typeface="Arial"/>
              </a:rPr>
              <a:t>c</a:t>
            </a:r>
            <a:endParaRPr lang="ko-KR" altLang="en-US" dirty="0" smtClean="0" sz="85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55">
                <a:solidFill>
                  <a:srgbClr val="000000"/>
                </a:solidFill>
                <a:latin typeface="Arial"/>
              </a:rPr>
              <a:t>b</a:t>
            </a:r>
            <a:endParaRPr lang="ko-KR" altLang="en-US" dirty="0" smtClean="0" sz="855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855">
                <a:solidFill>
                  <a:srgbClr val="000000"/>
                </a:solidFill>
                <a:latin typeface="Arial"/>
              </a:rPr>
              <a:t>a</a:t>
            </a:r>
            <a:endParaRPr lang="ko-KR" altLang="en-US" dirty="0" smtClean="0" sz="855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665" b="1">
                <a:solidFill>
                  <a:srgbClr val="000000"/>
                </a:solidFill>
                <a:latin typeface="Arial"/>
              </a:rPr>
              <a:t>Fig 36.12</a:t>
            </a:r>
            <a:endParaRPr lang="ko-KR" altLang="en-US" dirty="0" smtClean="0" sz="665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have called find(a) then see the path from node a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f. a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connected to root node f through b, c, d and e nodes. Notice that there may be further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subtrees below these nodes. After we apply this logic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path compression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operation, we will have the tree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47">
                <a:solidFill>
                  <a:srgbClr val="000000"/>
                </a:solidFill>
                <a:latin typeface="Arial"/>
              </a:rPr>
              <a:t>f</a:t>
            </a:r>
            <a:endParaRPr lang="ko-KR" altLang="en-US" dirty="0" smtClean="0" sz="847"/>
          </a:p>
          <a:p>
            <a:pPr marL="0" indent="0" defTabSz="15240" algn="l">
              <a:lnSpc>
                <a:spcPts val="5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659" b="1">
                <a:solidFill>
                  <a:srgbClr val="000000"/>
                </a:solidFill>
                <a:latin typeface="Arial"/>
              </a:rPr>
              <a:t>Find(a)</a:t>
            </a:r>
            <a:endParaRPr lang="ko-KR" altLang="en-US" dirty="0" smtClean="0" sz="659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847">
                <a:solidFill>
                  <a:srgbClr val="000000"/>
                </a:solidFill>
                <a:latin typeface="Arial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847">
                <a:solidFill>
                  <a:srgbClr val="000000"/>
                </a:solidFill>
                <a:latin typeface="Arial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847">
                <a:solidFill>
                  <a:srgbClr val="000000"/>
                </a:solidFill>
                <a:latin typeface="Arial"/>
              </a:rPr>
              <a:t>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847">
                <a:solidFill>
                  <a:srgbClr val="000000"/>
                </a:solidFill>
                <a:latin typeface="Arial"/>
              </a:rPr>
              <a:t>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</a:t>
            </a:r>
            <a:r>
              <a:rPr lang="en-US" altLang="ko-KR" dirty="0" smtClean="0" sz="847">
                <a:solidFill>
                  <a:srgbClr val="000000"/>
                </a:solidFill>
                <a:latin typeface="Arial"/>
              </a:rPr>
              <a:t>e</a:t>
            </a:r>
            <a:endParaRPr lang="ko-KR" altLang="en-US" dirty="0" smtClean="0" sz="847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659" b="1">
                <a:solidFill>
                  <a:srgbClr val="000000"/>
                </a:solidFill>
                <a:latin typeface="Arial"/>
              </a:rPr>
              <a:t>Fig 36.13</a:t>
            </a:r>
            <a:endParaRPr lang="ko-KR" altLang="en-US" dirty="0" smtClean="0" sz="659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see, how much is the impact on performance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by a theorem.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Timing with Optimization 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Theorem: A sequence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 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which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operations, can be performed on a disjoint-set forest with union by rank (weight or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height) and path compression in worst case time proportional to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mÑ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))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		is the inverse Ackermann’s function which grows extremely slowly. For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practical purposes,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Ñ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R 4.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Union-find is essentially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a sequence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operations, linear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number of things present in this theorem regarding analysis, which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difficult to cover in this course. We sill study these in course of Algorithm Analysis.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moment, consider if there are 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 out of which n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average time for union-find will be linear in m and it will grow not quadratically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exponentially.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operations using this data structure are very efficient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regarding both space and time.  </a:t>
            </a:r>
            <a:endParaRPr lang="ko-KR" altLang="en-US" dirty="0" smtClean="0" sz="1056"/>
          </a:p>
          <a:p>
            <a:pPr marL="0" indent="0" defTabSz="15240" algn="l">
              <a:lnSpc>
                <a:spcPts val="20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37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8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Review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Image Segmentation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Maze Example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Pseudo Code of the Maze Generation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Review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last lecture, we talked about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with special reference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process of optimization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methods were demonstrated by reducing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of tree with the help of the techniques-union by size or union by weight.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429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tree size was reduced through path optimization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due to the fact that we want to reduce the tree traversal for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required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find/union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algorithm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union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find, the time required by find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m+n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Union is a constant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operation. It just links two trees whereas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tree traversal is involved.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disjoint sets are increased and forest keeps on decreasing.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takes more time as unions are increased. But on the average, the time required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m+n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we will see some more examples of disjoint sets and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union/find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 methods to understand their benefits. In the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start, it was told that disjoint sets are used in image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segmentation. We have seen the picture of a boat in this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regard. We have also talked about the medical scanning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to find the human organs with the help of image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segmentation. Let’s see the usage of </a:t>
            </a:r>
            <a:r>
              <a:rPr lang="en-US" altLang="ko-KR" dirty="0" smtClean="0" sz="1409" i="1">
                <a:solidFill>
                  <a:srgbClr val="000000"/>
                </a:solidFill>
                <a:latin typeface="Arial"/>
              </a:rPr>
              <a:t>union/find 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in image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segmentation.  </a:t>
            </a:r>
            <a:endParaRPr lang="ko-KR" altLang="en-US" dirty="0" smtClean="0" sz="140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Image segmentation is a major part of image processing. An image is a collection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pixels. A value associated with a pixel can be its intensity. We can take images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cameras or digital cameras and transfer it into the computer. In computer, images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represented as numbers. These numbers may represent the gray level of the image.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zero gray level may represent the black and 255 gray level as white. The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between 0 and 255 will represent the gray level between black and white. In the color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images, we store three colors i.e. RGB (Red, Green, Blue). By combining these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colors, new ones can be obtained. 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Image Segmentation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image segmentation, we will divide the image into different parts. An image may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segmented with regard to the intensity of the pixels. We may have groups of pixels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having high intensity and those with pixels of low intensity. These pixels are divided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basis of their threshold value. The pixels of gray level less than 50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combined in one group, followed by the pixels of gray level less between 50 and 100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another group and so on. The pixels can be grouped on the basis of threshold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in intensity of neighbors. There are eight neighbors of the pixel i.e. top,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bottom, left, right, top-left, top-right, bottom-left and bottom-right. Now we will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difference of the threshold of a pixel and its neighbors. Depending on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difference value, we will group the pixels. The pixels can be grouped on the basis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texture (i.e. a pattern of pixel intensities). You will study all these in detail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image processing subject.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 example. Consider the diagram below: </a:t>
            </a:r>
            <a:endParaRPr lang="ko-KR" altLang="en-US" dirty="0" smtClean="0" sz="1056"/>
          </a:p>
          <a:p>
            <a:pPr marL="0" indent="0" defTabSz="15240" algn="l">
              <a:lnSpc>
                <a:spcPts val="6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700655" y="3696970"/>
            <a:ext cx="1264920" cy="1651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8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700655" y="6529070"/>
            <a:ext cx="1264920" cy="9569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8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642870" y="1066800"/>
            <a:ext cx="1444625" cy="14446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8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seems a sketch or a square of black, gray and white portions. These small squares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 a pixel or picture element. The color of these picture elements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white, gray or black. It has five rows and columns each. This is a 5 * 5 image.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have a matrix of five rows and five columns. We will assign the values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in the matrix depending on their color. For white color, we use 0, 4 for black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2 for gray color respectively.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0   1   2   3  4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0   0   0   4  4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2   0   4   4  0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4   2   2   4  4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4   4   0   4  4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0   2   2   4  0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get the image from a digital device, it is stored in numbers. In the above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matrix, we have numbers from 0 to 4. These can be between 0 and 255 or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depending upon the digital capturing device. Now there is a raw digital image.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apply some scheme for segmentation. Suppose we need the pixels having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4 or more and the pixels with values less than 4 separately. After finding such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pixels, put 1 for those that have values more than 4 and put 0 for pixels having less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4 values. We want to make a binary array by applying the threshold. Let’s apply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scheme on it. 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0   1   2   3  4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0   0   1  1  0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1   0   0   1  1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1   1   0   1  1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0   0   0   1  0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applied threshold equal to 4. We have replaced all 4’s with 1 and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less than 4, have been substituted by zero. Now the image has been converted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a binary form. This may represent that at these points, blood is present or not.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4 may represent that there is blood at this point and the value less than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represents that there is no blood. It is very easy to a program for this algorithm.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objective was to do image segmentation. Suppose we have a robot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captures an image. The image obtained contains 0, 2 and 4 values. To know the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962910" y="5193665"/>
            <a:ext cx="1127760" cy="9569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8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922905" y="8754110"/>
            <a:ext cx="908685" cy="8077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8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700655" y="7068185"/>
            <a:ext cx="1264920" cy="9569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 above and below the threshold, it may use our program to get a binary matrix.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for having the knowledge regarding the region of 1’s and region of 0’s,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robot can use the algorithm of disjoint sets. In the figure above, you can see that most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1’s are on the right side of the matrix.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visit each row of the matrix. So far, there are 25 sets containing a single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each. Keep in mind the example discussed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union/find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zeroth row, we have three 0’s. We can apply union on 0’s. Yet we are interested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1’s. In the 3rd column, there is an entry of 1. Now the left neighbor of this element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so we do not apply union here and move to the next column. Here, the entry is 1. Its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neighbor is also 1. We apply union here and get a set of two elements.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traversed the first row completely and moved to the next row. There is 0 in the 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1st column while in the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column; we have an entry of 1. Its left neighbor is 0 so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 to the next column where entry is also 1. We apply union here. There is a set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at the top of this set also. So we take union of these two sets and combine them.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set of four 1’s, two from row 0 and two from row 1. In the next row,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1, 0, 0, 1, 1. In the row 2 column 3, there is 1. At the top of this element,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1. We apply union to this 1 and the previous set of four 1’s. Now we have a set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five 1’s. In the next column again, there is 1, also included in the set as the sixth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element. In the row 3, we have 1 at the 0 column. There is 1 at the top of this so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set of these two 1’s. The next element at the row 3 is again 1, which is included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left side set of 1’s. Now we have another set of 1’s having 3 elements. The 1’s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column 3 and column 4 are included in the set of six 1’s making it a set of eight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In the last row, we have single 1 at the column 3 which will be included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eight element set. So there are two sets of 1’s in this matrix.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0   1   2   3  4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0   0   1   1  0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two disjoint sets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1   0   0   1  1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it is clearly visible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1   1   0   1  1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where are the entries of 1’s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0   0   0   1  0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0’s. This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situation when we have set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threshold of 4 to obtain a binary image. We can change this threshold value.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take the value 2 as threshold value. It means that if the value of pixel is 2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than 2, replace it by 1 otherwise 0. The new image will be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0   1   2   3  4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1   0   1   1  0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1   1   1   1  1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1   1   0   1  1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0   1   1   1  0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apply the union scheme on it to find the region of 1’s. Here we have a blob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0   1   2   3  4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3191510" y="1548130"/>
            <a:ext cx="271145" cy="2717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94305" y="6955790"/>
            <a:ext cx="1280160" cy="8166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255520" y="3983990"/>
            <a:ext cx="2020570" cy="7861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8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0   0   0   1  1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1   0   1   1  0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1   1   1   1  1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1   1   0   1  1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0   1   1   1  0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region is shaded. The image has been segmented. With the help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union/find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algorithm, we can very quickly segment the image.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union/find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algorithm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 much storage. Initially, we have 25 sets that are stored in an array i.e. the up-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We do all the processing in this array without requiring any extra memory.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image segmentation, disjoint sets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algorithm are very useful.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image analysis course, you will actually apply these on the images.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Maze Example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have seen the maze game in the newspapers. This is a puzzle game. The user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enters from one side and has to find the path to exit. Most of the paths lead to blind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alley, forcing the user to go back to square one.  </a:t>
            </a:r>
            <a:endParaRPr lang="ko-KR" altLang="en-US" dirty="0" smtClean="0" sz="1056"/>
          </a:p>
          <a:p>
            <a:pPr marL="0" indent="0" defTabSz="15240" algn="l">
              <a:lnSpc>
                <a:spcPts val="8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can be useful in robotics. If the robot is in some room, it finds its path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different things. If you are told to build mazes to be published in the newspaper,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maze has to be developed daily. How will you do that? Have you done like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before? Did anyone told you to do like this? Now you have the knowledge of disjoint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sets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union-find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algorithm. We will see that the maze generation is very simple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this algorithm.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take a 5 * 5 grid and generate a 5 * 5 maze. A random maze generator can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union-find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algorithm. Random means that a new maze should be generated every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a 5x5 maze: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12 13 14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25 cells. Each cell is isolated by walls from the others. These cells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numbered from 0 to 24. The line between 0 and 1 means that there is a wall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them, inhibiting movement from 0 to 1. Similarly there is a wall between 0 and 5.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cell 6, it has walls on 4 sides restricting to move from it to anywhere.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 cells have walls on all sides. We will remove these walls randomly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establish a path from the first cell to the last cell. 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694305" y="3319145"/>
            <a:ext cx="1280160" cy="8140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9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corresponds to an equivalence relation i.e. two cells are equivalent if they can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reached from each other (walls been removed so there is a path from one to the other).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we remove the wall between two cells, then there can be movement from one cell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other. In other way, we have established an equivalence relationship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them. This can be understood from the daily life example that when the separation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wall of two persons is removed, they become related to each other. In maze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generation, we will remove the walls, attaching the cells to each other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sequence. In the end, we will have a path from the start cell to the end cell.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we have to decide an entrance and an exit. From the entrance,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 into the maze and have to reach at the exit point. In our example, the entrance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cell 0 and the exit will be at cell 24.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12 13 14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can we generate maze? The algorithm is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Randomly remove walls until the entrance and exit cells are in the same set.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Removal of the wall is the same as doing a union operation.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Do not remove a randomly chosen wall if the cells it separates are already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set.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take cells randomly. It means that the probability of each cell is equal.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selecting a cell, we will choose one of its surrounding walls. The internal cells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four walls around them. Now we will randomly choose one wall. In this way,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choose the neighboring cell. Initially we have 25 sets. Now after removing a wall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between 2 cells, we have combined these two cells into one set. Here the union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has been applied to combine these two cells. If these cells are already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set, we will do nothing.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keep on randomly choosing the cells and removing the walls. The cells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 together. The elements of the set will keep on growing and at some point,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may have the entrance cell (cell 0) and the exit cell (cell 24) in the same set. When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entrance cell and the exit cell are in the same set, it means that we have a set in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elements are related to each other and there is no wall between them. In such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situation, we can move from start to the end going through some cells of this set.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at least one path from entrance to exit. There may be other paths in which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the entrance cell but not the exit. By following this path, you will not reach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exit as these paths take you to the dead end. As these are disjoint sets, so unless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entrance and exit cell are in the same set, you will not be able to find the solution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maze.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Pseudo Code of the Maze Generation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take a look at the pseudo code of the maze generation. We will pass it to the size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434 of 519 </a:t>
            </a:r>
            <a:endParaRPr lang="ko-KR" altLang="en-US" dirty="0" smtClean="0" sz="1056"/>
          </a:p>
        </p:txBody>
      </p:sp>
      <p:sp>
        <p:nvSpPr>
          <p:cNvPr id="1292" name="Rect 3"/>
          <p:cNvSpPr>
            <a:spLocks noGrp="1" noChangeArrowheads="1"/>
          </p:cNvSpPr>
          <p:nvPr/>
        </p:nvSpPr>
        <p:spPr>
          <a:xfrm rot="0">
            <a:off x="2758440" y="3331210"/>
            <a:ext cx="1144270" cy="1498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694305" y="7537450"/>
            <a:ext cx="1280160" cy="8140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9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to make a maze of this size. We will use the entrance as 0 and exit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size-1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default.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MakeMaze(int size)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entrance = 0; exit = size-1;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while (find(entrance) != find(exit)) 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cell1 = randomly chosen cell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cell2 = randomly chosen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adjacent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cell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(find(cell1) != find(cell2) 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knock down wall between cells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union(cell1, cell2)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initializing the entrance and exit, we have a while loop. The loop will keep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executing till the time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find(entrance)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find(exit)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means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will continue till the set returned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find(entrance)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find(exit)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same. When the entrance and exit cells are in the same set, the loop will stop. If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cells are not in the same set, we will enter into the loop. At first, we will randomly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choose a cell from the available cells e.g. from 0 to 24 from our example. We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discussing here how to randomly choose a cell in C++. There may be some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available to do this. We store this value 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cell1 and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choose randomly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neighboring cell and store it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cell2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cell may be its top, bottom, left or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cell, if it is internal cell. If the cell is at the top row or top bottom, it will not have four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neighbors. In case of being a corner cell, it will have only two neighboring cells. Then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try to combine these two cells into one set. We have an if statement which checks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set returned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find(cell1)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different than the set returned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find(cell2)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case, we remove the wall between them. Then we apply union on these two cells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combine them into a set.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randomly choose cells. By applying union on them, the sets are joined together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form new sets. This loop will continue till we have a set which contains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entrance and exit cell. This is a very small and easy algorithm. If we have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methods, this small piece of code can generate the maze. Let’s take a pictorial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look at different stages of maze generation. You can better understand this algorithm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these figures. We are using the disjoint sets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union-find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algorithm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solve this 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Initially, there are 25 cells. We want to generate a maze from these cells.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12 13 14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Apply the algorithm on it. We randomly choose a cell. Suppose we get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this, we randomly choose one of its walls. Suppose we get the right wall. Now we will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435 of 519 </a:t>
            </a:r>
            <a:endParaRPr lang="ko-KR" altLang="en-US" dirty="0" smtClean="0" sz="1056"/>
          </a:p>
        </p:txBody>
      </p:sp>
      <p:sp>
        <p:nvSpPr>
          <p:cNvPr id="1295" name="Rect 3"/>
          <p:cNvSpPr>
            <a:spLocks noGrp="1" noChangeArrowheads="1"/>
          </p:cNvSpPr>
          <p:nvPr/>
        </p:nvSpPr>
        <p:spPr>
          <a:xfrm rot="0">
            <a:off x="2758440" y="7550150"/>
            <a:ext cx="1144270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694305" y="1441450"/>
            <a:ext cx="1280160" cy="4876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94305" y="1929130"/>
            <a:ext cx="1280160" cy="1676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694305" y="2094230"/>
            <a:ext cx="51244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203575" y="2094230"/>
            <a:ext cx="76771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697480" y="3349625"/>
            <a:ext cx="127698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694305" y="3511550"/>
            <a:ext cx="1280160" cy="1701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2694305" y="3837305"/>
            <a:ext cx="1280160" cy="3295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2694305" y="6666230"/>
            <a:ext cx="1280160" cy="8166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298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2694305" y="8104505"/>
            <a:ext cx="1280160" cy="8172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2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11   12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13 14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now, each cell is in its own set. Therefore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find(cell 11)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set_11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find(cell 12)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set_12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wall between them is removed and union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applied on them. Now we can move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vice versa due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symmetry condition of disjoint sets. We have created a new set ( set_11 = {11,12}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 contains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all other cells are in their own cells. 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11   12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13 14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randomly choose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cell 6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its bottom wall. Now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find(cell 6)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set_6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find(cell 11)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set_11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which contains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sets returned by the two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calls are different so the wall between them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 and union method applied on them. The set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set_11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now contains three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These three cells are joined together and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move into these cells.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randomly select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cell is not neighbor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set_11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elements.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randomly choose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6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again and its bottom wall. However, they are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same set so we will do nothing in that case. We randomly choose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8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top wall (cell 3). As these two cells are in different sets, the wall between them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 so that union method could be applied to combine them into a set (set_8 =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{8, 3}). 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11   12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13 14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randomly choose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cell 14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its top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cell 9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keep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combining cells together but so far entrance and exit cells are not in the same set. 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11   12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14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436 of 519 </a:t>
            </a:r>
            <a:endParaRPr lang="ko-KR" altLang="en-US" dirty="0" smtClean="0" sz="1056"/>
          </a:p>
        </p:txBody>
      </p:sp>
      <p:sp>
        <p:nvSpPr>
          <p:cNvPr id="1298" name="Rect 3"/>
          <p:cNvSpPr>
            <a:spLocks noGrp="1" noChangeArrowheads="1"/>
          </p:cNvSpPr>
          <p:nvPr/>
        </p:nvSpPr>
        <p:spPr>
          <a:xfrm rot="0">
            <a:off x="2758440" y="1456690"/>
            <a:ext cx="1144270" cy="6812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2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0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694305" y="1761490"/>
            <a:ext cx="1280160" cy="3263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0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94305" y="2084705"/>
            <a:ext cx="1280160" cy="3263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0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694305" y="2407920"/>
            <a:ext cx="512445" cy="164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01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203575" y="2407920"/>
            <a:ext cx="767715" cy="1644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0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randomly choose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its bottom wall so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cell 5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are combined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together. 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9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					11   12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14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15 16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17 18 19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20 21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22 23 24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292929"/>
                </a:solidFill>
                <a:latin typeface="Wingdings"/>
                <a:ea typeface="Wingdings"/>
              </a:rPr>
              <a:t>Î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you keep on using this algorithm, the walls between cells will keep on vanishing,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resulting in the growth of set elements. At some point, the entrance and exit cell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into one set and there will be a path taking us from the start to exit. There may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some other sets which do not contain the exit cell. Take it as a programming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exercise and do it. This is very interesting exercise. Find some information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internet regarding maze generation. In the next lecture, we will talk about the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type i.e. table.  </a:t>
            </a:r>
            <a:endParaRPr lang="ko-KR" altLang="en-US" dirty="0" smtClean="0" sz="1056"/>
          </a:p>
          <a:p>
            <a:pPr marL="0" indent="0" defTabSz="15240" algn="l">
              <a:lnSpc>
                <a:spcPts val="1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38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and Dictionaries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 on Table ADT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Unsorted Sequential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Sorted Sequential Array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discuss the concepts of Tables and Dictionaries in this lecture with special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reference to the operations on Table ADT and the implementation.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Tables and Dictionaries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table, an abstract data type, is a collection of rows and columns of information.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rows and columns, we can understand that this is like a two dimensional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it is not always a two dimensional array of same data type. Here in a table, the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437 of 519 </a:t>
            </a:r>
            <a:endParaRPr lang="ko-KR" altLang="en-US" dirty="0" smtClean="0" sz="1056"/>
          </a:p>
        </p:txBody>
      </p:sp>
      <p:sp>
        <p:nvSpPr>
          <p:cNvPr id="1301" name="Rect 3"/>
          <p:cNvSpPr>
            <a:spLocks noGrp="1" noChangeArrowheads="1"/>
          </p:cNvSpPr>
          <p:nvPr/>
        </p:nvSpPr>
        <p:spPr>
          <a:xfrm rot="0">
            <a:off x="2758440" y="1761490"/>
            <a:ext cx="1144270" cy="158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10640" y="3166745"/>
            <a:ext cx="4133215" cy="4819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0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310640" y="3645535"/>
            <a:ext cx="4133215" cy="1708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0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of information in columns may be different. The data type of first column may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 while the type of second column is likely to be string. Similarly there may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different data types in different columns. So the two-dimensional array used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will have different data types.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table consists of several columns, known as fields. These fields are some type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information. For example a telephone directory may have three fields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address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phone number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On a computer system, the user account may have fields-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user 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password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home folder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a bank account may have fields like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account number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account title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account type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balance of account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a table that contains three fields (We are calling columns as fields).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three fields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address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phone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Moreover, there are three rows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table.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Sohail Aslam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50 Zahoor Elahi Rd, Gulberg-4, Lahore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567-4567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Imran Ahmad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30-T Phase-IV, LCCHS, Lahore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517-2349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Salman Akhtar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131-D Model Town, Lahore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756-5678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38.1: A table having three fields.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row of the table has a set of information in the three fields. The fields of a row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linked to each other. The row of a table is called a record. Thus the above table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contains three records. It resembles to the telephone directory. There may be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fields in the phone directory like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father’s 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occupation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user. Thus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 that we form by keeping information in rows and columns is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During the discussion on the concept of table, we have come across the word,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dictionary. We are familiar with the language dictionary, used to look for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words and their meanings. But for a programmer, the dictionary is a data type.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is in the form of sets of fields.  These fields comprise data items.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major use of table is in Databases where we build and use tables for keeping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information.  Suppose we are developing payroll software for a company. In this case,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table for employees will be prepared. This table of employees has the name, id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number, designation and salary etc of the employees. Similarly there may be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tables in this database e.g. to keep the leave record of the employees. There may be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to keep the personal information of an employee. Then we use SQL (Structured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Query Language) to append, select, search and delete information (records) from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in the database.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application of table is in compilers. In this case, symbol tables are used.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see in compilers course that symbol table is an important structure in a compiler.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program, each variable declared has a, type and scope. When the compiler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compiles a program, it makes a table of all the variables in the program. In this table,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compiler keeps the name, type and scope of variables. There may be other fields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table like function names and addresses. In the compiler construction course,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see that symbol table is a core of compiler.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put the information in a table, its order will be such that each row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record of information. The word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tuple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used for it in databases. Thus a row is called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record or tuple. As we see there is a number of rows (records) in a table. And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record has some fields. 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10640" y="4099560"/>
            <a:ext cx="4133215" cy="6521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0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here are some things about tables.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find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entry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table, we only need to know the contents of one of the fields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(not all of them). This field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Suppose we want to see information (of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record) in dictionary. To find out a record in the dictionary, we usually know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of the person about whom information is required. Thus by finding the name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person, we reach a particular record and get all the fields (information) about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person. These fields may be the address and phone number of the person. Thus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telephone directory,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field. Similarly in a user account table,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 is usually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user 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By getting a user id, we can find its information that consists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fields from the table.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should be unique so that there is only one record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a particular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databases, it is known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primary 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Thus,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table, a key uniquely identifies an entry. Suppose if the name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telephone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book then no two entries in the telephone book have the same name.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uniquely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identifies the entries. For example if we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“imran ahmed” in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that contains three entries, the name “imran ahmed” is there only at one place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table. In this record, we can also see the address and phone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“imran ahmed”.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Sohail Aslam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50 Zahoor Elahi Rd, Gulberg-4, Lahore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567-4567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Imran Ahmad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30-T Phase-IV, LCCHS, Lahore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517-2349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Salman Akhtar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131-D Model Town, Lahore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756-5678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38.2: A table having three fields.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if we use “salman akhtar” as key we find out one record for this key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purpose of this key is to find data. Before finding data, we have to add data.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addition of the data in the table, the finding of data will be carried through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may need to delete some data from the table. For example, in the employees’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table, we want to delete the data of an employee who has left the company. To delete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from the table,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key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i.e.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used. However in the employees’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may be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employee 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not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name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Times New Roman"/>
                <a:ea typeface="Times New Roman"/>
              </a:rPr>
              <a:t>Operations on Table ADT 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see the operations (methods) that can be performed with the table abstract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type.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insert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name shows this method is used to insert (add) a record in a table. For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execution, a field is designated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To insert a record (entry) in the table,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to know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entry. The insert method puts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related fields in a table. Thus we add records in a table.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find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data in the table and want to find some particular information.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method is given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it finds the entry associated with the key. In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words, it finds the whole record that has the same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as provided to it. For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439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6465" y="6239510"/>
            <a:ext cx="4825365" cy="7372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in employees table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employee 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key, we can find the record of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employee whose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employee 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is, say, 15466.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remove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Then there is the remove method that is given a value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 to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find and remove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entry associated with that key from the table.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Implementation of Table 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 about why and how we should implement a table. Our choice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the Table ADT depends on the answers to the following.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How often entries are inserted, found and removed?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How many of the possible key values are likely to be used?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What is the likely pattern of searching for keys? Will most of the accesses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just one or two key values?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Is the table small enough to fit into the memory?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How long will the table exist?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table for searching purposes, it is best to store the key and the entry separately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(even though the key’s value may be inside the entry). Now, suppose we have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record of a person ‘Saleem’ whose address is ‘124 Hawkers Lane’ while the 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is ‘9675846’. Similarly we have another record of a person ‘Yunus’.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 and phone fields of this person are ‘1 Apple crescent’ and ‘622455’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For these records in the table, we will have two parts. One part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 entry while the other is the key in which we keep the unique item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entry. This unique item is twice in a record one as part of the entry and the second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field i.e. the key field. This key will be used for searching and deletion purposes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records. With the help of key, we reach at the row and can get other fields of it.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call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row of the table. Its pictorial representation is given below.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13" b="1">
                <a:solidFill>
                  <a:srgbClr val="000000"/>
                </a:solidFill>
                <a:latin typeface="Arial"/>
              </a:rPr>
              <a:t>key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013" b="1">
                <a:solidFill>
                  <a:srgbClr val="000000"/>
                </a:solidFill>
                <a:latin typeface="Arial"/>
              </a:rPr>
              <a:t>entry </a:t>
            </a:r>
            <a:endParaRPr lang="ko-KR" altLang="en-US" dirty="0" smtClean="0" sz="1013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“Saleem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“Saleem”, “124 Hawkers Lane”, “9675846” </a:t>
            </a:r>
            <a:endParaRPr lang="ko-KR" altLang="en-US" dirty="0" smtClean="0" sz="1013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TableNod</a:t>
            </a:r>
            <a:endParaRPr lang="ko-KR" altLang="en-US" dirty="0" smtClean="0" sz="1013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“Yunus”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1013">
                <a:solidFill>
                  <a:srgbClr val="000000"/>
                </a:solidFill>
                <a:latin typeface="Arial"/>
              </a:rPr>
              <a:t>“Yunus”, “1 Apple Crescent”, “0044 1970 </a:t>
            </a:r>
            <a:endParaRPr lang="ko-KR" altLang="en-US" dirty="0" smtClean="0" sz="1013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38.3: key and entry in table </a:t>
            </a:r>
            <a:endParaRPr lang="ko-KR" altLang="en-US" dirty="0" smtClean="0" sz="1056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discuss the implementation of table with different data structures.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implementation is the unsorted sequential array.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Unsorted Sequential Array 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implementation, we store the data of table in an array such that TableNodes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consecutively in any order. Each element of the row will have a key and entry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record. 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think how we can store the data of a table in an array. For a telephone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directory, there may be a field name i.e. a string. Then there is ‘address’, which is also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string but of large size as compared to the name. The phone number may be a string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integer. Each record in the directory has these three fields with different types.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 can we store this information in an array? Here comes the class. Suppose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a class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Employee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with an ultimate aim of developing objects. An object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Employee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contain the name, address, designation and salary. Similarly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a class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PhoneDirectoryEntry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will have name, address and phone number.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add other fields to these classes. Thus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Employee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PhoneDirectoryEntry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objects. Now we make an array of objects. In this array, every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object is a table entry. To insert a new object (of Employee or PhoneDirectoryEntry),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add it to the back of the array. This insert operation in the array is fast as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directly put the data at the last available position. Thus we add the data to the array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soon as it is available. In other words, we don’t have an order of the data. Now if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entries in the array, the find operation searches through the keys one at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and potentially all of the keys to find a particular key. It has to go through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entries (i.e. n) if the required key is not in the table. Thus the time of searching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proportional to the number of entries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the remove method also requires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remove method, at first, has to find the key, needed to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removed. It consumes the time of find operation that is proportional to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entries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the entry is found, the remove method removes it. Obviously it does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nothing if the entry is not found.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see that in unsorted sequential array, the insertion of data is fast but the find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is slow and requires much time. Now the question arises if there is any way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keep an array in which the search operation can be fast? The use of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sequential array is a solution to this 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Times New Roman"/>
                <a:ea typeface="Times New Roman"/>
              </a:rPr>
              <a:t>Sorted Sequential Array </a:t>
            </a:r>
            <a:endParaRPr lang="ko-KR" altLang="en-US" dirty="0" smtClean="0" sz="123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studied in the tree section that binary search tree is used to search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rapidly.  Equally is true about the sorted sequential array. But in this case,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put the data in an array and not in a tree. Moreover, we want to search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in this array very fast.  To achieve this objective, we keep the data in the array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sorted form with a particular order. Now suppose we are putting the information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telephoneDirectory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table into an array in a sorted form in a particular order. Here,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example, we put the data alphabetically with respect to name. Thus data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person whose name starts with ‘a’ will be at the start of the table and the name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starting with ‘b’ will be after all the names that start with ‘a’. Then after the names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starting with ‘b’ there will be names starting with ‘c’ and so on. Suppose a new name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starting from ‘c’ needs to be inserted. We will put the data in the array and sort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so that this data can be stored at its position with respect to the alphabetic order.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Later in this course, we will read about sorting.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talks about the insert, find and remove methods for sorted data.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insert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insertion of a new record in the array, we will have to insert it at a position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so that the array should be in sorted form after the insertion. We may need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 the entries that already exist in the array to find the position of the new entry.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if a new entry needs to be inserted at the middle of the array, we will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 the entries after the middle position downward. Similarly if we have to add an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entry at the start of the array, all the entries will be moved in the array to one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 (down). Thus we see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entries in the table). This means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will take considerable time.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find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on a sorted array will search out a particular entry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search. The binary search is a searching algorithm. Recall that in the tree,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find an item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time. The same is in the case of sorted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remove </a:t>
            </a:r>
            <a:endParaRPr lang="ko-KR" altLang="en-US" dirty="0" smtClean="0" sz="1056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is also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first finds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entry that takes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time. While removing the data, it has to shuffle (move)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in the array to keep the sorted order. This shuffling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Suppose, we remove the first element from the array, then all the elements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have to be moved one position to left.  Thus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i="1">
                <a:solidFill>
                  <a:srgbClr val="000000"/>
                </a:solidFill>
                <a:latin typeface="Times New Roman"/>
                <a:ea typeface="Times New Roman"/>
              </a:rPr>
              <a:t>Binary Search </a:t>
            </a:r>
            <a:endParaRPr lang="ko-KR" altLang="en-US" dirty="0" smtClean="0" sz="1409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search is an algorithm of searching, used with the sorted data. As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elements in the array, binary search method can be employed to find data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The binary search finds an element in the sorted array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time. If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100000 elements in the array, the log 1000000 will be 20 i.e. very small as compared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100000. Thus binary search is very fast.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search is like looking up a phone number in the directory or looking up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 in the dictionary. For looking a word in the dictionary, we start from the middle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dictionary. If the word that we are looking for comes before words on the page,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shows that the word should be before this page. So we look in the first half.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Otherwise, we search for the word in the second half of the dictionary. Suppose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 is in the first half of the dictionary, we consider first half for looking the word.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no need to look into the second half of the dictionary. Thus the data to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searched becomes half in a step. Now we divide this portion into two halves and look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word. Here we again come to know that the word is in the first half or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half of this portion. The same step is repeated with the part that contains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word. Finally, we come to the page where the required word exists. We see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in the binary search, the data to be searched becomes half in each step. And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the entry very fast. The number of maximum steps needed to find an entry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total number of entries. Now if we have 100000 entries,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number of attempts (steps) required to find out the entry will be 20 (i.e. log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1000000). </a:t>
            </a:r>
            <a:endParaRPr lang="ko-KR" altLang="en-US" dirty="0" smtClean="0" sz="1056"/>
          </a:p>
          <a:p>
            <a:pPr marL="0" indent="0" defTabSz="15240" algn="l">
              <a:lnSpc>
                <a:spcPts val="1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39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10.4.2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Searching an Array: Binary Search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- Example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- Example 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- Example 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– C++ Code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– Binary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- Efficiency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3 (of Table ADT): Linked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4 (of Table ADT): Skip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Skip List - Representation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Skip List - Higher Level Chains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Skip List - Formally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96110" y="3916680"/>
            <a:ext cx="2438400" cy="6400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1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48585" y="4565650"/>
            <a:ext cx="807720" cy="27749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1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Searching an Array: Binary Search 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had started discussion on Binary Search Tree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discussion revealed that if already sorted data is available, then it is better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apply an algorithm of binary search for finding some item inside instead of searching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start to the end in sequence. The application of this algorithm will help get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results very quickly. We also talked about the example of directory of employees of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company where the names of the employee were sorted. For efficient searching,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constructed the binary search tree for the directory and looked for information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employee named ‘Ahmed Faraz’.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covered: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Binary search is like looking up a phone number or a word in the dictionary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Start in middle of book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If the name you're looking for, comes before names on the page, search in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half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Otherwise, look into the second half </a:t>
            </a:r>
            <a:endParaRPr lang="ko-KR" altLang="en-US" dirty="0" smtClean="0" sz="1056"/>
          </a:p>
          <a:p>
            <a:pPr marL="0" indent="0" defTabSz="15240" algn="l">
              <a:lnSpc>
                <a:spcPts val="8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Fig 39 1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telephone directory is the quotable example to understand the way the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method works.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lecture, we will focus on data structures for performing search operation.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the data is present in an array as we discussed in the previous lecture.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implementation, we supposed that the data is not sorted in the array.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implementation, we considered that the data inside the array is put in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The advantage of the effort of putting the data in the array in sorted order pays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off when the searches on data items are performed.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first see the algorithm (in pseudo code) for this operation below.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to mention that this algorithm is independent of data type i.e. the data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of any type numeric or string.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if ( value == middle element ) 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     value is found  </a:t>
            </a:r>
            <a:endParaRPr lang="ko-KR" altLang="en-US" dirty="0" smtClean="0" sz="702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  <a:ea typeface="Times New Roman"/>
              </a:rPr>
              <a:t>else if ( value &lt; middle element )  </a:t>
            </a:r>
            <a:endParaRPr lang="ko-KR" altLang="en-US" dirty="0" smtClean="0" sz="70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search left half of list with the same method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search right half of list with the same method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item we are searching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algorithm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first comparison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made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middle 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array. If both are equal, it means that we have found our desired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item, which is present in the middle of the array. If this is not the case, then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middle 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not the same.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else-if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part of the algorithm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computed, which checks if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middle 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so, the left half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the array is searched further in the same fashion (of logically splitting that half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34440" y="3194050"/>
            <a:ext cx="3639185" cy="4210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1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08430" y="3855720"/>
            <a:ext cx="73025" cy="161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1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017520" y="3855720"/>
            <a:ext cx="73025" cy="161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18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4070" y="3855720"/>
            <a:ext cx="76200" cy="1612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array into two further halves and applying this algorithm again). This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can also be implemented using the recursive algorithm but that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later. At the moment, we are discussing only the non-recursive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last part of the algorithm deals with the case when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middle element.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This		processes the right half of the array with the same 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this algorithm in action by taking an example of an array of elements: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Binary Search – Example 1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 i="1" b="1">
                <a:solidFill>
                  <a:srgbClr val="000000"/>
                </a:solidFill>
                <a:latin typeface="Times New Roman"/>
                <a:ea typeface="Times New Roman"/>
              </a:rPr>
              <a:t>Case 1: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					val == a[mid]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val = 10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low = 0, high = 8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 = (0 + 8) / 2 = 4 </a:t>
            </a:r>
            <a:endParaRPr lang="ko-KR" altLang="en-US" dirty="0" smtClean="0" sz="1056" i="1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27</a:t>
            </a:r>
            <a:endParaRPr lang="ko-KR" altLang="en-US" dirty="0" smtClean="0" sz="158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0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mid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409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39.2</a:t>
            </a:r>
            <a:endParaRPr lang="ko-KR" altLang="en-US" dirty="0" smtClean="0" sz="1144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an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Fig 39.2 with indexes 0 to 8 and values 1, 5, 7, 9, 10, 13,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17, 19 and 27. These values are our data items. Notice that these are sorted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ascending (increasing)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in the first line of case 1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val  =  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indicates that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searching for value 10. From second line, the range of data to search is from 0 to 8.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data range, the middle position is calculated by using a simple formula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(low +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high)/2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case, it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mid =(0+8)/2=4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the middle position of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See the array in the above figure Fig 39.2, which shows that the item at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4 is 10, exactly the value we are searching for. So, in this case,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found the value right away in the middle position of the array. The search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stop here and an appropriate value can be returned back.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case 2 now: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Binary Search – Example 2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 i="1" b="1">
                <a:solidFill>
                  <a:srgbClr val="000000"/>
                </a:solidFill>
                <a:latin typeface="Times New Roman"/>
                <a:ea typeface="Times New Roman"/>
              </a:rPr>
              <a:t>Case 2: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					val &gt; a[mid]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val = 19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low = 0, high = 8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 = (0 + 8) / 2 = 4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new low = mid + 1 = 5   </a:t>
            </a:r>
            <a:endParaRPr lang="ko-KR" altLang="en-US" dirty="0" smtClean="0" sz="1056" i="1"/>
          </a:p>
          <a:p>
            <a:pPr marL="0" indent="0" defTabSz="15240" algn="l">
              <a:lnSpc>
                <a:spcPts val="1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34440" y="1139825"/>
            <a:ext cx="3639185" cy="4210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08430" y="1801495"/>
            <a:ext cx="73025" cy="161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017520" y="1801495"/>
            <a:ext cx="73025" cy="161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4070" y="1801495"/>
            <a:ext cx="76200" cy="161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407410" y="1801495"/>
            <a:ext cx="73660" cy="1612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234440" y="5489575"/>
            <a:ext cx="3639185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408430" y="6150610"/>
            <a:ext cx="73025" cy="1619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017520" y="6150610"/>
            <a:ext cx="73025" cy="1619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4624070" y="6150610"/>
            <a:ext cx="76200" cy="1619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0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2614930" y="6153785"/>
            <a:ext cx="73660" cy="1619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1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27</a:t>
            </a:r>
            <a:endParaRPr lang="ko-KR" altLang="en-US" dirty="0" smtClean="0" sz="158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1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mid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new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41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39.3</a:t>
            </a:r>
            <a:endParaRPr lang="ko-KR" altLang="en-US" dirty="0" smtClean="0" sz="1145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second case is about the scenario when value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greater than the middle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a[mid]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The range of data items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the same as that in case 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the middle position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also the same. But the value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19 is greater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the value at the middle (mid) 10 of the array. As this array is sorted, therefore,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half of the array must not contain value 19. At this point of time,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information about val 19 is that it is greater than the middle. So it might be present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right half of the array. The right half part starts from position 5 to position 8.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Fig 39.3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new 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at position 5. With these new low and high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positions, the algorithm is applied to this right half again.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are left with one more case.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Binary Search – Example 3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u="sng" i="1" b="1">
                <a:solidFill>
                  <a:srgbClr val="000000"/>
                </a:solidFill>
                <a:latin typeface="Times New Roman"/>
                <a:ea typeface="Times New Roman"/>
              </a:rPr>
              <a:t>Case 3: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					val &lt;  a[mid]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val = 7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low = 0, high = 8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 = (0 + 8) / 2 = 4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new high = mid - 1 =5 </a:t>
            </a:r>
            <a:endParaRPr lang="ko-KR" altLang="en-US" dirty="0" smtClean="0" sz="1056" i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581" b="1">
                <a:solidFill>
                  <a:srgbClr val="000000"/>
                </a:solidFill>
                <a:latin typeface="Arial"/>
              </a:rPr>
              <a:t>27</a:t>
            </a:r>
            <a:endParaRPr lang="ko-KR" altLang="en-US" dirty="0" smtClean="0" sz="158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41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new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mid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41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41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value to be searched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in this case is 7. The data range is the same starting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low=0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high=8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Middle is computed in the same manner and the value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middle position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compared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the value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As the data is sorted, therefore, a value lesser than the one at mid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be present in the lower half (left half) of the array (if it is there). The left half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array will start from the same starting position low=0 but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going to be changed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mid-1 i.e.			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Now, let’s execute this algorithm again on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half. </a:t>
            </a:r>
            <a:endParaRPr lang="ko-KR" altLang="en-US" dirty="0" smtClean="0" sz="1056"/>
          </a:p>
          <a:p>
            <a:pPr marL="0" indent="0" defTabSz="15240" algn="l">
              <a:lnSpc>
                <a:spcPts val="8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446 of 519 </a:t>
            </a:r>
            <a:endParaRPr lang="ko-KR" altLang="en-US" dirty="0" smtClean="0" sz="1056"/>
          </a:p>
        </p:txBody>
      </p:sp>
      <p:sp>
        <p:nvSpPr>
          <p:cNvPr id="1320" name="Rect 3"/>
          <p:cNvSpPr>
            <a:spLocks noGrp="1" noChangeArrowheads="1"/>
          </p:cNvSpPr>
          <p:nvPr/>
        </p:nvSpPr>
        <p:spPr>
          <a:xfrm rot="0">
            <a:off x="2947670" y="2170430"/>
            <a:ext cx="671195" cy="470281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410">
                <a:solidFill>
                  <a:srgbClr val="000000"/>
                </a:solidFill>
                <a:latin typeface="Arial"/>
              </a:rPr>
              <a:t>low</a:t>
            </a:r>
            <a:endParaRPr lang="ko-KR" altLang="en-US" dirty="0" smtClean="0" sz="1410"/>
          </a:p>
          <a:p>
            <a:pPr marL="0" indent="0" defTabSz="15240" algn="l">
              <a:lnSpc>
                <a:spcPts val="3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39.4</a:t>
            </a:r>
            <a:endParaRPr lang="ko-KR" altLang="en-US" dirty="0" smtClean="0" sz="1145" b="1"/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56030" y="1139825"/>
            <a:ext cx="3898265" cy="6953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261745" y="2069465"/>
            <a:ext cx="3898265" cy="6978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2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322705" y="3313430"/>
            <a:ext cx="3898265" cy="3835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2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34">
                <a:solidFill>
                  <a:srgbClr val="000000"/>
                </a:solidFill>
                <a:latin typeface="Arial"/>
              </a:rPr>
              <a:t>val  =  7</a:t>
            </a:r>
            <a:endParaRPr lang="ko-KR" altLang="en-US" dirty="0" smtClean="0" sz="1034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27</a:t>
            </a:r>
            <a:endParaRPr lang="ko-KR" altLang="en-US" dirty="0" smtClean="0" sz="1428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273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27</a:t>
            </a:r>
            <a:endParaRPr lang="ko-KR" altLang="en-US" dirty="0" smtClean="0" sz="1428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273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19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</a:t>
            </a:r>
            <a:r>
              <a:rPr lang="en-US" altLang="ko-KR" dirty="0" smtClean="0" sz="1428" b="1">
                <a:solidFill>
                  <a:srgbClr val="000000"/>
                </a:solidFill>
                <a:latin typeface="Arial"/>
              </a:rPr>
              <a:t>27</a:t>
            </a:r>
            <a:endParaRPr lang="ko-KR" altLang="en-US" dirty="0" smtClean="0" sz="1428" b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1273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273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34" b="1">
                <a:solidFill>
                  <a:srgbClr val="000000"/>
                </a:solidFill>
                <a:latin typeface="Arial"/>
              </a:rPr>
              <a:t>Fig 39.5</a:t>
            </a:r>
            <a:endParaRPr lang="ko-KR" altLang="en-US" dirty="0" smtClean="0" sz="1034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we will compute the middle of 0 and 3 that results in 1 in this integer division.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shown in the top array in Fig 39.5. Now,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7 is compared with the value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middle position (mid) i.e.5. As 7 is greater than 5, we will process the right half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this data range (which is positioned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low=0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high=3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The right half of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range starts from position 2 and ends at position 3. The new data range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low=2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high=3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middle position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computed as (2+3)/2=2. The value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is 7. We compare the value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(7)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are looking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for. These are found to be equal and finally we have the desired value.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desired number is found within positions- 0 to 8 at position 2. Without applying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binary search algorithm, we might have performed lot more comparisons.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might feel that finding this number 7 sequentially is easier as it is found at position 2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only. But what will happen in case we are searching for number 27. In that case,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to compare with each element present in the array to find out the desired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number. On the other hand, if this number 27 is searched with the help of the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algorithm, it is found in third comparison.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Actually, we have already seen binary search while studying the binary search tree.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comparing the number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the 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of the tree, we had come to know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if the number was found smaller than the number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had to switch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left-subtree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root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(ensuring that it cannot be found in the right subtree).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 the C++ code for this algorithm: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Binary Search – C++ Code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 isPresent(int  *arr, int  val, int  N)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 low = 0;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 high  =  N - 1;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 mid;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while ( low &lt;= high 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{ </a:t>
            </a:r>
            <a:endParaRPr lang="ko-KR" altLang="en-US" dirty="0" smtClean="0" sz="1056" i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mid  =  ( low + high )/2;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if (arr[mid] == val)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return 1;        // found!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else if (arr[mid] &lt; val)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low  =  mid + 1;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high  =  mid - 1;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}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return  0; // not found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of the routine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isPresent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expects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(an array in actual);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required to be searched. Another int value is N that indicates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maximum index value of the array. Inside the body of the function,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declared.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initialized to 0 and high is initialized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is based on the condition that executes the loop until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low &lt;= 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Inside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loop, very first thing is the calculation of the middle position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Then comes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check inside the loop, it compares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(the value being searched)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at middle position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arr[mid]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If they are equal, the function returns 1. If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condition returns false, it means that the numbers are unequal. Then comes the turn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condition. This condition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arr[mid] &lt; 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is checking if the value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middle is less than the value being searched. If this is so, the right half of the tree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selected by changing the position of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mid+1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processed through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loop again. If both of these conditions return false, the left half of the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selected by changing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mid-1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left half is processed through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loop again. If the loop terminates and the required value is not found, then 0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returned as shown in the last statement of this 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change this function to return the position of the value if it is found in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otherwise return –1 to inform about the failure. It is important to note that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requires the data to be sorted to work properly. Otherwise, it will fail.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algorithm is depicted figurative in Fig 39.6.  </a:t>
            </a:r>
            <a:endParaRPr lang="ko-KR" altLang="en-US" dirty="0" smtClean="0" sz="1056"/>
          </a:p>
          <a:p>
            <a:pPr marL="0" indent="0" defTabSz="15240" algn="l">
              <a:lnSpc>
                <a:spcPts val="2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17905" y="1478280"/>
            <a:ext cx="4815840" cy="24142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Binary Search – Binary Tree</a:t>
            </a:r>
            <a:endParaRPr lang="ko-KR" altLang="en-US" dirty="0" smtClean="0" sz="1231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An entire sorted list</a:t>
            </a:r>
            <a:endParaRPr lang="ko-KR" altLang="en-US" dirty="0" smtClean="0" sz="918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First half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Second half</a:t>
            </a:r>
            <a:endParaRPr lang="ko-KR" altLang="en-US" dirty="0" smtClean="0" sz="918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First half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Second half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First half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</a:t>
            </a:r>
            <a:r>
              <a:rPr lang="en-US" altLang="ko-KR" dirty="0" smtClean="0" sz="918">
                <a:solidFill>
                  <a:srgbClr val="000000"/>
                </a:solidFill>
                <a:latin typeface="Arial"/>
              </a:rPr>
              <a:t>Second half</a:t>
            </a:r>
            <a:endParaRPr lang="ko-KR" altLang="en-US" dirty="0" smtClean="0" sz="918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</a:t>
            </a:r>
            <a:r>
              <a:rPr lang="en-US" altLang="ko-KR" dirty="0" smtClean="0" sz="656">
                <a:solidFill>
                  <a:srgbClr val="000000"/>
                </a:solidFill>
                <a:latin typeface="Arial"/>
              </a:rPr>
              <a:t>First half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</a:t>
            </a:r>
            <a:r>
              <a:rPr lang="en-US" altLang="ko-KR" dirty="0" smtClean="0" sz="656">
                <a:solidFill>
                  <a:srgbClr val="000000"/>
                </a:solidFill>
                <a:latin typeface="Arial"/>
              </a:rPr>
              <a:t>First half</a:t>
            </a:r>
            <a:endParaRPr lang="ko-KR" altLang="en-US" dirty="0" smtClean="0" sz="65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54" b="1">
                <a:solidFill>
                  <a:srgbClr val="000000"/>
                </a:solidFill>
                <a:latin typeface="Arial"/>
              </a:rPr>
              <a:t>Fig 39.6</a:t>
            </a:r>
            <a:endParaRPr lang="ko-KR" altLang="en-US" dirty="0" smtClean="0" sz="854" b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The search divides a list into two small sub-lists till a sub-list is no more divisible.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have realized about the good performance of binary trees by just looking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these if you remember the fully balanced trees of N items discussed earlier.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Binary Search - Efficiency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see the efficiency of this binary search algorithm, consider when we divide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of N items into two halves first time.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After 1 bisection N/2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items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After 2 bisections N/4 = N/2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			items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.  .  .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After i  bisections N/2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=1  item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 = log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half contains N/2 items while the second half also contains around N/2 items.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one of the halves is divided further, each half contains around N/4 elements.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point, only one of N/4 items half is processed to search further. If we carry 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three bisections, each half will contain N/8 items. Similarly for i bisections, we are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with N/2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which is at one point of time is only one element of the array. So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the equation here: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N/2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=1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Computing the value of i from this gives us: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 = log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shows that after maximum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bisections, either you will be successful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finding your item or fail to do so.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was our second implementation of table or dictionary abstract data type using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449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5452745"/>
            <a:ext cx="2170430" cy="15119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2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sequential array. As discussed at start of it that if we implement table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dictionary abstract data type using an array, we have to keep the array elements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order. An easier way to sort them can be that whenever we want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in the array, firstly we find its position (in sorted order) in the array and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 the right side (of that position) elements one position towards right to insert it.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worst case, we might have to shift all the elements one position towards right just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keep the data sorted so this will be proportional to N. Similarly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also proportional to N. But after keeping the data sorted, the search operation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returned within maximum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923" i="1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bisections.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Implementation 3 (of Table ADT): Linked List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might also use linked list to implement the table abstract data type. We can keep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unsorted and keep on inserting the new coming elements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list.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also possible to keep the data in sorted order. For that, to insert a new element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list, as we did for array, we will first find its position (in sorted order) in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then insert it there. The search operation cannot work in the same fashion 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binary search works only for arrays. Because the linked list may not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contiguous in memory, normally its nodes are scattered through, therefore,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cannot work with them.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TableNodes are again stored consecutively (unsorted or sorted)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 i="1" b="1">
                <a:solidFill>
                  <a:srgbClr val="000000"/>
                </a:solidFill>
                <a:latin typeface="Times New Roman"/>
                <a:ea typeface="Times New Roman"/>
              </a:rPr>
              <a:t>								insert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 add to front; (1or n for a sorted list)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 i="1" b="1">
                <a:solidFill>
                  <a:srgbClr val="000000"/>
                </a:solidFill>
                <a:latin typeface="Times New Roman"/>
                <a:ea typeface="Times New Roman"/>
              </a:rPr>
              <a:t>								find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 search through potentially all the keys, one at a time; (n for unsorted or for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 sorted list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u="sng" i="1" b="1">
                <a:solidFill>
                  <a:srgbClr val="000000"/>
                </a:solidFill>
                <a:latin typeface="Times New Roman"/>
                <a:ea typeface="Times New Roman"/>
              </a:rPr>
              <a:t>								remove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: find, remove using pointer alterations; (n) </a:t>
            </a:r>
            <a:endParaRPr lang="ko-KR" altLang="en-US" dirty="0" smtClean="0" sz="1056" i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08" b="1">
                <a:solidFill>
                  <a:srgbClr val="000000"/>
                </a:solidFill>
                <a:latin typeface="Arial"/>
              </a:rPr>
              <a:t>key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008" b="1">
                <a:solidFill>
                  <a:srgbClr val="000000"/>
                </a:solidFill>
                <a:latin typeface="Arial"/>
              </a:rPr>
              <a:t>entry</a:t>
            </a:r>
            <a:endParaRPr lang="ko-KR" altLang="en-US" dirty="0" smtClean="0" sz="1008" b="1"/>
          </a:p>
          <a:p>
            <a:pPr marL="0" indent="0" defTabSz="15240" algn="l">
              <a:lnSpc>
                <a:spcPts val="1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08" b="1">
                <a:solidFill>
                  <a:srgbClr val="000000"/>
                </a:solidFill>
                <a:latin typeface="Arial"/>
              </a:rPr>
              <a:t>and so on</a:t>
            </a:r>
            <a:endParaRPr lang="ko-KR" altLang="en-US" dirty="0" smtClean="0" sz="1008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937" b="1">
                <a:solidFill>
                  <a:srgbClr val="000000"/>
                </a:solidFill>
                <a:latin typeface="Arial"/>
              </a:rPr>
              <a:t>Fig 39.7</a:t>
            </a:r>
            <a:endParaRPr lang="ko-KR" altLang="en-US" dirty="0" smtClean="0" sz="937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Well, linked list is one choice to implement table abstract data type. For unsorted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elements, the insertion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front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will take constant time. (as each element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 in one go). But if the data inside the list is kept in sorted order then to insert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element in the list, the entire linked list is traversed through to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appropriate position for the element.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operation, all the keys are scanned through whether they are sorted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unsorted. That means the time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proportional to N.  </a:t>
            </a:r>
            <a:endParaRPr lang="ko-KR" altLang="en-US" dirty="0" smtClean="0" sz="1056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48385" y="5346065"/>
            <a:ext cx="4685030" cy="4362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operation, we have to perform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first. After that the element is removed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 links are readjusted accordingly.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when we used sorted array,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was optimized. Let’s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 the usage of array and linked list for table abstract data type. The fixed size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array becomes a constraint that it cannot contain elements more than that.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Linked list has no such constraint but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operation using linked list becomes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slower. Is it possible to speed up this operation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while using linked list?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this, a professor of University of Maryland introduced a new data structure called skip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list. Let’s discuss little bit about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skip 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Implementation 4 (of Table ADT): Skip List 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Overcome basic limitations of previous lists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Search and update require linear time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Fast Searching of Sorted Chain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Provide alternative to BST (binary search trees) and related tree structures.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Balancing can be expensive.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Relatively recent data structure: Bill Pugh proposed it in 1990.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characteristics of skip list are stated above. Now, we see skip list in bit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detail.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Skip List - Representation </a:t>
            </a:r>
            <a:endParaRPr lang="ko-KR" altLang="en-US" dirty="0" smtClean="0" sz="123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Times New Roman"/>
                <a:ea typeface="Times New Roman"/>
              </a:rPr>
              <a:t>Can do better than n comparisons to find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head</a:t>
            </a:r>
            <a:endParaRPr lang="ko-KR" altLang="en-US" dirty="0" smtClean="0" sz="1145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60</a:t>
            </a:r>
            <a:endParaRPr lang="ko-KR" altLang="en-US" dirty="0" smtClean="0" sz="1145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39.8</a:t>
            </a:r>
            <a:endParaRPr lang="ko-KR" altLang="en-US" dirty="0" smtClean="0" sz="1145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the figure.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tail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special nodes at start and end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If we have to find number 60 in the list then we have no other choice 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starting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traverse the subsequent nodes using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until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node is found or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tail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reached. To find 70 in the list, we will scan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through the whole list and then get to know that it is not present in it. The professor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Pugh suggested something here: </a:t>
            </a:r>
            <a:endParaRPr lang="ko-KR" altLang="en-US" dirty="0" smtClean="0" sz="1056"/>
          </a:p>
          <a:p>
            <a:pPr marL="0" indent="0" defTabSz="15240" algn="l">
              <a:lnSpc>
                <a:spcPts val="1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451 of 519 </a:t>
            </a:r>
            <a:endParaRPr lang="ko-KR" altLang="en-US" dirty="0" smtClean="0" sz="1056"/>
          </a:p>
        </p:txBody>
      </p:sp>
      <p:sp>
        <p:nvSpPr>
          <p:cNvPr id="1331" name="Rect 3"/>
          <p:cNvSpPr>
            <a:spLocks noGrp="1" noChangeArrowheads="1"/>
          </p:cNvSpPr>
          <p:nvPr/>
        </p:nvSpPr>
        <p:spPr>
          <a:xfrm rot="0">
            <a:off x="5562600" y="5166360"/>
            <a:ext cx="235585" cy="173990"/>
          </a:xfrm>
          <a:prstGeom prst="rect">
            <a:avLst/>
          </a:prstGeom>
          <a:noFill/>
          <a:ln w="0">
            <a:noFill/>
          </a:ln>
        </p:spPr>
      </p:sp>
      <p:sp>
        <p:nvSpPr>
          <p:cNvPr id="1332" name="Rect 3"/>
          <p:cNvSpPr>
            <a:spLocks noGrp="1" noChangeArrowheads="1"/>
          </p:cNvSpPr>
          <p:nvPr/>
        </p:nvSpPr>
        <p:spPr>
          <a:xfrm rot="0">
            <a:off x="1487170" y="5022850"/>
            <a:ext cx="1653540" cy="1619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Times New Roman"/>
              </a:rPr>
              <a:t>element in chain of length </a:t>
            </a:r>
            <a:r>
              <a:rPr lang="en-US" altLang="ko-KR" dirty="0" smtClean="0" sz="1145" i="1">
                <a:solidFill>
                  <a:srgbClr val="000000"/>
                </a:solidFill>
                <a:latin typeface="Times New Roman"/>
              </a:rPr>
              <a:t>n</a:t>
            </a:r>
            <a:endParaRPr lang="ko-KR" altLang="en-US" dirty="0" smtClean="0" sz="1145" i="1"/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21080" y="1362710"/>
            <a:ext cx="4712335" cy="7588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3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063625" y="5687695"/>
            <a:ext cx="4724400" cy="7893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3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head</a:t>
            </a:r>
            <a:endParaRPr lang="ko-KR" altLang="en-US" dirty="0" smtClean="0" sz="1145" b="1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40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50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60</a:t>
            </a:r>
            <a:endParaRPr lang="ko-KR" altLang="en-US" dirty="0" smtClean="0" sz="1145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39.9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we use two pointers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tail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Secondly, the node in the middle has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pointers; one is the old linked list pointer leading to next node 50 and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leading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tail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Additionally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 also has two pointers, one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old liked list pointer pointing to the next node 20 and second one is pointing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middle element’s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pointer, which is (as told above) further pointing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tail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if we want to find element 60 in the above list. Is it possible to search the list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relatively quick manner than the normal linked list shown in Fig 39.8? Yes, it is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help of the additional pointers we have placed in the list. We will come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middle of the list first and see that the middle element (40) is smaller than 60,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the right half part of the list is selected to process further (as the linked list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sorted). Isn’t it the same we did in binary search? It definitely is.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What if we can add additional pointers (links) and boost the performance. See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Skip List - Higher Level Chains</a:t>
            </a:r>
            <a:endParaRPr lang="ko-KR" altLang="en-US" dirty="0" smtClean="0" sz="123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043" b="1">
                <a:solidFill>
                  <a:srgbClr val="000000"/>
                </a:solidFill>
                <a:latin typeface="Arial"/>
              </a:rPr>
              <a:t>head</a:t>
            </a:r>
            <a:endParaRPr lang="ko-KR" altLang="en-US" dirty="0" smtClean="0" sz="1043" b="1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26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40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50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57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Arial"/>
              </a:rPr>
              <a:t>60</a:t>
            </a:r>
            <a:endParaRPr lang="ko-KR" altLang="en-US" dirty="0" smtClean="0" sz="1043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43" b="1">
                <a:solidFill>
                  <a:srgbClr val="000000"/>
                </a:solidFill>
                <a:latin typeface="Arial"/>
              </a:rPr>
              <a:t>Fig 39.10</a:t>
            </a:r>
            <a:endParaRPr lang="ko-KR" altLang="en-US" dirty="0" smtClean="0" sz="1043" b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For general n, level 0 chain includes all elements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level 1 every other element, level 2 chain every fourth, etc.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level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every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th elementLevel 0 chain is our old linked list chain as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39. Level 1 is new chain added to contain the link of every other node (or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alternate node). Level 2 chain contains links to every 4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node. We keep on adding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levels of chains so that we generalize that for level i chain includes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2i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adding these pointers, the skip list is no more our old linked list; it has become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 of binary tree. Still, there are still few important things to consider.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Skip list contains a hierarchy of chains </a:t>
            </a:r>
            <a:endParaRPr lang="ko-KR" altLang="en-US" dirty="0" smtClean="0" sz="1056" i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452 of 519 </a:t>
            </a:r>
            <a:endParaRPr lang="ko-KR" altLang="en-US" dirty="0" smtClean="0" sz="1056"/>
          </a:p>
        </p:txBody>
      </p:sp>
      <p:sp>
        <p:nvSpPr>
          <p:cNvPr id="1335" name="Rect 3"/>
          <p:cNvSpPr>
            <a:spLocks noGrp="1" noChangeArrowheads="1"/>
          </p:cNvSpPr>
          <p:nvPr/>
        </p:nvSpPr>
        <p:spPr>
          <a:xfrm rot="0">
            <a:off x="5550535" y="1310640"/>
            <a:ext cx="299720" cy="43738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tail</a:t>
            </a:r>
            <a:endParaRPr lang="ko-KR" altLang="en-US" dirty="0" smtClean="0" sz="1145" b="1"/>
          </a:p>
          <a:p>
            <a:pPr marL="0" indent="0" defTabSz="15240" algn="l">
              <a:lnSpc>
                <a:spcPts val="3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1043" b="1">
                <a:solidFill>
                  <a:srgbClr val="000000"/>
                </a:solidFill>
                <a:latin typeface="Arial"/>
              </a:rPr>
              <a:t>tail</a:t>
            </a:r>
            <a:endParaRPr lang="ko-KR" altLang="en-US" dirty="0" smtClean="0" sz="1043" b="1"/>
          </a:p>
        </p:txBody>
      </p:sp>
      <p:sp>
        <p:nvSpPr>
          <p:cNvPr id="1336" name="Rect 3"/>
          <p:cNvSpPr>
            <a:spLocks noGrp="1" noChangeArrowheads="1"/>
          </p:cNvSpPr>
          <p:nvPr/>
        </p:nvSpPr>
        <p:spPr>
          <a:xfrm rot="0">
            <a:off x="1877695" y="1167130"/>
            <a:ext cx="2277745" cy="4617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Times New Roman"/>
              </a:rPr>
              <a:t>Example: n/2 + 1 If we keep pointer to</a:t>
            </a:r>
            <a:endParaRPr lang="ko-KR" altLang="en-US" dirty="0" smtClean="0" sz="1145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Times New Roman"/>
              </a:rPr>
              <a:t>middle element</a:t>
            </a:r>
            <a:endParaRPr lang="ko-KR" altLang="en-US" dirty="0" smtClean="0" sz="1145"/>
          </a:p>
          <a:p>
            <a:pPr marL="0" indent="0" defTabSz="15240" algn="l">
              <a:lnSpc>
                <a:spcPts val="3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1043">
                <a:solidFill>
                  <a:srgbClr val="000000"/>
                </a:solidFill>
                <a:latin typeface="Times New Roman"/>
                <a:ea typeface="Times New Roman"/>
              </a:rPr>
              <a:t>Level 1 &amp; 2 chains</a:t>
            </a:r>
            <a:endParaRPr lang="ko-KR" altLang="en-US" dirty="0" smtClean="0" sz="1043"/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In general level i contains a subset of elements in level i-1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Skip list becomes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hierarchy of chains and every level contains a subset of element of previous level.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this kind of skip list data structure, we can find elements in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 time. But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with this is that the frequency of pointers is so high as compared to the size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data items that it becomes difficult to manage them.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 on this kind of skip list become very complex because single insertion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removal requires lot of pointers to readjust.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Professor Pugh suggested here that instead of doing leveling in powers of 2, it should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done randomly. Randomness in skip lists is a new topic for us. Let’s see a formal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definition of skip list.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Skip List - Formally </a:t>
            </a:r>
            <a:endParaRPr lang="ko-KR" altLang="en-US" dirty="0" smtClean="0" sz="123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A skip list for a set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distinct (key, element) items is a series of lists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…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923" i="1" b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such that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Each list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923" i="1" b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the special keys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+∞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−∞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923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List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S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the keys of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S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in non-decreasing order Each list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subsequence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one,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i.e.,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23">
                <a:solidFill>
                  <a:srgbClr val="000000"/>
                </a:solidFill>
                <a:latin typeface="Symbol"/>
                <a:ea typeface="Symbol"/>
              </a:rPr>
              <a:t>⊇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		S</a:t>
            </a:r>
            <a:r>
              <a:rPr lang="en-US" altLang="ko-KR" dirty="0" smtClean="0" sz="923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23">
                <a:solidFill>
                  <a:srgbClr val="000000"/>
                </a:solidFill>
                <a:latin typeface="Symbol"/>
                <a:ea typeface="Symbol"/>
              </a:rPr>
              <a:t>⊇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 … </a:t>
            </a:r>
            <a:r>
              <a:rPr lang="en-US" altLang="ko-KR" dirty="0" smtClean="0" sz="923">
                <a:solidFill>
                  <a:srgbClr val="000000"/>
                </a:solidFill>
                <a:latin typeface="Symbol"/>
                <a:ea typeface="Symbol"/>
              </a:rPr>
              <a:t>⊇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		S</a:t>
            </a:r>
            <a:r>
              <a:rPr lang="en-US" altLang="ko-KR" dirty="0" smtClean="0" sz="923" i="1" b="1">
                <a:solidFill>
                  <a:srgbClr val="000000"/>
                </a:solidFill>
                <a:latin typeface="Times New Roman"/>
              </a:rPr>
              <a:t>h </a:t>
            </a:r>
            <a:endParaRPr lang="ko-KR" altLang="en-US" dirty="0" smtClean="0" sz="923" i="1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List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923" i="1" b="1">
                <a:solidFill>
                  <a:srgbClr val="000000"/>
                </a:solidFill>
                <a:latin typeface="Times New Roman"/>
              </a:rPr>
              <a:t>h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contains only the two special keys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are advised to study skip list from your text books. The idea of randomness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to us. We will study in the next lecture, how easy and useful becomes the skip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data structure after employing randomness. </a:t>
            </a:r>
            <a:endParaRPr lang="ko-KR" altLang="en-US" dirty="0" smtClean="0" sz="1056"/>
          </a:p>
          <a:p>
            <a:pPr marL="0" indent="0" defTabSz="15240" algn="l">
              <a:lnSpc>
                <a:spcPts val="3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40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10.4.2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Skip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Skip List Search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in Skip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from Skip List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had started the discussion on the concept of the skip lists.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came across a number of definitions and saw how the use of additional pointers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was effective in the list structures. It was evident from the discussion that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programmer prefers to keep the data in the linked list sorted. If the data is not sorted,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cannot use binary search algorithm. And the insert, find and remove methods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But in this case, we want to use the binary search on linked list.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purpose, skip list can be used. In the skip list, there is no condition of the upper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limit of the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Skip List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skip list for a set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distinct (key, element) items is a series of lists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, … 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endParaRPr lang="ko-KR" altLang="en-US" dirty="0" smtClean="0" sz="702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such that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Each list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the special keys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List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contains the keys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in non-decreasing order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Each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subsequence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one,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i.e.,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		⊇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		⊇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…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⊇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S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endParaRPr lang="ko-KR" altLang="en-US" dirty="0" smtClean="0" sz="702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List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contains only the two special keys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an example for the skip list. First of all, we have S0 i.e. a linked list.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did not show the arrows in the list in the figure. The first and last nodes of S0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respectively. In the computer, we can put these values by –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max(int) and max(int). The values can also be used about which we are sure that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not be in the data items. However, for the sake of discussion to show these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values, the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are the best notations. We can see that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is less than any value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data item while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is greater than any value of data item. If we insert any value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much ever, it is large the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will be greater than it. Moreover, we see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in S0 are in the non- decreasing order. This S0 is the first list in which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keys are present.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take some nodes from this list and link them. That will be not every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node or every fourth node. It may happen this way. However, we will try that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865120"/>
            <a:ext cx="4773295" cy="276479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node should not be every other or fourth node. It will be a random selection.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see S1 i.e. a subset of S0. In S1 we selected the nodes 23, 31, 34 and 64.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chosen these nodes randomly with out any order or preference. Now from this S1,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S2 by selecting some elements of S1. Here we select only one node i.e. 31 for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S2. The additional pointer, here, has to move from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to 31 and from 31 to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Now the next list i.e. S3 will be subset of S2. As there is only one node in S2,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S3, there will only the special keys. In these lists, we use pointers to link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 in S0. Then with additional pointers, we linked these nodes additionally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lists. Unlike 2i, there is not every other node in S1 or every fourth node in S2.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following figure represents these lists.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64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56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64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78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40.1:  </a:t>
            </a:r>
            <a:endParaRPr lang="ko-KR" altLang="en-US" dirty="0" smtClean="0" sz="1056" b="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the list i.e. from S0 to S3. Actually, these list are made during insert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operation. We will see the insert method later. Let’s first talk about the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Skip List Search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a skip list structure available. Let’s see what is its benefit.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started our discussion from the point that we want to keep linked list structure but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want to search n elements for finding an item. We want to implement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 like binary search on the linked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Now a skip list with additional pointers is available. Let’s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see how search will work with these additional pointers. </a:t>
            </a:r>
            <a:endParaRPr lang="ko-KR" altLang="en-US" dirty="0" smtClean="0" sz="14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Suppose we want to search an item x. Then search </a:t>
            </a:r>
            <a:endParaRPr lang="ko-KR" altLang="en-US" dirty="0" smtClean="0" sz="1409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>
                <a:solidFill>
                  <a:srgbClr val="000000"/>
                </a:solidFill>
                <a:latin typeface="Arial"/>
              </a:rPr>
              <a:t>operation can be described as under. </a:t>
            </a:r>
            <a:endParaRPr lang="ko-KR" altLang="en-US" dirty="0" smtClean="0" sz="1409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search for a key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following fashion: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We start at the first position of the top list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At the current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compare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 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←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after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=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we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after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))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4575175"/>
            <a:ext cx="4773295" cy="27641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4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&gt;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we “scan forward”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&lt;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: we “drop down”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If we try to drop down past the bottom list, we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NO_SUCH_KEY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To search a key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start at the first position of the top list. For example, we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discussing the top list is S3. We note the current position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get the key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 after the current list (i.e. in which we are currently looking for key) by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key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(after(p))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We get this key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compare the key to be searched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it means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element that we are searching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so we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element(after(p))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scan forward and look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node.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y,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drop down and look in the down lists. No if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drop down and past the bottom list, it means that the element (item) is not there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return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NO_SUCH_KEY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see the working of this search strategy let’s apply it on the skip list, already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and shown in the figure 40.1.  This figure shows four lists. Remember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four lists are actually in the one skip list and are made by the additional pointers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same skip list. There is not such situation thatS1 is developed by extracting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from S0 and S1 duplicates this data. Actually every node exists once and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pointed by additional pointers. For example, the node 23 exists once but has two next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pointers. One is pointing to 26 while the other pointing to 31. In the same way, there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three pointers in node 31, two are to the node 34 and the third is toward the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64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56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64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78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40.2: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Search for 78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search 78. We start from the first node of the top list i.e. S3.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78 will be the current node and we denote it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look at the value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after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figure, it is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Now as the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is greater than 78, we drop down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S2. Note in the figure that we drop down vertically. We don’t go to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p in the down list. This process of going down will be discussed later.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drop from S3 to S2. This is our current pointer. Now we look for the value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node to it. We see that this value is 31. Now 31 is less than 78, so we will do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scan forward. The next node is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that is obviously greater than 78. So we drop from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and go to the list S1. In this list, the current position is 34. We compare 78 with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node. As 34 is less than 78, we scan forward in the list. The next node in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64 that is also less than 78. So we look at the next node and note that the next node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that is greater than 78. Due to this we drop down to list S0. Here we look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node of 64 and find that this is 78. Thus at last we reach at the node that we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searching for. Now if we look at the arrows that are actually the steps to find out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78 in the skip list. Then we come to know that these are much less than the links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have to follow while starting from the -+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 the list S0. In S0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traverse the nodes 12, 23, 26, 31, 34, 44, 56, and 64 to reach at 78. This traversal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could be larger if there were more nodes before 31. But in our algorithm, we reach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31 in one step. Thus we see that the search in the skip list is faster than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in a linear list. By the steps that we do in searching an element and see that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is like the binary search scheme. And we will see that this skip list search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log2 N as in binary search tree. Though the skip list is not a tree, yet its find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works like the binary search in trees. As we know that find method is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involved in the remove method, so remove method also becomes fast as the find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 is fast.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Insertion in Skip List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are going to insert (add) an item 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x,0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into a skip list, we use a randomized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algorithm. Note that here we are sending the item in a pair. This is due to the fact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keep the data and the key separately to apply the find and remove methods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easily. In this pair,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key, also present in the record.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denotes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(i.e. whole record). Now the randomized algorithm for insertion of this value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described below.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step of the algorithm is that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We repeatedly toss a coin until we get tails, and we denote with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the number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  times the coin came up heads.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first step describes that we toss a coin while knowing a 50 percent probability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both head and tail. We keep a counter denoted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count the heads that come up.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if the head comes up,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becomes 1. We again toss the coin if again the head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up we add 1 to the counter i. We continue this counting until the tail comes up.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tail comes up, we stop tossing and note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this, the second step of algorithm comes, stating that 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If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i &gt; 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add to the skip list new lists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+1, … 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+1, each containing only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two special keys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compare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(that is the count of heads came up)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(that is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list)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greater than or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we add new lists to the skip list. These new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lists are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+1, … 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+1. Suppose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8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4 , we add additional lists S5, S6,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S7, S8 and S9. These lists initially will contain the only two special keys that means -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The next steps are: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We search for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in the skip list and find the positions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0, 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, …,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pi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items with largest key less than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each list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1, … 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Si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For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← 0, …,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insert item (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into list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after position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pj </a:t>
            </a:r>
            <a:endParaRPr lang="ko-KR" altLang="en-US" dirty="0" smtClean="0" sz="1056" i="1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2225040"/>
            <a:ext cx="4773295" cy="20542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4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will start from the left most node of the top list i.e. Si and will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for the new data item. We find this position as we want to keep the data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sorted.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this insert position with the help of figures. Suppose we have a skip list 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the figure below. Here are only three items 10, 23 and 36 in it. There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additional layers S1 and S2. These were made when 10, 23 and 36 were inserted.   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40.3:  </a:t>
            </a:r>
            <a:endParaRPr lang="ko-KR" altLang="en-US" dirty="0" smtClean="0" sz="1056" b="1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proceed with this list and insert a value in it. The value that we are going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 is 15. We have tossed the coin and figured out that the value of i is 2. As it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randomized algorithm so in this case,  the value of i has become 2. The value of I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count number of heads before the tail comes up by tossing the coin. From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figure, we see that the value of h is 2. As h and i are equal, we are not adding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S3, S4 and S5 to the list. Rather, we will apply the search algorithm. We start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most node of the top list. We call this position p2. We label these positions for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their identification. We see that the item being added i.e.15 is less than the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, so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drop down to list S1. We denote this step with p1. In this list, the next value is 23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also greater than 15. So we again drop down and come in the list S0. Our current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is still the first node in the list as we did not have any scan forward. Now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node is 10 that is less than 15. So we skip forward. We note this skip forward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p0. Now after p0 the value in next node is 23 that is greater than 15. As we are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bottom list, there is no more drop down. So here is the position of the new node.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position of new node is after the node 10 and before the node 23.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labeled the positions po, p1 and  p2 to reach there. Now we add the value 15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additionally to the list that we have traversed to find the positions and labeled them to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remember. After this we add a list S3 that contains only two keys that are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and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we have to keep such a list at the top of the skip list. The following figure shows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insertion process.  </a:t>
            </a:r>
            <a:endParaRPr lang="ko-KR" altLang="en-US" dirty="0" smtClean="0" sz="1056"/>
          </a:p>
          <a:p>
            <a:pPr marL="0" indent="0" defTabSz="15240" algn="l">
              <a:lnSpc>
                <a:spcPts val="1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1130935"/>
            <a:ext cx="4773295" cy="23253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5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40.4: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Insertion of 15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see that the new inserted node is in three lists. The value that we insert must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in S0 as it is the data list in which all the data will reside. However, it is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present in the lists that we have traversed to find its position. The value of i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method is randomly calculated by tossing the coin. How can we toss a coin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computers? There is routine library available in C and C++ that generates a random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number. We can give it a range of numbers to generate a number in between them.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ask it to give us only 0 and 1 and assign 1 to head and 0 to tail respectively.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the count number of 1’s will give us the number of heads that come up.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use some other range like we can say that if the random number is less than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fixed value (whatever we fixed) that it means head otherwise it will mean tail.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 that use random numbers are generally known as randomized algorithms.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A randomized algorithm performs coin tosses (i.e., uses random bits)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control its execution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It contains statements of the type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		←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		random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if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	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&lt;= 0.5    // head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A …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else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              // tail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 B …  </a:t>
            </a:r>
            <a:endParaRPr lang="ko-KR" altLang="en-US" dirty="0" smtClean="0" sz="1056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Its running time depends on the outcome of the coin tosses, i.e, head or tail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randomized algorithm, we take a number from the random() function between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1. This number is up to one decimal place. However, we can keep it up to nay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decimal places. As stated above ,after getting a number we check its value. If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or equal to 0.5, we consider it as head and execute the process A. In our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algorithm, we increase the value of i by 1. However, if value is greater than 0.5, 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it as tail and do the process B. In our algorithm, the process B takes place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 we note the value of I and stop the tossing. We do this process of tossing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loop. The while condition comes false when the tail (i.e. number greater than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0.5) comes. We cannot predict how many times this loop will execute as it depends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upon the outcome of the toss. It is also a random number. There may be only one or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large  number of heads before the tail comes up. 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459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48055" y="3380105"/>
            <a:ext cx="4773295" cy="24199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5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48055" y="6266815"/>
            <a:ext cx="4773295" cy="20542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5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Deletion from Skip List </a:t>
            </a:r>
            <a:endParaRPr lang="ko-KR" altLang="en-US" dirty="0" smtClean="0" sz="1409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remove method, we find the item to be removed with the find item and remove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from the list. In the lists where ever this item has links, we bypass them. Thus,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procedure is quite easy. Now let’s talk about this method.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remove an item with key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a skip list, we proceed as follows: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search for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the skip list and find the positions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0, 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, …,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the items with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where position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 list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Sj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This means that we look for the links of the item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be removed . We know that an item in the list has necessarily link in the list S0.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Moreover it may have links in other lists up to Si or say Sj. After this, we remove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0, 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 , …,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pi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from the lists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0,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1, … ,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Si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remove all the lists except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list containing only the two special keys.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the skip list shown in the figure below.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45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40.5 (a) 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Remove key 34</a:t>
            </a:r>
            <a:endParaRPr lang="ko-KR" altLang="en-US" dirty="0" smtClean="0" sz="1056"/>
          </a:p>
          <a:p>
            <a:pPr marL="0" indent="0" defTabSz="15240" algn="l">
              <a:lnSpc>
                <a:spcPts val="6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45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40.5 (b):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After removal of key 34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remove the node 34 from the list. When this node 34 was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inserted, it came not only in list S0 but there were its additional links o in S1 and S2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lists respectively. The list S3 has only the two special keys. Now for finding 34, we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from the top list. There is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as the next node, so we drop down to the list S2 as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is greater than 34. In S2, we are at node 34. Now we are at the point to  remove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34. From here, we go to the remaining lists and reach list S0. We also label the links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traversed. It is evident that  we have labeled the links as p2, p1 and p0.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the node 34 and change the pointers in the lists. We see that in S3, this was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single node. After removing this node, there is only one link that is from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to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The list S3 already has link from -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to +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∝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. Instead of keeping these two i.e. S2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S3, we keep only S2. Thus we have removed the node 34 from the skip list.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the remove method is simple. We don’t have randomness and need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tossing. The tossing and random number was only in the case of insertion.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remove method, we have to change some pointers.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in this data structure, we need not to go for rotations and balancing like AVL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tree. In this data structure- Skip-list, we get rid of the limitation of arrays. This way,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search gets very fast. Moreover, we have sorted data and can get it in a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form.</a:t>
            </a:r>
            <a:endParaRPr lang="ko-KR" altLang="en-US" dirty="0" smtClean="0" sz="1056"/>
          </a:p>
          <a:p>
            <a:pPr marL="0" indent="0" defTabSz="15240" algn="l">
              <a:lnSpc>
                <a:spcPts val="4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04670" y="5601970"/>
            <a:ext cx="3197225" cy="11525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5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41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10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10.4.2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Review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Quad Node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Performance of Skip Lists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Tree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 of Hashing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Review </a:t>
            </a:r>
            <a:endParaRPr lang="ko-KR" altLang="en-US" dirty="0" smtClean="0" sz="1231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studied three methods of skip list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had their pictorial view. Working of these methods was also discussed.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sketches, you must have some idea about the implementation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extra pointer in the skip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its implementation. The skip list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881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endParaRPr lang="ko-KR" altLang="en-US" dirty="0" smtClean="0" sz="881" i="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881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endParaRPr lang="ko-KR" altLang="en-US" dirty="0" smtClean="0" sz="881" i="1" b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881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79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</a:t>
            </a:r>
            <a:r>
              <a:rPr lang="en-US" altLang="ko-KR" dirty="0" smtClean="0" sz="881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796"/>
          </a:p>
          <a:p>
            <a:pPr marL="0" indent="0" defTabSz="15240" algn="l">
              <a:lnSpc>
                <a:spcPts val="6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some nodes in this skip list. The data is present at 0, 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levels.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actual values are 12, 23, 34 and 45. The node 34 is present in three nodes. It is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necessary that we want to do the same in implementation. We need a structure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pointers. Should we copy the data in the same way or not? Let’s have a look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previous example: </a:t>
            </a:r>
            <a:endParaRPr lang="ko-KR" altLang="en-US" dirty="0" smtClean="0" sz="1056"/>
          </a:p>
          <a:p>
            <a:pPr marL="0" indent="0" defTabSz="15240" algn="l">
              <a:lnSpc>
                <a:spcPts val="6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462 of 519 </a:t>
            </a:r>
            <a:endParaRPr lang="ko-KR" altLang="en-US" dirty="0" smtClean="0" sz="1056"/>
          </a:p>
        </p:txBody>
      </p:sp>
      <p:sp>
        <p:nvSpPr>
          <p:cNvPr id="1357" name="Rect 3"/>
          <p:cNvSpPr>
            <a:spLocks noGrp="1" noChangeArrowheads="1"/>
          </p:cNvSpPr>
          <p:nvPr/>
        </p:nvSpPr>
        <p:spPr>
          <a:xfrm rot="0">
            <a:off x="4724400" y="6022975"/>
            <a:ext cx="98425" cy="8108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792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</a:rPr>
              <a:t>∞</a:t>
            </a:r>
            <a:endParaRPr lang="ko-KR" altLang="en-US" dirty="0" smtClean="0" sz="79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792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</a:rPr>
              <a:t>∞</a:t>
            </a:r>
            <a:endParaRPr lang="ko-KR" altLang="en-US" dirty="0" smtClean="0" sz="79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792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</a:rPr>
              <a:t>∞</a:t>
            </a:r>
            <a:endParaRPr lang="ko-KR" altLang="en-US" dirty="0" smtClean="0" sz="792"/>
          </a:p>
        </p:txBody>
      </p:sp>
      <p:sp>
        <p:nvSpPr>
          <p:cNvPr id="1358" name="Rect 3"/>
          <p:cNvSpPr>
            <a:spLocks noGrp="1" noChangeArrowheads="1"/>
          </p:cNvSpPr>
          <p:nvPr/>
        </p:nvSpPr>
        <p:spPr>
          <a:xfrm rot="0">
            <a:off x="3691255" y="6035040"/>
            <a:ext cx="619760" cy="697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6">
                <a:solidFill>
                  <a:srgbClr val="000000"/>
                </a:solidFill>
                <a:latin typeface="Times New Roman"/>
              </a:rPr>
              <a:t>3</a:t>
            </a:r>
            <a:endParaRPr lang="ko-KR" altLang="en-US" dirty="0" smtClean="0" sz="79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6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endParaRPr lang="ko-KR" altLang="en-US" dirty="0" smtClean="0" sz="796"/>
          </a:p>
        </p:txBody>
      </p:sp>
      <p:sp>
        <p:nvSpPr>
          <p:cNvPr id="1359" name="Rect 3"/>
          <p:cNvSpPr>
            <a:spLocks noGrp="1" noChangeArrowheads="1"/>
          </p:cNvSpPr>
          <p:nvPr/>
        </p:nvSpPr>
        <p:spPr>
          <a:xfrm rot="0">
            <a:off x="2008505" y="5739130"/>
            <a:ext cx="2814320" cy="10947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792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79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endParaRPr lang="ko-KR" altLang="en-US" dirty="0" smtClean="0" sz="792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</a:rPr>
              <a:t>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79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79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792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</a:t>
            </a:r>
            <a:endParaRPr lang="ko-KR" altLang="en-US" dirty="0" smtClean="0" sz="79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Symbol"/>
                <a:ea typeface="Symbol"/>
              </a:rPr>
              <a:t>∞</a:t>
            </a:r>
            <a:endParaRPr lang="ko-KR" altLang="en-US" dirty="0" smtClean="0" sz="792"/>
          </a:p>
        </p:txBody>
      </p:sp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090" y="1325880"/>
            <a:ext cx="4895215" cy="11950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</a:t>
            </a:r>
            <a:r>
              <a:rPr lang="en-US" altLang="ko-KR" dirty="0" smtClean="0" sz="702" b="1">
                <a:solidFill>
                  <a:srgbClr val="000000"/>
                </a:solidFill>
                <a:latin typeface="Courier New"/>
                <a:ea typeface="Courier New"/>
              </a:rPr>
              <a:t>head </a:t>
            </a:r>
            <a:endParaRPr lang="ko-KR" altLang="en-US" dirty="0" smtClean="0" sz="702" b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Times New Roman"/>
                <a:ea typeface="Times New Roman"/>
              </a:rPr>
              <a:t>Tower Node </a:t>
            </a:r>
            <a:endParaRPr lang="ko-KR" altLang="en-US" dirty="0" smtClean="0" sz="881" b="1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20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30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40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50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57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</a:t>
            </a:r>
            <a:r>
              <a:rPr lang="en-US" altLang="ko-KR" dirty="0" smtClean="0" sz="702">
                <a:solidFill>
                  <a:srgbClr val="000000"/>
                </a:solidFill>
                <a:latin typeface="Arial"/>
              </a:rPr>
              <a:t>60 </a:t>
            </a:r>
            <a:endParaRPr lang="ko-KR" altLang="en-US" dirty="0" smtClean="0" sz="702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Here, the data is 20, 26, 30, 40, 50, 57, 60. At the lowest level, we have a link list.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view of the node 26, node 40 and node 57 reveals that there is an extra next ‘pointer’.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head pointer is pointing to a node from where three pointers are pointing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nodes.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the implementation of link list. At the time of implementation,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data field and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 in it. In case of doubly link list, we have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previous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too. If we add an extra pointer in the node, the above structure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obtained. It is not necessary that every node contains maximum pointers.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example, in the case of node 26 and node 57, there are two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and the node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40 has three next pointers. We will name this node as ‘TowerNode’.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TowerNode will have an array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pointers. With the help of this array of pointers,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node can have multiple pointers. Actual number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will be decided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random procedure. We also need to define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MAXLEVEL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as an upper limit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of levels in a node. Now we will see when this node is created. A node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created at a time of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to insert some data in the list. At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occasion, a programmer flips the coin till the time he gets a tail. The number of heads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represents the levels. Suppose we want to insert some data and there are heads for six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times. Now you know how much next pointers are needed to insert which data.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create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listNode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TowerNode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factory. We will ask the factory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allocate the place for six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dynamically. Keep in mind that the next is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for which we will allocate the memory dynamically. This is done just due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 that we may require different number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at different times. So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of creation, the factory will take care of this thing. When we get this node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factory, it has six next pointers. We will insert the new data item in it. Then in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loop, we will point all these next pointers to next nodes. We have already studied it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separate lecture 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your random number generation is not truly so and it gives only the heads.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case, we may have a very big number of heads and the Tower will be too big, leading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memory allocation problem. Therefore, there is need to impose some upper limit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it. For this purpose, 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MAXLEVEL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is the upper limit for the number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pointers. We may generate some error in our program if this upper limit is crossed.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of a node will point at their own level. Consider the above figure.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insert node 40 in it. Its 0 level pointer is pointing to node 50. The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pointing to the node 57 while the third pointer pointing to tail.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case when 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TowerNode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one of the solutions of this problem. 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463 of 519 </a:t>
            </a:r>
            <a:endParaRPr lang="ko-KR" altLang="en-US" dirty="0" smtClean="0" sz="1056"/>
          </a:p>
        </p:txBody>
      </p:sp>
      <p:sp>
        <p:nvSpPr>
          <p:cNvPr id="1362" name="Rect 3"/>
          <p:cNvSpPr>
            <a:spLocks noGrp="1" noChangeArrowheads="1"/>
          </p:cNvSpPr>
          <p:nvPr/>
        </p:nvSpPr>
        <p:spPr>
          <a:xfrm rot="0">
            <a:off x="5449570" y="1200785"/>
            <a:ext cx="294005" cy="977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2" b="1">
                <a:solidFill>
                  <a:srgbClr val="000000"/>
                </a:solidFill>
                <a:latin typeface="Courier New"/>
              </a:rPr>
              <a:t>tail </a:t>
            </a:r>
            <a:endParaRPr lang="ko-KR" altLang="en-US" dirty="0" smtClean="0" sz="702" b="1"/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734695" y="6248400"/>
            <a:ext cx="5495290" cy="2338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6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16150" y="3060065"/>
            <a:ext cx="2215515" cy="22161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6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Quad Node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review another method for this solution,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Quad 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method,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not have the array of pointers. Rather, there are four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pointers. The following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details can help us understand it properly.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quad-node stores: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item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link to the node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link to the node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link to the node below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link to the node above </a:t>
            </a:r>
            <a:endParaRPr lang="ko-KR" altLang="en-US" dirty="0" smtClean="0" sz="1056"/>
          </a:p>
          <a:p>
            <a:pPr marL="0" indent="0" defTabSz="15240" algn="l">
              <a:lnSpc>
                <a:spcPts val="9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409" i="1" b="1">
                <a:solidFill>
                  <a:srgbClr val="000000"/>
                </a:solidFill>
                <a:latin typeface="Times New Roman"/>
                <a:ea typeface="Times New Roman"/>
              </a:rPr>
              <a:t>x </a:t>
            </a:r>
            <a:endParaRPr lang="ko-KR" altLang="en-US" dirty="0" smtClean="0" sz="1409" i="1" b="1"/>
          </a:p>
          <a:p>
            <a:pPr marL="0" indent="0" defTabSz="15240" algn="l">
              <a:lnSpc>
                <a:spcPts val="9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will require copying of the key (item) at different levels. We do not have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of next pointers in it. So different ways are adopted to create a multilevel node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skip list. While requiring six levels, we will have to create six such nodes and copy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item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in all of these nodes and insert these in link list structure.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figure depicts it well.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749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485">
                <a:solidFill>
                  <a:srgbClr val="000000"/>
                </a:solidFill>
                <a:latin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−∞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+∞</a:t>
            </a:r>
            <a:endParaRPr lang="ko-KR" altLang="en-US" dirty="0" smtClean="0" sz="749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749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485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−∞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+∞</a:t>
            </a:r>
            <a:endParaRPr lang="ko-KR" altLang="en-US" dirty="0" smtClean="0" sz="749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749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485">
                <a:solidFill>
                  <a:srgbClr val="000000"/>
                </a:solidFill>
                <a:latin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−∞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64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+∞</a:t>
            </a:r>
            <a:endParaRPr lang="ko-KR" altLang="en-US" dirty="0" smtClean="0" sz="749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</a:t>
            </a:r>
            <a:r>
              <a:rPr lang="en-US" altLang="ko-KR" dirty="0" smtClean="0" sz="749" i="1" b="1">
                <a:solidFill>
                  <a:srgbClr val="000000"/>
                </a:solidFill>
                <a:latin typeface="Times New Roman"/>
                <a:ea typeface="Times New Roman"/>
              </a:rPr>
              <a:t>S</a:t>
            </a:r>
            <a:r>
              <a:rPr lang="en-US" altLang="ko-KR" dirty="0" smtClean="0" sz="485">
                <a:solidFill>
                  <a:srgbClr val="000000"/>
                </a:solidFill>
                <a:latin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−∞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23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26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31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34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44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56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64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Times New Roman"/>
                <a:ea typeface="Times New Roman"/>
              </a:rPr>
              <a:t>78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749">
                <a:solidFill>
                  <a:srgbClr val="000000"/>
                </a:solidFill>
                <a:latin typeface="Symbol"/>
                <a:ea typeface="Symbol"/>
              </a:rPr>
              <a:t>+∞</a:t>
            </a:r>
            <a:endParaRPr lang="ko-KR" altLang="en-US" dirty="0" smtClean="0" sz="749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previous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up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here. In the bottom layer, the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down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pointer is nil. Similarly the right pointers of right column are nil. In the top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layer, the top pointers are nil. You can see that the values 23, 34, and 64 are copied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two times and the value 31 is copied three times. What are the advantages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quad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?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quad 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need not to allocate the array for next pointers. Every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 contains four pointers.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quad 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factory will return a node having four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in it. It is our responsibility to link the nodes up, bottom, left and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pointers with other nodes. With the help of previous pointer, we can also move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backward in the list. This may be called as doubly skip list.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Performance of Skip Lists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analyze this data structure and see how much time is required for search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deletion process. The analysis is probability-based and needs lot of time. We will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in some other course. Let’s discuss about the performance of the skip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regarding insert, find and remove methods.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skip list,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items the expected space used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 skip list, some memory is needed for its items. We also need memory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 link list at lowest level as well as in other levels. This memory space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i.e. number of items.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items, we need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memory locations.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items may be of integer data type. If we have 100 items, there will be need of 100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memory locations. Then we need space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pointers that necessitates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availability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2n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memory locations. We have different layers in our structure. We do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make every node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towerNode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neither we have a formula for this. We randomly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towerNode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their height.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next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pointers can be up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maxLevel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but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normally these will be few. We do not require pointers at each level. We do not need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20n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30n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memory locations. If we combine all these the value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15n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20n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 the proportionality constant will be around 15 or 20 but it cant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this is the case then to store 100 items we do need 100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100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3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memory locations.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some algorithms in which we require space in square or cubic times.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space requirement and it is sufficient in terms of space requirements. It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demand too much memory.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performance of its methods. The expected search, insertion and deletion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looks like binary tree or binary search tree (BST).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 is proposed while keeping in mind, the binary search tree. You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witnessed that if we have extra nodes, search process can be carried out very fast.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prove it with the probabilistic analyses of mathematics. We will not do it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course. This information is available in books and on the internet. All the searches,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insertions and deletions are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we have 100,000 nodes, its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around 20. We need 20 steps to insert or search or remove an element. In case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insert, we need to search that this element already exists or not. If we allow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duplicate entries then a new entry would be inserted after the previous one.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delete too, we need to search for the entry before making any deletion. In case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binary search tree, the insertion or deletion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when the tree is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balanced tree. This data structure is very efficient. Its implementation is also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simple. As you have already worked with link list, so it will be very easy for you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 it.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AVL Tree </a:t>
            </a:r>
            <a:endParaRPr lang="ko-KR" altLang="en-US" dirty="0" smtClean="0" sz="1231" b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92935" y="2807335"/>
            <a:ext cx="2779395" cy="235902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6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insertion, deletion and searches will be performed on the basis of key.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nodes, we have key and data together. Keep in mind the example of telephone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directory or employee directory. In the key, we have the name of the person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entry contains the address, telephone number and the remaining information. In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AVL tree, we will store this data in the nodes. Though, the search will be on the key,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yet as we already noticed that the insert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Being a balanced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tree, it will not become degenerated balance tree. The objective of AVL tree is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make the binary trees balanced. Therefore the find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Similarly the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for the removal of the node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key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entry</a:t>
            </a:r>
            <a:endParaRPr lang="ko-KR" altLang="en-US" dirty="0" smtClean="0" sz="1056" b="1"/>
          </a:p>
          <a:p>
            <a:pPr marL="0" indent="0" defTabSz="15240" algn="l">
              <a:lnSpc>
                <a:spcPts val="6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key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entry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key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entry</a:t>
            </a:r>
            <a:endParaRPr lang="ko-KR" altLang="en-US" dirty="0" smtClean="0" sz="1056" b="1"/>
          </a:p>
          <a:p>
            <a:pPr marL="0" indent="0" defTabSz="15240" algn="l">
              <a:lnSpc>
                <a:spcPts val="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key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entry</a:t>
            </a:r>
            <a:endParaRPr lang="ko-KR" altLang="en-US" dirty="0" smtClean="0" sz="1056" b="1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discussed all the five implementations. In some implementations,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required is proportional to some constant time. In case of a sorted list, we have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before the insertion. However for an unsorted list, a programmer will insert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item in the start. Similarly we have seen the data structure where insertions, deletions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searches are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link list, insertions and deletions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whereas search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seems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lower limit and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cannot reduce this number more.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it true that we cannot do better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case of table? Think about it and send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 proposals. So far we have find, remove and insert where time varies between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constant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would be nice to have all the three as constant time operations.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do not want to traverse the tree or go into long loops. So it is advisable to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in first step. If we want to insert or delete, it should be done in one step. How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 we do that? The answer is Hashing.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Hashing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hashing is an algorithmic procedure and a methodology. It is not a new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structure. It is a way to use the existing data structure. The methods-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of table will get of constant time. You will see that we will be able to do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 single step. What is its advantage? If we need table data structure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program, it can be used easily due to being very efficient. Moreover, its operations are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constant time. In the recent lectures, we were talking about the algorithms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procedures rather than data structure. Now we will discuss about the strategies and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529840" y="6187440"/>
            <a:ext cx="1779905" cy="247205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37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04670" y="3392170"/>
            <a:ext cx="2898140" cy="8782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7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methodologies. Hashing is also a part of this.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store the data in the array but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TableNodes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not stored consecutively.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storing the element’s data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TableNodes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You have seen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data structure. We have also seen how to make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sorted. There will be no gap in the array positions whether we use the sorted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unsorted data. This means that there is some data at the 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of array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then the third element is stored at the 6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and 4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5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empty. We have not done like this before. In case of link list, it is non-consecutive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 with respect to memory.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Hashing, we will internally use array. It may be static or dynamic. But we will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data in consecutive locations. Their place of storage is calculated using the key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 function.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Hash function is a new thing for you. See the diagram below: </a:t>
            </a:r>
            <a:endParaRPr lang="ko-KR" altLang="en-US" dirty="0" smtClean="0" sz="1056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Key </a:t>
            </a:r>
            <a:endParaRPr lang="ko-KR" altLang="en-US" dirty="0" smtClean="0" sz="1056" b="1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key that may be a name, or roll number or login name etc. We will pass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key to a hash function. This is a mathematical function that will return an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index. In other words, an integer number will be returned. This number will be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range but not in a sequence.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Keys and entries are scattered throughout the array. Suppose we want to insert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of our employee. The key is the name of the employee. We will pass this key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hash function which will return an integer. We will use this number as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index. We will insert the data of the employee at that index.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Times New Roman"/>
                <a:ea typeface="Times New Roman"/>
              </a:rPr>
              <a:t>key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Times New Roman"/>
                <a:ea typeface="Times New Roman"/>
              </a:rPr>
              <a:t>entry </a:t>
            </a:r>
            <a:endParaRPr lang="ko-KR" altLang="en-US" dirty="0" smtClean="0" sz="881" b="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881" b="1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881" b="1"/>
          </a:p>
          <a:p>
            <a:pPr marL="0" indent="0" defTabSz="15240" algn="l">
              <a:lnSpc>
                <a:spcPts val="5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</a:t>
            </a:r>
            <a:r>
              <a:rPr lang="en-US" altLang="ko-KR" dirty="0" smtClean="0" sz="881" b="1">
                <a:solidFill>
                  <a:srgbClr val="000000"/>
                </a:solidFill>
                <a:latin typeface="Times New Roman"/>
                <a:ea typeface="Times New Roman"/>
              </a:rPr>
              <a:t>123 </a:t>
            </a:r>
            <a:endParaRPr lang="ko-KR" altLang="en-US" dirty="0" smtClean="0" sz="881" b="1"/>
          </a:p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467 of 519 </a:t>
            </a:r>
            <a:endParaRPr lang="ko-KR" altLang="en-US" dirty="0" smtClean="0" sz="1056"/>
          </a:p>
        </p:txBody>
      </p:sp>
      <p:sp>
        <p:nvSpPr>
          <p:cNvPr id="1371" name="Rect 3"/>
          <p:cNvSpPr>
            <a:spLocks noGrp="1" noChangeArrowheads="1"/>
          </p:cNvSpPr>
          <p:nvPr/>
        </p:nvSpPr>
        <p:spPr>
          <a:xfrm rot="0">
            <a:off x="4114800" y="3623945"/>
            <a:ext cx="379095" cy="3143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array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index </a:t>
            </a:r>
            <a:endParaRPr lang="ko-KR" altLang="en-US" dirty="0" smtClean="0" sz="1056" b="1"/>
          </a:p>
        </p:txBody>
      </p:sp>
      <p:sp>
        <p:nvSpPr>
          <p:cNvPr id="1372" name="Rect 3"/>
          <p:cNvSpPr>
            <a:spLocks noGrp="1" noChangeArrowheads="1"/>
          </p:cNvSpPr>
          <p:nvPr/>
        </p:nvSpPr>
        <p:spPr>
          <a:xfrm rot="0">
            <a:off x="2950210" y="3660775"/>
            <a:ext cx="504190" cy="3105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hash </a:t>
            </a:r>
            <a:endParaRPr lang="ko-KR" altLang="en-US" dirty="0" smtClean="0" sz="1056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function</a:t>
            </a:r>
            <a:endParaRPr lang="ko-KR" altLang="en-US" dirty="0" smtClean="0" sz="1056" b="1"/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 will calculate place of storage and insert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we get a new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item, its key will be generated with the help of hash function to get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index. Using this array index, we insert the data in the array. This is certainly 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constant time operation. If our hash function is fast, the insert operation will also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rapid. It will take only one step to perform this.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It will calculate the place of storage and retrieve the entry.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get the key and pass it to the hash function and obtain the array index. We get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element from that array position. If data is not present at that array position,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data is not found. We do not need to find the data at some other place. In case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binary search tree, we traverse the tree to find the element. Similarly in list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 we continue our search. Therefore find is also a constant time operation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Hashing.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Finally,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method. It will calculate the place of storage and set it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null. That means it will pass the key to the hash function and get the array index.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this array index, it will remove the element.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Examples of Hashing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some examples of hashing and hash functions. With the help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examples you will easily understand the working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store some data. We have a list of some fruits. The names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fruits are in string. The key is the name of the fruit. We will pass it to the hash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to get the hash key.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our hash function gave us the following values: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("apple")              =     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("watermelon")    =     3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("grapes")            =     8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("cantaloupe")      =   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("kiwi")                =   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("strawberry")      =    9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("mango")            =    6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 ("banana")            =    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hash function name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pass it to the string “apple”. Resultantly,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returns a number 5. In case of “watermelon” we get the number 3. In case of “grapes”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number 8 and so on. Neither we are sending the names of the fruits in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to the function, nor is function returning the numbers in some order. It seems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some random numbers are returned. We have an array to store these strings.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will look like as: </a:t>
            </a:r>
            <a:endParaRPr lang="ko-KR" altLang="en-US" dirty="0" smtClean="0" sz="1056"/>
          </a:p>
          <a:p>
            <a:pPr marL="0" indent="0" defTabSz="15240" algn="l">
              <a:lnSpc>
                <a:spcPts val="10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7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011680" y="1054735"/>
            <a:ext cx="2493010" cy="27946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7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kiwi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banana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watermelon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6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88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9</a:t>
            </a:r>
            <a:endParaRPr lang="ko-KR" altLang="en-US" dirty="0" smtClean="0" sz="88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store the data depending on the indices got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array size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10. In case of apple, we get the index 5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so “apple” is stored at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5. As we are dealing with strings, so the array will be an array of strings.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“watermelon” is at position 3 and so on every element is at its position. This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in the private part of our data structure and the user will not know about it.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our array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then it will look like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table[5]    =   "apple"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table[3]    =   "watermelon"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table[8]    =   "grapes"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table[7]    =   "cantaloupe"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table[0]    =   "kiwi"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table[9]    =   "strawberry"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table[6]    =   "mango"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table[2]    =   "banana"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store our data in the Table array using the string copy. The user is storing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using the names of the fruits and wants to retrieve or delete the data 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 of fruits. We have used the array for storage purposes but did not store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consecutively. We store the data using the hash function which provides us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index. You can note that there are gaps in the array positions.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we will retrieve the data using the names of fruit and pass it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to get the index. Then we will retrieve the data at that position. Consider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table array, it seems that we are using the names of fruits as indices.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table["apple"]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table["watermelon"]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table["grapes"]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table["cantaloupe"]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table["kiwi"] 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469 of 519 </a:t>
            </a:r>
            <a:endParaRPr lang="ko-KR" altLang="en-US" dirty="0" smtClean="0" sz="1056"/>
          </a:p>
        </p:txBody>
      </p:sp>
      <p:sp>
        <p:nvSpPr>
          <p:cNvPr id="1377" name="Rect 3"/>
          <p:cNvSpPr>
            <a:spLocks noGrp="1" noChangeArrowheads="1"/>
          </p:cNvSpPr>
          <p:nvPr/>
        </p:nvSpPr>
        <p:spPr>
          <a:xfrm rot="0">
            <a:off x="3100070" y="2505710"/>
            <a:ext cx="643890" cy="11944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apple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mango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cantaloupe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grapes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strawberry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table["strawberry"]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table["mango"]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table["banana"]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using the array as table [“apple”], table [“watermelon”] and so on. We are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numbers as indices here. Internally we are using the integer indices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hashCode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we have used the fruit names as indices of the array.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known as associative array. Now this is the internal details that we are thinking it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associative array or number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about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How does it work internally? We pass it to strings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may be persons name or name of fruits. How does it generate numbers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these? If the keys are strings, the hash function is some function of the characters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strings. One possibility is to simply add the ASCII values of the characters.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the mathematical notation of hash function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adds all the ASCII values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string characters. The characters in a string are from 0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length - 1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it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mod of this result with the size of the table. The size of the table is actually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of our internal array. This formula can be written mathematically as: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Symbol"/>
                <a:ea typeface="Symbol"/>
              </a:rPr>
              <a:t>⎛</a:t>
            </a:r>
            <a:endParaRPr lang="ko-KR" altLang="en-US" dirty="0" smtClean="0" sz="1979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h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str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)</a:t>
            </a:r>
            <a:endParaRPr lang="ko-KR" altLang="en-US" dirty="0" smtClean="0" sz="197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Example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h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ABC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65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66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67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TableSize</a:t>
            </a:r>
            <a:endParaRPr lang="ko-KR" altLang="en-US" dirty="0" smtClean="0" sz="1979" i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use the string “ABC” and try to find its hash value. The ASCII values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A, B and C are 65, 66 and 67 respectively. Suppose the tableSize is 55. We will add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three numbers and take mod with 55. The result (3.6) will be the hash value.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represent character data in the computer ASCII codes are used. For each character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 different bit pattern. To memorize this, we use its base 10 values.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on the keyboard like $, %, ‘ have ASCII values. You can find the ASCII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in you book or on the internet.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C++ code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hashCode( char* s 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i, sum;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sum = 0;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for(i=0; i &lt; strlen(s); i++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sum = sum + s[i]; //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ascii value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return sum % TABLESIZE;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return type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 is an integer and takes a pointer to character.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declares local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sum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then initializes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sum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with zero. We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strlen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to calculate the length of the string. We run a loop from 0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length – 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470 of 519 </a:t>
            </a:r>
            <a:endParaRPr lang="ko-KR" altLang="en-US" dirty="0" smtClean="0" sz="1056"/>
          </a:p>
        </p:txBody>
      </p:sp>
      <p:sp>
        <p:nvSpPr>
          <p:cNvPr id="1380" name="Rect 3"/>
          <p:cNvSpPr>
            <a:spLocks noGrp="1" noChangeArrowheads="1"/>
          </p:cNvSpPr>
          <p:nvPr/>
        </p:nvSpPr>
        <p:spPr>
          <a:xfrm rot="0">
            <a:off x="2926080" y="4523105"/>
            <a:ext cx="123190" cy="3079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979">
                <a:solidFill>
                  <a:srgbClr val="000000"/>
                </a:solidFill>
                <a:latin typeface="Symbol"/>
              </a:rPr>
              <a:t>⎠</a:t>
            </a:r>
            <a:endParaRPr lang="ko-KR" altLang="en-US" dirty="0" smtClean="0" sz="1979"/>
          </a:p>
        </p:txBody>
      </p:sp>
      <p:sp>
        <p:nvSpPr>
          <p:cNvPr id="1381" name="Rect 3"/>
          <p:cNvSpPr>
            <a:spLocks noGrp="1" noChangeArrowheads="1"/>
          </p:cNvSpPr>
          <p:nvPr/>
        </p:nvSpPr>
        <p:spPr>
          <a:xfrm rot="0">
            <a:off x="2261870" y="4099560"/>
            <a:ext cx="787400" cy="697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Symbol"/>
                <a:ea typeface="Symbol"/>
              </a:rPr>
              <a:t>⎞</a:t>
            </a:r>
            <a:endParaRPr lang="ko-KR" altLang="en-US" dirty="0" smtClean="0" sz="1979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145"/>
          </a:p>
        </p:txBody>
      </p:sp>
      <p:sp>
        <p:nvSpPr>
          <p:cNvPr id="1382" name="Rect 3"/>
          <p:cNvSpPr>
            <a:spLocks noGrp="1" noChangeArrowheads="1"/>
          </p:cNvSpPr>
          <p:nvPr/>
        </p:nvSpPr>
        <p:spPr>
          <a:xfrm rot="0">
            <a:off x="2176145" y="4105910"/>
            <a:ext cx="2055495" cy="685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145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endParaRPr lang="ko-KR" altLang="en-US" dirty="0" smtClean="0" sz="1145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TableSize</a:t>
            </a:r>
            <a:endParaRPr lang="ko-KR" altLang="en-US" dirty="0" smtClean="0" sz="1979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45">
                <a:solidFill>
                  <a:srgbClr val="000000"/>
                </a:solidFill>
                <a:latin typeface="Symbol"/>
                <a:ea typeface="Symbol"/>
              </a:rPr>
              <a:t>=</a:t>
            </a:r>
            <a:endParaRPr lang="ko-KR" altLang="en-US" dirty="0" smtClean="0" sz="1145"/>
          </a:p>
        </p:txBody>
      </p:sp>
      <p:sp>
        <p:nvSpPr>
          <p:cNvPr id="1383" name="Rect 3"/>
          <p:cNvSpPr>
            <a:spLocks noGrp="1" noChangeArrowheads="1"/>
          </p:cNvSpPr>
          <p:nvPr/>
        </p:nvSpPr>
        <p:spPr>
          <a:xfrm rot="0">
            <a:off x="2096770" y="4199890"/>
            <a:ext cx="1156335" cy="4667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2993">
                <a:solidFill>
                  <a:srgbClr val="000000"/>
                </a:solidFill>
                <a:latin typeface="Symbol"/>
              </a:rPr>
              <a:t>∑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  <a:ea typeface="Times New Roman"/>
              </a:rPr>
              <a:t>str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</a:rPr>
              <a:t>[</a:t>
            </a:r>
            <a:r>
              <a:rPr lang="en-US" altLang="ko-KR" dirty="0" smtClean="0" sz="1979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]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979">
                <a:solidFill>
                  <a:srgbClr val="000000"/>
                </a:solidFill>
                <a:latin typeface="Times New Roman"/>
                <a:ea typeface="Times New Roman"/>
              </a:rPr>
              <a:t>%</a:t>
            </a:r>
            <a:endParaRPr lang="ko-KR" altLang="en-US" dirty="0" smtClean="0" sz="1979"/>
          </a:p>
        </p:txBody>
      </p:sp>
      <p:sp>
        <p:nvSpPr>
          <p:cNvPr id="1384" name="Rect 3"/>
          <p:cNvSpPr>
            <a:spLocks noGrp="1" noChangeArrowheads="1"/>
          </p:cNvSpPr>
          <p:nvPr/>
        </p:nvSpPr>
        <p:spPr>
          <a:xfrm rot="0">
            <a:off x="1850390" y="4130040"/>
            <a:ext cx="671195" cy="701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Times New Roman"/>
                <a:ea typeface="Times New Roman"/>
              </a:rPr>
              <a:t>lengt</a:t>
            </a:r>
            <a:endParaRPr lang="ko-KR" altLang="en-US" dirty="0" smtClean="0" sz="1145" i="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979">
                <a:solidFill>
                  <a:srgbClr val="000000"/>
                </a:solidFill>
                <a:latin typeface="Symbol"/>
                <a:ea typeface="Symbol"/>
              </a:rPr>
              <a:t>⎝</a:t>
            </a:r>
            <a:endParaRPr lang="ko-KR" altLang="en-US" dirty="0" smtClean="0" sz="1979"/>
          </a:p>
        </p:txBody>
      </p:sp>
      <p:sp>
        <p:nvSpPr>
          <p:cNvPr id="1385" name="Rect 3"/>
          <p:cNvSpPr>
            <a:spLocks noGrp="1" noChangeArrowheads="1"/>
          </p:cNvSpPr>
          <p:nvPr/>
        </p:nvSpPr>
        <p:spPr>
          <a:xfrm rot="0">
            <a:off x="1661160" y="4267200"/>
            <a:ext cx="2463800" cy="90233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979">
                <a:solidFill>
                  <a:srgbClr val="000000"/>
                </a:solidFill>
                <a:latin typeface="Symbol"/>
              </a:rPr>
              <a:t>=</a:t>
            </a:r>
            <a:endParaRPr lang="ko-KR" altLang="en-US" dirty="0" smtClean="0" sz="1979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145" i="1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endParaRPr lang="ko-KR" altLang="en-US" dirty="0" smtClean="0" sz="1145" i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Symbol"/>
                <a:ea typeface="Symbol"/>
              </a:rPr>
              <a:t>=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Symbol"/>
                <a:ea typeface="Symbol"/>
              </a:rPr>
              <a:t>+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979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1979"/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loop, we start adding the ASCII values of the characters. In C++, characters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as ASCII values. So we directly add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s[i]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in the end, we take mod of sum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 constant representing the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one of the ways to implement the hash function. This is not the only way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implementing hash function. The hash function is a very important topic. Experts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researched a lot on hash functions. There may be other implementations of hash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possibility is to convert the string into some number in some arbitrary base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also might be a prime number). The formula is as: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188" i="1">
                <a:solidFill>
                  <a:srgbClr val="000000"/>
                </a:solidFill>
                <a:latin typeface="Times New Roman"/>
                <a:ea typeface="Times New Roman"/>
              </a:rPr>
              <a:t>length</a:t>
            </a:r>
            <a:endParaRPr lang="ko-KR" altLang="en-US" dirty="0" smtClean="0" sz="1188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h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str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)</a:t>
            </a:r>
            <a:endParaRPr lang="ko-KR" altLang="en-US" dirty="0" smtClean="0" sz="2069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188" i="1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endParaRPr lang="ko-KR" altLang="en-US" dirty="0" smtClean="0" sz="1188" i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Example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h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ABC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)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(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65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66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67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)%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</a:rPr>
              <a:t>T</a:t>
            </a:r>
            <a:endParaRPr lang="ko-KR" altLang="en-US" dirty="0" smtClean="0" sz="2069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taking the ASCII value and multiply it by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to the power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accumulate these numbers. In the end, we take the mod of this summation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tableSize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get the result.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may be some number. For example, we can take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prime number and take 7 or 11 etc. Let’s take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 7. If we want to get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hash value of ABC using this formula: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H(ABC) = (65 * 7 ^0 + 66 * 7^1 + 67 * 7^2)  mod 55 = 45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free to implement the hash function. The only condition is that it accepts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string and returns an integer.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keys are integers,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key%T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generally a good hash function, unless the data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undesirable features. For example,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 = 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all keys end in zeros, then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key%T = 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all keys. Suppose we have employee ID i.e. an integer. The employee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ID may be in hundreds of thousand. Here the table size is 10. In this case, we will take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mod of the employee ID with the table size to get the hash value. Here, the entire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employee IDs end in zero. What will be the remainder when we divide this number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10? It will be 0 for all employees. So this hash function cannot work with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data. In general, to avoid situations like this,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should be a prime number.  </a:t>
            </a:r>
            <a:endParaRPr lang="ko-KR" altLang="en-US" dirty="0" smtClean="0" sz="1056"/>
          </a:p>
          <a:p>
            <a:pPr marL="0" indent="0" defTabSz="15240" algn="l">
              <a:lnSpc>
                <a:spcPts val="1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471 of 519 </a:t>
            </a:r>
            <a:endParaRPr lang="ko-KR" altLang="en-US" dirty="0" smtClean="0" sz="1056"/>
          </a:p>
        </p:txBody>
      </p:sp>
      <p:sp>
        <p:nvSpPr>
          <p:cNvPr id="1388" name="Rect 3"/>
          <p:cNvSpPr>
            <a:spLocks noGrp="1" noChangeArrowheads="1"/>
          </p:cNvSpPr>
          <p:nvPr/>
        </p:nvSpPr>
        <p:spPr>
          <a:xfrm rot="0">
            <a:off x="3404870" y="3163570"/>
            <a:ext cx="125730" cy="320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2069">
                <a:solidFill>
                  <a:srgbClr val="000000"/>
                </a:solidFill>
                <a:latin typeface="Symbol"/>
              </a:rPr>
              <a:t>⎞</a:t>
            </a:r>
            <a:endParaRPr lang="ko-KR" altLang="en-US" dirty="0" smtClean="0" sz="2069"/>
          </a:p>
        </p:txBody>
      </p:sp>
      <p:sp>
        <p:nvSpPr>
          <p:cNvPr id="1389" name="Rect 3"/>
          <p:cNvSpPr>
            <a:spLocks noGrp="1" noChangeArrowheads="1"/>
          </p:cNvSpPr>
          <p:nvPr/>
        </p:nvSpPr>
        <p:spPr>
          <a:xfrm rot="0">
            <a:off x="3307080" y="3352800"/>
            <a:ext cx="67945" cy="1676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88" i="1">
                <a:solidFill>
                  <a:srgbClr val="000000"/>
                </a:solidFill>
                <a:latin typeface="Times New Roman"/>
              </a:rPr>
              <a:t>i</a:t>
            </a:r>
            <a:endParaRPr lang="ko-KR" altLang="en-US" dirty="0" smtClean="0" sz="1188" i="1"/>
          </a:p>
        </p:txBody>
      </p:sp>
      <p:sp>
        <p:nvSpPr>
          <p:cNvPr id="1390" name="Rect 3"/>
          <p:cNvSpPr>
            <a:spLocks noGrp="1" noChangeArrowheads="1"/>
          </p:cNvSpPr>
          <p:nvPr/>
        </p:nvSpPr>
        <p:spPr>
          <a:xfrm rot="0">
            <a:off x="2472055" y="3191510"/>
            <a:ext cx="101600" cy="1676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88">
                <a:solidFill>
                  <a:srgbClr val="000000"/>
                </a:solidFill>
                <a:latin typeface="Times New Roman"/>
              </a:rPr>
              <a:t>1</a:t>
            </a:r>
            <a:endParaRPr lang="ko-KR" altLang="en-US" dirty="0" smtClean="0" sz="1188"/>
          </a:p>
        </p:txBody>
      </p:sp>
      <p:sp>
        <p:nvSpPr>
          <p:cNvPr id="1391" name="Rect 3"/>
          <p:cNvSpPr>
            <a:spLocks noGrp="1" noChangeArrowheads="1"/>
          </p:cNvSpPr>
          <p:nvPr/>
        </p:nvSpPr>
        <p:spPr>
          <a:xfrm rot="0">
            <a:off x="2395855" y="3169920"/>
            <a:ext cx="1488440" cy="49974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188">
                <a:solidFill>
                  <a:srgbClr val="000000"/>
                </a:solidFill>
                <a:latin typeface="Symbol"/>
              </a:rPr>
              <a:t>−</a:t>
            </a:r>
            <a:endParaRPr lang="ko-KR" altLang="en-US" dirty="0" smtClean="0" sz="1188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str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</a:rPr>
              <a:t>[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]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  <a:ea typeface="Times New Roman"/>
              </a:rPr>
              <a:t>b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Times New Roman"/>
                <a:ea typeface="Times New Roman"/>
              </a:rPr>
              <a:t>%</a:t>
            </a:r>
            <a:r>
              <a:rPr lang="en-US" altLang="ko-KR" dirty="0" smtClean="0" sz="2069" i="1">
                <a:solidFill>
                  <a:srgbClr val="000000"/>
                </a:solidFill>
                <a:latin typeface="Times New Roman"/>
              </a:rPr>
              <a:t>T</a:t>
            </a:r>
            <a:endParaRPr lang="ko-KR" altLang="en-US" dirty="0" smtClean="0" sz="2069" i="1"/>
          </a:p>
        </p:txBody>
      </p:sp>
      <p:sp>
        <p:nvSpPr>
          <p:cNvPr id="1392" name="Rect 3"/>
          <p:cNvSpPr>
            <a:spLocks noGrp="1" noChangeArrowheads="1"/>
          </p:cNvSpPr>
          <p:nvPr/>
        </p:nvSpPr>
        <p:spPr>
          <a:xfrm rot="0">
            <a:off x="2054225" y="3267710"/>
            <a:ext cx="1110615" cy="4845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3125">
                <a:solidFill>
                  <a:srgbClr val="000000"/>
                </a:solidFill>
                <a:latin typeface="Symbol"/>
              </a:rPr>
              <a:t> ∑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Symbol"/>
                <a:ea typeface="Symbol"/>
              </a:rPr>
              <a:t>×</a:t>
            </a:r>
            <a:endParaRPr lang="ko-KR" altLang="en-US" dirty="0" smtClean="0" sz="2069"/>
          </a:p>
        </p:txBody>
      </p:sp>
      <p:sp>
        <p:nvSpPr>
          <p:cNvPr id="1393" name="Rect 3"/>
          <p:cNvSpPr>
            <a:spLocks noGrp="1" noChangeArrowheads="1"/>
          </p:cNvSpPr>
          <p:nvPr/>
        </p:nvSpPr>
        <p:spPr>
          <a:xfrm rot="0">
            <a:off x="1880870" y="3435350"/>
            <a:ext cx="2811145" cy="8686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2069">
                <a:solidFill>
                  <a:srgbClr val="000000"/>
                </a:solidFill>
                <a:latin typeface="Symbol"/>
              </a:rPr>
              <a:t>⎜</a:t>
            </a:r>
            <a:endParaRPr lang="ko-KR" altLang="en-US" dirty="0" smtClean="0" sz="2069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</a:t>
            </a:r>
            <a:r>
              <a:rPr lang="en-US" altLang="ko-KR" dirty="0" smtClean="0" sz="1188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endParaRPr lang="ko-KR" altLang="en-US" dirty="0" smtClean="0" sz="1188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2069"/>
          </a:p>
        </p:txBody>
      </p:sp>
      <p:sp>
        <p:nvSpPr>
          <p:cNvPr id="1394" name="Rect 3"/>
          <p:cNvSpPr>
            <a:spLocks noGrp="1" noChangeArrowheads="1"/>
          </p:cNvSpPr>
          <p:nvPr/>
        </p:nvSpPr>
        <p:spPr>
          <a:xfrm rot="0">
            <a:off x="1880870" y="3163570"/>
            <a:ext cx="3298825" cy="10033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2069">
                <a:solidFill>
                  <a:srgbClr val="000000"/>
                </a:solidFill>
                <a:latin typeface="Symbol"/>
              </a:rPr>
              <a:t>⎛</a:t>
            </a:r>
            <a:endParaRPr lang="ko-KR" altLang="en-US" dirty="0" smtClean="0" sz="2069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2069">
                <a:solidFill>
                  <a:srgbClr val="000000"/>
                </a:solidFill>
                <a:latin typeface="Symbol"/>
              </a:rPr>
              <a:t>⎝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Symbol"/>
                <a:ea typeface="Symbol"/>
              </a:rPr>
              <a:t>⎠</a:t>
            </a:r>
            <a:endParaRPr lang="ko-KR" altLang="en-US" dirty="0" smtClean="0" sz="2069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</a:t>
            </a:r>
            <a:r>
              <a:rPr lang="en-US" altLang="ko-KR" dirty="0" smtClean="0" sz="1188">
                <a:solidFill>
                  <a:srgbClr val="000000"/>
                </a:solidFill>
                <a:latin typeface="Times New Roman"/>
                <a:ea typeface="Times New Roman"/>
              </a:rPr>
              <a:t>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188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188">
                <a:solidFill>
                  <a:srgbClr val="000000"/>
                </a:solidFill>
                <a:latin typeface="Times New Roman"/>
                <a:ea typeface="Times New Roman"/>
              </a:rPr>
              <a:t>2</a:t>
            </a:r>
            <a:endParaRPr lang="ko-KR" altLang="en-US" dirty="0" smtClean="0" sz="1188"/>
          </a:p>
        </p:txBody>
      </p:sp>
      <p:sp>
        <p:nvSpPr>
          <p:cNvPr id="1395" name="Rect 3"/>
          <p:cNvSpPr>
            <a:spLocks noGrp="1" noChangeArrowheads="1"/>
          </p:cNvSpPr>
          <p:nvPr/>
        </p:nvSpPr>
        <p:spPr>
          <a:xfrm rot="0">
            <a:off x="1685290" y="3337560"/>
            <a:ext cx="2299335" cy="96647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2069">
                <a:solidFill>
                  <a:srgbClr val="000000"/>
                </a:solidFill>
                <a:latin typeface="Symbol"/>
              </a:rPr>
              <a:t>=</a:t>
            </a:r>
            <a:endParaRPr lang="ko-KR" altLang="en-US" dirty="0" smtClean="0" sz="2069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</a:t>
            </a:r>
            <a:r>
              <a:rPr lang="en-US" altLang="ko-KR" dirty="0" smtClean="0" sz="1188">
                <a:solidFill>
                  <a:srgbClr val="000000"/>
                </a:solidFill>
                <a:latin typeface="Symbol"/>
                <a:ea typeface="Symbol"/>
              </a:rPr>
              <a:t>=</a:t>
            </a:r>
            <a:endParaRPr lang="ko-KR" altLang="en-US" dirty="0" smtClean="0" sz="1188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Symbol"/>
                <a:ea typeface="Symbol"/>
              </a:rPr>
              <a:t>=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2069">
                <a:solidFill>
                  <a:srgbClr val="000000"/>
                </a:solidFill>
                <a:latin typeface="Symbol"/>
                <a:ea typeface="Symbol"/>
              </a:rPr>
              <a:t>+</a:t>
            </a:r>
            <a:endParaRPr lang="ko-KR" altLang="en-US" dirty="0" smtClean="0" sz="2069"/>
          </a:p>
        </p:txBody>
      </p:sp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743585" y="435610"/>
            <a:ext cx="6610985" cy="2118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9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409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Collision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Linear Probing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were discussing about the hash functions. The hash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 depends on the hash function. The hash function generates the array index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enable us to insert data in the table array. We have seen two examples of hash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functions in the previous lecture. Both the functions use the ASCII values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characters to generate the index. Here the question arises how can we implement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 function in case of having integer data? We may have employee ID, user ID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student ID as integers. Here we may take mod with some number or table size and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 is used as an array index.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the keys are integers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key%T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generally a good hash function unless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some undesirable features. If we want to store the employee record, user record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student record in the table, this can be done through hash function. We take the mod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value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may be 10, 15 or 100 depending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requirements. There may be some problem. For example,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 = 10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all keys end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zeros, then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key%T = 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all keys. The hash function gives 0 for all the keys, used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index. Now it is a problem. We cannot store our values as all the records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same index i.e. 0. In general, to avoid such situations,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should be a prime number.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Internally, we have to store the data in the array and there is complete freedom to 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array by taking the size of our own choice.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store some data in the array. As the array is private, we will decide about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size on our own. We will take the size of the array in prime numbers. To store 100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records, we will take prime number near 100. We will select this prime number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MAXTABLESIZE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we will use this number in our hash function. This will help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resolve the problem arising due to situation where all keys end with 0. Using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prime number, the values from the hash function will not be 0 for all the keys.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help of prime number, we cannot solve this problem completely. Similarly,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cannot be made sure that the values from the hash function are unique for all the keys.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Sometimes, we may have same index for two different keys. This phenomenon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known as collision i.e. the hash values are same of two different keys. How can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solve this collision problem?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Collision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Collision takes place when two or more keys (data items) produce the same index.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previous example of storing the names of fruits. Suppose our hash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gives us the following values: </a:t>
            </a:r>
            <a:endParaRPr lang="ko-KR" altLang="en-US" dirty="0" smtClean="0" sz="1056"/>
          </a:p>
          <a:p>
            <a:pPr marL="0" indent="0" defTabSz="15240" algn="l">
              <a:lnSpc>
                <a:spcPts val="1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3486785" y="1045210"/>
            <a:ext cx="1386840" cy="32004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0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hash("apple")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   5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hash("watermelon")  =    3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hash("grapes")  =    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hash("cantaloupe")  =   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hash("kiwi")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=   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hash("strawberry")  =    9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hash("mango")  =    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hash("banana")  =    2 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6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9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store these data items in the respective index in the array. In the above example,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index given by the hash function does not collide with any other entry. Suppose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add another fruit “honeydew” in it. When “honeydew” is passed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 function, we get the value 6 i.e.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hash("honeydew") = 6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not the responsibility of the hash function to see the data in the array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generating the index. Hash function is generally a mathematical formula that takes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keys and returns a number. It is responsibility of the caller to find its solution.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already “mango” at position 6. The user of our ADT calls the insert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giving the value “honeydew”. We call the hash function to find out its index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out to be 6. Now the problem is this that position 6 is already occupied. What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we do to avoid it?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a lot of solutions of this problem. These solutions can be divided into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main categories. One type of solutions is the changing of the hash function. Even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introduction of a new function, it is not guaranteed that there will be no collision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future data. Second option is that we live with the collision and do something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resolve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definition of collision is: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“When two values hash to the same array location, this is called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collision”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cannot say that the usage of this hash function will not result in collision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especially when the data is changing. Collisions are normally treated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phenomenon of “first come, first served”, the first value that hashes to the location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gets it. We have to find something to do with the second and subsequent values that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474 of 519 </a:t>
            </a:r>
            <a:endParaRPr lang="ko-KR" altLang="en-US" dirty="0" smtClean="0" sz="1056"/>
          </a:p>
        </p:txBody>
      </p:sp>
      <p:sp>
        <p:nvSpPr>
          <p:cNvPr id="1402" name="Rect 3"/>
          <p:cNvSpPr>
            <a:spLocks noGrp="1" noChangeArrowheads="1"/>
          </p:cNvSpPr>
          <p:nvPr/>
        </p:nvSpPr>
        <p:spPr>
          <a:xfrm rot="0">
            <a:off x="4047490" y="1191895"/>
            <a:ext cx="324485" cy="1581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Verdana"/>
              </a:rPr>
              <a:t>kiwi </a:t>
            </a:r>
            <a:endParaRPr lang="ko-KR" altLang="en-US" dirty="0" smtClean="0" sz="1056"/>
          </a:p>
        </p:txBody>
      </p:sp>
      <p:sp>
        <p:nvSpPr>
          <p:cNvPr id="1403" name="Rect 3"/>
          <p:cNvSpPr>
            <a:spLocks noGrp="1" noChangeArrowheads="1"/>
          </p:cNvSpPr>
          <p:nvPr/>
        </p:nvSpPr>
        <p:spPr>
          <a:xfrm rot="0">
            <a:off x="3355975" y="1173480"/>
            <a:ext cx="1278255" cy="28892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banana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Arial"/>
                <a:ea typeface="Arial"/>
              </a:rPr>
              <a:t>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watermelon </a:t>
            </a:r>
            <a:endParaRPr lang="ko-KR" altLang="en-US" dirty="0" smtClean="0" sz="1056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apple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mango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cantaloupe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grapes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strawberry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 to the same location.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we have seen above in the example that at position 6, there is the data item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mango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another item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honeydew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trying to acquire the same position. First come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served means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mango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remain at its position and we will do something for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honeydew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see three solutions for this problem: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Solution #1: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Search for an empty location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Can stop searching when we find the value or an empty location.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Search must be wrap-around at the end.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apply this solution on the above example. We have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mango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position 6.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position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honeydew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also 6. We find another empty location in the array. Keep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mind that in hashing, we do not store data at consecutive positions. Rather, data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scattered. We know that there are some empty locations in the array. We do not want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refuse the user that we cannot store the data due to the occupation of the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some other item. Therefore, we will store the data item at the empty location.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see an example in a short while.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Solution #2: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Use a second hash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...and a third, and a fourth, and a fifth, ...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primary hash function, we pass it to the string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honeydew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returns 6.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position 6 is occupied, so we call another hash function that is implemented in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 way. This hash function will return an integer. If this location is empty,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store our data here and the problem is solved. But if the array location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number returned by this function is also occupied. Then we will call the third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 function. There is a possibility of collision so we will have three, four, five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hash functions. When there is a collision, we call these hash functions one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till the time, there is an index with empty location. We will store the data at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 location.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Solution #3: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Use the array location as the header of a linked list of values that hash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location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solution, we will not store the data directly in the array. Our array will be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of pointers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TableNode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will create a list node and store the data in it.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will have a pointer to the node. If we want to store some data at location 6,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store a pointer at location 6 that points to the node containing the data.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another data at the position 6, we create a list node and attach it with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node. There is a possibility of having a link list from each location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table. At least, it will have one node.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some more strategies for the resolution of this problem. But we will study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only the above-mentioned three solutions. Now we will see how we can implement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methods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Dictionary ADT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using the hashing function. Firstly,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how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will work with the first solution.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Linear Probing </a:t>
            </a:r>
            <a:endParaRPr lang="ko-KR" altLang="en-US" dirty="0" smtClean="0" sz="1231" b="1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72055" y="6123305"/>
            <a:ext cx="1590675" cy="25393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0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solution is known as open addressing. When there is a collision, we try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some other place in our array. This approach of handling collisions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open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addressing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; it is also known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closed hashing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word open is used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addressing and the word closed is used with hashing. Be careful when naming these.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formally, cells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h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0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h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1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h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… are tried in succession where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hi(x) = (hash(x) + f(i)) mod TableSize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 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f(0) = 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our hash function. If there is some collision, we add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f(i)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value to it before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taking its mod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function,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is the collision resolution strategy.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use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f(i) = 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i.e.,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 linear function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location(x) = (hash(x) + i) mod TableSize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can be any function. So our first implementation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that whatever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 (i) we gave to it, it returns it back. That is f(i) is a linear function.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it returns the square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That will be quadratic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we can have cubic functions. We are free to implement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example, we are given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for insertion. This can be string such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honeydew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hash(x)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returns a number. We will see that this location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 or not. In case of collision, we add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to this number.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can be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0,1,2,3 etc. We will take the mod of this value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try to store the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there. The collision resolution strategy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linear probing as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it scans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sequentially (with wrap around) in search of an empty cell. Let’s consider an example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understand how it works. Keep in mind that when there is a collision, some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 in the array is found. This is known as linear probing. Here we are trying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probe the array linearly that where is the empty location.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an example. Here we have names of birds being stored in the array.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larger array. We already have some data in the array that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. . .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141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robin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143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sparrow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144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145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146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147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148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. . . </a:t>
            </a:r>
            <a:endParaRPr lang="ko-KR" altLang="en-US" dirty="0" smtClean="0" sz="881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476 of 519 </a:t>
            </a:r>
            <a:endParaRPr lang="ko-KR" altLang="en-US" dirty="0" smtClean="0" sz="1056"/>
          </a:p>
        </p:txBody>
      </p:sp>
      <p:sp>
        <p:nvSpPr>
          <p:cNvPr id="1408" name="Rect 3"/>
          <p:cNvSpPr>
            <a:spLocks noGrp="1" noChangeArrowheads="1"/>
          </p:cNvSpPr>
          <p:nvPr/>
        </p:nvSpPr>
        <p:spPr>
          <a:xfrm rot="0">
            <a:off x="3069590" y="7120255"/>
            <a:ext cx="454660" cy="12039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hawk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/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seagull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bluejay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owl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72055" y="5029200"/>
            <a:ext cx="1590675" cy="25419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1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a part of array. There is some data before and after these locations. As shown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above, the locations 142, 143, 144, 145, 147 and 148 contains data. Suppose we want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add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this hash table. With respect to ADT, someone is using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Dictionary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calls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Now we have to use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key and have to store its associated data. We will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 to get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index and pass it the string “seagull”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hashCode(“seagull”) = 143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location 143 is not empty and we have a bird,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sparrow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at this location.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table[143]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empty.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seagull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is different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sparrow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table[143] !=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seagull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it already exists and we are not allowing duplicates, we can say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already exists. This is not the case here. We will check the next position, 143+1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(here i is 1) i.e. 144. At location 144, we have a bird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this position is also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empty and not equal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also we have different data. Now we check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position 143+2 (here i is 2) i.e. 145. This location is empty so we store our data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this location. We have two collisions here at 143 and 144 positions. We have found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empty position in the array with single jumps. First we add 1, then 2 and so 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add some existing data. As collisions are happening here, so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we get the index value from hash function, the data may not be at that position.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follow this linear chain. Suppose you want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add		hawk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this hash table.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table is as under: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. . .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141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robin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143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144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145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146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147 </a:t>
            </a:r>
            <a:endParaRPr lang="ko-KR" altLang="en-US" dirty="0" smtClean="0" sz="88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148 </a:t>
            </a:r>
            <a:endParaRPr lang="ko-KR" altLang="en-US" dirty="0" smtClean="0" sz="88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881">
                <a:solidFill>
                  <a:srgbClr val="000000"/>
                </a:solidFill>
                <a:latin typeface="Times New Roman"/>
                <a:ea typeface="Times New Roman"/>
              </a:rPr>
              <a:t>. . . </a:t>
            </a:r>
            <a:endParaRPr lang="ko-KR" altLang="en-US" dirty="0" smtClean="0" sz="88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already in the table. Also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added in the table.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that that data that we want to insert already exists or not. First of all, we call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 function that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hashCode(“hawk”) = 143 </a:t>
            </a:r>
            <a:endParaRPr lang="ko-KR" altLang="en-US" dirty="0" smtClean="0" sz="1056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477 of 519 </a:t>
            </a:r>
            <a:endParaRPr lang="ko-KR" altLang="en-US" dirty="0" smtClean="0" sz="1056"/>
          </a:p>
        </p:txBody>
      </p:sp>
      <p:sp>
        <p:nvSpPr>
          <p:cNvPr id="1411" name="Rect 3"/>
          <p:cNvSpPr>
            <a:spLocks noGrp="1" noChangeArrowheads="1"/>
          </p:cNvSpPr>
          <p:nvPr/>
        </p:nvSpPr>
        <p:spPr>
          <a:xfrm rot="0">
            <a:off x="3051175" y="5763895"/>
            <a:ext cx="491490" cy="14687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sparrow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hawk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seagull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bluejay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owl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use this value as the table index to insert this data in the table.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table[143]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 empty. Then we check the data at position 143. We have stored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sparrow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here so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table[143] != 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this point, we cannot decide whether the data item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hawk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exists in the table or not. As we are doing linear probing and there are chances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data may exist at some other location. Therefore we will check it further taking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any final decision. Now we check the next position i.e. 144. It is also not empty but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data here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that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table[144] == 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We have two options here. One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already in the table, so do nothing. The other option is that user might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modify the data associated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size of our internal array is fixed and we store it in the constant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TableSize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linear probing, at the time of collisions, we add one to the index and check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location. If it is also not empty, we add 2 and check that position. Suppose we keep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incrementing the array index and reach at the end of the table. We were unable to find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space and reached the last location of the array. Now what does it mean?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 completely filled? There are chances that we started from the position 143.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the table size is 500. We were unable to find any empty location.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say that the array locations before 143 are also not available? There is a possibility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we find some empty spaces there. We will not stop at the end of the table and go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the start of this table array. We will start linear probing from the start and if we find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 empty spaces, the data will be stored there. This process is called wrap around.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a chance that in wrap around, we could not find space and come back to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143 position. The solution of this problem is to get a larger array. We may want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create an array of size 1000 or some prime number larger than 500. Then copy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in this new array. This new data may be inserted with the help of linear probing.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other solution is that we may want to keep multiple arrays. In this case, when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is filled we go to the second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example of wrap around process. Suppose we want to add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cardinal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hash table. We will use the above table to insert this data. Also suppose that 148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the last position of this table.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function 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hashCode(“cardinal”) = 147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get the array index as 147. This position is already filled in the table. The data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position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bluejay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we will add 1 to the index and check the 148 position.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is also filled. We do not stop here and go back to the start of the array.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cannot increment the array index further. We will treat the table as circular; after 148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comes 0. Now we will check the position 0. If it is occupied, we will see the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then 2 and so on. We have seen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 using the linear probing.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see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want to find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in this hash table. We call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hashCode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hashCode(“hawk”) = 143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table[143]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is not empty. However, the data at this position is not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linear probing procedure, we add 1 to the index and check the 144	position.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is also not empty. We compare it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hawk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that is true. We use the same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procedure for looking things up in the table as generally done for inserting them.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have a look on the delete procedure. If an item is placed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array[hash(key)+4]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item just before it is deleted. How will probe determine that the “hole” does not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indicate the item is not in the array? We may have three states for each location as: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Occupied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Empty (never used)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Deleted (previously used)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Using the linear probe, we insert data where we get some empty space in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Firstly, we try to insert it at the index position given by the hash function. If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occupied, we move to the next position and so on. In this way, we have a chain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follow. Now if an element of the chain is deleted, how can we know that it was filled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previously. As we have seen in the above example that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collided twice before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getting a space in the array. Despite having a hash value of 143, it was stored at 145.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three locations 143, 144 and 145 have different data values but are a part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chain. These three names collide with each other with respect to hash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delete the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name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due to some reason. Now there are two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names, which collide. A space has been created due to the deletion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hawk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If we try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search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using the linear probing, there will be a hash value of 143. It is filled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but has different data. We move to the next position that is empty. How can linear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probing know that do not stop here because there was some data previously at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position, which has not been deleted. And there is some data after this position, which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part of this chain due to the collisions and that data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seagull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deal with such situations, we keep three states in our array. 1) It is empty (never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used) and has no data in it. 2) It is filled with some legal data and is occupied and 3)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had some data which is now deleted and currently it is empty. We will use this state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to go to next position using the linear probing.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problem with linear probing technique is the tendency to form “clusters”.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cluster is a group of items not containing any open slots. The bigger a cluster gets,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more likely the new values will hash into the cluster, and make it even bigger.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Clusters cause efficiency to degrade. Suppose we want to add another bird in our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table. The hash function returns the index as 143. Now we have already three items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collided at 143. The array locations at 143, 144, 145 are already occupied. So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insert this new data at 146 using the linear probing. The data is getting gathered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instead of scattering because linear probing inserts the data in the next position.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seems as the normal use of the array in which we insert data in the array from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then next position and so on. It may depend on our data or our hash function.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gathering of data is called clustering.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were trying to store the data in the array in a constant time or in a single step.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remove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methods should be of constant time. That attribute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been lost. What should we do now? One of the solutions is quadratic probing.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Quadratic probing uses different formula: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Use F(i) = i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(square of i) to resolve collisions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If hash function resolves to H and a search in cell H is inconclusive, try H +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479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218690" y="5733415"/>
            <a:ext cx="2252980" cy="22034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H + 2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H + 3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…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quadratic probing when a collision happens we try to find the empty location at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+ 1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2.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If it is filled then we add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so on. Let’s take the above example.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insert seagull. The hash function generates the value 143 and this location is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already occupied. Now we will start probing. First of all, we add 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143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144. It is also not empty. Now we will add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143 and have 147. If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occupied, we will add 3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143 and we have 152. The data is now getting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scattered. Unfortunately, there are some problems with quadratic probing also.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 third solution that we will use the link list for the collision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resolution. Each table position is a linked list. When we are going to insert new data,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insert the keys and entries anywhere in the list (front easiest). It is shown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below diagram.  </a:t>
            </a:r>
            <a:endParaRPr lang="ko-KR" altLang="en-US" dirty="0" smtClean="0" sz="1056"/>
          </a:p>
          <a:p>
            <a:pPr marL="0" indent="0" defTabSz="15240" algn="l">
              <a:lnSpc>
                <a:spcPts val="2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   entry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 entry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endParaRPr lang="ko-KR" altLang="en-US" dirty="0" smtClean="0" sz="105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  entry</a:t>
            </a:r>
            <a:endParaRPr lang="ko-KR" altLang="en-US" dirty="0" smtClean="0" sz="1056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key  entry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123 </a:t>
            </a:r>
            <a:endParaRPr lang="ko-KR" altLang="en-US" dirty="0" smtClean="0" sz="1056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 the left side, we have vertical array that contains the pointers in it. When we insert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item, we attach a list node. When we have collision, the new item is inserted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start of the link list. Suppose an item is stored at position 4 and we have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data, requiring the position 4. So there is a collision and we will insert the data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of the list. 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480 of 519 </a:t>
            </a:r>
            <a:endParaRPr lang="ko-KR" altLang="en-US" dirty="0" smtClean="0" sz="1056"/>
          </a:p>
        </p:txBody>
      </p:sp>
      <p:sp>
        <p:nvSpPr>
          <p:cNvPr id="1418" name="Rect 3"/>
          <p:cNvSpPr>
            <a:spLocks noGrp="1" noChangeArrowheads="1"/>
          </p:cNvSpPr>
          <p:nvPr/>
        </p:nvSpPr>
        <p:spPr>
          <a:xfrm rot="0">
            <a:off x="3496310" y="6574790"/>
            <a:ext cx="594995" cy="1492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key entry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compare the link list and open addressing.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Advantages over open addressing: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Simpler insertion and removal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Array size is not a limitation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																																																																																										Disadvantage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•										Memory overhead is large if entries are small.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problem in linear probing is that when our array is full what we should do.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can be solved using the link list.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lecture, we will continue our discussion on hashing. We will see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animation. Hashing is very important methodology and can be used in data structures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besides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Table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Dictionary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43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Chapter. 5, 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5.4, 5.5, 5.6, 7.1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Hashing Animation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Applications of Hashing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Hashing is Suitable?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Elementary Selection Algorithms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Hashing Animation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discussed about collision strategies in hashing. We studied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three solutions, Linear Probing, Quadratic Probing and Linked List chaining. Hashing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vast research field, which covers hash functions, storage and collision issues etc. 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moment, we will see hashing in implementation of table ADT. Operations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performed in constant time using this hashing strategy.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Constant time means the time does not increase with the increase in data volume.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However, if collisions start happening then the time does not remain constant.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Especially if we see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linear probing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had to insert the data by sorting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sequentially. Similar was the case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quadratic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case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linked 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start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constructing linked list that takes time and memory. But later we will see some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situations where hashing is very useful.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Today, we will study these three strategies of hash implementation using animations.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animations will be provided to you in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Java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program. It is important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mention here that all the data structures and algorithms we have studied already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implemented using any of the languages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C/C++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Java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However, it is 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decision to choose the programming language because every language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strong area, where it has better application.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Java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become very popular because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its facilities for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Internet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you already know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C++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therefore,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Java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easy to learn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you. The syntax is quite similar. If we show you the java code you will say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C++.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hashing animation. This animation will be shown in the browser. This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applet written in java language. We will see linear probing, quadratic probing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link list chaining in it. This is an example of how do we solve collision.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an array shown in four different columns. The size of the array is 100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index is from 0 to 99. Each element of the array has two locations so we can store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200 elements in it. When we have first collision the program will use the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part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location. When there is a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collision the data is stored using the linear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probing. At the top right corner we have hash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x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and its definition is “mod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100”. That is when a number is passed to it, it will take mod with 100 and return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result which is used as index of the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example we are using numbers only and not dealing with the characters.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have a statistical table on the right side. This program will generate 100 random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and using the hash function it will store these in the array. The numbers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stored in the array at different locations. In the bottom left we have hashing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algorithms. We have chosen the linear probing. Now the program will try to solve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 using the linear probing. Press the run button to start it. It is selecting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randomly, dividing it by 100 and the remainder is the hash value which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used as array index.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number 506. It is divided by 100 and the remainder is 6. It means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number will be stored at the sixth array location. Similarly we have a number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206, now its remainder is also 6. As location 6 is already occupied so we will store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206 at the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part of the location 6. Now we have the number 806. Its remainder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6. As both the parts of location 6 are occupied. Using the linear probing we will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it in the next array location i.e. 7. If we have another number having the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remainder as 6, we will store it at the 2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part of location 7. If we have number 807,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remainder is 7. The location 7 is already occupied due to the linear probing. Therefore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807 will be stored using the linear probing in the location 8. Now you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 how the numbers are stored in the array. You can also see some clustering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effect in it. See the location 63. All the numbers having remainder as 63 are clustered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around location 63.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change the collision resolution algorithm to quadratic probing. Run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animation again. Now we have array size as 75 and the array is shown in three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columns. Each location of the array can store two numbers. In quadratic probing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add square of one first i.e. 1 and then the square of two and so on in case of collisions.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we have used a different hash function. We will take the mod with 75. When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both parts of the array location is filled we will use the quadratic probing to store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numbers. Analyze the numbers and see where the collisions have happened.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Lets see the animation using the linked list chaining. Now the hash function uses 50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take mod with the numbers. So far pointers are not shown. When both parts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location are filled, we will see the link list appearing. We have four numbers having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remainder 0. The two numbers will be stored in the array and the next two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stored using the link list which is attached at the 0 location.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not covering the hashing topic in much depth here as it is done in algorithms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analysis of algorithms domain. This domain is not part of this course. For the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being, we will see the usage of hashing. For certain situations, table ADT can be used,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which internally would be using hashing. 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Applications of Hashing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few examples of those applications where hashing is highly useful.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hashing can be applied in table ADT or you can apply hashing using your array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store and retrieve data.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Compilers use hash tables to keep track of declared variables (symbol table).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Compilers use hash tables in order to implement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symbol tables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symbol table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important part of compilation process. Compiler puts variables inside symbol table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during this process. Compiler has to keep track of different attributes of variables.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name of the variable, its type, scope and function name where it is declared etc is put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the symbol table. If you consider the operations on symbol table, those can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of variable information, search of a variable information or deletion of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variable. Two of these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mostly used operations. You might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understood already that a variable name will be parameter (or the key) to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operations. But there is one slight problem that if you named a variable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outside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 code block and inside that code block, you declared another variable of the similar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type and name then only name cannot be the key and scope is the only differentiating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factor. Supposing that all the variables inside the program have unique names,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name can be used as the key. Compiler will insert the variable information by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 and by passing in the variable information. It retrieves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value by passing in the variable name. Well, this exercise is related to your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Compiler Construction course where you will construct you own language compiler.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Another usage of hashing is given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A hash table can be used for on-line spelling checkers — if misspelling detection </a:t>
            </a:r>
            <a:endParaRPr lang="ko-KR" altLang="en-US" dirty="0" smtClean="0" sz="1056" i="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(rather than correction) is important, an entire dictionary can be hashed and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words checked in constant time.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must have used spell checkers in a word processing program like MS Word.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spell checker finds out mistakes, provides you correct options and prompts you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choose any of the synonyms. You can also set the correct the words automatically.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Hashing can be used to find the spelling mistakes. For that you first take all the words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dictionary of spoken English and construct a hash table of those. To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spelling mistakes, you will take first word from the text that is being checked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 it with all the words present inside the hash table. If the word is not found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hash table then there is a high probability that the word is incorrect, although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 low probability that the word is correct but it is not present in the dictionary.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Based on the high probability a message can be displayed to the user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application that the word is wrong. MS Word does the same. As far the automatic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correct feature is concerned, it is another algorithm, which we are not going to discuss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few more examples in this connection.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Game playing programs use hash tables to store seen positions, thereby saving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computation time if the position is encountered again.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Normal computer games are graphical, there are positions that are chosen by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computer or by the player. Consider the game of chess where one player has chosen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position again. Here we can use the positions of the pieces (64 pieces) at that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 key to store it in the hash table. If our program wants to analyze that if a player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has encountered the similar situation before, can pass in the positions of the pieces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Inside the function, when the positions are hashed again then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previously present index is returned, which shows that the similar situation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encountered before.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another example below: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Hash functions can be used to quickly check for inequality — if two elements hash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to different values they must be different.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Sometimes in your applications, you don’t want to know which value is smaller 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bigger but you are only interested in knowing if they are equal or not. For this,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use hashing. If the two data items don’t collide, then their hash values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different. Based on this two values are said to be unequal.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Above was the situation when hashing can be useful. You may like to know in what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circumstances hashing is not a good solution to apply.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When Hashing is Suitable? 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Hash tables are very good if there is a need for many searches in a reasonably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stable table.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just seen the excellent example of reasonably stable hash table when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hash table for English dictionary. We had constructed a hash table of all the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words inside dictionary and were looking for different words in it. So majorly,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were frequent look up operations and insertions were in very minor frequency.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Hash tables are not so good if there are many insertions and deletions, or if table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traversals are needed — in this case, AVL trees are better.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some applications, it is required to frequently read and write data. In these kinds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applications hash table might not be a good solution, AVL tree might be a good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option. But bear in mind that there are no hard and fast statistics to go for hash table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then to AVL tree. You have to be a good software engineer to choose relevant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Also, hashing is very slow for any operations which require the entries to be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sorted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e.g. Find the minimum key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times, you do other operations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delete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find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but additionally, you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require the data in sorted order or the minimum or maximum value. We have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it many times that we insert data in the array of hash table without any sort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and it is scattered through the array in such a fashion that there are holes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In these circumstances, the hash table is not useful. You might be remembering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animation we saw earlier on in this lecture that there was no real sequence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filling of array. Some clusters were formed because of collision but there was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as such. So hashing is not really useful in these circumstances.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finishing with our discussion on hashing. The important thing is how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thought about one data structure and internally we implemented in six different ways.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must be remembering that as long as the interface of the data structures remains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same, different internal implementations does not really matter from the client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perspective. Occasionally, somebody might be interested in knowing the internal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implementation of your data structure because that might be important for him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to use your data structure.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move on to the next topic of Sorting. It is very vast topic and cannot be covered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course thoroughly.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Sorting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means to put the data in a certain order or sequence. We have discussed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before in different scattered through topics in this course but it has not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discussed so far as a separate topic. You must be remembering that when we traverse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binary search tree in in-order way, the obtained data happens to be sorted.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we saw other data structures, where we used to keep data in sorted order.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case of min-heap if we keep on removing elements one by one, we get data in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is so useful that in 80-90% of computer applications, sorting is there in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or the other. Normally, sorting and searching go together. Lot of research has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done on sorting; you can get lot of stuff on it from different sources.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efficient algorithms have already been developed for it. Moreover, a vast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485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2423160"/>
            <a:ext cx="2029460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3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231390" y="3032760"/>
            <a:ext cx="411480" cy="4114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3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23670" y="3630295"/>
            <a:ext cx="2029460" cy="4203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Mathematical analysis has been performed of these algorithms. If you want to expose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yourself, how these analyses are performed and what Mathematical tools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procedures are employed for performing analysis then sorting is very useful topic for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Sorting Integers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How to sort integers in this array?</a:t>
            </a:r>
            <a:endParaRPr lang="ko-KR" altLang="en-US" dirty="0" smtClean="0" sz="1056" i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20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581"/>
          </a:p>
          <a:p>
            <a:pPr marL="0" indent="0" defTabSz="15240" algn="l">
              <a:lnSpc>
                <a:spcPts val="7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581">
                <a:solidFill>
                  <a:srgbClr val="000000"/>
                </a:solidFill>
                <a:latin typeface="Arial"/>
              </a:rPr>
              <a:t>10 20</a:t>
            </a:r>
            <a:endParaRPr lang="ko-KR" altLang="en-US" dirty="0" smtClean="0" sz="158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43.1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sort the numbers given in the above array. Apparently, this operation may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seem very simple. But think about it, if you are given a very large volume of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(may be million of numbers) then you may realize that there has to be an efficient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mechanism to perform this operation. Firstly, let’s put the problem in words: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a very large array of numbers. We want to sort the numbers inside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ascending order such that the minimum number of the array will be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of it and the largest element will be the last element at the end of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go to the algorithms of sorting. Point to be noted here that we are going to study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 of sorting; we are not talking about data structures. Until now, you might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have realized that algorithms go along data structures. We use a data structure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 data and we use algorithms to perform certain operations or actions on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Elementary Sorting Algorithms 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Selection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Insertion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Bubble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algorithms have been put as elementary because these are very simple. They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act as our baseline and we will compare them with other algorithms in order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find a better algorithm.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Selection Sort</a:t>
            </a:r>
            <a:endParaRPr lang="ko-KR" altLang="en-US" dirty="0" smtClean="0" sz="1231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Main idea: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find the smallest element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put it in the first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find the next smallest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put it in the second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…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And so on, until		you get to the end of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technique is so simple that you might have found it yourself already. You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whole array and find the smallest number. The smallest number is put on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the array while the previous element in this position is moved somewhere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else. Find the second smallest number and then put that number in the second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array, again the previous number in that position is shifted somewhere else.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keep on performing this activity again and again and eventually we get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sorted. This technique is called selection sort because we select elements for their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positions.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next lecture, we will see how we can optimize this sorting operation. You read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about sorting in your textbooks and from the Internet. </a:t>
            </a:r>
            <a:endParaRPr lang="ko-KR" altLang="en-US" dirty="0" smtClean="0" sz="1056"/>
          </a:p>
          <a:p>
            <a:pPr marL="0" indent="0" defTabSz="15240" algn="l">
              <a:lnSpc>
                <a:spcPts val="15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44 </a:t>
            </a:r>
            <a:endParaRPr lang="ko-KR" altLang="en-US" dirty="0" smtClean="0" sz="1409" b="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409" u="sng" b="1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7.1, 7.2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i="1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409" i="1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Selection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Selection Sort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Insertion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Insertion Sort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Bubble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Bubble Sort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Summary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(N) Algorithms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is the sequel of the previous lecture in which we talked about the sort algorithms.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487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560320" y="5038090"/>
            <a:ext cx="1478280" cy="23596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3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27630" y="7528560"/>
            <a:ext cx="1478280" cy="4051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3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are three elementary sorting methods being discussed in this hand out.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are- selection sort, insertion sort and bubble sort. To begin with, we will talk about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selection sort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Selection Sort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have an array with different numbers. For sorting it in an ascending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order, selection sorting will be applied on it in the following manner. We find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smallest number in the array and bring it to the position 1. We do the same process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 remaining part of the array and bring the smallest number among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remaining array to the next position. This process continues till the time all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positions of the array are filled with the elements. Thus the main idea of selection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that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find the smallest element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put it in the first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find the next smallest element in the remaining elements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put it in the second position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…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And so on, until we get to the end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understand this algorithm by considering an example with the help of figures.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an array that has four numbers i.e. 19, 5, 7 and 12 respectively. Now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want to sort this array in ascending order. To sort the array, selection algorithm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applied on it.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44.1: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Selection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above pictorial representation explains the selection sort. It describes that at the </a:t>
            </a:r>
            <a:endParaRPr lang="ko-KR" altLang="en-US" dirty="0" smtClean="0" sz="1056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start, we begin the search for the smallest number from the first position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i.e. from the index zero. We find that 5 is the smallest number and bring it to the first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i.e. index 0. Later, number 19 is put at the position that was occupied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5. Thus in a sense, we swap these numbers. Now 5, the smallest number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array, has come at its final position i.e. index 0.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index 0 has the proper number, so we start our search from position 2 i.e. index 1.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look at the remaining elements 19, 7, 12 and find the smallest number among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them. Here 7 is the smallest so we change its position with 19 to bring 7 at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 Thus 5 and 7 have come at their final positions. Now there are two elements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left behind i.e. 12 and 19. We search the smallest among these and find that 12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smallest. So we swap it with 19 to bring it at index 2 i.e. its final position.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last element remaining and obviously it is at its position as there is no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compare with it. The array is now in the sorted form with ascending numbers.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point to remember in the selection search is that at the beginning, we start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smallest number from index 0 (i.e. first position). After it we start search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index 1 (i.e. position 2). After each search one number gets its final position so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the next search from the next position to it. Thus we do the multiple passes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to sort it. First, we pass through the n elements of the array and search the n-1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and then n-2. Thus at last, we come to the single and last element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code of this algorithm in C++.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selectionSort(int *arr, int N)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int posmin, count, tmp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for (count=0;count&lt;N;count++)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{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posmin = findIndexMin(arr, count, N) 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tmp=arr[posmin]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arr[posmin]=arr[count]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arr[count]=tmp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findIndexMin (int *arr, int start,  int N)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int posmin=start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int index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for(index=start; index &lt; N; index++)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(arr[index]&lt;arr[posmin])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posmin=index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return posmin 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above code, we write the 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selectionSort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function takes an array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integers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*arr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size of array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There are local variables declared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posmin, 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Then there is a ‘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loop’ that starts from zero and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489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is due to the fact that the index of array of N elements is from zero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N-1. The condition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 &lt; 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indicates that loop will execute as long 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less than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will exit when count gets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Now in the loop, we calculate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posmin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a function i.e. 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findIndexMin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findIndexMin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is written below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code. This routine or method works in the way that we pass to it the whole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(what it is in that execution of loop) and size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routine starts the search from the index equal to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to Nth position, returning the position of the minimum (smallest) element. Now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first routine, we get this position value in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Thus the code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line: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posmin = findIndexMin(arr, count, N) 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gets the position of the smallest number returned by the method findIndexMin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After finding this position, we do the swapping of this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Thus we put the value of position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findIndexMin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routine is such that it takes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arr, 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arguments. It starts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searching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finds the position of the minimum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and returns that position.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sorting algorithm is also known as the in-place sorting algorithm as there is no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need of additional storage to carry out this sorting.  The pictorial representation of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 action of this algorithm will be as under: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want to sort the following array that has five elements. We start the search from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element and find that the smallest element is 5. As we have started our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index 0 (that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 our above code) so we swap 5 with the value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0 i.e. 20. After this swap, 5comes at the position of 20 while 20 goes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of 5. Afterwards, we start the search from index 1. We find that 7 is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smallest number among the remaining elements. It swaps its position with 8.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this, in the remaining three elements, 8 is the smallest. This number 8 swaps its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with 20. At the end, 10 is the smallest number among 10 and 20. So there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 need of swapping as 10 has already got its position.  </a:t>
            </a:r>
            <a:endParaRPr lang="ko-KR" altLang="en-US" dirty="0" smtClean="0" sz="1056"/>
          </a:p>
          <a:p>
            <a:pPr marL="0" indent="0" defTabSz="15240" algn="l">
              <a:lnSpc>
                <a:spcPts val="2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490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115185" y="1264920"/>
            <a:ext cx="1810385" cy="4787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115185" y="1801495"/>
            <a:ext cx="1810385" cy="4813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115185" y="2404745"/>
            <a:ext cx="1810385" cy="4819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1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115185" y="2941320"/>
            <a:ext cx="181038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1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115185" y="3544570"/>
            <a:ext cx="1810385" cy="4057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4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20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44.2: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Swap Action (selection sorting) </a:t>
            </a:r>
            <a:endParaRPr lang="ko-KR" altLang="en-US" dirty="0" smtClean="0" sz="1056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Selection Sort Analysis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seen in the code for the algorithm that there are two loops. The loop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selectionSort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passes the array to search the smallest element and the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that is in the findIndexMin method finds the position (index) of the smallest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value. To find the first smallest element, we have to go through the N elements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For the purpose of finding the second smallest element, we have to search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N-1 elements. During this search process, we have to find two elements for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last smallest element. And obviously in the end, there is one element that is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proper position, necessitating no search. We have to do all these searches.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N, N-1, N-2 ……2, 1 for the first, second, third ……second last and last element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respectively. Now if we want to find the total searches, the addition of all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searches together will help us get a sum total as given in the following equation.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Total searches = 1 + 2 + 3 + …….+ (N-2) + (N-1) + N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=  N (N+1) / 2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= (N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+ N) / 2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if N is 10, then according to this formula, the total searches will be (100 +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10) / 2 i.e. 55. If N is 100, the total searches will be (10000 + 100) / 2 i.e. 5050.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if N is 1 million,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going to be very large as compared to N. Thus there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can ignore N and can say that the time (total searches) is proportional to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larger the N, greater will be the performance of selection with respect to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2.  </a:t>
            </a:r>
            <a:endParaRPr lang="ko-KR" altLang="en-US" dirty="0" smtClean="0" sz="70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Insertion Sort </a:t>
            </a:r>
            <a:endParaRPr lang="ko-KR" altLang="en-US" dirty="0" smtClean="0" sz="1409" b="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551430" y="5126990"/>
            <a:ext cx="1475105" cy="23622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main idea of insertion sort is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Start by considering the first two elements of the array data. If found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 of order, swap them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Consider the third element; insert it into the proper position among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three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Consider the fourth element; insert it into the proper position among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four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… …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algorithm is not something uncommon to the persons who know card playing.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game of cards, a player gets 13 cards. He keeps them in the sorted order in 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hand for his ease. A player looks at the first two cards, sorts them and keeps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smaller card first and then the second. Suppose that two cards were 9 and 8, the player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 them and keep 8 before 9. Now he takes the third card. Suppose, it is 10, then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in its position. If this card is of number 2, the player will pick it up and put it 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of the cards. Then he looks at the fourth card and inserts it in the first three cards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(that he has sorted) at a proper place. He repeats the same process with all the cards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finally gets the cards in a sorted order. Thus in this algorithm, we keep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 of the array sorted and take element from the right and insert it in the left part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its proper place. Due to this process of insertion, it is called insertion sorting.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consider the array that we have used in the selection sort and sort it now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insertion sorting. The following figure shows the insertion sort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pictorially.  </a:t>
            </a:r>
            <a:endParaRPr lang="ko-KR" altLang="en-US" dirty="0" smtClean="0" sz="1056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a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Figure 44.3: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Insertion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consists of the elements 19, 12, 5 and 7. We take the first two numbers i.e.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 and 12. As we see 12 is less than 19, so we swap their positions. Thus 12 comes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0 and 19 goes to index 1. Now we pick the third number i.e. 5. We have to find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position of this number by comparing it with the two already sorted numbers. </a:t>
            </a:r>
            <a:endParaRPr lang="ko-KR" altLang="en-US" dirty="0" smtClean="0" sz="105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numbers are 12 and 19. We see that 5 is smaller than these two. So it should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before these two numbers. Thus the proper position of 5 is index 0. To insert it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index 0, we shift the numbers 12 and 19 before inserting 5 at index 0. Thus 5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come at its position. Now we pick the number 7 and find its position between 5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12. To insert 7 after 5 and before 12, we have to shift the numbers 12 and 19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right. After this shifting, we put number 7 at its position. Now the whole array has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been sorted so the process stops here.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code of the insertion sort in C++.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insertionSort(int *arr, int N)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pos, count, val;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for(count=1; count &lt; N; count++)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 = arr[count];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for(pos=count-1; pos &gt;= 0; pos--)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if (arr[pos] &gt; val)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arr[pos+1]=arr[pos];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else  break;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   arr[pos+1] = val;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sorting function, we start the process from index 0 and 1 and swap them.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Afterwards, we go to the third position and put it into its proper position. While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inserting a number in the sorted portion of the array, we have to shift the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shifting is an additional overhead of this sorting algorithm. Due to this shifting,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sorting requires more time. This algorithm is also an in place algorithm as we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don’t need any additional storage. At the most, we need some variables of local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nature, normally used in programs.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above code, we see that the name of this sorting routine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insertionSort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takes an array and its size as arguments. There are local variables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pos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 in this function. After this there is a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that starts from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having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value equal to 1. Now we put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(i.e. arr[count]) in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value has to find its place in the left sorted portion of the array. To find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we have to execute one more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loop. This loop starts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count-1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goes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down to zero. In the body of the loop we compare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the value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position in the array i.e. arr[pos]. If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less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arr[pos]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i.e. value 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current index. It means that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to go to the left position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arr[pos].So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arr[pos]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right to create place for the new value i.e.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When the loop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exits, we put this value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val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at arr[pos + 1]. Thus we have inserted the number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at its proper position.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step by step explanation for the insertion sort of the above example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same previous array. 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 we take the first two elements 19 and 12. As 12 is less than 19, we do right </a:t>
            </a:r>
            <a:endParaRPr lang="ko-KR" altLang="en-US" dirty="0" smtClean="0" sz="1056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shift on 19. And put 12 at its position i.e. index 0. Afterwards, we go to index 2.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 is 5 at this position. As we see that 5 is less than the other elements on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side of array, it has to come at the first position. To bring 5 to first position,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12 and 19 has to be shifted to right. After this shifting, the position of index 0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empty and we put 5 there. Finally, there is number 7. The position of 7 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between 5 and 12. For this, we have to shift 12 and 19 towards right so that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 for 7 could be created. We put 7 at that place. Thus the array is sorted now.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Insertion Sort Analysis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analyze that when the value of N increases. How much time for insertion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increases? In the code of insertion sort, we have seen that there are outer and inner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loops. Due to these two loops, we can understand that it is also like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algorithm.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sort process, there may be a situation that every iteration inserts an element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of the array by shifting all sorted elements along. Now if we have to bring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second element to its position, there will be need of shifting the first element.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means that we have to shift one element. Similarly, for placing the third element 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position (we are discussing the worst case scenario in which at every iteration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has to go to the first position), we have to shift two elements. Thus we sum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 all the shiftings, the total becomes 2 + 3 + 4 +……. + N-1 + N.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summation can be written as follows.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Total =  (2 + N ) (N -1) / 2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= O (N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this expression, we see that when the value of N increases, the value of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will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dominate. It will increase significantly with respect to N. Thus we see that insertion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 is also an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algorithm like selection sort.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Bubble Sort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third sorting algorithm is bubble sort. The basic idea of this algorithm is that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bring the smaller elements upward in the array step by step and as a result, the larger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go downward. If we think about array as a vertical one, we do bubble sort.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smaller elements come upward and the larger elements go downward in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Thus it seems a bubbling phenomenon. Due to this bubbling nature, this is called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bubble sort. Thus the basic idea is that the lighter bubbles (smaller numbers) rise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top. This is for the sorting in ascending order. We can do this in the reverse order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the descending order.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steps in the bubble sort can be described as below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Exchange neighboring items until the largest item reaches the end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Verdana"/>
                <a:ea typeface="Verdana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Repeat the above step for the rest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sort algorithm, we do not search the array for the smallest number like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two algorithms. Also we do not insert the element by shifting the 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In this algorithm, we do pair-wise swapping. We will take first the elements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swap the smaller with the larger number. Then we do the swap between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pair. By repeating this process, the larger number will be going to the end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494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32230" y="1828800"/>
            <a:ext cx="1917065" cy="27647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733800" y="1911350"/>
            <a:ext cx="1862455" cy="15875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779520" y="3550920"/>
            <a:ext cx="1816735" cy="4051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4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779520" y="4029710"/>
            <a:ext cx="1816735" cy="40513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4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smaller elements come to the start of the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try to understand this phenomenon with the help of figures how bubble sort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works. Consider the same previous array that has elements 19, 12, 5 and 7. 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endParaRPr lang="ko-KR" altLang="en-US" dirty="0" smtClean="0" sz="792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endParaRPr lang="ko-KR" altLang="en-US" dirty="0" smtClean="0" sz="792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79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endParaRPr lang="ko-KR" altLang="en-US" dirty="0" smtClean="0" sz="79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endParaRPr lang="ko-KR" altLang="en-US" dirty="0" smtClean="0" sz="792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First of all, we compare the first pair i.e. 19 and 5. As 5 is less than 19, we swap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Now 5 is at its place and we take the next pair. This pair is 19, 12 and 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12, 7. In this pair 12 is less than 19, we swap 12 and 19. After this, the next pair is 19,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 Here 7 is less than 19 so we swap it. Now 7 is at its place as compared to 19 but it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not at its final position. The element 19 is at its final position. Now we repeat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pair wise swapping on the array from index 0 to 2 as the value at index 3 is at its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So we compare 5 and 12. As 5 is less than 12 so it is at its place (that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before 12) and we need not to swap them. Now we take the next pair that is 12 and 7.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pair, 7 is less than 12 so we swap these elements. Now 7 is at its position with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respect to the pair 12 and 7. Thus we have sorted the array up to index 2 as 12 is now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its final position. The element 19 is already at its final position. Note that here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bubble sort, we are not using additional storage (array). Rather, we are replacing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elements in the same array. Thus bubble sort is also an in place algorithm. Now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2 and 3 have their final values, we do the swap process up to the index 1. Here,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first pair is 5 and 7 and in this pair, we need no swapping as 5 is less than 7 and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its position (i.e. before 7). Thus 7 is also at its final position and the array is sorted.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is the code of bubble sort algorithm in C++.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void bubbleSort(int *arr, int N)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i, temp, bound = N-1;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 swapped = 1;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(swapped &gt; 0 ) 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495 of 519 </a:t>
            </a:r>
            <a:endParaRPr lang="ko-KR" altLang="en-US" dirty="0" smtClean="0" sz="1056"/>
          </a:p>
        </p:txBody>
      </p:sp>
      <p:sp>
        <p:nvSpPr>
          <p:cNvPr id="1449" name="Rect 3"/>
          <p:cNvSpPr>
            <a:spLocks noGrp="1" noChangeArrowheads="1"/>
          </p:cNvSpPr>
          <p:nvPr/>
        </p:nvSpPr>
        <p:spPr>
          <a:xfrm rot="0">
            <a:off x="4029710" y="2609215"/>
            <a:ext cx="1387475" cy="1123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6">
                <a:solidFill>
                  <a:srgbClr val="000000"/>
                </a:solidFill>
                <a:latin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796"/>
          </a:p>
        </p:txBody>
      </p:sp>
      <p:sp>
        <p:nvSpPr>
          <p:cNvPr id="1450" name="Rect 3"/>
          <p:cNvSpPr>
            <a:spLocks noGrp="1" noChangeArrowheads="1"/>
          </p:cNvSpPr>
          <p:nvPr/>
        </p:nvSpPr>
        <p:spPr>
          <a:xfrm rot="0">
            <a:off x="3562985" y="2597150"/>
            <a:ext cx="1854200" cy="1645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endParaRPr lang="ko-KR" altLang="en-US" dirty="0" smtClean="0" sz="792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796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2">
                <a:solidFill>
                  <a:srgbClr val="000000"/>
                </a:solidFill>
                <a:latin typeface="Arial"/>
                <a:ea typeface="Arial"/>
              </a:rPr>
              <a:t>a: </a:t>
            </a:r>
            <a:endParaRPr lang="ko-KR" altLang="en-US" dirty="0" smtClean="0" sz="792"/>
          </a:p>
        </p:txBody>
      </p:sp>
      <p:sp>
        <p:nvSpPr>
          <p:cNvPr id="1451" name="Rect 3"/>
          <p:cNvSpPr>
            <a:spLocks noGrp="1" noChangeArrowheads="1"/>
          </p:cNvSpPr>
          <p:nvPr/>
        </p:nvSpPr>
        <p:spPr>
          <a:xfrm rot="0">
            <a:off x="1606550" y="2072640"/>
            <a:ext cx="3810635" cy="22434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96">
                <a:solidFill>
                  <a:srgbClr val="000000"/>
                </a:solidFill>
                <a:latin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79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endParaRPr lang="ko-KR" altLang="en-US" dirty="0" smtClean="0" sz="79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792">
                <a:solidFill>
                  <a:srgbClr val="000000"/>
                </a:solidFill>
                <a:latin typeface="Arial"/>
              </a:rPr>
              <a:t>a: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79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796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792" i="1">
                <a:solidFill>
                  <a:srgbClr val="000000"/>
                </a:solidFill>
                <a:latin typeface="Arial"/>
              </a:rPr>
              <a:t>3 </a:t>
            </a:r>
            <a:endParaRPr lang="ko-KR" altLang="en-US" dirty="0" smtClean="0" sz="792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</a:t>
            </a:r>
            <a:r>
              <a:rPr lang="en-US" altLang="ko-KR" dirty="0" smtClean="0" sz="796">
                <a:solidFill>
                  <a:srgbClr val="000000"/>
                </a:solidFill>
                <a:latin typeface="Times New Roman"/>
                <a:ea typeface="Times New Roman"/>
              </a:rPr>
              <a:t>19 </a:t>
            </a:r>
            <a:endParaRPr lang="ko-KR" altLang="en-US" dirty="0" smtClean="0" sz="796"/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swapped = 0;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for(i=0; i &lt; bound; i++)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if ( arr[i] &gt;  arr[i+1] )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 = arr[i];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arr[i] = arr[i+1];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arr[i+1] = temp;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swapped = i;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}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    bound = swapped;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}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line with the previous two sort methods,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bubbleSort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method also takes an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size of the array as arguments. There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i, temp, bound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swapped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variables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 in the function. We initialize the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bound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with N–1. This N-1 is 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upper limit for the swapping process. The outer loop that is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executes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long as swapping is being done. In the loop, we initialize the swapped variable with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zero. When it is not changed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it means that the array is now in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form and we exit the loop. The inner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executes from zero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bound-1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loop, the if statement compares the value at index i and i+1. If I (element on left side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array) is greater than the element at i+1 (element on right side in the array) then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swap these elements. We assign the value of i to the swapped variable that being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greater than zero indicates that swapping has been done. Then after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put the value of swapped variable in the bound to know that up to this index,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swapping has taken place. After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for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loop, if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swapped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not zero,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will continue execution. Thus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while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loop will continue till the time,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swapping is taking place.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time complexity of bubble sort algorithm.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Bubble Sort Analysis </a:t>
            </a:r>
            <a:endParaRPr lang="ko-KR" altLang="en-US" dirty="0" smtClean="0" sz="1231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this algorithm, we see that there is an outer loop and an inner loop in the code.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outer loop executes N times, as it has to pass through the whole array. Then the inner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 executes for N times at first, then for N-1 and for N-2 times. Thus its range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decreases with each of the iteration of the outer loop. In the first iteration, we do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swapping up to N elements. And as a result the largest elements come at the last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position. The next iteration passes through the N-1 elements. Thus the part of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in which swapping is being done decreases after iteration. At the end,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remains only one element where no swapping is required. Now if we sum up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iterations i.e. 1 + 2 + 3 + ……… + N-1 + N. Then this summation becomes N (1 + N)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/ 2 = O (N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). Thus in this equation, the term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dominates as the value of N increases.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becomes ignorable as compared to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2.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Thus when the value of N increases, the time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complexity of this algorithm increases proportional to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Summary </a:t>
            </a:r>
            <a:endParaRPr lang="ko-KR" altLang="en-US" dirty="0" smtClean="0" sz="1409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considering the above three algorithms, we see that these algorithms are easy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understand. Coding for these algorithms is also easy. These three algorithms are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 algorithms. There is no need of extra storage for sorting an array by these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496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023745" y="2536190"/>
            <a:ext cx="2313305" cy="13411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5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98650" y="7814945"/>
            <a:ext cx="2929255" cy="6280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5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77695" y="7147560"/>
            <a:ext cx="2861945" cy="4508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5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algorithms. With respect to the time complexity, these algorithms are proportional to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Here N is the number of elements. So we can see that as the value of N increases, </a:t>
            </a:r>
            <a:endParaRPr lang="ko-KR" altLang="en-US" dirty="0" smtClean="0" sz="1056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performance time of these algorithms increases considerably as it is proportional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Thus these algorithms are expensive with respect to time performance. There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algorithms that have the time complexity proportional to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(N).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table shows the respective values of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(N) for some values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N. 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N </a:t>
            </a:r>
            <a:endParaRPr lang="ko-KR" altLang="en-US" dirty="0" smtClean="0" sz="1056" b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33.21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664.38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1000000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9965.78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100000000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132877.12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100000 10000000000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1660964.04</a:t>
            </a:r>
            <a:endParaRPr lang="ko-KR" altLang="en-US" dirty="0" smtClean="0" sz="1056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1000000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1E+12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19931568.57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this table we can see that for a particular value of N, the value of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very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large as compared to the value of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(N). Thus we see that the algorithms whose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complexity is proportional to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much time consuming as compared to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 the time complexity of which is proportional to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(N). Thus we see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the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(N) algorithms are better than the N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N log</a:t>
            </a:r>
            <a:r>
              <a:rPr lang="en-US" altLang="ko-KR" dirty="0" smtClean="0" sz="929" b="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 (N) Algorithms </a:t>
            </a:r>
            <a:endParaRPr lang="ko-KR" altLang="en-US" dirty="0" smtClean="0" sz="1409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let’s see the algorithms that are N log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(N) algorithms. These include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algorithms.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Merge 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Quick 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	Heap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three algorithms fall under ‘divide and conquer category’. The divide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conquer strategy is well known in wars. The philosophy of this strategy is ,’ divide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 enemy into parts and then conquer these parts’. To conquer these parts is easy,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these parts cannot resist or react like a big united enemy. The same philosophy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applied in the above algorithms. To understand the divide and conquer strategy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algorithm, let’s consider an example. Suppose we have an unsorted array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is given below.   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split this array into two parts shown in the following figure. 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  <a:ea typeface="Times New Roman"/>
              </a:rPr>
              <a:t>5 </a:t>
            </a:r>
            <a:endParaRPr lang="ko-KR" altLang="en-US" dirty="0" smtClean="0" sz="1056" b="1"/>
          </a:p>
          <a:p>
            <a:pPr marL="0" indent="0" defTabSz="15240" algn="l">
              <a:lnSpc>
                <a:spcPts val="7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497 of 519 </a:t>
            </a:r>
            <a:endParaRPr lang="ko-KR" altLang="en-US" dirty="0" smtClean="0" sz="1056"/>
          </a:p>
        </p:txBody>
      </p:sp>
      <p:sp>
        <p:nvSpPr>
          <p:cNvPr id="1456" name="Rect 3"/>
          <p:cNvSpPr>
            <a:spLocks noGrp="1" noChangeArrowheads="1"/>
          </p:cNvSpPr>
          <p:nvPr/>
        </p:nvSpPr>
        <p:spPr>
          <a:xfrm rot="0">
            <a:off x="3569335" y="2572385"/>
            <a:ext cx="677545" cy="1619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N Log</a:t>
            </a:r>
            <a:r>
              <a:rPr lang="en-US" altLang="ko-KR" dirty="0" smtClean="0" sz="702" u="sng" b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 (N) </a:t>
            </a:r>
            <a:endParaRPr lang="ko-KR" altLang="en-US" dirty="0" smtClean="0" sz="1056" b="1"/>
          </a:p>
        </p:txBody>
      </p:sp>
      <p:sp>
        <p:nvSpPr>
          <p:cNvPr id="1457" name="Rect 3"/>
          <p:cNvSpPr>
            <a:spLocks noGrp="1" noChangeArrowheads="1"/>
          </p:cNvSpPr>
          <p:nvPr/>
        </p:nvSpPr>
        <p:spPr>
          <a:xfrm rot="0">
            <a:off x="2929255" y="2553970"/>
            <a:ext cx="165735" cy="17399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6" b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 b="1">
                <a:solidFill>
                  <a:srgbClr val="000000"/>
                </a:solidFill>
                <a:latin typeface="Times New Roman"/>
              </a:rPr>
              <a:t>2</a:t>
            </a:r>
            <a:endParaRPr lang="ko-KR" altLang="en-US" dirty="0" smtClean="0" sz="702" b="1"/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743710" y="1588135"/>
            <a:ext cx="3263900" cy="6610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615440" y="2487295"/>
            <a:ext cx="3355975" cy="4724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5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we have two parts of the array. We sort these parts separately. Suppose we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these parts with an elementary sort algorithm. These parts may be sorted in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following manner. </a:t>
            </a:r>
            <a:endParaRPr lang="ko-KR" altLang="en-US" dirty="0" smtClean="0" sz="1056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65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>
                <a:solidFill>
                  <a:srgbClr val="000065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>
                <a:solidFill>
                  <a:srgbClr val="000065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6">
                <a:solidFill>
                  <a:srgbClr val="000065"/>
                </a:solidFill>
                <a:latin typeface="Times New Roman"/>
                <a:ea typeface="Times New Roman"/>
              </a:rPr>
              <a:t>12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11 </a:t>
            </a:r>
            <a:endParaRPr lang="ko-KR" altLang="en-US" dirty="0" smtClean="0" sz="1056" b="1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After this we merge these two parts and get the sorted array as shown below.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2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4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5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7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8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10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11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</a:t>
            </a:r>
            <a:r>
              <a:rPr lang="en-US" altLang="ko-KR" dirty="0" smtClean="0" sz="1056" b="1">
                <a:solidFill>
                  <a:srgbClr val="000065"/>
                </a:solidFill>
                <a:latin typeface="Times New Roman"/>
                <a:ea typeface="Times New Roman"/>
              </a:rPr>
              <a:t>12 </a:t>
            </a:r>
            <a:endParaRPr lang="ko-KR" altLang="en-US" dirty="0" smtClean="0" sz="1056" b="1"/>
          </a:p>
          <a:p>
            <a:pPr marL="0" indent="0" defTabSz="15240" algn="l">
              <a:lnSpc>
                <a:spcPts val="2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Data Structures </a:t>
            </a:r>
            <a:endParaRPr lang="ko-KR" altLang="en-US" dirty="0" smtClean="0" sz="1409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409" b="1">
                <a:solidFill>
                  <a:srgbClr val="000000"/>
                </a:solidFill>
                <a:latin typeface="Arial"/>
              </a:rPr>
              <a:t>Lecture No. 45 </a:t>
            </a:r>
            <a:endParaRPr lang="ko-KR" altLang="en-US" dirty="0" smtClean="0" sz="1409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145" u="sng" b="1">
                <a:solidFill>
                  <a:srgbClr val="000000"/>
                </a:solidFill>
                <a:latin typeface="Arial"/>
              </a:rPr>
              <a:t>Reading Material </a:t>
            </a:r>
            <a:endParaRPr lang="ko-KR" altLang="en-US" dirty="0" smtClean="0" sz="1145" u="sng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Structures and Algorithm Analysis in C++ 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Chapter. 7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7.6, 7.7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i="1" b="1">
                <a:solidFill>
                  <a:srgbClr val="000000"/>
                </a:solidFill>
                <a:latin typeface="Arial"/>
              </a:rPr>
              <a:t>Summary</a:t>
            </a:r>
            <a:endParaRPr lang="ko-KR" altLang="en-US" dirty="0" smtClean="0" sz="1230" i="1" b="1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Divide and Conquer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mergeArrays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Mergesort and Linked Lists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Mergesort Analysis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Quicksort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•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 Overview </a:t>
            </a:r>
            <a:endParaRPr lang="ko-KR" altLang="en-US" dirty="0" smtClean="0" sz="1056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3432175"/>
            <a:ext cx="3236595" cy="3289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23670" y="4209415"/>
            <a:ext cx="3236595" cy="3321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23670" y="5007610"/>
            <a:ext cx="3236595" cy="3327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6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1" b="1">
                <a:solidFill>
                  <a:srgbClr val="000000"/>
                </a:solidFill>
                <a:latin typeface="Arial"/>
              </a:rPr>
              <a:t>Divide and Conquer </a:t>
            </a:r>
            <a:endParaRPr lang="ko-KR" altLang="en-US" dirty="0" smtClean="0" sz="1231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the previous lecture, we had started discussing three new sorting algorithms;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merge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sort, quick sort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heap 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All of these three algorithms take time proportional to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Our elementary three sorting algorithms were taking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time; therefore, these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new algorithms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 are faster. In search operation, we were trying to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reduce the time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discuss these sorting algorithms; merge sort, quick sort and heap sort in detail.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had started our discussion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divide and conquer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rule where we also saw 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example. Instead of sorting a whole array, we will divide it in two parts, each part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separately and then they are merged into a single array. 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</a:t>
            </a:r>
            <a:r>
              <a:rPr lang="en-US" altLang="ko-KR" dirty="0" smtClean="0" sz="887">
                <a:solidFill>
                  <a:srgbClr val="000000"/>
                </a:solidFill>
                <a:latin typeface="Arial"/>
              </a:rPr>
              <a:t>Split the list into tw o parts</a:t>
            </a:r>
            <a:endParaRPr lang="ko-KR" altLang="en-US" dirty="0" smtClean="0" sz="887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954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</a:t>
            </a:r>
            <a:r>
              <a:rPr lang="en-US" altLang="ko-KR" dirty="0" smtClean="0" sz="887">
                <a:solidFill>
                  <a:srgbClr val="000000"/>
                </a:solidFill>
                <a:latin typeface="Arial"/>
              </a:rPr>
              <a:t>Sort the tw o parts</a:t>
            </a:r>
            <a:endParaRPr lang="ko-KR" altLang="en-US" dirty="0" smtClean="0" sz="887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954"/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887">
                <a:solidFill>
                  <a:srgbClr val="000000"/>
                </a:solidFill>
                <a:latin typeface="Arial"/>
              </a:rPr>
              <a:t>M erge the tw o parts together</a:t>
            </a:r>
            <a:endParaRPr lang="ko-KR" altLang="en-US" dirty="0" smtClean="0" sz="887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</a:t>
            </a:r>
            <a:r>
              <a:rPr lang="en-US" altLang="ko-KR" dirty="0" smtClean="0" sz="954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954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887" b="1">
                <a:solidFill>
                  <a:srgbClr val="000000"/>
                </a:solidFill>
                <a:latin typeface="Arial"/>
              </a:rPr>
              <a:t>Fig 45.1</a:t>
            </a:r>
            <a:endParaRPr lang="ko-KR" altLang="en-US" dirty="0" smtClean="0" sz="887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 see few analysis to confirm the usefulness of the divide and conquer technique.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To sort the halves approximate time is (n/2)2+(n/2)2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To merge the two halves approximate time is n 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So, for n=100, divide and conquer takes approximately: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= (100/2)2  + (100/2)2 + 100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= 2500 + 2500 + 100  </a:t>
            </a:r>
            <a:endParaRPr lang="ko-KR" altLang="en-US" dirty="0" smtClean="0" sz="1056" i="1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= 5100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know that elementary three sorting algorithms were taking approximately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time.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we are using insertion sort of those elementary algorithms. We divide the list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into two halves then the time will be approximately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(n/2)2+(n/2)2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time required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merging operation is approximately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This operation contains a simple loop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goes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Suppose that n is 100. Considering if we apply insertion sort algorithm on it then the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taken will be approximately (100)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10000. Now, if we apply divide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conquer technique on it. Then for first half approximate time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(100/2)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 for second half it will be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(100/2)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merging approximate time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100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So the whole operation of sorting using this divide and conquer technique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insertion sort will take around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(100/2)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+ (100/2)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+100  =  5100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Clearly the time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spent (5100) after applying divide and conquer mechanism is significantly lesser than </a:t>
            </a:r>
            <a:endParaRPr lang="ko-KR" altLang="en-US" dirty="0" smtClean="0" sz="1056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499 of 519 </a:t>
            </a:r>
            <a:endParaRPr lang="ko-KR" altLang="en-US" dirty="0" smtClean="0" sz="1056"/>
          </a:p>
        </p:txBody>
      </p:sp>
      <p:sp>
        <p:nvSpPr>
          <p:cNvPr id="1462" name="Rect 3"/>
          <p:cNvSpPr>
            <a:spLocks noGrp="1" noChangeArrowheads="1"/>
          </p:cNvSpPr>
          <p:nvPr/>
        </p:nvSpPr>
        <p:spPr>
          <a:xfrm rot="0">
            <a:off x="2944495" y="6805930"/>
            <a:ext cx="1146810" cy="177165"/>
          </a:xfrm>
          <a:prstGeom prst="rect">
            <a:avLst/>
          </a:prstGeom>
          <a:noFill/>
          <a:ln w="0">
            <a:noFill/>
          </a:ln>
        </p:spPr>
      </p:sp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673225" y="4611370"/>
            <a:ext cx="3035935" cy="53657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20825" y="5215255"/>
            <a:ext cx="1679575" cy="5149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30095" y="6958330"/>
            <a:ext cx="3035935" cy="11493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779905" y="8122920"/>
            <a:ext cx="521335" cy="2197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5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734310" y="8122920"/>
            <a:ext cx="520700" cy="2197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5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3764280" y="8150225"/>
            <a:ext cx="521335" cy="2197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65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4794250" y="8150225"/>
            <a:ext cx="524510" cy="21971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6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previous time (10000). It is reduced approximately to half of the previous time.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example shows the usefulness of divide and conquer technique.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looking at the benefit after dividing the list into two halves, some further questions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arise: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Why not divide the halves in half?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The quarters in half?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And so on . . 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								When should we stop?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      At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= 1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 we stop subdividing the list when we reach to the single element level. This divide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conquer strategy is not a thing, we have already prepared binary search tree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same lines. One side of the tree contains the greater elements than the root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other part contains the smaller elements. Especially, when performing binary search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an array, we had started our search from mid of it. Subdivided the array and kept 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comparing and dividing the array until we got success or failure. The subdivision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process may prolong to individual element of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 i="1" b="1">
                <a:solidFill>
                  <a:srgbClr val="000000"/>
                </a:solidFill>
                <a:latin typeface="Arial"/>
              </a:rPr>
              <a:t>Recall Binary Search</a:t>
            </a:r>
            <a:endParaRPr lang="ko-KR" altLang="en-US" dirty="0" smtClean="0" sz="1231" i="1" b="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Search</a:t>
            </a:r>
            <a:endParaRPr lang="ko-KR" altLang="en-US" dirty="0" smtClean="0" sz="123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Search</a:t>
            </a:r>
            <a:endParaRPr lang="ko-KR" altLang="en-US" dirty="0" smtClean="0" sz="1052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45.2</a:t>
            </a:r>
            <a:endParaRPr lang="ko-KR" altLang="en-US" dirty="0" smtClean="0" sz="1145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Hence, we used to perform binary search on the same lines of divide and conquer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strategy. Remember, we applied binary search on sorted array. From this one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realize that sorting facilitates in searching operations.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1230" b="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1052" b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1052" b="1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</a:t>
            </a:r>
            <a:endParaRPr lang="ko-KR" altLang="en-US" dirty="0" smtClean="0" sz="1145" b="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500 of 519 </a:t>
            </a:r>
            <a:endParaRPr lang="ko-KR" altLang="en-US" dirty="0" smtClean="0" sz="1056"/>
          </a:p>
        </p:txBody>
      </p:sp>
      <p:sp>
        <p:nvSpPr>
          <p:cNvPr id="1465" name="Rect 3"/>
          <p:cNvSpPr>
            <a:spLocks noGrp="1" noChangeArrowheads="1"/>
          </p:cNvSpPr>
          <p:nvPr/>
        </p:nvSpPr>
        <p:spPr>
          <a:xfrm rot="0">
            <a:off x="1423670" y="5818505"/>
            <a:ext cx="1174115" cy="2228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</a:t>
            </a:r>
            <a:r>
              <a:rPr lang="en-US" altLang="ko-KR" dirty="0" smtClean="0" sz="880">
                <a:solidFill>
                  <a:srgbClr val="000000"/>
                </a:solidFill>
                <a:latin typeface="Arial"/>
              </a:rPr>
              <a:t>Search</a:t>
            </a:r>
            <a:endParaRPr lang="ko-KR" altLang="en-US" dirty="0" smtClean="0" sz="880"/>
          </a:p>
        </p:txBody>
      </p:sp>
      <p:sp>
        <p:nvSpPr>
          <p:cNvPr id="1466" name="Rect 3"/>
          <p:cNvSpPr>
            <a:spLocks noGrp="1" noChangeArrowheads="1"/>
          </p:cNvSpPr>
          <p:nvPr/>
        </p:nvSpPr>
        <p:spPr>
          <a:xfrm rot="0">
            <a:off x="4443730" y="8199120"/>
            <a:ext cx="294005" cy="158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1052" b="1"/>
          </a:p>
        </p:txBody>
      </p:sp>
      <p:sp>
        <p:nvSpPr>
          <p:cNvPr id="1467" name="Rect 3"/>
          <p:cNvSpPr>
            <a:spLocks noGrp="1" noChangeArrowheads="1"/>
          </p:cNvSpPr>
          <p:nvPr/>
        </p:nvSpPr>
        <p:spPr>
          <a:xfrm rot="0">
            <a:off x="2383790" y="7616825"/>
            <a:ext cx="1475740" cy="713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1052" b="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Sort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1052" b="1"/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2233930"/>
            <a:ext cx="3538220" cy="14020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6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figure 45.3, in order to sort the list, we have divided the list in the two parts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each part is subdivided into further subparts. At end each part is consisting of either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single element or maximum two elements. If we have two numbers to sort, we can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 them (or sort them) with single if statement. After sorting individual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subparts, we start merging them in the upward direction as shown in the figure Fig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45.4. </a:t>
            </a:r>
            <a:endParaRPr lang="ko-KR" altLang="en-US" dirty="0" smtClean="0" sz="105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Combine</a:t>
            </a:r>
            <a:endParaRPr lang="ko-KR" altLang="en-US" dirty="0" smtClean="0" sz="1231"/>
          </a:p>
          <a:p>
            <a:pPr marL="0" indent="0" defTabSz="15240"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Combine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Combine</a:t>
            </a:r>
            <a:endParaRPr lang="ko-KR" altLang="en-US" dirty="0" smtClean="0" sz="1051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45.4</a:t>
            </a:r>
            <a:endParaRPr lang="ko-KR" altLang="en-US" dirty="0" smtClean="0" sz="1144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Fig 45.4, we have four sorted smaller parts. We combine them to become two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parts and two sorted parts are further combined or merged to become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 list. 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Mergesort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								Mergesort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is a divide and conquer algorithm that does exactly that.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It splits the list in half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Mergesorts the two halves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Then merges the two sorted halves together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Mergesort can be implemented recursively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mergsort algorithm, how does that work.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mergesort algorithm involves three steps: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If the number of items to sort is 0 or 1, return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Recursively sort the first and second halves separately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Courier New"/>
                <a:ea typeface="Courier New"/>
              </a:rPr>
              <a:t>o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Merge the two sorted halves into a sorted group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If the data is consisting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0 or 1 element then there is nothing required to be done further. If the number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is greater than 1 then apply divide and conquer strategy in order to sort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them. Divide the list into two halves and sort them separately using recursion. After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halves (subparts) have been sorted, merge them together to get a list of sorted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will discuss recursive sorting in a moment, before that let’s see the merging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operation using pictures. We have two sorted array and another empty array whose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size is equal to the sum of sizes of two sorted arrays. </a:t>
            </a:r>
            <a:endParaRPr lang="ko-KR" altLang="en-US" dirty="0" smtClean="0" sz="1056"/>
          </a:p>
          <a:p>
            <a:pPr marL="0" indent="0" defTabSz="15240" algn="l">
              <a:lnSpc>
                <a:spcPts val="9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501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1139825"/>
            <a:ext cx="1627505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834130" y="1139825"/>
            <a:ext cx="1630680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22450" y="1944370"/>
            <a:ext cx="3237230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23670" y="4705985"/>
            <a:ext cx="1627505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2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834130" y="4705985"/>
            <a:ext cx="1630680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2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822450" y="5510530"/>
            <a:ext cx="3237230" cy="6159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7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1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45.5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can see from Fig 45.5, array 1 on the top left is containing 4 elements, top right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containing 4 elements and both of them are sorted internally. Third array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containing 4+4 = 8 elements.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Initially, very first elements (present at the starting index 0 of array) of both the arrays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are compared and the smaller of them is placed in the initial position of the third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You can see from Fig 45.5 that elements 4 and 2 are compared pointed to by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indexes (actually arrays current indexes). The smaller of them is 2, therefore, it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placed in the initial position in the third array. A pointer (the current index of array)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also shown for third array that will move forward as the array is filled in. The smaller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 was from right array, therefore, its pointer is moved forward one position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Fig 45.6. </a:t>
            </a:r>
            <a:endParaRPr lang="ko-KR" altLang="en-US" dirty="0" smtClean="0" sz="1056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0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23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45.6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time the numbers at current positions in both the arrays are compared. As 4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smaller of the two numbers, therefore, it is put in the third array and third array’s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is moved one position forward. Also because this time, the number has been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chosen from left array, therefore, its pointer is also moved forward. The updated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 is shown in Fig 45.7. </a:t>
            </a:r>
            <a:endParaRPr lang="ko-KR" altLang="en-US" dirty="0" smtClean="0" sz="1056"/>
          </a:p>
          <a:p>
            <a:pPr marL="0" indent="0" defTabSz="15240" algn="l">
              <a:lnSpc>
                <a:spcPts val="1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502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1139825"/>
            <a:ext cx="1627505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834130" y="1139825"/>
            <a:ext cx="1630680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22450" y="1944370"/>
            <a:ext cx="3237230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23670" y="3645535"/>
            <a:ext cx="1627505" cy="6153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834130" y="3645535"/>
            <a:ext cx="1630680" cy="6153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822450" y="4450080"/>
            <a:ext cx="3237230" cy="6159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423670" y="5672455"/>
            <a:ext cx="1627505" cy="6153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834130" y="5672455"/>
            <a:ext cx="1630680" cy="6153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4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822450" y="6477000"/>
            <a:ext cx="3237230" cy="6159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7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0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45.7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numbers 8 and 5 are compared. As 5 is smaller of the two, it is put in the third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array. The changed positions of pointers and the next comparison are shown in Fig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45.8.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0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0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45.8</a:t>
            </a:r>
            <a:endParaRPr lang="ko-KR" altLang="en-US" dirty="0" smtClean="0" sz="1145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 45.9 has showed the situation after next comparison done in the similar manner.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1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  <a:p>
            <a:pPr marL="0" indent="0" defTabSz="15240" algn="l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45.9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now, you must have understood how the merging operation works. Remember, we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do merging when we have two parts sorted already.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Consider this operation in terms of time and complexity. It is performed using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simple loop that manipulates three arrays. An index is used for first array, which starts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the initial position to the size of the array. Similar an index is used for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array, which starts from the initial position and ends at the end of the array. A third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is used for third array that sizes to the sum of the maximum values of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previous indexes. This is simple single loop operation, which is not complex. </a:t>
            </a:r>
            <a:endParaRPr lang="ko-KR" altLang="en-US" dirty="0" smtClean="0" sz="1056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503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831975" y="1828800"/>
            <a:ext cx="3236595" cy="3930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831975" y="2602865"/>
            <a:ext cx="1633855" cy="40259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7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31975" y="3334385"/>
            <a:ext cx="822960" cy="3930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7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let’s see sorting using recursion now pictorially. 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</a:t>
            </a:r>
            <a:r>
              <a:rPr lang="en-US" altLang="ko-KR" dirty="0" smtClean="0" sz="947">
                <a:solidFill>
                  <a:srgbClr val="000000"/>
                </a:solidFill>
                <a:latin typeface="Arial"/>
              </a:rPr>
              <a:t>Split the list in half.     Mergesort the left half.</a:t>
            </a:r>
            <a:endParaRPr lang="ko-KR" altLang="en-US" dirty="0" smtClean="0" sz="947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109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</a:t>
            </a:r>
            <a:r>
              <a:rPr lang="en-US" altLang="ko-KR" dirty="0" smtClean="0" sz="947">
                <a:solidFill>
                  <a:srgbClr val="000000"/>
                </a:solidFill>
                <a:latin typeface="Arial"/>
              </a:rPr>
              <a:t>Split the list in half.     Mergesort the left half.</a:t>
            </a:r>
            <a:endParaRPr lang="ko-KR" altLang="en-US" dirty="0" smtClean="0" sz="947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109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947">
                <a:solidFill>
                  <a:srgbClr val="000000"/>
                </a:solidFill>
                <a:latin typeface="Arial"/>
              </a:rPr>
              <a:t>Split the list in half.     Mergesort the left half.</a:t>
            </a:r>
            <a:endParaRPr lang="ko-KR" altLang="en-US" dirty="0" smtClean="0" sz="947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109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947">
                <a:solidFill>
                  <a:srgbClr val="000000"/>
                </a:solidFill>
                <a:latin typeface="Arial"/>
              </a:rPr>
              <a:t>Mergesort the right.</a:t>
            </a:r>
            <a:endParaRPr lang="ko-KR" altLang="en-US" dirty="0" smtClean="0" sz="947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32" b="1">
                <a:solidFill>
                  <a:srgbClr val="000000"/>
                </a:solidFill>
                <a:latin typeface="Arial"/>
              </a:rPr>
              <a:t>Fig 45.10</a:t>
            </a:r>
            <a:endParaRPr lang="ko-KR" altLang="en-US" dirty="0" smtClean="0" sz="1032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the top of Fig 45.10 is an array, which is not sorted. In order to sort it using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mechanism, we divide the array into two parts logically. Only logical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partitions of the array are required bases on size and index of the arrays. The left half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array containing 10,4,8 and 12 is processed further for sorting. So actually,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calling the mergesort algorithm recursively, only that particular half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a passed as an argument. This is spitted further into two parts; 10, 4 and 8, 12. 10, 4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half is processed further by calling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mergesort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recursively and we get both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numbers 10 and 4 as separate halves. Now these halves are numbers and they cannot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 subdivided therefore recursive call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mergesort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stop here. These numbers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(new halves) 10 and 4 are sorted individually, so they are merged. When they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merged, they become as 4,10 as shown in Fig 45.11. </a:t>
            </a:r>
            <a:endParaRPr lang="ko-KR" altLang="en-US" dirty="0" smtClean="0" sz="1056"/>
          </a:p>
          <a:p>
            <a:pPr marL="0" indent="0" defTabSz="15240" algn="l">
              <a:lnSpc>
                <a:spcPts val="19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504 of 519 </a:t>
            </a:r>
            <a:endParaRPr lang="ko-KR" altLang="en-US" dirty="0" smtClean="0" sz="1056"/>
          </a:p>
        </p:txBody>
      </p:sp>
      <p:sp>
        <p:nvSpPr>
          <p:cNvPr id="1476" name="Rect 3"/>
          <p:cNvSpPr>
            <a:spLocks noGrp="1" noChangeArrowheads="1"/>
          </p:cNvSpPr>
          <p:nvPr/>
        </p:nvSpPr>
        <p:spPr>
          <a:xfrm rot="0">
            <a:off x="1859280" y="4060190"/>
            <a:ext cx="445770" cy="381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1109"/>
          </a:p>
        </p:txBody>
      </p:sp>
      <p:sp>
        <p:nvSpPr>
          <p:cNvPr id="1477" name="Rect 3"/>
          <p:cNvSpPr>
            <a:spLocks noGrp="1" noChangeArrowheads="1"/>
          </p:cNvSpPr>
          <p:nvPr/>
        </p:nvSpPr>
        <p:spPr>
          <a:xfrm rot="0">
            <a:off x="2435225" y="4060190"/>
            <a:ext cx="446405" cy="381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109">
                <a:solidFill>
                  <a:srgbClr val="000000"/>
                </a:solidFill>
                <a:latin typeface="Arial"/>
              </a:rPr>
              <a:t>4</a:t>
            </a:r>
            <a:endParaRPr lang="ko-KR" altLang="en-US" dirty="0" smtClean="0" sz="1109"/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0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913890" y="1136650"/>
            <a:ext cx="3237230" cy="433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913890" y="1996440"/>
            <a:ext cx="1633855" cy="4419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913890" y="2807335"/>
            <a:ext cx="822960" cy="4356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828290" y="2810510"/>
            <a:ext cx="822960" cy="43561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913890" y="5269865"/>
            <a:ext cx="3237230" cy="433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913890" y="6132830"/>
            <a:ext cx="1633855" cy="44196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913890" y="6943090"/>
            <a:ext cx="822960" cy="4362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0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2828290" y="6946265"/>
            <a:ext cx="822960" cy="4362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79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Mergesort the right half.  Merge the two halves.</a:t>
            </a:r>
            <a:endParaRPr lang="ko-KR" altLang="en-US" dirty="0" smtClean="0" sz="1052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 the two halves.</a:t>
            </a:r>
            <a:endParaRPr lang="ko-KR" altLang="en-US" dirty="0" smtClean="0" sz="1052"/>
          </a:p>
          <a:p>
            <a:pPr marL="0" indent="0" defTabSz="15240" algn="l">
              <a:lnSpc>
                <a:spcPts val="4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45.11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recursive call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mergesort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has done its work for left half that consisted of 10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4. Now, we apply the same technique (the recursive calls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mergesort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) to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half that was consisting of 8 and 12. 8 and 12 are spitted into separate numbers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indicated in Fig 45.11. Further division of them is not possible, therefore, they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merged as shown in Fig 45.12.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2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 the two halves.</a:t>
            </a:r>
            <a:endParaRPr lang="ko-KR" altLang="en-US" dirty="0" smtClean="0" sz="1052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Mergesort the right half.  Merge the two halves.</a:t>
            </a:r>
            <a:endParaRPr lang="ko-KR" altLang="en-US" dirty="0" smtClean="0" sz="1052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45.12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At this point in time, we have two parts one is containing elements as 4, 10 and 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8, 12. These two parts are merged. The merged half is shown in Fig 45.12. Note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that it is completely sorted as 4,8,10 and 12. This completes the operation on the left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half of the array. We do similar process with the right half now, which is consisting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11, 2, 7 and 5.  </a:t>
            </a:r>
            <a:endParaRPr lang="ko-KR" altLang="en-US" dirty="0" smtClean="0" sz="1056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505 of 519 </a:t>
            </a:r>
            <a:endParaRPr lang="ko-KR" altLang="en-US" dirty="0" smtClean="0" sz="1056"/>
          </a:p>
        </p:txBody>
      </p:sp>
      <p:sp>
        <p:nvSpPr>
          <p:cNvPr id="1480" name="Rect 3"/>
          <p:cNvSpPr>
            <a:spLocks noGrp="1" noChangeArrowheads="1"/>
          </p:cNvSpPr>
          <p:nvPr/>
        </p:nvSpPr>
        <p:spPr>
          <a:xfrm rot="0">
            <a:off x="2795270" y="3471545"/>
            <a:ext cx="445770" cy="421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231"/>
          </a:p>
        </p:txBody>
      </p:sp>
      <p:sp>
        <p:nvSpPr>
          <p:cNvPr id="1481" name="Rect 3"/>
          <p:cNvSpPr>
            <a:spLocks noGrp="1" noChangeArrowheads="1"/>
          </p:cNvSpPr>
          <p:nvPr/>
        </p:nvSpPr>
        <p:spPr>
          <a:xfrm rot="0">
            <a:off x="3371215" y="3471545"/>
            <a:ext cx="448945" cy="421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72895" y="1481455"/>
            <a:ext cx="3239770" cy="432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234055" y="2292350"/>
            <a:ext cx="1627505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206750" y="2993390"/>
            <a:ext cx="822960" cy="4235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23670" y="2292350"/>
            <a:ext cx="1627505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560830" y="5687695"/>
            <a:ext cx="3236595" cy="432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3218815" y="6492240"/>
            <a:ext cx="1633855" cy="433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3194050" y="7202170"/>
            <a:ext cx="822960" cy="4210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4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1423670" y="6504305"/>
            <a:ext cx="1627505" cy="42100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8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Mergesort the right half.</a:t>
            </a:r>
            <a:endParaRPr lang="ko-KR" altLang="en-US" dirty="0" smtClean="0" sz="105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4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  <a:p>
            <a:pPr marL="0" indent="0" defTabSz="15240" algn="l">
              <a:lnSpc>
                <a:spcPts val="7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45.13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left half of it 11,2 is processed recursively. It is divided into two halves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have two parts as two individual numbers. The recursive call for this part stops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 and the merging process starts. When the parts 11 and 2 are merged, they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 one sorted part as shown in Fig 45.14.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Mergesort the right half.</a:t>
            </a:r>
            <a:endParaRPr lang="ko-KR" altLang="en-US" dirty="0" smtClean="0" sz="105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45.14</a:t>
            </a:r>
            <a:endParaRPr lang="ko-KR" altLang="en-US" dirty="0" smtClean="0" sz="1144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 the same procedure is applied on right half consisting of 7 and 5. By applying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recursive mechanism, it is further subdivided into two individual number parts.  </a:t>
            </a:r>
            <a:endParaRPr lang="ko-KR" altLang="en-US" dirty="0" smtClean="0" sz="1056"/>
          </a:p>
          <a:p>
            <a:pPr marL="0" indent="0" defTabSz="15240" algn="l">
              <a:lnSpc>
                <a:spcPts val="6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506 of 519 </a:t>
            </a:r>
            <a:endParaRPr lang="ko-KR" altLang="en-US" dirty="0" smtClean="0" sz="1056"/>
          </a:p>
        </p:txBody>
      </p:sp>
      <p:sp>
        <p:nvSpPr>
          <p:cNvPr id="1484" name="Rect 3"/>
          <p:cNvSpPr>
            <a:spLocks noGrp="1" noChangeArrowheads="1"/>
          </p:cNvSpPr>
          <p:nvPr/>
        </p:nvSpPr>
        <p:spPr>
          <a:xfrm rot="0">
            <a:off x="3130550" y="3700145"/>
            <a:ext cx="448945" cy="421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1"/>
          </a:p>
        </p:txBody>
      </p:sp>
      <p:sp>
        <p:nvSpPr>
          <p:cNvPr id="1485" name="Rect 3"/>
          <p:cNvSpPr>
            <a:spLocks noGrp="1" noChangeArrowheads="1"/>
          </p:cNvSpPr>
          <p:nvPr/>
        </p:nvSpPr>
        <p:spPr>
          <a:xfrm rot="0">
            <a:off x="3633470" y="3700145"/>
            <a:ext cx="448945" cy="421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54480" y="1481455"/>
            <a:ext cx="3237230" cy="432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209290" y="2292350"/>
            <a:ext cx="1633855" cy="432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035425" y="3084830"/>
            <a:ext cx="822960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423670" y="2304415"/>
            <a:ext cx="1627505" cy="4235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130550" y="3084830"/>
            <a:ext cx="825500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554480" y="5342890"/>
            <a:ext cx="3237230" cy="4362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3209290" y="6153785"/>
            <a:ext cx="1633855" cy="4330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4035425" y="6949440"/>
            <a:ext cx="826135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423670" y="6160135"/>
            <a:ext cx="1627505" cy="42037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88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3130550" y="6949440"/>
            <a:ext cx="825500" cy="42037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8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Mergesort the right half.</a:t>
            </a:r>
            <a:endParaRPr lang="ko-KR" altLang="en-US" dirty="0" smtClean="0" sz="105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45.15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merging operation starts, the resultant is shown in the Fig 45.16. After merging,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new part has become 5,7.  </a:t>
            </a:r>
            <a:endParaRPr lang="ko-KR" altLang="en-US" dirty="0" smtClean="0" sz="1056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Arial"/>
              </a:rPr>
              <a:t>Mergesort the right half.</a:t>
            </a:r>
            <a:endParaRPr lang="ko-KR" altLang="en-US" dirty="0" smtClean="0" sz="1052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4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45.16</a:t>
            </a:r>
            <a:endParaRPr lang="ko-KR" altLang="en-US" dirty="0" smtClean="0" sz="1145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When 5,7 merged part is further merged with already merged part 2,11. The new half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becomes as 2,5,7,and 11 as shown in Fig 45.17. </a:t>
            </a:r>
            <a:endParaRPr lang="ko-KR" altLang="en-US" dirty="0" smtClean="0" sz="1056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507 of 519 </a:t>
            </a:r>
            <a:endParaRPr lang="ko-KR" altLang="en-US" dirty="0" smtClean="0" sz="1056"/>
          </a:p>
        </p:txBody>
      </p:sp>
      <p:sp>
        <p:nvSpPr>
          <p:cNvPr id="1488" name="Rect 3"/>
          <p:cNvSpPr>
            <a:spLocks noGrp="1" noChangeArrowheads="1"/>
          </p:cNvSpPr>
          <p:nvPr/>
        </p:nvSpPr>
        <p:spPr>
          <a:xfrm rot="0">
            <a:off x="3935095" y="3757930"/>
            <a:ext cx="445770" cy="421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7</a:t>
            </a:r>
            <a:endParaRPr lang="ko-KR" altLang="en-US" dirty="0" smtClean="0" sz="1231"/>
          </a:p>
        </p:txBody>
      </p:sp>
      <p:sp>
        <p:nvSpPr>
          <p:cNvPr id="1489" name="Rect 3"/>
          <p:cNvSpPr>
            <a:spLocks noGrp="1" noChangeArrowheads="1"/>
          </p:cNvSpPr>
          <p:nvPr/>
        </p:nvSpPr>
        <p:spPr>
          <a:xfrm rot="0">
            <a:off x="4538345" y="3757930"/>
            <a:ext cx="448945" cy="4210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</a:t>
            </a:r>
            <a:r>
              <a:rPr lang="en-US" altLang="ko-KR" dirty="0" smtClean="0" sz="123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1"/>
          </a:p>
        </p:txBody>
      </p:sp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508760" y="1481455"/>
            <a:ext cx="3237230" cy="432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163570" y="2273935"/>
            <a:ext cx="1637030" cy="4324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29385" y="2279650"/>
            <a:ext cx="1624965" cy="42100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054735" y="4004945"/>
            <a:ext cx="3236595" cy="43624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9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Mergesort the right half.</a:t>
            </a:r>
            <a:endParaRPr lang="ko-KR" altLang="en-US" dirty="0" smtClean="0" sz="1051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230"/>
          </a:p>
          <a:p>
            <a:pPr marL="0" indent="0" defTabSz="15240" algn="l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30">
                <a:solidFill>
                  <a:srgbClr val="000000"/>
                </a:solidFill>
                <a:latin typeface="Arial"/>
              </a:rPr>
              <a:t>11</a:t>
            </a:r>
            <a:endParaRPr lang="ko-KR" altLang="en-US" dirty="0" smtClean="0" sz="1230"/>
          </a:p>
          <a:p>
            <a:pPr marL="0" indent="0" defTabSz="15240" algn="l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45.17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can merge the two biggest halves to get the array in sorted order.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merging, the resulted sorted array is shown in Fig 45.18. </a:t>
            </a:r>
            <a:endParaRPr lang="ko-KR" altLang="en-US" dirty="0" smtClean="0" sz="1056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Merge the two halves.</a:t>
            </a:r>
            <a:endParaRPr lang="ko-KR" altLang="en-US" dirty="0" smtClean="0" sz="105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229">
                <a:solidFill>
                  <a:srgbClr val="000000"/>
                </a:solidFill>
                <a:latin typeface="Arial"/>
              </a:rPr>
              <a:t>12</a:t>
            </a:r>
            <a:endParaRPr lang="ko-KR" altLang="en-US" dirty="0" smtClean="0" sz="1229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45.18</a:t>
            </a:r>
            <a:endParaRPr lang="ko-KR" altLang="en-US" dirty="0" smtClean="0" sz="1144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C++ code for this sorting algorithm. We are not going to write a class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it but at the moment, we are only writing it as a procedure. We can use it standalone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 later on, we can also change it to make it a class member.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void  mergeSort(float  array[], int  size)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*  tmpArrayPtr  =  new  int[size];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if (tmpArrayPtr  !=  NULL) 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mergeSortRec(array, size, tmpArrayPtr);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else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cout  &lt;&lt;  “Not enough memory to sort list.\n”);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return;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delete [] tmpArrayPtr;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void mergeSortRec(int array[], int size, int tmp[])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  i;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  mid  =  size/2;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if (size &gt; 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mergeSortRec(array, mid, tmp);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mergeSortRec(array+mid, size-mid, tmp); </a:t>
            </a:r>
            <a:endParaRPr lang="ko-KR" altLang="en-US" dirty="0" smtClean="0" sz="1056" i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4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76655" y="5845810"/>
            <a:ext cx="1527175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4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42360" y="5845810"/>
            <a:ext cx="1828800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4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47215" y="6800215"/>
            <a:ext cx="3340735" cy="32321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93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mergeArrays(array, mid, array+mid, size-mid, tmp);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for (i = 0; i &lt; size; i++)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array[i]  =  tmp[i];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name of the procedure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mergeSort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it is accepting first argument as an array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float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s and as second argument as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second parameter is containing the size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of the array. Inside the function, we have created a temporary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tmpArrayPtr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dynamically of the same size as the size passed in the second argument. This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will be used for merging operation. In the next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if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statement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if (tmpArrayPtr  !=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NULL)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allocation for dynamic array is being checked, if it is allocated then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function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mergeSortRec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called. Its first argument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float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array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, second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argument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int		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and third argument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tmpArrayPtr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mergeSortRec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we divided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array by 2 to get the mid of the array. If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size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of the array is greater than 1 then inside the if-statement,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mergeSortRec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being called recursively two times. In first recursive call,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mergeSortRec(array, mid,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tmp);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we provided the array from index 0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For second recursive call,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mergeSortRec(array+mid, size-mid, tmp);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we provided the array starting from one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position ahead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to the end of the array, however, the size of the passed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size-mid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first recursive call will keep on executing by further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subdividing the left part of the half every time until the size of the array reduces to 1.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Similarly, the second recursive call keeps on working on the right half of the array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until the size of the array reduces to 1. After both of these recursive calls will be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completed then the merging operation is performed by calling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mergeArrays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At end,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inside the for loop, the sorted data is copied from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to the actual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array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mergeArrays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Let’s see the merging of two array while using their indexes as i and j.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aSize: 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bSize: 6</a:t>
            </a:r>
            <a:endParaRPr lang="ko-KR" altLang="en-US" dirty="0" smtClean="0" sz="105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45.19</a:t>
            </a:r>
            <a:endParaRPr lang="ko-KR" altLang="en-US" dirty="0" smtClean="0" sz="1144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are doing the same operation of merging of arrays but with little more detail here.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the left is an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consisting of 2,5,15,28 and 30 and on the right is another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consisting of 6,10,14,22,43 and 50. The size of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6 while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size is 6.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create a temporary array named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whose size is 11. We have used indexes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for arrays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respectively and each one of them has been initialized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0. </a:t>
            </a:r>
            <a:endParaRPr lang="ko-KR" altLang="en-US" dirty="0" smtClean="0" sz="1056"/>
          </a:p>
          <a:p>
            <a:pPr marL="0" indent="0" defTabSz="15240" algn="l">
              <a:lnSpc>
                <a:spcPts val="5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509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6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76655" y="1139825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42360" y="1139825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47215" y="2094230"/>
            <a:ext cx="334073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176655" y="3322320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642360" y="3322320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847215" y="4276090"/>
            <a:ext cx="334073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176655" y="5815330"/>
            <a:ext cx="1527175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642360" y="5815330"/>
            <a:ext cx="1828800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6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847215" y="6772910"/>
            <a:ext cx="3340735" cy="320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95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i = 0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k = 0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compare the initial elements 3 and 6 of the arrays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As 3 is smaller than 6,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therefore, it is put in the temporary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’s starting location where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k=0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i = 0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k = 0</a:t>
            </a:r>
            <a:endParaRPr lang="ko-KR" altLang="en-US" dirty="0" smtClean="0" sz="1051"/>
          </a:p>
          <a:p>
            <a:pPr marL="0" indent="0" defTabSz="15240"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incremented and now elements 5 and 6 are compared. 5 being smaller of these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take the place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as shown in Fig 45.22.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i = 1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k = 1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incremented again and it reaches the element 15. Now, elements 15 and 6 are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compared. Obviously 6 is smaller than 15, therefore, 6 will take the place in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as shown in Fig 45.23. </a:t>
            </a:r>
            <a:endParaRPr lang="ko-KR" altLang="en-US" dirty="0" smtClean="0" sz="1056"/>
          </a:p>
          <a:p>
            <a:pPr marL="0" indent="0" defTabSz="15240" algn="l">
              <a:lnSpc>
                <a:spcPts val="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510 of 519 </a:t>
            </a:r>
            <a:endParaRPr lang="ko-KR" altLang="en-US" dirty="0" smtClean="0" sz="1056"/>
          </a:p>
        </p:txBody>
      </p:sp>
      <p:sp>
        <p:nvSpPr>
          <p:cNvPr id="1496" name="Rect 3"/>
          <p:cNvSpPr>
            <a:spLocks noGrp="1" noChangeArrowheads="1"/>
          </p:cNvSpPr>
          <p:nvPr/>
        </p:nvSpPr>
        <p:spPr>
          <a:xfrm rot="0">
            <a:off x="1972310" y="1508760"/>
            <a:ext cx="1976120" cy="5836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j = 0</a:t>
            </a:r>
            <a:endParaRPr lang="ko-KR" altLang="en-US" dirty="0" smtClean="0" sz="1051"/>
          </a:p>
          <a:p>
            <a:pPr marL="0" indent="0" defTabSz="15240" algn="l">
              <a:lnSpc>
                <a:spcPts val="6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45.20</a:t>
            </a:r>
            <a:endParaRPr lang="ko-KR" altLang="en-US" dirty="0" smtClean="0" sz="1145" b="1"/>
          </a:p>
          <a:p>
            <a:pPr marL="0" indent="0" defTabSz="15240" algn="l">
              <a:lnSpc>
                <a:spcPts val="8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j = 0</a:t>
            </a:r>
            <a:endParaRPr lang="ko-KR" altLang="en-US" dirty="0" smtClean="0" sz="1051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45.21</a:t>
            </a:r>
            <a:endParaRPr lang="ko-KR" altLang="en-US" dirty="0" smtClean="0" sz="1145" b="1"/>
          </a:p>
          <a:p>
            <a:pPr marL="0" indent="0" defTabSz="15240"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j = 0</a:t>
            </a:r>
            <a:endParaRPr lang="ko-KR" altLang="en-US" dirty="0" smtClean="0" sz="105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45.22</a:t>
            </a:r>
            <a:endParaRPr lang="ko-KR" altLang="en-US" dirty="0" smtClean="0" sz="1145" b="1"/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76655" y="1139825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42360" y="1139825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47215" y="2094230"/>
            <a:ext cx="334073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176655" y="3477895"/>
            <a:ext cx="1527175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642360" y="3477895"/>
            <a:ext cx="1828800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847215" y="4431665"/>
            <a:ext cx="334073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176655" y="5815330"/>
            <a:ext cx="1527175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642360" y="5815330"/>
            <a:ext cx="1828800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499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847215" y="6772910"/>
            <a:ext cx="3340735" cy="320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9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1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i = 2</a:t>
            </a:r>
            <a:endParaRPr lang="ko-KR" altLang="en-US" dirty="0" smtClean="0" sz="1051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5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5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k = 2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Because this time the element was taken from right array with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therefore,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time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j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will be incremented. Keep an eye on the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that is increasing after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every iteration. So this time, the comparison is made between 15 and 10. 10 being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smaller will take the place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as shown in Fig 45.24.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0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i = 2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k = 3</a:t>
            </a:r>
            <a:endParaRPr lang="ko-KR" altLang="en-US" dirty="0" smtClean="0" sz="1050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Again,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j 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		will be incremented because last element was chosen from this array.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15 and 14 are compared. Because 14 smaller, so it is moved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in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next position.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0"/>
          </a:p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i = 2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k = 4</a:t>
            </a:r>
            <a:endParaRPr lang="ko-KR" altLang="en-US" dirty="0" smtClean="0" sz="1050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With these movements, the value of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increasing after each iteration. Next, 22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compared with 15, 15 being smaller of two is put into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as shown in Fig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45.26.  </a:t>
            </a:r>
            <a:endParaRPr lang="ko-KR" altLang="en-US" dirty="0" smtClean="0" sz="1056"/>
          </a:p>
          <a:p>
            <a:pPr marL="0" indent="0" defTabSz="15240" algn="l">
              <a:lnSpc>
                <a:spcPts val="9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511 of 519 </a:t>
            </a:r>
            <a:endParaRPr lang="ko-KR" altLang="en-US" dirty="0" smtClean="0" sz="1056"/>
          </a:p>
        </p:txBody>
      </p:sp>
      <p:sp>
        <p:nvSpPr>
          <p:cNvPr id="1499" name="Rect 3"/>
          <p:cNvSpPr>
            <a:spLocks noGrp="1" noChangeArrowheads="1"/>
          </p:cNvSpPr>
          <p:nvPr/>
        </p:nvSpPr>
        <p:spPr>
          <a:xfrm rot="0">
            <a:off x="1972310" y="1508760"/>
            <a:ext cx="1976120" cy="5836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j = 0</a:t>
            </a:r>
            <a:endParaRPr lang="ko-KR" altLang="en-US" dirty="0" smtClean="0" sz="1051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endParaRPr lang="ko-KR" altLang="en-US" dirty="0" smtClean="0" sz="105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45.23</a:t>
            </a:r>
            <a:endParaRPr lang="ko-KR" altLang="en-US" dirty="0" smtClean="0" sz="1145" b="1"/>
          </a:p>
          <a:p>
            <a:pPr marL="0" indent="0" defTabSz="15240" algn="l">
              <a:lnSpc>
                <a:spcPts val="9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j = 1</a:t>
            </a:r>
            <a:endParaRPr lang="ko-KR" altLang="en-US" dirty="0" smtClean="0" sz="1050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endParaRPr lang="ko-KR" altLang="en-US" dirty="0" smtClean="0" sz="10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45.24</a:t>
            </a:r>
            <a:endParaRPr lang="ko-KR" altLang="en-US" dirty="0" smtClean="0" sz="1144" b="1"/>
          </a:p>
          <a:p>
            <a:pPr marL="0" indent="0" defTabSz="15240" algn="l">
              <a:lnSpc>
                <a:spcPts val="9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j = 2</a:t>
            </a:r>
            <a:endParaRPr lang="ko-KR" altLang="en-US" dirty="0" smtClean="0" sz="1050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endParaRPr lang="ko-KR" altLang="en-US" dirty="0" smtClean="0" sz="10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45.25</a:t>
            </a:r>
            <a:endParaRPr lang="ko-KR" altLang="en-US" dirty="0" smtClean="0" sz="1144" b="1"/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2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61415" y="1139825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23945" y="1139825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31975" y="2094230"/>
            <a:ext cx="333756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161415" y="3322320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623945" y="3322320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831975" y="4276090"/>
            <a:ext cx="333756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161415" y="5190490"/>
            <a:ext cx="1527175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623945" y="5190490"/>
            <a:ext cx="1828800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831975" y="6144895"/>
            <a:ext cx="3337560" cy="3232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1161415" y="7062470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3623945" y="7062470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2" name="Picture 8"/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>
            <a:off x="1831975" y="8016240"/>
            <a:ext cx="3337560" cy="3200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01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i = 2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k = 5</a:t>
            </a:r>
            <a:endParaRPr lang="ko-KR" altLang="en-US" dirty="0" smtClean="0" sz="1050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By now , you must have understood how this is working, let’s see the next iterations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pictures below: </a:t>
            </a:r>
            <a:endParaRPr lang="ko-KR" altLang="en-US" dirty="0" smtClean="0" sz="1056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i = 3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k = 6</a:t>
            </a:r>
            <a:endParaRPr lang="ko-KR" altLang="en-US" dirty="0" smtClean="0" sz="1050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i = 3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k = 7</a:t>
            </a:r>
            <a:endParaRPr lang="ko-KR" altLang="en-US" dirty="0" smtClean="0" sz="1050"/>
          </a:p>
          <a:p>
            <a:pPr marL="0" indent="0" defTabSz="15240" algn="l">
              <a:lnSpc>
                <a:spcPts val="3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i = 4</a:t>
            </a:r>
            <a:endParaRPr lang="ko-KR" altLang="en-US" dirty="0" smtClean="0" sz="1050"/>
          </a:p>
          <a:p>
            <a:pPr marL="0" indent="0" defTabSz="15240" algn="l">
              <a:lnSpc>
                <a:spcPts val="3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k = 8</a:t>
            </a:r>
            <a:endParaRPr lang="ko-KR" altLang="en-US" dirty="0" smtClean="0" sz="1050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a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all used up now, so the comparison operation will end here. All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remaining elements of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b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are incorporated in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array straightaway as </a:t>
            </a:r>
            <a:endParaRPr lang="ko-KR" altLang="en-US" dirty="0" smtClean="0" sz="1056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512 of 519 </a:t>
            </a:r>
            <a:endParaRPr lang="ko-KR" altLang="en-US" dirty="0" smtClean="0" sz="1056"/>
          </a:p>
        </p:txBody>
      </p:sp>
      <p:sp>
        <p:nvSpPr>
          <p:cNvPr id="1502" name="Rect 3"/>
          <p:cNvSpPr>
            <a:spLocks noGrp="1" noChangeArrowheads="1"/>
          </p:cNvSpPr>
          <p:nvPr/>
        </p:nvSpPr>
        <p:spPr>
          <a:xfrm rot="0">
            <a:off x="1953895" y="1228090"/>
            <a:ext cx="2552065" cy="7360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endParaRPr lang="ko-KR" altLang="en-US" dirty="0" smtClean="0" sz="1144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j = 3</a:t>
            </a:r>
            <a:endParaRPr lang="ko-KR" altLang="en-US" dirty="0" smtClean="0" sz="1050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endParaRPr lang="ko-KR" altLang="en-US" dirty="0" smtClean="0" sz="10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45.26</a:t>
            </a:r>
            <a:endParaRPr lang="ko-KR" altLang="en-US" dirty="0" smtClean="0" sz="1144" b="1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endParaRPr lang="ko-KR" altLang="en-US" dirty="0" smtClean="0" sz="1144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j = 3</a:t>
            </a:r>
            <a:endParaRPr lang="ko-KR" altLang="en-US" dirty="0" smtClean="0" sz="1050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endParaRPr lang="ko-KR" altLang="en-US" dirty="0" smtClean="0" sz="10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45.27</a:t>
            </a:r>
            <a:endParaRPr lang="ko-KR" altLang="en-US" dirty="0" smtClean="0" sz="1144" b="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endParaRPr lang="ko-KR" altLang="en-US" dirty="0" smtClean="0" sz="1144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j = 4</a:t>
            </a:r>
            <a:endParaRPr lang="ko-KR" altLang="en-US" dirty="0" smtClean="0" sz="1050"/>
          </a:p>
          <a:p>
            <a:pPr marL="0" indent="0" defTabSz="15240" algn="l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endParaRPr lang="ko-KR" altLang="en-US" dirty="0" smtClean="0" sz="10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45.28</a:t>
            </a:r>
            <a:endParaRPr lang="ko-KR" altLang="en-US" dirty="0" smtClean="0" sz="1144" b="1"/>
          </a:p>
          <a:p>
            <a:pPr marL="0" indent="0" defTabSz="15240" algn="l">
              <a:lnSpc>
                <a:spcPts val="3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endParaRPr lang="ko-KR" altLang="en-US" dirty="0" smtClean="0" sz="1144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j = 4</a:t>
            </a:r>
            <a:endParaRPr lang="ko-KR" altLang="en-US" dirty="0" smtClean="0" sz="1050"/>
          </a:p>
          <a:p>
            <a:pPr marL="0" indent="0" defTabSz="15240" algn="l">
              <a:lnSpc>
                <a:spcPts val="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30</a:t>
            </a:r>
            <a:endParaRPr lang="ko-KR" altLang="en-US" dirty="0" smtClean="0" sz="10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45.29</a:t>
            </a:r>
            <a:endParaRPr lang="ko-KR" altLang="en-US" dirty="0" smtClean="0" sz="1144" b="1"/>
          </a:p>
        </p:txBody>
      </p:sp>
    </p:spTree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5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55065" y="1609090"/>
            <a:ext cx="1527175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20770" y="1609090"/>
            <a:ext cx="182880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862455" y="2813050"/>
            <a:ext cx="3337560" cy="3200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1017905" y="6358255"/>
            <a:ext cx="3645535" cy="1765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017905" y="4931410"/>
            <a:ext cx="3645535" cy="1771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017905" y="5657215"/>
            <a:ext cx="1819910" cy="21653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2999105" y="5657215"/>
            <a:ext cx="1844040" cy="17653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002280" y="5419090"/>
            <a:ext cx="189230" cy="2108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024255" y="5419090"/>
            <a:ext cx="188595" cy="2108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1024255" y="4693920"/>
            <a:ext cx="188595" cy="2101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024255" y="6123305"/>
            <a:ext cx="188595" cy="21018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>
            <a:off x="3270250" y="5172710"/>
            <a:ext cx="1277620" cy="41719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5" cstate="print"/>
          <a:stretch>
            <a:fillRect/>
          </a:stretch>
        </p:blipFill>
        <p:spPr>
          <a:xfrm>
            <a:off x="1289050" y="5172710"/>
            <a:ext cx="1097280" cy="4140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5" name="Picture 8"/>
          <p:cNvPicPr>
            <a:picLocks noChangeAspect="1"/>
          </p:cNvPicPr>
          <p:nvPr/>
        </p:nvPicPr>
        <p:blipFill>
          <a:blip r:embed="rId16" cstate="print"/>
          <a:stretch>
            <a:fillRect/>
          </a:stretch>
        </p:blipFill>
        <p:spPr>
          <a:xfrm>
            <a:off x="1469390" y="5876290"/>
            <a:ext cx="2806700" cy="4267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04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shown in Fig 45.30. Hence, we have the resultant merged array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tmp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as shown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figure. </a:t>
            </a:r>
            <a:endParaRPr lang="ko-KR" altLang="en-US" dirty="0" smtClean="0" sz="1056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a:</a:t>
            </a:r>
            <a:endParaRPr lang="ko-KR" altLang="en-US" dirty="0" smtClean="0" sz="1144"/>
          </a:p>
          <a:p>
            <a:pPr marL="0" indent="0" defTabSz="15240" algn="l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i = 5</a:t>
            </a:r>
            <a:endParaRPr lang="ko-KR" altLang="en-US" dirty="0" smtClean="0" sz="1051"/>
          </a:p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tmp:</a:t>
            </a:r>
            <a:endParaRPr lang="ko-KR" altLang="en-US" dirty="0" smtClean="0" sz="1144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k = 9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Mergesort and Linked Lists 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 sort works with arrays as well as linked lists. Now we see, how a linked list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sorted. Suppose we have a singly linked list as shown in figure Fig 45.31.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divide the list into two halves as we are aware of the size of the linked list. Each half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is processed recursively for sorting. Both of the sorted resultant halves are merged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together.  </a:t>
            </a:r>
            <a:endParaRPr lang="ko-KR" altLang="en-US" dirty="0" smtClean="0" sz="1056"/>
          </a:p>
          <a:p>
            <a:pPr marL="0" indent="0" defTabSz="15240" algn="l">
              <a:lnSpc>
                <a:spcPts val="6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</a:t>
            </a:r>
            <a:r>
              <a:rPr lang="en-US" altLang="ko-KR" dirty="0" smtClean="0" sz="986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986"/>
          </a:p>
          <a:p>
            <a:pPr marL="0" indent="0" defTabSz="15240" algn="l">
              <a:lnSpc>
                <a:spcPts val="3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86">
                <a:solidFill>
                  <a:srgbClr val="000000"/>
                </a:solidFill>
                <a:latin typeface="Arial"/>
              </a:rPr>
              <a:t>Merge</a:t>
            </a:r>
            <a:endParaRPr lang="ko-KR" altLang="en-US" dirty="0" smtClean="0" sz="986"/>
          </a:p>
          <a:p>
            <a:pPr marL="0" indent="0" defTabSz="15240" algn="l">
              <a:lnSpc>
                <a:spcPts val="4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</a:t>
            </a:r>
            <a:r>
              <a:rPr lang="en-US" altLang="ko-KR" dirty="0" smtClean="0" sz="917" b="1">
                <a:solidFill>
                  <a:srgbClr val="000000"/>
                </a:solidFill>
                <a:latin typeface="Arial"/>
              </a:rPr>
              <a:t>Fig 45.31</a:t>
            </a:r>
            <a:endParaRPr lang="ko-KR" altLang="en-US" dirty="0" smtClean="0" sz="917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Mergesort Analysis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you have seen, we used an additional temporary array while performing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merging operation. At the end of the merging operation, elements are copied from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temporary array to the original array. The merge sort algorithm is not an inplace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sorting algorithm because it requires an additional temporary array of the same size as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size of the array under process for sorting. This algorithm is still a good sorting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algorithm, we see this fact from its analysis. </a:t>
            </a:r>
            <a:endParaRPr lang="ko-KR" altLang="en-US" dirty="0" smtClean="0" sz="1056"/>
          </a:p>
          <a:p>
            <a:pPr marL="0" indent="0" defTabSz="15240" algn="l">
              <a:lnSpc>
                <a:spcPts val="9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513 of 519 </a:t>
            </a:r>
            <a:endParaRPr lang="ko-KR" altLang="en-US" dirty="0" smtClean="0" sz="1056"/>
          </a:p>
        </p:txBody>
      </p:sp>
      <p:sp>
        <p:nvSpPr>
          <p:cNvPr id="1505" name="Rect 3"/>
          <p:cNvSpPr>
            <a:spLocks noGrp="1" noChangeArrowheads="1"/>
          </p:cNvSpPr>
          <p:nvPr/>
        </p:nvSpPr>
        <p:spPr>
          <a:xfrm rot="0">
            <a:off x="1487170" y="2023745"/>
            <a:ext cx="1156335" cy="5943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</a:t>
            </a:r>
            <a:r>
              <a:rPr lang="en-US" altLang="ko-KR" dirty="0" smtClean="0" sz="1051" i="1" b="1">
                <a:solidFill>
                  <a:srgbClr val="000000"/>
                </a:solidFill>
                <a:latin typeface="Times New Roman"/>
                <a:ea typeface="Times New Roman"/>
              </a:rPr>
              <a:t>Done. </a:t>
            </a:r>
            <a:endParaRPr lang="ko-KR" altLang="en-US" dirty="0" smtClean="0" sz="1051" i="1" b="1"/>
          </a:p>
        </p:txBody>
      </p:sp>
      <p:sp>
        <p:nvSpPr>
          <p:cNvPr id="1506" name="Rect 3"/>
          <p:cNvSpPr>
            <a:spLocks noGrp="1" noChangeArrowheads="1"/>
          </p:cNvSpPr>
          <p:nvPr/>
        </p:nvSpPr>
        <p:spPr>
          <a:xfrm rot="0">
            <a:off x="1280160" y="1697990"/>
            <a:ext cx="4109720" cy="37795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</a:t>
            </a:r>
            <a:r>
              <a:rPr lang="en-US" altLang="ko-KR" dirty="0" smtClean="0" sz="1144">
                <a:solidFill>
                  <a:srgbClr val="000000"/>
                </a:solidFill>
                <a:latin typeface="Arial"/>
              </a:rPr>
              <a:t>b:</a:t>
            </a:r>
            <a:endParaRPr lang="ko-KR" altLang="en-US" dirty="0" smtClean="0" sz="1144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j = 4</a:t>
            </a:r>
            <a:endParaRPr lang="ko-KR" altLang="en-US" dirty="0" smtClean="0" sz="1051"/>
          </a:p>
          <a:p>
            <a:pPr marL="0" indent="0" defTabSz="15240" algn="l">
              <a:lnSpc>
                <a:spcPts val="5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6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50</a:t>
            </a:r>
            <a:endParaRPr lang="ko-KR" altLang="en-US" dirty="0" smtClean="0" sz="105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45.30</a:t>
            </a:r>
            <a:endParaRPr lang="ko-KR" altLang="en-US" dirty="0" smtClean="0" sz="1144" b="1"/>
          </a:p>
          <a:p>
            <a:pPr marL="0" indent="0" defTabSz="15240" algn="l">
              <a:lnSpc>
                <a:spcPts val="15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986">
                <a:solidFill>
                  <a:srgbClr val="000000"/>
                </a:solidFill>
                <a:latin typeface="Arial"/>
              </a:rPr>
              <a:t>Sort</a:t>
            </a:r>
            <a:endParaRPr lang="ko-KR" altLang="en-US" dirty="0" smtClean="0" sz="986"/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9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310130" y="3886200"/>
            <a:ext cx="39941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761615" y="3886200"/>
            <a:ext cx="40195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215640" y="3886200"/>
            <a:ext cx="39941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3666490" y="3886200"/>
            <a:ext cx="39941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114800" y="3886200"/>
            <a:ext cx="39941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565650" y="3886200"/>
            <a:ext cx="402590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862455" y="3886200"/>
            <a:ext cx="39941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1408430" y="3886200"/>
            <a:ext cx="401955" cy="45402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1450975" y="1444625"/>
            <a:ext cx="1539240" cy="4997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3093720" y="1444625"/>
            <a:ext cx="1536065" cy="49974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4102735" y="2499360"/>
            <a:ext cx="780415" cy="450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>
            <a:off x="3218815" y="2499360"/>
            <a:ext cx="780415" cy="450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5" cstate="print"/>
          <a:stretch>
            <a:fillRect/>
          </a:stretch>
        </p:blipFill>
        <p:spPr>
          <a:xfrm>
            <a:off x="2334895" y="2499360"/>
            <a:ext cx="780415" cy="450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6" cstate="print"/>
          <a:stretch>
            <a:fillRect/>
          </a:stretch>
        </p:blipFill>
        <p:spPr>
          <a:xfrm>
            <a:off x="1450975" y="2499360"/>
            <a:ext cx="780415" cy="45085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09" name="Picture 8"/>
          <p:cNvPicPr>
            <a:picLocks noChangeAspect="1"/>
          </p:cNvPicPr>
          <p:nvPr/>
        </p:nvPicPr>
        <p:blipFill>
          <a:blip r:embed="rId17" cstate="print"/>
          <a:stretch>
            <a:fillRect/>
          </a:stretch>
        </p:blipFill>
        <p:spPr>
          <a:xfrm>
            <a:off x="5029200" y="1347470"/>
            <a:ext cx="274320" cy="30416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0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Merging the two lists of size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</a:t>
            </a:r>
            <a:r>
              <a:rPr lang="en-US" altLang="ko-KR" dirty="0" smtClean="0" sz="1000" i="1">
                <a:solidFill>
                  <a:srgbClr val="000000"/>
                </a:solidFill>
                <a:latin typeface="Verdana"/>
                <a:ea typeface="Verdana"/>
              </a:rPr>
              <a:t>n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</a:rPr>
              <a:t>	/2:</a:t>
            </a:r>
            <a:endParaRPr lang="ko-KR" altLang="en-US" dirty="0" smtClean="0" sz="1000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O(</a:t>
            </a:r>
            <a:r>
              <a:rPr lang="en-US" altLang="ko-KR" dirty="0" smtClean="0" sz="1000" i="1">
                <a:solidFill>
                  <a:srgbClr val="000000"/>
                </a:solidFill>
                <a:latin typeface="Verdana"/>
              </a:rPr>
              <a:t> n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</a:rPr>
              <a:t>)</a:t>
            </a:r>
            <a:endParaRPr lang="ko-KR" altLang="en-US" dirty="0" smtClean="0" sz="1000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Merging the four lists of size n/4:</a:t>
            </a:r>
            <a:endParaRPr lang="ko-KR" altLang="en-US" dirty="0" smtClean="0" sz="1000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O(</a:t>
            </a:r>
            <a:r>
              <a:rPr lang="en-US" altLang="ko-KR" dirty="0" smtClean="0" sz="1000" i="1">
                <a:solidFill>
                  <a:srgbClr val="000000"/>
                </a:solidFill>
                <a:latin typeface="Verdana"/>
              </a:rPr>
              <a:t> n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</a:rPr>
              <a:t>)</a:t>
            </a:r>
            <a:endParaRPr lang="ko-KR" altLang="en-US" dirty="0" smtClean="0" sz="100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2372" b="1">
                <a:solidFill>
                  <a:srgbClr val="000000"/>
                </a:solidFill>
                <a:latin typeface="Times New Roman"/>
                <a:ea typeface="Times New Roman"/>
              </a:rPr>
              <a:t>.</a:t>
            </a:r>
            <a:endParaRPr lang="ko-KR" altLang="en-US" dirty="0" smtClean="0" sz="2372" b="1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Merging the n lists of size 1:</a:t>
            </a:r>
            <a:endParaRPr lang="ko-KR" altLang="en-US" dirty="0" smtClean="0" sz="1000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O(</a:t>
            </a:r>
            <a:r>
              <a:rPr lang="en-US" altLang="ko-KR" dirty="0" smtClean="0" sz="1000" i="1">
                <a:solidFill>
                  <a:srgbClr val="000000"/>
                </a:solidFill>
                <a:latin typeface="Verdana"/>
              </a:rPr>
              <a:t> n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</a:rPr>
              <a:t>)</a:t>
            </a:r>
            <a:endParaRPr lang="ko-KR" altLang="en-US" dirty="0" smtClean="0" sz="1000"/>
          </a:p>
          <a:p>
            <a:pPr marL="0" indent="0" defTabSz="15240" algn="l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89" b="1">
                <a:solidFill>
                  <a:srgbClr val="000000"/>
                </a:solidFill>
                <a:latin typeface="Arial"/>
              </a:rPr>
              <a:t>Fig 45.32</a:t>
            </a:r>
            <a:endParaRPr lang="ko-KR" altLang="en-US" dirty="0" smtClean="0" sz="1089" b="1"/>
          </a:p>
          <a:p>
            <a:pPr marL="0" indent="0" defTabSz="15240"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Mergesort is O(n 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n)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Space?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The other sorts we have looked at (insertion, selection) are 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</a:rPr>
              <a:t>in-place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 (only require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a constant amount of extra space)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Mergesort requires O(n) extra space for merging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Fig 45.32, the array has been divided into two halves. We know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merging operation time is proportional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, as it is done in a single loop regardless of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number of equal parts of the original array. We also know that this dividing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array into halves is similar mechanism as we do in a binary tree and a complete or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perfect balance tree has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number of levels. Because of these two factors, the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merge sort algorithm is called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algorithm. Now, let’s discuss about quick sort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algorithm, which is not only an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algorithm but also an inplace algorithm. As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 might have guessed, we don’t need an additional array while using this algorithm.  </a:t>
            </a:r>
            <a:endParaRPr lang="ko-KR" altLang="en-US" dirty="0" smtClean="0" sz="1056"/>
          </a:p>
          <a:p>
            <a:pPr marL="0" indent="0" defTabSz="15240" algn="l">
              <a:lnSpc>
                <a:spcPts val="15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514 of 519 </a:t>
            </a:r>
            <a:endParaRPr lang="ko-KR" altLang="en-US" dirty="0" smtClean="0" sz="1056"/>
          </a:p>
        </p:txBody>
      </p:sp>
      <p:sp>
        <p:nvSpPr>
          <p:cNvPr id="1509" name="Rect 3"/>
          <p:cNvSpPr>
            <a:spLocks noGrp="1" noChangeArrowheads="1"/>
          </p:cNvSpPr>
          <p:nvPr/>
        </p:nvSpPr>
        <p:spPr>
          <a:xfrm rot="0">
            <a:off x="5650865" y="2663825"/>
            <a:ext cx="141605" cy="18605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</a:t>
            </a:r>
            <a:r>
              <a:rPr lang="en-US" altLang="ko-KR" dirty="0" smtClean="0" sz="1000" i="1">
                <a:solidFill>
                  <a:srgbClr val="000000"/>
                </a:solidFill>
                <a:latin typeface="Verdana"/>
                <a:ea typeface="Verdana"/>
              </a:rPr>
              <a:t>n</a:t>
            </a:r>
            <a:endParaRPr lang="ko-KR" altLang="en-US" dirty="0" smtClean="0" sz="1000" i="1"/>
          </a:p>
          <a:p>
            <a:pPr marL="0" indent="0" defTabSz="15240" algn="l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667">
                <a:solidFill>
                  <a:srgbClr val="000000"/>
                </a:solidFill>
                <a:latin typeface="Arial"/>
                <a:ea typeface="Arial"/>
              </a:rPr>
              <a:t>2</a:t>
            </a:r>
            <a:endParaRPr lang="ko-KR" altLang="en-US" dirty="0" smtClean="0" sz="667"/>
          </a:p>
        </p:txBody>
      </p:sp>
      <p:sp>
        <p:nvSpPr>
          <p:cNvPr id="1510" name="Rect 3"/>
          <p:cNvSpPr>
            <a:spLocks noGrp="1" noChangeArrowheads="1"/>
          </p:cNvSpPr>
          <p:nvPr/>
        </p:nvSpPr>
        <p:spPr>
          <a:xfrm rot="0">
            <a:off x="5334000" y="2667000"/>
            <a:ext cx="501015" cy="3352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00">
                <a:solidFill>
                  <a:srgbClr val="000000"/>
                </a:solidFill>
                <a:latin typeface="Arial"/>
              </a:rPr>
              <a:t>log</a:t>
            </a:r>
            <a:endParaRPr lang="ko-KR" altLang="en-US" dirty="0" smtClean="0" sz="1000"/>
          </a:p>
          <a:p>
            <a:pPr marL="0" indent="0" defTabSz="15240" algn="l">
              <a:lnSpc>
                <a:spcPts val="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</a:t>
            </a:r>
            <a:r>
              <a:rPr lang="en-US" altLang="ko-KR" dirty="0" smtClean="0" sz="1000">
                <a:solidFill>
                  <a:srgbClr val="000000"/>
                </a:solidFill>
                <a:latin typeface="Verdana"/>
                <a:ea typeface="Verdana"/>
              </a:rPr>
              <a:t>times</a:t>
            </a:r>
            <a:endParaRPr lang="ko-KR" altLang="en-US" dirty="0" smtClean="0" sz="1000"/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2429510"/>
            <a:ext cx="2733675" cy="3225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1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23670" y="4568825"/>
            <a:ext cx="2733675" cy="4724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1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23670" y="7019290"/>
            <a:ext cx="2733675" cy="4724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1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Quicksort </a:t>
            </a:r>
            <a:endParaRPr lang="ko-KR" altLang="en-US" dirty="0" smtClean="0" sz="1230" b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 b="1">
                <a:solidFill>
                  <a:srgbClr val="000000"/>
                </a:solidFill>
                <a:latin typeface="Times New Roman"/>
                <a:ea typeface="Times New Roman"/>
              </a:rPr>
              <a:t>								Quicksort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is another divide and conquer algorithm.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Symbol"/>
                <a:ea typeface="Symbol"/>
              </a:rPr>
              <a:t>−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								Quicksort is based on the idea of partitioning (splitting) the list around a pivot or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split value. </a:t>
            </a:r>
            <a:endParaRPr lang="ko-KR" altLang="en-US" dirty="0" smtClean="0" sz="1056" i="1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Quicksort is also a divide and conquer algorithm. We see pictorially, how the quick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 algorithm works. Suppose we have an array as shown in the figure Fig 45.33.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endParaRPr lang="ko-KR" altLang="en-US" dirty="0" smtClean="0" sz="1051"/>
          </a:p>
          <a:p>
            <a:pPr marL="0" indent="0" defTabSz="15240" algn="l">
              <a:lnSpc>
                <a:spcPts val="6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45.33</a:t>
            </a:r>
            <a:endParaRPr lang="ko-KR" altLang="en-US" dirty="0" smtClean="0" sz="1145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select an element from the array and call it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this array,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middle element 5 of the array. Now, we swap this with the last element 3 of the array.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updated figure of the array is shown in Fig 45.34.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05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45.34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As shown in Fig 45.34, we used two indexes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The 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started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from 0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of the array and goes towards right until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n-1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position. Inside this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loop, an element that is bigger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searched.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	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is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incremented further as 4 is less than 5.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05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45.35</a:t>
            </a:r>
            <a:endParaRPr lang="ko-KR" altLang="en-US" dirty="0" smtClean="0" sz="1145" b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pointing to element 12 and it is stopped here as 12 is greater than 5. Now, we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start from the other end,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is moved towards left from n-1</a:t>
            </a:r>
            <a:r>
              <a:rPr lang="en-US" altLang="ko-KR" dirty="0" smtClean="0" sz="702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position to 0. </a:t>
            </a:r>
            <a:endParaRPr lang="ko-KR" altLang="en-US" dirty="0" smtClean="0" sz="1056"/>
          </a:p>
          <a:p>
            <a:pPr marL="0" indent="0" defTabSz="15240"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515 of 519 </a:t>
            </a:r>
            <a:endParaRPr lang="ko-KR" altLang="en-US" dirty="0" smtClean="0" sz="1056"/>
          </a:p>
        </p:txBody>
      </p:sp>
      <p:sp>
        <p:nvSpPr>
          <p:cNvPr id="1513" name="Rect 3"/>
          <p:cNvSpPr>
            <a:spLocks noGrp="1" noChangeArrowheads="1"/>
          </p:cNvSpPr>
          <p:nvPr/>
        </p:nvSpPr>
        <p:spPr>
          <a:xfrm rot="0">
            <a:off x="2091055" y="3133090"/>
            <a:ext cx="345440" cy="323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  <p:sp>
        <p:nvSpPr>
          <p:cNvPr id="1514" name="Rect 3"/>
          <p:cNvSpPr>
            <a:spLocks noGrp="1" noChangeArrowheads="1"/>
          </p:cNvSpPr>
          <p:nvPr/>
        </p:nvSpPr>
        <p:spPr>
          <a:xfrm rot="0">
            <a:off x="2091055" y="5273040"/>
            <a:ext cx="345440" cy="323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  <p:sp>
        <p:nvSpPr>
          <p:cNvPr id="1515" name="Rect 3"/>
          <p:cNvSpPr>
            <a:spLocks noGrp="1" noChangeArrowheads="1"/>
          </p:cNvSpPr>
          <p:nvPr/>
        </p:nvSpPr>
        <p:spPr>
          <a:xfrm rot="0">
            <a:off x="2091055" y="7723505"/>
            <a:ext cx="345440" cy="323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8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1920240"/>
            <a:ext cx="2733675" cy="47244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18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23670" y="4215130"/>
            <a:ext cx="2733675" cy="4699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18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23670" y="6979920"/>
            <a:ext cx="2733675" cy="46926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17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While coming from right to left, we search such an element that is smaller than 5.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Elements 7 and 11 towards left are greater than 5, therefore,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 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advanced further towards left.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is stopped at the next position as next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2 is smaller than 5. Following figure Fig 45.36 depicts the latest situation.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051"/>
          </a:p>
          <a:p>
            <a:pPr marL="0" indent="0" defTabSz="15240"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45.36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Both of the indexes have been stopped,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stopped at a number 12 that is greater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stopped at number 2 that is smaller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. In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 step, we swap both of these elements as shown in Fig 45.37.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05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45.37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Note that our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5 is still there at its original position. We again go to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index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start moving towards right, trying to find a number that is greater than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element 5. It immediately finds the next number 10 greater than 5. Similarly,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is moved towards left in search to find an element smaller than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pivot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element 5. The very next element 3 is smaller than 5, therefore,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 stops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here. These elements 10 and 3 are swapped, the latest situation is shown in Fig 45.38. 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low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high</a:t>
            </a:r>
            <a:endParaRPr lang="ko-KR" altLang="en-US" dirty="0" smtClean="0" sz="1051"/>
          </a:p>
          <a:p>
            <a:pPr marL="0" indent="0" defTabSz="15240" algn="l">
              <a:lnSpc>
                <a:spcPts val="3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45.38</a:t>
            </a:r>
            <a:endParaRPr lang="ko-KR" altLang="en-US" dirty="0" smtClean="0" sz="1145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in the next iteration both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indexes cross each other. When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high</a:t>
            </a:r>
            <a:endParaRPr lang="ko-KR" altLang="en-US" dirty="0" smtClean="0" sz="1056" i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516 of 519 </a:t>
            </a:r>
            <a:endParaRPr lang="ko-KR" altLang="en-US" dirty="0" smtClean="0" sz="1056"/>
          </a:p>
        </p:txBody>
      </p:sp>
      <p:sp>
        <p:nvSpPr>
          <p:cNvPr id="1518" name="Rect 3"/>
          <p:cNvSpPr>
            <a:spLocks noGrp="1" noChangeArrowheads="1"/>
          </p:cNvSpPr>
          <p:nvPr/>
        </p:nvSpPr>
        <p:spPr>
          <a:xfrm rot="0">
            <a:off x="2091055" y="2624455"/>
            <a:ext cx="345440" cy="320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  <p:sp>
        <p:nvSpPr>
          <p:cNvPr id="1519" name="Rect 3"/>
          <p:cNvSpPr>
            <a:spLocks noGrp="1" noChangeArrowheads="1"/>
          </p:cNvSpPr>
          <p:nvPr/>
        </p:nvSpPr>
        <p:spPr>
          <a:xfrm rot="0">
            <a:off x="2091055" y="4916170"/>
            <a:ext cx="345440" cy="323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  <p:sp>
        <p:nvSpPr>
          <p:cNvPr id="1520" name="Rect 3"/>
          <p:cNvSpPr>
            <a:spLocks noGrp="1" noChangeArrowheads="1"/>
          </p:cNvSpPr>
          <p:nvPr/>
        </p:nvSpPr>
        <p:spPr>
          <a:xfrm rot="0">
            <a:off x="2091055" y="7680960"/>
            <a:ext cx="345440" cy="323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423670" y="1764665"/>
            <a:ext cx="2733675" cy="4692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23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423670" y="3590290"/>
            <a:ext cx="2733675" cy="4699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23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423670" y="5565775"/>
            <a:ext cx="3596640" cy="121285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2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pointer crosses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low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pointer, we stop it moving further as shown in Fig 45.39 and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swap the element at the crossing position (which is 8) with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pivot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number as shown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Fig 45.40. </a:t>
            </a:r>
            <a:endParaRPr lang="ko-KR" altLang="en-US" dirty="0" smtClean="0" sz="1056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8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  <a:p>
            <a:pPr marL="0" indent="0" defTabSz="15240"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high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low</a:t>
            </a:r>
            <a:endParaRPr lang="ko-KR" altLang="en-US" dirty="0" smtClean="0" sz="105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pivot value</a:t>
            </a:r>
            <a:endParaRPr lang="ko-KR" altLang="en-US" dirty="0" smtClean="0" sz="1051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</a:t>
            </a:r>
            <a:r>
              <a:rPr lang="en-US" altLang="ko-KR" dirty="0" smtClean="0" sz="1145" b="1">
                <a:solidFill>
                  <a:srgbClr val="000000"/>
                </a:solidFill>
                <a:latin typeface="Arial"/>
              </a:rPr>
              <a:t>Fig 45.39</a:t>
            </a:r>
            <a:endParaRPr lang="ko-KR" altLang="en-US" dirty="0" smtClean="0" sz="1145" b="1"/>
          </a:p>
          <a:p>
            <a:pPr marL="0" indent="0" defTabSz="15240" algn="l">
              <a:lnSpc>
                <a:spcPts val="3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8</a:t>
            </a:r>
            <a:endParaRPr lang="ko-KR" altLang="en-US" dirty="0" smtClean="0" sz="1050"/>
          </a:p>
          <a:p>
            <a:pPr marL="0" indent="0" defTabSz="1524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high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</a:t>
            </a:r>
            <a:r>
              <a:rPr lang="en-US" altLang="ko-KR" dirty="0" smtClean="0" sz="1050">
                <a:solidFill>
                  <a:srgbClr val="000000"/>
                </a:solidFill>
                <a:latin typeface="Arial"/>
              </a:rPr>
              <a:t>low</a:t>
            </a:r>
            <a:endParaRPr lang="ko-KR" altLang="en-US" dirty="0" smtClean="0" sz="1050"/>
          </a:p>
          <a:p>
            <a:pPr marL="0" indent="0" defTabSz="15240" algn="l">
              <a:lnSpc>
                <a:spcPts val="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45.40</a:t>
            </a:r>
            <a:endParaRPr lang="ko-KR" altLang="en-US" dirty="0" smtClean="0" sz="1144" b="1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This array is not sorted yet but element 5 has found its destination. The numbers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the left of 5 should be smaller than 5 and on right should be greater than it and we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 in Fig 45.40 that this actually is the case here. Notice that smaller numbers are on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left and greater numbers are on right of 5 but they are not sorted internally.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Next, we recursively quick sort the left and right parts to get the whole array sorted. </a:t>
            </a:r>
            <a:endParaRPr lang="ko-KR" altLang="en-US" dirty="0" smtClean="0" sz="1056"/>
          </a:p>
          <a:p>
            <a:pPr marL="0" indent="0" defTabSz="15240" algn="l">
              <a:lnSpc>
                <a:spcPts val="2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4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3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5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60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12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11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7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</a:t>
            </a:r>
            <a:r>
              <a:rPr lang="en-US" altLang="ko-KR" dirty="0" smtClean="0" sz="1052" b="1">
                <a:solidFill>
                  <a:srgbClr val="000000"/>
                </a:solidFill>
                <a:latin typeface="Times New Roman"/>
                <a:ea typeface="Times New Roman"/>
              </a:rPr>
              <a:t>8</a:t>
            </a:r>
            <a:endParaRPr lang="ko-KR" altLang="en-US" dirty="0" smtClean="0" sz="1052" b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</a:t>
            </a:r>
            <a:r>
              <a:rPr lang="en-US" altLang="ko-KR" dirty="0" smtClean="0" sz="1052">
                <a:solidFill>
                  <a:srgbClr val="000000"/>
                </a:solidFill>
                <a:latin typeface="Verdana"/>
                <a:ea typeface="Verdana"/>
              </a:rPr>
              <a:t>Quicksort the left part</a:t>
            </a:r>
            <a:endParaRPr lang="ko-KR" altLang="en-US" dirty="0" smtClean="0" sz="1052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144" b="1">
                <a:solidFill>
                  <a:srgbClr val="000000"/>
                </a:solidFill>
                <a:latin typeface="Arial"/>
              </a:rPr>
              <a:t>Fig 45.41</a:t>
            </a:r>
            <a:endParaRPr lang="ko-KR" altLang="en-US" dirty="0" smtClean="0" sz="1144" b="1"/>
          </a:p>
          <a:p>
            <a:pPr marL="0" indent="0" defTabSz="15240"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we see the C++ code of quick sort.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void quickSort(int array[], int size)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index;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if (size &gt; 1)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{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index = partition(array, size);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quickSort(array, index);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quickSort(array+index+1, size - index-1);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}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517 of 519 </a:t>
            </a:r>
            <a:endParaRPr lang="ko-KR" altLang="en-US" dirty="0" smtClean="0" sz="1056"/>
          </a:p>
        </p:txBody>
      </p:sp>
      <p:sp>
        <p:nvSpPr>
          <p:cNvPr id="1523" name="Rect 3"/>
          <p:cNvSpPr>
            <a:spLocks noGrp="1" noChangeArrowheads="1"/>
          </p:cNvSpPr>
          <p:nvPr/>
        </p:nvSpPr>
        <p:spPr>
          <a:xfrm rot="0">
            <a:off x="2091055" y="2465705"/>
            <a:ext cx="345440" cy="32321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</a:t>
            </a:r>
            <a:r>
              <a:rPr lang="en-US" altLang="ko-KR" dirty="0" smtClean="0" sz="1051">
                <a:solidFill>
                  <a:srgbClr val="000000"/>
                </a:solidFill>
                <a:latin typeface="Arial"/>
              </a:rPr>
              <a:t>5</a:t>
            </a:r>
            <a:endParaRPr lang="ko-KR" altLang="en-US" dirty="0" smtClean="0" sz="1051"/>
          </a:p>
        </p:txBody>
      </p:sp>
      <p:sp>
        <p:nvSpPr>
          <p:cNvPr id="1524" name="Rect 3"/>
          <p:cNvSpPr>
            <a:spLocks noGrp="1" noChangeArrowheads="1"/>
          </p:cNvSpPr>
          <p:nvPr/>
        </p:nvSpPr>
        <p:spPr>
          <a:xfrm rot="0">
            <a:off x="3173095" y="6242050"/>
            <a:ext cx="1595120" cy="158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1052">
                <a:solidFill>
                  <a:srgbClr val="000000"/>
                </a:solidFill>
                <a:latin typeface="Verdana"/>
              </a:rPr>
              <a:t>Quicksort the right part</a:t>
            </a:r>
            <a:endParaRPr lang="ko-KR" altLang="en-US" dirty="0" smtClean="0" sz="1052"/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int partition(int array[], int size)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k;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mid = size/2;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int index = 0;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swap(array, array+mid); 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for (k = 1; k &lt; size; k++){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  if (array[k] &lt; array[0]){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      index++;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      swap(array+k, array+index);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    }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}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swap(array, array+index);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   return index; 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  <a:ea typeface="Times New Roman"/>
              </a:rPr>
              <a:t>} 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 array and its size are passed as arguments to the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quickSort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function. The function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declared a local variable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	index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the size of the array is checked in the next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statement. If the size of the array is more than 1 then the function does the recursive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calling mechanism to sort the array. It divides the array into two parts by choosing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pivot element. In the subsequent calls, firstly the left side is sorted and then the right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side using the recursive mechanism. Quicksort algorithm is very elegant and it can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sort an array of any size efficiently. It is considered one of the best general purpose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algorithms for sorting. This normally is preferred sorting method being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nlog</a:t>
            </a:r>
            <a:r>
              <a:rPr lang="en-US" altLang="ko-KR" dirty="0" smtClean="0" sz="702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inplace algorithm. You are advised to read more about this algorithm from your text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books and try to do it as an exercise.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Today’s lecture being the last lecture of the course, let’s have a short review of it.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230" b="1">
                <a:solidFill>
                  <a:srgbClr val="000000"/>
                </a:solidFill>
                <a:latin typeface="Arial"/>
              </a:rPr>
              <a:t>Course Overview</a:t>
            </a:r>
            <a:endParaRPr lang="ko-KR" altLang="en-US" dirty="0" smtClean="0" sz="1230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had started this course while keeping the objectives of data structures in mind that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appropriate data structures are applied in different applications in order to make them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work efficiently. Secondly, the applications use data structures that are not memory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hungry. In the initial stages, we discussed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array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structure. After we found one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significant drawback of arrays; their fixed size, we switched our focus to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linked list</a:t>
            </a:r>
            <a:endParaRPr lang="ko-KR" altLang="en-US" dirty="0" smtClean="0" sz="1056" i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different other data structures. However, in the meantime, we started realizing the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significance of algorithms; without them data structures are not really useful rather I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should say complete.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We also studied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stack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structures. We implemented them with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array</a:t>
            </a:r>
            <a:endParaRPr lang="ko-KR" altLang="en-US" dirty="0" smtClean="0" sz="1056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and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	linked list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structures. With their help, we wrote such applications which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seemed difficult apparently. I hope, by now, you must have understood the role of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stack in computer’s runtime environment. Also </a:t>
            </a:r>
            <a:r>
              <a:rPr lang="en-US" altLang="ko-KR" dirty="0" smtClean="0" sz="1056" i="1">
                <a:solidFill>
                  <a:srgbClr val="000000"/>
                </a:solidFill>
                <a:latin typeface="Times New Roman"/>
              </a:rPr>
              <a:t>Queue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</a:rPr>
              <a:t> data structure was found very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helpful in Simulations.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Later on, we also came across the situations when we started thinking that linear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structures had to be tailored in order to achieve our goals with our work, we started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studying trees then. Binary tree was found specifically very useful. It also had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degenerate example, when we constructed AVL trees in order to balance the binary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search tree. We also formed threaded binary trees. We studied union/find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structure, which was an up tree. At that time, we had already started putting special </a:t>
            </a:r>
            <a:endParaRPr lang="ko-KR" altLang="en-US" dirty="0" smtClean="0" sz="1056"/>
          </a:p>
          <a:p>
            <a:pPr marL="0" indent="0" defTabSz="15240" algn="l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518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58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CS301 – Data Structures                 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___________________________________________________________________ </a:t>
            </a:r>
            <a:endParaRPr lang="ko-KR" altLang="en-US" dirty="0" smtClean="0" sz="1056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importance on algorithms. We found one important fact that it is not necessary that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for every application we should use a new data structure. We formed new Abstract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Types (ADT) using the existing data structures. For dictionary or table data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structure, we majorly worked with ADTs when we implemented them in six different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ways. We also studied Skip List within the topic of Table ADT, which is a very recent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data structure. After that we discussed about Hashing. Hashing was a purely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algorithmic procedure and there was nothing much as a data structure.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In future, you will more realize the importance of algorithm. While solving your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problems, you will choose an algorithm to solve your problem and that algorithm will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bring along some data structure along. Actually, data structure becomes a companion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to an algorithm. For example, in order to build your symbol table while constructing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 own compiler, you will use hashing. For searches, trees will be employed.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One important fact here is that the data structures and algorithms covered in this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course are not complete in the sense that you don’t need any other data structure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except them. One example is Graph, which is not discussed much in this course.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Graph data structures are primarily important from algorithmic point of view.  </a:t>
            </a:r>
            <a:endParaRPr lang="ko-KR" altLang="en-US" dirty="0" smtClean="0" sz="1056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Now, you should examine yourself, what have you learned in this course. As a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software engineer, you have learned data structures and algorithmic skills to increase </a:t>
            </a:r>
            <a:endParaRPr lang="ko-KR" altLang="en-US" dirty="0" smtClean="0" sz="1056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your domain knowledge of design choices. You can apply these design choices in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order to resolve different design problems of your applications that you will come </a:t>
            </a:r>
            <a:endParaRPr lang="ko-KR" altLang="en-US" dirty="0" smtClean="0" sz="1056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across in your student and professional life. </a:t>
            </a:r>
            <a:endParaRPr lang="ko-KR" altLang="en-US" dirty="0" smtClean="0" sz="1056"/>
          </a:p>
          <a:p>
            <a:pPr marL="0" indent="0" defTabSz="15240" algn="l">
              <a:lnSpc>
                <a:spcPts val="33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056">
                <a:solidFill>
                  <a:srgbClr val="000000"/>
                </a:solidFill>
                <a:latin typeface="Times New Roman"/>
                <a:ea typeface="Times New Roman"/>
              </a:rPr>
              <a:t>Page 519 of 519 </a:t>
            </a:r>
            <a:endParaRPr lang="ko-KR" altLang="en-US" dirty="0" smtClean="0" sz="1056"/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21410" y="914400"/>
            <a:ext cx="5529580" cy="14033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3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Tahoma"/>
                <a:ea typeface="Tahoma"/>
              </a:rPr>
              <a:t>Page 390: [1] Deleted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Tahoma"/>
                <a:ea typeface="Tahoma"/>
              </a:rPr>
              <a:t>Abutt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Tahoma"/>
                <a:ea typeface="Tahoma"/>
              </a:rPr>
              <a:t>5/ 26/ 2003 8:59:00 PM </a:t>
            </a:r>
            <a:endParaRPr lang="ko-KR" altLang="en-US" dirty="0" smtClean="0" sz="798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can use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buildHeap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to construct heap.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buildHeap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optimized as compared to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insert</a:t>
            </a:r>
            <a:endParaRPr lang="ko-KR" altLang="en-US" dirty="0" smtClean="0" sz="1200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method because it takes lesserthan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Nlog</a:t>
            </a:r>
            <a:r>
              <a:rPr lang="en-US" altLang="ko-KR" dirty="0" smtClean="0" sz="798" i="1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time. We also proved a theorem that if the </a:t>
            </a:r>
            <a:endParaRPr lang="ko-KR" altLang="en-US" dirty="0" smtClean="0" sz="120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number of linkes in the tree are counted then the sum of heights of the nodes is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N-h-1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have been iteratinglot of times that the best use of heap is implementing priority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queues. Lets try to develop a class of priority queue using heap. You might be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remembering, when we did bank simulation, weused a priority queue but that was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implementedusing an array. Now, we will implement the same queue using a heap. We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will modify the same code to use heap instead of any array. The interface (.h file) will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remain the same but the implementation (.cpp file) will be changed. As .cpp file will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change, so let’s see the .cpp code below: </a:t>
            </a:r>
            <a:endParaRPr lang="ko-KR" altLang="en-US" dirty="0" smtClean="0" sz="1200"/>
          </a:p>
          <a:p>
            <a:pPr marL="0" indent="0" defTabSz="15240" algn="l">
              <a:lnSpc>
                <a:spcPts val="2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first line is including a file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Event.cpp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this is containing all the events used for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simulation. </a:t>
            </a:r>
            <a:r>
              <a:rPr lang="en-US" altLang="ko-KR" dirty="0" smtClean="0" sz="1200">
                <a:solidFill>
                  <a:srgbClr val="FF0000"/>
                </a:solidFill>
                <a:latin typeface="Times New Roman"/>
              </a:rPr>
              <a:t>	We are including .cpp files here as we have used templates of C++. 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	At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second line, we have included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heap.cpp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In the third line, we are defining a constant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PQMAX, declaring the maximum size of the priority queue to be 30. In line 4, class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PriorityQueue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declared.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public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keyword is given at line 6 indicating that all class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members below will be of public scope. Line 7 is starting the class constructor’s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definition. At line 9, a new heap object is being created, this object is a collection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Event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type objects and the number of elements in the collection is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PQMAX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The address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(pointer) of the newly created heap is stored in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object pointer.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a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private pointer variable of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PriorityQueue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class. Next comes the destructor of the class,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where we are deleting (deallocating the allocated resources) the pointer variable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Next isthe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remove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that was sometimes, named as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dequeue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in our previous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lectures.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is returning an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Event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pointer. Inside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remove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the first statement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at line 19 is an if-condition; which is checking whether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not empty. If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condition is true (i.e.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not empty), a local variable (local to the block)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Event*</a:t>
            </a:r>
            <a:endParaRPr lang="ko-KR" altLang="en-US" dirty="0" smtClean="0" sz="1200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variable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declared. In the next line at line 22, we are calling deleteMin method to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delete (remove) an element from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the removed element is assigned to the passed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in parameter pointer variable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You might have noticed already that in this version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the parameter is being passed by pointer, in the previous implementation we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used reference. In the next line, the retrieved value is returned, the function returns by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returning the pointer variable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But if the heap was empty when checked at line 19,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control is transferred to the line 25. At line 25, a message is displayed to show that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heap is empty and the next line returns a NULL pointer. 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It is important to understand one thing that previously when we wrote the array based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remove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method. We used to take an element out from the start of the array and shifted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remaining elements to left. As in this implementation, we are using heap, therefore, all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responsibilities of maintaining the heap elements lie with the heap. When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deleteMin() is called, it returns the minimum number.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FF0000"/>
                </a:solidFill>
                <a:latin typeface="Times New Roman"/>
                <a:ea typeface="Times New Roman"/>
              </a:rPr>
              <a:t>????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see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now line by line. It is accepting a pointer type parameter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type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Event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As the heap may become full if we keep on inserting elements into it, </a:t>
            </a:r>
            <a:endParaRPr lang="ko-KR" altLang="en-US" dirty="0" smtClean="0" sz="1200"/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3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21410" y="4346575"/>
            <a:ext cx="5529580" cy="14287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3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therefore, the first line inside the insert function is checking if the heap has gone full. If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heap is not full then the if-block is entered. At line 33 inside the if-block, an element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that is passed as a parameter to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of heap is inserted into the queue by calling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insert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of heap. This insert call will internally perform percolate up and down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operations to place the new element at its correct position. The returned value 1 indicates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successful insertion in the queue. If the heap has gone full then a message 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displayed that ‘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insert queue is full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’. Note that we have used the word queue not heap in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that message. It has to that way otherwise the users of the PriorityQueue class are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unaware of the internal representation of the queue (whether it is implemented using a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heap or an array). Next line is returning 0indicating that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operation was not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successful. Below to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insert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we have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full()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method. This method returns an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int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value.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Internally, it is calling is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Full()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of heap.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full()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returns whatever is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returned by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isFull()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of heap. Next is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length()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method, as the size of heap 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also the size of the queue, therefore,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length()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internally calling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getSize()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method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heap.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In this new implementation the code is better readable than the PriorityQueue’s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implementation with array. You must be remembering when we implemented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PriorityQueue with an array, at each insertion in the  </a:t>
            </a:r>
            <a:endParaRPr lang="ko-KR" altLang="en-US" dirty="0" smtClean="0" sz="1200"/>
          </a:p>
          <a:p>
            <a:pPr marL="0" indent="0" defTabSz="15240" algn="l">
              <a:lnSpc>
                <a:spcPts val="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Tahoma"/>
                <a:ea typeface="Tahoma"/>
              </a:rPr>
              <a:t>Page 393: [2] Deleted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Tahoma"/>
                <a:ea typeface="Tahoma"/>
              </a:rPr>
              <a:t>Abutt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</a:t>
            </a:r>
            <a:r>
              <a:rPr lang="en-US" altLang="ko-KR" dirty="0" smtClean="0" sz="798" b="1">
                <a:solidFill>
                  <a:srgbClr val="000000"/>
                </a:solidFill>
                <a:latin typeface="Tahoma"/>
                <a:ea typeface="Tahoma"/>
              </a:rPr>
              <a:t>5/ 26/ 2003 8:59:00 PM </a:t>
            </a:r>
            <a:endParaRPr lang="ko-KR" altLang="en-US" dirty="0" smtClean="0" sz="798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Clearly then this new implementation is more efficient because the heap can readjusts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itself in log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N times. Gain in performance is the major benefit of implementing </a:t>
            </a:r>
            <a:endParaRPr lang="ko-KR" altLang="en-US" dirty="0" smtClean="0" sz="120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PriorityQueue using heap over implementing with array and very important for you to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remember as a student of Data Structures.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There are other significant benefits of using heap and there are number of other uses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heap that would be covered in this course time to time. At the moment, we willsome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common example usages of heap in order to make you clear about other uses of heap.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heap data structure will be covered in the Algorithms course also. 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397" b="1">
                <a:solidFill>
                  <a:srgbClr val="000000"/>
                </a:solidFill>
                <a:latin typeface="Arial"/>
              </a:rPr>
              <a:t>The Selection Problem </a:t>
            </a:r>
            <a:endParaRPr lang="ko-KR" altLang="en-US" dirty="0" smtClean="0" sz="1397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Given a list of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elements (numbers, names etc.), which can be totally ordered, and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an integer k, find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smallest (or largest) element.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Suppose we have list of N names (names of students or names of motor vehicles or a list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of numbers of motor vehicles or list of roll numbers of students or id card numbers of the </a:t>
            </a:r>
            <a:endParaRPr lang="ko-KR" altLang="en-US" dirty="0" smtClean="0" sz="120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students, whatever). The problem is to findout the k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smallest element. So let’s say we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have a list of 1000 numbers and we want to find the 10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smallest number in it.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sorting is applied in order to make the elements ordered. After sorting out list of numbers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(in any order ascending or decending, let’s do in ascending in this as we are finding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smallest number), it will be very easy to findany desired smallest number. </a:t>
            </a:r>
            <a:endParaRPr lang="ko-KR" altLang="en-US" dirty="0" smtClean="0" sz="1200"/>
          </a:p>
          <a:p>
            <a:pPr marL="0" indent="0" defTabSz="15240"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One way is to put these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elements in an array and sort it.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k</a:t>
            </a:r>
            <a:endParaRPr lang="ko-KR" altLang="en-US" dirty="0" smtClean="0" sz="1200" i="1"/>
          </a:p>
          <a:p>
            <a:pPr marL="0" indent="0" defTabSz="15240" algn="l">
              <a:lnSpc>
                <a:spcPts val="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at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k</a:t>
            </a:r>
            <a:endParaRPr lang="ko-KR" altLang="en-US" dirty="0" smtClean="0" sz="1200" i="1"/>
          </a:p>
        </p:txBody>
      </p:sp>
      <p:sp>
        <p:nvSpPr>
          <p:cNvPr id="1533" name="Rect 3"/>
          <p:cNvSpPr>
            <a:spLocks noGrp="1" noChangeArrowheads="1"/>
          </p:cNvSpPr>
          <p:nvPr/>
        </p:nvSpPr>
        <p:spPr>
          <a:xfrm rot="0">
            <a:off x="5346065" y="8424545"/>
            <a:ext cx="1348105" cy="210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701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smallest of these is </a:t>
            </a:r>
            <a:endParaRPr lang="ko-KR" altLang="en-US" dirty="0" smtClean="0" sz="1200"/>
          </a:p>
        </p:txBody>
      </p:sp>
      <p:sp>
        <p:nvSpPr>
          <p:cNvPr id="1534" name="Rect 3"/>
          <p:cNvSpPr>
            <a:spLocks noGrp="1" noChangeArrowheads="1"/>
          </p:cNvSpPr>
          <p:nvPr/>
        </p:nvSpPr>
        <p:spPr>
          <a:xfrm rot="0">
            <a:off x="2042160" y="8629015"/>
            <a:ext cx="702310" cy="201295"/>
          </a:xfrm>
          <a:prstGeom prst="rect">
            <a:avLst/>
          </a:prstGeom>
          <a:noFill/>
          <a:ln w="0">
            <a:noFill/>
          </a:ln>
        </p:spPr>
      </p:sp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It will take Nlog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N time in case we use array data structure. Now, we want to see if it is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possible to reduce the time from Nlog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2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N by using some other data structure or by </a:t>
            </a:r>
            <a:endParaRPr lang="ko-KR" altLang="en-US" dirty="0" smtClean="0" sz="120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improving the algorithm? Yes, we can apply heap data structure in order to make this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operation more efficient. 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 faster way is to put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elements into an array and apply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algorithm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on this array.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Finally, we perform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k 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operations. The last element extracted from the heap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is our answer.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	buildHeap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algorithm is used to construct a heap of given N elements. If we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constructed  min-heap, the minimum of the N elements will be positioned in the root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node of the heap. If we take out (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) k elements from the heap, we can get the kth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smallest element.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works in linear time to make a min or a max-heap. 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interesting case is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k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= À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200">
                <a:solidFill>
                  <a:srgbClr val="000000"/>
                </a:solidFill>
                <a:latin typeface="Bookman Old Style"/>
                <a:ea typeface="Bookman Old Style"/>
              </a:rPr>
              <a:t>/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2Â, since this is known as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median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In Statistics, we take the average of numbers, find the minimum, maximum and median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as well. Median is defined as a number in the sequence where the half of the numbers are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greater than this number and half of the numbers are smaller. Now, we can come up with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our mechanism to find median from a given N numbers. Let’s say , we want to compute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median of final marks of students of our class. Further suppose that the maximum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aggregate marks for a student are 100. We use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buildHeap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to construct a heap for N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number of students. By calling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for N/2 times, the minimum marks of the half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number students will be taken out. The N/2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marks would be the median of the marks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our class. The alternates methods are there to calculate median, however, we are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discussing here about the possible uses of heap. Let’s see another use of heap.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397" b="1">
                <a:solidFill>
                  <a:srgbClr val="000000"/>
                </a:solidFill>
                <a:latin typeface="Arial"/>
              </a:rPr>
              <a:t>Heap Sort </a:t>
            </a:r>
            <a:endParaRPr lang="ko-KR" altLang="en-US" dirty="0" smtClean="0" sz="1397" b="1"/>
          </a:p>
          <a:p>
            <a:pPr marL="0" indent="0" defTabSz="15240"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As discussed above in The Selection Problem that to take the 100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minimum element out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from the min-heap, we will call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to take out 1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st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element, 2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nd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element, 3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rd</a:t>
            </a:r>
            <a:endParaRPr lang="ko-KR" altLang="en-US" dirty="0" smtClean="0" sz="798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element and eventually we will call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100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time to take out our required 100</a:t>
            </a:r>
            <a:r>
              <a:rPr lang="en-US" altLang="ko-KR" dirty="0" smtClean="0" sz="798">
                <a:solidFill>
                  <a:srgbClr val="000000"/>
                </a:solidFill>
                <a:latin typeface="Times New Roman"/>
              </a:rPr>
              <a:t>th</a:t>
            </a:r>
            <a:endParaRPr lang="ko-KR" altLang="en-US" dirty="0" smtClean="0" sz="798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minimum element. Suppose, if the size of the heap is 100 elements then we have taken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out all the elements out from the heap. Interestingly the elements are sorted in increasing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order. If somehow, we  can store these taken out numbers, let’s say in an array we can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have all the elements sorted (in ascending order in this min-heap case).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Hence,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If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k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=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and we record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deleteMin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elements as they come off the heap, we will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have essentially sorted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elements.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Later in the course, we will refine this idea to obtain a fast sorting algorithm called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heapsort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finish our discussion above heap here but it will be discussed in the forthcoming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courses and a little bit when we will discuss about sort in the next lectures of this course.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At the moment, let’ see another Abstract Data Type. </a:t>
            </a:r>
            <a:endParaRPr lang="ko-KR" altLang="en-US" dirty="0" smtClean="0" sz="1200"/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86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397" b="1">
                <a:solidFill>
                  <a:srgbClr val="000000"/>
                </a:solidFill>
                <a:latin typeface="Arial"/>
              </a:rPr>
              <a:t>Disjoint Set ADT</a:t>
            </a:r>
            <a:endParaRPr lang="ko-KR" altLang="en-US" dirty="0" smtClean="0" sz="1397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As always, before we actually move to an Abstract Data Type (ADT), we like to see what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that ADT is, how it works and in what situations it can be helpful. We are going to cover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Disjoint Set ADT. Firstly, we will have its introduction, examples and later on, we will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discuss about its implementation.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Suppose we have a database of people.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want to figure out who is related to whom.Initially, we only have a list of people, and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information about relations is gained by updates of the form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“Haaris is related to Saad”.Let’s say we have a list of names of all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people in a locality but we are not aware of their relationships to each other, if they are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related. After having the list of all people we start getting some information about their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relationships slowly, one relationship at a time, for example, “Ali Abbas isson of Abbas”. 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situation becomes interesting when we have relationships like “Ali Abbas is first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cousin of Ayesha Ali (i.e. fathers of both are brothers) but Ayesha Ali has other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immediate cousins also from her mother’s side, therefore, other immediate cousins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Ayesha Ali also get related to Ali Abbas, although they are not immediate to Ali Abbas.” 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So as we keep on getting relationships details of those people, these direct and indirect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relationships can be establishded.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Key property: If Haaris is related to Saad and Saad is related to Ahmad, then Haaris 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related to Ahmad.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See the key property line’s first part above “Harris is related to Saad and Saad is related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to Ahmad”. Suppose we have a program to handle this list of people and their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relationships. After we have provided all the name “Harris, Saad and Ahmad” to that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program and then this part of information about their relationships, the program might be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able to determine the remaining part “Harris related to Ahmad”. 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same problem (the intelligence required in the program) is describe in the sentence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below: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Once we have relationships information, we would like to answer queries like “Is Haaris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related to Ahmad?”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To answer this kind of queries and to have that intelligence in our programs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Disjoint Set</a:t>
            </a:r>
            <a:endParaRPr lang="ko-KR" altLang="en-US" dirty="0" smtClean="0" sz="1200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ADT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 used. Before we see what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Disjoint Set			ADT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is, we see another application of this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ADT in image analysis. This problem is known as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Blob Coloring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200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 b="1">
                <a:solidFill>
                  <a:srgbClr val="000000"/>
                </a:solidFill>
                <a:latin typeface="Times New Roman"/>
                <a:ea typeface="Times New Roman"/>
              </a:rPr>
              <a:t>Blob Coloring </a:t>
            </a:r>
            <a:endParaRPr lang="ko-KR" altLang="en-US" dirty="0" smtClean="0" sz="1200" i="1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 well-known low-level computer vision problem for black and white images is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following:Gather together all the picture elements (pixels) that belong to the same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"blobs", and give each pixel in each different blob an identical label. 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You must have heard of robots that perform certain tasks automatically. How do they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know from the images provided to them that what in which direction should they move,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they can catch things and carry them. They do different things like humans. Obviously, </a:t>
            </a:r>
            <a:endParaRPr lang="ko-KR" altLang="en-US" dirty="0" smtClean="0" sz="1200"/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1" name="Picture 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804160" y="1844040"/>
            <a:ext cx="1228090" cy="130746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41" name="Picture 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560830" y="6068695"/>
            <a:ext cx="1889760" cy="1758315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1541" name="Picture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3703320" y="6089650"/>
            <a:ext cx="1898650" cy="174688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540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there is a software working internal to robots body that is doing all this controlling part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and vision to the robot. This is very complex problem and broad area of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		Computer </a:t>
            </a:r>
            <a:endParaRPr lang="ko-KR" altLang="en-US" dirty="0" smtClean="0" sz="1200" i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  <a:ea typeface="Times New Roman"/>
              </a:rPr>
              <a:t>Science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and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Electrical Engineering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called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Robotics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(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Computer Vision 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in particular).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Consider the image below: </a:t>
            </a:r>
            <a:endParaRPr lang="ko-KR" altLang="en-US" dirty="0" smtClean="0" sz="1200"/>
          </a:p>
          <a:p>
            <a:pPr marL="0" indent="0" defTabSz="15240" algn="l">
              <a:lnSpc>
                <a:spcPts val="11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 b="1">
                <a:solidFill>
                  <a:srgbClr val="000000"/>
                </a:solidFill>
                <a:latin typeface="Times New Roman"/>
                <a:ea typeface="Times New Roman"/>
              </a:rPr>
              <a:t>``  </a:t>
            </a: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</a:t>
            </a:r>
            <a:r>
              <a:rPr lang="en-US" altLang="ko-KR" dirty="0" smtClean="0" sz="1200" b="1">
                <a:solidFill>
                  <a:srgbClr val="000000"/>
                </a:solidFill>
                <a:latin typeface="Times New Roman"/>
                <a:ea typeface="Times New Roman"/>
              </a:rPr>
              <a:t>Fig 33.1 </a:t>
            </a:r>
            <a:endParaRPr lang="ko-KR" altLang="en-US" dirty="0" smtClean="0" sz="1200" b="1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This image is black and white, which consist of five non-overlapping black colored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regions of different shapes called blobs. These blobs are two elliptic, n and u shaped (two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blobs) and one arc at the bottom. From human eye we can see these five blobs but how a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robot can identify these. So the problem is: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want to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partition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the pixels into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disjoint sets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one set per blob.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Now if we make one set per blob then for five blobs in the image above, we have to have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five sets. To understand the concept of disjoint sets, we can take an analogy where we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have two sets A and B (as in Mathematics) where none of the elements inside set A is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present in set B. The sets A and B are called disjoint sets. 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Another problem relatedthe Computer Vision is the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image segmentation problem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See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image below on the left of an old ship in gray scales. </a:t>
            </a:r>
            <a:endParaRPr lang="ko-KR" altLang="en-US" dirty="0" smtClean="0" sz="1200"/>
          </a:p>
          <a:p>
            <a:pPr marL="0" indent="0" defTabSz="15240" algn="l">
              <a:lnSpc>
                <a:spcPts val="209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																																																																								</a:t>
            </a:r>
            <a:r>
              <a:rPr lang="en-US" altLang="ko-KR" dirty="0" smtClean="0" sz="1200" b="1">
                <a:solidFill>
                  <a:srgbClr val="000000"/>
                </a:solidFill>
                <a:latin typeface="Times New Roman"/>
                <a:ea typeface="Times New Roman"/>
              </a:rPr>
              <a:t>Fig 33.2 </a:t>
            </a:r>
            <a:endParaRPr lang="ko-KR" altLang="en-US" dirty="0" smtClean="0" sz="1200" b="1"/>
          </a:p>
          <a:p>
            <a:pPr marL="0" indent="0" defTabSz="1524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We want  to find regions of different colors in this picture, for example all regions in the </a:t>
            </a:r>
            <a:endParaRPr lang="ko-KR" altLang="en-US" dirty="0" smtClean="0" sz="1200"/>
          </a:p>
        </p:txBody>
      </p:sp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2" name="Rect 3"/>
          <p:cNvSpPr>
            <a:spLocks noGrp="1" noChangeArrowheads="1"/>
          </p:cNvSpPr>
          <p:nvPr/>
        </p:nvSpPr>
        <p:spPr>
          <a:xfrm rot="0">
            <a:off x="0" y="0"/>
            <a:ext cx="7797801" cy="10058401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/>
          <a:lstStyle/>
          <a:p>
            <a:pPr marL="0" indent="0" defTabSz="15240" algn="l">
              <a:lnSpc>
                <a:spcPts val="72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/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picture of color black, all regions in the image of color gray. The image on the right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represents the resultant image. </a:t>
            </a:r>
            <a:endParaRPr lang="ko-KR" altLang="en-US" dirty="0" smtClean="0" sz="1200"/>
          </a:p>
          <a:p>
            <a:pPr marL="0" indent="0" defTabSz="15240"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Different scanning done in hospitals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mri scan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,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cat scan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or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ct scan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 scans the inner parts of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the whole body of humans. Those scans images in gray scales represent organs of the </a:t>
            </a:r>
            <a:endParaRPr lang="ko-KR" altLang="en-US" dirty="0" smtClean="0" sz="1200"/>
          </a:p>
          <a:p>
            <a:pPr marL="0" indent="0" defTabSz="15240" algn="l">
              <a:lnSpc>
                <a:spcPts val="1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ko-KR" altLang="en-US" dirty="0" smtClean="0" sz="950">
              <a:latin typeface="Arial"/>
              <a:ea typeface="Arial"/>
            </a:endParaRPr>
          </a:p>
          <a:p>
            <a:pPr marL="0" indent="0" defTabSz="15240" algn="l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ko-KR" dirty="0" smtClean="0" sz="950">
                <a:solidFill>
                  <a:srgbClr val="000000"/>
                </a:solidFill>
                <a:latin typeface="Arial"/>
                <a:ea typeface="Arial"/>
              </a:rPr>
              <a:t>																																																																											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  <a:ea typeface="Times New Roman"/>
              </a:rPr>
              <a:t>human body. All these are application of </a:t>
            </a:r>
            <a:r>
              <a:rPr lang="en-US" altLang="ko-KR" dirty="0" smtClean="0" sz="1200" i="1">
                <a:solidFill>
                  <a:srgbClr val="000000"/>
                </a:solidFill>
                <a:latin typeface="Times New Roman"/>
              </a:rPr>
              <a:t>Disjoint Set ADT</a:t>
            </a:r>
            <a:r>
              <a:rPr lang="en-US" altLang="ko-KR" dirty="0" smtClean="0" sz="1200">
                <a:solidFill>
                  <a:srgbClr val="000000"/>
                </a:solidFill>
                <a:latin typeface="Times New Roman"/>
              </a:rPr>
              <a:t>. </a:t>
            </a:r>
            <a:endParaRPr lang="ko-KR" altLang="en-US" dirty="0" smtClean="0" sz="12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Gulim"/>
        <a:ea typeface=""/>
        <a:cs typeface=""/>
        <a:font script="Jpan" typeface="MS PGothic"/>
        <a:font script="Hang" typeface="Gulim"/>
        <a:font script="Hant" typeface="SimSun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Oox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Gulim"/>
        <a:ea typeface=""/>
        <a:cs typeface=""/>
        <a:font script="Jpan" typeface="MS PGothic"/>
        <a:font script="Hang" typeface="Gulim"/>
        <a:font script="Hant" typeface="SimSun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PDF Converter</Application>
  <PresentationFormat>On-screen Show</PresentationFormat>
  <Paragraphs>0</Paragraphs>
  <Slides>1</Slides>
  <Notes>0</Notes>
  <HiddenSlides>0</HiddenSlides>
  <MMClips>0</MMClips>
  <HeadingPairs>
    <vt:vector size="4" baseType="variant">
      <vt:variant>
        <vt:lpstr>Theme</vt:lpstr>
      </vt:variant>
      <vt:variant>
        <vt:i4>0</vt:i4>
      </vt:variant>
      <vt:variant>
        <vt:lpstr>Slide Titles</vt:lpstr>
      </vt:variant>
      <vt:variant>
        <vt:i4>1</vt:i4>
      </vt:variant>
    </vt:vector>
  </HeadingPairs>
  <TitlesOfParts>
    <vt:vector size="1" baseType="lpstr">
      <vt:lpstr>Title text</vt:lpstr>
    </vt:vector>
  </TitlesOfParts>
  <Company>PDFConverter, Inc.</Company>
  <SharedDoc>false</SharedDoc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User</dc:creator>
  <cp:lastModifiedBy>User</cp:lastModifiedBy>
  <cp:revision>1</cp:revision>
  <dcterms:modified xsi:type="dcterms:W3CDTF">2010-06-24T10:54:49Z</dcterms:modified>
</cp:coreProperties>
</file>