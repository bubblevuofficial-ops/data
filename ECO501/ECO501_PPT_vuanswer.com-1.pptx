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Default Extension="png" ContentType="image/png"/>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Default Extension="jpg" ContentType="image/jpg"/>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 id="512" r:id="rId262"/>
    <p:sldId id="513" r:id="rId263"/>
    <p:sldId id="514" r:id="rId264"/>
    <p:sldId id="515" r:id="rId265"/>
    <p:sldId id="516" r:id="rId266"/>
    <p:sldId id="517" r:id="rId267"/>
    <p:sldId id="518" r:id="rId268"/>
    <p:sldId id="519" r:id="rId269"/>
    <p:sldId id="520" r:id="rId270"/>
    <p:sldId id="521" r:id="rId271"/>
    <p:sldId id="522" r:id="rId272"/>
    <p:sldId id="523" r:id="rId273"/>
    <p:sldId id="524" r:id="rId274"/>
    <p:sldId id="525" r:id="rId275"/>
    <p:sldId id="526" r:id="rId276"/>
    <p:sldId id="527" r:id="rId277"/>
    <p:sldId id="528" r:id="rId278"/>
    <p:sldId id="529" r:id="rId279"/>
    <p:sldId id="530" r:id="rId280"/>
    <p:sldId id="531" r:id="rId281"/>
    <p:sldId id="532" r:id="rId282"/>
    <p:sldId id="533" r:id="rId283"/>
    <p:sldId id="534" r:id="rId284"/>
    <p:sldId id="535" r:id="rId285"/>
    <p:sldId id="536" r:id="rId286"/>
    <p:sldId id="537" r:id="rId287"/>
    <p:sldId id="538" r:id="rId288"/>
    <p:sldId id="539" r:id="rId289"/>
    <p:sldId id="540" r:id="rId290"/>
    <p:sldId id="541" r:id="rId291"/>
    <p:sldId id="542" r:id="rId292"/>
    <p:sldId id="543" r:id="rId293"/>
    <p:sldId id="544" r:id="rId294"/>
    <p:sldId id="545" r:id="rId295"/>
    <p:sldId id="546" r:id="rId296"/>
    <p:sldId id="547" r:id="rId297"/>
    <p:sldId id="548" r:id="rId298"/>
    <p:sldId id="549" r:id="rId299"/>
    <p:sldId id="550" r:id="rId300"/>
    <p:sldId id="551" r:id="rId301"/>
    <p:sldId id="552" r:id="rId302"/>
    <p:sldId id="553" r:id="rId303"/>
    <p:sldId id="554" r:id="rId304"/>
    <p:sldId id="555" r:id="rId305"/>
    <p:sldId id="556" r:id="rId306"/>
    <p:sldId id="557" r:id="rId307"/>
    <p:sldId id="558" r:id="rId308"/>
    <p:sldId id="559" r:id="rId309"/>
    <p:sldId id="560" r:id="rId310"/>
    <p:sldId id="561" r:id="rId311"/>
    <p:sldId id="562" r:id="rId312"/>
    <p:sldId id="563" r:id="rId313"/>
    <p:sldId id="564" r:id="rId314"/>
    <p:sldId id="565" r:id="rId315"/>
    <p:sldId id="566" r:id="rId316"/>
    <p:sldId id="567" r:id="rId317"/>
    <p:sldId id="568" r:id="rId318"/>
    <p:sldId id="569" r:id="rId319"/>
    <p:sldId id="570" r:id="rId320"/>
    <p:sldId id="571" r:id="rId321"/>
    <p:sldId id="572" r:id="rId322"/>
    <p:sldId id="573" r:id="rId323"/>
    <p:sldId id="574" r:id="rId324"/>
    <p:sldId id="575" r:id="rId325"/>
    <p:sldId id="576" r:id="rId326"/>
    <p:sldId id="577" r:id="rId327"/>
    <p:sldId id="578" r:id="rId328"/>
    <p:sldId id="579" r:id="rId329"/>
    <p:sldId id="580" r:id="rId330"/>
    <p:sldId id="581" r:id="rId331"/>
    <p:sldId id="582" r:id="rId332"/>
    <p:sldId id="583" r:id="rId333"/>
  </p:sldIdLst>
  <p:sldSz cx="7772400" cy="100584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slide" Target="slides/slide202.xml"/><Relationship Id="rId208" Type="http://schemas.openxmlformats.org/officeDocument/2006/relationships/slide" Target="slides/slide203.xml"/><Relationship Id="rId209" Type="http://schemas.openxmlformats.org/officeDocument/2006/relationships/slide" Target="slides/slide204.xml"/><Relationship Id="rId210" Type="http://schemas.openxmlformats.org/officeDocument/2006/relationships/slide" Target="slides/slide205.xml"/><Relationship Id="rId211" Type="http://schemas.openxmlformats.org/officeDocument/2006/relationships/slide" Target="slides/slide206.xml"/><Relationship Id="rId212" Type="http://schemas.openxmlformats.org/officeDocument/2006/relationships/slide" Target="slides/slide207.xml"/><Relationship Id="rId213" Type="http://schemas.openxmlformats.org/officeDocument/2006/relationships/slide" Target="slides/slide208.xml"/><Relationship Id="rId214" Type="http://schemas.openxmlformats.org/officeDocument/2006/relationships/slide" Target="slides/slide209.xml"/><Relationship Id="rId215" Type="http://schemas.openxmlformats.org/officeDocument/2006/relationships/slide" Target="slides/slide210.xml"/><Relationship Id="rId216" Type="http://schemas.openxmlformats.org/officeDocument/2006/relationships/slide" Target="slides/slide211.xml"/><Relationship Id="rId217" Type="http://schemas.openxmlformats.org/officeDocument/2006/relationships/slide" Target="slides/slide212.xml"/><Relationship Id="rId218" Type="http://schemas.openxmlformats.org/officeDocument/2006/relationships/slide" Target="slides/slide213.xml"/><Relationship Id="rId219" Type="http://schemas.openxmlformats.org/officeDocument/2006/relationships/slide" Target="slides/slide214.xml"/><Relationship Id="rId220" Type="http://schemas.openxmlformats.org/officeDocument/2006/relationships/slide" Target="slides/slide215.xml"/><Relationship Id="rId221" Type="http://schemas.openxmlformats.org/officeDocument/2006/relationships/slide" Target="slides/slide216.xml"/><Relationship Id="rId222" Type="http://schemas.openxmlformats.org/officeDocument/2006/relationships/slide" Target="slides/slide217.xml"/><Relationship Id="rId223" Type="http://schemas.openxmlformats.org/officeDocument/2006/relationships/slide" Target="slides/slide218.xml"/><Relationship Id="rId224" Type="http://schemas.openxmlformats.org/officeDocument/2006/relationships/slide" Target="slides/slide219.xml"/><Relationship Id="rId225" Type="http://schemas.openxmlformats.org/officeDocument/2006/relationships/slide" Target="slides/slide220.xml"/><Relationship Id="rId226" Type="http://schemas.openxmlformats.org/officeDocument/2006/relationships/slide" Target="slides/slide221.xml"/><Relationship Id="rId227" Type="http://schemas.openxmlformats.org/officeDocument/2006/relationships/slide" Target="slides/slide222.xml"/><Relationship Id="rId228" Type="http://schemas.openxmlformats.org/officeDocument/2006/relationships/slide" Target="slides/slide223.xml"/><Relationship Id="rId229" Type="http://schemas.openxmlformats.org/officeDocument/2006/relationships/slide" Target="slides/slide224.xml"/><Relationship Id="rId230" Type="http://schemas.openxmlformats.org/officeDocument/2006/relationships/slide" Target="slides/slide225.xml"/><Relationship Id="rId231" Type="http://schemas.openxmlformats.org/officeDocument/2006/relationships/slide" Target="slides/slide226.xml"/><Relationship Id="rId232" Type="http://schemas.openxmlformats.org/officeDocument/2006/relationships/slide" Target="slides/slide227.xml"/><Relationship Id="rId233" Type="http://schemas.openxmlformats.org/officeDocument/2006/relationships/slide" Target="slides/slide228.xml"/><Relationship Id="rId234" Type="http://schemas.openxmlformats.org/officeDocument/2006/relationships/slide" Target="slides/slide229.xml"/><Relationship Id="rId235" Type="http://schemas.openxmlformats.org/officeDocument/2006/relationships/slide" Target="slides/slide230.xml"/><Relationship Id="rId236" Type="http://schemas.openxmlformats.org/officeDocument/2006/relationships/slide" Target="slides/slide231.xml"/><Relationship Id="rId237" Type="http://schemas.openxmlformats.org/officeDocument/2006/relationships/slide" Target="slides/slide232.xml"/><Relationship Id="rId238" Type="http://schemas.openxmlformats.org/officeDocument/2006/relationships/slide" Target="slides/slide233.xml"/><Relationship Id="rId239" Type="http://schemas.openxmlformats.org/officeDocument/2006/relationships/slide" Target="slides/slide234.xml"/><Relationship Id="rId240" Type="http://schemas.openxmlformats.org/officeDocument/2006/relationships/slide" Target="slides/slide235.xml"/><Relationship Id="rId241" Type="http://schemas.openxmlformats.org/officeDocument/2006/relationships/slide" Target="slides/slide236.xml"/><Relationship Id="rId242" Type="http://schemas.openxmlformats.org/officeDocument/2006/relationships/slide" Target="slides/slide237.xml"/><Relationship Id="rId243" Type="http://schemas.openxmlformats.org/officeDocument/2006/relationships/slide" Target="slides/slide238.xml"/><Relationship Id="rId244" Type="http://schemas.openxmlformats.org/officeDocument/2006/relationships/slide" Target="slides/slide239.xml"/><Relationship Id="rId245" Type="http://schemas.openxmlformats.org/officeDocument/2006/relationships/slide" Target="slides/slide240.xml"/><Relationship Id="rId246" Type="http://schemas.openxmlformats.org/officeDocument/2006/relationships/slide" Target="slides/slide241.xml"/><Relationship Id="rId247" Type="http://schemas.openxmlformats.org/officeDocument/2006/relationships/slide" Target="slides/slide242.xml"/><Relationship Id="rId248" Type="http://schemas.openxmlformats.org/officeDocument/2006/relationships/slide" Target="slides/slide243.xml"/><Relationship Id="rId249" Type="http://schemas.openxmlformats.org/officeDocument/2006/relationships/slide" Target="slides/slide244.xml"/><Relationship Id="rId250" Type="http://schemas.openxmlformats.org/officeDocument/2006/relationships/slide" Target="slides/slide245.xml"/><Relationship Id="rId251" Type="http://schemas.openxmlformats.org/officeDocument/2006/relationships/slide" Target="slides/slide246.xml"/><Relationship Id="rId252" Type="http://schemas.openxmlformats.org/officeDocument/2006/relationships/slide" Target="slides/slide247.xml"/><Relationship Id="rId253" Type="http://schemas.openxmlformats.org/officeDocument/2006/relationships/slide" Target="slides/slide248.xml"/><Relationship Id="rId254" Type="http://schemas.openxmlformats.org/officeDocument/2006/relationships/slide" Target="slides/slide249.xml"/><Relationship Id="rId255" Type="http://schemas.openxmlformats.org/officeDocument/2006/relationships/slide" Target="slides/slide250.xml"/><Relationship Id="rId256" Type="http://schemas.openxmlformats.org/officeDocument/2006/relationships/slide" Target="slides/slide251.xml"/><Relationship Id="rId257" Type="http://schemas.openxmlformats.org/officeDocument/2006/relationships/slide" Target="slides/slide252.xml"/><Relationship Id="rId258" Type="http://schemas.openxmlformats.org/officeDocument/2006/relationships/slide" Target="slides/slide253.xml"/><Relationship Id="rId259" Type="http://schemas.openxmlformats.org/officeDocument/2006/relationships/slide" Target="slides/slide254.xml"/><Relationship Id="rId260" Type="http://schemas.openxmlformats.org/officeDocument/2006/relationships/slide" Target="slides/slide255.xml"/><Relationship Id="rId261" Type="http://schemas.openxmlformats.org/officeDocument/2006/relationships/slide" Target="slides/slide256.xml"/><Relationship Id="rId262" Type="http://schemas.openxmlformats.org/officeDocument/2006/relationships/slide" Target="slides/slide257.xml"/><Relationship Id="rId263" Type="http://schemas.openxmlformats.org/officeDocument/2006/relationships/slide" Target="slides/slide258.xml"/><Relationship Id="rId264" Type="http://schemas.openxmlformats.org/officeDocument/2006/relationships/slide" Target="slides/slide259.xml"/><Relationship Id="rId265" Type="http://schemas.openxmlformats.org/officeDocument/2006/relationships/slide" Target="slides/slide260.xml"/><Relationship Id="rId266" Type="http://schemas.openxmlformats.org/officeDocument/2006/relationships/slide" Target="slides/slide261.xml"/><Relationship Id="rId267" Type="http://schemas.openxmlformats.org/officeDocument/2006/relationships/slide" Target="slides/slide262.xml"/><Relationship Id="rId268" Type="http://schemas.openxmlformats.org/officeDocument/2006/relationships/slide" Target="slides/slide263.xml"/><Relationship Id="rId269" Type="http://schemas.openxmlformats.org/officeDocument/2006/relationships/slide" Target="slides/slide264.xml"/><Relationship Id="rId270" Type="http://schemas.openxmlformats.org/officeDocument/2006/relationships/slide" Target="slides/slide265.xml"/><Relationship Id="rId271" Type="http://schemas.openxmlformats.org/officeDocument/2006/relationships/slide" Target="slides/slide266.xml"/><Relationship Id="rId272" Type="http://schemas.openxmlformats.org/officeDocument/2006/relationships/slide" Target="slides/slide267.xml"/><Relationship Id="rId273" Type="http://schemas.openxmlformats.org/officeDocument/2006/relationships/slide" Target="slides/slide268.xml"/><Relationship Id="rId274" Type="http://schemas.openxmlformats.org/officeDocument/2006/relationships/slide" Target="slides/slide269.xml"/><Relationship Id="rId275" Type="http://schemas.openxmlformats.org/officeDocument/2006/relationships/slide" Target="slides/slide270.xml"/><Relationship Id="rId276" Type="http://schemas.openxmlformats.org/officeDocument/2006/relationships/slide" Target="slides/slide271.xml"/><Relationship Id="rId277" Type="http://schemas.openxmlformats.org/officeDocument/2006/relationships/slide" Target="slides/slide272.xml"/><Relationship Id="rId278" Type="http://schemas.openxmlformats.org/officeDocument/2006/relationships/slide" Target="slides/slide273.xml"/><Relationship Id="rId279" Type="http://schemas.openxmlformats.org/officeDocument/2006/relationships/slide" Target="slides/slide274.xml"/><Relationship Id="rId280" Type="http://schemas.openxmlformats.org/officeDocument/2006/relationships/slide" Target="slides/slide275.xml"/><Relationship Id="rId281" Type="http://schemas.openxmlformats.org/officeDocument/2006/relationships/slide" Target="slides/slide276.xml"/><Relationship Id="rId282" Type="http://schemas.openxmlformats.org/officeDocument/2006/relationships/slide" Target="slides/slide277.xml"/><Relationship Id="rId283" Type="http://schemas.openxmlformats.org/officeDocument/2006/relationships/slide" Target="slides/slide278.xml"/><Relationship Id="rId284" Type="http://schemas.openxmlformats.org/officeDocument/2006/relationships/slide" Target="slides/slide279.xml"/><Relationship Id="rId285" Type="http://schemas.openxmlformats.org/officeDocument/2006/relationships/slide" Target="slides/slide280.xml"/><Relationship Id="rId286" Type="http://schemas.openxmlformats.org/officeDocument/2006/relationships/slide" Target="slides/slide281.xml"/><Relationship Id="rId287" Type="http://schemas.openxmlformats.org/officeDocument/2006/relationships/slide" Target="slides/slide282.xml"/><Relationship Id="rId288" Type="http://schemas.openxmlformats.org/officeDocument/2006/relationships/slide" Target="slides/slide283.xml"/><Relationship Id="rId289" Type="http://schemas.openxmlformats.org/officeDocument/2006/relationships/slide" Target="slides/slide284.xml"/><Relationship Id="rId290" Type="http://schemas.openxmlformats.org/officeDocument/2006/relationships/slide" Target="slides/slide285.xml"/><Relationship Id="rId291" Type="http://schemas.openxmlformats.org/officeDocument/2006/relationships/slide" Target="slides/slide286.xml"/><Relationship Id="rId292" Type="http://schemas.openxmlformats.org/officeDocument/2006/relationships/slide" Target="slides/slide287.xml"/><Relationship Id="rId293" Type="http://schemas.openxmlformats.org/officeDocument/2006/relationships/slide" Target="slides/slide288.xml"/><Relationship Id="rId294" Type="http://schemas.openxmlformats.org/officeDocument/2006/relationships/slide" Target="slides/slide289.xml"/><Relationship Id="rId295" Type="http://schemas.openxmlformats.org/officeDocument/2006/relationships/slide" Target="slides/slide290.xml"/><Relationship Id="rId296" Type="http://schemas.openxmlformats.org/officeDocument/2006/relationships/slide" Target="slides/slide291.xml"/><Relationship Id="rId297" Type="http://schemas.openxmlformats.org/officeDocument/2006/relationships/slide" Target="slides/slide292.xml"/><Relationship Id="rId298" Type="http://schemas.openxmlformats.org/officeDocument/2006/relationships/slide" Target="slides/slide293.xml"/><Relationship Id="rId299" Type="http://schemas.openxmlformats.org/officeDocument/2006/relationships/slide" Target="slides/slide294.xml"/><Relationship Id="rId300" Type="http://schemas.openxmlformats.org/officeDocument/2006/relationships/slide" Target="slides/slide295.xml"/><Relationship Id="rId301" Type="http://schemas.openxmlformats.org/officeDocument/2006/relationships/slide" Target="slides/slide296.xml"/><Relationship Id="rId302" Type="http://schemas.openxmlformats.org/officeDocument/2006/relationships/slide" Target="slides/slide297.xml"/><Relationship Id="rId303" Type="http://schemas.openxmlformats.org/officeDocument/2006/relationships/slide" Target="slides/slide298.xml"/><Relationship Id="rId304" Type="http://schemas.openxmlformats.org/officeDocument/2006/relationships/slide" Target="slides/slide299.xml"/><Relationship Id="rId305" Type="http://schemas.openxmlformats.org/officeDocument/2006/relationships/slide" Target="slides/slide300.xml"/><Relationship Id="rId306" Type="http://schemas.openxmlformats.org/officeDocument/2006/relationships/slide" Target="slides/slide301.xml"/><Relationship Id="rId307" Type="http://schemas.openxmlformats.org/officeDocument/2006/relationships/slide" Target="slides/slide302.xml"/><Relationship Id="rId308" Type="http://schemas.openxmlformats.org/officeDocument/2006/relationships/slide" Target="slides/slide303.xml"/><Relationship Id="rId309" Type="http://schemas.openxmlformats.org/officeDocument/2006/relationships/slide" Target="slides/slide304.xml"/><Relationship Id="rId310" Type="http://schemas.openxmlformats.org/officeDocument/2006/relationships/slide" Target="slides/slide305.xml"/><Relationship Id="rId311" Type="http://schemas.openxmlformats.org/officeDocument/2006/relationships/slide" Target="slides/slide306.xml"/><Relationship Id="rId312" Type="http://schemas.openxmlformats.org/officeDocument/2006/relationships/slide" Target="slides/slide307.xml"/><Relationship Id="rId313" Type="http://schemas.openxmlformats.org/officeDocument/2006/relationships/slide" Target="slides/slide308.xml"/><Relationship Id="rId314" Type="http://schemas.openxmlformats.org/officeDocument/2006/relationships/slide" Target="slides/slide309.xml"/><Relationship Id="rId315" Type="http://schemas.openxmlformats.org/officeDocument/2006/relationships/slide" Target="slides/slide310.xml"/><Relationship Id="rId316" Type="http://schemas.openxmlformats.org/officeDocument/2006/relationships/slide" Target="slides/slide311.xml"/><Relationship Id="rId317" Type="http://schemas.openxmlformats.org/officeDocument/2006/relationships/slide" Target="slides/slide312.xml"/><Relationship Id="rId318" Type="http://schemas.openxmlformats.org/officeDocument/2006/relationships/slide" Target="slides/slide313.xml"/><Relationship Id="rId319" Type="http://schemas.openxmlformats.org/officeDocument/2006/relationships/slide" Target="slides/slide314.xml"/><Relationship Id="rId320" Type="http://schemas.openxmlformats.org/officeDocument/2006/relationships/slide" Target="slides/slide315.xml"/><Relationship Id="rId321" Type="http://schemas.openxmlformats.org/officeDocument/2006/relationships/slide" Target="slides/slide316.xml"/><Relationship Id="rId322" Type="http://schemas.openxmlformats.org/officeDocument/2006/relationships/slide" Target="slides/slide317.xml"/><Relationship Id="rId323" Type="http://schemas.openxmlformats.org/officeDocument/2006/relationships/slide" Target="slides/slide318.xml"/><Relationship Id="rId324" Type="http://schemas.openxmlformats.org/officeDocument/2006/relationships/slide" Target="slides/slide319.xml"/><Relationship Id="rId325" Type="http://schemas.openxmlformats.org/officeDocument/2006/relationships/slide" Target="slides/slide320.xml"/><Relationship Id="rId326" Type="http://schemas.openxmlformats.org/officeDocument/2006/relationships/slide" Target="slides/slide321.xml"/><Relationship Id="rId327" Type="http://schemas.openxmlformats.org/officeDocument/2006/relationships/slide" Target="slides/slide322.xml"/><Relationship Id="rId328" Type="http://schemas.openxmlformats.org/officeDocument/2006/relationships/slide" Target="slides/slide323.xml"/><Relationship Id="rId329" Type="http://schemas.openxmlformats.org/officeDocument/2006/relationships/slide" Target="slides/slide324.xml"/><Relationship Id="rId330" Type="http://schemas.openxmlformats.org/officeDocument/2006/relationships/slide" Target="slides/slide325.xml"/><Relationship Id="rId331" Type="http://schemas.openxmlformats.org/officeDocument/2006/relationships/slide" Target="slides/slide326.xml"/><Relationship Id="rId332" Type="http://schemas.openxmlformats.org/officeDocument/2006/relationships/slide" Target="slides/slide327.xml"/><Relationship Id="rId333" Type="http://schemas.openxmlformats.org/officeDocument/2006/relationships/slide" Target="slides/slide3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idx="2" sz="half"/>
          </p:nvPr>
        </p:nvSpPr>
        <p:spPr>
          <a:xfrm>
            <a:off x="388620" y="2313432"/>
            <a:ext cx="3380994" cy="6638544"/>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002786" y="2313432"/>
            <a:ext cx="3380994" cy="6638544"/>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idx="5" sz="quarter"/>
          </p:nvPr>
        </p:nvSpPr>
        <p:spPr/>
        <p:txBody>
          <a:bodyPr lIns="0" tIns="0" rIns="0" bIns="0"/>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2635264" y="9259533"/>
            <a:ext cx="2341245" cy="182879"/>
          </a:xfrm>
          <a:prstGeom prst="rect">
            <a:avLst/>
          </a:prstGeom>
        </p:spPr>
        <p:txBody>
          <a:bodyPr wrap="square" lIns="0" tIns="0" rIns="0" bIns="0">
            <a:spAutoFit/>
          </a:bodyPr>
          <a:lstStyle>
            <a:lvl1pPr>
              <a:defRPr sz="1100" b="0" i="0">
                <a:solidFill>
                  <a:schemeClr val="tx1"/>
                </a:solidFill>
                <a:latin typeface="Times New Roman"/>
                <a:cs typeface="Times New Roman"/>
              </a:defRPr>
            </a:lvl1p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5" name="Holder 5"/>
          <p:cNvSpPr>
            <a:spLocks noGrp="1"/>
          </p:cNvSpPr>
          <p:nvPr>
            <p:ph type="dt" idx="6" sz="half"/>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607307" y="9275125"/>
            <a:ext cx="288925" cy="165100"/>
          </a:xfrm>
          <a:prstGeom prst="rect">
            <a:avLst/>
          </a:prstGeom>
        </p:spPr>
        <p:txBody>
          <a:bodyPr wrap="square" lIns="0" tIns="0" rIns="0" bIns="0">
            <a:spAutoFit/>
          </a:bodyPr>
          <a:lstStyle>
            <a:lvl1pPr>
              <a:defRPr sz="1100" b="0" i="0">
                <a:solidFill>
                  <a:schemeClr val="tx1"/>
                </a:solidFill>
                <a:latin typeface="Carlito"/>
                <a:cs typeface="Carlito"/>
              </a:defRPr>
            </a:lvl1pPr>
          </a:lstStyle>
          <a:p>
            <a:pPr marL="38100">
              <a:lnSpc>
                <a:spcPts val="1145"/>
              </a:lnSpc>
            </a:pPr>
            <a:fld id="{81D60167-4931-47E6-BA6A-407CBD079E47}" type="slidenum">
              <a:rPr dirty="0" spc="-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jpg"/><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jpg"/><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jpg"/><Relationship Id="rId3"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jpg"/><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jpg"/><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jpg"/><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7.png"/><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65.png"/><Relationship Id="rId13"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7.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8.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9.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2.png"/><Relationship Id="rId3"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9.png"/><Relationship Id="rId3" Type="http://schemas.openxmlformats.org/officeDocument/2006/relationships/image" Target="../media/image8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2.jpg"/><Relationship Id="rId3" Type="http://schemas.openxmlformats.org/officeDocument/2006/relationships/image" Target="../media/image8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4.jpg"/><Relationship Id="rId3" Type="http://schemas.openxmlformats.org/officeDocument/2006/relationships/image" Target="../media/image85.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6.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7.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8.jpg"/><Relationship Id="rId3" Type="http://schemas.openxmlformats.org/officeDocument/2006/relationships/image" Target="../media/image89.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2.jpg"/><Relationship Id="rId3" Type="http://schemas.openxmlformats.org/officeDocument/2006/relationships/image" Target="../media/image93.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4.jpg"/><Relationship Id="rId3" Type="http://schemas.openxmlformats.org/officeDocument/2006/relationships/image" Target="../media/image95.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6.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7.jpg"/><Relationship Id="rId3" Type="http://schemas.openxmlformats.org/officeDocument/2006/relationships/image" Target="../media/image98.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9.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0.jpg"/><Relationship Id="rId3" Type="http://schemas.openxmlformats.org/officeDocument/2006/relationships/image" Target="../media/image10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0.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3.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4.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5.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6.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7.png"/><Relationship Id="rId3" Type="http://schemas.openxmlformats.org/officeDocument/2006/relationships/image" Target="../media/image108.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9.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9.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0.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3.jpg"/><Relationship Id="rId3" Type="http://schemas.openxmlformats.org/officeDocument/2006/relationships/image" Target="../media/image124.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5.jpg"/><Relationship Id="rId3" Type="http://schemas.openxmlformats.org/officeDocument/2006/relationships/image" Target="../media/image126.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7.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8.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0.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40.png"/><Relationship Id="rId11" Type="http://schemas.openxmlformats.org/officeDocument/2006/relationships/image" Target="../media/image141.png"/><Relationship Id="rId12" Type="http://schemas.openxmlformats.org/officeDocument/2006/relationships/image" Target="../media/image14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3.png"/><Relationship Id="rId3" Type="http://schemas.openxmlformats.org/officeDocument/2006/relationships/image" Target="../media/image144.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image" Target="../media/image149.png"/><Relationship Id="rId7" Type="http://schemas.openxmlformats.org/officeDocument/2006/relationships/image" Target="../media/image150.png"/><Relationship Id="rId8" Type="http://schemas.openxmlformats.org/officeDocument/2006/relationships/image" Target="../media/image151.png"/><Relationship Id="rId9" Type="http://schemas.openxmlformats.org/officeDocument/2006/relationships/image" Target="../media/image152.png"/><Relationship Id="rId10" Type="http://schemas.openxmlformats.org/officeDocument/2006/relationships/image" Target="../media/image15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image" Target="../media/image158.png"/><Relationship Id="rId7" Type="http://schemas.openxmlformats.org/officeDocument/2006/relationships/image" Target="../media/image159.png"/><Relationship Id="rId8" Type="http://schemas.openxmlformats.org/officeDocument/2006/relationships/image" Target="../media/image160.png"/><Relationship Id="rId9" Type="http://schemas.openxmlformats.org/officeDocument/2006/relationships/image" Target="../media/image161.png"/><Relationship Id="rId10" Type="http://schemas.openxmlformats.org/officeDocument/2006/relationships/image" Target="../media/image68.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67.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8.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9.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0.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2.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3.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4.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5.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6.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7.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8.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9.jp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0.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1.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2.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3.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4.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5.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6.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7.png"/><Relationship Id="rId3" Type="http://schemas.openxmlformats.org/officeDocument/2006/relationships/image" Target="../media/image188.png"/><Relationship Id="rId4" Type="http://schemas.openxmlformats.org/officeDocument/2006/relationships/image" Target="../media/image189.png"/><Relationship Id="rId5" Type="http://schemas.openxmlformats.org/officeDocument/2006/relationships/image" Target="../media/image190.png"/><Relationship Id="rId6" Type="http://schemas.openxmlformats.org/officeDocument/2006/relationships/image" Target="../media/image19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6.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7.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8.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9.jpg"/><Relationship Id="rId3" Type="http://schemas.openxmlformats.org/officeDocument/2006/relationships/image" Target="../media/image200.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2.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3.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4.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5.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6.jp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7.jp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8.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9.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0.jp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1.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2.jp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3.jp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4.jp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5.jp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6.jp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image" Target="../media/image219.png"/><Relationship Id="rId5" Type="http://schemas.openxmlformats.org/officeDocument/2006/relationships/image" Target="../media/image220.png"/><Relationship Id="rId6" Type="http://schemas.openxmlformats.org/officeDocument/2006/relationships/image" Target="../media/image22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2.jp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3.jp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4.jp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5.png"/><Relationship Id="rId3" Type="http://schemas.openxmlformats.org/officeDocument/2006/relationships/image" Target="../media/image226.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7.jp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8.jp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9.jp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0.jp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1.jp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2.png"/><Relationship Id="rId3" Type="http://schemas.openxmlformats.org/officeDocument/2006/relationships/image" Target="../media/image233.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4.jp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5.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6.jp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7.jp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8.jpg"/><Relationship Id="rId3" Type="http://schemas.openxmlformats.org/officeDocument/2006/relationships/image" Target="../media/image239.jp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0.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1.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2.jp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30303" y="1051813"/>
            <a:ext cx="66230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No.</a:t>
            </a:r>
            <a:endParaRPr sz="1100">
              <a:latin typeface="Times New Roman"/>
              <a:cs typeface="Times New Roman"/>
            </a:endParaRPr>
          </a:p>
        </p:txBody>
      </p:sp>
      <p:sp>
        <p:nvSpPr>
          <p:cNvPr id="3" name="object 3"/>
          <p:cNvSpPr/>
          <p:nvPr/>
        </p:nvSpPr>
        <p:spPr>
          <a:xfrm>
            <a:off x="1143000" y="1219200"/>
            <a:ext cx="5293995" cy="6985"/>
          </a:xfrm>
          <a:custGeom>
            <a:avLst/>
            <a:gdLst/>
            <a:ahLst/>
            <a:cxnLst/>
            <a:rect l="l" t="t" r="r" b="b"/>
            <a:pathLst>
              <a:path w="5293995" h="6984">
                <a:moveTo>
                  <a:pt x="5293614" y="0"/>
                </a:moveTo>
                <a:lnTo>
                  <a:pt x="0" y="0"/>
                </a:lnTo>
                <a:lnTo>
                  <a:pt x="0" y="6857"/>
                </a:lnTo>
                <a:lnTo>
                  <a:pt x="5293614" y="6857"/>
                </a:lnTo>
                <a:lnTo>
                  <a:pt x="5293614" y="0"/>
                </a:lnTo>
                <a:close/>
              </a:path>
            </a:pathLst>
          </a:custGeom>
          <a:solidFill>
            <a:srgbClr val="000000"/>
          </a:solidFill>
        </p:spPr>
        <p:txBody>
          <a:bodyPr wrap="square" lIns="0" tIns="0" rIns="0" bIns="0" rtlCol="0"/>
          <a:lstStyle/>
          <a:p/>
        </p:txBody>
      </p:sp>
      <p:sp>
        <p:nvSpPr>
          <p:cNvPr id="4" name="object 4"/>
          <p:cNvSpPr txBox="1"/>
          <p:nvPr/>
        </p:nvSpPr>
        <p:spPr>
          <a:xfrm>
            <a:off x="2043943" y="891032"/>
            <a:ext cx="4436745" cy="8225155"/>
          </a:xfrm>
          <a:prstGeom prst="rect">
            <a:avLst/>
          </a:prstGeom>
        </p:spPr>
        <p:txBody>
          <a:bodyPr wrap="square" lIns="0" tIns="12065" rIns="0" bIns="0" rtlCol="0" vert="horz">
            <a:spAutoFit/>
          </a:bodyPr>
          <a:lstStyle/>
          <a:p>
            <a:pPr marL="600075">
              <a:lnSpc>
                <a:spcPts val="1295"/>
              </a:lnSpc>
              <a:spcBef>
                <a:spcPts val="95"/>
              </a:spcBef>
            </a:pPr>
            <a:r>
              <a:rPr dirty="0" sz="1100" spc="-5">
                <a:latin typeface="Times New Roman"/>
                <a:cs typeface="Times New Roman"/>
              </a:rPr>
              <a:t>ECO501 –DEVELOPMENT</a:t>
            </a:r>
            <a:r>
              <a:rPr dirty="0" sz="1100">
                <a:latin typeface="Times New Roman"/>
                <a:cs typeface="Times New Roman"/>
              </a:rPr>
              <a:t> </a:t>
            </a:r>
            <a:r>
              <a:rPr dirty="0" sz="1100" spc="-5">
                <a:latin typeface="Times New Roman"/>
                <a:cs typeface="Times New Roman"/>
              </a:rPr>
              <a:t>ECONOMICS</a:t>
            </a:r>
            <a:endParaRPr sz="1100">
              <a:latin typeface="Times New Roman"/>
              <a:cs typeface="Times New Roman"/>
            </a:endParaRPr>
          </a:p>
          <a:p>
            <a:pPr marL="1384935">
              <a:lnSpc>
                <a:spcPts val="1295"/>
              </a:lnSpc>
              <a:tabLst>
                <a:tab pos="3881754" algn="l"/>
              </a:tabLst>
            </a:pPr>
            <a:r>
              <a:rPr dirty="0" sz="1100" spc="-5">
                <a:latin typeface="Times New Roman"/>
                <a:cs typeface="Times New Roman"/>
              </a:rPr>
              <a:t>Topics	Page</a:t>
            </a:r>
            <a:r>
              <a:rPr dirty="0" sz="1100" spc="-75">
                <a:latin typeface="Times New Roman"/>
                <a:cs typeface="Times New Roman"/>
              </a:rPr>
              <a:t> </a:t>
            </a:r>
            <a:r>
              <a:rPr dirty="0" sz="1100" spc="-5">
                <a:latin typeface="Times New Roman"/>
                <a:cs typeface="Times New Roman"/>
              </a:rPr>
              <a:t>No.</a:t>
            </a:r>
            <a:endParaRPr sz="1100">
              <a:latin typeface="Times New Roman"/>
              <a:cs typeface="Times New Roman"/>
            </a:endParaRPr>
          </a:p>
          <a:p>
            <a:pPr>
              <a:lnSpc>
                <a:spcPct val="100000"/>
              </a:lnSpc>
              <a:spcBef>
                <a:spcPts val="55"/>
              </a:spcBef>
            </a:pPr>
            <a:endParaRPr sz="1050">
              <a:latin typeface="Times New Roman"/>
              <a:cs typeface="Times New Roman"/>
            </a:endParaRPr>
          </a:p>
          <a:p>
            <a:pPr marL="12700" marR="5080" indent="1270">
              <a:lnSpc>
                <a:spcPct val="95800"/>
              </a:lnSpc>
            </a:pPr>
            <a:r>
              <a:rPr dirty="0" sz="1100" spc="-5">
                <a:latin typeface="Times New Roman"/>
                <a:cs typeface="Times New Roman"/>
              </a:rPr>
              <a:t>Introducing Economic Development: A Global Perspective……………...01  Comparative Economic Development …………………………………… 10  Comparative Economic Development (Continued)……………………….20  Classic Theories of Economic Growth and Development………………...30  Classic Theories of Economic Growth and Development (Continued1)….35  Classic Theories of Economic Growth and Development (Continued2)….41  Poverty, Inequality and Economic Development………………………….50  Poverty, Inequality and Economic Development (Continued1)…………...57  Poverty, Inequality and Economic Development (Continued2)…………...63  Population Growth and Economic Development: Causes, Consequences and  Controversies………………………………………………………………71  Population Growth and Economic Development: Causes, Consequences and  Controversies (Continued1)………………………………………………..78  Population Growth and Economic Development: Causes, Consequences and  Controversies (Continued2)………………………………………………..84  Population Growth and Economic Development: Causes, Consequences and  Controversies (Continued3)………………………………………………..90  Human Capital: Education and Health in Economic Development………..95  Human Capital: Education and Health in Economic Development  (Continued1)………………………………………………………………..99  Human Capital: Education and Health in Economic Development  (Continued2)……………………………………………………………….107  Human Capital: Education and Health in Economic Development  (Continued3)……………………………………………………………….113  Exogenous and Endogenous Growth Theory……………………………...122  Production Function Approach to the Analysis of Growth………………..129  Contemporary Models of Development and Underdevelopment………….134  Contemporary Models of Development and Underdevelopment  (Continued)………………………………………………………………...144  Urbanization and Rural Urban Migration: Theory and Policy…………….151  Urbanization and Rural Urban Migration: Theory and Policy  (Continued1)……………………………………………………………….158  Urbanization and Rural Urban Migration: Theory and Policy  (Continued2)……………………………………………………………….166  Agricultural Transformation and Rural Development……………………..173  Agricultural Transformation and Rural Development (Continued1)………179  Agricultural Transformation and Rural Development (Continued2)………184  Agricultural Transformation and Rural Development (Continued3)………192  The Environment and Economic Development…………………………….199  The Environment and Economic Development (Continued1)……………...204  The Environment and Economic Development (Continued2)……………...210  The Environment and Economic Development (Continued3)……………...216  The Environment and Economic Development (Continued4)……………...223  International Trade Theory and Development Strategy…………………….228  International Trade Theory and Development Strategy (Continued1)……...234  International Trade Theory and Development Strategy (Continued2)……...241  International Trade Theory and Development Strategy (Continued3)……...249  International Trade Theory and Development Strategy</a:t>
            </a:r>
            <a:r>
              <a:rPr dirty="0" sz="1100" spc="155">
                <a:latin typeface="Times New Roman"/>
                <a:cs typeface="Times New Roman"/>
              </a:rPr>
              <a:t> </a:t>
            </a:r>
            <a:r>
              <a:rPr dirty="0" sz="1100" spc="-5">
                <a:latin typeface="Times New Roman"/>
                <a:cs typeface="Times New Roman"/>
              </a:rPr>
              <a:t>(Continued4)...……255</a:t>
            </a:r>
            <a:endParaRPr sz="1100">
              <a:latin typeface="Times New Roman"/>
              <a:cs typeface="Times New Roman"/>
            </a:endParaRPr>
          </a:p>
        </p:txBody>
      </p:sp>
      <p:sp>
        <p:nvSpPr>
          <p:cNvPr id="5" name="object 5"/>
          <p:cNvSpPr txBox="1"/>
          <p:nvPr/>
        </p:nvSpPr>
        <p:spPr>
          <a:xfrm>
            <a:off x="1130300" y="1372610"/>
            <a:ext cx="596900" cy="1639570"/>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01</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02</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03</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04</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05</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06</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07</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08</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09</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10</a:t>
            </a:r>
            <a:endParaRPr sz="1100">
              <a:latin typeface="Times New Roman"/>
              <a:cs typeface="Times New Roman"/>
            </a:endParaRPr>
          </a:p>
        </p:txBody>
      </p:sp>
      <p:sp>
        <p:nvSpPr>
          <p:cNvPr id="6" name="object 6"/>
          <p:cNvSpPr txBox="1"/>
          <p:nvPr/>
        </p:nvSpPr>
        <p:spPr>
          <a:xfrm>
            <a:off x="1130300" y="3139670"/>
            <a:ext cx="5969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11</a:t>
            </a:r>
            <a:endParaRPr sz="1100">
              <a:latin typeface="Times New Roman"/>
              <a:cs typeface="Times New Roman"/>
            </a:endParaRPr>
          </a:p>
        </p:txBody>
      </p:sp>
      <p:sp>
        <p:nvSpPr>
          <p:cNvPr id="7" name="object 7"/>
          <p:cNvSpPr txBox="1"/>
          <p:nvPr/>
        </p:nvSpPr>
        <p:spPr>
          <a:xfrm>
            <a:off x="1130300" y="3461232"/>
            <a:ext cx="5969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12</a:t>
            </a:r>
            <a:endParaRPr sz="1100">
              <a:latin typeface="Times New Roman"/>
              <a:cs typeface="Times New Roman"/>
            </a:endParaRPr>
          </a:p>
        </p:txBody>
      </p:sp>
      <p:sp>
        <p:nvSpPr>
          <p:cNvPr id="8" name="object 8"/>
          <p:cNvSpPr txBox="1"/>
          <p:nvPr/>
        </p:nvSpPr>
        <p:spPr>
          <a:xfrm>
            <a:off x="1130300" y="3782794"/>
            <a:ext cx="5969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13</a:t>
            </a:r>
            <a:endParaRPr sz="1100">
              <a:latin typeface="Times New Roman"/>
              <a:cs typeface="Times New Roman"/>
            </a:endParaRPr>
          </a:p>
        </p:txBody>
      </p:sp>
      <p:sp>
        <p:nvSpPr>
          <p:cNvPr id="9" name="object 9"/>
          <p:cNvSpPr txBox="1"/>
          <p:nvPr/>
        </p:nvSpPr>
        <p:spPr>
          <a:xfrm>
            <a:off x="1130300" y="4103590"/>
            <a:ext cx="596900" cy="353695"/>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14</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15</a:t>
            </a:r>
            <a:endParaRPr sz="1100">
              <a:latin typeface="Times New Roman"/>
              <a:cs typeface="Times New Roman"/>
            </a:endParaRPr>
          </a:p>
        </p:txBody>
      </p:sp>
      <p:sp>
        <p:nvSpPr>
          <p:cNvPr id="10" name="object 10"/>
          <p:cNvSpPr txBox="1"/>
          <p:nvPr/>
        </p:nvSpPr>
        <p:spPr>
          <a:xfrm>
            <a:off x="1130300" y="4585934"/>
            <a:ext cx="5969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16</a:t>
            </a:r>
            <a:endParaRPr sz="1100">
              <a:latin typeface="Times New Roman"/>
              <a:cs typeface="Times New Roman"/>
            </a:endParaRPr>
          </a:p>
        </p:txBody>
      </p:sp>
      <p:sp>
        <p:nvSpPr>
          <p:cNvPr id="11" name="object 11"/>
          <p:cNvSpPr txBox="1"/>
          <p:nvPr/>
        </p:nvSpPr>
        <p:spPr>
          <a:xfrm>
            <a:off x="1130300" y="4906729"/>
            <a:ext cx="5969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17</a:t>
            </a:r>
            <a:endParaRPr sz="1100">
              <a:latin typeface="Times New Roman"/>
              <a:cs typeface="Times New Roman"/>
            </a:endParaRPr>
          </a:p>
        </p:txBody>
      </p:sp>
      <p:sp>
        <p:nvSpPr>
          <p:cNvPr id="12" name="object 12"/>
          <p:cNvSpPr txBox="1"/>
          <p:nvPr/>
        </p:nvSpPr>
        <p:spPr>
          <a:xfrm>
            <a:off x="1130300" y="5228292"/>
            <a:ext cx="596900" cy="674370"/>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18</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19</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20</a:t>
            </a:r>
            <a:endParaRPr sz="1100">
              <a:latin typeface="Times New Roman"/>
              <a:cs typeface="Times New Roman"/>
            </a:endParaRPr>
          </a:p>
          <a:p>
            <a:pPr marL="12700">
              <a:lnSpc>
                <a:spcPts val="1290"/>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21</a:t>
            </a:r>
            <a:endParaRPr sz="1100">
              <a:latin typeface="Times New Roman"/>
              <a:cs typeface="Times New Roman"/>
            </a:endParaRPr>
          </a:p>
        </p:txBody>
      </p:sp>
      <p:sp>
        <p:nvSpPr>
          <p:cNvPr id="13" name="object 13"/>
          <p:cNvSpPr txBox="1"/>
          <p:nvPr/>
        </p:nvSpPr>
        <p:spPr>
          <a:xfrm>
            <a:off x="1130300" y="6031431"/>
            <a:ext cx="596265" cy="353695"/>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22</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23</a:t>
            </a:r>
            <a:endParaRPr sz="1100">
              <a:latin typeface="Times New Roman"/>
              <a:cs typeface="Times New Roman"/>
            </a:endParaRPr>
          </a:p>
        </p:txBody>
      </p:sp>
      <p:sp>
        <p:nvSpPr>
          <p:cNvPr id="14" name="object 14"/>
          <p:cNvSpPr txBox="1"/>
          <p:nvPr/>
        </p:nvSpPr>
        <p:spPr>
          <a:xfrm>
            <a:off x="1130300" y="6513775"/>
            <a:ext cx="59626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24</a:t>
            </a:r>
            <a:endParaRPr sz="1100">
              <a:latin typeface="Times New Roman"/>
              <a:cs typeface="Times New Roman"/>
            </a:endParaRPr>
          </a:p>
        </p:txBody>
      </p:sp>
      <p:sp>
        <p:nvSpPr>
          <p:cNvPr id="15" name="object 15"/>
          <p:cNvSpPr txBox="1"/>
          <p:nvPr/>
        </p:nvSpPr>
        <p:spPr>
          <a:xfrm>
            <a:off x="1130300" y="6834570"/>
            <a:ext cx="596900" cy="2281555"/>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25</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26</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27</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28</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29</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30</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31</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32</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33</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34</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35</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36</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37</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38</a:t>
            </a:r>
            <a:endParaRPr sz="11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30300" y="891032"/>
            <a:ext cx="596265" cy="514350"/>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39</a:t>
            </a:r>
            <a:endParaRPr sz="1100">
              <a:latin typeface="Times New Roman"/>
              <a:cs typeface="Times New Roman"/>
            </a:endParaRPr>
          </a:p>
          <a:p>
            <a:pPr marL="12700">
              <a:lnSpc>
                <a:spcPts val="126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40</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41</a:t>
            </a:r>
            <a:endParaRPr sz="1100">
              <a:latin typeface="Times New Roman"/>
              <a:cs typeface="Times New Roman"/>
            </a:endParaRPr>
          </a:p>
        </p:txBody>
      </p:sp>
      <p:sp>
        <p:nvSpPr>
          <p:cNvPr id="3" name="object 3"/>
          <p:cNvSpPr txBox="1"/>
          <p:nvPr/>
        </p:nvSpPr>
        <p:spPr>
          <a:xfrm>
            <a:off x="2044612" y="891032"/>
            <a:ext cx="4382135" cy="1638300"/>
          </a:xfrm>
          <a:prstGeom prst="rect">
            <a:avLst/>
          </a:prstGeom>
        </p:spPr>
        <p:txBody>
          <a:bodyPr wrap="square" lIns="0" tIns="19050" rIns="0" bIns="0" rtlCol="0" vert="horz">
            <a:spAutoFit/>
          </a:bodyPr>
          <a:lstStyle/>
          <a:p>
            <a:pPr marL="12700" marR="5080">
              <a:lnSpc>
                <a:spcPct val="95800"/>
              </a:lnSpc>
              <a:spcBef>
                <a:spcPts val="150"/>
              </a:spcBef>
            </a:pPr>
            <a:r>
              <a:rPr dirty="0" sz="1100" spc="-5">
                <a:latin typeface="Times New Roman"/>
                <a:cs typeface="Times New Roman"/>
              </a:rPr>
              <a:t>International Trade Theory and Development Strategy (Continued5) ……264  Balance of Payments, Debt, Financial Crises and Stabilization Policies….274  Balance of Payments, Debt, Financial Crises and Stabilization Policies  (Continued1)……………………………………………………………….281  Balance of Payments, Debt, Financial Crises and Stabilization Policies  (Continued2)……………………………………………………………….289  Foreign Finance, Investment, and Aid: Controversies and Opportunities…300  Foreign Finance, Investment, and Aid: Controversies and Opportunities  (Continued) ………………………………………………………………..311  Finance and Fiscal Policy for</a:t>
            </a:r>
            <a:r>
              <a:rPr dirty="0" sz="1100" spc="105">
                <a:latin typeface="Times New Roman"/>
                <a:cs typeface="Times New Roman"/>
              </a:rPr>
              <a:t> </a:t>
            </a:r>
            <a:r>
              <a:rPr dirty="0" sz="1100" spc="-5">
                <a:latin typeface="Times New Roman"/>
                <a:cs typeface="Times New Roman"/>
              </a:rPr>
              <a:t>Development……………………………….318</a:t>
            </a:r>
            <a:endParaRPr sz="1100">
              <a:latin typeface="Times New Roman"/>
              <a:cs typeface="Times New Roman"/>
            </a:endParaRPr>
          </a:p>
        </p:txBody>
      </p:sp>
      <p:sp>
        <p:nvSpPr>
          <p:cNvPr id="4" name="object 4"/>
          <p:cNvSpPr txBox="1"/>
          <p:nvPr/>
        </p:nvSpPr>
        <p:spPr>
          <a:xfrm>
            <a:off x="1130300" y="1533389"/>
            <a:ext cx="59626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42</a:t>
            </a:r>
            <a:endParaRPr sz="1100">
              <a:latin typeface="Times New Roman"/>
              <a:cs typeface="Times New Roman"/>
            </a:endParaRPr>
          </a:p>
        </p:txBody>
      </p:sp>
      <p:sp>
        <p:nvSpPr>
          <p:cNvPr id="5" name="object 5"/>
          <p:cNvSpPr txBox="1"/>
          <p:nvPr/>
        </p:nvSpPr>
        <p:spPr>
          <a:xfrm>
            <a:off x="1130300" y="1854952"/>
            <a:ext cx="596900" cy="353695"/>
          </a:xfrm>
          <a:prstGeom prst="rect">
            <a:avLst/>
          </a:prstGeom>
        </p:spPr>
        <p:txBody>
          <a:bodyPr wrap="square" lIns="0" tIns="12065" rIns="0" bIns="0" rtlCol="0" vert="horz">
            <a:spAutoFit/>
          </a:bodyPr>
          <a:lstStyle/>
          <a:p>
            <a:pPr marL="12700">
              <a:lnSpc>
                <a:spcPts val="1295"/>
              </a:lnSpc>
              <a:spcBef>
                <a:spcPts val="95"/>
              </a:spcBef>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43</a:t>
            </a:r>
            <a:endParaRPr sz="1100">
              <a:latin typeface="Times New Roman"/>
              <a:cs typeface="Times New Roman"/>
            </a:endParaRPr>
          </a:p>
          <a:p>
            <a:pPr marL="12700">
              <a:lnSpc>
                <a:spcPts val="1295"/>
              </a:lnSpc>
            </a:pPr>
            <a:r>
              <a:rPr dirty="0" sz="1100" spc="-5">
                <a:latin typeface="Times New Roman"/>
                <a:cs typeface="Times New Roman"/>
              </a:rPr>
              <a:t>Lesson</a:t>
            </a:r>
            <a:r>
              <a:rPr dirty="0" sz="1100" spc="-70">
                <a:latin typeface="Times New Roman"/>
                <a:cs typeface="Times New Roman"/>
              </a:rPr>
              <a:t> </a:t>
            </a:r>
            <a:r>
              <a:rPr dirty="0" sz="1100" spc="-5">
                <a:latin typeface="Times New Roman"/>
                <a:cs typeface="Times New Roman"/>
              </a:rPr>
              <a:t>44</a:t>
            </a:r>
            <a:endParaRPr sz="1100">
              <a:latin typeface="Times New Roman"/>
              <a:cs typeface="Times New Roman"/>
            </a:endParaRPr>
          </a:p>
        </p:txBody>
      </p:sp>
      <p:sp>
        <p:nvSpPr>
          <p:cNvPr id="6" name="object 6"/>
          <p:cNvSpPr txBox="1"/>
          <p:nvPr/>
        </p:nvSpPr>
        <p:spPr>
          <a:xfrm>
            <a:off x="1130300" y="2336529"/>
            <a:ext cx="59626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Times New Roman"/>
                <a:cs typeface="Times New Roman"/>
              </a:rPr>
              <a:t>Lesson</a:t>
            </a:r>
            <a:r>
              <a:rPr dirty="0" sz="1100" spc="-50">
                <a:latin typeface="Times New Roman"/>
                <a:cs typeface="Times New Roman"/>
              </a:rPr>
              <a:t> </a:t>
            </a:r>
            <a:r>
              <a:rPr dirty="0" sz="1100" spc="-5">
                <a:latin typeface="Times New Roman"/>
                <a:cs typeface="Times New Roman"/>
              </a:rPr>
              <a:t>45</a:t>
            </a:r>
            <a:endParaRPr sz="11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2" y="891794"/>
            <a:ext cx="5969635" cy="8239759"/>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01</a:t>
            </a:r>
            <a:endParaRPr sz="1100">
              <a:latin typeface="Arial"/>
              <a:cs typeface="Arial"/>
            </a:endParaRPr>
          </a:p>
          <a:p>
            <a:pPr marL="12700" marR="614680" indent="608330">
              <a:lnSpc>
                <a:spcPct val="191400"/>
              </a:lnSpc>
              <a:spcBef>
                <a:spcPts val="125"/>
              </a:spcBef>
            </a:pPr>
            <a:r>
              <a:rPr dirty="0" sz="1100" spc="-5" b="1">
                <a:latin typeface="Arial"/>
                <a:cs typeface="Arial"/>
              </a:rPr>
              <a:t>INTRODUCING ECONOMIC DEVELOPMENT: A GLOBAL PERSPECTIVE  WHAT IS DEVELOPMENT</a:t>
            </a:r>
            <a:r>
              <a:rPr dirty="0" sz="1100" spc="10" b="1">
                <a:latin typeface="Arial"/>
                <a:cs typeface="Arial"/>
              </a:rPr>
              <a:t> </a:t>
            </a:r>
            <a:r>
              <a:rPr dirty="0" sz="1100" spc="-5" b="1">
                <a:latin typeface="Arial"/>
                <a:cs typeface="Arial"/>
              </a:rPr>
              <a:t>ECONOMICS?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Development Economics is a branch of economics that focuses on improving the economies of  developing countries. Development economics considers how to promote economic growth in  such countries by improving factors like health, education, working conditions, domestic and  international policies and market conditions. It examines both macroeconomic and  microeconomic factors relating to the structure of a developing economy and how </a:t>
            </a:r>
            <a:r>
              <a:rPr dirty="0" sz="1100">
                <a:latin typeface="Arial"/>
                <a:cs typeface="Arial"/>
              </a:rPr>
              <a:t>that </a:t>
            </a:r>
            <a:r>
              <a:rPr dirty="0" sz="1100" spc="-5">
                <a:latin typeface="Arial"/>
                <a:cs typeface="Arial"/>
              </a:rPr>
              <a:t>economy  can create effective domestic and international</a:t>
            </a:r>
            <a:r>
              <a:rPr dirty="0" sz="1100" spc="25">
                <a:latin typeface="Arial"/>
                <a:cs typeface="Arial"/>
              </a:rPr>
              <a:t> </a:t>
            </a:r>
            <a:r>
              <a:rPr dirty="0" sz="1100" spc="-5">
                <a:latin typeface="Arial"/>
                <a:cs typeface="Arial"/>
              </a:rPr>
              <a:t>growth.</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KEY CONCEPTS IN ECONOMICS AND DEVELOPMENT</a:t>
            </a:r>
            <a:r>
              <a:rPr dirty="0" sz="1100" spc="35" b="1">
                <a:latin typeface="Arial"/>
                <a:cs typeface="Arial"/>
              </a:rPr>
              <a:t> </a:t>
            </a:r>
            <a:r>
              <a:rPr dirty="0" sz="1100" spc="-5" b="1">
                <a:latin typeface="Arial"/>
                <a:cs typeface="Arial"/>
              </a:rPr>
              <a:t>STUDIES</a:t>
            </a:r>
            <a:endParaRPr sz="1100">
              <a:latin typeface="Arial"/>
              <a:cs typeface="Arial"/>
            </a:endParaRPr>
          </a:p>
          <a:p>
            <a:pPr>
              <a:lnSpc>
                <a:spcPct val="100000"/>
              </a:lnSpc>
              <a:spcBef>
                <a:spcPts val="55"/>
              </a:spcBef>
            </a:pPr>
            <a:endParaRPr sz="1000">
              <a:latin typeface="Arial"/>
              <a:cs typeface="Arial"/>
            </a:endParaRPr>
          </a:p>
          <a:p>
            <a:pPr marL="12700">
              <a:lnSpc>
                <a:spcPts val="1290"/>
              </a:lnSpc>
            </a:pPr>
            <a:r>
              <a:rPr dirty="0" sz="1100" spc="-5" b="1">
                <a:latin typeface="Arial"/>
                <a:cs typeface="Arial"/>
              </a:rPr>
              <a:t>Absolute poverty:</a:t>
            </a:r>
            <a:endParaRPr sz="1100">
              <a:latin typeface="Arial"/>
              <a:cs typeface="Arial"/>
            </a:endParaRPr>
          </a:p>
          <a:p>
            <a:pPr marL="12700" marR="6350">
              <a:lnSpc>
                <a:spcPts val="1270"/>
              </a:lnSpc>
              <a:spcBef>
                <a:spcPts val="55"/>
              </a:spcBef>
            </a:pPr>
            <a:r>
              <a:rPr dirty="0" sz="1100" spc="-5">
                <a:latin typeface="Arial"/>
                <a:cs typeface="Arial"/>
              </a:rPr>
              <a:t>It is a situation of being unable to meet </a:t>
            </a:r>
            <a:r>
              <a:rPr dirty="0" sz="1100">
                <a:latin typeface="Arial"/>
                <a:cs typeface="Arial"/>
              </a:rPr>
              <a:t>the </a:t>
            </a:r>
            <a:r>
              <a:rPr dirty="0" sz="1100" spc="-5">
                <a:latin typeface="Arial"/>
                <a:cs typeface="Arial"/>
              </a:rPr>
              <a:t>minimum levels of income, </a:t>
            </a:r>
            <a:r>
              <a:rPr dirty="0" sz="1100">
                <a:latin typeface="Arial"/>
                <a:cs typeface="Arial"/>
              </a:rPr>
              <a:t>food, </a:t>
            </a:r>
            <a:r>
              <a:rPr dirty="0" sz="1100" spc="-5">
                <a:latin typeface="Arial"/>
                <a:cs typeface="Arial"/>
              </a:rPr>
              <a:t>clothing,  healthcare, shelter, and other</a:t>
            </a:r>
            <a:r>
              <a:rPr dirty="0" sz="1100" spc="5">
                <a:latin typeface="Arial"/>
                <a:cs typeface="Arial"/>
              </a:rPr>
              <a:t> </a:t>
            </a:r>
            <a:r>
              <a:rPr dirty="0" sz="1100" spc="-5">
                <a:latin typeface="Arial"/>
                <a:cs typeface="Arial"/>
              </a:rPr>
              <a:t>essentials.</a:t>
            </a:r>
            <a:endParaRPr sz="1100">
              <a:latin typeface="Arial"/>
              <a:cs typeface="Arial"/>
            </a:endParaRPr>
          </a:p>
          <a:p>
            <a:pPr>
              <a:lnSpc>
                <a:spcPct val="100000"/>
              </a:lnSpc>
              <a:spcBef>
                <a:spcPts val="30"/>
              </a:spcBef>
            </a:pPr>
            <a:endParaRPr sz="1000">
              <a:latin typeface="Arial"/>
              <a:cs typeface="Arial"/>
            </a:endParaRPr>
          </a:p>
          <a:p>
            <a:pPr marL="12700">
              <a:lnSpc>
                <a:spcPts val="1285"/>
              </a:lnSpc>
            </a:pPr>
            <a:r>
              <a:rPr dirty="0" sz="1100" spc="-5" b="1">
                <a:latin typeface="Arial"/>
                <a:cs typeface="Arial"/>
              </a:rPr>
              <a:t>Subsistence economy:</a:t>
            </a:r>
            <a:endParaRPr sz="1100">
              <a:latin typeface="Arial"/>
              <a:cs typeface="Arial"/>
            </a:endParaRPr>
          </a:p>
          <a:p>
            <a:pPr marL="12700" marR="6985">
              <a:lnSpc>
                <a:spcPts val="1270"/>
              </a:lnSpc>
              <a:spcBef>
                <a:spcPts val="50"/>
              </a:spcBef>
            </a:pPr>
            <a:r>
              <a:rPr dirty="0" sz="1100" spc="-5">
                <a:latin typeface="Arial"/>
                <a:cs typeface="Arial"/>
              </a:rPr>
              <a:t>An economy in which production is mainly for personal consumption and the standard of living  yields little more than basic necessities of life—food, shelter, and</a:t>
            </a:r>
            <a:r>
              <a:rPr dirty="0" sz="1100" spc="70">
                <a:latin typeface="Arial"/>
                <a:cs typeface="Arial"/>
              </a:rPr>
              <a:t> </a:t>
            </a:r>
            <a:r>
              <a:rPr dirty="0" sz="1100" spc="-5">
                <a:latin typeface="Arial"/>
                <a:cs typeface="Arial"/>
              </a:rPr>
              <a:t>clothing.</a:t>
            </a:r>
            <a:endParaRPr sz="1100">
              <a:latin typeface="Arial"/>
              <a:cs typeface="Arial"/>
            </a:endParaRPr>
          </a:p>
          <a:p>
            <a:pPr>
              <a:lnSpc>
                <a:spcPct val="100000"/>
              </a:lnSpc>
              <a:spcBef>
                <a:spcPts val="30"/>
              </a:spcBef>
            </a:pPr>
            <a:endParaRPr sz="1000">
              <a:latin typeface="Arial"/>
              <a:cs typeface="Arial"/>
            </a:endParaRPr>
          </a:p>
          <a:p>
            <a:pPr marL="12700">
              <a:lnSpc>
                <a:spcPts val="1290"/>
              </a:lnSpc>
            </a:pPr>
            <a:r>
              <a:rPr dirty="0" sz="1100" spc="-5" b="1">
                <a:latin typeface="Arial"/>
                <a:cs typeface="Arial"/>
              </a:rPr>
              <a:t>Development:</a:t>
            </a:r>
            <a:endParaRPr sz="1100">
              <a:latin typeface="Arial"/>
              <a:cs typeface="Arial"/>
            </a:endParaRPr>
          </a:p>
          <a:p>
            <a:pPr marL="12700" marR="6350">
              <a:lnSpc>
                <a:spcPts val="1270"/>
              </a:lnSpc>
              <a:spcBef>
                <a:spcPts val="55"/>
              </a:spcBef>
            </a:pPr>
            <a:r>
              <a:rPr dirty="0" sz="1100" spc="-5">
                <a:latin typeface="Arial"/>
                <a:cs typeface="Arial"/>
              </a:rPr>
              <a:t>It is the process of improving the quality of all human lives and capabilities by raising people’s  levels of living, self-esteem, and</a:t>
            </a:r>
            <a:r>
              <a:rPr dirty="0" sz="1100" spc="20">
                <a:latin typeface="Arial"/>
                <a:cs typeface="Arial"/>
              </a:rPr>
              <a:t> </a:t>
            </a:r>
            <a:r>
              <a:rPr dirty="0" sz="1100" spc="-5">
                <a:latin typeface="Arial"/>
                <a:cs typeface="Arial"/>
              </a:rPr>
              <a:t>freedom.</a:t>
            </a:r>
            <a:endParaRPr sz="1100">
              <a:latin typeface="Arial"/>
              <a:cs typeface="Arial"/>
            </a:endParaRPr>
          </a:p>
          <a:p>
            <a:pPr>
              <a:lnSpc>
                <a:spcPct val="100000"/>
              </a:lnSpc>
              <a:spcBef>
                <a:spcPts val="25"/>
              </a:spcBef>
            </a:pPr>
            <a:endParaRPr sz="1000">
              <a:latin typeface="Arial"/>
              <a:cs typeface="Arial"/>
            </a:endParaRPr>
          </a:p>
          <a:p>
            <a:pPr algn="just" marL="12700">
              <a:lnSpc>
                <a:spcPts val="1290"/>
              </a:lnSpc>
            </a:pPr>
            <a:r>
              <a:rPr dirty="0" sz="1100" spc="-5" b="1">
                <a:latin typeface="Arial"/>
                <a:cs typeface="Arial"/>
              </a:rPr>
              <a:t>Developing countries:</a:t>
            </a:r>
            <a:endParaRPr sz="1100">
              <a:latin typeface="Arial"/>
              <a:cs typeface="Arial"/>
            </a:endParaRPr>
          </a:p>
          <a:p>
            <a:pPr algn="just" marL="12700" marR="5715">
              <a:lnSpc>
                <a:spcPts val="1270"/>
              </a:lnSpc>
              <a:spcBef>
                <a:spcPts val="50"/>
              </a:spcBef>
            </a:pPr>
            <a:r>
              <a:rPr dirty="0" sz="1100" spc="-5">
                <a:latin typeface="Arial"/>
                <a:cs typeface="Arial"/>
              </a:rPr>
              <a:t>Countries of Asia, Africa, the Middle East, Latin America, Eastern Europe, and the former Soviet  Union, that are presently characterized by low levels of living and other development deficits.  Used in the development literature as a synonym for less developed</a:t>
            </a:r>
            <a:r>
              <a:rPr dirty="0" sz="1100" spc="85">
                <a:latin typeface="Arial"/>
                <a:cs typeface="Arial"/>
              </a:rPr>
              <a:t> </a:t>
            </a:r>
            <a:r>
              <a:rPr dirty="0" sz="1100" spc="-5">
                <a:latin typeface="Arial"/>
                <a:cs typeface="Arial"/>
              </a:rPr>
              <a:t>countries.</a:t>
            </a:r>
            <a:endParaRPr sz="1100">
              <a:latin typeface="Arial"/>
              <a:cs typeface="Arial"/>
            </a:endParaRPr>
          </a:p>
          <a:p>
            <a:pPr>
              <a:lnSpc>
                <a:spcPct val="100000"/>
              </a:lnSpc>
              <a:spcBef>
                <a:spcPts val="20"/>
              </a:spcBef>
            </a:pPr>
            <a:endParaRPr sz="1000">
              <a:latin typeface="Arial"/>
              <a:cs typeface="Arial"/>
            </a:endParaRPr>
          </a:p>
          <a:p>
            <a:pPr marL="12700">
              <a:lnSpc>
                <a:spcPct val="100000"/>
              </a:lnSpc>
              <a:spcBef>
                <a:spcPts val="5"/>
              </a:spcBef>
            </a:pPr>
            <a:r>
              <a:rPr dirty="0" sz="1100" spc="-5" b="1">
                <a:latin typeface="Arial"/>
                <a:cs typeface="Arial"/>
              </a:rPr>
              <a:t>THE NATURE OF DEVELOPMENT</a:t>
            </a:r>
            <a:r>
              <a:rPr dirty="0" sz="1100" spc="15" b="1">
                <a:latin typeface="Arial"/>
                <a:cs typeface="Arial"/>
              </a:rPr>
              <a:t> </a:t>
            </a:r>
            <a:r>
              <a:rPr dirty="0" sz="1100" spc="-5" b="1">
                <a:latin typeface="Arial"/>
                <a:cs typeface="Arial"/>
              </a:rPr>
              <a:t>ECONOMICS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b="1">
                <a:latin typeface="Arial"/>
                <a:cs typeface="Arial"/>
              </a:rPr>
              <a:t>Development economics </a:t>
            </a:r>
            <a:r>
              <a:rPr dirty="0" sz="1100" spc="-5">
                <a:latin typeface="Arial"/>
                <a:cs typeface="Arial"/>
              </a:rPr>
              <a:t>has an even greater scope. In addition to being concerned with the  efficient allocation of existing scarce (or idle) productive resources and with their sustained  growth over time, it must also deal with the economic, social, political, and institutional  mechanisms, both public and private, necessary to bring about rapid (at least by historical  standards) and large-scale improvements in levels of living for the peoples of Africa, Asia, Latin  America, </a:t>
            </a:r>
            <a:r>
              <a:rPr dirty="0" sz="1100">
                <a:latin typeface="Arial"/>
                <a:cs typeface="Arial"/>
              </a:rPr>
              <a:t>and </a:t>
            </a:r>
            <a:r>
              <a:rPr dirty="0" sz="1100" spc="-5">
                <a:latin typeface="Arial"/>
                <a:cs typeface="Arial"/>
              </a:rPr>
              <a:t>the formerly socialist transition economies. Unlike the </a:t>
            </a:r>
            <a:r>
              <a:rPr dirty="0" sz="1100" spc="-5" b="1">
                <a:latin typeface="Arial"/>
                <a:cs typeface="Arial"/>
              </a:rPr>
              <a:t>more developed countries  (MDCs)</a:t>
            </a:r>
            <a:r>
              <a:rPr dirty="0" sz="1100" spc="-5">
                <a:latin typeface="Arial"/>
                <a:cs typeface="Arial"/>
              </a:rPr>
              <a:t>, in the </a:t>
            </a:r>
            <a:r>
              <a:rPr dirty="0" sz="1100" spc="-5" b="1">
                <a:latin typeface="Arial"/>
                <a:cs typeface="Arial"/>
              </a:rPr>
              <a:t>less developed countries</a:t>
            </a:r>
            <a:r>
              <a:rPr dirty="0" sz="1100" spc="-5">
                <a:latin typeface="Arial"/>
                <a:cs typeface="Arial"/>
              </a:rPr>
              <a:t>, most commodity and resource markets are highly  imperfect, consumers and producers have limited information, major structural changes are  taking place in both the society and the economy, the potential for multiple equilibria rather than  a single equilibrium is more common, and disequilibrium situations often prevail (prices do not  equate supply and demand). Thus development economics, to a greater extent than traditional  neoclassical economics or even political economy, must be concerned with the economic,  cultural, and political requirements for effecting rapid structural and institutional transformations  of entire societies in a manner that will most efficiently bring the fruits of economic progress to  the broadest segments of their populations. Consequently, a larger government role and some  degree of coordinated economic decision making directed toward transforming the economy are  usually viewed as essential components of development</a:t>
            </a:r>
            <a:r>
              <a:rPr dirty="0" sz="1100" spc="45">
                <a:latin typeface="Arial"/>
                <a:cs typeface="Arial"/>
              </a:rPr>
              <a:t> </a:t>
            </a:r>
            <a:r>
              <a:rPr dirty="0" sz="1100" spc="-5">
                <a:latin typeface="Arial"/>
                <a:cs typeface="Arial"/>
              </a:rPr>
              <a:t>economics.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a:t>
            </a:r>
            <a:endParaRPr sz="1100">
              <a:latin typeface="Carlito"/>
              <a:cs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905" cy="456755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SOME IMPORTANT DEFINITIONS RELATED TO NATURE OF</a:t>
            </a:r>
            <a:r>
              <a:rPr dirty="0" sz="1100" spc="45" b="1">
                <a:latin typeface="Arial"/>
                <a:cs typeface="Arial"/>
              </a:rPr>
              <a:t> </a:t>
            </a:r>
            <a:r>
              <a:rPr dirty="0" sz="1100" spc="-5" b="1">
                <a:latin typeface="Arial"/>
                <a:cs typeface="Arial"/>
              </a:rPr>
              <a:t>ECONOMICS</a:t>
            </a:r>
            <a:endParaRPr sz="1100">
              <a:latin typeface="Arial"/>
              <a:cs typeface="Arial"/>
            </a:endParaRPr>
          </a:p>
          <a:p>
            <a:pPr>
              <a:lnSpc>
                <a:spcPct val="100000"/>
              </a:lnSpc>
              <a:spcBef>
                <a:spcPts val="25"/>
              </a:spcBef>
            </a:pPr>
            <a:endParaRPr sz="1100">
              <a:latin typeface="Arial"/>
              <a:cs typeface="Arial"/>
            </a:endParaRPr>
          </a:p>
          <a:p>
            <a:pPr marL="469900" indent="-228600">
              <a:lnSpc>
                <a:spcPts val="1285"/>
              </a:lnSpc>
              <a:buFont typeface="Symbol"/>
              <a:buChar char=""/>
              <a:tabLst>
                <a:tab pos="469265" algn="l"/>
                <a:tab pos="469900" algn="l"/>
              </a:tabLst>
            </a:pPr>
            <a:r>
              <a:rPr dirty="0" sz="1100" spc="-5" b="1">
                <a:latin typeface="Arial"/>
                <a:cs typeface="Arial"/>
              </a:rPr>
              <a:t>Traditional economics:</a:t>
            </a:r>
            <a:endParaRPr sz="1100">
              <a:latin typeface="Arial"/>
              <a:cs typeface="Arial"/>
            </a:endParaRPr>
          </a:p>
          <a:p>
            <a:pPr marL="469900" marR="8255">
              <a:lnSpc>
                <a:spcPts val="1270"/>
              </a:lnSpc>
              <a:spcBef>
                <a:spcPts val="55"/>
              </a:spcBef>
            </a:pPr>
            <a:r>
              <a:rPr dirty="0" sz="1100" spc="-5">
                <a:latin typeface="Arial"/>
                <a:cs typeface="Arial"/>
              </a:rPr>
              <a:t>It is an approach to economics that emphasizes utility, profit maximization, market  efficiency, and determination of</a:t>
            </a:r>
            <a:r>
              <a:rPr dirty="0" sz="1100" spc="15">
                <a:latin typeface="Arial"/>
                <a:cs typeface="Arial"/>
              </a:rPr>
              <a:t> </a:t>
            </a:r>
            <a:r>
              <a:rPr dirty="0" sz="1100" spc="-5">
                <a:latin typeface="Arial"/>
                <a:cs typeface="Arial"/>
              </a:rPr>
              <a:t>equilibrium.</a:t>
            </a:r>
            <a:endParaRPr sz="1100">
              <a:latin typeface="Arial"/>
              <a:cs typeface="Arial"/>
            </a:endParaRPr>
          </a:p>
          <a:p>
            <a:pPr marL="469900" indent="-228600">
              <a:lnSpc>
                <a:spcPts val="1275"/>
              </a:lnSpc>
              <a:buFont typeface="Symbol"/>
              <a:buChar char=""/>
              <a:tabLst>
                <a:tab pos="469265" algn="l"/>
                <a:tab pos="469900" algn="l"/>
              </a:tabLst>
            </a:pPr>
            <a:r>
              <a:rPr dirty="0" sz="1100" spc="-5" b="1">
                <a:latin typeface="Arial"/>
                <a:cs typeface="Arial"/>
              </a:rPr>
              <a:t>Political economy:</a:t>
            </a:r>
            <a:endParaRPr sz="1100">
              <a:latin typeface="Arial"/>
              <a:cs typeface="Arial"/>
            </a:endParaRPr>
          </a:p>
          <a:p>
            <a:pPr marL="469900" marR="8890">
              <a:lnSpc>
                <a:spcPts val="1260"/>
              </a:lnSpc>
              <a:spcBef>
                <a:spcPts val="60"/>
              </a:spcBef>
            </a:pPr>
            <a:r>
              <a:rPr dirty="0" sz="1100" spc="-5">
                <a:latin typeface="Arial"/>
                <a:cs typeface="Arial"/>
              </a:rPr>
              <a:t>Political economy is an attempt to merge economic analysis with practical politics—to  view economic activity in its political</a:t>
            </a:r>
            <a:r>
              <a:rPr dirty="0" sz="1100" spc="30">
                <a:latin typeface="Arial"/>
                <a:cs typeface="Arial"/>
              </a:rPr>
              <a:t> </a:t>
            </a:r>
            <a:r>
              <a:rPr dirty="0" sz="1100" spc="-5">
                <a:latin typeface="Arial"/>
                <a:cs typeface="Arial"/>
              </a:rPr>
              <a:t>context.</a:t>
            </a:r>
            <a:endParaRPr sz="1100">
              <a:latin typeface="Arial"/>
              <a:cs typeface="Arial"/>
            </a:endParaRPr>
          </a:p>
          <a:p>
            <a:pPr marL="469900" indent="-228600">
              <a:lnSpc>
                <a:spcPts val="1285"/>
              </a:lnSpc>
              <a:buFont typeface="Symbol"/>
              <a:buChar char=""/>
              <a:tabLst>
                <a:tab pos="469265" algn="l"/>
                <a:tab pos="469900" algn="l"/>
              </a:tabLst>
            </a:pPr>
            <a:r>
              <a:rPr dirty="0" sz="1100" spc="-5" b="1">
                <a:latin typeface="Arial"/>
                <a:cs typeface="Arial"/>
              </a:rPr>
              <a:t>Development economics:</a:t>
            </a:r>
            <a:endParaRPr sz="1100">
              <a:latin typeface="Arial"/>
              <a:cs typeface="Arial"/>
            </a:endParaRPr>
          </a:p>
          <a:p>
            <a:pPr marL="469900" marR="6350">
              <a:lnSpc>
                <a:spcPts val="1270"/>
              </a:lnSpc>
              <a:spcBef>
                <a:spcPts val="50"/>
              </a:spcBef>
            </a:pPr>
            <a:r>
              <a:rPr dirty="0" sz="1100" spc="-5">
                <a:latin typeface="Arial"/>
                <a:cs typeface="Arial"/>
              </a:rPr>
              <a:t>It is the study of how economies are transformed from stagnation to growth and from low  income to high-income status, and overcome problems of absolute</a:t>
            </a:r>
            <a:r>
              <a:rPr dirty="0" sz="1100" spc="80">
                <a:latin typeface="Arial"/>
                <a:cs typeface="Arial"/>
              </a:rPr>
              <a:t> </a:t>
            </a:r>
            <a:r>
              <a:rPr dirty="0" sz="1100" spc="-5">
                <a:latin typeface="Arial"/>
                <a:cs typeface="Arial"/>
              </a:rPr>
              <a:t>poverty.</a:t>
            </a:r>
            <a:endParaRPr sz="1100">
              <a:latin typeface="Arial"/>
              <a:cs typeface="Arial"/>
            </a:endParaRPr>
          </a:p>
          <a:p>
            <a:pPr marL="469900" indent="-228600">
              <a:lnSpc>
                <a:spcPts val="1280"/>
              </a:lnSpc>
              <a:buFont typeface="Symbol"/>
              <a:buChar char=""/>
              <a:tabLst>
                <a:tab pos="469265" algn="l"/>
                <a:tab pos="469900" algn="l"/>
              </a:tabLst>
            </a:pPr>
            <a:r>
              <a:rPr dirty="0" sz="1100" spc="-5" b="1">
                <a:latin typeface="Arial"/>
                <a:cs typeface="Arial"/>
              </a:rPr>
              <a:t>More developed countries</a:t>
            </a:r>
            <a:r>
              <a:rPr dirty="0" sz="1100" spc="10" b="1">
                <a:latin typeface="Arial"/>
                <a:cs typeface="Arial"/>
              </a:rPr>
              <a:t> </a:t>
            </a:r>
            <a:r>
              <a:rPr dirty="0" sz="1100" spc="-5" b="1">
                <a:latin typeface="Arial"/>
                <a:cs typeface="Arial"/>
              </a:rPr>
              <a:t>(MDCs):</a:t>
            </a:r>
            <a:endParaRPr sz="1100">
              <a:latin typeface="Arial"/>
              <a:cs typeface="Arial"/>
            </a:endParaRPr>
          </a:p>
          <a:p>
            <a:pPr marL="469900" marR="8890">
              <a:lnSpc>
                <a:spcPts val="1270"/>
              </a:lnSpc>
              <a:spcBef>
                <a:spcPts val="50"/>
              </a:spcBef>
            </a:pPr>
            <a:r>
              <a:rPr dirty="0" sz="1100" spc="-5">
                <a:latin typeface="Arial"/>
                <a:cs typeface="Arial"/>
              </a:rPr>
              <a:t>MDCs are now economically advanced capitalist countries of Western Europe, </a:t>
            </a:r>
            <a:r>
              <a:rPr dirty="0" sz="1100">
                <a:latin typeface="Arial"/>
                <a:cs typeface="Arial"/>
              </a:rPr>
              <a:t>North  </a:t>
            </a:r>
            <a:r>
              <a:rPr dirty="0" sz="1100" spc="-5">
                <a:latin typeface="Arial"/>
                <a:cs typeface="Arial"/>
              </a:rPr>
              <a:t>America, Australia, New Zealand, and</a:t>
            </a:r>
            <a:r>
              <a:rPr dirty="0" sz="1100" spc="20">
                <a:latin typeface="Arial"/>
                <a:cs typeface="Arial"/>
              </a:rPr>
              <a:t> </a:t>
            </a:r>
            <a:r>
              <a:rPr dirty="0" sz="1100" spc="-5">
                <a:latin typeface="Arial"/>
                <a:cs typeface="Arial"/>
              </a:rPr>
              <a:t>Japan.</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WHY STUDY DEVELOPMENT</a:t>
            </a:r>
            <a:r>
              <a:rPr dirty="0" sz="1100" spc="10" b="1">
                <a:latin typeface="Arial"/>
                <a:cs typeface="Arial"/>
              </a:rPr>
              <a:t> </a:t>
            </a:r>
            <a:r>
              <a:rPr dirty="0" sz="1100" spc="-5" b="1">
                <a:latin typeface="Arial"/>
                <a:cs typeface="Arial"/>
              </a:rPr>
              <a:t>ECONOMICS?</a:t>
            </a:r>
            <a:endParaRPr sz="1100">
              <a:latin typeface="Arial"/>
              <a:cs typeface="Arial"/>
            </a:endParaRPr>
          </a:p>
          <a:p>
            <a:pPr>
              <a:lnSpc>
                <a:spcPct val="100000"/>
              </a:lnSpc>
              <a:spcBef>
                <a:spcPts val="45"/>
              </a:spcBef>
            </a:pPr>
            <a:endParaRPr sz="1050">
              <a:latin typeface="Arial"/>
              <a:cs typeface="Arial"/>
            </a:endParaRPr>
          </a:p>
          <a:p>
            <a:pPr algn="just" marL="12700" marR="5080">
              <a:lnSpc>
                <a:spcPct val="95900"/>
              </a:lnSpc>
              <a:spcBef>
                <a:spcPts val="5"/>
              </a:spcBef>
            </a:pPr>
            <a:r>
              <a:rPr dirty="0" sz="1100" spc="-5">
                <a:latin typeface="Arial"/>
                <a:cs typeface="Arial"/>
              </a:rPr>
              <a:t>The ultimate purpose of any course in economics, including development economics, is to help  students think systematically about economic problems and issues and formulate judgments  and conclusions on the basis of relevant analytical principles and reliable statistical information.  Because the problems of development are in </a:t>
            </a:r>
            <a:r>
              <a:rPr dirty="0" sz="1100">
                <a:latin typeface="Arial"/>
                <a:cs typeface="Arial"/>
              </a:rPr>
              <a:t>many </a:t>
            </a:r>
            <a:r>
              <a:rPr dirty="0" sz="1100" spc="-5">
                <a:latin typeface="Arial"/>
                <a:cs typeface="Arial"/>
              </a:rPr>
              <a:t>cases unique in the modern world and not  often easily understood through the use of traditional economic theories, we may often need  unconventional approaches to what may appear to be conventional economic problems.  Traditional economic principles can play a useful role in enabling us to improve our  understanding of development problems, but </a:t>
            </a:r>
            <a:r>
              <a:rPr dirty="0" sz="1100">
                <a:latin typeface="Arial"/>
                <a:cs typeface="Arial"/>
              </a:rPr>
              <a:t>they </a:t>
            </a:r>
            <a:r>
              <a:rPr dirty="0" sz="1100" spc="-5">
                <a:latin typeface="Arial"/>
                <a:cs typeface="Arial"/>
              </a:rPr>
              <a:t>should not blind us to the realities of local  conditions in less developed</a:t>
            </a:r>
            <a:r>
              <a:rPr dirty="0" sz="1100" spc="10">
                <a:latin typeface="Arial"/>
                <a:cs typeface="Arial"/>
              </a:rPr>
              <a:t> </a:t>
            </a:r>
            <a:r>
              <a:rPr dirty="0" sz="1100" spc="-5">
                <a:latin typeface="Arial"/>
                <a:cs typeface="Arial"/>
              </a:rPr>
              <a:t>countries.</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10" b="1">
                <a:latin typeface="Arial"/>
                <a:cs typeface="Arial"/>
              </a:rPr>
              <a:t>WORLD </a:t>
            </a:r>
            <a:r>
              <a:rPr dirty="0" sz="1100" spc="-5" b="1">
                <a:latin typeface="Arial"/>
                <a:cs typeface="Arial"/>
              </a:rPr>
              <a:t>INCOME</a:t>
            </a:r>
            <a:r>
              <a:rPr dirty="0" sz="1100" spc="5" b="1">
                <a:latin typeface="Arial"/>
                <a:cs typeface="Arial"/>
              </a:rPr>
              <a:t> </a:t>
            </a:r>
            <a:r>
              <a:rPr dirty="0" sz="1100" spc="-5" b="1">
                <a:latin typeface="Arial"/>
                <a:cs typeface="Arial"/>
              </a:rPr>
              <a:t>DISTRIBUTION</a:t>
            </a:r>
            <a:endParaRPr sz="1100">
              <a:latin typeface="Arial"/>
              <a:cs typeface="Arial"/>
            </a:endParaRPr>
          </a:p>
        </p:txBody>
      </p:sp>
      <p:sp>
        <p:nvSpPr>
          <p:cNvPr id="7" name="object 7"/>
          <p:cNvSpPr/>
          <p:nvPr/>
        </p:nvSpPr>
        <p:spPr>
          <a:xfrm>
            <a:off x="1100431" y="5479810"/>
            <a:ext cx="5354131" cy="2654495"/>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a:t>
            </a:r>
            <a:endParaRPr sz="1100">
              <a:latin typeface="Carlito"/>
              <a:cs typeface="Carl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270" cy="8252459"/>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THE IMPORTANT ROLE OF </a:t>
            </a:r>
            <a:r>
              <a:rPr dirty="0" sz="1100" b="1">
                <a:latin typeface="Arial"/>
                <a:cs typeface="Arial"/>
              </a:rPr>
              <a:t>VALUES </a:t>
            </a:r>
            <a:r>
              <a:rPr dirty="0" sz="1100" spc="-5" b="1">
                <a:latin typeface="Arial"/>
                <a:cs typeface="Arial"/>
              </a:rPr>
              <a:t>IN DEVELOPMENT</a:t>
            </a:r>
            <a:r>
              <a:rPr dirty="0" sz="1100" spc="30" b="1">
                <a:latin typeface="Arial"/>
                <a:cs typeface="Arial"/>
              </a:rPr>
              <a:t> </a:t>
            </a:r>
            <a:r>
              <a:rPr dirty="0" sz="1100" spc="-5" b="1">
                <a:latin typeface="Arial"/>
                <a:cs typeface="Arial"/>
              </a:rPr>
              <a:t>ECONOMICS</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Economics is a social science. It is concerned with human beings and the social systems by  which they organize their activities to satisfy basic material needs (e.g., food, shelter, and  clothing) and nonmaterial wants (e.g., education, knowledge, spiritual fulfillment). It is necessary  to recognize from the outset that ethical or normative value premises about what is or is not  desirable are central features of the economic discipline in general and of development  economics in particular. The very concepts of economic development and modernization  represent implicit as well as explicit value premises about desirable goals for achieving what  Mahatma Gandhi once called the “realization of the human</a:t>
            </a:r>
            <a:r>
              <a:rPr dirty="0" sz="1100" spc="50">
                <a:latin typeface="Arial"/>
                <a:cs typeface="Arial"/>
              </a:rPr>
              <a:t> </a:t>
            </a:r>
            <a:r>
              <a:rPr dirty="0" sz="1100" spc="-5">
                <a:latin typeface="Arial"/>
                <a:cs typeface="Arial"/>
              </a:rPr>
              <a:t>potential.</a:t>
            </a:r>
            <a:endParaRPr sz="1100">
              <a:latin typeface="Arial"/>
              <a:cs typeface="Arial"/>
            </a:endParaRPr>
          </a:p>
          <a:p>
            <a:pPr>
              <a:lnSpc>
                <a:spcPct val="100000"/>
              </a:lnSpc>
            </a:pPr>
            <a:endParaRPr sz="1100">
              <a:latin typeface="Arial"/>
              <a:cs typeface="Arial"/>
            </a:endParaRPr>
          </a:p>
          <a:p>
            <a:pPr algn="just" marL="12700" marR="6350">
              <a:lnSpc>
                <a:spcPct val="95800"/>
              </a:lnSpc>
              <a:spcBef>
                <a:spcPts val="5"/>
              </a:spcBef>
            </a:pPr>
            <a:r>
              <a:rPr dirty="0" sz="1100" spc="-5">
                <a:latin typeface="Arial"/>
                <a:cs typeface="Arial"/>
              </a:rPr>
              <a:t>It follows that value premises, however carefully disguised, are an inherent component of both  economic analysis and economic policy. Economics cannot be value-free in the same sense as,  say, physics or chemistry. Thus, the validity of economic analysis and the correctness of  economic prescriptions should always be evaluated in light of the underlying assumptions or  value premises. However, where serious </a:t>
            </a:r>
            <a:r>
              <a:rPr dirty="0" sz="1100">
                <a:latin typeface="Arial"/>
                <a:cs typeface="Arial"/>
              </a:rPr>
              <a:t>value </a:t>
            </a:r>
            <a:r>
              <a:rPr dirty="0" sz="1100" spc="-5">
                <a:latin typeface="Arial"/>
                <a:cs typeface="Arial"/>
              </a:rPr>
              <a:t>conflicts and disagreements exist among  decision makers, the possibility of a consensus about desirable goals or appropriate policies is  considerably diminished. In either case, it is essential, especially in the field of development  economics that one’s value premises always be made</a:t>
            </a:r>
            <a:r>
              <a:rPr dirty="0" sz="1100" spc="45">
                <a:latin typeface="Arial"/>
                <a:cs typeface="Arial"/>
              </a:rPr>
              <a:t> </a:t>
            </a:r>
            <a:r>
              <a:rPr dirty="0" sz="1100" spc="-5">
                <a:latin typeface="Arial"/>
                <a:cs typeface="Arial"/>
              </a:rPr>
              <a:t>clear.</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5" b="1">
                <a:latin typeface="Arial"/>
                <a:cs typeface="Arial"/>
              </a:rPr>
              <a:t>ECONOMIES AS SOCIAL SYSTEMS: THE NEED TO GO BEYOND SIMPLE</a:t>
            </a:r>
            <a:r>
              <a:rPr dirty="0" sz="1100" spc="125" b="1">
                <a:latin typeface="Arial"/>
                <a:cs typeface="Arial"/>
              </a:rPr>
              <a:t> </a:t>
            </a:r>
            <a:r>
              <a:rPr dirty="0" sz="1100" spc="-5" b="1">
                <a:latin typeface="Arial"/>
                <a:cs typeface="Arial"/>
              </a:rPr>
              <a:t>ECONOMICS</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pPr>
            <a:r>
              <a:rPr dirty="0" sz="1100" spc="-5">
                <a:latin typeface="Arial"/>
                <a:cs typeface="Arial"/>
              </a:rPr>
              <a:t>Economics and economic systems, especially in the developing world, must be viewed in a  broader perspective than that postulated by traditional economics. They must be analyzed  within the context of the overall </a:t>
            </a:r>
            <a:r>
              <a:rPr dirty="0" sz="1100" spc="-5" b="1">
                <a:latin typeface="Arial"/>
                <a:cs typeface="Arial"/>
              </a:rPr>
              <a:t>social system </a:t>
            </a:r>
            <a:r>
              <a:rPr dirty="0" sz="1100">
                <a:latin typeface="Arial"/>
                <a:cs typeface="Arial"/>
              </a:rPr>
              <a:t>of </a:t>
            </a:r>
            <a:r>
              <a:rPr dirty="0" sz="1100" spc="-5">
                <a:latin typeface="Arial"/>
                <a:cs typeface="Arial"/>
              </a:rPr>
              <a:t>a country and, indeed, within an international,  global context as well. By “social system,” we mean the interdependent relationships between  economic and non-economic factors. We can also define </a:t>
            </a:r>
            <a:r>
              <a:rPr dirty="0" sz="1100" spc="-5" b="1">
                <a:latin typeface="Arial"/>
                <a:cs typeface="Arial"/>
              </a:rPr>
              <a:t>Social system as </a:t>
            </a:r>
            <a:r>
              <a:rPr dirty="0" sz="1100" spc="-5">
                <a:latin typeface="Arial"/>
                <a:cs typeface="Arial"/>
              </a:rPr>
              <a:t>the organizational  and institutional structure of a society, including its values, attitudes, power structure, and  traditions where as values, institutions &amp; attitudes define</a:t>
            </a:r>
            <a:r>
              <a:rPr dirty="0" sz="1100" spc="50">
                <a:latin typeface="Arial"/>
                <a:cs typeface="Arial"/>
              </a:rPr>
              <a:t> </a:t>
            </a:r>
            <a:r>
              <a:rPr dirty="0" sz="1100" spc="-5">
                <a:latin typeface="Arial"/>
                <a:cs typeface="Arial"/>
              </a:rPr>
              <a:t>below.</a:t>
            </a:r>
            <a:endParaRPr sz="1100">
              <a:latin typeface="Arial"/>
              <a:cs typeface="Arial"/>
            </a:endParaRPr>
          </a:p>
          <a:p>
            <a:pPr>
              <a:lnSpc>
                <a:spcPct val="100000"/>
              </a:lnSpc>
              <a:spcBef>
                <a:spcPts val="45"/>
              </a:spcBef>
            </a:pPr>
            <a:endParaRPr sz="1150">
              <a:latin typeface="Arial"/>
              <a:cs typeface="Arial"/>
            </a:endParaRPr>
          </a:p>
          <a:p>
            <a:pPr algn="just" marL="469900" marR="7620" indent="-228600">
              <a:lnSpc>
                <a:spcPts val="1270"/>
              </a:lnSpc>
              <a:buFont typeface="Symbol"/>
              <a:buChar char=""/>
              <a:tabLst>
                <a:tab pos="470534" algn="l"/>
              </a:tabLst>
            </a:pPr>
            <a:r>
              <a:rPr dirty="0" sz="1100" spc="-5" b="1">
                <a:latin typeface="Arial"/>
                <a:cs typeface="Arial"/>
              </a:rPr>
              <a:t>Values: </a:t>
            </a:r>
            <a:r>
              <a:rPr dirty="0" sz="1100" spc="-5">
                <a:latin typeface="Arial"/>
                <a:cs typeface="Arial"/>
              </a:rPr>
              <a:t>Principles, standards, or qualities that a society or groups within it considers  worthwhile or</a:t>
            </a:r>
            <a:r>
              <a:rPr dirty="0" sz="1100">
                <a:latin typeface="Arial"/>
                <a:cs typeface="Arial"/>
              </a:rPr>
              <a:t> </a:t>
            </a:r>
            <a:r>
              <a:rPr dirty="0" sz="1100" spc="-5">
                <a:latin typeface="Arial"/>
                <a:cs typeface="Arial"/>
              </a:rPr>
              <a:t>desirable.</a:t>
            </a:r>
            <a:endParaRPr sz="1100">
              <a:latin typeface="Arial"/>
              <a:cs typeface="Arial"/>
            </a:endParaRPr>
          </a:p>
          <a:p>
            <a:pPr algn="just" marL="469900" marR="6985" indent="-228600">
              <a:lnSpc>
                <a:spcPts val="1270"/>
              </a:lnSpc>
              <a:spcBef>
                <a:spcPts val="65"/>
              </a:spcBef>
              <a:buFont typeface="Symbol"/>
              <a:buChar char=""/>
              <a:tabLst>
                <a:tab pos="470534" algn="l"/>
              </a:tabLst>
            </a:pPr>
            <a:r>
              <a:rPr dirty="0" sz="1100" spc="-5" b="1">
                <a:latin typeface="Arial"/>
                <a:cs typeface="Arial"/>
              </a:rPr>
              <a:t>Attitudes: </a:t>
            </a:r>
            <a:r>
              <a:rPr dirty="0" sz="1100" spc="-5">
                <a:latin typeface="Arial"/>
                <a:cs typeface="Arial"/>
              </a:rPr>
              <a:t>The states of mind or feelings of an individual, group, or society regarding  issues such as material gain, hard work, saving for the future, and sharing</a:t>
            </a:r>
            <a:r>
              <a:rPr dirty="0" sz="1100" spc="140">
                <a:latin typeface="Arial"/>
                <a:cs typeface="Arial"/>
              </a:rPr>
              <a:t> </a:t>
            </a:r>
            <a:r>
              <a:rPr dirty="0" sz="1100" spc="-5">
                <a:latin typeface="Arial"/>
                <a:cs typeface="Arial"/>
              </a:rPr>
              <a:t>wealth.</a:t>
            </a:r>
            <a:endParaRPr sz="1100">
              <a:latin typeface="Arial"/>
              <a:cs typeface="Arial"/>
            </a:endParaRPr>
          </a:p>
          <a:p>
            <a:pPr algn="just" marL="469900" marR="6350" indent="-228600">
              <a:lnSpc>
                <a:spcPct val="95800"/>
              </a:lnSpc>
              <a:spcBef>
                <a:spcPts val="35"/>
              </a:spcBef>
              <a:buFont typeface="Symbol"/>
              <a:buChar char=""/>
              <a:tabLst>
                <a:tab pos="470534" algn="l"/>
              </a:tabLst>
            </a:pPr>
            <a:r>
              <a:rPr dirty="0" sz="1100" spc="-5" b="1">
                <a:latin typeface="Arial"/>
                <a:cs typeface="Arial"/>
              </a:rPr>
              <a:t>Institutions: </a:t>
            </a:r>
            <a:r>
              <a:rPr dirty="0" sz="1100" spc="-5">
                <a:latin typeface="Arial"/>
                <a:cs typeface="Arial"/>
              </a:rPr>
              <a:t>Norms, rules of conduct, and generally accepted ways of doing things.  Economic institutions are humanly devised </a:t>
            </a:r>
            <a:r>
              <a:rPr dirty="0" sz="1100">
                <a:latin typeface="Arial"/>
                <a:cs typeface="Arial"/>
              </a:rPr>
              <a:t>constraints </a:t>
            </a:r>
            <a:r>
              <a:rPr dirty="0" sz="1100" spc="-5">
                <a:latin typeface="Arial"/>
                <a:cs typeface="Arial"/>
              </a:rPr>
              <a:t>that shape human interactions  including both informal and formal “rules of the game” of economic life in the widely used  framework </a:t>
            </a:r>
            <a:r>
              <a:rPr dirty="0" sz="1100">
                <a:latin typeface="Arial"/>
                <a:cs typeface="Arial"/>
              </a:rPr>
              <a:t>of </a:t>
            </a:r>
            <a:r>
              <a:rPr dirty="0" sz="1100" spc="-5">
                <a:latin typeface="Arial"/>
                <a:cs typeface="Arial"/>
              </a:rPr>
              <a:t>Douglass North.</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10" b="1">
                <a:latin typeface="Arial"/>
                <a:cs typeface="Arial"/>
              </a:rPr>
              <a:t>WHAT </a:t>
            </a:r>
            <a:r>
              <a:rPr dirty="0" sz="1100" b="1">
                <a:latin typeface="Arial"/>
                <a:cs typeface="Arial"/>
              </a:rPr>
              <a:t>DO </a:t>
            </a:r>
            <a:r>
              <a:rPr dirty="0" sz="1100" spc="-5" b="1">
                <a:latin typeface="Arial"/>
                <a:cs typeface="Arial"/>
              </a:rPr>
              <a:t>WE MEAN BY</a:t>
            </a:r>
            <a:r>
              <a:rPr dirty="0" sz="1100" spc="2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20"/>
              </a:spcBef>
            </a:pPr>
            <a:endParaRPr sz="1100">
              <a:latin typeface="Arial"/>
              <a:cs typeface="Arial"/>
            </a:endParaRPr>
          </a:p>
          <a:p>
            <a:pPr algn="just" marL="12700" marR="5080">
              <a:lnSpc>
                <a:spcPts val="1270"/>
              </a:lnSpc>
            </a:pPr>
            <a:r>
              <a:rPr dirty="0" sz="1100" spc="-5">
                <a:latin typeface="Arial"/>
                <a:cs typeface="Arial"/>
              </a:rPr>
              <a:t>Because the term development may mean different things to different people, it is important that  we have some working definition or core perspective on its meaning. Without such a  perspective and some agreed measurement criteria, we would be unable to determine which  country was actually developing and which was</a:t>
            </a:r>
            <a:r>
              <a:rPr dirty="0" sz="1100" spc="30">
                <a:latin typeface="Arial"/>
                <a:cs typeface="Arial"/>
              </a:rPr>
              <a:t> </a:t>
            </a:r>
            <a:r>
              <a:rPr dirty="0" sz="1100" spc="-5">
                <a:latin typeface="Arial"/>
                <a:cs typeface="Arial"/>
              </a:rPr>
              <a:t>not.</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I) TRADITIONAL ECONOMIC</a:t>
            </a:r>
            <a:r>
              <a:rPr dirty="0" sz="1100" spc="15" b="1">
                <a:latin typeface="Arial"/>
                <a:cs typeface="Arial"/>
              </a:rPr>
              <a:t> </a:t>
            </a:r>
            <a:r>
              <a:rPr dirty="0" sz="1100" spc="-5" b="1">
                <a:latin typeface="Arial"/>
                <a:cs typeface="Arial"/>
              </a:rPr>
              <a:t>MEASURES</a:t>
            </a:r>
            <a:endParaRPr sz="1100">
              <a:latin typeface="Arial"/>
              <a:cs typeface="Arial"/>
            </a:endParaRPr>
          </a:p>
          <a:p>
            <a:pPr>
              <a:lnSpc>
                <a:spcPct val="100000"/>
              </a:lnSpc>
              <a:spcBef>
                <a:spcPts val="15"/>
              </a:spcBef>
            </a:pPr>
            <a:endParaRPr sz="1100">
              <a:latin typeface="Arial"/>
              <a:cs typeface="Arial"/>
            </a:endParaRPr>
          </a:p>
          <a:p>
            <a:pPr algn="just" marL="12700" marR="5080">
              <a:lnSpc>
                <a:spcPts val="1270"/>
              </a:lnSpc>
              <a:spcBef>
                <a:spcPts val="5"/>
              </a:spcBef>
            </a:pPr>
            <a:r>
              <a:rPr dirty="0" sz="1100" spc="-5">
                <a:latin typeface="Arial"/>
                <a:cs typeface="Arial"/>
              </a:rPr>
              <a:t>In strictly economic terms, </a:t>
            </a:r>
            <a:r>
              <a:rPr dirty="0" sz="1100" spc="-5" b="1">
                <a:latin typeface="Arial"/>
                <a:cs typeface="Arial"/>
              </a:rPr>
              <a:t>development </a:t>
            </a:r>
            <a:r>
              <a:rPr dirty="0" sz="1100" spc="-5">
                <a:latin typeface="Arial"/>
                <a:cs typeface="Arial"/>
              </a:rPr>
              <a:t>has traditionally meant achieving sustained rates of  growth of </a:t>
            </a:r>
            <a:r>
              <a:rPr dirty="0" sz="1100" spc="-5" b="1">
                <a:latin typeface="Arial"/>
                <a:cs typeface="Arial"/>
              </a:rPr>
              <a:t>income per capita </a:t>
            </a:r>
            <a:r>
              <a:rPr dirty="0" sz="1100" spc="-5">
                <a:latin typeface="Arial"/>
                <a:cs typeface="Arial"/>
              </a:rPr>
              <a:t>to enable a nation to expand its output at a rate faster than the  growth rate of its</a:t>
            </a:r>
            <a:r>
              <a:rPr dirty="0" sz="1100" spc="15">
                <a:latin typeface="Arial"/>
                <a:cs typeface="Arial"/>
              </a:rPr>
              <a:t> </a:t>
            </a:r>
            <a:r>
              <a:rPr dirty="0" sz="1100" spc="-5">
                <a:latin typeface="Arial"/>
                <a:cs typeface="Arial"/>
              </a:rPr>
              <a:t>population.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a:t>
            </a:r>
            <a:endParaRPr sz="1100">
              <a:latin typeface="Carlito"/>
              <a:cs typeface="Carl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064500"/>
          </a:xfrm>
          <a:prstGeom prst="rect">
            <a:avLst/>
          </a:prstGeom>
        </p:spPr>
        <p:txBody>
          <a:bodyPr wrap="square" lIns="0" tIns="19050" rIns="0" bIns="0" rtlCol="0" vert="horz">
            <a:spAutoFit/>
          </a:bodyPr>
          <a:lstStyle/>
          <a:p>
            <a:pPr algn="just" marL="12700" marR="6350">
              <a:lnSpc>
                <a:spcPct val="95800"/>
              </a:lnSpc>
              <a:spcBef>
                <a:spcPts val="150"/>
              </a:spcBef>
            </a:pPr>
            <a:r>
              <a:rPr dirty="0" sz="1100" spc="-5">
                <a:latin typeface="Arial"/>
                <a:cs typeface="Arial"/>
              </a:rPr>
              <a:t>Levels and rates of growth of “real” per capita </a:t>
            </a:r>
            <a:r>
              <a:rPr dirty="0" sz="1100" spc="-5" b="1">
                <a:latin typeface="Arial"/>
                <a:cs typeface="Arial"/>
              </a:rPr>
              <a:t>gross national income (GNI) </a:t>
            </a:r>
            <a:r>
              <a:rPr dirty="0" sz="1100" spc="-5">
                <a:latin typeface="Arial"/>
                <a:cs typeface="Arial"/>
              </a:rPr>
              <a:t>(monetary growth  of GNI per capita minus the rate of inflation) are then used to </a:t>
            </a:r>
            <a:r>
              <a:rPr dirty="0" sz="1100" spc="-5" b="1">
                <a:latin typeface="Arial"/>
                <a:cs typeface="Arial"/>
              </a:rPr>
              <a:t>measure the overall economic  well-being </a:t>
            </a:r>
            <a:r>
              <a:rPr dirty="0" sz="1100" spc="-5">
                <a:latin typeface="Arial"/>
                <a:cs typeface="Arial"/>
              </a:rPr>
              <a:t>of a population—how much of real goods and services is available to the average  citizen for consumption and</a:t>
            </a:r>
            <a:r>
              <a:rPr dirty="0" sz="1100" spc="15">
                <a:latin typeface="Arial"/>
                <a:cs typeface="Arial"/>
              </a:rPr>
              <a:t> </a:t>
            </a:r>
            <a:r>
              <a:rPr dirty="0" sz="1100" spc="-5">
                <a:latin typeface="Arial"/>
                <a:cs typeface="Arial"/>
              </a:rPr>
              <a:t>investment.</a:t>
            </a:r>
            <a:endParaRPr sz="1100">
              <a:latin typeface="Arial"/>
              <a:cs typeface="Arial"/>
            </a:endParaRPr>
          </a:p>
          <a:p>
            <a:pPr>
              <a:lnSpc>
                <a:spcPct val="100000"/>
              </a:lnSpc>
              <a:spcBef>
                <a:spcPts val="30"/>
              </a:spcBef>
            </a:pPr>
            <a:endParaRPr sz="1100">
              <a:latin typeface="Arial"/>
              <a:cs typeface="Arial"/>
            </a:endParaRPr>
          </a:p>
          <a:p>
            <a:pPr algn="just" marL="12700" marR="5080">
              <a:lnSpc>
                <a:spcPts val="1270"/>
              </a:lnSpc>
              <a:spcBef>
                <a:spcPts val="5"/>
              </a:spcBef>
            </a:pPr>
            <a:r>
              <a:rPr dirty="0" sz="1100" spc="-5">
                <a:latin typeface="Arial"/>
                <a:cs typeface="Arial"/>
              </a:rPr>
              <a:t>Economic development in the past has also been typically seen in terms of the planned  alteration of the structure of production and employment so that agriculture’s share of both  declines and that of the manufacturing and service industries</a:t>
            </a:r>
            <a:r>
              <a:rPr dirty="0" sz="1100" spc="60">
                <a:latin typeface="Arial"/>
                <a:cs typeface="Arial"/>
              </a:rPr>
              <a:t> </a:t>
            </a:r>
            <a:r>
              <a:rPr dirty="0" sz="1100" spc="-5">
                <a:latin typeface="Arial"/>
                <a:cs typeface="Arial"/>
              </a:rPr>
              <a:t>increases.</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900"/>
              </a:lnSpc>
            </a:pPr>
            <a:r>
              <a:rPr dirty="0" sz="1100" spc="-5">
                <a:latin typeface="Arial"/>
                <a:cs typeface="Arial"/>
              </a:rPr>
              <a:t>Development strategies have therefore usually focused on rapid industrialization, often at the  expense of agriculture and rural development. With few exceptions, such as in development  policy circles in the 1970s, development was </a:t>
            </a:r>
            <a:r>
              <a:rPr dirty="0" sz="1100">
                <a:latin typeface="Arial"/>
                <a:cs typeface="Arial"/>
              </a:rPr>
              <a:t>until </a:t>
            </a:r>
            <a:r>
              <a:rPr dirty="0" sz="1100" spc="-5">
                <a:latin typeface="Arial"/>
                <a:cs typeface="Arial"/>
              </a:rPr>
              <a:t>recently nearly always seen as an economic  phenomenon in which rapid gains in overall and per capita GNI growth would either “trickle  down” to </a:t>
            </a:r>
            <a:r>
              <a:rPr dirty="0" sz="1100">
                <a:latin typeface="Arial"/>
                <a:cs typeface="Arial"/>
              </a:rPr>
              <a:t>the </a:t>
            </a:r>
            <a:r>
              <a:rPr dirty="0" sz="1100" spc="-5">
                <a:latin typeface="Arial"/>
                <a:cs typeface="Arial"/>
              </a:rPr>
              <a:t>masses in the form of jobs </a:t>
            </a:r>
            <a:r>
              <a:rPr dirty="0" sz="1100">
                <a:latin typeface="Arial"/>
                <a:cs typeface="Arial"/>
              </a:rPr>
              <a:t>and </a:t>
            </a:r>
            <a:r>
              <a:rPr dirty="0" sz="1100" spc="-5">
                <a:latin typeface="Arial"/>
                <a:cs typeface="Arial"/>
              </a:rPr>
              <a:t>other economic opportunities or create the  necessary conditions for the wider distribution of the economic and social benefits of growth.  Problems of poverty, discrimination, unemployment, and income distribution were of secondary  importance to “getting the growth job done.” Indeed, the emphasis is often on increased output,  measured by </a:t>
            </a:r>
            <a:r>
              <a:rPr dirty="0" sz="1100" spc="-5" b="1">
                <a:latin typeface="Arial"/>
                <a:cs typeface="Arial"/>
              </a:rPr>
              <a:t>gross domestic product</a:t>
            </a:r>
            <a:r>
              <a:rPr dirty="0" sz="1100" spc="20" b="1">
                <a:latin typeface="Arial"/>
                <a:cs typeface="Arial"/>
              </a:rPr>
              <a:t> </a:t>
            </a:r>
            <a:r>
              <a:rPr dirty="0" sz="1100" spc="-5" b="1">
                <a:latin typeface="Arial"/>
                <a:cs typeface="Arial"/>
              </a:rPr>
              <a:t>(GDP)</a:t>
            </a:r>
            <a:r>
              <a:rPr dirty="0" sz="1100" spc="-5">
                <a:latin typeface="Arial"/>
                <a:cs typeface="Arial"/>
              </a:rPr>
              <a:t>.</a:t>
            </a:r>
            <a:endParaRPr sz="1100">
              <a:latin typeface="Arial"/>
              <a:cs typeface="Arial"/>
            </a:endParaRPr>
          </a:p>
          <a:p>
            <a:pPr>
              <a:lnSpc>
                <a:spcPct val="100000"/>
              </a:lnSpc>
            </a:pPr>
            <a:endParaRPr sz="1050">
              <a:latin typeface="Arial"/>
              <a:cs typeface="Arial"/>
            </a:endParaRPr>
          </a:p>
          <a:p>
            <a:pPr algn="just" marL="12700">
              <a:lnSpc>
                <a:spcPts val="1290"/>
              </a:lnSpc>
              <a:spcBef>
                <a:spcPts val="5"/>
              </a:spcBef>
            </a:pPr>
            <a:r>
              <a:rPr dirty="0" sz="1100" spc="-5" b="1">
                <a:latin typeface="Arial"/>
                <a:cs typeface="Arial"/>
              </a:rPr>
              <a:t>Income Per</a:t>
            </a:r>
            <a:r>
              <a:rPr dirty="0" sz="1100" b="1">
                <a:latin typeface="Arial"/>
                <a:cs typeface="Arial"/>
              </a:rPr>
              <a:t> </a:t>
            </a:r>
            <a:r>
              <a:rPr dirty="0" sz="1100" spc="-5" b="1">
                <a:latin typeface="Arial"/>
                <a:cs typeface="Arial"/>
              </a:rPr>
              <a:t>Capita:</a:t>
            </a:r>
            <a:endParaRPr sz="1100">
              <a:latin typeface="Arial"/>
              <a:cs typeface="Arial"/>
            </a:endParaRPr>
          </a:p>
          <a:p>
            <a:pPr algn="just" marL="12700">
              <a:lnSpc>
                <a:spcPts val="1290"/>
              </a:lnSpc>
            </a:pPr>
            <a:r>
              <a:rPr dirty="0" sz="1100" spc="-5">
                <a:latin typeface="Arial"/>
                <a:cs typeface="Arial"/>
              </a:rPr>
              <a:t>“Total gross national income of a country divided by total</a:t>
            </a:r>
            <a:r>
              <a:rPr dirty="0" sz="1100" spc="65">
                <a:latin typeface="Arial"/>
                <a:cs typeface="Arial"/>
              </a:rPr>
              <a:t> </a:t>
            </a:r>
            <a:r>
              <a:rPr dirty="0" sz="1100" spc="-5">
                <a:latin typeface="Arial"/>
                <a:cs typeface="Arial"/>
              </a:rPr>
              <a:t>population.”</a:t>
            </a:r>
            <a:endParaRPr sz="1100">
              <a:latin typeface="Arial"/>
              <a:cs typeface="Arial"/>
            </a:endParaRPr>
          </a:p>
          <a:p>
            <a:pPr>
              <a:lnSpc>
                <a:spcPct val="100000"/>
              </a:lnSpc>
              <a:spcBef>
                <a:spcPts val="10"/>
              </a:spcBef>
            </a:pPr>
            <a:endParaRPr sz="1050">
              <a:latin typeface="Arial"/>
              <a:cs typeface="Arial"/>
            </a:endParaRPr>
          </a:p>
          <a:p>
            <a:pPr algn="just" marL="12700">
              <a:lnSpc>
                <a:spcPts val="1290"/>
              </a:lnSpc>
            </a:pPr>
            <a:r>
              <a:rPr dirty="0" sz="1100" spc="-5" b="1">
                <a:latin typeface="Arial"/>
                <a:cs typeface="Arial"/>
              </a:rPr>
              <a:t>Gross National Income</a:t>
            </a:r>
            <a:r>
              <a:rPr dirty="0" sz="1100" spc="10" b="1">
                <a:latin typeface="Arial"/>
                <a:cs typeface="Arial"/>
              </a:rPr>
              <a:t> </a:t>
            </a:r>
            <a:r>
              <a:rPr dirty="0" sz="1100" spc="-5" b="1">
                <a:latin typeface="Arial"/>
                <a:cs typeface="Arial"/>
              </a:rPr>
              <a:t>(GNI):</a:t>
            </a:r>
            <a:endParaRPr sz="1100">
              <a:latin typeface="Arial"/>
              <a:cs typeface="Arial"/>
            </a:endParaRPr>
          </a:p>
          <a:p>
            <a:pPr algn="just" marL="12700" marR="5080">
              <a:lnSpc>
                <a:spcPct val="95700"/>
              </a:lnSpc>
              <a:spcBef>
                <a:spcPts val="25"/>
              </a:spcBef>
            </a:pPr>
            <a:r>
              <a:rPr dirty="0" sz="1100" spc="-5">
                <a:latin typeface="Arial"/>
                <a:cs typeface="Arial"/>
              </a:rPr>
              <a:t>“The total domestic and foreign output claimed by residents of a country. It comprises gross  domestic product (GDP) plus factor incomes accruing to residents from abroad, less the income  earned in the domestic economy accruing to persons</a:t>
            </a:r>
            <a:r>
              <a:rPr dirty="0" sz="1100" spc="40">
                <a:latin typeface="Arial"/>
                <a:cs typeface="Arial"/>
              </a:rPr>
              <a:t> </a:t>
            </a:r>
            <a:r>
              <a:rPr dirty="0" sz="1100" spc="-5">
                <a:latin typeface="Arial"/>
                <a:cs typeface="Arial"/>
              </a:rPr>
              <a:t>abroad.”</a:t>
            </a:r>
            <a:endParaRPr sz="1100">
              <a:latin typeface="Arial"/>
              <a:cs typeface="Arial"/>
            </a:endParaRPr>
          </a:p>
          <a:p>
            <a:pPr>
              <a:lnSpc>
                <a:spcPct val="100000"/>
              </a:lnSpc>
              <a:spcBef>
                <a:spcPts val="10"/>
              </a:spcBef>
            </a:pPr>
            <a:endParaRPr sz="1050">
              <a:latin typeface="Arial"/>
              <a:cs typeface="Arial"/>
            </a:endParaRPr>
          </a:p>
          <a:p>
            <a:pPr algn="just" marL="12700">
              <a:lnSpc>
                <a:spcPts val="1290"/>
              </a:lnSpc>
            </a:pPr>
            <a:r>
              <a:rPr dirty="0" sz="1100" spc="-5" b="1">
                <a:latin typeface="Arial"/>
                <a:cs typeface="Arial"/>
              </a:rPr>
              <a:t>Gross Domestic Product</a:t>
            </a:r>
            <a:r>
              <a:rPr dirty="0" sz="1100" spc="10" b="1">
                <a:latin typeface="Arial"/>
                <a:cs typeface="Arial"/>
              </a:rPr>
              <a:t> </a:t>
            </a:r>
            <a:r>
              <a:rPr dirty="0" sz="1100" spc="-5" b="1">
                <a:latin typeface="Arial"/>
                <a:cs typeface="Arial"/>
              </a:rPr>
              <a:t>(GDP):</a:t>
            </a:r>
            <a:endParaRPr sz="1100">
              <a:latin typeface="Arial"/>
              <a:cs typeface="Arial"/>
            </a:endParaRPr>
          </a:p>
          <a:p>
            <a:pPr algn="just" marL="12700" marR="6350">
              <a:lnSpc>
                <a:spcPct val="95700"/>
              </a:lnSpc>
              <a:spcBef>
                <a:spcPts val="30"/>
              </a:spcBef>
            </a:pPr>
            <a:r>
              <a:rPr dirty="0" sz="1100" spc="-5">
                <a:latin typeface="Arial"/>
                <a:cs typeface="Arial"/>
              </a:rPr>
              <a:t>“The total final output of goods and services produced by the country’s economy, within the  country’s territory, by residents and nonresidents, regardless of its allocation between domestic  and foreign claims.”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II) THE </a:t>
            </a:r>
            <a:r>
              <a:rPr dirty="0" sz="1100" b="1">
                <a:latin typeface="Arial"/>
                <a:cs typeface="Arial"/>
              </a:rPr>
              <a:t>NEW </a:t>
            </a:r>
            <a:r>
              <a:rPr dirty="0" sz="1100" spc="-5" b="1">
                <a:latin typeface="Arial"/>
                <a:cs typeface="Arial"/>
              </a:rPr>
              <a:t>ECONOMIC VIEW OF</a:t>
            </a:r>
            <a:r>
              <a:rPr dirty="0" sz="1100" spc="2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5"/>
              </a:spcBef>
            </a:pPr>
            <a:endParaRPr sz="1000">
              <a:latin typeface="Arial"/>
              <a:cs typeface="Arial"/>
            </a:endParaRPr>
          </a:p>
          <a:p>
            <a:pPr algn="just" marL="12700">
              <a:lnSpc>
                <a:spcPct val="100000"/>
              </a:lnSpc>
            </a:pPr>
            <a:r>
              <a:rPr dirty="0" sz="1100" spc="-5">
                <a:latin typeface="Arial"/>
                <a:cs typeface="Arial"/>
              </a:rPr>
              <a:t>“Leads to improvement </a:t>
            </a:r>
            <a:r>
              <a:rPr dirty="0" sz="1100">
                <a:latin typeface="Arial"/>
                <a:cs typeface="Arial"/>
              </a:rPr>
              <a:t>in </a:t>
            </a:r>
            <a:r>
              <a:rPr dirty="0" sz="1100" spc="-5">
                <a:latin typeface="Arial"/>
                <a:cs typeface="Arial"/>
              </a:rPr>
              <a:t>wellbeing, more broadly</a:t>
            </a:r>
            <a:r>
              <a:rPr dirty="0" sz="1100" spc="30">
                <a:latin typeface="Arial"/>
                <a:cs typeface="Arial"/>
              </a:rPr>
              <a:t> </a:t>
            </a:r>
            <a:r>
              <a:rPr dirty="0" sz="1100" spc="-5">
                <a:latin typeface="Arial"/>
                <a:cs typeface="Arial"/>
              </a:rPr>
              <a:t>understood.”</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experience of the 1950s and 1960s, when many developing nations did reach their  economic growth targets but the levels of living of the masses of people remained </a:t>
            </a:r>
            <a:r>
              <a:rPr dirty="0" sz="1100">
                <a:latin typeface="Arial"/>
                <a:cs typeface="Arial"/>
              </a:rPr>
              <a:t>for </a:t>
            </a:r>
            <a:r>
              <a:rPr dirty="0" sz="1100" spc="-5">
                <a:latin typeface="Arial"/>
                <a:cs typeface="Arial"/>
              </a:rPr>
              <a:t>the most  part unchanged, signaled that something was very wrong with this narrow definition of  development. An increasing number of economists and policymakers clamored for more direct  attacks on widespread absolute poverty, increasingly inequitable income distributions, and rising  unemployment. In short, during the 1970s, economic development came to be redefined in  terms of the reduction or elimination of poverty, inequality, and unemployment within the context  of a growing economy. “Redistribution from growth” became a common</a:t>
            </a:r>
            <a:r>
              <a:rPr dirty="0" sz="1100" spc="90">
                <a:latin typeface="Arial"/>
                <a:cs typeface="Arial"/>
              </a:rPr>
              <a:t> </a:t>
            </a:r>
            <a:r>
              <a:rPr dirty="0" sz="1100" spc="-5">
                <a:latin typeface="Arial"/>
                <a:cs typeface="Arial"/>
              </a:rPr>
              <a:t>slogan.</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Development must therefore be conceived of as a </a:t>
            </a:r>
            <a:r>
              <a:rPr dirty="0" sz="1100" spc="-5" b="1">
                <a:latin typeface="Arial"/>
                <a:cs typeface="Arial"/>
              </a:rPr>
              <a:t>multidimensional process </a:t>
            </a:r>
            <a:r>
              <a:rPr dirty="0" sz="1100" spc="-5">
                <a:latin typeface="Arial"/>
                <a:cs typeface="Arial"/>
              </a:rPr>
              <a:t>involving major  changes in social structures, popular attitudes, and national institutions, as well as the  acceleration of economic growth, the reduction of inequality, and the eradication of poverty.  Development, in its essence, must represent the whole gamut of change by which an entire  social</a:t>
            </a:r>
            <a:r>
              <a:rPr dirty="0" sz="1100" spc="229">
                <a:latin typeface="Arial"/>
                <a:cs typeface="Arial"/>
              </a:rPr>
              <a:t> </a:t>
            </a:r>
            <a:r>
              <a:rPr dirty="0" sz="1100" spc="-5">
                <a:latin typeface="Arial"/>
                <a:cs typeface="Arial"/>
              </a:rPr>
              <a:t>system,</a:t>
            </a:r>
            <a:r>
              <a:rPr dirty="0" sz="1100" spc="229">
                <a:latin typeface="Arial"/>
                <a:cs typeface="Arial"/>
              </a:rPr>
              <a:t> </a:t>
            </a:r>
            <a:r>
              <a:rPr dirty="0" sz="1100" spc="-5">
                <a:latin typeface="Arial"/>
                <a:cs typeface="Arial"/>
              </a:rPr>
              <a:t>tuned</a:t>
            </a:r>
            <a:r>
              <a:rPr dirty="0" sz="1100" spc="229">
                <a:latin typeface="Arial"/>
                <a:cs typeface="Arial"/>
              </a:rPr>
              <a:t> </a:t>
            </a:r>
            <a:r>
              <a:rPr dirty="0" sz="1100" spc="-5">
                <a:latin typeface="Arial"/>
                <a:cs typeface="Arial"/>
              </a:rPr>
              <a:t>to</a:t>
            </a:r>
            <a:r>
              <a:rPr dirty="0" sz="1100" spc="235">
                <a:latin typeface="Arial"/>
                <a:cs typeface="Arial"/>
              </a:rPr>
              <a:t> </a:t>
            </a:r>
            <a:r>
              <a:rPr dirty="0" sz="1100" spc="-5">
                <a:latin typeface="Arial"/>
                <a:cs typeface="Arial"/>
              </a:rPr>
              <a:t>the</a:t>
            </a:r>
            <a:r>
              <a:rPr dirty="0" sz="1100" spc="229">
                <a:latin typeface="Arial"/>
                <a:cs typeface="Arial"/>
              </a:rPr>
              <a:t> </a:t>
            </a:r>
            <a:r>
              <a:rPr dirty="0" sz="1100" spc="-5">
                <a:latin typeface="Arial"/>
                <a:cs typeface="Arial"/>
              </a:rPr>
              <a:t>diverse</a:t>
            </a:r>
            <a:r>
              <a:rPr dirty="0" sz="1100" spc="235">
                <a:latin typeface="Arial"/>
                <a:cs typeface="Arial"/>
              </a:rPr>
              <a:t> </a:t>
            </a:r>
            <a:r>
              <a:rPr dirty="0" sz="1100" spc="-5">
                <a:latin typeface="Arial"/>
                <a:cs typeface="Arial"/>
              </a:rPr>
              <a:t>basic</a:t>
            </a:r>
            <a:r>
              <a:rPr dirty="0" sz="1100" spc="229">
                <a:latin typeface="Arial"/>
                <a:cs typeface="Arial"/>
              </a:rPr>
              <a:t> </a:t>
            </a:r>
            <a:r>
              <a:rPr dirty="0" sz="1100" spc="-5">
                <a:latin typeface="Arial"/>
                <a:cs typeface="Arial"/>
              </a:rPr>
              <a:t>needs</a:t>
            </a:r>
            <a:r>
              <a:rPr dirty="0" sz="1100" spc="229">
                <a:latin typeface="Arial"/>
                <a:cs typeface="Arial"/>
              </a:rPr>
              <a:t> </a:t>
            </a:r>
            <a:r>
              <a:rPr dirty="0" sz="1100" spc="-5">
                <a:latin typeface="Arial"/>
                <a:cs typeface="Arial"/>
              </a:rPr>
              <a:t>and</a:t>
            </a:r>
            <a:r>
              <a:rPr dirty="0" sz="1100" spc="229">
                <a:latin typeface="Arial"/>
                <a:cs typeface="Arial"/>
              </a:rPr>
              <a:t> </a:t>
            </a:r>
            <a:r>
              <a:rPr dirty="0" sz="1100" spc="-5">
                <a:latin typeface="Arial"/>
                <a:cs typeface="Arial"/>
              </a:rPr>
              <a:t>evolving</a:t>
            </a:r>
            <a:r>
              <a:rPr dirty="0" sz="1100" spc="229">
                <a:latin typeface="Arial"/>
                <a:cs typeface="Arial"/>
              </a:rPr>
              <a:t> </a:t>
            </a:r>
            <a:r>
              <a:rPr dirty="0" sz="1100" spc="-5">
                <a:latin typeface="Arial"/>
                <a:cs typeface="Arial"/>
              </a:rPr>
              <a:t>aspirations</a:t>
            </a:r>
            <a:r>
              <a:rPr dirty="0" sz="1100" spc="229">
                <a:latin typeface="Arial"/>
                <a:cs typeface="Arial"/>
              </a:rPr>
              <a:t> </a:t>
            </a:r>
            <a:r>
              <a:rPr dirty="0" sz="1100" spc="-5">
                <a:latin typeface="Arial"/>
                <a:cs typeface="Arial"/>
              </a:rPr>
              <a:t>of</a:t>
            </a:r>
            <a:r>
              <a:rPr dirty="0" sz="1100" spc="235">
                <a:latin typeface="Arial"/>
                <a:cs typeface="Arial"/>
              </a:rPr>
              <a:t> </a:t>
            </a:r>
            <a:r>
              <a:rPr dirty="0" sz="1100" spc="-5">
                <a:latin typeface="Arial"/>
                <a:cs typeface="Arial"/>
              </a:rPr>
              <a:t>individuals</a:t>
            </a:r>
            <a:r>
              <a:rPr dirty="0" sz="1100" spc="229">
                <a:latin typeface="Arial"/>
                <a:cs typeface="Arial"/>
              </a:rPr>
              <a:t> </a:t>
            </a:r>
            <a:r>
              <a:rPr dirty="0" sz="1100" spc="-5">
                <a:latin typeface="Arial"/>
                <a:cs typeface="Arial"/>
              </a:rPr>
              <a:t>and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a:t>
            </a:r>
            <a:endParaRPr sz="1100">
              <a:latin typeface="Carlito"/>
              <a:cs typeface="Carl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03845"/>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social groups within that system, moves </a:t>
            </a:r>
            <a:r>
              <a:rPr dirty="0" sz="1100">
                <a:latin typeface="Arial"/>
                <a:cs typeface="Arial"/>
              </a:rPr>
              <a:t>away from </a:t>
            </a:r>
            <a:r>
              <a:rPr dirty="0" sz="1100" spc="-5">
                <a:latin typeface="Arial"/>
                <a:cs typeface="Arial"/>
              </a:rPr>
              <a:t>a condition of life widely perceived as  unsatisfactory toward a situation or condition of life regarded as materially and spiritually</a:t>
            </a:r>
            <a:r>
              <a:rPr dirty="0" sz="1100" spc="260">
                <a:latin typeface="Arial"/>
                <a:cs typeface="Arial"/>
              </a:rPr>
              <a:t> </a:t>
            </a:r>
            <a:r>
              <a:rPr dirty="0" sz="1100" spc="-5">
                <a:latin typeface="Arial"/>
                <a:cs typeface="Arial"/>
              </a:rPr>
              <a:t>better.</a:t>
            </a:r>
            <a:endParaRPr sz="1100">
              <a:latin typeface="Arial"/>
              <a:cs typeface="Arial"/>
            </a:endParaRPr>
          </a:p>
          <a:p>
            <a:pPr>
              <a:lnSpc>
                <a:spcPct val="100000"/>
              </a:lnSpc>
              <a:spcBef>
                <a:spcPts val="25"/>
              </a:spcBef>
            </a:pPr>
            <a:endParaRPr sz="1000">
              <a:latin typeface="Arial"/>
              <a:cs typeface="Arial"/>
            </a:endParaRPr>
          </a:p>
          <a:p>
            <a:pPr marL="214629" indent="-202565">
              <a:lnSpc>
                <a:spcPct val="100000"/>
              </a:lnSpc>
              <a:buAutoNum type="romanUcParenR" startAt="3"/>
              <a:tabLst>
                <a:tab pos="215265" algn="l"/>
              </a:tabLst>
            </a:pPr>
            <a:r>
              <a:rPr dirty="0" sz="1100" spc="-5" b="1">
                <a:latin typeface="Arial"/>
                <a:cs typeface="Arial"/>
              </a:rPr>
              <a:t>AMARTYA SEN’S “CAPABILITY”</a:t>
            </a:r>
            <a:r>
              <a:rPr dirty="0" sz="1100" spc="10" b="1">
                <a:latin typeface="Arial"/>
                <a:cs typeface="Arial"/>
              </a:rPr>
              <a:t> </a:t>
            </a:r>
            <a:r>
              <a:rPr dirty="0" sz="1100" spc="-5" b="1">
                <a:latin typeface="Arial"/>
                <a:cs typeface="Arial"/>
              </a:rPr>
              <a:t>APPROACH</a:t>
            </a:r>
            <a:endParaRPr sz="1100">
              <a:latin typeface="Arial"/>
              <a:cs typeface="Arial"/>
            </a:endParaRPr>
          </a:p>
          <a:p>
            <a:pPr>
              <a:lnSpc>
                <a:spcPct val="100000"/>
              </a:lnSpc>
              <a:spcBef>
                <a:spcPts val="25"/>
              </a:spcBef>
              <a:buFont typeface="Arial"/>
              <a:buAutoNum type="romanUcParenR" startAt="3"/>
            </a:pPr>
            <a:endParaRPr sz="1100">
              <a:latin typeface="Arial"/>
              <a:cs typeface="Arial"/>
            </a:endParaRPr>
          </a:p>
          <a:p>
            <a:pPr algn="just" marL="12700" marR="5080" indent="-635">
              <a:lnSpc>
                <a:spcPts val="1270"/>
              </a:lnSpc>
            </a:pPr>
            <a:r>
              <a:rPr dirty="0" sz="1100" spc="-5">
                <a:latin typeface="Arial"/>
                <a:cs typeface="Arial"/>
              </a:rPr>
              <a:t>Amartya </a:t>
            </a:r>
            <a:r>
              <a:rPr dirty="0" sz="1100">
                <a:latin typeface="Arial"/>
                <a:cs typeface="Arial"/>
              </a:rPr>
              <a:t>Sen, </a:t>
            </a:r>
            <a:r>
              <a:rPr dirty="0" sz="1100" spc="-5">
                <a:latin typeface="Arial"/>
                <a:cs typeface="Arial"/>
              </a:rPr>
              <a:t>the 1998 Nobel laureate in economics, argues that the </a:t>
            </a:r>
            <a:r>
              <a:rPr dirty="0" sz="1100" spc="-5" b="1">
                <a:latin typeface="Arial"/>
                <a:cs typeface="Arial"/>
              </a:rPr>
              <a:t>“capability to function”  </a:t>
            </a:r>
            <a:r>
              <a:rPr dirty="0" sz="1100" spc="-5">
                <a:latin typeface="Arial"/>
                <a:cs typeface="Arial"/>
              </a:rPr>
              <a:t>is what really matters </a:t>
            </a:r>
            <a:r>
              <a:rPr dirty="0" sz="1100">
                <a:latin typeface="Arial"/>
                <a:cs typeface="Arial"/>
              </a:rPr>
              <a:t>for </a:t>
            </a:r>
            <a:r>
              <a:rPr dirty="0" sz="1100" spc="-5">
                <a:latin typeface="Arial"/>
                <a:cs typeface="Arial"/>
              </a:rPr>
              <a:t>status as a poor or non poor person. As Sen put it, “Economic growth  cannot be sensibly treated as an </a:t>
            </a:r>
            <a:r>
              <a:rPr dirty="0" sz="1100">
                <a:latin typeface="Arial"/>
                <a:cs typeface="Arial"/>
              </a:rPr>
              <a:t>end </a:t>
            </a:r>
            <a:r>
              <a:rPr dirty="0" sz="1100" spc="-5">
                <a:latin typeface="Arial"/>
                <a:cs typeface="Arial"/>
              </a:rPr>
              <a:t>in itself. Development has to </a:t>
            </a:r>
            <a:r>
              <a:rPr dirty="0" sz="1100">
                <a:latin typeface="Arial"/>
                <a:cs typeface="Arial"/>
              </a:rPr>
              <a:t>be </a:t>
            </a:r>
            <a:r>
              <a:rPr dirty="0" sz="1100" spc="-5">
                <a:latin typeface="Arial"/>
                <a:cs typeface="Arial"/>
              </a:rPr>
              <a:t>more concerned with  enhancing the lives we lead and the freedoms we</a:t>
            </a:r>
            <a:r>
              <a:rPr dirty="0" sz="1100" spc="45">
                <a:latin typeface="Arial"/>
                <a:cs typeface="Arial"/>
              </a:rPr>
              <a:t> </a:t>
            </a:r>
            <a:r>
              <a:rPr dirty="0" sz="1100" spc="-5">
                <a:latin typeface="Arial"/>
                <a:cs typeface="Arial"/>
              </a:rPr>
              <a:t>enjoy.”</a:t>
            </a:r>
            <a:endParaRPr sz="1100">
              <a:latin typeface="Arial"/>
              <a:cs typeface="Arial"/>
            </a:endParaRPr>
          </a:p>
          <a:p>
            <a:pPr>
              <a:lnSpc>
                <a:spcPct val="100000"/>
              </a:lnSpc>
              <a:spcBef>
                <a:spcPts val="5"/>
              </a:spcBef>
            </a:pPr>
            <a:endParaRPr sz="1050">
              <a:latin typeface="Arial"/>
              <a:cs typeface="Arial"/>
            </a:endParaRPr>
          </a:p>
          <a:p>
            <a:pPr algn="just" marL="12700" marR="5715">
              <a:lnSpc>
                <a:spcPct val="95800"/>
              </a:lnSpc>
              <a:spcBef>
                <a:spcPts val="5"/>
              </a:spcBef>
            </a:pPr>
            <a:r>
              <a:rPr dirty="0" sz="1100" spc="-5">
                <a:latin typeface="Arial"/>
                <a:cs typeface="Arial"/>
              </a:rPr>
              <a:t>In effect, Sen argues that poverty cannot be properly measured by income or even by utility as  conventionally understood; what matters fundamentally is not the things a person has—or the  feelings these provide—but what a person is, or can be, and does, or can do. What matters for  well-being is not just the characteristics of commodities consumed, as in the utility approach, but  what use the consumer can and does make of commodities. For example, a book is of little  value to an illiterate person (except perhaps as cooking fuel or as a status</a:t>
            </a:r>
            <a:r>
              <a:rPr dirty="0" sz="1100" spc="130">
                <a:latin typeface="Arial"/>
                <a:cs typeface="Arial"/>
              </a:rPr>
              <a:t> </a:t>
            </a:r>
            <a:r>
              <a:rPr dirty="0" sz="1100" spc="-5">
                <a:latin typeface="Arial"/>
                <a:cs typeface="Arial"/>
              </a:rPr>
              <a:t>symbol).</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To make </a:t>
            </a:r>
            <a:r>
              <a:rPr dirty="0" sz="1100">
                <a:latin typeface="Arial"/>
                <a:cs typeface="Arial"/>
              </a:rPr>
              <a:t>any </a:t>
            </a:r>
            <a:r>
              <a:rPr dirty="0" sz="1100" spc="-5">
                <a:latin typeface="Arial"/>
                <a:cs typeface="Arial"/>
              </a:rPr>
              <a:t>sense of </a:t>
            </a:r>
            <a:r>
              <a:rPr dirty="0" sz="1100">
                <a:latin typeface="Arial"/>
                <a:cs typeface="Arial"/>
              </a:rPr>
              <a:t>the </a:t>
            </a:r>
            <a:r>
              <a:rPr dirty="0" sz="1100" spc="-5">
                <a:latin typeface="Arial"/>
                <a:cs typeface="Arial"/>
              </a:rPr>
              <a:t>concept of human well-being in general, and poverty in particular, we  need to think beyond the availability of commodities and consider their use to address what </a:t>
            </a:r>
            <a:r>
              <a:rPr dirty="0" sz="1100">
                <a:latin typeface="Arial"/>
                <a:cs typeface="Arial"/>
              </a:rPr>
              <a:t>Sen  </a:t>
            </a:r>
            <a:r>
              <a:rPr dirty="0" sz="1100" spc="-5">
                <a:latin typeface="Arial"/>
                <a:cs typeface="Arial"/>
              </a:rPr>
              <a:t>calls </a:t>
            </a:r>
            <a:r>
              <a:rPr dirty="0" sz="1100" spc="-5" b="1">
                <a:latin typeface="Arial"/>
                <a:cs typeface="Arial"/>
              </a:rPr>
              <a:t>functioning’s</a:t>
            </a:r>
            <a:r>
              <a:rPr dirty="0" sz="1100" spc="-5">
                <a:latin typeface="Arial"/>
                <a:cs typeface="Arial"/>
              </a:rPr>
              <a:t>, that is, what a person does (or can do) with </a:t>
            </a:r>
            <a:r>
              <a:rPr dirty="0" sz="1100">
                <a:latin typeface="Arial"/>
                <a:cs typeface="Arial"/>
              </a:rPr>
              <a:t>the </a:t>
            </a:r>
            <a:r>
              <a:rPr dirty="0" sz="1100" spc="-5">
                <a:latin typeface="Arial"/>
                <a:cs typeface="Arial"/>
              </a:rPr>
              <a:t>commodities of given  characteristics that they come to possess or control. Freedom of choice, or control of one’s own  life, is itself a central aspect of most understandings of</a:t>
            </a:r>
            <a:r>
              <a:rPr dirty="0" sz="1100" spc="55">
                <a:latin typeface="Arial"/>
                <a:cs typeface="Arial"/>
              </a:rPr>
              <a:t> </a:t>
            </a:r>
            <a:r>
              <a:rPr dirty="0" sz="1100" spc="-5">
                <a:latin typeface="Arial"/>
                <a:cs typeface="Arial"/>
              </a:rPr>
              <a:t>well-being.</a:t>
            </a:r>
            <a:endParaRPr sz="1100">
              <a:latin typeface="Arial"/>
              <a:cs typeface="Arial"/>
            </a:endParaRPr>
          </a:p>
          <a:p>
            <a:pPr>
              <a:lnSpc>
                <a:spcPct val="100000"/>
              </a:lnSpc>
              <a:spcBef>
                <a:spcPts val="30"/>
              </a:spcBef>
            </a:pPr>
            <a:endParaRPr sz="1100">
              <a:latin typeface="Arial"/>
              <a:cs typeface="Arial"/>
            </a:endParaRPr>
          </a:p>
          <a:p>
            <a:pPr algn="just" marL="12700" marR="5715">
              <a:lnSpc>
                <a:spcPts val="1270"/>
              </a:lnSpc>
            </a:pPr>
            <a:r>
              <a:rPr dirty="0" sz="1100" spc="-5" b="1">
                <a:latin typeface="Arial"/>
                <a:cs typeface="Arial"/>
              </a:rPr>
              <a:t>Sen identifies five sources of disparity </a:t>
            </a:r>
            <a:r>
              <a:rPr dirty="0" sz="1100" spc="-5">
                <a:latin typeface="Arial"/>
                <a:cs typeface="Arial"/>
              </a:rPr>
              <a:t>between (measured) real incomes and actual  advantages:</a:t>
            </a:r>
            <a:endParaRPr sz="1100">
              <a:latin typeface="Arial"/>
              <a:cs typeface="Arial"/>
            </a:endParaRPr>
          </a:p>
          <a:p>
            <a:pPr>
              <a:lnSpc>
                <a:spcPct val="100000"/>
              </a:lnSpc>
              <a:spcBef>
                <a:spcPts val="45"/>
              </a:spcBef>
            </a:pPr>
            <a:endParaRPr sz="1050">
              <a:latin typeface="Arial"/>
              <a:cs typeface="Arial"/>
            </a:endParaRPr>
          </a:p>
          <a:p>
            <a:pPr lvl="1" marL="469900" marR="5715" indent="-228600">
              <a:lnSpc>
                <a:spcPts val="1270"/>
              </a:lnSpc>
              <a:buFont typeface="Arial"/>
              <a:buAutoNum type="arabicPeriod"/>
              <a:tabLst>
                <a:tab pos="469900" algn="l"/>
              </a:tabLst>
            </a:pPr>
            <a:r>
              <a:rPr dirty="0" sz="1100" spc="-5">
                <a:latin typeface="Arial"/>
                <a:cs typeface="Arial"/>
              </a:rPr>
              <a:t>Personal heterogeneities, such as those connected with disability, illness, age, or  gender.</a:t>
            </a:r>
            <a:endParaRPr sz="1100">
              <a:latin typeface="Arial"/>
              <a:cs typeface="Arial"/>
            </a:endParaRPr>
          </a:p>
          <a:p>
            <a:pPr lvl="1" marL="469900" indent="-228600">
              <a:lnSpc>
                <a:spcPts val="1200"/>
              </a:lnSpc>
              <a:buFont typeface="Arial"/>
              <a:buAutoNum type="arabicPeriod"/>
              <a:tabLst>
                <a:tab pos="469900" algn="l"/>
              </a:tabLst>
            </a:pPr>
            <a:r>
              <a:rPr dirty="0" sz="1100" spc="-5">
                <a:latin typeface="Arial"/>
                <a:cs typeface="Arial"/>
              </a:rPr>
              <a:t>Environmental</a:t>
            </a:r>
            <a:r>
              <a:rPr dirty="0" sz="1100" spc="120">
                <a:latin typeface="Arial"/>
                <a:cs typeface="Arial"/>
              </a:rPr>
              <a:t> </a:t>
            </a:r>
            <a:r>
              <a:rPr dirty="0" sz="1100" spc="-5">
                <a:latin typeface="Arial"/>
                <a:cs typeface="Arial"/>
              </a:rPr>
              <a:t>diversities,</a:t>
            </a:r>
            <a:r>
              <a:rPr dirty="0" sz="1100" spc="120">
                <a:latin typeface="Arial"/>
                <a:cs typeface="Arial"/>
              </a:rPr>
              <a:t> </a:t>
            </a:r>
            <a:r>
              <a:rPr dirty="0" sz="1100" spc="-5">
                <a:latin typeface="Arial"/>
                <a:cs typeface="Arial"/>
              </a:rPr>
              <a:t>such</a:t>
            </a:r>
            <a:r>
              <a:rPr dirty="0" sz="1100" spc="120">
                <a:latin typeface="Arial"/>
                <a:cs typeface="Arial"/>
              </a:rPr>
              <a:t> </a:t>
            </a:r>
            <a:r>
              <a:rPr dirty="0" sz="1100" spc="-5">
                <a:latin typeface="Arial"/>
                <a:cs typeface="Arial"/>
              </a:rPr>
              <a:t>as</a:t>
            </a:r>
            <a:r>
              <a:rPr dirty="0" sz="1100" spc="125">
                <a:latin typeface="Arial"/>
                <a:cs typeface="Arial"/>
              </a:rPr>
              <a:t> </a:t>
            </a:r>
            <a:r>
              <a:rPr dirty="0" sz="1100" spc="-5">
                <a:latin typeface="Arial"/>
                <a:cs typeface="Arial"/>
              </a:rPr>
              <a:t>heating</a:t>
            </a:r>
            <a:r>
              <a:rPr dirty="0" sz="1100" spc="120">
                <a:latin typeface="Arial"/>
                <a:cs typeface="Arial"/>
              </a:rPr>
              <a:t> </a:t>
            </a:r>
            <a:r>
              <a:rPr dirty="0" sz="1100" spc="-5">
                <a:latin typeface="Arial"/>
                <a:cs typeface="Arial"/>
              </a:rPr>
              <a:t>and</a:t>
            </a:r>
            <a:r>
              <a:rPr dirty="0" sz="1100" spc="120">
                <a:latin typeface="Arial"/>
                <a:cs typeface="Arial"/>
              </a:rPr>
              <a:t> </a:t>
            </a:r>
            <a:r>
              <a:rPr dirty="0" sz="1100" spc="-5">
                <a:latin typeface="Arial"/>
                <a:cs typeface="Arial"/>
              </a:rPr>
              <a:t>clothing</a:t>
            </a:r>
            <a:r>
              <a:rPr dirty="0" sz="1100" spc="125">
                <a:latin typeface="Arial"/>
                <a:cs typeface="Arial"/>
              </a:rPr>
              <a:t> </a:t>
            </a:r>
            <a:r>
              <a:rPr dirty="0" sz="1100" spc="-5">
                <a:latin typeface="Arial"/>
                <a:cs typeface="Arial"/>
              </a:rPr>
              <a:t>requirements</a:t>
            </a:r>
            <a:r>
              <a:rPr dirty="0" sz="1100" spc="120">
                <a:latin typeface="Arial"/>
                <a:cs typeface="Arial"/>
              </a:rPr>
              <a:t> </a:t>
            </a:r>
            <a:r>
              <a:rPr dirty="0" sz="1100" spc="-5">
                <a:latin typeface="Arial"/>
                <a:cs typeface="Arial"/>
              </a:rPr>
              <a:t>in</a:t>
            </a:r>
            <a:r>
              <a:rPr dirty="0" sz="1100" spc="125">
                <a:latin typeface="Arial"/>
                <a:cs typeface="Arial"/>
              </a:rPr>
              <a:t> </a:t>
            </a:r>
            <a:r>
              <a:rPr dirty="0" sz="1100" spc="-5">
                <a:latin typeface="Arial"/>
                <a:cs typeface="Arial"/>
              </a:rPr>
              <a:t>the</a:t>
            </a:r>
            <a:r>
              <a:rPr dirty="0" sz="1100" spc="114">
                <a:latin typeface="Arial"/>
                <a:cs typeface="Arial"/>
              </a:rPr>
              <a:t> </a:t>
            </a:r>
            <a:r>
              <a:rPr dirty="0" sz="1100" spc="-5">
                <a:latin typeface="Arial"/>
                <a:cs typeface="Arial"/>
              </a:rPr>
              <a:t>cold,</a:t>
            </a:r>
            <a:endParaRPr sz="1100">
              <a:latin typeface="Arial"/>
              <a:cs typeface="Arial"/>
            </a:endParaRPr>
          </a:p>
          <a:p>
            <a:pPr marL="469900">
              <a:lnSpc>
                <a:spcPts val="1265"/>
              </a:lnSpc>
            </a:pPr>
            <a:r>
              <a:rPr dirty="0" sz="1100" spc="-5">
                <a:latin typeface="Arial"/>
                <a:cs typeface="Arial"/>
              </a:rPr>
              <a:t>infectious diseases in the tropics, or the impact of</a:t>
            </a:r>
            <a:r>
              <a:rPr dirty="0" sz="1100" spc="50">
                <a:latin typeface="Arial"/>
                <a:cs typeface="Arial"/>
              </a:rPr>
              <a:t> </a:t>
            </a:r>
            <a:r>
              <a:rPr dirty="0" sz="1100" spc="-5">
                <a:latin typeface="Arial"/>
                <a:cs typeface="Arial"/>
              </a:rPr>
              <a:t>pollution.</a:t>
            </a:r>
            <a:endParaRPr sz="1100">
              <a:latin typeface="Arial"/>
              <a:cs typeface="Arial"/>
            </a:endParaRPr>
          </a:p>
          <a:p>
            <a:pPr lvl="1" marL="469900" marR="6350" indent="-228600">
              <a:lnSpc>
                <a:spcPts val="1270"/>
              </a:lnSpc>
              <a:spcBef>
                <a:spcPts val="55"/>
              </a:spcBef>
              <a:buFont typeface="Arial"/>
              <a:buAutoNum type="arabicPeriod" startAt="3"/>
              <a:tabLst>
                <a:tab pos="469900" algn="l"/>
              </a:tabLst>
            </a:pPr>
            <a:r>
              <a:rPr dirty="0" sz="1100" spc="-5">
                <a:latin typeface="Arial"/>
                <a:cs typeface="Arial"/>
              </a:rPr>
              <a:t>Variations in social climate, such as the prevalence of crime and violence, and “social  capital”.</a:t>
            </a:r>
            <a:endParaRPr sz="1100">
              <a:latin typeface="Arial"/>
              <a:cs typeface="Arial"/>
            </a:endParaRPr>
          </a:p>
          <a:p>
            <a:pPr lvl="1" marL="469900" indent="-228600">
              <a:lnSpc>
                <a:spcPts val="1200"/>
              </a:lnSpc>
              <a:buFont typeface="Arial"/>
              <a:buAutoNum type="arabicPeriod" startAt="3"/>
              <a:tabLst>
                <a:tab pos="469900" algn="l"/>
              </a:tabLst>
            </a:pPr>
            <a:r>
              <a:rPr dirty="0" sz="1100" spc="-5">
                <a:latin typeface="Arial"/>
                <a:cs typeface="Arial"/>
              </a:rPr>
              <a:t>Distribution</a:t>
            </a:r>
            <a:r>
              <a:rPr dirty="0" sz="1100" spc="85">
                <a:latin typeface="Arial"/>
                <a:cs typeface="Arial"/>
              </a:rPr>
              <a:t> </a:t>
            </a:r>
            <a:r>
              <a:rPr dirty="0" sz="1100" spc="-5">
                <a:latin typeface="Arial"/>
                <a:cs typeface="Arial"/>
              </a:rPr>
              <a:t>within</a:t>
            </a:r>
            <a:r>
              <a:rPr dirty="0" sz="1100" spc="105">
                <a:latin typeface="Arial"/>
                <a:cs typeface="Arial"/>
              </a:rPr>
              <a:t> </a:t>
            </a:r>
            <a:r>
              <a:rPr dirty="0" sz="1100" spc="-5">
                <a:latin typeface="Arial"/>
                <a:cs typeface="Arial"/>
              </a:rPr>
              <a:t>the</a:t>
            </a:r>
            <a:r>
              <a:rPr dirty="0" sz="1100" spc="90">
                <a:latin typeface="Arial"/>
                <a:cs typeface="Arial"/>
              </a:rPr>
              <a:t> </a:t>
            </a:r>
            <a:r>
              <a:rPr dirty="0" sz="1100" spc="-5">
                <a:latin typeface="Arial"/>
                <a:cs typeface="Arial"/>
              </a:rPr>
              <a:t>family:</a:t>
            </a:r>
            <a:r>
              <a:rPr dirty="0" sz="1100" spc="105">
                <a:latin typeface="Arial"/>
                <a:cs typeface="Arial"/>
              </a:rPr>
              <a:t> </a:t>
            </a:r>
            <a:r>
              <a:rPr dirty="0" sz="1100" spc="-5">
                <a:latin typeface="Arial"/>
                <a:cs typeface="Arial"/>
              </a:rPr>
              <a:t>Economic</a:t>
            </a:r>
            <a:r>
              <a:rPr dirty="0" sz="1100" spc="105">
                <a:latin typeface="Arial"/>
                <a:cs typeface="Arial"/>
              </a:rPr>
              <a:t> </a:t>
            </a:r>
            <a:r>
              <a:rPr dirty="0" sz="1100" spc="-5">
                <a:latin typeface="Arial"/>
                <a:cs typeface="Arial"/>
              </a:rPr>
              <a:t>statistics</a:t>
            </a:r>
            <a:r>
              <a:rPr dirty="0" sz="1100" spc="100">
                <a:latin typeface="Arial"/>
                <a:cs typeface="Arial"/>
              </a:rPr>
              <a:t> </a:t>
            </a:r>
            <a:r>
              <a:rPr dirty="0" sz="1100" spc="-5">
                <a:latin typeface="Arial"/>
                <a:cs typeface="Arial"/>
              </a:rPr>
              <a:t>measure</a:t>
            </a:r>
            <a:r>
              <a:rPr dirty="0" sz="1100" spc="105">
                <a:latin typeface="Arial"/>
                <a:cs typeface="Arial"/>
              </a:rPr>
              <a:t> </a:t>
            </a:r>
            <a:r>
              <a:rPr dirty="0" sz="1100" spc="-5">
                <a:latin typeface="Arial"/>
                <a:cs typeface="Arial"/>
              </a:rPr>
              <a:t>incomes</a:t>
            </a:r>
            <a:r>
              <a:rPr dirty="0" sz="1100" spc="105">
                <a:latin typeface="Arial"/>
                <a:cs typeface="Arial"/>
              </a:rPr>
              <a:t> </a:t>
            </a:r>
            <a:r>
              <a:rPr dirty="0" sz="1100" spc="-5">
                <a:latin typeface="Arial"/>
                <a:cs typeface="Arial"/>
              </a:rPr>
              <a:t>received</a:t>
            </a:r>
            <a:r>
              <a:rPr dirty="0" sz="1100" spc="100">
                <a:latin typeface="Arial"/>
                <a:cs typeface="Arial"/>
              </a:rPr>
              <a:t> </a:t>
            </a:r>
            <a:r>
              <a:rPr dirty="0" sz="1100" spc="-5">
                <a:latin typeface="Arial"/>
                <a:cs typeface="Arial"/>
              </a:rPr>
              <a:t>in</a:t>
            </a:r>
            <a:r>
              <a:rPr dirty="0" sz="1100" spc="105">
                <a:latin typeface="Arial"/>
                <a:cs typeface="Arial"/>
              </a:rPr>
              <a:t> </a:t>
            </a:r>
            <a:r>
              <a:rPr dirty="0" sz="1100" spc="-5">
                <a:latin typeface="Arial"/>
                <a:cs typeface="Arial"/>
              </a:rPr>
              <a:t>a</a:t>
            </a:r>
            <a:r>
              <a:rPr dirty="0" sz="1100" spc="95">
                <a:latin typeface="Arial"/>
                <a:cs typeface="Arial"/>
              </a:rPr>
              <a:t> </a:t>
            </a:r>
            <a:r>
              <a:rPr dirty="0" sz="1100" spc="-5">
                <a:latin typeface="Arial"/>
                <a:cs typeface="Arial"/>
              </a:rPr>
              <a:t>family</a:t>
            </a:r>
            <a:endParaRPr sz="1100">
              <a:latin typeface="Arial"/>
              <a:cs typeface="Arial"/>
            </a:endParaRPr>
          </a:p>
          <a:p>
            <a:pPr marL="469900">
              <a:lnSpc>
                <a:spcPts val="1265"/>
              </a:lnSpc>
            </a:pPr>
            <a:r>
              <a:rPr dirty="0" sz="1100" spc="-5">
                <a:latin typeface="Arial"/>
                <a:cs typeface="Arial"/>
              </a:rPr>
              <a:t>because it is the basic unit of shared</a:t>
            </a:r>
            <a:r>
              <a:rPr dirty="0" sz="1100" spc="30">
                <a:latin typeface="Arial"/>
                <a:cs typeface="Arial"/>
              </a:rPr>
              <a:t> </a:t>
            </a:r>
            <a:r>
              <a:rPr dirty="0" sz="1100" spc="-5">
                <a:latin typeface="Arial"/>
                <a:cs typeface="Arial"/>
              </a:rPr>
              <a:t>consumption.</a:t>
            </a:r>
            <a:endParaRPr sz="1100">
              <a:latin typeface="Arial"/>
              <a:cs typeface="Arial"/>
            </a:endParaRPr>
          </a:p>
          <a:p>
            <a:pPr lvl="1" marL="469900" indent="-228600">
              <a:lnSpc>
                <a:spcPts val="1295"/>
              </a:lnSpc>
              <a:buFont typeface="Arial"/>
              <a:buAutoNum type="arabicPeriod" startAt="5"/>
              <a:tabLst>
                <a:tab pos="469900" algn="l"/>
              </a:tabLst>
            </a:pPr>
            <a:r>
              <a:rPr dirty="0" sz="1100" spc="-5">
                <a:latin typeface="Arial"/>
                <a:cs typeface="Arial"/>
              </a:rPr>
              <a:t>Differences in relational</a:t>
            </a:r>
            <a:r>
              <a:rPr dirty="0" sz="1100" spc="5">
                <a:latin typeface="Arial"/>
                <a:cs typeface="Arial"/>
              </a:rPr>
              <a:t> </a:t>
            </a:r>
            <a:r>
              <a:rPr dirty="0" sz="1100" spc="-5">
                <a:latin typeface="Arial"/>
                <a:cs typeface="Arial"/>
              </a:rPr>
              <a:t>perspectives.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Thus looking at real income levels or even the levels of consumption of specific commodities  cannot suffice as a measure of well-being. One may have a lot of commodities, but these are of  little value if they are not what consumer’s desire. Indeed, the capacity to maintain valued social  relationships and to network leads to what James Foster and Christopher Handy have termed  </a:t>
            </a:r>
            <a:r>
              <a:rPr dirty="0" sz="1100" spc="-5" b="1">
                <a:latin typeface="Arial"/>
                <a:cs typeface="Arial"/>
              </a:rPr>
              <a:t>external capabilities</a:t>
            </a:r>
            <a:r>
              <a:rPr dirty="0" sz="1100" spc="-5">
                <a:latin typeface="Arial"/>
                <a:cs typeface="Arial"/>
              </a:rPr>
              <a:t>, which are “abilities to function that are conferred by direct connection or  relationship with another</a:t>
            </a:r>
            <a:r>
              <a:rPr dirty="0" sz="1100" spc="5">
                <a:latin typeface="Arial"/>
                <a:cs typeface="Arial"/>
              </a:rPr>
              <a:t> </a:t>
            </a:r>
            <a:r>
              <a:rPr dirty="0" sz="1100" spc="-5">
                <a:latin typeface="Arial"/>
                <a:cs typeface="Arial"/>
              </a:rPr>
              <a:t>person.”</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As Sen stresses, a person’s own valuation of what kind of life would be worthwhile is not  necessarily the same as what gives pleasure to that person. If we identify utility with happiness  in a particular way, then very </a:t>
            </a:r>
            <a:r>
              <a:rPr dirty="0" sz="1100">
                <a:latin typeface="Arial"/>
                <a:cs typeface="Arial"/>
              </a:rPr>
              <a:t>poor </a:t>
            </a:r>
            <a:r>
              <a:rPr dirty="0" sz="1100" spc="-5">
                <a:latin typeface="Arial"/>
                <a:cs typeface="Arial"/>
              </a:rPr>
              <a:t>people can have very high utility. Sometimes even  malnourished people either have a disposition that keeps them feeling rather blissful. The  </a:t>
            </a:r>
            <a:r>
              <a:rPr dirty="0" sz="1100" spc="-5" b="1">
                <a:latin typeface="Arial"/>
                <a:cs typeface="Arial"/>
              </a:rPr>
              <a:t>functioning’s of a person is an achievement</a:t>
            </a:r>
            <a:r>
              <a:rPr dirty="0" sz="1100" spc="-5">
                <a:latin typeface="Arial"/>
                <a:cs typeface="Arial"/>
              </a:rPr>
              <a:t>; it is what the person succeeds in doing with the  commodities and characteristics at his or her</a:t>
            </a:r>
            <a:r>
              <a:rPr dirty="0" sz="1100" spc="30">
                <a:latin typeface="Arial"/>
                <a:cs typeface="Arial"/>
              </a:rPr>
              <a:t> </a:t>
            </a:r>
            <a:r>
              <a:rPr dirty="0" sz="1100" spc="-5">
                <a:latin typeface="Arial"/>
                <a:cs typeface="Arial"/>
              </a:rPr>
              <a:t>command.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a:t>
            </a:r>
            <a:endParaRPr sz="1100">
              <a:latin typeface="Carlito"/>
              <a:cs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8140065"/>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To clarify this point, in his acclaimed 2009 book The Idea of Justice Sen suggests that  subjective well-being is a kind of psychological state of being—a functioning—that could be  pursued alongside other functionings such as health and</a:t>
            </a:r>
            <a:r>
              <a:rPr dirty="0" sz="1100" spc="35">
                <a:latin typeface="Arial"/>
                <a:cs typeface="Arial"/>
              </a:rPr>
              <a:t> </a:t>
            </a:r>
            <a:r>
              <a:rPr dirty="0" sz="1100" spc="-5">
                <a:latin typeface="Arial"/>
                <a:cs typeface="Arial"/>
              </a:rPr>
              <a:t>dignity.</a:t>
            </a:r>
            <a:endParaRPr sz="1100">
              <a:latin typeface="Arial"/>
              <a:cs typeface="Arial"/>
            </a:endParaRPr>
          </a:p>
          <a:p>
            <a:pPr>
              <a:lnSpc>
                <a:spcPct val="100000"/>
              </a:lnSpc>
              <a:spcBef>
                <a:spcPts val="15"/>
              </a:spcBef>
            </a:pPr>
            <a:endParaRPr sz="1000">
              <a:latin typeface="Arial"/>
              <a:cs typeface="Arial"/>
            </a:endParaRPr>
          </a:p>
          <a:p>
            <a:pPr marL="12700">
              <a:lnSpc>
                <a:spcPct val="100000"/>
              </a:lnSpc>
            </a:pPr>
            <a:r>
              <a:rPr dirty="0" sz="1100" spc="-5">
                <a:latin typeface="Arial"/>
                <a:cs typeface="Arial"/>
              </a:rPr>
              <a:t>Sen defines </a:t>
            </a:r>
            <a:r>
              <a:rPr dirty="0" sz="1100" spc="-5" b="1">
                <a:latin typeface="Arial"/>
                <a:cs typeface="Arial"/>
              </a:rPr>
              <a:t>capabilities</a:t>
            </a:r>
            <a:r>
              <a:rPr dirty="0" sz="1100" spc="5" b="1">
                <a:latin typeface="Arial"/>
                <a:cs typeface="Arial"/>
              </a:rPr>
              <a:t> </a:t>
            </a:r>
            <a:r>
              <a:rPr dirty="0" sz="1100" spc="-5">
                <a:latin typeface="Arial"/>
                <a:cs typeface="Arial"/>
              </a:rPr>
              <a:t>as:</a:t>
            </a:r>
            <a:endParaRPr sz="1100">
              <a:latin typeface="Arial"/>
              <a:cs typeface="Arial"/>
            </a:endParaRPr>
          </a:p>
          <a:p>
            <a:pPr>
              <a:lnSpc>
                <a:spcPct val="100000"/>
              </a:lnSpc>
              <a:spcBef>
                <a:spcPts val="30"/>
              </a:spcBef>
            </a:pPr>
            <a:endParaRPr sz="1100">
              <a:latin typeface="Arial"/>
              <a:cs typeface="Arial"/>
            </a:endParaRPr>
          </a:p>
          <a:p>
            <a:pPr algn="just" marL="12700" marR="5715" indent="38735">
              <a:lnSpc>
                <a:spcPts val="1270"/>
              </a:lnSpc>
            </a:pPr>
            <a:r>
              <a:rPr dirty="0" sz="1100" spc="-5">
                <a:latin typeface="Arial"/>
                <a:cs typeface="Arial"/>
              </a:rPr>
              <a:t>“The freedom that a person has in terms of the choice of functionings, given his personal  features (conversion of characteristics into functionings) and his command over</a:t>
            </a:r>
            <a:r>
              <a:rPr dirty="0" sz="1100" spc="195">
                <a:latin typeface="Arial"/>
                <a:cs typeface="Arial"/>
              </a:rPr>
              <a:t> </a:t>
            </a:r>
            <a:r>
              <a:rPr dirty="0" sz="1100" spc="-5">
                <a:latin typeface="Arial"/>
                <a:cs typeface="Arial"/>
              </a:rPr>
              <a:t>commodities.”</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Some Important “Beings” and “Doings” in Capability to function</a:t>
            </a:r>
            <a:r>
              <a:rPr dirty="0" sz="1100" spc="55" b="1">
                <a:latin typeface="Arial"/>
                <a:cs typeface="Arial"/>
              </a:rPr>
              <a:t> </a:t>
            </a:r>
            <a:r>
              <a:rPr dirty="0" sz="1100" spc="-5" b="1">
                <a:latin typeface="Arial"/>
                <a:cs typeface="Arial"/>
              </a:rPr>
              <a:t>are:</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Being able to live</a:t>
            </a:r>
            <a:r>
              <a:rPr dirty="0" sz="1100" spc="10">
                <a:latin typeface="Arial"/>
                <a:cs typeface="Arial"/>
              </a:rPr>
              <a:t> </a:t>
            </a:r>
            <a:r>
              <a:rPr dirty="0" sz="1100" spc="-5">
                <a:latin typeface="Arial"/>
                <a:cs typeface="Arial"/>
              </a:rPr>
              <a:t>long</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Being well-nourished</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Being healthy</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Being literate</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Being well-clothed</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Being mobile</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Being able to take part in the life of the</a:t>
            </a:r>
            <a:r>
              <a:rPr dirty="0" sz="1100" spc="50">
                <a:latin typeface="Arial"/>
                <a:cs typeface="Arial"/>
              </a:rPr>
              <a:t> </a:t>
            </a:r>
            <a:r>
              <a:rPr dirty="0" sz="1100" spc="-5">
                <a:latin typeface="Arial"/>
                <a:cs typeface="Arial"/>
              </a:rPr>
              <a:t>community</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Being happy – as a state of being - may be valued as a</a:t>
            </a:r>
            <a:r>
              <a:rPr dirty="0" sz="1100" spc="90">
                <a:latin typeface="Arial"/>
                <a:cs typeface="Arial"/>
              </a:rPr>
              <a:t> </a:t>
            </a:r>
            <a:r>
              <a:rPr dirty="0" sz="1100" spc="-5">
                <a:latin typeface="Arial"/>
                <a:cs typeface="Arial"/>
              </a:rPr>
              <a:t>functioning</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IV) THREE </a:t>
            </a:r>
            <a:r>
              <a:rPr dirty="0" sz="1100" spc="-10" b="1">
                <a:latin typeface="Arial"/>
                <a:cs typeface="Arial"/>
              </a:rPr>
              <a:t>CORE </a:t>
            </a:r>
            <a:r>
              <a:rPr dirty="0" sz="1100" spc="-5" b="1">
                <a:latin typeface="Arial"/>
                <a:cs typeface="Arial"/>
              </a:rPr>
              <a:t>VALUES OF</a:t>
            </a:r>
            <a:r>
              <a:rPr dirty="0" sz="1100" spc="2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spcBef>
                <a:spcPts val="5"/>
              </a:spcBef>
            </a:pPr>
            <a:r>
              <a:rPr dirty="0" sz="1100" spc="-5">
                <a:latin typeface="Arial"/>
                <a:cs typeface="Arial"/>
              </a:rPr>
              <a:t>Three basic components or core values serve as a conceptual basis and practical guideline for  understanding the inner meaning of development. These core values—</a:t>
            </a:r>
            <a:r>
              <a:rPr dirty="0" sz="1100" spc="-5" b="1">
                <a:latin typeface="Arial"/>
                <a:cs typeface="Arial"/>
              </a:rPr>
              <a:t>sustenance</a:t>
            </a:r>
            <a:r>
              <a:rPr dirty="0" sz="1100" spc="-5">
                <a:latin typeface="Arial"/>
                <a:cs typeface="Arial"/>
              </a:rPr>
              <a:t>, </a:t>
            </a:r>
            <a:r>
              <a:rPr dirty="0" sz="1100" spc="-5" b="1">
                <a:latin typeface="Arial"/>
                <a:cs typeface="Arial"/>
              </a:rPr>
              <a:t>self-  esteem</a:t>
            </a:r>
            <a:r>
              <a:rPr dirty="0" sz="1100" spc="-5">
                <a:latin typeface="Arial"/>
                <a:cs typeface="Arial"/>
              </a:rPr>
              <a:t>, and </a:t>
            </a:r>
            <a:r>
              <a:rPr dirty="0" sz="1100" spc="-5" b="1">
                <a:latin typeface="Arial"/>
                <a:cs typeface="Arial"/>
              </a:rPr>
              <a:t>freedom</a:t>
            </a:r>
            <a:r>
              <a:rPr dirty="0" sz="1100" spc="-5">
                <a:latin typeface="Arial"/>
                <a:cs typeface="Arial"/>
              </a:rPr>
              <a:t>—represent common </a:t>
            </a:r>
            <a:r>
              <a:rPr dirty="0" sz="1100">
                <a:latin typeface="Arial"/>
                <a:cs typeface="Arial"/>
              </a:rPr>
              <a:t>goals </a:t>
            </a:r>
            <a:r>
              <a:rPr dirty="0" sz="1100" spc="-5">
                <a:latin typeface="Arial"/>
                <a:cs typeface="Arial"/>
              </a:rPr>
              <a:t>sought by all individuals and societies. Let us  therefore examine each in</a:t>
            </a:r>
            <a:r>
              <a:rPr dirty="0" sz="1100" spc="15">
                <a:latin typeface="Arial"/>
                <a:cs typeface="Arial"/>
              </a:rPr>
              <a:t> </a:t>
            </a:r>
            <a:r>
              <a:rPr dirty="0" sz="1100" spc="-5">
                <a:latin typeface="Arial"/>
                <a:cs typeface="Arial"/>
              </a:rPr>
              <a:t>turn.</a:t>
            </a:r>
            <a:endParaRPr sz="1100">
              <a:latin typeface="Arial"/>
              <a:cs typeface="Arial"/>
            </a:endParaRPr>
          </a:p>
          <a:p>
            <a:pPr>
              <a:lnSpc>
                <a:spcPct val="100000"/>
              </a:lnSpc>
              <a:spcBef>
                <a:spcPts val="10"/>
              </a:spcBef>
            </a:pPr>
            <a:endParaRPr sz="1050">
              <a:latin typeface="Arial"/>
              <a:cs typeface="Arial"/>
            </a:endParaRPr>
          </a:p>
          <a:p>
            <a:pPr marL="175895" indent="-163830">
              <a:lnSpc>
                <a:spcPct val="100000"/>
              </a:lnSpc>
              <a:buAutoNum type="arabicPlain"/>
              <a:tabLst>
                <a:tab pos="176530" algn="l"/>
              </a:tabLst>
            </a:pPr>
            <a:r>
              <a:rPr dirty="0" sz="1100" spc="-5" b="1">
                <a:latin typeface="Arial"/>
                <a:cs typeface="Arial"/>
              </a:rPr>
              <a:t>Sustenance: The ability to meet basic</a:t>
            </a:r>
            <a:r>
              <a:rPr dirty="0" sz="1100" spc="15" b="1">
                <a:latin typeface="Arial"/>
                <a:cs typeface="Arial"/>
              </a:rPr>
              <a:t> </a:t>
            </a:r>
            <a:r>
              <a:rPr dirty="0" sz="1100" spc="-5" b="1">
                <a:latin typeface="Arial"/>
                <a:cs typeface="Arial"/>
              </a:rPr>
              <a:t>needs</a:t>
            </a:r>
            <a:endParaRPr sz="1100">
              <a:latin typeface="Arial"/>
              <a:cs typeface="Arial"/>
            </a:endParaRPr>
          </a:p>
          <a:p>
            <a:pPr>
              <a:lnSpc>
                <a:spcPct val="100000"/>
              </a:lnSpc>
              <a:spcBef>
                <a:spcPts val="30"/>
              </a:spcBef>
              <a:buFont typeface="Arial"/>
              <a:buAutoNum type="arabicPlain"/>
            </a:pPr>
            <a:endParaRPr sz="1100">
              <a:latin typeface="Arial"/>
              <a:cs typeface="Arial"/>
            </a:endParaRPr>
          </a:p>
          <a:p>
            <a:pPr algn="just" marL="12700" marR="5080">
              <a:lnSpc>
                <a:spcPts val="1260"/>
              </a:lnSpc>
            </a:pPr>
            <a:r>
              <a:rPr dirty="0" sz="1100" spc="-5">
                <a:latin typeface="Arial"/>
                <a:cs typeface="Arial"/>
              </a:rPr>
              <a:t>“The basic goods and services, such as food, clothing, and shelter, that are necessary to  sustain an average human being at the bare minimum </a:t>
            </a:r>
            <a:r>
              <a:rPr dirty="0" sz="1100">
                <a:latin typeface="Arial"/>
                <a:cs typeface="Arial"/>
              </a:rPr>
              <a:t>level </a:t>
            </a:r>
            <a:r>
              <a:rPr dirty="0" sz="1100" spc="-5">
                <a:latin typeface="Arial"/>
                <a:cs typeface="Arial"/>
              </a:rPr>
              <a:t>of</a:t>
            </a:r>
            <a:r>
              <a:rPr dirty="0" sz="1100" spc="60">
                <a:latin typeface="Arial"/>
                <a:cs typeface="Arial"/>
              </a:rPr>
              <a:t> </a:t>
            </a:r>
            <a:r>
              <a:rPr dirty="0" sz="1100" spc="-5">
                <a:latin typeface="Arial"/>
                <a:cs typeface="Arial"/>
              </a:rPr>
              <a:t>living”</a:t>
            </a:r>
            <a:endParaRPr sz="1100">
              <a:latin typeface="Arial"/>
              <a:cs typeface="Arial"/>
            </a:endParaRPr>
          </a:p>
          <a:p>
            <a:pPr algn="just" marL="12700">
              <a:lnSpc>
                <a:spcPts val="1205"/>
              </a:lnSpc>
            </a:pPr>
            <a:r>
              <a:rPr dirty="0" sz="1100" spc="-5">
                <a:latin typeface="Arial"/>
                <a:cs typeface="Arial"/>
              </a:rPr>
              <a:t>All</a:t>
            </a:r>
            <a:r>
              <a:rPr dirty="0" sz="1100" spc="85">
                <a:latin typeface="Arial"/>
                <a:cs typeface="Arial"/>
              </a:rPr>
              <a:t> </a:t>
            </a:r>
            <a:r>
              <a:rPr dirty="0" sz="1100" spc="-5">
                <a:latin typeface="Arial"/>
                <a:cs typeface="Arial"/>
              </a:rPr>
              <a:t>people</a:t>
            </a:r>
            <a:r>
              <a:rPr dirty="0" sz="1100" spc="85">
                <a:latin typeface="Arial"/>
                <a:cs typeface="Arial"/>
              </a:rPr>
              <a:t> </a:t>
            </a:r>
            <a:r>
              <a:rPr dirty="0" sz="1100" spc="-5">
                <a:latin typeface="Arial"/>
                <a:cs typeface="Arial"/>
              </a:rPr>
              <a:t>have</a:t>
            </a:r>
            <a:r>
              <a:rPr dirty="0" sz="1100" spc="90">
                <a:latin typeface="Arial"/>
                <a:cs typeface="Arial"/>
              </a:rPr>
              <a:t> </a:t>
            </a:r>
            <a:r>
              <a:rPr dirty="0" sz="1100" spc="-5">
                <a:latin typeface="Arial"/>
                <a:cs typeface="Arial"/>
              </a:rPr>
              <a:t>certain</a:t>
            </a:r>
            <a:r>
              <a:rPr dirty="0" sz="1100" spc="90">
                <a:latin typeface="Arial"/>
                <a:cs typeface="Arial"/>
              </a:rPr>
              <a:t> </a:t>
            </a:r>
            <a:r>
              <a:rPr dirty="0" sz="1100" spc="-5">
                <a:latin typeface="Arial"/>
                <a:cs typeface="Arial"/>
              </a:rPr>
              <a:t>basic</a:t>
            </a:r>
            <a:r>
              <a:rPr dirty="0" sz="1100" spc="85">
                <a:latin typeface="Arial"/>
                <a:cs typeface="Arial"/>
              </a:rPr>
              <a:t> </a:t>
            </a:r>
            <a:r>
              <a:rPr dirty="0" sz="1100" spc="-5">
                <a:latin typeface="Arial"/>
                <a:cs typeface="Arial"/>
              </a:rPr>
              <a:t>needs</a:t>
            </a:r>
            <a:r>
              <a:rPr dirty="0" sz="1100" spc="90">
                <a:latin typeface="Arial"/>
                <a:cs typeface="Arial"/>
              </a:rPr>
              <a:t> </a:t>
            </a:r>
            <a:r>
              <a:rPr dirty="0" sz="1100" spc="-5">
                <a:latin typeface="Arial"/>
                <a:cs typeface="Arial"/>
              </a:rPr>
              <a:t>without</a:t>
            </a:r>
            <a:r>
              <a:rPr dirty="0" sz="1100" spc="85">
                <a:latin typeface="Arial"/>
                <a:cs typeface="Arial"/>
              </a:rPr>
              <a:t> </a:t>
            </a:r>
            <a:r>
              <a:rPr dirty="0" sz="1100" spc="-5">
                <a:latin typeface="Arial"/>
                <a:cs typeface="Arial"/>
              </a:rPr>
              <a:t>which</a:t>
            </a:r>
            <a:r>
              <a:rPr dirty="0" sz="1100" spc="90">
                <a:latin typeface="Arial"/>
                <a:cs typeface="Arial"/>
              </a:rPr>
              <a:t> </a:t>
            </a:r>
            <a:r>
              <a:rPr dirty="0" sz="1100" spc="-5">
                <a:latin typeface="Arial"/>
                <a:cs typeface="Arial"/>
              </a:rPr>
              <a:t>life</a:t>
            </a:r>
            <a:r>
              <a:rPr dirty="0" sz="1100" spc="85">
                <a:latin typeface="Arial"/>
                <a:cs typeface="Arial"/>
              </a:rPr>
              <a:t> </a:t>
            </a:r>
            <a:r>
              <a:rPr dirty="0" sz="1100" spc="-5">
                <a:latin typeface="Arial"/>
                <a:cs typeface="Arial"/>
              </a:rPr>
              <a:t>would</a:t>
            </a:r>
            <a:r>
              <a:rPr dirty="0" sz="1100" spc="85">
                <a:latin typeface="Arial"/>
                <a:cs typeface="Arial"/>
              </a:rPr>
              <a:t> </a:t>
            </a:r>
            <a:r>
              <a:rPr dirty="0" sz="1100" spc="-5">
                <a:latin typeface="Arial"/>
                <a:cs typeface="Arial"/>
              </a:rPr>
              <a:t>be</a:t>
            </a:r>
            <a:r>
              <a:rPr dirty="0" sz="1100" spc="90">
                <a:latin typeface="Arial"/>
                <a:cs typeface="Arial"/>
              </a:rPr>
              <a:t> </a:t>
            </a:r>
            <a:r>
              <a:rPr dirty="0" sz="1100" spc="-5">
                <a:latin typeface="Arial"/>
                <a:cs typeface="Arial"/>
              </a:rPr>
              <a:t>impossible.</a:t>
            </a:r>
            <a:r>
              <a:rPr dirty="0" sz="1100" spc="90">
                <a:latin typeface="Arial"/>
                <a:cs typeface="Arial"/>
              </a:rPr>
              <a:t> </a:t>
            </a:r>
            <a:r>
              <a:rPr dirty="0" sz="1100" spc="-5">
                <a:latin typeface="Arial"/>
                <a:cs typeface="Arial"/>
              </a:rPr>
              <a:t>These</a:t>
            </a:r>
            <a:r>
              <a:rPr dirty="0" sz="1100" spc="90">
                <a:latin typeface="Arial"/>
                <a:cs typeface="Arial"/>
              </a:rPr>
              <a:t> </a:t>
            </a:r>
            <a:r>
              <a:rPr dirty="0" sz="1100" spc="-5">
                <a:latin typeface="Arial"/>
                <a:cs typeface="Arial"/>
              </a:rPr>
              <a:t>life-</a:t>
            </a:r>
            <a:endParaRPr sz="1100">
              <a:latin typeface="Arial"/>
              <a:cs typeface="Arial"/>
            </a:endParaRPr>
          </a:p>
          <a:p>
            <a:pPr algn="just" marL="12700" marR="5080">
              <a:lnSpc>
                <a:spcPct val="95900"/>
              </a:lnSpc>
              <a:spcBef>
                <a:spcPts val="30"/>
              </a:spcBef>
            </a:pPr>
            <a:r>
              <a:rPr dirty="0" sz="1100" spc="-5">
                <a:latin typeface="Arial"/>
                <a:cs typeface="Arial"/>
              </a:rPr>
              <a:t>sustaining basic human needs include food, shelter, health, and protection. When any of these  is absent or in critically short supply, a condition of “absolute underdevelopment” exists. A basic  function of all economic activity, therefore, is to provide </a:t>
            </a:r>
            <a:r>
              <a:rPr dirty="0" sz="1100">
                <a:latin typeface="Arial"/>
                <a:cs typeface="Arial"/>
              </a:rPr>
              <a:t>as </a:t>
            </a:r>
            <a:r>
              <a:rPr dirty="0" sz="1100" spc="-5">
                <a:latin typeface="Arial"/>
                <a:cs typeface="Arial"/>
              </a:rPr>
              <a:t>many people as possible with the  means of overcoming </a:t>
            </a:r>
            <a:r>
              <a:rPr dirty="0" sz="1100">
                <a:latin typeface="Arial"/>
                <a:cs typeface="Arial"/>
              </a:rPr>
              <a:t>the </a:t>
            </a:r>
            <a:r>
              <a:rPr dirty="0" sz="1100" spc="-5">
                <a:latin typeface="Arial"/>
                <a:cs typeface="Arial"/>
              </a:rPr>
              <a:t>helplessness and misery arising from a lack of food, shelter, health,  and protection. To this extent, we </a:t>
            </a:r>
            <a:r>
              <a:rPr dirty="0" sz="1100">
                <a:latin typeface="Arial"/>
                <a:cs typeface="Arial"/>
              </a:rPr>
              <a:t>may </a:t>
            </a:r>
            <a:r>
              <a:rPr dirty="0" sz="1100" spc="-5">
                <a:latin typeface="Arial"/>
                <a:cs typeface="Arial"/>
              </a:rPr>
              <a:t>claim that economic development is a necessary  condition for the improvement in </a:t>
            </a:r>
            <a:r>
              <a:rPr dirty="0" sz="1100">
                <a:latin typeface="Arial"/>
                <a:cs typeface="Arial"/>
              </a:rPr>
              <a:t>the </a:t>
            </a:r>
            <a:r>
              <a:rPr dirty="0" sz="1100" spc="-5">
                <a:latin typeface="Arial"/>
                <a:cs typeface="Arial"/>
              </a:rPr>
              <a:t>quality of life that is development. Rising per capita  incomes, the elimination of absolute poverty, greater employment opportunities, and lessening  income inequalities therefore constitute the necessary but not the sufficient conditions for  development.</a:t>
            </a:r>
            <a:endParaRPr sz="1100">
              <a:latin typeface="Arial"/>
              <a:cs typeface="Arial"/>
            </a:endParaRPr>
          </a:p>
          <a:p>
            <a:pPr>
              <a:lnSpc>
                <a:spcPct val="100000"/>
              </a:lnSpc>
              <a:spcBef>
                <a:spcPts val="5"/>
              </a:spcBef>
            </a:pPr>
            <a:endParaRPr sz="1050">
              <a:latin typeface="Arial"/>
              <a:cs typeface="Arial"/>
            </a:endParaRPr>
          </a:p>
          <a:p>
            <a:pPr marL="175260" indent="-163195">
              <a:lnSpc>
                <a:spcPct val="100000"/>
              </a:lnSpc>
              <a:buAutoNum type="arabicPlain" startAt="2"/>
              <a:tabLst>
                <a:tab pos="175895" algn="l"/>
              </a:tabLst>
            </a:pPr>
            <a:r>
              <a:rPr dirty="0" sz="1100" spc="-5" b="1">
                <a:latin typeface="Arial"/>
                <a:cs typeface="Arial"/>
              </a:rPr>
              <a:t>Self-Esteem: To be a</a:t>
            </a:r>
            <a:r>
              <a:rPr dirty="0" sz="1100" spc="10" b="1">
                <a:latin typeface="Arial"/>
                <a:cs typeface="Arial"/>
              </a:rPr>
              <a:t> </a:t>
            </a:r>
            <a:r>
              <a:rPr dirty="0" sz="1100" spc="-5" b="1">
                <a:latin typeface="Arial"/>
                <a:cs typeface="Arial"/>
              </a:rPr>
              <a:t>person</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“The feeling of worthiness that a society enjoys when its social, political, and economic systems  and institutions promote human values such as respect, dignity, integrity, and self  determination.”</a:t>
            </a:r>
            <a:endParaRPr sz="1100">
              <a:latin typeface="Arial"/>
              <a:cs typeface="Arial"/>
            </a:endParaRPr>
          </a:p>
          <a:p>
            <a:pPr algn="just" marL="12700">
              <a:lnSpc>
                <a:spcPts val="1190"/>
              </a:lnSpc>
            </a:pPr>
            <a:r>
              <a:rPr dirty="0" sz="1100" spc="-5">
                <a:latin typeface="Arial"/>
                <a:cs typeface="Arial"/>
              </a:rPr>
              <a:t>A</a:t>
            </a:r>
            <a:r>
              <a:rPr dirty="0" sz="1100" spc="254">
                <a:latin typeface="Arial"/>
                <a:cs typeface="Arial"/>
              </a:rPr>
              <a:t> </a:t>
            </a:r>
            <a:r>
              <a:rPr dirty="0" sz="1100" spc="-5">
                <a:latin typeface="Arial"/>
                <a:cs typeface="Arial"/>
              </a:rPr>
              <a:t>second</a:t>
            </a:r>
            <a:r>
              <a:rPr dirty="0" sz="1100" spc="254">
                <a:latin typeface="Arial"/>
                <a:cs typeface="Arial"/>
              </a:rPr>
              <a:t> </a:t>
            </a:r>
            <a:r>
              <a:rPr dirty="0" sz="1100" spc="-5">
                <a:latin typeface="Arial"/>
                <a:cs typeface="Arial"/>
              </a:rPr>
              <a:t>universal</a:t>
            </a:r>
            <a:r>
              <a:rPr dirty="0" sz="1100" spc="260">
                <a:latin typeface="Arial"/>
                <a:cs typeface="Arial"/>
              </a:rPr>
              <a:t> </a:t>
            </a:r>
            <a:r>
              <a:rPr dirty="0" sz="1100" spc="-5">
                <a:latin typeface="Arial"/>
                <a:cs typeface="Arial"/>
              </a:rPr>
              <a:t>component</a:t>
            </a:r>
            <a:r>
              <a:rPr dirty="0" sz="1100" spc="254">
                <a:latin typeface="Arial"/>
                <a:cs typeface="Arial"/>
              </a:rPr>
              <a:t> </a:t>
            </a:r>
            <a:r>
              <a:rPr dirty="0" sz="1100" spc="-5">
                <a:latin typeface="Arial"/>
                <a:cs typeface="Arial"/>
              </a:rPr>
              <a:t>of</a:t>
            </a:r>
            <a:r>
              <a:rPr dirty="0" sz="1100" spc="254">
                <a:latin typeface="Arial"/>
                <a:cs typeface="Arial"/>
              </a:rPr>
              <a:t> </a:t>
            </a:r>
            <a:r>
              <a:rPr dirty="0" sz="1100" spc="-5">
                <a:latin typeface="Arial"/>
                <a:cs typeface="Arial"/>
              </a:rPr>
              <a:t>the</a:t>
            </a:r>
            <a:r>
              <a:rPr dirty="0" sz="1100" spc="260">
                <a:latin typeface="Arial"/>
                <a:cs typeface="Arial"/>
              </a:rPr>
              <a:t> </a:t>
            </a:r>
            <a:r>
              <a:rPr dirty="0" sz="1100" spc="-5">
                <a:latin typeface="Arial"/>
                <a:cs typeface="Arial"/>
              </a:rPr>
              <a:t>good</a:t>
            </a:r>
            <a:r>
              <a:rPr dirty="0" sz="1100" spc="254">
                <a:latin typeface="Arial"/>
                <a:cs typeface="Arial"/>
              </a:rPr>
              <a:t> </a:t>
            </a:r>
            <a:r>
              <a:rPr dirty="0" sz="1100" spc="-5">
                <a:latin typeface="Arial"/>
                <a:cs typeface="Arial"/>
              </a:rPr>
              <a:t>life</a:t>
            </a:r>
            <a:r>
              <a:rPr dirty="0" sz="1100" spc="260">
                <a:latin typeface="Arial"/>
                <a:cs typeface="Arial"/>
              </a:rPr>
              <a:t> </a:t>
            </a:r>
            <a:r>
              <a:rPr dirty="0" sz="1100" spc="-5">
                <a:latin typeface="Arial"/>
                <a:cs typeface="Arial"/>
              </a:rPr>
              <a:t>is</a:t>
            </a:r>
            <a:r>
              <a:rPr dirty="0" sz="1100" spc="254">
                <a:latin typeface="Arial"/>
                <a:cs typeface="Arial"/>
              </a:rPr>
              <a:t> </a:t>
            </a:r>
            <a:r>
              <a:rPr dirty="0" sz="1100" spc="-5">
                <a:latin typeface="Arial"/>
                <a:cs typeface="Arial"/>
              </a:rPr>
              <a:t>self-esteem—a</a:t>
            </a:r>
            <a:r>
              <a:rPr dirty="0" sz="1100" spc="254">
                <a:latin typeface="Arial"/>
                <a:cs typeface="Arial"/>
              </a:rPr>
              <a:t> </a:t>
            </a:r>
            <a:r>
              <a:rPr dirty="0" sz="1100" spc="-5">
                <a:latin typeface="Arial"/>
                <a:cs typeface="Arial"/>
              </a:rPr>
              <a:t>sense</a:t>
            </a:r>
            <a:r>
              <a:rPr dirty="0" sz="1100" spc="260">
                <a:latin typeface="Arial"/>
                <a:cs typeface="Arial"/>
              </a:rPr>
              <a:t> </a:t>
            </a:r>
            <a:r>
              <a:rPr dirty="0" sz="1100" spc="-5">
                <a:latin typeface="Arial"/>
                <a:cs typeface="Arial"/>
              </a:rPr>
              <a:t>of</a:t>
            </a:r>
            <a:r>
              <a:rPr dirty="0" sz="1100" spc="254">
                <a:latin typeface="Arial"/>
                <a:cs typeface="Arial"/>
              </a:rPr>
              <a:t> </a:t>
            </a:r>
            <a:r>
              <a:rPr dirty="0" sz="1100" spc="-5">
                <a:latin typeface="Arial"/>
                <a:cs typeface="Arial"/>
              </a:rPr>
              <a:t>worth</a:t>
            </a:r>
            <a:r>
              <a:rPr dirty="0" sz="1100" spc="260">
                <a:latin typeface="Arial"/>
                <a:cs typeface="Arial"/>
              </a:rPr>
              <a:t> </a:t>
            </a:r>
            <a:r>
              <a:rPr dirty="0" sz="1100" spc="-5">
                <a:latin typeface="Arial"/>
                <a:cs typeface="Arial"/>
              </a:rPr>
              <a:t>and</a:t>
            </a:r>
            <a:r>
              <a:rPr dirty="0" sz="1100" spc="254">
                <a:latin typeface="Arial"/>
                <a:cs typeface="Arial"/>
              </a:rPr>
              <a:t> </a:t>
            </a:r>
            <a:r>
              <a:rPr dirty="0" sz="1100">
                <a:latin typeface="Arial"/>
                <a:cs typeface="Arial"/>
              </a:rPr>
              <a:t>self-</a:t>
            </a:r>
            <a:endParaRPr sz="1100">
              <a:latin typeface="Arial"/>
              <a:cs typeface="Arial"/>
            </a:endParaRPr>
          </a:p>
          <a:p>
            <a:pPr algn="just" marL="12700" marR="6350">
              <a:lnSpc>
                <a:spcPts val="1270"/>
              </a:lnSpc>
              <a:spcBef>
                <a:spcPts val="55"/>
              </a:spcBef>
            </a:pPr>
            <a:r>
              <a:rPr dirty="0" sz="1100" spc="-5">
                <a:latin typeface="Arial"/>
                <a:cs typeface="Arial"/>
              </a:rPr>
              <a:t>respect, of not being used as a tool by others for their own ends. All peoples and societies seek  some basic form of self-esteem, although they may call it authenticity, identity, dignity, respect,  honor,</a:t>
            </a:r>
            <a:r>
              <a:rPr dirty="0" sz="1100" spc="110">
                <a:latin typeface="Arial"/>
                <a:cs typeface="Arial"/>
              </a:rPr>
              <a:t> </a:t>
            </a:r>
            <a:r>
              <a:rPr dirty="0" sz="1100" spc="-5">
                <a:latin typeface="Arial"/>
                <a:cs typeface="Arial"/>
              </a:rPr>
              <a:t>or</a:t>
            </a:r>
            <a:r>
              <a:rPr dirty="0" sz="1100" spc="110">
                <a:latin typeface="Arial"/>
                <a:cs typeface="Arial"/>
              </a:rPr>
              <a:t> </a:t>
            </a:r>
            <a:r>
              <a:rPr dirty="0" sz="1100" spc="-5">
                <a:latin typeface="Arial"/>
                <a:cs typeface="Arial"/>
              </a:rPr>
              <a:t>recognition.</a:t>
            </a:r>
            <a:r>
              <a:rPr dirty="0" sz="1100" spc="110">
                <a:latin typeface="Arial"/>
                <a:cs typeface="Arial"/>
              </a:rPr>
              <a:t> </a:t>
            </a:r>
            <a:r>
              <a:rPr dirty="0" sz="1100" spc="-5">
                <a:latin typeface="Arial"/>
                <a:cs typeface="Arial"/>
              </a:rPr>
              <a:t>However,</a:t>
            </a:r>
            <a:r>
              <a:rPr dirty="0" sz="1100" spc="110">
                <a:latin typeface="Arial"/>
                <a:cs typeface="Arial"/>
              </a:rPr>
              <a:t> </a:t>
            </a:r>
            <a:r>
              <a:rPr dirty="0" sz="1100">
                <a:latin typeface="Arial"/>
                <a:cs typeface="Arial"/>
              </a:rPr>
              <a:t>with</a:t>
            </a:r>
            <a:r>
              <a:rPr dirty="0" sz="1100" spc="114">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proliferation</a:t>
            </a:r>
            <a:r>
              <a:rPr dirty="0" sz="1100" spc="114">
                <a:latin typeface="Arial"/>
                <a:cs typeface="Arial"/>
              </a:rPr>
              <a:t> </a:t>
            </a:r>
            <a:r>
              <a:rPr dirty="0" sz="1100" spc="-5">
                <a:latin typeface="Arial"/>
                <a:cs typeface="Arial"/>
              </a:rPr>
              <a:t>of</a:t>
            </a:r>
            <a:r>
              <a:rPr dirty="0" sz="1100" spc="110">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“modernizing</a:t>
            </a:r>
            <a:r>
              <a:rPr dirty="0" sz="1100" spc="110">
                <a:latin typeface="Arial"/>
                <a:cs typeface="Arial"/>
              </a:rPr>
              <a:t> </a:t>
            </a:r>
            <a:r>
              <a:rPr dirty="0" sz="1100" spc="-5">
                <a:latin typeface="Arial"/>
                <a:cs typeface="Arial"/>
              </a:rPr>
              <a:t>values”</a:t>
            </a:r>
            <a:r>
              <a:rPr dirty="0" sz="1100" spc="110">
                <a:latin typeface="Arial"/>
                <a:cs typeface="Arial"/>
              </a:rPr>
              <a:t> </a:t>
            </a:r>
            <a:r>
              <a:rPr dirty="0" sz="1100" spc="-5">
                <a:latin typeface="Arial"/>
                <a:cs typeface="Arial"/>
              </a:rPr>
              <a:t>of</a:t>
            </a:r>
            <a:r>
              <a:rPr dirty="0" sz="1100" spc="110">
                <a:latin typeface="Arial"/>
                <a:cs typeface="Arial"/>
              </a:rPr>
              <a:t> </a:t>
            </a:r>
            <a:r>
              <a:rPr dirty="0" sz="1100" spc="-5">
                <a:latin typeface="Arial"/>
                <a:cs typeface="Arial"/>
              </a:rPr>
              <a:t>developed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a:t>
            </a:r>
            <a:endParaRPr sz="110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064500"/>
          </a:xfrm>
          <a:prstGeom prst="rect">
            <a:avLst/>
          </a:prstGeom>
        </p:spPr>
        <p:txBody>
          <a:bodyPr wrap="square" lIns="0" tIns="19050" rIns="0" bIns="0" rtlCol="0" vert="horz">
            <a:spAutoFit/>
          </a:bodyPr>
          <a:lstStyle/>
          <a:p>
            <a:pPr algn="just" marL="12700" marR="6350">
              <a:lnSpc>
                <a:spcPct val="95800"/>
              </a:lnSpc>
              <a:spcBef>
                <a:spcPts val="150"/>
              </a:spcBef>
            </a:pPr>
            <a:r>
              <a:rPr dirty="0" sz="1100" spc="-5">
                <a:latin typeface="Arial"/>
                <a:cs typeface="Arial"/>
              </a:rPr>
              <a:t>nations, many societies in developing countries that have had a profound sense of their own  worth suffer from serious cultural confusion when they come in contact with economically and  technologically advanced societies. This is because national prosperity has become an almost  universal measure of worth. Due to the significance attached to material values in developed  nations, worthiness and esteem </a:t>
            </a:r>
            <a:r>
              <a:rPr dirty="0" sz="1100">
                <a:latin typeface="Arial"/>
                <a:cs typeface="Arial"/>
              </a:rPr>
              <a:t>are </a:t>
            </a:r>
            <a:r>
              <a:rPr dirty="0" sz="1100" spc="-5">
                <a:latin typeface="Arial"/>
                <a:cs typeface="Arial"/>
              </a:rPr>
              <a:t>nowadays increasingly conferred only on countries that  possess economic wealth and technological power—those that have “developed.” As Denis  Goulet put it, “Development is legitimized as a goal because it is an important, perhaps even an  indispensable, way of gaining</a:t>
            </a:r>
            <a:r>
              <a:rPr dirty="0" sz="1100" spc="15">
                <a:latin typeface="Arial"/>
                <a:cs typeface="Arial"/>
              </a:rPr>
              <a:t> </a:t>
            </a:r>
            <a:r>
              <a:rPr dirty="0" sz="1100" spc="-5">
                <a:latin typeface="Arial"/>
                <a:cs typeface="Arial"/>
              </a:rPr>
              <a:t>esteem.”</a:t>
            </a:r>
            <a:endParaRPr sz="1100">
              <a:latin typeface="Arial"/>
              <a:cs typeface="Arial"/>
            </a:endParaRPr>
          </a:p>
          <a:p>
            <a:pPr>
              <a:lnSpc>
                <a:spcPct val="100000"/>
              </a:lnSpc>
              <a:spcBef>
                <a:spcPts val="5"/>
              </a:spcBef>
            </a:pPr>
            <a:endParaRPr sz="1050">
              <a:latin typeface="Arial"/>
              <a:cs typeface="Arial"/>
            </a:endParaRPr>
          </a:p>
          <a:p>
            <a:pPr algn="just" marL="175260" indent="-163195">
              <a:lnSpc>
                <a:spcPct val="100000"/>
              </a:lnSpc>
              <a:buAutoNum type="arabicPlain" startAt="3"/>
              <a:tabLst>
                <a:tab pos="175895" algn="l"/>
              </a:tabLst>
            </a:pPr>
            <a:r>
              <a:rPr dirty="0" sz="1100" spc="-5" b="1">
                <a:latin typeface="Arial"/>
                <a:cs typeface="Arial"/>
              </a:rPr>
              <a:t>Freedom from Servitude: To be able to</a:t>
            </a:r>
            <a:r>
              <a:rPr dirty="0" sz="1100" spc="30" b="1">
                <a:latin typeface="Arial"/>
                <a:cs typeface="Arial"/>
              </a:rPr>
              <a:t> </a:t>
            </a:r>
            <a:r>
              <a:rPr dirty="0" sz="1100" spc="-5" b="1">
                <a:latin typeface="Arial"/>
                <a:cs typeface="Arial"/>
              </a:rPr>
              <a:t>choose</a:t>
            </a:r>
            <a:endParaRPr sz="1100">
              <a:latin typeface="Arial"/>
              <a:cs typeface="Arial"/>
            </a:endParaRPr>
          </a:p>
          <a:p>
            <a:pPr>
              <a:lnSpc>
                <a:spcPct val="100000"/>
              </a:lnSpc>
              <a:spcBef>
                <a:spcPts val="25"/>
              </a:spcBef>
              <a:buFont typeface="Arial"/>
              <a:buAutoNum type="arabicPlain" startAt="3"/>
            </a:pPr>
            <a:endParaRPr sz="1100">
              <a:latin typeface="Arial"/>
              <a:cs typeface="Arial"/>
            </a:endParaRPr>
          </a:p>
          <a:p>
            <a:pPr marL="12700" marR="6985">
              <a:lnSpc>
                <a:spcPts val="1270"/>
              </a:lnSpc>
            </a:pPr>
            <a:r>
              <a:rPr dirty="0" sz="1100" spc="-5">
                <a:latin typeface="Arial"/>
                <a:cs typeface="Arial"/>
              </a:rPr>
              <a:t>“A situation in which a society has at its disposal a variety of alternatives from which to satisfy its  wants and individuals enjoy real choices according to their</a:t>
            </a:r>
            <a:r>
              <a:rPr dirty="0" sz="1100" spc="55">
                <a:latin typeface="Arial"/>
                <a:cs typeface="Arial"/>
              </a:rPr>
              <a:t> </a:t>
            </a:r>
            <a:r>
              <a:rPr dirty="0" sz="1100" spc="-5">
                <a:latin typeface="Arial"/>
                <a:cs typeface="Arial"/>
              </a:rPr>
              <a:t>preferences.”</a:t>
            </a:r>
            <a:endParaRPr sz="1100">
              <a:latin typeface="Arial"/>
              <a:cs typeface="Arial"/>
            </a:endParaRPr>
          </a:p>
          <a:p>
            <a:pPr marL="12700" marR="5080">
              <a:lnSpc>
                <a:spcPts val="1260"/>
              </a:lnSpc>
            </a:pPr>
            <a:r>
              <a:rPr dirty="0" sz="1100" spc="-5">
                <a:latin typeface="Arial"/>
                <a:cs typeface="Arial"/>
              </a:rPr>
              <a:t>A third and final universal value that we suggest should constitute the meaning of development  is </a:t>
            </a:r>
            <a:r>
              <a:rPr dirty="0" sz="1100" spc="114">
                <a:latin typeface="Arial"/>
                <a:cs typeface="Arial"/>
              </a:rPr>
              <a:t> </a:t>
            </a:r>
            <a:r>
              <a:rPr dirty="0" sz="1100" spc="-5">
                <a:latin typeface="Arial"/>
                <a:cs typeface="Arial"/>
              </a:rPr>
              <a:t>the </a:t>
            </a:r>
            <a:r>
              <a:rPr dirty="0" sz="1100" spc="114">
                <a:latin typeface="Arial"/>
                <a:cs typeface="Arial"/>
              </a:rPr>
              <a:t> </a:t>
            </a:r>
            <a:r>
              <a:rPr dirty="0" sz="1100" spc="-5">
                <a:latin typeface="Arial"/>
                <a:cs typeface="Arial"/>
              </a:rPr>
              <a:t>concept </a:t>
            </a:r>
            <a:r>
              <a:rPr dirty="0" sz="1100" spc="114">
                <a:latin typeface="Arial"/>
                <a:cs typeface="Arial"/>
              </a:rPr>
              <a:t> </a:t>
            </a:r>
            <a:r>
              <a:rPr dirty="0" sz="1100" spc="-5">
                <a:latin typeface="Arial"/>
                <a:cs typeface="Arial"/>
              </a:rPr>
              <a:t>of </a:t>
            </a:r>
            <a:r>
              <a:rPr dirty="0" sz="1100" spc="114">
                <a:latin typeface="Arial"/>
                <a:cs typeface="Arial"/>
              </a:rPr>
              <a:t> </a:t>
            </a:r>
            <a:r>
              <a:rPr dirty="0" sz="1100" spc="-5">
                <a:latin typeface="Arial"/>
                <a:cs typeface="Arial"/>
              </a:rPr>
              <a:t>human </a:t>
            </a:r>
            <a:r>
              <a:rPr dirty="0" sz="1100" spc="114">
                <a:latin typeface="Arial"/>
                <a:cs typeface="Arial"/>
              </a:rPr>
              <a:t> </a:t>
            </a:r>
            <a:r>
              <a:rPr dirty="0" sz="1100" spc="-5">
                <a:latin typeface="Arial"/>
                <a:cs typeface="Arial"/>
              </a:rPr>
              <a:t>freedom. </a:t>
            </a:r>
            <a:r>
              <a:rPr dirty="0" sz="1100" spc="114">
                <a:latin typeface="Arial"/>
                <a:cs typeface="Arial"/>
              </a:rPr>
              <a:t> </a:t>
            </a:r>
            <a:r>
              <a:rPr dirty="0" sz="1100" spc="-5">
                <a:latin typeface="Arial"/>
                <a:cs typeface="Arial"/>
              </a:rPr>
              <a:t>Freedom </a:t>
            </a:r>
            <a:r>
              <a:rPr dirty="0" sz="1100" spc="125">
                <a:latin typeface="Arial"/>
                <a:cs typeface="Arial"/>
              </a:rPr>
              <a:t> </a:t>
            </a:r>
            <a:r>
              <a:rPr dirty="0" sz="1100" spc="-5">
                <a:latin typeface="Arial"/>
                <a:cs typeface="Arial"/>
              </a:rPr>
              <a:t>here </a:t>
            </a:r>
            <a:r>
              <a:rPr dirty="0" sz="1100" spc="120">
                <a:latin typeface="Arial"/>
                <a:cs typeface="Arial"/>
              </a:rPr>
              <a:t> </a:t>
            </a:r>
            <a:r>
              <a:rPr dirty="0" sz="1100" spc="-5">
                <a:latin typeface="Arial"/>
                <a:cs typeface="Arial"/>
              </a:rPr>
              <a:t>is </a:t>
            </a:r>
            <a:r>
              <a:rPr dirty="0" sz="1100" spc="114">
                <a:latin typeface="Arial"/>
                <a:cs typeface="Arial"/>
              </a:rPr>
              <a:t> </a:t>
            </a:r>
            <a:r>
              <a:rPr dirty="0" sz="1100" spc="-5">
                <a:latin typeface="Arial"/>
                <a:cs typeface="Arial"/>
              </a:rPr>
              <a:t>to </a:t>
            </a:r>
            <a:r>
              <a:rPr dirty="0" sz="1100" spc="114">
                <a:latin typeface="Arial"/>
                <a:cs typeface="Arial"/>
              </a:rPr>
              <a:t> </a:t>
            </a:r>
            <a:r>
              <a:rPr dirty="0" sz="1100" spc="-5">
                <a:latin typeface="Arial"/>
                <a:cs typeface="Arial"/>
              </a:rPr>
              <a:t>be </a:t>
            </a:r>
            <a:r>
              <a:rPr dirty="0" sz="1100" spc="114">
                <a:latin typeface="Arial"/>
                <a:cs typeface="Arial"/>
              </a:rPr>
              <a:t> </a:t>
            </a:r>
            <a:r>
              <a:rPr dirty="0" sz="1100" spc="-5">
                <a:latin typeface="Arial"/>
                <a:cs typeface="Arial"/>
              </a:rPr>
              <a:t>understood </a:t>
            </a:r>
            <a:r>
              <a:rPr dirty="0" sz="1100" spc="114">
                <a:latin typeface="Arial"/>
                <a:cs typeface="Arial"/>
              </a:rPr>
              <a:t> </a:t>
            </a:r>
            <a:r>
              <a:rPr dirty="0" sz="1100" spc="-5">
                <a:latin typeface="Arial"/>
                <a:cs typeface="Arial"/>
              </a:rPr>
              <a:t>in </a:t>
            </a:r>
            <a:r>
              <a:rPr dirty="0" sz="1100" spc="114">
                <a:latin typeface="Arial"/>
                <a:cs typeface="Arial"/>
              </a:rPr>
              <a:t> </a:t>
            </a:r>
            <a:r>
              <a:rPr dirty="0" sz="1100" spc="-5">
                <a:latin typeface="Arial"/>
                <a:cs typeface="Arial"/>
              </a:rPr>
              <a:t>the </a:t>
            </a:r>
            <a:r>
              <a:rPr dirty="0" sz="1100" spc="114">
                <a:latin typeface="Arial"/>
                <a:cs typeface="Arial"/>
              </a:rPr>
              <a:t> </a:t>
            </a:r>
            <a:r>
              <a:rPr dirty="0" sz="1100" spc="-5">
                <a:latin typeface="Arial"/>
                <a:cs typeface="Arial"/>
              </a:rPr>
              <a:t>sense </a:t>
            </a:r>
            <a:r>
              <a:rPr dirty="0" sz="1100" spc="110">
                <a:latin typeface="Arial"/>
                <a:cs typeface="Arial"/>
              </a:rPr>
              <a:t> </a:t>
            </a:r>
            <a:r>
              <a:rPr dirty="0" sz="1100" spc="-5">
                <a:latin typeface="Arial"/>
                <a:cs typeface="Arial"/>
              </a:rPr>
              <a:t>of</a:t>
            </a:r>
            <a:endParaRPr sz="1100">
              <a:latin typeface="Arial"/>
              <a:cs typeface="Arial"/>
            </a:endParaRPr>
          </a:p>
          <a:p>
            <a:pPr marL="12700">
              <a:lnSpc>
                <a:spcPts val="1205"/>
              </a:lnSpc>
            </a:pPr>
            <a:r>
              <a:rPr dirty="0" sz="1100" spc="-5">
                <a:latin typeface="Arial"/>
                <a:cs typeface="Arial"/>
              </a:rPr>
              <a:t>emancipation from alienating material conditions of life and from social servitude to nature, </a:t>
            </a:r>
            <a:r>
              <a:rPr dirty="0" sz="1100" spc="10">
                <a:latin typeface="Arial"/>
                <a:cs typeface="Arial"/>
              </a:rPr>
              <a:t> </a:t>
            </a:r>
            <a:r>
              <a:rPr dirty="0" sz="1100" spc="-5">
                <a:latin typeface="Arial"/>
                <a:cs typeface="Arial"/>
              </a:rPr>
              <a:t>other</a:t>
            </a:r>
            <a:endParaRPr sz="1100">
              <a:latin typeface="Arial"/>
              <a:cs typeface="Arial"/>
            </a:endParaRPr>
          </a:p>
          <a:p>
            <a:pPr algn="just" marL="12700" marR="6350">
              <a:lnSpc>
                <a:spcPct val="95800"/>
              </a:lnSpc>
              <a:spcBef>
                <a:spcPts val="30"/>
              </a:spcBef>
            </a:pPr>
            <a:r>
              <a:rPr dirty="0" sz="1100" spc="-5">
                <a:latin typeface="Arial"/>
                <a:cs typeface="Arial"/>
              </a:rPr>
              <a:t>people, misery, oppressive institutions, and </a:t>
            </a:r>
            <a:r>
              <a:rPr dirty="0" sz="1100">
                <a:latin typeface="Arial"/>
                <a:cs typeface="Arial"/>
              </a:rPr>
              <a:t>dogmatic </a:t>
            </a:r>
            <a:r>
              <a:rPr dirty="0" sz="1100" spc="-5">
                <a:latin typeface="Arial"/>
                <a:cs typeface="Arial"/>
              </a:rPr>
              <a:t>beliefs, especially that poverty is  predestination. Freedom involves an expanded range of choices for societies and their  members together with a minimization of external constraints in the pursuit of some social goal  we call</a:t>
            </a:r>
            <a:r>
              <a:rPr dirty="0" sz="1100">
                <a:latin typeface="Arial"/>
                <a:cs typeface="Arial"/>
              </a:rPr>
              <a:t> </a:t>
            </a:r>
            <a:r>
              <a:rPr dirty="0" sz="1100" spc="-5">
                <a:latin typeface="Arial"/>
                <a:cs typeface="Arial"/>
              </a:rPr>
              <a:t>development.</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THE CENTRAL ROLE OF</a:t>
            </a:r>
            <a:r>
              <a:rPr dirty="0" sz="1100" spc="15" b="1">
                <a:latin typeface="Arial"/>
                <a:cs typeface="Arial"/>
              </a:rPr>
              <a:t> </a:t>
            </a:r>
            <a:r>
              <a:rPr dirty="0" sz="1100" spc="-5" b="1">
                <a:latin typeface="Arial"/>
                <a:cs typeface="Arial"/>
              </a:rPr>
              <a:t>WOMEN</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Globally, women tend to be poorer than men. They are also more deprived in health and  education and in freedoms in all its forms. Moreover, women have primary responsibility for  child rearing, and the resources that they are able to bring to this task will determine whether  the cycle of transmission of poverty from generation to generation will be broken. Children need  better health and education, and studies from around the developing world confirm </a:t>
            </a:r>
            <a:r>
              <a:rPr dirty="0" sz="1100">
                <a:latin typeface="Arial"/>
                <a:cs typeface="Arial"/>
              </a:rPr>
              <a:t>that </a:t>
            </a:r>
            <a:r>
              <a:rPr dirty="0" sz="1100" spc="-5">
                <a:latin typeface="Arial"/>
                <a:cs typeface="Arial"/>
              </a:rPr>
              <a:t>mothers  tend to spend a significantly higher fraction of income under their control for the benefit of their  children than fathers do. Women also transmit values to the next generation. To make the  biggest impact on development, then, a society must empower and invest in its</a:t>
            </a:r>
            <a:r>
              <a:rPr dirty="0" sz="1100" spc="135">
                <a:latin typeface="Arial"/>
                <a:cs typeface="Arial"/>
              </a:rPr>
              <a:t> </a:t>
            </a:r>
            <a:r>
              <a:rPr dirty="0" sz="1100" spc="-5">
                <a:latin typeface="Arial"/>
                <a:cs typeface="Arial"/>
              </a:rPr>
              <a:t>women.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THE THREE OBJECTIVES OF</a:t>
            </a:r>
            <a:r>
              <a:rPr dirty="0" sz="1100" spc="1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25"/>
              </a:spcBef>
            </a:pPr>
            <a:endParaRPr sz="1100">
              <a:latin typeface="Arial"/>
              <a:cs typeface="Arial"/>
            </a:endParaRPr>
          </a:p>
          <a:p>
            <a:pPr marL="12700" marR="5080">
              <a:lnSpc>
                <a:spcPts val="1270"/>
              </a:lnSpc>
            </a:pPr>
            <a:r>
              <a:rPr dirty="0" sz="1100" spc="-5">
                <a:latin typeface="Arial"/>
                <a:cs typeface="Arial"/>
              </a:rPr>
              <a:t>We may conclude that development in all societies must have at least the following three  objectives:</a:t>
            </a:r>
            <a:endParaRPr sz="1100">
              <a:latin typeface="Arial"/>
              <a:cs typeface="Arial"/>
            </a:endParaRPr>
          </a:p>
          <a:p>
            <a:pPr>
              <a:lnSpc>
                <a:spcPct val="100000"/>
              </a:lnSpc>
              <a:spcBef>
                <a:spcPts val="45"/>
              </a:spcBef>
            </a:pPr>
            <a:endParaRPr sz="1050">
              <a:latin typeface="Arial"/>
              <a:cs typeface="Arial"/>
            </a:endParaRPr>
          </a:p>
          <a:p>
            <a:pPr lvl="1" marL="469900" marR="7620" indent="-228600">
              <a:lnSpc>
                <a:spcPts val="1270"/>
              </a:lnSpc>
              <a:buFont typeface="Arial"/>
              <a:buAutoNum type="arabicParenR"/>
              <a:tabLst>
                <a:tab pos="469900" algn="l"/>
              </a:tabLst>
            </a:pPr>
            <a:r>
              <a:rPr dirty="0" sz="1100" spc="-5">
                <a:latin typeface="Arial"/>
                <a:cs typeface="Arial"/>
              </a:rPr>
              <a:t>To increase the availability and widen the distribution of basic life-sustaining goods such  as food, shelter, health, and</a:t>
            </a:r>
            <a:r>
              <a:rPr dirty="0" sz="1100" spc="15">
                <a:latin typeface="Arial"/>
                <a:cs typeface="Arial"/>
              </a:rPr>
              <a:t> </a:t>
            </a:r>
            <a:r>
              <a:rPr dirty="0" sz="1100" spc="-5">
                <a:latin typeface="Arial"/>
                <a:cs typeface="Arial"/>
              </a:rPr>
              <a:t>protection.</a:t>
            </a:r>
            <a:endParaRPr sz="1100">
              <a:latin typeface="Arial"/>
              <a:cs typeface="Arial"/>
            </a:endParaRPr>
          </a:p>
          <a:p>
            <a:pPr lvl="1" marL="469900" indent="-228600">
              <a:lnSpc>
                <a:spcPts val="1200"/>
              </a:lnSpc>
              <a:buFont typeface="Arial"/>
              <a:buAutoNum type="arabicParenR"/>
              <a:tabLst>
                <a:tab pos="469900" algn="l"/>
              </a:tabLst>
            </a:pPr>
            <a:r>
              <a:rPr dirty="0" sz="1100" spc="-5">
                <a:latin typeface="Arial"/>
                <a:cs typeface="Arial"/>
              </a:rPr>
              <a:t>To</a:t>
            </a:r>
            <a:r>
              <a:rPr dirty="0" sz="1100" spc="130">
                <a:latin typeface="Arial"/>
                <a:cs typeface="Arial"/>
              </a:rPr>
              <a:t> </a:t>
            </a:r>
            <a:r>
              <a:rPr dirty="0" sz="1100" spc="-5">
                <a:latin typeface="Arial"/>
                <a:cs typeface="Arial"/>
              </a:rPr>
              <a:t>raise</a:t>
            </a:r>
            <a:r>
              <a:rPr dirty="0" sz="1100" spc="130">
                <a:latin typeface="Arial"/>
                <a:cs typeface="Arial"/>
              </a:rPr>
              <a:t> </a:t>
            </a:r>
            <a:r>
              <a:rPr dirty="0" sz="1100" spc="-5">
                <a:latin typeface="Arial"/>
                <a:cs typeface="Arial"/>
              </a:rPr>
              <a:t>levels</a:t>
            </a:r>
            <a:r>
              <a:rPr dirty="0" sz="1100" spc="130">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living,</a:t>
            </a:r>
            <a:r>
              <a:rPr dirty="0" sz="1100" spc="114">
                <a:latin typeface="Arial"/>
                <a:cs typeface="Arial"/>
              </a:rPr>
              <a:t> </a:t>
            </a:r>
            <a:r>
              <a:rPr dirty="0" sz="1100" spc="-5">
                <a:latin typeface="Arial"/>
                <a:cs typeface="Arial"/>
              </a:rPr>
              <a:t>including,</a:t>
            </a:r>
            <a:r>
              <a:rPr dirty="0" sz="1100" spc="130">
                <a:latin typeface="Arial"/>
                <a:cs typeface="Arial"/>
              </a:rPr>
              <a:t> </a:t>
            </a:r>
            <a:r>
              <a:rPr dirty="0" sz="1100" spc="-5">
                <a:latin typeface="Arial"/>
                <a:cs typeface="Arial"/>
              </a:rPr>
              <a:t>in</a:t>
            </a:r>
            <a:r>
              <a:rPr dirty="0" sz="1100" spc="130">
                <a:latin typeface="Arial"/>
                <a:cs typeface="Arial"/>
              </a:rPr>
              <a:t> </a:t>
            </a:r>
            <a:r>
              <a:rPr dirty="0" sz="1100" spc="-5">
                <a:latin typeface="Arial"/>
                <a:cs typeface="Arial"/>
              </a:rPr>
              <a:t>addition</a:t>
            </a:r>
            <a:r>
              <a:rPr dirty="0" sz="1100" spc="130">
                <a:latin typeface="Arial"/>
                <a:cs typeface="Arial"/>
              </a:rPr>
              <a:t> </a:t>
            </a:r>
            <a:r>
              <a:rPr dirty="0" sz="1100" spc="-5">
                <a:latin typeface="Arial"/>
                <a:cs typeface="Arial"/>
              </a:rPr>
              <a:t>to</a:t>
            </a:r>
            <a:r>
              <a:rPr dirty="0" sz="1100" spc="130">
                <a:latin typeface="Arial"/>
                <a:cs typeface="Arial"/>
              </a:rPr>
              <a:t> </a:t>
            </a:r>
            <a:r>
              <a:rPr dirty="0" sz="1100" spc="-5">
                <a:latin typeface="Arial"/>
                <a:cs typeface="Arial"/>
              </a:rPr>
              <a:t>higher</a:t>
            </a:r>
            <a:r>
              <a:rPr dirty="0" sz="1100" spc="130">
                <a:latin typeface="Arial"/>
                <a:cs typeface="Arial"/>
              </a:rPr>
              <a:t> </a:t>
            </a:r>
            <a:r>
              <a:rPr dirty="0" sz="1100" spc="-5">
                <a:latin typeface="Arial"/>
                <a:cs typeface="Arial"/>
              </a:rPr>
              <a:t>incomes,</a:t>
            </a:r>
            <a:r>
              <a:rPr dirty="0" sz="1100" spc="130">
                <a:latin typeface="Arial"/>
                <a:cs typeface="Arial"/>
              </a:rPr>
              <a:t> </a:t>
            </a:r>
            <a:r>
              <a:rPr dirty="0" sz="1100" spc="-5">
                <a:latin typeface="Arial"/>
                <a:cs typeface="Arial"/>
              </a:rPr>
              <a:t>the</a:t>
            </a:r>
            <a:r>
              <a:rPr dirty="0" sz="1100" spc="130">
                <a:latin typeface="Arial"/>
                <a:cs typeface="Arial"/>
              </a:rPr>
              <a:t> </a:t>
            </a:r>
            <a:r>
              <a:rPr dirty="0" sz="1100" spc="-5">
                <a:latin typeface="Arial"/>
                <a:cs typeface="Arial"/>
              </a:rPr>
              <a:t>provision</a:t>
            </a:r>
            <a:r>
              <a:rPr dirty="0" sz="1100" spc="130">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more</a:t>
            </a:r>
            <a:endParaRPr sz="1100">
              <a:latin typeface="Arial"/>
              <a:cs typeface="Arial"/>
            </a:endParaRPr>
          </a:p>
          <a:p>
            <a:pPr marL="469900">
              <a:lnSpc>
                <a:spcPts val="1265"/>
              </a:lnSpc>
            </a:pPr>
            <a:r>
              <a:rPr dirty="0" sz="1100" spc="-5">
                <a:latin typeface="Arial"/>
                <a:cs typeface="Arial"/>
              </a:rPr>
              <a:t>jobs, better education, and greater attention to cultural and human</a:t>
            </a:r>
            <a:r>
              <a:rPr dirty="0" sz="1100" spc="85">
                <a:latin typeface="Arial"/>
                <a:cs typeface="Arial"/>
              </a:rPr>
              <a:t> </a:t>
            </a:r>
            <a:r>
              <a:rPr dirty="0" sz="1100" spc="-5">
                <a:latin typeface="Arial"/>
                <a:cs typeface="Arial"/>
              </a:rPr>
              <a:t>values.</a:t>
            </a:r>
            <a:endParaRPr sz="1100">
              <a:latin typeface="Arial"/>
              <a:cs typeface="Arial"/>
            </a:endParaRPr>
          </a:p>
          <a:p>
            <a:pPr lvl="1" marL="469900" marR="6985" indent="-228600">
              <a:lnSpc>
                <a:spcPts val="1270"/>
              </a:lnSpc>
              <a:spcBef>
                <a:spcPts val="55"/>
              </a:spcBef>
              <a:buFont typeface="Arial"/>
              <a:buAutoNum type="arabicParenR" startAt="3"/>
              <a:tabLst>
                <a:tab pos="469900" algn="l"/>
              </a:tabLst>
            </a:pPr>
            <a:r>
              <a:rPr dirty="0" sz="1100" spc="-5">
                <a:latin typeface="Arial"/>
                <a:cs typeface="Arial"/>
              </a:rPr>
              <a:t>To expand the range of economic and social choices available to individuals and nations  by freeing them from servitude and dependence on each</a:t>
            </a:r>
            <a:r>
              <a:rPr dirty="0" sz="1100" spc="50">
                <a:latin typeface="Arial"/>
                <a:cs typeface="Arial"/>
              </a:rPr>
              <a:t> </a:t>
            </a:r>
            <a:r>
              <a:rPr dirty="0" sz="1100" spc="-5">
                <a:latin typeface="Arial"/>
                <a:cs typeface="Arial"/>
              </a:rPr>
              <a:t>other.</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THE MILLENNIUM DEVELOPMENT</a:t>
            </a:r>
            <a:r>
              <a:rPr dirty="0" sz="1100" b="1">
                <a:latin typeface="Arial"/>
                <a:cs typeface="Arial"/>
              </a:rPr>
              <a:t> </a:t>
            </a:r>
            <a:r>
              <a:rPr dirty="0" sz="1100" spc="-10" b="1">
                <a:latin typeface="Arial"/>
                <a:cs typeface="Arial"/>
              </a:rPr>
              <a:t>GOALS</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spcBef>
                <a:spcPts val="5"/>
              </a:spcBef>
            </a:pPr>
            <a:r>
              <a:rPr dirty="0" sz="1100" spc="-5">
                <a:latin typeface="Arial"/>
                <a:cs typeface="Arial"/>
              </a:rPr>
              <a:t>In September 2000, the 189 </a:t>
            </a:r>
            <a:r>
              <a:rPr dirty="0" sz="1100">
                <a:latin typeface="Arial"/>
                <a:cs typeface="Arial"/>
              </a:rPr>
              <a:t>member </a:t>
            </a:r>
            <a:r>
              <a:rPr dirty="0" sz="1100" spc="-5">
                <a:latin typeface="Arial"/>
                <a:cs typeface="Arial"/>
              </a:rPr>
              <a:t>countries of the United Nations at that time adopted eight  </a:t>
            </a:r>
            <a:r>
              <a:rPr dirty="0" sz="1100" spc="-5" b="1">
                <a:latin typeface="Arial"/>
                <a:cs typeface="Arial"/>
              </a:rPr>
              <a:t>Millennium Development Goals (MDGs)</a:t>
            </a:r>
            <a:r>
              <a:rPr dirty="0" sz="1100" spc="-5">
                <a:latin typeface="Arial"/>
                <a:cs typeface="Arial"/>
              </a:rPr>
              <a:t>, committing themselves to making substantial  progress toward the eradication of poverty and achieving other human development goals by  2015.</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a:t>
            </a:r>
            <a:endParaRPr sz="1100">
              <a:latin typeface="Carlito"/>
              <a:cs typeface="Carl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163830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b="1">
                <a:latin typeface="Arial"/>
                <a:cs typeface="Arial"/>
              </a:rPr>
              <a:t>Millennium Development Goals (MDGs) are </a:t>
            </a:r>
            <a:r>
              <a:rPr dirty="0" sz="1100" spc="-5">
                <a:latin typeface="Arial"/>
                <a:cs typeface="Arial"/>
              </a:rPr>
              <a:t>a set of eight goals adopted by the United  Nations in 2000: to eradicate extreme poverty and hunger; achieve universal primary education;  promote gender equality and empower women; reduce child mortality; improve maternal health;  combat HIV/AIDS, malaria, and other diseases; ensure environmental sustainability and  develop a global partnership for development. The goals are assigned specific targets to be  achieved by</a:t>
            </a:r>
            <a:r>
              <a:rPr dirty="0" sz="1100">
                <a:latin typeface="Arial"/>
                <a:cs typeface="Arial"/>
              </a:rPr>
              <a:t> </a:t>
            </a:r>
            <a:r>
              <a:rPr dirty="0" sz="1100" spc="-5">
                <a:latin typeface="Arial"/>
                <a:cs typeface="Arial"/>
              </a:rPr>
              <a:t>2015.</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700"/>
              </a:lnSpc>
            </a:pPr>
            <a:r>
              <a:rPr dirty="0" sz="1100" spc="-5" b="1">
                <a:latin typeface="Arial"/>
                <a:cs typeface="Arial"/>
              </a:rPr>
              <a:t>Sector: </a:t>
            </a:r>
            <a:r>
              <a:rPr dirty="0" sz="1100" spc="-5">
                <a:latin typeface="Arial"/>
                <a:cs typeface="Arial"/>
              </a:rPr>
              <a:t>A subset (part) of an economy, with four usages in economic development: technology  (modern and traditional sectors); activity (industry or product sectors); trade (export sector); and  sphere (private and public</a:t>
            </a:r>
            <a:r>
              <a:rPr dirty="0" sz="1100" spc="15">
                <a:latin typeface="Arial"/>
                <a:cs typeface="Arial"/>
              </a:rPr>
              <a:t> </a:t>
            </a:r>
            <a:r>
              <a:rPr dirty="0" sz="1100" spc="-5">
                <a:latin typeface="Arial"/>
                <a:cs typeface="Arial"/>
              </a:rPr>
              <a:t>sectors).</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a:t>
            </a:r>
            <a:endParaRPr sz="1100">
              <a:latin typeface="Carlito"/>
              <a:cs typeface="Carlito"/>
            </a:endParaRPr>
          </a:p>
        </p:txBody>
      </p:sp>
      <p:graphicFrame>
        <p:nvGraphicFramePr>
          <p:cNvPr id="7" name="object 7"/>
          <p:cNvGraphicFramePr>
            <a:graphicFrameLocks noGrp="1"/>
          </p:cNvGraphicFramePr>
          <p:nvPr/>
        </p:nvGraphicFramePr>
        <p:xfrm>
          <a:off x="842772" y="2681478"/>
          <a:ext cx="6090285" cy="6383655"/>
        </p:xfrm>
        <a:graphic>
          <a:graphicData uri="http://schemas.openxmlformats.org/drawingml/2006/table">
            <a:tbl>
              <a:tblPr firstRow="1" bandRow="1">
                <a:tableStyleId>{2D5ABB26-0587-4C30-8999-92F81FD0307C}</a:tableStyleId>
              </a:tblPr>
              <a:tblGrid>
                <a:gridCol w="904240"/>
                <a:gridCol w="1729105"/>
                <a:gridCol w="404494"/>
                <a:gridCol w="1477645"/>
                <a:gridCol w="646429"/>
                <a:gridCol w="360045"/>
                <a:gridCol w="555625"/>
              </a:tblGrid>
              <a:tr h="253746">
                <a:tc gridSpan="7">
                  <a:txBody>
                    <a:bodyPr/>
                    <a:lstStyle/>
                    <a:p>
                      <a:pPr marL="141605">
                        <a:lnSpc>
                          <a:spcPts val="1270"/>
                        </a:lnSpc>
                      </a:pPr>
                      <a:r>
                        <a:rPr dirty="0" sz="1100" spc="-5" b="1">
                          <a:latin typeface="Arial"/>
                          <a:cs typeface="Arial"/>
                        </a:rPr>
                        <a:t>TABLE 1.1 Millennium Development Goals and Targets for</a:t>
                      </a:r>
                      <a:r>
                        <a:rPr dirty="0" sz="1100" spc="55" b="1">
                          <a:latin typeface="Arial"/>
                          <a:cs typeface="Arial"/>
                        </a:rPr>
                        <a:t> </a:t>
                      </a:r>
                      <a:r>
                        <a:rPr dirty="0" sz="1100" spc="-5" b="1">
                          <a:latin typeface="Arial"/>
                          <a:cs typeface="Arial"/>
                        </a:rPr>
                        <a:t>2015</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66877">
                <a:tc gridSpan="7">
                  <a:txBody>
                    <a:bodyPr/>
                    <a:lstStyle/>
                    <a:p>
                      <a:pPr algn="ctr" marL="209550">
                        <a:lnSpc>
                          <a:spcPts val="1215"/>
                        </a:lnSpc>
                        <a:tabLst>
                          <a:tab pos="3867150" algn="l"/>
                        </a:tabLst>
                      </a:pPr>
                      <a:r>
                        <a:rPr dirty="0" sz="1100" spc="-5" b="1">
                          <a:latin typeface="Arial"/>
                          <a:cs typeface="Arial"/>
                        </a:rPr>
                        <a:t>GOALS	TARGETS</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668273">
                <a:tc gridSpan="3">
                  <a:txBody>
                    <a:bodyPr/>
                    <a:lstStyle/>
                    <a:p>
                      <a:pPr marL="67945">
                        <a:lnSpc>
                          <a:spcPts val="1270"/>
                        </a:lnSpc>
                      </a:pPr>
                      <a:r>
                        <a:rPr dirty="0" sz="1100" spc="-5" b="1">
                          <a:latin typeface="Arial"/>
                          <a:cs typeface="Arial"/>
                        </a:rPr>
                        <a:t>1. </a:t>
                      </a:r>
                      <a:r>
                        <a:rPr dirty="0" sz="1100" spc="-5">
                          <a:latin typeface="Arial"/>
                          <a:cs typeface="Arial"/>
                        </a:rPr>
                        <a:t>Eradicate extreme poverty and</a:t>
                      </a:r>
                      <a:r>
                        <a:rPr dirty="0" sz="1100" spc="25">
                          <a:latin typeface="Arial"/>
                          <a:cs typeface="Arial"/>
                        </a:rPr>
                        <a:t> </a:t>
                      </a:r>
                      <a:r>
                        <a:rPr dirty="0" sz="1100" spc="-5">
                          <a:latin typeface="Arial"/>
                          <a:cs typeface="Arial"/>
                        </a:rPr>
                        <a:t>hunger</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marL="296545" marR="60960" indent="-228600">
                        <a:lnSpc>
                          <a:spcPts val="1260"/>
                        </a:lnSpc>
                        <a:spcBef>
                          <a:spcPts val="120"/>
                        </a:spcBef>
                        <a:buFont typeface="Symbol"/>
                        <a:buChar char=""/>
                        <a:tabLst>
                          <a:tab pos="296545" algn="l"/>
                          <a:tab pos="297815" algn="l"/>
                        </a:tabLst>
                      </a:pPr>
                      <a:r>
                        <a:rPr dirty="0" sz="1100" spc="-5">
                          <a:latin typeface="Arial"/>
                          <a:cs typeface="Arial"/>
                        </a:rPr>
                        <a:t>Reduce by half the proportion of people  living on less than $1 a</a:t>
                      </a:r>
                      <a:r>
                        <a:rPr dirty="0" sz="1100" spc="15">
                          <a:latin typeface="Arial"/>
                          <a:cs typeface="Arial"/>
                        </a:rPr>
                        <a:t> </a:t>
                      </a:r>
                      <a:r>
                        <a:rPr dirty="0" sz="1100" spc="-5">
                          <a:latin typeface="Arial"/>
                          <a:cs typeface="Arial"/>
                        </a:rPr>
                        <a:t>day</a:t>
                      </a:r>
                      <a:endParaRPr sz="1100">
                        <a:latin typeface="Arial"/>
                        <a:cs typeface="Arial"/>
                      </a:endParaRPr>
                    </a:p>
                    <a:p>
                      <a:pPr marL="296545" marR="60960" indent="-228600">
                        <a:lnSpc>
                          <a:spcPts val="1260"/>
                        </a:lnSpc>
                        <a:spcBef>
                          <a:spcPts val="80"/>
                        </a:spcBef>
                        <a:buFont typeface="Symbol"/>
                        <a:buChar char=""/>
                        <a:tabLst>
                          <a:tab pos="296545" algn="l"/>
                          <a:tab pos="297815" algn="l"/>
                        </a:tabLst>
                      </a:pPr>
                      <a:r>
                        <a:rPr dirty="0" sz="1100" spc="-5">
                          <a:latin typeface="Arial"/>
                          <a:cs typeface="Arial"/>
                        </a:rPr>
                        <a:t>Reduce by half the proportion of people  who suffer from</a:t>
                      </a:r>
                      <a:r>
                        <a:rPr dirty="0" sz="1100" spc="5">
                          <a:latin typeface="Arial"/>
                          <a:cs typeface="Arial"/>
                        </a:rPr>
                        <a:t> </a:t>
                      </a:r>
                      <a:r>
                        <a:rPr dirty="0" sz="1100" spc="-5">
                          <a:latin typeface="Arial"/>
                          <a:cs typeface="Arial"/>
                        </a:rPr>
                        <a:t>hunger</a:t>
                      </a:r>
                      <a:endParaRPr sz="1100">
                        <a:latin typeface="Arial"/>
                        <a:cs typeface="Arial"/>
                      </a:endParaRPr>
                    </a:p>
                  </a:txBody>
                  <a:tcPr marL="0" marR="0" marB="0" marT="1524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336803">
                <a:tc gridSpan="3">
                  <a:txBody>
                    <a:bodyPr/>
                    <a:lstStyle/>
                    <a:p>
                      <a:pPr marL="67945">
                        <a:lnSpc>
                          <a:spcPts val="1265"/>
                        </a:lnSpc>
                      </a:pPr>
                      <a:r>
                        <a:rPr dirty="0" sz="1100" spc="-5" b="1">
                          <a:latin typeface="Arial"/>
                          <a:cs typeface="Arial"/>
                        </a:rPr>
                        <a:t>2. </a:t>
                      </a:r>
                      <a:r>
                        <a:rPr dirty="0" sz="1100" spc="-5">
                          <a:latin typeface="Arial"/>
                          <a:cs typeface="Arial"/>
                        </a:rPr>
                        <a:t>Achieve universal primary</a:t>
                      </a:r>
                      <a:r>
                        <a:rPr dirty="0" sz="1100" spc="20">
                          <a:latin typeface="Arial"/>
                          <a:cs typeface="Arial"/>
                        </a:rPr>
                        <a:t> </a:t>
                      </a:r>
                      <a:r>
                        <a:rPr dirty="0" sz="1100" spc="-5">
                          <a:latin typeface="Arial"/>
                          <a:cs typeface="Arial"/>
                        </a:rPr>
                        <a:t>education</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marL="296545" marR="60960" indent="-228600">
                        <a:lnSpc>
                          <a:spcPts val="1260"/>
                        </a:lnSpc>
                        <a:spcBef>
                          <a:spcPts val="115"/>
                        </a:spcBef>
                        <a:buFont typeface="Symbol"/>
                        <a:buChar char=""/>
                        <a:tabLst>
                          <a:tab pos="296545" algn="l"/>
                          <a:tab pos="297815" algn="l"/>
                        </a:tabLst>
                      </a:pPr>
                      <a:r>
                        <a:rPr dirty="0" sz="1100" spc="-5">
                          <a:latin typeface="Arial"/>
                          <a:cs typeface="Arial"/>
                        </a:rPr>
                        <a:t>Ensure that all boys and girls complete a  full course of primary</a:t>
                      </a:r>
                      <a:r>
                        <a:rPr dirty="0" sz="1100" spc="10">
                          <a:latin typeface="Arial"/>
                          <a:cs typeface="Arial"/>
                        </a:rPr>
                        <a:t> </a:t>
                      </a:r>
                      <a:r>
                        <a:rPr dirty="0" sz="1100" spc="-5">
                          <a:latin typeface="Arial"/>
                          <a:cs typeface="Arial"/>
                        </a:rPr>
                        <a:t>schooling.</a:t>
                      </a:r>
                      <a:endParaRPr sz="1100">
                        <a:latin typeface="Arial"/>
                        <a:cs typeface="Arial"/>
                      </a:endParaRPr>
                    </a:p>
                  </a:txBody>
                  <a:tcPr marL="0" marR="0" marB="0" marT="146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497586">
                <a:tc gridSpan="3">
                  <a:txBody>
                    <a:bodyPr/>
                    <a:lstStyle/>
                    <a:p>
                      <a:pPr marL="67945">
                        <a:lnSpc>
                          <a:spcPts val="1265"/>
                        </a:lnSpc>
                      </a:pPr>
                      <a:r>
                        <a:rPr dirty="0" sz="1100" spc="-5" b="1">
                          <a:latin typeface="Arial"/>
                          <a:cs typeface="Arial"/>
                        </a:rPr>
                        <a:t>3. </a:t>
                      </a:r>
                      <a:r>
                        <a:rPr dirty="0" sz="1100" spc="-5">
                          <a:latin typeface="Arial"/>
                          <a:cs typeface="Arial"/>
                        </a:rPr>
                        <a:t>Promote gender equality and</a:t>
                      </a:r>
                      <a:r>
                        <a:rPr dirty="0" sz="1100" spc="35">
                          <a:latin typeface="Arial"/>
                          <a:cs typeface="Arial"/>
                        </a:rPr>
                        <a:t> </a:t>
                      </a:r>
                      <a:r>
                        <a:rPr dirty="0" sz="1100" spc="-5">
                          <a:latin typeface="Arial"/>
                          <a:cs typeface="Arial"/>
                        </a:rPr>
                        <a:t>empower</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algn="just" marL="229870" marR="62230" indent="-114300">
                        <a:lnSpc>
                          <a:spcPct val="95700"/>
                        </a:lnSpc>
                        <a:spcBef>
                          <a:spcPts val="75"/>
                        </a:spcBef>
                        <a:buFont typeface="Symbol"/>
                        <a:buChar char=""/>
                        <a:tabLst>
                          <a:tab pos="230504" algn="l"/>
                        </a:tabLst>
                      </a:pPr>
                      <a:r>
                        <a:rPr dirty="0" sz="1100" spc="-5">
                          <a:latin typeface="Arial"/>
                          <a:cs typeface="Arial"/>
                        </a:rPr>
                        <a:t>Eliminate gender disparity in primary and  secondary education, women preferably by  2005, and at all levels by</a:t>
                      </a:r>
                      <a:r>
                        <a:rPr dirty="0" sz="1100" spc="20">
                          <a:latin typeface="Arial"/>
                          <a:cs typeface="Arial"/>
                        </a:rPr>
                        <a:t> </a:t>
                      </a:r>
                      <a:r>
                        <a:rPr dirty="0" sz="1100" spc="-5">
                          <a:latin typeface="Arial"/>
                          <a:cs typeface="Arial"/>
                        </a:rPr>
                        <a:t>2015</a:t>
                      </a:r>
                      <a:endParaRPr sz="1100">
                        <a:latin typeface="Arial"/>
                        <a:cs typeface="Arial"/>
                      </a:endParaRPr>
                    </a:p>
                  </a:txBody>
                  <a:tcPr marL="0" marR="0" marB="0" marT="952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337565">
                <a:tc gridSpan="3">
                  <a:txBody>
                    <a:bodyPr/>
                    <a:lstStyle/>
                    <a:p>
                      <a:pPr marL="67945">
                        <a:lnSpc>
                          <a:spcPts val="1270"/>
                        </a:lnSpc>
                      </a:pPr>
                      <a:r>
                        <a:rPr dirty="0" sz="1100" spc="-5" b="1">
                          <a:latin typeface="Arial"/>
                          <a:cs typeface="Arial"/>
                        </a:rPr>
                        <a:t>4. </a:t>
                      </a:r>
                      <a:r>
                        <a:rPr dirty="0" sz="1100" spc="-5">
                          <a:latin typeface="Arial"/>
                          <a:cs typeface="Arial"/>
                        </a:rPr>
                        <a:t>Reduce child</a:t>
                      </a:r>
                      <a:r>
                        <a:rPr dirty="0" sz="1100" spc="5">
                          <a:latin typeface="Arial"/>
                          <a:cs typeface="Arial"/>
                        </a:rPr>
                        <a:t> </a:t>
                      </a:r>
                      <a:r>
                        <a:rPr dirty="0" sz="1100" spc="-5">
                          <a:latin typeface="Arial"/>
                          <a:cs typeface="Arial"/>
                        </a:rPr>
                        <a:t>mortality</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a:txBody>
                    <a:bodyPr/>
                    <a:lstStyle/>
                    <a:p>
                      <a:pPr marL="229870" marR="52069" indent="-114300">
                        <a:lnSpc>
                          <a:spcPts val="1260"/>
                        </a:lnSpc>
                        <a:spcBef>
                          <a:spcPts val="120"/>
                        </a:spcBef>
                        <a:buFont typeface="Symbol"/>
                        <a:buChar char=""/>
                        <a:tabLst>
                          <a:tab pos="230504" algn="l"/>
                        </a:tabLst>
                      </a:pPr>
                      <a:r>
                        <a:rPr dirty="0" sz="1100" spc="-5">
                          <a:latin typeface="Arial"/>
                          <a:cs typeface="Arial"/>
                        </a:rPr>
                        <a:t>by two-thirds the  children under</a:t>
                      </a:r>
                      <a:r>
                        <a:rPr dirty="0" sz="1100" spc="-10">
                          <a:latin typeface="Arial"/>
                          <a:cs typeface="Arial"/>
                        </a:rPr>
                        <a:t> </a:t>
                      </a:r>
                      <a:r>
                        <a:rPr dirty="0" sz="1100" spc="-5">
                          <a:latin typeface="Arial"/>
                          <a:cs typeface="Arial"/>
                        </a:rPr>
                        <a:t>5</a:t>
                      </a:r>
                      <a:endParaRPr sz="1100">
                        <a:latin typeface="Arial"/>
                        <a:cs typeface="Arial"/>
                      </a:endParaRPr>
                    </a:p>
                  </a:txBody>
                  <a:tcPr marL="0" marR="0" marB="0" marT="1524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59690">
                        <a:lnSpc>
                          <a:spcPct val="100000"/>
                        </a:lnSpc>
                        <a:spcBef>
                          <a:spcPts val="25"/>
                        </a:spcBef>
                      </a:pPr>
                      <a:r>
                        <a:rPr dirty="0" sz="1100" spc="-5">
                          <a:latin typeface="Arial"/>
                          <a:cs typeface="Arial"/>
                        </a:rPr>
                        <a:t>mortality</a:t>
                      </a:r>
                      <a:endParaRPr sz="1100">
                        <a:latin typeface="Arial"/>
                        <a:cs typeface="Arial"/>
                      </a:endParaRPr>
                    </a:p>
                  </a:txBody>
                  <a:tcPr marL="0" marR="0" marB="0" marT="3175">
                    <a:lnT w="6350">
                      <a:solidFill>
                        <a:srgbClr val="000000"/>
                      </a:solidFill>
                      <a:prstDash val="solid"/>
                    </a:lnT>
                    <a:lnB w="6350">
                      <a:solidFill>
                        <a:srgbClr val="000000"/>
                      </a:solidFill>
                      <a:prstDash val="solid"/>
                    </a:lnB>
                  </a:tcPr>
                </a:tc>
                <a:tc>
                  <a:txBody>
                    <a:bodyPr/>
                    <a:lstStyle/>
                    <a:p>
                      <a:pPr marL="59690">
                        <a:lnSpc>
                          <a:spcPct val="100000"/>
                        </a:lnSpc>
                        <a:spcBef>
                          <a:spcPts val="25"/>
                        </a:spcBef>
                      </a:pPr>
                      <a:r>
                        <a:rPr dirty="0" sz="1100" spc="-5">
                          <a:latin typeface="Arial"/>
                          <a:cs typeface="Arial"/>
                        </a:rPr>
                        <a:t>rate</a:t>
                      </a:r>
                      <a:endParaRPr sz="1100">
                        <a:latin typeface="Arial"/>
                        <a:cs typeface="Arial"/>
                      </a:endParaRPr>
                    </a:p>
                  </a:txBody>
                  <a:tcPr marL="0" marR="0" marB="0" marT="3175">
                    <a:lnT w="6350">
                      <a:solidFill>
                        <a:srgbClr val="000000"/>
                      </a:solidFill>
                      <a:prstDash val="solid"/>
                    </a:lnT>
                    <a:lnB w="6350">
                      <a:solidFill>
                        <a:srgbClr val="000000"/>
                      </a:solidFill>
                      <a:prstDash val="solid"/>
                    </a:lnB>
                  </a:tcPr>
                </a:tc>
                <a:tc>
                  <a:txBody>
                    <a:bodyPr/>
                    <a:lstStyle/>
                    <a:p>
                      <a:pPr marL="59690">
                        <a:lnSpc>
                          <a:spcPct val="100000"/>
                        </a:lnSpc>
                        <a:spcBef>
                          <a:spcPts val="25"/>
                        </a:spcBef>
                      </a:pPr>
                      <a:r>
                        <a:rPr dirty="0" sz="1100" spc="-5">
                          <a:latin typeface="Arial"/>
                          <a:cs typeface="Arial"/>
                        </a:rPr>
                        <a:t>among</a:t>
                      </a:r>
                      <a:endParaRPr sz="1100">
                        <a:latin typeface="Arial"/>
                        <a:cs typeface="Arial"/>
                      </a:endParaRPr>
                    </a:p>
                  </a:txBody>
                  <a:tcPr marL="0" marR="0" marB="0" marT="3175">
                    <a:lnR w="6350">
                      <a:solidFill>
                        <a:srgbClr val="000000"/>
                      </a:solidFill>
                      <a:prstDash val="solid"/>
                    </a:lnR>
                    <a:lnT w="6350">
                      <a:solidFill>
                        <a:srgbClr val="000000"/>
                      </a:solidFill>
                      <a:prstDash val="solid"/>
                    </a:lnT>
                    <a:lnB w="6350">
                      <a:solidFill>
                        <a:srgbClr val="000000"/>
                      </a:solidFill>
                      <a:prstDash val="solid"/>
                    </a:lnB>
                  </a:tcPr>
                </a:tc>
              </a:tr>
              <a:tr h="336804">
                <a:tc gridSpan="3">
                  <a:txBody>
                    <a:bodyPr/>
                    <a:lstStyle/>
                    <a:p>
                      <a:pPr marL="67945">
                        <a:lnSpc>
                          <a:spcPts val="1265"/>
                        </a:lnSpc>
                      </a:pPr>
                      <a:r>
                        <a:rPr dirty="0" sz="1100" spc="-5" b="1">
                          <a:latin typeface="Arial"/>
                          <a:cs typeface="Arial"/>
                        </a:rPr>
                        <a:t>5. </a:t>
                      </a:r>
                      <a:r>
                        <a:rPr dirty="0" sz="1100" spc="-5">
                          <a:latin typeface="Arial"/>
                          <a:cs typeface="Arial"/>
                        </a:rPr>
                        <a:t>Improve maternal</a:t>
                      </a:r>
                      <a:r>
                        <a:rPr dirty="0" sz="1100" spc="10">
                          <a:latin typeface="Arial"/>
                          <a:cs typeface="Arial"/>
                        </a:rPr>
                        <a:t> </a:t>
                      </a:r>
                      <a:r>
                        <a:rPr dirty="0" sz="1100" spc="-5">
                          <a:latin typeface="Arial"/>
                          <a:cs typeface="Arial"/>
                        </a:rPr>
                        <a:t>health</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marL="229870" marR="59690" indent="-114300">
                        <a:lnSpc>
                          <a:spcPts val="1260"/>
                        </a:lnSpc>
                        <a:spcBef>
                          <a:spcPts val="115"/>
                        </a:spcBef>
                        <a:buFont typeface="Symbol"/>
                        <a:buChar char=""/>
                        <a:tabLst>
                          <a:tab pos="230504" algn="l"/>
                        </a:tabLst>
                      </a:pPr>
                      <a:r>
                        <a:rPr dirty="0" sz="1100" spc="-5">
                          <a:latin typeface="Arial"/>
                          <a:cs typeface="Arial"/>
                        </a:rPr>
                        <a:t>Reduce by three-quarters the maternal  mortality ratio</a:t>
                      </a:r>
                      <a:endParaRPr sz="1100">
                        <a:latin typeface="Arial"/>
                        <a:cs typeface="Arial"/>
                      </a:endParaRPr>
                    </a:p>
                  </a:txBody>
                  <a:tcPr marL="0" marR="0" marB="0" marT="146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667512">
                <a:tc>
                  <a:txBody>
                    <a:bodyPr/>
                    <a:lstStyle/>
                    <a:p>
                      <a:pPr marL="67945" marR="100965">
                        <a:lnSpc>
                          <a:spcPts val="1270"/>
                        </a:lnSpc>
                        <a:spcBef>
                          <a:spcPts val="25"/>
                        </a:spcBef>
                      </a:pPr>
                      <a:r>
                        <a:rPr dirty="0" sz="1100" spc="-5" b="1">
                          <a:latin typeface="Arial"/>
                          <a:cs typeface="Arial"/>
                        </a:rPr>
                        <a:t>6. </a:t>
                      </a:r>
                      <a:r>
                        <a:rPr dirty="0" sz="1100" spc="-5">
                          <a:latin typeface="Arial"/>
                          <a:cs typeface="Arial"/>
                        </a:rPr>
                        <a:t>Combat  diseases</a:t>
                      </a:r>
                      <a:endParaRPr sz="1100">
                        <a:latin typeface="Arial"/>
                        <a:cs typeface="Arial"/>
                      </a:endParaRPr>
                    </a:p>
                  </a:txBody>
                  <a:tcPr marL="0" marR="0" marB="0" marT="3175">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3970">
                        <a:lnSpc>
                          <a:spcPts val="1265"/>
                        </a:lnSpc>
                      </a:pPr>
                      <a:r>
                        <a:rPr dirty="0" sz="1100" spc="-5">
                          <a:latin typeface="Arial"/>
                          <a:cs typeface="Arial"/>
                        </a:rPr>
                        <a:t>HIV/AIDS, malaria,</a:t>
                      </a:r>
                      <a:r>
                        <a:rPr dirty="0" sz="1100" spc="105">
                          <a:latin typeface="Arial"/>
                          <a:cs typeface="Arial"/>
                        </a:rPr>
                        <a:t> </a:t>
                      </a:r>
                      <a:r>
                        <a:rPr dirty="0" sz="1100" spc="-5">
                          <a:latin typeface="Arial"/>
                          <a:cs typeface="Arial"/>
                        </a:rPr>
                        <a:t>and</a:t>
                      </a:r>
                      <a:endParaRPr sz="1100">
                        <a:latin typeface="Arial"/>
                        <a:cs typeface="Arial"/>
                      </a:endParaRPr>
                    </a:p>
                  </a:txBody>
                  <a:tcPr marL="0" marR="0" marB="0" marT="0">
                    <a:lnT w="6350">
                      <a:solidFill>
                        <a:srgbClr val="000000"/>
                      </a:solidFill>
                      <a:prstDash val="solid"/>
                    </a:lnT>
                    <a:lnB w="6350">
                      <a:solidFill>
                        <a:srgbClr val="000000"/>
                      </a:solidFill>
                      <a:prstDash val="solid"/>
                    </a:lnB>
                  </a:tcPr>
                </a:tc>
                <a:tc>
                  <a:txBody>
                    <a:bodyPr/>
                    <a:lstStyle/>
                    <a:p>
                      <a:pPr algn="r" marR="60960">
                        <a:lnSpc>
                          <a:spcPts val="1265"/>
                        </a:lnSpc>
                      </a:pPr>
                      <a:r>
                        <a:rPr dirty="0" sz="1100">
                          <a:latin typeface="Arial"/>
                          <a:cs typeface="Arial"/>
                        </a:rPr>
                        <a:t>other</a:t>
                      </a:r>
                      <a:endParaRPr sz="1100">
                        <a:latin typeface="Arial"/>
                        <a:cs typeface="Arial"/>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gridSpan="4">
                  <a:txBody>
                    <a:bodyPr/>
                    <a:lstStyle/>
                    <a:p>
                      <a:pPr marL="229870" marR="60960" indent="-114300">
                        <a:lnSpc>
                          <a:spcPts val="1260"/>
                        </a:lnSpc>
                        <a:spcBef>
                          <a:spcPts val="115"/>
                        </a:spcBef>
                        <a:buFont typeface="Symbol"/>
                        <a:buChar char=""/>
                        <a:tabLst>
                          <a:tab pos="230504" algn="l"/>
                        </a:tabLst>
                      </a:pPr>
                      <a:r>
                        <a:rPr dirty="0" sz="1100" spc="-5">
                          <a:latin typeface="Arial"/>
                          <a:cs typeface="Arial"/>
                        </a:rPr>
                        <a:t>Halt and </a:t>
                      </a:r>
                      <a:r>
                        <a:rPr dirty="0" sz="1100">
                          <a:latin typeface="Arial"/>
                          <a:cs typeface="Arial"/>
                        </a:rPr>
                        <a:t>begin </a:t>
                      </a:r>
                      <a:r>
                        <a:rPr dirty="0" sz="1100" spc="-5">
                          <a:latin typeface="Arial"/>
                          <a:cs typeface="Arial"/>
                        </a:rPr>
                        <a:t>to reverse the spread of  </a:t>
                      </a:r>
                      <a:r>
                        <a:rPr dirty="0" sz="1100" spc="-10">
                          <a:latin typeface="Arial"/>
                          <a:cs typeface="Arial"/>
                        </a:rPr>
                        <a:t>HIV/AIDS.</a:t>
                      </a:r>
                      <a:endParaRPr sz="1100">
                        <a:latin typeface="Arial"/>
                        <a:cs typeface="Arial"/>
                      </a:endParaRPr>
                    </a:p>
                    <a:p>
                      <a:pPr marL="229870" marR="60960" indent="-114300">
                        <a:lnSpc>
                          <a:spcPts val="1260"/>
                        </a:lnSpc>
                        <a:spcBef>
                          <a:spcPts val="80"/>
                        </a:spcBef>
                        <a:buFont typeface="Symbol"/>
                        <a:buChar char=""/>
                        <a:tabLst>
                          <a:tab pos="230504" algn="l"/>
                        </a:tabLst>
                      </a:pPr>
                      <a:r>
                        <a:rPr dirty="0" sz="1100" spc="-5">
                          <a:latin typeface="Arial"/>
                          <a:cs typeface="Arial"/>
                        </a:rPr>
                        <a:t>Halt and begin to reverse the incidence of  malaria and other major</a:t>
                      </a:r>
                      <a:r>
                        <a:rPr dirty="0" sz="1100" spc="15">
                          <a:latin typeface="Arial"/>
                          <a:cs typeface="Arial"/>
                        </a:rPr>
                        <a:t> </a:t>
                      </a:r>
                      <a:r>
                        <a:rPr dirty="0" sz="1100" spc="-5">
                          <a:latin typeface="Arial"/>
                          <a:cs typeface="Arial"/>
                        </a:rPr>
                        <a:t>diseases</a:t>
                      </a:r>
                      <a:endParaRPr sz="1100">
                        <a:latin typeface="Arial"/>
                        <a:cs typeface="Arial"/>
                      </a:endParaRPr>
                    </a:p>
                  </a:txBody>
                  <a:tcPr marL="0" marR="0" marB="0" marT="1460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480565">
                <a:tc gridSpan="3">
                  <a:txBody>
                    <a:bodyPr/>
                    <a:lstStyle/>
                    <a:p>
                      <a:pPr marL="67945">
                        <a:lnSpc>
                          <a:spcPts val="1265"/>
                        </a:lnSpc>
                      </a:pPr>
                      <a:r>
                        <a:rPr dirty="0" sz="1100" spc="-5" b="1">
                          <a:latin typeface="Arial"/>
                          <a:cs typeface="Arial"/>
                        </a:rPr>
                        <a:t>7. </a:t>
                      </a:r>
                      <a:r>
                        <a:rPr dirty="0" sz="1100" spc="-5">
                          <a:latin typeface="Arial"/>
                          <a:cs typeface="Arial"/>
                        </a:rPr>
                        <a:t>Ensure environmental</a:t>
                      </a:r>
                      <a:r>
                        <a:rPr dirty="0" sz="1100" spc="15">
                          <a:latin typeface="Arial"/>
                          <a:cs typeface="Arial"/>
                        </a:rPr>
                        <a:t> </a:t>
                      </a:r>
                      <a:r>
                        <a:rPr dirty="0" sz="1100" spc="-5">
                          <a:latin typeface="Arial"/>
                          <a:cs typeface="Arial"/>
                        </a:rPr>
                        <a:t>sustainability</a:t>
                      </a:r>
                      <a:endParaRPr sz="1100">
                        <a:latin typeface="Arial"/>
                        <a:cs typeface="Arial"/>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gridSpan="4">
                  <a:txBody>
                    <a:bodyPr/>
                    <a:lstStyle/>
                    <a:p>
                      <a:pPr algn="just" marL="296545" marR="60960" indent="-228600">
                        <a:lnSpc>
                          <a:spcPct val="95800"/>
                        </a:lnSpc>
                        <a:spcBef>
                          <a:spcPts val="75"/>
                        </a:spcBef>
                        <a:buFont typeface="Symbol"/>
                        <a:buChar char=""/>
                        <a:tabLst>
                          <a:tab pos="297815" algn="l"/>
                        </a:tabLst>
                      </a:pPr>
                      <a:r>
                        <a:rPr dirty="0" sz="1100" spc="-5">
                          <a:latin typeface="Arial"/>
                          <a:cs typeface="Arial"/>
                        </a:rPr>
                        <a:t>Integrate the principles of sustainable  development into country policies and  programs; reverse loss of environmental  resources.</a:t>
                      </a:r>
                      <a:endParaRPr sz="1100">
                        <a:latin typeface="Arial"/>
                        <a:cs typeface="Arial"/>
                      </a:endParaRPr>
                    </a:p>
                    <a:p>
                      <a:pPr algn="just" marL="296545" marR="60960" indent="-228600">
                        <a:lnSpc>
                          <a:spcPct val="95700"/>
                        </a:lnSpc>
                        <a:spcBef>
                          <a:spcPts val="80"/>
                        </a:spcBef>
                        <a:buFont typeface="Symbol"/>
                        <a:buChar char=""/>
                        <a:tabLst>
                          <a:tab pos="297815" algn="l"/>
                        </a:tabLst>
                      </a:pPr>
                      <a:r>
                        <a:rPr dirty="0" sz="1100" spc="-5">
                          <a:latin typeface="Arial"/>
                          <a:cs typeface="Arial"/>
                        </a:rPr>
                        <a:t>Reduce by half the proportion of people  without sustainable access to safe drinking  water.</a:t>
                      </a:r>
                      <a:endParaRPr sz="1100">
                        <a:latin typeface="Arial"/>
                        <a:cs typeface="Arial"/>
                      </a:endParaRPr>
                    </a:p>
                    <a:p>
                      <a:pPr algn="just" marL="296545" marR="62230" indent="-228600">
                        <a:lnSpc>
                          <a:spcPts val="1260"/>
                        </a:lnSpc>
                        <a:spcBef>
                          <a:spcPts val="120"/>
                        </a:spcBef>
                        <a:buFont typeface="Symbol"/>
                        <a:buChar char=""/>
                        <a:tabLst>
                          <a:tab pos="297815" algn="l"/>
                        </a:tabLst>
                      </a:pPr>
                      <a:r>
                        <a:rPr dirty="0" sz="1100" spc="-5">
                          <a:latin typeface="Arial"/>
                          <a:cs typeface="Arial"/>
                        </a:rPr>
                        <a:t>Achieve significant improvement in lives of  at least 100 million slum dwellers by</a:t>
                      </a:r>
                      <a:r>
                        <a:rPr dirty="0" sz="1100" spc="50">
                          <a:latin typeface="Arial"/>
                          <a:cs typeface="Arial"/>
                        </a:rPr>
                        <a:t> </a:t>
                      </a:r>
                      <a:r>
                        <a:rPr dirty="0" sz="1100" spc="-5">
                          <a:latin typeface="Arial"/>
                          <a:cs typeface="Arial"/>
                        </a:rPr>
                        <a:t>2020</a:t>
                      </a:r>
                      <a:endParaRPr sz="1100">
                        <a:latin typeface="Arial"/>
                        <a:cs typeface="Arial"/>
                      </a:endParaRPr>
                    </a:p>
                  </a:txBody>
                  <a:tcPr marL="0" marR="0" marB="0" marT="952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631442">
                <a:tc>
                  <a:txBody>
                    <a:bodyPr/>
                    <a:lstStyle/>
                    <a:p>
                      <a:pPr marL="67945" marR="6350">
                        <a:lnSpc>
                          <a:spcPts val="1270"/>
                        </a:lnSpc>
                        <a:spcBef>
                          <a:spcPts val="25"/>
                        </a:spcBef>
                        <a:tabLst>
                          <a:tab pos="376555" algn="l"/>
                        </a:tabLst>
                      </a:pPr>
                      <a:r>
                        <a:rPr dirty="0" sz="1100" b="1">
                          <a:latin typeface="Arial"/>
                          <a:cs typeface="Arial"/>
                        </a:rPr>
                        <a:t>8.</a:t>
                      </a:r>
                      <a:r>
                        <a:rPr dirty="0" sz="1100" b="1">
                          <a:latin typeface="Arial"/>
                          <a:cs typeface="Arial"/>
                        </a:rPr>
                        <a:t>	</a:t>
                      </a:r>
                      <a:r>
                        <a:rPr dirty="0" sz="1100">
                          <a:latin typeface="Arial"/>
                          <a:cs typeface="Arial"/>
                        </a:rPr>
                        <a:t>Devel</a:t>
                      </a:r>
                      <a:r>
                        <a:rPr dirty="0" sz="1100" spc="5">
                          <a:latin typeface="Arial"/>
                          <a:cs typeface="Arial"/>
                        </a:rPr>
                        <a:t>o</a:t>
                      </a:r>
                      <a:r>
                        <a:rPr dirty="0" sz="1100">
                          <a:latin typeface="Arial"/>
                          <a:cs typeface="Arial"/>
                        </a:rPr>
                        <a:t>p  </a:t>
                      </a:r>
                      <a:r>
                        <a:rPr dirty="0" sz="1100" spc="-5">
                          <a:latin typeface="Arial"/>
                          <a:cs typeface="Arial"/>
                        </a:rPr>
                        <a:t>development</a:t>
                      </a:r>
                      <a:endParaRPr sz="1100">
                        <a:latin typeface="Arial"/>
                        <a:cs typeface="Arial"/>
                      </a:endParaRPr>
                    </a:p>
                  </a:txBody>
                  <a:tcPr marL="0" marR="0" marB="0" marT="3175">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177800">
                        <a:lnSpc>
                          <a:spcPts val="1265"/>
                        </a:lnSpc>
                        <a:tabLst>
                          <a:tab pos="447675" algn="l"/>
                          <a:tab pos="1012190" algn="l"/>
                        </a:tabLst>
                      </a:pPr>
                      <a:r>
                        <a:rPr dirty="0" sz="1100" spc="-5">
                          <a:latin typeface="Arial"/>
                          <a:cs typeface="Arial"/>
                        </a:rPr>
                        <a:t>a	global	partnership</a:t>
                      </a:r>
                      <a:endParaRPr sz="1100">
                        <a:latin typeface="Arial"/>
                        <a:cs typeface="Arial"/>
                      </a:endParaRPr>
                    </a:p>
                  </a:txBody>
                  <a:tcPr marL="0" marR="0" marB="0" marT="0">
                    <a:lnT w="6350">
                      <a:solidFill>
                        <a:srgbClr val="000000"/>
                      </a:solidFill>
                      <a:prstDash val="solid"/>
                    </a:lnT>
                    <a:lnB w="6350">
                      <a:solidFill>
                        <a:srgbClr val="000000"/>
                      </a:solidFill>
                      <a:prstDash val="solid"/>
                    </a:lnB>
                  </a:tcPr>
                </a:tc>
                <a:tc>
                  <a:txBody>
                    <a:bodyPr/>
                    <a:lstStyle/>
                    <a:p>
                      <a:pPr algn="r" marR="60325">
                        <a:lnSpc>
                          <a:spcPts val="1265"/>
                        </a:lnSpc>
                      </a:pPr>
                      <a:r>
                        <a:rPr dirty="0" sz="1100">
                          <a:latin typeface="Arial"/>
                          <a:cs typeface="Arial"/>
                        </a:rPr>
                        <a:t>f</a:t>
                      </a:r>
                      <a:r>
                        <a:rPr dirty="0" sz="1100" spc="-5">
                          <a:latin typeface="Arial"/>
                          <a:cs typeface="Arial"/>
                        </a:rPr>
                        <a:t>o</a:t>
                      </a:r>
                      <a:r>
                        <a:rPr dirty="0" sz="1100">
                          <a:latin typeface="Arial"/>
                          <a:cs typeface="Arial"/>
                        </a:rPr>
                        <a:t>r</a:t>
                      </a:r>
                      <a:endParaRPr sz="1100">
                        <a:latin typeface="Arial"/>
                        <a:cs typeface="Arial"/>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gridSpan="4">
                  <a:txBody>
                    <a:bodyPr/>
                    <a:lstStyle/>
                    <a:p>
                      <a:pPr algn="just" marL="229870" marR="60325" indent="-114300">
                        <a:lnSpc>
                          <a:spcPct val="95800"/>
                        </a:lnSpc>
                        <a:spcBef>
                          <a:spcPts val="75"/>
                        </a:spcBef>
                        <a:buFont typeface="Symbol"/>
                        <a:buChar char=""/>
                        <a:tabLst>
                          <a:tab pos="230504" algn="l"/>
                        </a:tabLst>
                      </a:pPr>
                      <a:r>
                        <a:rPr dirty="0" sz="1100" spc="-5">
                          <a:latin typeface="Arial"/>
                          <a:cs typeface="Arial"/>
                        </a:rPr>
                        <a:t>Develop further an open, rule-based,  predictable, nondiscriminatory trading and  financial system; includes a commitment to  good governance, development, and  poverty reduction—both nationally and  internationally.</a:t>
                      </a:r>
                      <a:endParaRPr sz="1100">
                        <a:latin typeface="Arial"/>
                        <a:cs typeface="Arial"/>
                      </a:endParaRPr>
                    </a:p>
                    <a:p>
                      <a:pPr algn="just" marL="229870" marR="60325" indent="-114300">
                        <a:lnSpc>
                          <a:spcPct val="95800"/>
                        </a:lnSpc>
                        <a:spcBef>
                          <a:spcPts val="75"/>
                        </a:spcBef>
                        <a:buFont typeface="Symbol"/>
                        <a:buChar char=""/>
                        <a:tabLst>
                          <a:tab pos="269240" algn="l"/>
                        </a:tabLst>
                      </a:pPr>
                      <a:r>
                        <a:rPr dirty="0"/>
                        <a:t>	</a:t>
                      </a:r>
                      <a:r>
                        <a:rPr dirty="0" sz="1100" spc="-5">
                          <a:latin typeface="Arial"/>
                          <a:cs typeface="Arial"/>
                        </a:rPr>
                        <a:t>Address the special needs of the least  developed countries; includes tariff and  quota free access for least developed  countries ‘exports; enhanced program</a:t>
                      </a:r>
                      <a:r>
                        <a:rPr dirty="0" sz="1100" spc="160">
                          <a:latin typeface="Arial"/>
                          <a:cs typeface="Arial"/>
                        </a:rPr>
                        <a:t> </a:t>
                      </a:r>
                      <a:r>
                        <a:rPr dirty="0" sz="1100" spc="-5">
                          <a:latin typeface="Arial"/>
                          <a:cs typeface="Arial"/>
                        </a:rPr>
                        <a:t>of</a:t>
                      </a:r>
                      <a:endParaRPr sz="1100">
                        <a:latin typeface="Arial"/>
                        <a:cs typeface="Arial"/>
                      </a:endParaRPr>
                    </a:p>
                  </a:txBody>
                  <a:tcPr marL="0" marR="0" marB="0" marT="9525">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3884676" y="917448"/>
            <a:ext cx="3042285" cy="3427729"/>
          </a:xfrm>
          <a:prstGeom prst="rect">
            <a:avLst/>
          </a:prstGeom>
          <a:ln w="6095">
            <a:solidFill>
              <a:srgbClr val="000000"/>
            </a:solidFill>
          </a:ln>
        </p:spPr>
        <p:txBody>
          <a:bodyPr wrap="square" lIns="0" tIns="3175" rIns="0" bIns="0" rtlCol="0" vert="horz">
            <a:spAutoFit/>
          </a:bodyPr>
          <a:lstStyle/>
          <a:p>
            <a:pPr algn="just" marL="229870" marR="60960">
              <a:lnSpc>
                <a:spcPts val="1270"/>
              </a:lnSpc>
              <a:spcBef>
                <a:spcPts val="25"/>
              </a:spcBef>
            </a:pPr>
            <a:r>
              <a:rPr dirty="0" sz="1100" spc="-5">
                <a:latin typeface="Arial"/>
                <a:cs typeface="Arial"/>
              </a:rPr>
              <a:t>debt relief for heavily indebted poor  countries (HIPCs) and cancellation of official  bilateral debt; and </a:t>
            </a:r>
            <a:r>
              <a:rPr dirty="0" sz="1100">
                <a:latin typeface="Arial"/>
                <a:cs typeface="Arial"/>
              </a:rPr>
              <a:t>more </a:t>
            </a:r>
            <a:r>
              <a:rPr dirty="0" sz="1100" spc="-5">
                <a:latin typeface="Arial"/>
                <a:cs typeface="Arial"/>
              </a:rPr>
              <a:t>generous official  development assistance (ODA) for countries  committed to poverty</a:t>
            </a:r>
            <a:r>
              <a:rPr dirty="0" sz="1100" spc="10">
                <a:latin typeface="Arial"/>
                <a:cs typeface="Arial"/>
              </a:rPr>
              <a:t> </a:t>
            </a:r>
            <a:r>
              <a:rPr dirty="0" sz="1100" spc="-5">
                <a:latin typeface="Arial"/>
                <a:cs typeface="Arial"/>
              </a:rPr>
              <a:t>reduction.</a:t>
            </a:r>
            <a:endParaRPr sz="1100">
              <a:latin typeface="Arial"/>
              <a:cs typeface="Arial"/>
            </a:endParaRPr>
          </a:p>
          <a:p>
            <a:pPr algn="just" marL="229870" marR="60325" indent="-114300">
              <a:lnSpc>
                <a:spcPct val="95700"/>
              </a:lnSpc>
              <a:spcBef>
                <a:spcPts val="25"/>
              </a:spcBef>
              <a:buFont typeface="Symbol"/>
              <a:buChar char=""/>
              <a:tabLst>
                <a:tab pos="230504" algn="l"/>
              </a:tabLst>
            </a:pPr>
            <a:r>
              <a:rPr dirty="0" sz="1100" spc="-5">
                <a:latin typeface="Arial"/>
                <a:cs typeface="Arial"/>
              </a:rPr>
              <a:t>Address the special needs of landlocked  countries and small island developing  states.</a:t>
            </a:r>
            <a:endParaRPr sz="1100">
              <a:latin typeface="Arial"/>
              <a:cs typeface="Arial"/>
            </a:endParaRPr>
          </a:p>
          <a:p>
            <a:pPr algn="just" marL="229870" marR="61594" indent="-114300">
              <a:lnSpc>
                <a:spcPct val="95800"/>
              </a:lnSpc>
              <a:spcBef>
                <a:spcPts val="80"/>
              </a:spcBef>
              <a:buFont typeface="Symbol"/>
              <a:buChar char=""/>
              <a:tabLst>
                <a:tab pos="230504" algn="l"/>
              </a:tabLst>
            </a:pPr>
            <a:r>
              <a:rPr dirty="0" sz="1100" spc="-5">
                <a:latin typeface="Arial"/>
                <a:cs typeface="Arial"/>
              </a:rPr>
              <a:t>Deal comprehensively with </a:t>
            </a:r>
            <a:r>
              <a:rPr dirty="0" sz="1100">
                <a:latin typeface="Arial"/>
                <a:cs typeface="Arial"/>
              </a:rPr>
              <a:t>the </a:t>
            </a:r>
            <a:r>
              <a:rPr dirty="0" sz="1100" spc="-5">
                <a:latin typeface="Arial"/>
                <a:cs typeface="Arial"/>
              </a:rPr>
              <a:t>debt  problems of developing countries through  national and international measures in order  to make debt sustainable in the long</a:t>
            </a:r>
            <a:r>
              <a:rPr dirty="0" sz="1100" spc="45">
                <a:latin typeface="Arial"/>
                <a:cs typeface="Arial"/>
              </a:rPr>
              <a:t> </a:t>
            </a:r>
            <a:r>
              <a:rPr dirty="0" sz="1100" spc="-5">
                <a:latin typeface="Arial"/>
                <a:cs typeface="Arial"/>
              </a:rPr>
              <a:t>term.</a:t>
            </a:r>
            <a:endParaRPr sz="1100">
              <a:latin typeface="Arial"/>
              <a:cs typeface="Arial"/>
            </a:endParaRPr>
          </a:p>
          <a:p>
            <a:pPr algn="just" marL="229870" marR="60325" indent="-114300">
              <a:lnSpc>
                <a:spcPct val="95700"/>
              </a:lnSpc>
              <a:spcBef>
                <a:spcPts val="80"/>
              </a:spcBef>
              <a:buFont typeface="Symbol"/>
              <a:buChar char=""/>
              <a:tabLst>
                <a:tab pos="230504" algn="l"/>
              </a:tabLst>
            </a:pPr>
            <a:r>
              <a:rPr dirty="0" sz="1100" spc="-5">
                <a:latin typeface="Arial"/>
                <a:cs typeface="Arial"/>
              </a:rPr>
              <a:t>In cooperation with developing countries,  develop and implement strategies for  decent and productive work for</a:t>
            </a:r>
            <a:r>
              <a:rPr dirty="0" sz="1100" spc="20">
                <a:latin typeface="Arial"/>
                <a:cs typeface="Arial"/>
              </a:rPr>
              <a:t> </a:t>
            </a:r>
            <a:r>
              <a:rPr dirty="0" sz="1100" spc="-5">
                <a:latin typeface="Arial"/>
                <a:cs typeface="Arial"/>
              </a:rPr>
              <a:t>youth.</a:t>
            </a:r>
            <a:endParaRPr sz="1100">
              <a:latin typeface="Arial"/>
              <a:cs typeface="Arial"/>
            </a:endParaRPr>
          </a:p>
          <a:p>
            <a:pPr algn="just" marL="229870" marR="60960" indent="-114300">
              <a:lnSpc>
                <a:spcPct val="95700"/>
              </a:lnSpc>
              <a:spcBef>
                <a:spcPts val="80"/>
              </a:spcBef>
              <a:buFont typeface="Symbol"/>
              <a:buChar char=""/>
              <a:tabLst>
                <a:tab pos="230504" algn="l"/>
              </a:tabLst>
            </a:pPr>
            <a:r>
              <a:rPr dirty="0" sz="1100" spc="-5">
                <a:latin typeface="Arial"/>
                <a:cs typeface="Arial"/>
              </a:rPr>
              <a:t>In cooperation with pharmaceutical  companies, provide access to affordable  essential drugs in developing</a:t>
            </a:r>
            <a:r>
              <a:rPr dirty="0" sz="1100" spc="20">
                <a:latin typeface="Arial"/>
                <a:cs typeface="Arial"/>
              </a:rPr>
              <a:t> </a:t>
            </a:r>
            <a:r>
              <a:rPr dirty="0" sz="1100" spc="-5">
                <a:latin typeface="Arial"/>
                <a:cs typeface="Arial"/>
              </a:rPr>
              <a:t>countries.</a:t>
            </a:r>
            <a:endParaRPr sz="1100">
              <a:latin typeface="Arial"/>
              <a:cs typeface="Arial"/>
            </a:endParaRPr>
          </a:p>
          <a:p>
            <a:pPr algn="just" marL="229870" marR="59690" indent="-114300">
              <a:lnSpc>
                <a:spcPct val="95700"/>
              </a:lnSpc>
              <a:spcBef>
                <a:spcPts val="75"/>
              </a:spcBef>
              <a:buFont typeface="Symbol"/>
              <a:buChar char=""/>
              <a:tabLst>
                <a:tab pos="230504" algn="l"/>
              </a:tabLst>
            </a:pPr>
            <a:r>
              <a:rPr dirty="0" sz="1100" spc="-5">
                <a:latin typeface="Arial"/>
                <a:cs typeface="Arial"/>
              </a:rPr>
              <a:t>In cooperation with the private sector, make  available the benefits of new technologies,  especially information and</a:t>
            </a:r>
            <a:r>
              <a:rPr dirty="0" sz="1100" spc="40">
                <a:latin typeface="Arial"/>
                <a:cs typeface="Arial"/>
              </a:rPr>
              <a:t> </a:t>
            </a:r>
            <a:r>
              <a:rPr dirty="0" sz="1100" spc="-5">
                <a:latin typeface="Arial"/>
                <a:cs typeface="Arial"/>
              </a:rPr>
              <a:t>communications</a:t>
            </a:r>
            <a:endParaRPr sz="1100">
              <a:latin typeface="Arial"/>
              <a:cs typeface="Arial"/>
            </a:endParaRPr>
          </a:p>
        </p:txBody>
      </p:sp>
      <p:sp>
        <p:nvSpPr>
          <p:cNvPr id="7" name="object 7"/>
          <p:cNvSpPr/>
          <p:nvPr/>
        </p:nvSpPr>
        <p:spPr>
          <a:xfrm>
            <a:off x="842772" y="914412"/>
            <a:ext cx="6087110" cy="3434079"/>
          </a:xfrm>
          <a:custGeom>
            <a:avLst/>
            <a:gdLst/>
            <a:ahLst/>
            <a:cxnLst/>
            <a:rect l="l" t="t" r="r" b="b"/>
            <a:pathLst>
              <a:path w="6087109" h="3434079">
                <a:moveTo>
                  <a:pt x="6086856" y="0"/>
                </a:moveTo>
                <a:lnTo>
                  <a:pt x="6096" y="0"/>
                </a:lnTo>
                <a:lnTo>
                  <a:pt x="0" y="0"/>
                </a:lnTo>
                <a:lnTo>
                  <a:pt x="0" y="6083"/>
                </a:lnTo>
                <a:lnTo>
                  <a:pt x="0" y="3427463"/>
                </a:lnTo>
                <a:lnTo>
                  <a:pt x="0" y="3433559"/>
                </a:lnTo>
                <a:lnTo>
                  <a:pt x="6096" y="3433559"/>
                </a:lnTo>
                <a:lnTo>
                  <a:pt x="3038856" y="3433559"/>
                </a:lnTo>
                <a:lnTo>
                  <a:pt x="3038856" y="3427463"/>
                </a:lnTo>
                <a:lnTo>
                  <a:pt x="6096" y="3427463"/>
                </a:lnTo>
                <a:lnTo>
                  <a:pt x="6096" y="6083"/>
                </a:lnTo>
                <a:lnTo>
                  <a:pt x="6086856" y="6083"/>
                </a:lnTo>
                <a:lnTo>
                  <a:pt x="6086856" y="0"/>
                </a:lnTo>
                <a:close/>
              </a:path>
            </a:pathLst>
          </a:custGeom>
          <a:solidFill>
            <a:srgbClr val="000000"/>
          </a:solidFill>
        </p:spPr>
        <p:txBody>
          <a:bodyPr wrap="square" lIns="0" tIns="0" rIns="0" bIns="0" rtlCol="0"/>
          <a:lstStyle/>
          <a:p/>
        </p:txBody>
      </p:sp>
      <p:sp>
        <p:nvSpPr>
          <p:cNvPr id="8" name="object 8"/>
          <p:cNvSpPr txBox="1"/>
          <p:nvPr/>
        </p:nvSpPr>
        <p:spPr>
          <a:xfrm>
            <a:off x="901700" y="4486142"/>
            <a:ext cx="5970905" cy="4100829"/>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CONCLUSIONS</a:t>
            </a:r>
            <a:endParaRPr sz="1100">
              <a:latin typeface="Arial"/>
              <a:cs typeface="Arial"/>
            </a:endParaRPr>
          </a:p>
          <a:p>
            <a:pPr>
              <a:lnSpc>
                <a:spcPct val="100000"/>
              </a:lnSpc>
              <a:spcBef>
                <a:spcPts val="15"/>
              </a:spcBef>
            </a:pPr>
            <a:endParaRPr sz="1250">
              <a:latin typeface="Arial"/>
              <a:cs typeface="Arial"/>
            </a:endParaRPr>
          </a:p>
          <a:p>
            <a:pPr algn="just" marL="469265" marR="6350" indent="-228600">
              <a:lnSpc>
                <a:spcPct val="95800"/>
              </a:lnSpc>
              <a:spcBef>
                <a:spcPts val="5"/>
              </a:spcBef>
              <a:buFont typeface="Symbol"/>
              <a:buChar char=""/>
              <a:tabLst>
                <a:tab pos="470534" algn="l"/>
              </a:tabLst>
            </a:pPr>
            <a:r>
              <a:rPr dirty="0" sz="1100" spc="-5">
                <a:latin typeface="Arial"/>
                <a:cs typeface="Arial"/>
              </a:rPr>
              <a:t>Development economics is a distinct yet very </a:t>
            </a:r>
            <a:r>
              <a:rPr dirty="0" sz="1100" spc="-5" b="1">
                <a:latin typeface="Arial"/>
                <a:cs typeface="Arial"/>
              </a:rPr>
              <a:t>important extension </a:t>
            </a:r>
            <a:r>
              <a:rPr dirty="0" sz="1100" spc="-5">
                <a:latin typeface="Arial"/>
                <a:cs typeface="Arial"/>
              </a:rPr>
              <a:t>of both traditional  economics and political economy. While necessarily also concerned with efficient  resource allocation and the steady growth of aggregate output over time, development  economics focuses primarily on the economic, social, and institutional mechanisms  needed to bring about rapid and large-scale improvements in standards of living for the  masses of poor people in developing</a:t>
            </a:r>
            <a:r>
              <a:rPr dirty="0" sz="1100" spc="25">
                <a:latin typeface="Arial"/>
                <a:cs typeface="Arial"/>
              </a:rPr>
              <a:t> </a:t>
            </a:r>
            <a:r>
              <a:rPr dirty="0" sz="1100" spc="-5">
                <a:latin typeface="Arial"/>
                <a:cs typeface="Arial"/>
              </a:rPr>
              <a:t>nations.</a:t>
            </a:r>
            <a:endParaRPr sz="1100">
              <a:latin typeface="Arial"/>
              <a:cs typeface="Arial"/>
            </a:endParaRPr>
          </a:p>
          <a:p>
            <a:pPr algn="just" marL="469265" marR="5715" indent="-228600">
              <a:lnSpc>
                <a:spcPct val="95800"/>
              </a:lnSpc>
              <a:spcBef>
                <a:spcPts val="70"/>
              </a:spcBef>
              <a:buFont typeface="Symbol"/>
              <a:buChar char=""/>
              <a:tabLst>
                <a:tab pos="470534" algn="l"/>
              </a:tabLst>
            </a:pPr>
            <a:r>
              <a:rPr dirty="0" sz="1100" spc="-5">
                <a:latin typeface="Arial"/>
                <a:cs typeface="Arial"/>
              </a:rPr>
              <a:t>Any realistic analysis of development problems necessitates the supplementation of  strictly economic variables such as incomes, prices, and savings rates with </a:t>
            </a:r>
            <a:r>
              <a:rPr dirty="0" sz="1100" b="1">
                <a:latin typeface="Arial"/>
                <a:cs typeface="Arial"/>
              </a:rPr>
              <a:t>equally  </a:t>
            </a:r>
            <a:r>
              <a:rPr dirty="0" sz="1100" spc="-5" b="1">
                <a:latin typeface="Arial"/>
                <a:cs typeface="Arial"/>
              </a:rPr>
              <a:t>relevant non-economic institutional factors</a:t>
            </a:r>
            <a:r>
              <a:rPr dirty="0" sz="1100" spc="-5">
                <a:latin typeface="Arial"/>
                <a:cs typeface="Arial"/>
              </a:rPr>
              <a:t>, including the nature of land tenure  arrangements; the influence of social and class stratifications; the structure of credit,  education, and health systems; the organization and motivation of government  bureaucracies; the machinery of public administrations; the nature of popular attitudes  toward work, leisure, and self-improvement; and the values, roles, and attitudes of  political and economic</a:t>
            </a:r>
            <a:r>
              <a:rPr dirty="0" sz="1100" spc="5">
                <a:latin typeface="Arial"/>
                <a:cs typeface="Arial"/>
              </a:rPr>
              <a:t> </a:t>
            </a:r>
            <a:r>
              <a:rPr dirty="0" sz="1100" spc="-5">
                <a:latin typeface="Arial"/>
                <a:cs typeface="Arial"/>
              </a:rPr>
              <a:t>elites.</a:t>
            </a:r>
            <a:endParaRPr sz="1100">
              <a:latin typeface="Arial"/>
              <a:cs typeface="Arial"/>
            </a:endParaRPr>
          </a:p>
          <a:p>
            <a:pPr algn="just" marL="469265" marR="6985" indent="-228600">
              <a:lnSpc>
                <a:spcPct val="95800"/>
              </a:lnSpc>
              <a:spcBef>
                <a:spcPts val="80"/>
              </a:spcBef>
              <a:buFont typeface="Symbol"/>
              <a:buChar char=""/>
              <a:tabLst>
                <a:tab pos="469900" algn="l"/>
              </a:tabLst>
            </a:pPr>
            <a:r>
              <a:rPr dirty="0" sz="1100" spc="-5" b="1">
                <a:latin typeface="Arial"/>
                <a:cs typeface="Arial"/>
              </a:rPr>
              <a:t>Achieving the Millennium Development Goals </a:t>
            </a:r>
            <a:r>
              <a:rPr dirty="0" sz="1100" spc="-5">
                <a:latin typeface="Arial"/>
                <a:cs typeface="Arial"/>
              </a:rPr>
              <a:t>will be an important milestone on the  long journey to sustainable and just development. Unfortunately, </a:t>
            </a:r>
            <a:r>
              <a:rPr dirty="0" sz="1100">
                <a:latin typeface="Arial"/>
                <a:cs typeface="Arial"/>
              </a:rPr>
              <a:t>many </a:t>
            </a:r>
            <a:r>
              <a:rPr dirty="0" sz="1100" spc="-5">
                <a:latin typeface="Arial"/>
                <a:cs typeface="Arial"/>
              </a:rPr>
              <a:t>of the interim  targets are unlikely to be achieved on schedule, nor do </a:t>
            </a:r>
            <a:r>
              <a:rPr dirty="0" sz="1100">
                <a:latin typeface="Arial"/>
                <a:cs typeface="Arial"/>
              </a:rPr>
              <a:t>they </a:t>
            </a:r>
            <a:r>
              <a:rPr dirty="0" sz="1100" spc="-5">
                <a:latin typeface="Arial"/>
                <a:cs typeface="Arial"/>
              </a:rPr>
              <a:t>include all of the critical  objectives of</a:t>
            </a:r>
            <a:r>
              <a:rPr dirty="0" sz="1100">
                <a:latin typeface="Arial"/>
                <a:cs typeface="Arial"/>
              </a:rPr>
              <a:t> </a:t>
            </a:r>
            <a:r>
              <a:rPr dirty="0" sz="1100" spc="-5">
                <a:latin typeface="Arial"/>
                <a:cs typeface="Arial"/>
              </a:rPr>
              <a:t>development.</a:t>
            </a:r>
            <a:endParaRPr sz="1100">
              <a:latin typeface="Arial"/>
              <a:cs typeface="Arial"/>
            </a:endParaRPr>
          </a:p>
          <a:p>
            <a:pPr algn="just" marL="469265" marR="5080" indent="-228600">
              <a:lnSpc>
                <a:spcPct val="95800"/>
              </a:lnSpc>
              <a:spcBef>
                <a:spcPts val="80"/>
              </a:spcBef>
              <a:buFont typeface="Symbol"/>
              <a:buChar char=""/>
              <a:tabLst>
                <a:tab pos="470534" algn="l"/>
              </a:tabLst>
            </a:pPr>
            <a:r>
              <a:rPr dirty="0" sz="1100" spc="-5">
                <a:latin typeface="Arial"/>
                <a:cs typeface="Arial"/>
              </a:rPr>
              <a:t>Developing nations constitute these “many </a:t>
            </a:r>
            <a:r>
              <a:rPr dirty="0" sz="1100">
                <a:latin typeface="Arial"/>
                <a:cs typeface="Arial"/>
              </a:rPr>
              <a:t>parts” </a:t>
            </a:r>
            <a:r>
              <a:rPr dirty="0" sz="1100" spc="-5">
                <a:latin typeface="Arial"/>
                <a:cs typeface="Arial"/>
              </a:rPr>
              <a:t>of the global organism. The nature and  character of their future development should therefore be a major concern of all nations  irrespective of political, ideological, or economic orientation. There can no longer be two  futures, one for the few rich and the other for the very many poor. In the words of a </a:t>
            </a:r>
            <a:r>
              <a:rPr dirty="0" sz="1100">
                <a:latin typeface="Arial"/>
                <a:cs typeface="Arial"/>
              </a:rPr>
              <a:t>poet,  </a:t>
            </a:r>
            <a:r>
              <a:rPr dirty="0" sz="1100" spc="-5" b="1">
                <a:latin typeface="Arial"/>
                <a:cs typeface="Arial"/>
              </a:rPr>
              <a:t>“There </a:t>
            </a:r>
            <a:r>
              <a:rPr dirty="0" sz="1100" b="1">
                <a:latin typeface="Arial"/>
                <a:cs typeface="Arial"/>
              </a:rPr>
              <a:t>will </a:t>
            </a:r>
            <a:r>
              <a:rPr dirty="0" sz="1100" spc="-5" b="1">
                <a:latin typeface="Arial"/>
                <a:cs typeface="Arial"/>
              </a:rPr>
              <a:t>be </a:t>
            </a:r>
            <a:r>
              <a:rPr dirty="0" sz="1100" b="1">
                <a:latin typeface="Arial"/>
                <a:cs typeface="Arial"/>
              </a:rPr>
              <a:t>only </a:t>
            </a:r>
            <a:r>
              <a:rPr dirty="0" sz="1100" spc="-5" b="1">
                <a:latin typeface="Arial"/>
                <a:cs typeface="Arial"/>
              </a:rPr>
              <a:t>one future—or none at</a:t>
            </a:r>
            <a:r>
              <a:rPr dirty="0" sz="1100" spc="15" b="1">
                <a:latin typeface="Arial"/>
                <a:cs typeface="Arial"/>
              </a:rPr>
              <a:t> </a:t>
            </a:r>
            <a:r>
              <a:rPr dirty="0" sz="1100" spc="-5" b="1">
                <a:latin typeface="Arial"/>
                <a:cs typeface="Arial"/>
              </a:rPr>
              <a:t>all”</a:t>
            </a:r>
            <a:r>
              <a:rPr dirty="0" sz="1100" spc="-5">
                <a:latin typeface="Arial"/>
                <a:cs typeface="Arial"/>
              </a:rPr>
              <a:t>.</a:t>
            </a:r>
            <a:endParaRPr sz="11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a:t>
            </a:r>
            <a:endParaRPr sz="1100">
              <a:latin typeface="Carlito"/>
              <a:cs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6200647" y="891794"/>
            <a:ext cx="67056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Lesson</a:t>
            </a:r>
            <a:r>
              <a:rPr dirty="0" sz="1100" spc="-55">
                <a:latin typeface="Arial"/>
                <a:cs typeface="Arial"/>
              </a:rPr>
              <a:t> </a:t>
            </a:r>
            <a:r>
              <a:rPr dirty="0" sz="1100" spc="-5">
                <a:latin typeface="Arial"/>
                <a:cs typeface="Arial"/>
              </a:rPr>
              <a:t>02</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10</a:t>
            </a:r>
            <a:endParaRPr sz="1100">
              <a:latin typeface="Carlito"/>
              <a:cs typeface="Carlito"/>
            </a:endParaRPr>
          </a:p>
        </p:txBody>
      </p:sp>
      <p:sp>
        <p:nvSpPr>
          <p:cNvPr id="7" name="object 7"/>
          <p:cNvSpPr txBox="1"/>
          <p:nvPr/>
        </p:nvSpPr>
        <p:spPr>
          <a:xfrm>
            <a:off x="901658" y="1053342"/>
            <a:ext cx="5969635" cy="7935595"/>
          </a:xfrm>
          <a:prstGeom prst="rect">
            <a:avLst/>
          </a:prstGeom>
        </p:spPr>
        <p:txBody>
          <a:bodyPr wrap="square" lIns="0" tIns="12065" rIns="0" bIns="0" rtlCol="0" vert="horz">
            <a:spAutoFit/>
          </a:bodyPr>
          <a:lstStyle/>
          <a:p>
            <a:pPr algn="ctr">
              <a:lnSpc>
                <a:spcPct val="100000"/>
              </a:lnSpc>
              <a:spcBef>
                <a:spcPts val="95"/>
              </a:spcBef>
            </a:pPr>
            <a:r>
              <a:rPr dirty="0" sz="1100" spc="-5" b="1">
                <a:latin typeface="Arial"/>
                <a:cs typeface="Arial"/>
              </a:rPr>
              <a:t>COMPARATIVE ECONOMIC DEVELOPMENT</a:t>
            </a:r>
            <a:endParaRPr sz="1100">
              <a:latin typeface="Arial"/>
              <a:cs typeface="Arial"/>
            </a:endParaRPr>
          </a:p>
          <a:p>
            <a:pPr>
              <a:lnSpc>
                <a:spcPct val="100000"/>
              </a:lnSpc>
              <a:spcBef>
                <a:spcPts val="5"/>
              </a:spcBef>
            </a:pPr>
            <a:endParaRPr sz="1150">
              <a:latin typeface="Arial"/>
              <a:cs typeface="Arial"/>
            </a:endParaRPr>
          </a:p>
          <a:p>
            <a:pPr marL="12700">
              <a:lnSpc>
                <a:spcPct val="100000"/>
              </a:lnSpc>
            </a:pPr>
            <a:r>
              <a:rPr dirty="0" sz="1100" spc="-10" b="1">
                <a:latin typeface="Arial"/>
                <a:cs typeface="Arial"/>
              </a:rPr>
              <a:t>COMMON </a:t>
            </a:r>
            <a:r>
              <a:rPr dirty="0" sz="1100" spc="-5" b="1">
                <a:latin typeface="Arial"/>
                <a:cs typeface="Arial"/>
              </a:rPr>
              <a:t>CHARACTERISTICS OF DEVELOPING</a:t>
            </a:r>
            <a:r>
              <a:rPr dirty="0" sz="1100" spc="20"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20"/>
              </a:spcBef>
            </a:pPr>
            <a:endParaRPr sz="1100">
              <a:latin typeface="Arial"/>
              <a:cs typeface="Arial"/>
            </a:endParaRPr>
          </a:p>
          <a:p>
            <a:pPr algn="just" marL="12700" marR="5715">
              <a:lnSpc>
                <a:spcPts val="1270"/>
              </a:lnSpc>
            </a:pPr>
            <a:r>
              <a:rPr dirty="0" sz="1100" spc="-5">
                <a:latin typeface="Arial"/>
                <a:cs typeface="Arial"/>
              </a:rPr>
              <a:t>These features in common are on average and with great diversity, in comparison with  developed countries:</a:t>
            </a:r>
            <a:endParaRPr sz="1100">
              <a:latin typeface="Arial"/>
              <a:cs typeface="Arial"/>
            </a:endParaRPr>
          </a:p>
          <a:p>
            <a:pPr>
              <a:lnSpc>
                <a:spcPct val="100000"/>
              </a:lnSpc>
              <a:spcBef>
                <a:spcPts val="45"/>
              </a:spcBef>
            </a:pPr>
            <a:endParaRPr sz="1050">
              <a:latin typeface="Arial"/>
              <a:cs typeface="Arial"/>
            </a:endParaRPr>
          </a:p>
          <a:p>
            <a:pPr marL="469900" indent="-229235">
              <a:lnSpc>
                <a:spcPct val="100000"/>
              </a:lnSpc>
              <a:buFont typeface="Symbol"/>
              <a:buChar char=""/>
              <a:tabLst>
                <a:tab pos="469900" algn="l"/>
                <a:tab pos="470534" algn="l"/>
              </a:tabLst>
            </a:pPr>
            <a:r>
              <a:rPr dirty="0" sz="1100" spc="-5">
                <a:latin typeface="Arial"/>
                <a:cs typeface="Arial"/>
              </a:rPr>
              <a:t>Lower levels of living and</a:t>
            </a:r>
            <a:r>
              <a:rPr dirty="0" sz="1100" spc="20">
                <a:latin typeface="Arial"/>
                <a:cs typeface="Arial"/>
              </a:rPr>
              <a:t> </a:t>
            </a:r>
            <a:r>
              <a:rPr dirty="0" sz="1100" spc="-5">
                <a:latin typeface="Arial"/>
                <a:cs typeface="Arial"/>
              </a:rPr>
              <a:t>productivity</a:t>
            </a:r>
            <a:endParaRPr sz="1100">
              <a:latin typeface="Arial"/>
              <a:cs typeface="Arial"/>
            </a:endParaRPr>
          </a:p>
          <a:p>
            <a:pPr marL="469900" indent="-229235">
              <a:lnSpc>
                <a:spcPct val="100000"/>
              </a:lnSpc>
              <a:spcBef>
                <a:spcPts val="15"/>
              </a:spcBef>
              <a:buFont typeface="Symbol"/>
              <a:buChar char=""/>
              <a:tabLst>
                <a:tab pos="469900" algn="l"/>
                <a:tab pos="470534" algn="l"/>
              </a:tabLst>
            </a:pPr>
            <a:r>
              <a:rPr dirty="0" sz="1100" spc="-5">
                <a:latin typeface="Arial"/>
                <a:cs typeface="Arial"/>
              </a:rPr>
              <a:t>Lower levels of human</a:t>
            </a:r>
            <a:r>
              <a:rPr dirty="0" sz="1100" spc="15">
                <a:latin typeface="Arial"/>
                <a:cs typeface="Arial"/>
              </a:rPr>
              <a:t> </a:t>
            </a:r>
            <a:r>
              <a:rPr dirty="0" sz="1100" spc="-5">
                <a:latin typeface="Arial"/>
                <a:cs typeface="Arial"/>
              </a:rPr>
              <a:t>capital</a:t>
            </a:r>
            <a:endParaRPr sz="1100">
              <a:latin typeface="Arial"/>
              <a:cs typeface="Arial"/>
            </a:endParaRPr>
          </a:p>
          <a:p>
            <a:pPr marL="469900" indent="-229235">
              <a:lnSpc>
                <a:spcPct val="100000"/>
              </a:lnSpc>
              <a:spcBef>
                <a:spcPts val="20"/>
              </a:spcBef>
              <a:buFont typeface="Symbol"/>
              <a:buChar char=""/>
              <a:tabLst>
                <a:tab pos="469900" algn="l"/>
                <a:tab pos="470534" algn="l"/>
              </a:tabLst>
            </a:pPr>
            <a:r>
              <a:rPr dirty="0" sz="1100" spc="-5">
                <a:latin typeface="Arial"/>
                <a:cs typeface="Arial"/>
              </a:rPr>
              <a:t>Higher levels of inequality and absolute</a:t>
            </a:r>
            <a:r>
              <a:rPr dirty="0" sz="1100" spc="30">
                <a:latin typeface="Arial"/>
                <a:cs typeface="Arial"/>
              </a:rPr>
              <a:t> </a:t>
            </a:r>
            <a:r>
              <a:rPr dirty="0" sz="1100" spc="-5">
                <a:latin typeface="Arial"/>
                <a:cs typeface="Arial"/>
              </a:rPr>
              <a:t>poverty</a:t>
            </a:r>
            <a:endParaRPr sz="1100">
              <a:latin typeface="Arial"/>
              <a:cs typeface="Arial"/>
            </a:endParaRPr>
          </a:p>
          <a:p>
            <a:pPr marL="469900" indent="-229235">
              <a:lnSpc>
                <a:spcPct val="100000"/>
              </a:lnSpc>
              <a:spcBef>
                <a:spcPts val="20"/>
              </a:spcBef>
              <a:buFont typeface="Symbol"/>
              <a:buChar char=""/>
              <a:tabLst>
                <a:tab pos="469900" algn="l"/>
                <a:tab pos="470534" algn="l"/>
              </a:tabLst>
            </a:pPr>
            <a:r>
              <a:rPr dirty="0" sz="1100" spc="-5">
                <a:latin typeface="Arial"/>
                <a:cs typeface="Arial"/>
              </a:rPr>
              <a:t>Higher population growth</a:t>
            </a:r>
            <a:r>
              <a:rPr dirty="0" sz="1100" spc="5">
                <a:latin typeface="Arial"/>
                <a:cs typeface="Arial"/>
              </a:rPr>
              <a:t> </a:t>
            </a:r>
            <a:r>
              <a:rPr dirty="0" sz="1100" spc="-5">
                <a:latin typeface="Arial"/>
                <a:cs typeface="Arial"/>
              </a:rPr>
              <a:t>rates</a:t>
            </a:r>
            <a:endParaRPr sz="1100">
              <a:latin typeface="Arial"/>
              <a:cs typeface="Arial"/>
            </a:endParaRPr>
          </a:p>
          <a:p>
            <a:pPr marL="469900" indent="-229235">
              <a:lnSpc>
                <a:spcPct val="100000"/>
              </a:lnSpc>
              <a:spcBef>
                <a:spcPts val="15"/>
              </a:spcBef>
              <a:buFont typeface="Symbol"/>
              <a:buChar char=""/>
              <a:tabLst>
                <a:tab pos="469900" algn="l"/>
                <a:tab pos="470534" algn="l"/>
              </a:tabLst>
            </a:pPr>
            <a:r>
              <a:rPr dirty="0" sz="1100" spc="-5">
                <a:latin typeface="Arial"/>
                <a:cs typeface="Arial"/>
              </a:rPr>
              <a:t>Greater social</a:t>
            </a:r>
            <a:r>
              <a:rPr dirty="0" sz="1100" spc="20">
                <a:latin typeface="Arial"/>
                <a:cs typeface="Arial"/>
              </a:rPr>
              <a:t> </a:t>
            </a:r>
            <a:r>
              <a:rPr dirty="0" sz="1100" spc="-5">
                <a:latin typeface="Arial"/>
                <a:cs typeface="Arial"/>
              </a:rPr>
              <a:t>fractionalization</a:t>
            </a:r>
            <a:endParaRPr sz="1100">
              <a:latin typeface="Arial"/>
              <a:cs typeface="Arial"/>
            </a:endParaRPr>
          </a:p>
          <a:p>
            <a:pPr marL="469900" indent="-229235">
              <a:lnSpc>
                <a:spcPct val="100000"/>
              </a:lnSpc>
              <a:spcBef>
                <a:spcPts val="25"/>
              </a:spcBef>
              <a:buFont typeface="Symbol"/>
              <a:buChar char=""/>
              <a:tabLst>
                <a:tab pos="469900" algn="l"/>
                <a:tab pos="470534" algn="l"/>
              </a:tabLst>
            </a:pPr>
            <a:r>
              <a:rPr dirty="0" sz="1100" spc="-5">
                <a:latin typeface="Arial"/>
                <a:cs typeface="Arial"/>
              </a:rPr>
              <a:t>Larger rural population - rapid migration to</a:t>
            </a:r>
            <a:r>
              <a:rPr dirty="0" sz="1100" spc="30">
                <a:latin typeface="Arial"/>
                <a:cs typeface="Arial"/>
              </a:rPr>
              <a:t> </a:t>
            </a:r>
            <a:r>
              <a:rPr dirty="0" sz="1100" spc="-5">
                <a:latin typeface="Arial"/>
                <a:cs typeface="Arial"/>
              </a:rPr>
              <a:t>cities</a:t>
            </a:r>
            <a:endParaRPr sz="1100">
              <a:latin typeface="Arial"/>
              <a:cs typeface="Arial"/>
            </a:endParaRPr>
          </a:p>
          <a:p>
            <a:pPr marL="469900" indent="-229235">
              <a:lnSpc>
                <a:spcPct val="100000"/>
              </a:lnSpc>
              <a:spcBef>
                <a:spcPts val="20"/>
              </a:spcBef>
              <a:buFont typeface="Symbol"/>
              <a:buChar char=""/>
              <a:tabLst>
                <a:tab pos="469900" algn="l"/>
                <a:tab pos="470534" algn="l"/>
              </a:tabLst>
            </a:pPr>
            <a:r>
              <a:rPr dirty="0" sz="1100" spc="-5">
                <a:latin typeface="Arial"/>
                <a:cs typeface="Arial"/>
              </a:rPr>
              <a:t>Lower levels of industrialization and manufactured</a:t>
            </a:r>
            <a:r>
              <a:rPr dirty="0" sz="1100" spc="30">
                <a:latin typeface="Arial"/>
                <a:cs typeface="Arial"/>
              </a:rPr>
              <a:t> </a:t>
            </a:r>
            <a:r>
              <a:rPr dirty="0" sz="1100" spc="-5">
                <a:latin typeface="Arial"/>
                <a:cs typeface="Arial"/>
              </a:rPr>
              <a:t>exports</a:t>
            </a:r>
            <a:endParaRPr sz="1100">
              <a:latin typeface="Arial"/>
              <a:cs typeface="Arial"/>
            </a:endParaRPr>
          </a:p>
          <a:p>
            <a:pPr marL="469900" indent="-229235">
              <a:lnSpc>
                <a:spcPct val="100000"/>
              </a:lnSpc>
              <a:spcBef>
                <a:spcPts val="15"/>
              </a:spcBef>
              <a:buFont typeface="Symbol"/>
              <a:buChar char=""/>
              <a:tabLst>
                <a:tab pos="469900" algn="l"/>
                <a:tab pos="470534" algn="l"/>
              </a:tabLst>
            </a:pPr>
            <a:r>
              <a:rPr dirty="0" sz="1100" spc="-5">
                <a:latin typeface="Arial"/>
                <a:cs typeface="Arial"/>
              </a:rPr>
              <a:t>Adverse geography</a:t>
            </a:r>
            <a:endParaRPr sz="1100">
              <a:latin typeface="Arial"/>
              <a:cs typeface="Arial"/>
            </a:endParaRPr>
          </a:p>
          <a:p>
            <a:pPr marL="469900" indent="-229235">
              <a:lnSpc>
                <a:spcPct val="100000"/>
              </a:lnSpc>
              <a:spcBef>
                <a:spcPts val="20"/>
              </a:spcBef>
              <a:buFont typeface="Symbol"/>
              <a:buChar char=""/>
              <a:tabLst>
                <a:tab pos="469900" algn="l"/>
                <a:tab pos="470534" algn="l"/>
              </a:tabLst>
            </a:pPr>
            <a:r>
              <a:rPr dirty="0" sz="1100" spc="-5">
                <a:latin typeface="Arial"/>
                <a:cs typeface="Arial"/>
              </a:rPr>
              <a:t>Underdeveloped financial and other</a:t>
            </a:r>
            <a:r>
              <a:rPr dirty="0" sz="1100" spc="10">
                <a:latin typeface="Arial"/>
                <a:cs typeface="Arial"/>
              </a:rPr>
              <a:t> </a:t>
            </a:r>
            <a:r>
              <a:rPr dirty="0" sz="1100" spc="-5">
                <a:latin typeface="Arial"/>
                <a:cs typeface="Arial"/>
              </a:rPr>
              <a:t>markets</a:t>
            </a:r>
            <a:endParaRPr sz="1100">
              <a:latin typeface="Arial"/>
              <a:cs typeface="Arial"/>
            </a:endParaRPr>
          </a:p>
          <a:p>
            <a:pPr marL="469900" indent="-229235">
              <a:lnSpc>
                <a:spcPct val="100000"/>
              </a:lnSpc>
              <a:spcBef>
                <a:spcPts val="15"/>
              </a:spcBef>
              <a:buFont typeface="Symbol"/>
              <a:buChar char=""/>
              <a:tabLst>
                <a:tab pos="469900" algn="l"/>
                <a:tab pos="470534" algn="l"/>
              </a:tabLst>
            </a:pPr>
            <a:r>
              <a:rPr dirty="0" sz="1100" spc="-5">
                <a:latin typeface="Arial"/>
                <a:cs typeface="Arial"/>
              </a:rPr>
              <a:t>Lingering colonial impacts such as poor institutions and often external</a:t>
            </a:r>
            <a:r>
              <a:rPr dirty="0" sz="1100" spc="120">
                <a:latin typeface="Arial"/>
                <a:cs typeface="Arial"/>
              </a:rPr>
              <a:t> </a:t>
            </a:r>
            <a:r>
              <a:rPr dirty="0" sz="1100" spc="-5">
                <a:latin typeface="Arial"/>
                <a:cs typeface="Arial"/>
              </a:rPr>
              <a:t>dependence.</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DEFINING THE </a:t>
            </a:r>
            <a:r>
              <a:rPr dirty="0" sz="1100" b="1">
                <a:latin typeface="Arial"/>
                <a:cs typeface="Arial"/>
              </a:rPr>
              <a:t>DEVELOPING </a:t>
            </a:r>
            <a:r>
              <a:rPr dirty="0" sz="1100" spc="-5" b="1">
                <a:latin typeface="Arial"/>
                <a:cs typeface="Arial"/>
              </a:rPr>
              <a:t>WORLD</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most common way to define the developing world is by per capita income. Several  international agencies, including the Organization for Economic Cooperation and Development  (OECD) </a:t>
            </a:r>
            <a:r>
              <a:rPr dirty="0" sz="1100">
                <a:latin typeface="Arial"/>
                <a:cs typeface="Arial"/>
              </a:rPr>
              <a:t>and </a:t>
            </a:r>
            <a:r>
              <a:rPr dirty="0" sz="1100" spc="-5">
                <a:latin typeface="Arial"/>
                <a:cs typeface="Arial"/>
              </a:rPr>
              <a:t>the United Nations, offer classifications of countries by their economic status, but  the best-known system </a:t>
            </a:r>
            <a:r>
              <a:rPr dirty="0" sz="1100">
                <a:latin typeface="Arial"/>
                <a:cs typeface="Arial"/>
              </a:rPr>
              <a:t>is </a:t>
            </a:r>
            <a:r>
              <a:rPr dirty="0" sz="1100" spc="-5">
                <a:latin typeface="Arial"/>
                <a:cs typeface="Arial"/>
              </a:rPr>
              <a:t>that of World</a:t>
            </a:r>
            <a:r>
              <a:rPr dirty="0" sz="1100" spc="25">
                <a:latin typeface="Arial"/>
                <a:cs typeface="Arial"/>
              </a:rPr>
              <a:t> </a:t>
            </a:r>
            <a:r>
              <a:rPr dirty="0" sz="1100" spc="-5">
                <a:latin typeface="Arial"/>
                <a:cs typeface="Arial"/>
              </a:rPr>
              <a:t>Bank.</a:t>
            </a:r>
            <a:endParaRPr sz="1100">
              <a:latin typeface="Arial"/>
              <a:cs typeface="Arial"/>
            </a:endParaRPr>
          </a:p>
          <a:p>
            <a:pPr>
              <a:lnSpc>
                <a:spcPct val="100000"/>
              </a:lnSpc>
              <a:spcBef>
                <a:spcPts val="25"/>
              </a:spcBef>
            </a:pPr>
            <a:endParaRPr sz="1150">
              <a:latin typeface="Arial"/>
              <a:cs typeface="Arial"/>
            </a:endParaRPr>
          </a:p>
          <a:p>
            <a:pPr algn="just" marL="469900" marR="5080" indent="-228600">
              <a:lnSpc>
                <a:spcPct val="95700"/>
              </a:lnSpc>
              <a:buFont typeface="Symbol"/>
              <a:buChar char=""/>
              <a:tabLst>
                <a:tab pos="470534" algn="l"/>
              </a:tabLst>
            </a:pPr>
            <a:r>
              <a:rPr dirty="0" sz="1100" spc="-5" b="1">
                <a:latin typeface="Arial"/>
                <a:cs typeface="Arial"/>
              </a:rPr>
              <a:t>World Bank: </a:t>
            </a:r>
            <a:r>
              <a:rPr dirty="0" sz="1100" spc="-5">
                <a:latin typeface="Arial"/>
                <a:cs typeface="Arial"/>
              </a:rPr>
              <a:t>An organization known as an “international financial institution” that  provides development </a:t>
            </a:r>
            <a:r>
              <a:rPr dirty="0" sz="1100">
                <a:latin typeface="Arial"/>
                <a:cs typeface="Arial"/>
              </a:rPr>
              <a:t>funds </a:t>
            </a:r>
            <a:r>
              <a:rPr dirty="0" sz="1100" spc="-5">
                <a:latin typeface="Arial"/>
                <a:cs typeface="Arial"/>
              </a:rPr>
              <a:t>to developing countries in the form of interest-bearing  loans, grants, and technical</a:t>
            </a:r>
            <a:r>
              <a:rPr dirty="0" sz="1100" spc="15">
                <a:latin typeface="Arial"/>
                <a:cs typeface="Arial"/>
              </a:rPr>
              <a:t> </a:t>
            </a:r>
            <a:r>
              <a:rPr dirty="0" sz="1100" spc="-5">
                <a:latin typeface="Arial"/>
                <a:cs typeface="Arial"/>
              </a:rPr>
              <a:t>assistance.</a:t>
            </a:r>
            <a:endParaRPr sz="1100">
              <a:latin typeface="Arial"/>
              <a:cs typeface="Arial"/>
            </a:endParaRPr>
          </a:p>
          <a:p>
            <a:pPr>
              <a:lnSpc>
                <a:spcPct val="100000"/>
              </a:lnSpc>
              <a:spcBef>
                <a:spcPts val="5"/>
              </a:spcBef>
              <a:buFont typeface="Symbol"/>
              <a:buChar char=""/>
            </a:pPr>
            <a:endParaRPr sz="1100">
              <a:latin typeface="Arial"/>
              <a:cs typeface="Arial"/>
            </a:endParaRPr>
          </a:p>
          <a:p>
            <a:pPr algn="just" marL="12700" marR="5715">
              <a:lnSpc>
                <a:spcPct val="95700"/>
              </a:lnSpc>
            </a:pPr>
            <a:r>
              <a:rPr dirty="0" sz="1100" spc="-5">
                <a:latin typeface="Arial"/>
                <a:cs typeface="Arial"/>
              </a:rPr>
              <a:t>In the World Bank’s classification system, 210 economies with a population of at least 30,000  are ranked by their levels of gross national income (GNI) </a:t>
            </a:r>
            <a:r>
              <a:rPr dirty="0" sz="1100">
                <a:latin typeface="Arial"/>
                <a:cs typeface="Arial"/>
              </a:rPr>
              <a:t>per </a:t>
            </a:r>
            <a:r>
              <a:rPr dirty="0" sz="1100" spc="-5">
                <a:latin typeface="Arial"/>
                <a:cs typeface="Arial"/>
              </a:rPr>
              <a:t>capita. These economies are then  classified as:</a:t>
            </a:r>
            <a:endParaRPr sz="1100">
              <a:latin typeface="Arial"/>
              <a:cs typeface="Arial"/>
            </a:endParaRPr>
          </a:p>
          <a:p>
            <a:pPr>
              <a:lnSpc>
                <a:spcPct val="100000"/>
              </a:lnSpc>
              <a:spcBef>
                <a:spcPts val="25"/>
              </a:spcBef>
            </a:pPr>
            <a:endParaRPr sz="11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Low income countries (LIC’s) ($995 or</a:t>
            </a:r>
            <a:r>
              <a:rPr dirty="0" sz="1100" spc="25">
                <a:latin typeface="Arial"/>
                <a:cs typeface="Arial"/>
              </a:rPr>
              <a:t> </a:t>
            </a:r>
            <a:r>
              <a:rPr dirty="0" sz="1100" spc="-5">
                <a:latin typeface="Arial"/>
                <a:cs typeface="Arial"/>
              </a:rPr>
              <a:t>less)</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Lower middle income (LMC’S) </a:t>
            </a:r>
            <a:r>
              <a:rPr dirty="0" sz="1100">
                <a:latin typeface="Arial"/>
                <a:cs typeface="Arial"/>
              </a:rPr>
              <a:t>($996 </a:t>
            </a:r>
            <a:r>
              <a:rPr dirty="0" sz="1100" spc="-5">
                <a:latin typeface="Arial"/>
                <a:cs typeface="Arial"/>
              </a:rPr>
              <a:t>-</a:t>
            </a:r>
            <a:r>
              <a:rPr dirty="0" sz="1100" spc="20">
                <a:latin typeface="Arial"/>
                <a:cs typeface="Arial"/>
              </a:rPr>
              <a:t> </a:t>
            </a:r>
            <a:r>
              <a:rPr dirty="0" sz="1100" spc="-5">
                <a:latin typeface="Arial"/>
                <a:cs typeface="Arial"/>
              </a:rPr>
              <a:t>$3,945)</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Upper middle income (UMC’S) ($3,946 -</a:t>
            </a:r>
            <a:r>
              <a:rPr dirty="0" sz="1100" spc="30">
                <a:latin typeface="Arial"/>
                <a:cs typeface="Arial"/>
              </a:rPr>
              <a:t> </a:t>
            </a:r>
            <a:r>
              <a:rPr dirty="0" sz="1100" spc="-5">
                <a:latin typeface="Arial"/>
                <a:cs typeface="Arial"/>
              </a:rPr>
              <a:t>$12,195)</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High Income: OECD ($12,196 or</a:t>
            </a:r>
            <a:r>
              <a:rPr dirty="0" sz="1100" spc="20">
                <a:latin typeface="Arial"/>
                <a:cs typeface="Arial"/>
              </a:rPr>
              <a:t> </a:t>
            </a:r>
            <a:r>
              <a:rPr dirty="0" sz="1100" spc="-5">
                <a:latin typeface="Arial"/>
                <a:cs typeface="Arial"/>
              </a:rPr>
              <a:t>more)</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High Income: non OECD ($12,196 or</a:t>
            </a:r>
            <a:r>
              <a:rPr dirty="0" sz="1100" spc="25">
                <a:latin typeface="Arial"/>
                <a:cs typeface="Arial"/>
              </a:rPr>
              <a:t> </a:t>
            </a:r>
            <a:r>
              <a:rPr dirty="0" sz="1100" spc="-5">
                <a:latin typeface="Arial"/>
                <a:cs typeface="Arial"/>
              </a:rPr>
              <a:t>more)</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KEY CONCEPTS</a:t>
            </a:r>
            <a:endParaRPr sz="1100">
              <a:latin typeface="Arial"/>
              <a:cs typeface="Arial"/>
            </a:endParaRPr>
          </a:p>
          <a:p>
            <a:pPr>
              <a:lnSpc>
                <a:spcPct val="100000"/>
              </a:lnSpc>
              <a:spcBef>
                <a:spcPts val="55"/>
              </a:spcBef>
            </a:pPr>
            <a:endParaRPr sz="1150">
              <a:latin typeface="Arial"/>
              <a:cs typeface="Arial"/>
            </a:endParaRPr>
          </a:p>
          <a:p>
            <a:pPr algn="just" marL="469265" marR="5080" indent="-228600">
              <a:lnSpc>
                <a:spcPts val="1260"/>
              </a:lnSpc>
              <a:buFont typeface="Symbol"/>
              <a:buChar char=""/>
              <a:tabLst>
                <a:tab pos="469900" algn="l"/>
              </a:tabLst>
            </a:pPr>
            <a:r>
              <a:rPr dirty="0" sz="1100" spc="-5" b="1">
                <a:latin typeface="Arial"/>
                <a:cs typeface="Arial"/>
              </a:rPr>
              <a:t>Low-income countries (LICs): </a:t>
            </a:r>
            <a:r>
              <a:rPr dirty="0" sz="1100" spc="-5">
                <a:latin typeface="Arial"/>
                <a:cs typeface="Arial"/>
              </a:rPr>
              <a:t>In the World Bank classification, countries with a gross  national income per capita of less than $976 in</a:t>
            </a:r>
            <a:r>
              <a:rPr dirty="0" sz="1100" spc="45">
                <a:latin typeface="Arial"/>
                <a:cs typeface="Arial"/>
              </a:rPr>
              <a:t> </a:t>
            </a:r>
            <a:r>
              <a:rPr dirty="0" sz="1100" spc="-5">
                <a:latin typeface="Arial"/>
                <a:cs typeface="Arial"/>
              </a:rPr>
              <a:t>2008.</a:t>
            </a:r>
            <a:endParaRPr sz="1100">
              <a:latin typeface="Arial"/>
              <a:cs typeface="Arial"/>
            </a:endParaRPr>
          </a:p>
          <a:p>
            <a:pPr algn="just" marL="469265" marR="5080" indent="-228600">
              <a:lnSpc>
                <a:spcPts val="1260"/>
              </a:lnSpc>
              <a:spcBef>
                <a:spcPts val="85"/>
              </a:spcBef>
              <a:buFont typeface="Symbol"/>
              <a:buChar char=""/>
              <a:tabLst>
                <a:tab pos="469900" algn="l"/>
              </a:tabLst>
            </a:pPr>
            <a:r>
              <a:rPr dirty="0" sz="1100" spc="-5" b="1">
                <a:latin typeface="Arial"/>
                <a:cs typeface="Arial"/>
              </a:rPr>
              <a:t>Middle-income countries: </a:t>
            </a:r>
            <a:r>
              <a:rPr dirty="0" sz="1100" spc="-5">
                <a:latin typeface="Arial"/>
                <a:cs typeface="Arial"/>
              </a:rPr>
              <a:t>In the World Bank classification, countries with a GNI per  capita between $976 and $11,906 in</a:t>
            </a:r>
            <a:r>
              <a:rPr dirty="0" sz="1100" spc="20">
                <a:latin typeface="Arial"/>
                <a:cs typeface="Arial"/>
              </a:rPr>
              <a:t> </a:t>
            </a:r>
            <a:r>
              <a:rPr dirty="0" sz="1100" spc="-5">
                <a:latin typeface="Arial"/>
                <a:cs typeface="Arial"/>
              </a:rPr>
              <a:t>2008.</a:t>
            </a:r>
            <a:endParaRPr sz="1100">
              <a:latin typeface="Arial"/>
              <a:cs typeface="Arial"/>
            </a:endParaRPr>
          </a:p>
          <a:p>
            <a:pPr algn="just" marL="469265" marR="5715" indent="-228600">
              <a:lnSpc>
                <a:spcPct val="95700"/>
              </a:lnSpc>
              <a:spcBef>
                <a:spcPts val="45"/>
              </a:spcBef>
              <a:buFont typeface="Symbol"/>
              <a:buChar char=""/>
              <a:tabLst>
                <a:tab pos="469900" algn="l"/>
              </a:tabLst>
            </a:pPr>
            <a:r>
              <a:rPr dirty="0" sz="1100" b="1">
                <a:latin typeface="Arial"/>
                <a:cs typeface="Arial"/>
              </a:rPr>
              <a:t>Newly </a:t>
            </a:r>
            <a:r>
              <a:rPr dirty="0" sz="1100" spc="-5" b="1">
                <a:latin typeface="Arial"/>
                <a:cs typeface="Arial"/>
              </a:rPr>
              <a:t>industrializing countries (NICs): </a:t>
            </a:r>
            <a:r>
              <a:rPr dirty="0" sz="1100" spc="-5">
                <a:latin typeface="Arial"/>
                <a:cs typeface="Arial"/>
              </a:rPr>
              <a:t>Countries at a relatively advanced </a:t>
            </a:r>
            <a:r>
              <a:rPr dirty="0" sz="1100">
                <a:latin typeface="Arial"/>
                <a:cs typeface="Arial"/>
              </a:rPr>
              <a:t>level </a:t>
            </a:r>
            <a:r>
              <a:rPr dirty="0" sz="1100" spc="-5">
                <a:latin typeface="Arial"/>
                <a:cs typeface="Arial"/>
              </a:rPr>
              <a:t>of  economic development with a substantial and dynamic industrial sector and with close  links to the international trade, finance, and investment</a:t>
            </a:r>
            <a:r>
              <a:rPr dirty="0" sz="1100" spc="40">
                <a:latin typeface="Arial"/>
                <a:cs typeface="Arial"/>
              </a:rPr>
              <a:t> </a:t>
            </a:r>
            <a:r>
              <a:rPr dirty="0" sz="1100" spc="-5">
                <a:latin typeface="Arial"/>
                <a:cs typeface="Arial"/>
              </a:rPr>
              <a:t>system.</a:t>
            </a:r>
            <a:endParaRPr sz="11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69000" cy="1959610"/>
          </a:xfrm>
          <a:prstGeom prst="rect">
            <a:avLst/>
          </a:prstGeom>
        </p:spPr>
        <p:txBody>
          <a:bodyPr wrap="square" lIns="0" tIns="24130" rIns="0" bIns="0" rtlCol="0" vert="horz">
            <a:spAutoFit/>
          </a:bodyPr>
          <a:lstStyle/>
          <a:p>
            <a:pPr marL="469900" marR="6350" indent="-228600">
              <a:lnSpc>
                <a:spcPts val="1260"/>
              </a:lnSpc>
              <a:spcBef>
                <a:spcPts val="190"/>
              </a:spcBef>
              <a:buFont typeface="Symbol"/>
              <a:buChar char=""/>
              <a:tabLst>
                <a:tab pos="469265" algn="l"/>
                <a:tab pos="469900" algn="l"/>
              </a:tabLst>
            </a:pPr>
            <a:r>
              <a:rPr dirty="0" sz="1100" spc="-5" b="1">
                <a:latin typeface="Arial"/>
                <a:cs typeface="Arial"/>
              </a:rPr>
              <a:t>Least developed countries: </a:t>
            </a:r>
            <a:r>
              <a:rPr dirty="0" sz="1100" spc="-5">
                <a:latin typeface="Arial"/>
                <a:cs typeface="Arial"/>
              </a:rPr>
              <a:t>A United Nations designation of countries with low income,  low human capital, and high economic</a:t>
            </a:r>
            <a:r>
              <a:rPr dirty="0" sz="1100" spc="30">
                <a:latin typeface="Arial"/>
                <a:cs typeface="Arial"/>
              </a:rPr>
              <a:t> </a:t>
            </a:r>
            <a:r>
              <a:rPr dirty="0" sz="1100" spc="-5">
                <a:latin typeface="Arial"/>
                <a:cs typeface="Arial"/>
              </a:rPr>
              <a:t>vulnerability.</a:t>
            </a:r>
            <a:endParaRPr sz="1100">
              <a:latin typeface="Arial"/>
              <a:cs typeface="Arial"/>
            </a:endParaRPr>
          </a:p>
          <a:p>
            <a:pPr>
              <a:lnSpc>
                <a:spcPct val="100000"/>
              </a:lnSpc>
              <a:spcBef>
                <a:spcPts val="25"/>
              </a:spcBef>
            </a:pPr>
            <a:endParaRPr sz="1050">
              <a:latin typeface="Arial"/>
              <a:cs typeface="Arial"/>
            </a:endParaRPr>
          </a:p>
          <a:p>
            <a:pPr algn="just" marL="12700" marR="5080">
              <a:lnSpc>
                <a:spcPct val="95800"/>
              </a:lnSpc>
            </a:pPr>
            <a:r>
              <a:rPr dirty="0" sz="1100" spc="-5">
                <a:latin typeface="Arial"/>
                <a:cs typeface="Arial"/>
              </a:rPr>
              <a:t>With a number of important exceptions, the developing countries are those with low-, lower-  middle, or upper-middle incomes. These countries are grouped by their geographic region in  Table 2.1, making them easier to identify on the map in Figure 2.1. The most common cutoff  points for these categories are those used by the World Bank: Low-income countries are  defined as having a </a:t>
            </a:r>
            <a:r>
              <a:rPr dirty="0" sz="1100">
                <a:latin typeface="Arial"/>
                <a:cs typeface="Arial"/>
              </a:rPr>
              <a:t>per </a:t>
            </a:r>
            <a:r>
              <a:rPr dirty="0" sz="1100" spc="-5">
                <a:latin typeface="Arial"/>
                <a:cs typeface="Arial"/>
              </a:rPr>
              <a:t>capita gross national income in </a:t>
            </a:r>
            <a:r>
              <a:rPr dirty="0" sz="1100">
                <a:latin typeface="Arial"/>
                <a:cs typeface="Arial"/>
              </a:rPr>
              <a:t>2008 </a:t>
            </a:r>
            <a:r>
              <a:rPr dirty="0" sz="1100" spc="-5">
                <a:latin typeface="Arial"/>
                <a:cs typeface="Arial"/>
              </a:rPr>
              <a:t>of $975 or less; lower-middle-  income countries have incomes between $976 and $3,855; upper-middle-income countries  have</a:t>
            </a:r>
            <a:r>
              <a:rPr dirty="0" sz="1100" spc="45">
                <a:latin typeface="Arial"/>
                <a:cs typeface="Arial"/>
              </a:rPr>
              <a:t> </a:t>
            </a:r>
            <a:r>
              <a:rPr dirty="0" sz="1100" spc="-5">
                <a:latin typeface="Arial"/>
                <a:cs typeface="Arial"/>
              </a:rPr>
              <a:t>incomes</a:t>
            </a:r>
            <a:r>
              <a:rPr dirty="0" sz="1100" spc="45">
                <a:latin typeface="Arial"/>
                <a:cs typeface="Arial"/>
              </a:rPr>
              <a:t> </a:t>
            </a:r>
            <a:r>
              <a:rPr dirty="0" sz="1100" spc="-5">
                <a:latin typeface="Arial"/>
                <a:cs typeface="Arial"/>
              </a:rPr>
              <a:t>between</a:t>
            </a:r>
            <a:r>
              <a:rPr dirty="0" sz="1100" spc="45">
                <a:latin typeface="Arial"/>
                <a:cs typeface="Arial"/>
              </a:rPr>
              <a:t> </a:t>
            </a:r>
            <a:r>
              <a:rPr dirty="0" sz="1100" spc="-5">
                <a:latin typeface="Arial"/>
                <a:cs typeface="Arial"/>
              </a:rPr>
              <a:t>$3,856</a:t>
            </a:r>
            <a:r>
              <a:rPr dirty="0" sz="1100" spc="45">
                <a:latin typeface="Arial"/>
                <a:cs typeface="Arial"/>
              </a:rPr>
              <a:t> </a:t>
            </a:r>
            <a:r>
              <a:rPr dirty="0" sz="1100" spc="-5">
                <a:latin typeface="Arial"/>
                <a:cs typeface="Arial"/>
              </a:rPr>
              <a:t>and</a:t>
            </a:r>
            <a:r>
              <a:rPr dirty="0" sz="1100" spc="45">
                <a:latin typeface="Arial"/>
                <a:cs typeface="Arial"/>
              </a:rPr>
              <a:t> </a:t>
            </a:r>
            <a:r>
              <a:rPr dirty="0" sz="1100" spc="-5">
                <a:latin typeface="Arial"/>
                <a:cs typeface="Arial"/>
              </a:rPr>
              <a:t>$11,906;</a:t>
            </a:r>
            <a:r>
              <a:rPr dirty="0" sz="1100" spc="40">
                <a:latin typeface="Arial"/>
                <a:cs typeface="Arial"/>
              </a:rPr>
              <a:t> </a:t>
            </a:r>
            <a:r>
              <a:rPr dirty="0" sz="1100" spc="-5">
                <a:latin typeface="Arial"/>
                <a:cs typeface="Arial"/>
              </a:rPr>
              <a:t>and</a:t>
            </a:r>
            <a:r>
              <a:rPr dirty="0" sz="1100" spc="45">
                <a:latin typeface="Arial"/>
                <a:cs typeface="Arial"/>
              </a:rPr>
              <a:t> </a:t>
            </a:r>
            <a:r>
              <a:rPr dirty="0" sz="1100" spc="-5">
                <a:latin typeface="Arial"/>
                <a:cs typeface="Arial"/>
              </a:rPr>
              <a:t>high-income</a:t>
            </a:r>
            <a:r>
              <a:rPr dirty="0" sz="1100" spc="45">
                <a:latin typeface="Arial"/>
                <a:cs typeface="Arial"/>
              </a:rPr>
              <a:t> </a:t>
            </a:r>
            <a:r>
              <a:rPr dirty="0" sz="1100" spc="-5">
                <a:latin typeface="Arial"/>
                <a:cs typeface="Arial"/>
              </a:rPr>
              <a:t>countries</a:t>
            </a:r>
            <a:r>
              <a:rPr dirty="0" sz="1100" spc="45">
                <a:latin typeface="Arial"/>
                <a:cs typeface="Arial"/>
              </a:rPr>
              <a:t> </a:t>
            </a:r>
            <a:r>
              <a:rPr dirty="0" sz="1100" spc="-5">
                <a:latin typeface="Arial"/>
                <a:cs typeface="Arial"/>
              </a:rPr>
              <a:t>have</a:t>
            </a:r>
            <a:r>
              <a:rPr dirty="0" sz="1100" spc="45">
                <a:latin typeface="Arial"/>
                <a:cs typeface="Arial"/>
              </a:rPr>
              <a:t> </a:t>
            </a:r>
            <a:r>
              <a:rPr dirty="0" sz="1100" spc="-5">
                <a:latin typeface="Arial"/>
                <a:cs typeface="Arial"/>
              </a:rPr>
              <a:t>incomes</a:t>
            </a:r>
            <a:r>
              <a:rPr dirty="0" sz="1100" spc="50">
                <a:latin typeface="Arial"/>
                <a:cs typeface="Arial"/>
              </a:rPr>
              <a:t> </a:t>
            </a:r>
            <a:r>
              <a:rPr dirty="0" sz="1100" spc="-5">
                <a:latin typeface="Arial"/>
                <a:cs typeface="Arial"/>
              </a:rPr>
              <a:t>of</a:t>
            </a:r>
            <a:endParaRPr sz="1100">
              <a:latin typeface="Arial"/>
              <a:cs typeface="Arial"/>
            </a:endParaRPr>
          </a:p>
          <a:p>
            <a:pPr algn="just" marL="12700" marR="5715">
              <a:lnSpc>
                <a:spcPts val="1260"/>
              </a:lnSpc>
              <a:spcBef>
                <a:spcPts val="40"/>
              </a:spcBef>
            </a:pPr>
            <a:r>
              <a:rPr dirty="0" sz="1100" spc="-5">
                <a:latin typeface="Arial"/>
                <a:cs typeface="Arial"/>
              </a:rPr>
              <a:t>$11,907 or more. Comparisons of incomes for several countries are shown graphically in Figure  2.2.</a:t>
            </a:r>
            <a:endParaRPr sz="1100">
              <a:latin typeface="Arial"/>
              <a:cs typeface="Arial"/>
            </a:endParaRPr>
          </a:p>
        </p:txBody>
      </p:sp>
      <p:sp>
        <p:nvSpPr>
          <p:cNvPr id="7" name="object 7"/>
          <p:cNvSpPr/>
          <p:nvPr/>
        </p:nvSpPr>
        <p:spPr>
          <a:xfrm>
            <a:off x="1257300" y="2871977"/>
            <a:ext cx="5391150" cy="5312664"/>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11</a:t>
            </a:r>
            <a:endParaRPr sz="1100">
              <a:latin typeface="Carlito"/>
              <a:cs typeface="Carl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838200"/>
            <a:ext cx="5934456" cy="4171950"/>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4400" y="5505450"/>
            <a:ext cx="5869305" cy="2762250"/>
          </a:xfrm>
          <a:prstGeom prst="rect">
            <a:avLst/>
          </a:prstGeom>
          <a:blipFill>
            <a:blip r:embed="rId3"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12</a:t>
            </a:r>
            <a:endParaRPr sz="1100">
              <a:latin typeface="Carlito"/>
              <a:cs typeface="Carl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905" cy="459232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BASIC INDICATORS OF DEVELOPMENT: REAL INCOME, HEALTH, AND</a:t>
            </a:r>
            <a:r>
              <a:rPr dirty="0" sz="1100" spc="110" b="1">
                <a:latin typeface="Arial"/>
                <a:cs typeface="Arial"/>
              </a:rPr>
              <a:t> </a:t>
            </a:r>
            <a:r>
              <a:rPr dirty="0" sz="1100" spc="-5" b="1">
                <a:latin typeface="Arial"/>
                <a:cs typeface="Arial"/>
              </a:rPr>
              <a:t>EDUCATION</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PURCHASING POWER</a:t>
            </a:r>
            <a:r>
              <a:rPr dirty="0" sz="1100" spc="5" b="1">
                <a:latin typeface="Arial"/>
                <a:cs typeface="Arial"/>
              </a:rPr>
              <a:t> </a:t>
            </a:r>
            <a:r>
              <a:rPr dirty="0" sz="1100" spc="-10" b="1">
                <a:latin typeface="Arial"/>
                <a:cs typeface="Arial"/>
              </a:rPr>
              <a:t>PARITY</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800"/>
              </a:lnSpc>
              <a:spcBef>
                <a:spcPts val="5"/>
              </a:spcBef>
            </a:pPr>
            <a:r>
              <a:rPr dirty="0" sz="1100" spc="-5">
                <a:latin typeface="Arial"/>
                <a:cs typeface="Arial"/>
              </a:rPr>
              <a:t>In accordance with the World Bank’s income-based country classification scheme, </a:t>
            </a:r>
            <a:r>
              <a:rPr dirty="0" sz="1100" spc="-5" b="1">
                <a:latin typeface="Arial"/>
                <a:cs typeface="Arial"/>
              </a:rPr>
              <a:t>gross  national income (GNI) </a:t>
            </a:r>
            <a:r>
              <a:rPr dirty="0" sz="1100" spc="-5">
                <a:latin typeface="Arial"/>
                <a:cs typeface="Arial"/>
              </a:rPr>
              <a:t>per capita, the most common measure of the overall level of economic  activity, is often used as a summary index of the relative economic well-being of people in  different nations. It is calculated as the total domestic and foreign </a:t>
            </a:r>
            <a:r>
              <a:rPr dirty="0" sz="1100" spc="-5" b="1">
                <a:latin typeface="Arial"/>
                <a:cs typeface="Arial"/>
              </a:rPr>
              <a:t>value added </a:t>
            </a:r>
            <a:r>
              <a:rPr dirty="0" sz="1100" spc="-5">
                <a:latin typeface="Arial"/>
                <a:cs typeface="Arial"/>
              </a:rPr>
              <a:t>claimed by a  country’s residents without making deductions for </a:t>
            </a:r>
            <a:r>
              <a:rPr dirty="0" sz="1100" spc="-5" b="1">
                <a:latin typeface="Arial"/>
                <a:cs typeface="Arial"/>
              </a:rPr>
              <a:t>depreciation </a:t>
            </a:r>
            <a:r>
              <a:rPr dirty="0" sz="1100" spc="-5">
                <a:latin typeface="Arial"/>
                <a:cs typeface="Arial"/>
              </a:rPr>
              <a:t>(or wearing out) of the domestic  </a:t>
            </a:r>
            <a:r>
              <a:rPr dirty="0" sz="1100" spc="-5" b="1">
                <a:latin typeface="Arial"/>
                <a:cs typeface="Arial"/>
              </a:rPr>
              <a:t>capital stock</a:t>
            </a:r>
            <a:r>
              <a:rPr dirty="0" sz="1100" spc="-5">
                <a:latin typeface="Arial"/>
                <a:cs typeface="Arial"/>
              </a:rPr>
              <a:t>. </a:t>
            </a:r>
            <a:r>
              <a:rPr dirty="0" sz="1100" spc="-5" b="1">
                <a:latin typeface="Arial"/>
                <a:cs typeface="Arial"/>
              </a:rPr>
              <a:t>Gross domestic product (GDP) </a:t>
            </a:r>
            <a:r>
              <a:rPr dirty="0" sz="1100" spc="-5">
                <a:latin typeface="Arial"/>
                <a:cs typeface="Arial"/>
              </a:rPr>
              <a:t>measures the total value for final use of output  produced by an economy, by both residents and</a:t>
            </a:r>
            <a:r>
              <a:rPr dirty="0" sz="1100" spc="40">
                <a:latin typeface="Arial"/>
                <a:cs typeface="Arial"/>
              </a:rPr>
              <a:t> </a:t>
            </a:r>
            <a:r>
              <a:rPr dirty="0" sz="1100" spc="-5">
                <a:latin typeface="Arial"/>
                <a:cs typeface="Arial"/>
              </a:rPr>
              <a:t>nonresidents.</a:t>
            </a:r>
            <a:endParaRPr sz="1100">
              <a:latin typeface="Arial"/>
              <a:cs typeface="Arial"/>
            </a:endParaRPr>
          </a:p>
          <a:p>
            <a:pPr>
              <a:lnSpc>
                <a:spcPct val="100000"/>
              </a:lnSpc>
              <a:spcBef>
                <a:spcPts val="20"/>
              </a:spcBef>
            </a:pPr>
            <a:endParaRPr sz="1150">
              <a:latin typeface="Arial"/>
              <a:cs typeface="Arial"/>
            </a:endParaRPr>
          </a:p>
          <a:p>
            <a:pPr algn="just" marL="469900" marR="6350" indent="-228600">
              <a:lnSpc>
                <a:spcPct val="95800"/>
              </a:lnSpc>
              <a:buFont typeface="Symbol"/>
              <a:buChar char=""/>
              <a:tabLst>
                <a:tab pos="469900" algn="l"/>
              </a:tabLst>
            </a:pPr>
            <a:r>
              <a:rPr dirty="0" sz="1100" spc="-5" b="1">
                <a:latin typeface="Arial"/>
                <a:cs typeface="Arial"/>
              </a:rPr>
              <a:t>Gross national income (GNI)</a:t>
            </a:r>
            <a:r>
              <a:rPr dirty="0" sz="1100" spc="-5">
                <a:latin typeface="Arial"/>
                <a:cs typeface="Arial"/>
              </a:rPr>
              <a:t>: The total domestic and foreign output claimed </a:t>
            </a:r>
            <a:r>
              <a:rPr dirty="0" sz="1100">
                <a:latin typeface="Arial"/>
                <a:cs typeface="Arial"/>
              </a:rPr>
              <a:t>by  </a:t>
            </a:r>
            <a:r>
              <a:rPr dirty="0" sz="1100" spc="-5">
                <a:latin typeface="Arial"/>
                <a:cs typeface="Arial"/>
              </a:rPr>
              <a:t>residents of a country, consisting of gross domestic product (GDP) </a:t>
            </a:r>
            <a:r>
              <a:rPr dirty="0" sz="1100">
                <a:latin typeface="Arial"/>
                <a:cs typeface="Arial"/>
              </a:rPr>
              <a:t>plus </a:t>
            </a:r>
            <a:r>
              <a:rPr dirty="0" sz="1100" spc="-5">
                <a:latin typeface="Arial"/>
                <a:cs typeface="Arial"/>
              </a:rPr>
              <a:t>factor incomes  earned by foreign residents, minus income earned in the domestic economy by  nonresidents.</a:t>
            </a:r>
            <a:endParaRPr sz="1100">
              <a:latin typeface="Arial"/>
              <a:cs typeface="Arial"/>
            </a:endParaRPr>
          </a:p>
          <a:p>
            <a:pPr algn="just" marL="469900" marR="7620" indent="-228600">
              <a:lnSpc>
                <a:spcPts val="1260"/>
              </a:lnSpc>
              <a:spcBef>
                <a:spcPts val="114"/>
              </a:spcBef>
              <a:buFont typeface="Symbol"/>
              <a:buChar char=""/>
              <a:tabLst>
                <a:tab pos="469900" algn="l"/>
              </a:tabLst>
            </a:pPr>
            <a:r>
              <a:rPr dirty="0" sz="1100" spc="-5" b="1">
                <a:latin typeface="Arial"/>
                <a:cs typeface="Arial"/>
              </a:rPr>
              <a:t>Value added: </a:t>
            </a:r>
            <a:r>
              <a:rPr dirty="0" sz="1100" spc="-5">
                <a:latin typeface="Arial"/>
                <a:cs typeface="Arial"/>
              </a:rPr>
              <a:t>The portion of a product’s final value that is added at each stage of  production.</a:t>
            </a:r>
            <a:endParaRPr sz="1100">
              <a:latin typeface="Arial"/>
              <a:cs typeface="Arial"/>
            </a:endParaRPr>
          </a:p>
          <a:p>
            <a:pPr algn="just" marL="469900" marR="6350" indent="-228600">
              <a:lnSpc>
                <a:spcPct val="95700"/>
              </a:lnSpc>
              <a:spcBef>
                <a:spcPts val="50"/>
              </a:spcBef>
              <a:buFont typeface="Symbol"/>
              <a:buChar char=""/>
              <a:tabLst>
                <a:tab pos="469900" algn="l"/>
              </a:tabLst>
            </a:pPr>
            <a:r>
              <a:rPr dirty="0" sz="1100" spc="-5" b="1">
                <a:latin typeface="Arial"/>
                <a:cs typeface="Arial"/>
              </a:rPr>
              <a:t>Depreciation (of the capital stock): </a:t>
            </a:r>
            <a:r>
              <a:rPr dirty="0" sz="1100" spc="-5">
                <a:latin typeface="Arial"/>
                <a:cs typeface="Arial"/>
              </a:rPr>
              <a:t>The wearing out of equipment, buildings,  infrastructure, and other forms of capital, reflected in write-offs to the </a:t>
            </a:r>
            <a:r>
              <a:rPr dirty="0" sz="1100">
                <a:latin typeface="Arial"/>
                <a:cs typeface="Arial"/>
              </a:rPr>
              <a:t>value </a:t>
            </a:r>
            <a:r>
              <a:rPr dirty="0" sz="1100" spc="-5">
                <a:latin typeface="Arial"/>
                <a:cs typeface="Arial"/>
              </a:rPr>
              <a:t>of the capital  stock.</a:t>
            </a:r>
            <a:endParaRPr sz="1100">
              <a:latin typeface="Arial"/>
              <a:cs typeface="Arial"/>
            </a:endParaRPr>
          </a:p>
          <a:p>
            <a:pPr algn="just" marL="469900" marR="7620" indent="-228600">
              <a:lnSpc>
                <a:spcPts val="1270"/>
              </a:lnSpc>
              <a:spcBef>
                <a:spcPts val="105"/>
              </a:spcBef>
              <a:buFont typeface="Symbol"/>
              <a:buChar char=""/>
              <a:tabLst>
                <a:tab pos="469900" algn="l"/>
              </a:tabLst>
            </a:pPr>
            <a:r>
              <a:rPr dirty="0" sz="1100" spc="-5" b="1">
                <a:latin typeface="Arial"/>
                <a:cs typeface="Arial"/>
              </a:rPr>
              <a:t>Capital stock: </a:t>
            </a:r>
            <a:r>
              <a:rPr dirty="0" sz="1100" spc="-5">
                <a:latin typeface="Arial"/>
                <a:cs typeface="Arial"/>
              </a:rPr>
              <a:t>The total amount of physical goods existing at a particular time that have  been produced for use in the production of other goods and</a:t>
            </a:r>
            <a:r>
              <a:rPr dirty="0" sz="1100" spc="70">
                <a:latin typeface="Arial"/>
                <a:cs typeface="Arial"/>
              </a:rPr>
              <a:t> </a:t>
            </a:r>
            <a:r>
              <a:rPr dirty="0" sz="1100" spc="-5">
                <a:latin typeface="Arial"/>
                <a:cs typeface="Arial"/>
              </a:rPr>
              <a:t>services.</a:t>
            </a:r>
            <a:endParaRPr sz="1100">
              <a:latin typeface="Arial"/>
              <a:cs typeface="Arial"/>
            </a:endParaRPr>
          </a:p>
          <a:p>
            <a:pPr algn="just" marL="469900" marR="5080" indent="-228600">
              <a:lnSpc>
                <a:spcPct val="95700"/>
              </a:lnSpc>
              <a:spcBef>
                <a:spcPts val="35"/>
              </a:spcBef>
              <a:buFont typeface="Symbol"/>
              <a:buChar char=""/>
              <a:tabLst>
                <a:tab pos="469900" algn="l"/>
              </a:tabLst>
            </a:pPr>
            <a:r>
              <a:rPr dirty="0" sz="1100" spc="-5" b="1">
                <a:latin typeface="Arial"/>
                <a:cs typeface="Arial"/>
              </a:rPr>
              <a:t>Gross domestic product (GDP): </a:t>
            </a:r>
            <a:r>
              <a:rPr dirty="0" sz="1100">
                <a:latin typeface="Arial"/>
                <a:cs typeface="Arial"/>
              </a:rPr>
              <a:t>The </a:t>
            </a:r>
            <a:r>
              <a:rPr dirty="0" sz="1100" spc="-5">
                <a:latin typeface="Arial"/>
                <a:cs typeface="Arial"/>
              </a:rPr>
              <a:t>total final output of goods and services produced  by the country’s economy within </a:t>
            </a:r>
            <a:r>
              <a:rPr dirty="0" sz="1100">
                <a:latin typeface="Arial"/>
                <a:cs typeface="Arial"/>
              </a:rPr>
              <a:t>the </a:t>
            </a:r>
            <a:r>
              <a:rPr dirty="0" sz="1100" spc="-5">
                <a:latin typeface="Arial"/>
                <a:cs typeface="Arial"/>
              </a:rPr>
              <a:t>country’s territory by residents and nonresidents,  regardless of its allocation between domestic and foreign</a:t>
            </a:r>
            <a:r>
              <a:rPr dirty="0" sz="1100" spc="45">
                <a:latin typeface="Arial"/>
                <a:cs typeface="Arial"/>
              </a:rPr>
              <a:t> </a:t>
            </a:r>
            <a:r>
              <a:rPr dirty="0" sz="1100" spc="-5">
                <a:latin typeface="Arial"/>
                <a:cs typeface="Arial"/>
              </a:rPr>
              <a:t>claims.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WHAT IS</a:t>
            </a:r>
            <a:r>
              <a:rPr dirty="0" sz="1100" b="1">
                <a:latin typeface="Arial"/>
                <a:cs typeface="Arial"/>
              </a:rPr>
              <a:t> </a:t>
            </a:r>
            <a:r>
              <a:rPr dirty="0" sz="1100" spc="-5" b="1">
                <a:latin typeface="Arial"/>
                <a:cs typeface="Arial"/>
              </a:rPr>
              <a:t>PPP?</a:t>
            </a:r>
            <a:endParaRPr sz="1100">
              <a:latin typeface="Arial"/>
              <a:cs typeface="Arial"/>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13</a:t>
            </a:r>
            <a:endParaRPr sz="1100">
              <a:latin typeface="Carlito"/>
              <a:cs typeface="Carlito"/>
            </a:endParaRPr>
          </a:p>
        </p:txBody>
      </p:sp>
      <p:sp>
        <p:nvSpPr>
          <p:cNvPr id="7" name="object 7"/>
          <p:cNvSpPr txBox="1"/>
          <p:nvPr/>
        </p:nvSpPr>
        <p:spPr>
          <a:xfrm>
            <a:off x="1130286" y="5636767"/>
            <a:ext cx="5740400" cy="1005205"/>
          </a:xfrm>
          <a:prstGeom prst="rect">
            <a:avLst/>
          </a:prstGeom>
        </p:spPr>
        <p:txBody>
          <a:bodyPr wrap="square" lIns="0" tIns="19685" rIns="0" bIns="0" rtlCol="0" vert="horz">
            <a:spAutoFit/>
          </a:bodyPr>
          <a:lstStyle/>
          <a:p>
            <a:pPr algn="just" marL="241300" marR="5715" indent="-228600">
              <a:lnSpc>
                <a:spcPct val="95700"/>
              </a:lnSpc>
              <a:spcBef>
                <a:spcPts val="155"/>
              </a:spcBef>
              <a:buFont typeface="Symbol"/>
              <a:buChar char=""/>
              <a:tabLst>
                <a:tab pos="241935" algn="l"/>
              </a:tabLst>
            </a:pPr>
            <a:r>
              <a:rPr dirty="0" sz="1100" spc="-5" b="1">
                <a:latin typeface="Arial"/>
                <a:cs typeface="Arial"/>
              </a:rPr>
              <a:t>Purchasing power parity </a:t>
            </a:r>
            <a:r>
              <a:rPr dirty="0" sz="1100" spc="-5">
                <a:latin typeface="Arial"/>
                <a:cs typeface="Arial"/>
              </a:rPr>
              <a:t>is defined as the number of units of a foreign country’s  currency required to purchase the identical quantity of goods and services in the local  developing country market as $1 would buy in the United</a:t>
            </a:r>
            <a:r>
              <a:rPr dirty="0" sz="1100" spc="65">
                <a:latin typeface="Arial"/>
                <a:cs typeface="Arial"/>
              </a:rPr>
              <a:t> </a:t>
            </a:r>
            <a:r>
              <a:rPr dirty="0" sz="1100" spc="-5">
                <a:latin typeface="Arial"/>
                <a:cs typeface="Arial"/>
              </a:rPr>
              <a:t>States.</a:t>
            </a:r>
            <a:endParaRPr sz="1100">
              <a:latin typeface="Arial"/>
              <a:cs typeface="Arial"/>
            </a:endParaRPr>
          </a:p>
          <a:p>
            <a:pPr>
              <a:lnSpc>
                <a:spcPct val="100000"/>
              </a:lnSpc>
              <a:spcBef>
                <a:spcPts val="45"/>
              </a:spcBef>
              <a:buFont typeface="Symbol"/>
              <a:buChar char=""/>
            </a:pPr>
            <a:endParaRPr sz="1150">
              <a:latin typeface="Arial"/>
              <a:cs typeface="Arial"/>
            </a:endParaRPr>
          </a:p>
          <a:p>
            <a:pPr algn="just" marL="240665" marR="5080" indent="-228600">
              <a:lnSpc>
                <a:spcPts val="1270"/>
              </a:lnSpc>
              <a:buFont typeface="Symbol"/>
              <a:buChar char=""/>
              <a:tabLst>
                <a:tab pos="241935" algn="l"/>
              </a:tabLst>
            </a:pPr>
            <a:r>
              <a:rPr dirty="0" sz="1100" spc="-5">
                <a:latin typeface="Arial"/>
                <a:cs typeface="Arial"/>
              </a:rPr>
              <a:t>Calculation of GNI </a:t>
            </a:r>
            <a:r>
              <a:rPr dirty="0" sz="1100">
                <a:latin typeface="Arial"/>
                <a:cs typeface="Arial"/>
              </a:rPr>
              <a:t>using </a:t>
            </a:r>
            <a:r>
              <a:rPr dirty="0" sz="1100" spc="-5">
                <a:latin typeface="Arial"/>
                <a:cs typeface="Arial"/>
              </a:rPr>
              <a:t>a common set of international prices for all goods and services,  to provide more accurate comparisons of living</a:t>
            </a:r>
            <a:r>
              <a:rPr dirty="0" sz="1100" spc="35">
                <a:latin typeface="Arial"/>
                <a:cs typeface="Arial"/>
              </a:rPr>
              <a:t> </a:t>
            </a:r>
            <a:r>
              <a:rPr dirty="0" sz="1100" spc="-5">
                <a:latin typeface="Arial"/>
                <a:cs typeface="Arial"/>
              </a:rPr>
              <a:t>standards.</a:t>
            </a:r>
            <a:endParaRPr sz="1100">
              <a:latin typeface="Arial"/>
              <a:cs typeface="Arial"/>
            </a:endParaRPr>
          </a:p>
        </p:txBody>
      </p:sp>
      <p:sp>
        <p:nvSpPr>
          <p:cNvPr id="8" name="object 8"/>
          <p:cNvSpPr txBox="1"/>
          <p:nvPr/>
        </p:nvSpPr>
        <p:spPr>
          <a:xfrm>
            <a:off x="901692" y="6118344"/>
            <a:ext cx="180340"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Arial"/>
                <a:cs typeface="Arial"/>
              </a:rPr>
              <a:t>Or</a:t>
            </a:r>
            <a:endParaRPr sz="1100">
              <a:latin typeface="Arial"/>
              <a:cs typeface="Arial"/>
            </a:endParaRPr>
          </a:p>
        </p:txBody>
      </p:sp>
      <p:sp>
        <p:nvSpPr>
          <p:cNvPr id="9" name="object 9"/>
          <p:cNvSpPr txBox="1"/>
          <p:nvPr/>
        </p:nvSpPr>
        <p:spPr>
          <a:xfrm>
            <a:off x="901678" y="6769850"/>
            <a:ext cx="5969000" cy="835660"/>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Table 2.2 provides a comparison of exchange-rate and PPP GNI per capita for 26 countries,  eight each from Africa, Asia, and Latin America, plus the United Kingdom and United</a:t>
            </a:r>
            <a:r>
              <a:rPr dirty="0" sz="1100" spc="190">
                <a:latin typeface="Arial"/>
                <a:cs typeface="Arial"/>
              </a:rPr>
              <a:t> </a:t>
            </a:r>
            <a:r>
              <a:rPr dirty="0" sz="1100" spc="-5">
                <a:latin typeface="Arial"/>
                <a:cs typeface="Arial"/>
              </a:rPr>
              <a:t>States.</a:t>
            </a:r>
            <a:endParaRPr sz="1100">
              <a:latin typeface="Arial"/>
              <a:cs typeface="Arial"/>
            </a:endParaRPr>
          </a:p>
          <a:p>
            <a:pPr marL="12700">
              <a:lnSpc>
                <a:spcPts val="1200"/>
              </a:lnSpc>
            </a:pPr>
            <a:r>
              <a:rPr dirty="0" sz="1100" spc="-5">
                <a:latin typeface="Arial"/>
                <a:cs typeface="Arial"/>
              </a:rPr>
              <a:t>Table</a:t>
            </a:r>
            <a:r>
              <a:rPr dirty="0" sz="1100" spc="50">
                <a:latin typeface="Arial"/>
                <a:cs typeface="Arial"/>
              </a:rPr>
              <a:t> </a:t>
            </a:r>
            <a:r>
              <a:rPr dirty="0" sz="1100" spc="-5">
                <a:latin typeface="Arial"/>
                <a:cs typeface="Arial"/>
              </a:rPr>
              <a:t>2.3</a:t>
            </a:r>
            <a:r>
              <a:rPr dirty="0" sz="1100" spc="55">
                <a:latin typeface="Arial"/>
                <a:cs typeface="Arial"/>
              </a:rPr>
              <a:t> </a:t>
            </a:r>
            <a:r>
              <a:rPr dirty="0" sz="1100" spc="-5">
                <a:latin typeface="Arial"/>
                <a:cs typeface="Arial"/>
              </a:rPr>
              <a:t>broadens</a:t>
            </a:r>
            <a:r>
              <a:rPr dirty="0" sz="1100" spc="55">
                <a:latin typeface="Arial"/>
                <a:cs typeface="Arial"/>
              </a:rPr>
              <a:t> </a:t>
            </a:r>
            <a:r>
              <a:rPr dirty="0" sz="1100" spc="-5">
                <a:latin typeface="Arial"/>
                <a:cs typeface="Arial"/>
              </a:rPr>
              <a:t>these</a:t>
            </a:r>
            <a:r>
              <a:rPr dirty="0" sz="1100" spc="55">
                <a:latin typeface="Arial"/>
                <a:cs typeface="Arial"/>
              </a:rPr>
              <a:t> </a:t>
            </a:r>
            <a:r>
              <a:rPr dirty="0" sz="1100" spc="-5">
                <a:latin typeface="Arial"/>
                <a:cs typeface="Arial"/>
              </a:rPr>
              <a:t>comparisons</a:t>
            </a:r>
            <a:r>
              <a:rPr dirty="0" sz="1100" spc="55">
                <a:latin typeface="Arial"/>
                <a:cs typeface="Arial"/>
              </a:rPr>
              <a:t> </a:t>
            </a:r>
            <a:r>
              <a:rPr dirty="0" sz="1100" spc="-5">
                <a:latin typeface="Arial"/>
                <a:cs typeface="Arial"/>
              </a:rPr>
              <a:t>to</a:t>
            </a:r>
            <a:r>
              <a:rPr dirty="0" sz="1100" spc="55">
                <a:latin typeface="Arial"/>
                <a:cs typeface="Arial"/>
              </a:rPr>
              <a:t> </a:t>
            </a:r>
            <a:r>
              <a:rPr dirty="0" sz="1100" spc="-5">
                <a:latin typeface="Arial"/>
                <a:cs typeface="Arial"/>
              </a:rPr>
              <a:t>include</a:t>
            </a:r>
            <a:r>
              <a:rPr dirty="0" sz="1100" spc="50">
                <a:latin typeface="Arial"/>
                <a:cs typeface="Arial"/>
              </a:rPr>
              <a:t> </a:t>
            </a:r>
            <a:r>
              <a:rPr dirty="0" sz="1100" spc="-5">
                <a:latin typeface="Arial"/>
                <a:cs typeface="Arial"/>
              </a:rPr>
              <a:t>regions</a:t>
            </a:r>
            <a:r>
              <a:rPr dirty="0" sz="1100" spc="55">
                <a:latin typeface="Arial"/>
                <a:cs typeface="Arial"/>
              </a:rPr>
              <a:t> </a:t>
            </a:r>
            <a:r>
              <a:rPr dirty="0" sz="1100" spc="-5">
                <a:latin typeface="Arial"/>
                <a:cs typeface="Arial"/>
              </a:rPr>
              <a:t>and</a:t>
            </a:r>
            <a:r>
              <a:rPr dirty="0" sz="1100" spc="55">
                <a:latin typeface="Arial"/>
                <a:cs typeface="Arial"/>
              </a:rPr>
              <a:t> </a:t>
            </a:r>
            <a:r>
              <a:rPr dirty="0" sz="1100" spc="-5">
                <a:latin typeface="Arial"/>
                <a:cs typeface="Arial"/>
              </a:rPr>
              <a:t>income</a:t>
            </a:r>
            <a:r>
              <a:rPr dirty="0" sz="1100" spc="55">
                <a:latin typeface="Arial"/>
                <a:cs typeface="Arial"/>
              </a:rPr>
              <a:t> </a:t>
            </a:r>
            <a:r>
              <a:rPr dirty="0" sz="1100" spc="-5">
                <a:latin typeface="Arial"/>
                <a:cs typeface="Arial"/>
              </a:rPr>
              <a:t>groupings,</a:t>
            </a:r>
            <a:r>
              <a:rPr dirty="0" sz="1100" spc="55">
                <a:latin typeface="Arial"/>
                <a:cs typeface="Arial"/>
              </a:rPr>
              <a:t> </a:t>
            </a:r>
            <a:r>
              <a:rPr dirty="0" sz="1100" spc="-5">
                <a:latin typeface="Arial"/>
                <a:cs typeface="Arial"/>
              </a:rPr>
              <a:t>as</a:t>
            </a:r>
            <a:r>
              <a:rPr dirty="0" sz="1100" spc="55">
                <a:latin typeface="Arial"/>
                <a:cs typeface="Arial"/>
              </a:rPr>
              <a:t> </a:t>
            </a:r>
            <a:r>
              <a:rPr dirty="0" sz="1100" spc="-5">
                <a:latin typeface="Arial"/>
                <a:cs typeface="Arial"/>
              </a:rPr>
              <a:t>well</a:t>
            </a:r>
            <a:r>
              <a:rPr dirty="0" sz="1100" spc="50">
                <a:latin typeface="Arial"/>
                <a:cs typeface="Arial"/>
              </a:rPr>
              <a:t> </a:t>
            </a:r>
            <a:r>
              <a:rPr dirty="0" sz="1100" spc="-5">
                <a:latin typeface="Arial"/>
                <a:cs typeface="Arial"/>
              </a:rPr>
              <a:t>as</a:t>
            </a:r>
            <a:r>
              <a:rPr dirty="0" sz="1100" spc="55">
                <a:latin typeface="Arial"/>
                <a:cs typeface="Arial"/>
              </a:rPr>
              <a:t> </a:t>
            </a:r>
            <a:r>
              <a:rPr dirty="0" sz="1100">
                <a:latin typeface="Arial"/>
                <a:cs typeface="Arial"/>
              </a:rPr>
              <a:t>six</a:t>
            </a:r>
            <a:endParaRPr sz="1100">
              <a:latin typeface="Arial"/>
              <a:cs typeface="Arial"/>
            </a:endParaRPr>
          </a:p>
          <a:p>
            <a:pPr marL="12700" marR="5715">
              <a:lnSpc>
                <a:spcPts val="1260"/>
              </a:lnSpc>
              <a:spcBef>
                <a:spcPts val="65"/>
              </a:spcBef>
            </a:pPr>
            <a:r>
              <a:rPr dirty="0" sz="1100" spc="-5">
                <a:latin typeface="Arial"/>
                <a:cs typeface="Arial"/>
              </a:rPr>
              <a:t>illustrative country examples at ascending income levels, along with basic health and education  indicators.</a:t>
            </a:r>
            <a:endParaRPr sz="11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1638300" y="2914650"/>
            <a:ext cx="4541379" cy="2857500"/>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1537190" y="800100"/>
            <a:ext cx="4564852" cy="2014636"/>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1044648" y="6041647"/>
            <a:ext cx="5818540" cy="2942669"/>
          </a:xfrm>
          <a:prstGeom prst="rect">
            <a:avLst/>
          </a:prstGeom>
          <a:blipFill>
            <a:blip r:embed="rId4"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14</a:t>
            </a:r>
            <a:endParaRPr sz="1100">
              <a:latin typeface="Carlito"/>
              <a:cs typeface="Carli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69635" cy="244094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HOLISTIC MEASURES OF LIVING LEVELS AND</a:t>
            </a:r>
            <a:r>
              <a:rPr dirty="0" sz="1100" spc="45" b="1">
                <a:latin typeface="Arial"/>
                <a:cs typeface="Arial"/>
              </a:rPr>
              <a:t> </a:t>
            </a:r>
            <a:r>
              <a:rPr dirty="0" sz="1100" spc="-5" b="1">
                <a:latin typeface="Arial"/>
                <a:cs typeface="Arial"/>
              </a:rPr>
              <a:t>CAPABILITIES</a:t>
            </a:r>
            <a:endParaRPr sz="1100">
              <a:latin typeface="Arial"/>
              <a:cs typeface="Arial"/>
            </a:endParaRPr>
          </a:p>
          <a:p>
            <a:pPr>
              <a:lnSpc>
                <a:spcPct val="100000"/>
              </a:lnSpc>
              <a:spcBef>
                <a:spcPts val="5"/>
              </a:spcBef>
            </a:pPr>
            <a:endParaRPr sz="1050">
              <a:latin typeface="Arial"/>
              <a:cs typeface="Arial"/>
            </a:endParaRPr>
          </a:p>
          <a:p>
            <a:pPr marL="136525" indent="-124460">
              <a:lnSpc>
                <a:spcPct val="100000"/>
              </a:lnSpc>
              <a:buAutoNum type="romanUcParenR"/>
              <a:tabLst>
                <a:tab pos="137160" algn="l"/>
              </a:tabLst>
            </a:pPr>
            <a:r>
              <a:rPr dirty="0" sz="1100" spc="-5" b="1">
                <a:latin typeface="Arial"/>
                <a:cs typeface="Arial"/>
              </a:rPr>
              <a:t>THE TRADITIONAL </a:t>
            </a:r>
            <a:r>
              <a:rPr dirty="0" sz="1100" spc="-10" b="1">
                <a:latin typeface="Arial"/>
                <a:cs typeface="Arial"/>
              </a:rPr>
              <a:t>HUMAN </a:t>
            </a:r>
            <a:r>
              <a:rPr dirty="0" sz="1100" spc="-5" b="1">
                <a:latin typeface="Arial"/>
                <a:cs typeface="Arial"/>
              </a:rPr>
              <a:t>DEVELOPMENT</a:t>
            </a:r>
            <a:r>
              <a:rPr dirty="0" sz="1100" spc="25" b="1">
                <a:latin typeface="Arial"/>
                <a:cs typeface="Arial"/>
              </a:rPr>
              <a:t> </a:t>
            </a:r>
            <a:r>
              <a:rPr dirty="0" sz="1100" spc="-5" b="1">
                <a:latin typeface="Arial"/>
                <a:cs typeface="Arial"/>
              </a:rPr>
              <a:t>INDEX</a:t>
            </a:r>
            <a:endParaRPr sz="1100">
              <a:latin typeface="Arial"/>
              <a:cs typeface="Arial"/>
            </a:endParaRPr>
          </a:p>
          <a:p>
            <a:pPr>
              <a:lnSpc>
                <a:spcPct val="100000"/>
              </a:lnSpc>
              <a:spcBef>
                <a:spcPts val="20"/>
              </a:spcBef>
              <a:buFont typeface="Arial"/>
              <a:buAutoNum type="romanUcParenR"/>
            </a:pPr>
            <a:endParaRPr sz="1100">
              <a:latin typeface="Arial"/>
              <a:cs typeface="Arial"/>
            </a:endParaRPr>
          </a:p>
          <a:p>
            <a:pPr algn="just" marL="12700" marR="6985">
              <a:lnSpc>
                <a:spcPts val="1270"/>
              </a:lnSpc>
            </a:pPr>
            <a:r>
              <a:rPr dirty="0" sz="1100" spc="-5">
                <a:latin typeface="Arial"/>
                <a:cs typeface="Arial"/>
              </a:rPr>
              <a:t>The most widely used measure of the comparative status of socioeconomic development is  presented by the United Nations Development Program (UNDP) i.e. Human development Index  (HDI).</a:t>
            </a:r>
            <a:endParaRPr sz="1100">
              <a:latin typeface="Arial"/>
              <a:cs typeface="Arial"/>
            </a:endParaRPr>
          </a:p>
          <a:p>
            <a:pPr>
              <a:lnSpc>
                <a:spcPct val="100000"/>
              </a:lnSpc>
              <a:spcBef>
                <a:spcPts val="55"/>
              </a:spcBef>
            </a:pPr>
            <a:endParaRPr sz="1050">
              <a:latin typeface="Arial"/>
              <a:cs typeface="Arial"/>
            </a:endParaRPr>
          </a:p>
          <a:p>
            <a:pPr algn="just" marL="12700" marR="5080">
              <a:lnSpc>
                <a:spcPts val="1260"/>
              </a:lnSpc>
            </a:pPr>
            <a:r>
              <a:rPr dirty="0" sz="1100" spc="-5" b="1">
                <a:latin typeface="Arial"/>
                <a:cs typeface="Arial"/>
              </a:rPr>
              <a:t>Human Development Index (HDI): </a:t>
            </a:r>
            <a:r>
              <a:rPr dirty="0" sz="1100" spc="-5">
                <a:latin typeface="Arial"/>
                <a:cs typeface="Arial"/>
              </a:rPr>
              <a:t>An index measuring national socioeconomic development,  based on combining measures of education, health, and adjusted real income per</a:t>
            </a:r>
            <a:r>
              <a:rPr dirty="0" sz="1100" spc="140">
                <a:latin typeface="Arial"/>
                <a:cs typeface="Arial"/>
              </a:rPr>
              <a:t> </a:t>
            </a:r>
            <a:r>
              <a:rPr dirty="0" sz="1100" spc="-5">
                <a:latin typeface="Arial"/>
                <a:cs typeface="Arial"/>
              </a:rPr>
              <a:t>capita.</a:t>
            </a:r>
            <a:endParaRPr sz="1100">
              <a:latin typeface="Arial"/>
              <a:cs typeface="Arial"/>
            </a:endParaRPr>
          </a:p>
          <a:p>
            <a:pPr>
              <a:lnSpc>
                <a:spcPct val="100000"/>
              </a:lnSpc>
            </a:pPr>
            <a:endParaRPr sz="1100">
              <a:latin typeface="Arial"/>
              <a:cs typeface="Arial"/>
            </a:endParaRPr>
          </a:p>
          <a:p>
            <a:pPr algn="just" marL="12700" marR="5080">
              <a:lnSpc>
                <a:spcPts val="1270"/>
              </a:lnSpc>
            </a:pPr>
            <a:r>
              <a:rPr dirty="0" sz="1100" spc="-5">
                <a:latin typeface="Arial"/>
                <a:cs typeface="Arial"/>
              </a:rPr>
              <a:t>The HDI attempts to rank all countries on a </a:t>
            </a:r>
            <a:r>
              <a:rPr dirty="0" sz="1100">
                <a:latin typeface="Arial"/>
                <a:cs typeface="Arial"/>
              </a:rPr>
              <a:t>scale </a:t>
            </a:r>
            <a:r>
              <a:rPr dirty="0" sz="1100" spc="-5">
                <a:latin typeface="Arial"/>
                <a:cs typeface="Arial"/>
              </a:rPr>
              <a:t>of 0 (lowest human development) </a:t>
            </a:r>
            <a:r>
              <a:rPr dirty="0" sz="1100">
                <a:latin typeface="Arial"/>
                <a:cs typeface="Arial"/>
              </a:rPr>
              <a:t>to </a:t>
            </a:r>
            <a:r>
              <a:rPr dirty="0" sz="1100" spc="-5">
                <a:latin typeface="Arial"/>
                <a:cs typeface="Arial"/>
              </a:rPr>
              <a:t>1 (highest  human development) based on three goals or end products of</a:t>
            </a:r>
            <a:r>
              <a:rPr dirty="0" sz="1100" spc="70">
                <a:latin typeface="Arial"/>
                <a:cs typeface="Arial"/>
              </a:rPr>
              <a:t> </a:t>
            </a:r>
            <a:r>
              <a:rPr dirty="0" sz="1100" spc="-5">
                <a:latin typeface="Arial"/>
                <a:cs typeface="Arial"/>
              </a:rPr>
              <a:t>development.</a:t>
            </a:r>
            <a:endParaRPr sz="1100">
              <a:latin typeface="Arial"/>
              <a:cs typeface="Arial"/>
            </a:endParaRPr>
          </a:p>
          <a:p>
            <a:pPr>
              <a:lnSpc>
                <a:spcPct val="100000"/>
              </a:lnSpc>
              <a:spcBef>
                <a:spcPts val="15"/>
              </a:spcBef>
            </a:pPr>
            <a:endParaRPr sz="1000">
              <a:latin typeface="Arial"/>
              <a:cs typeface="Arial"/>
            </a:endParaRPr>
          </a:p>
          <a:p>
            <a:pPr lvl="1" marL="469265" indent="-229235">
              <a:lnSpc>
                <a:spcPct val="100000"/>
              </a:lnSpc>
              <a:buFont typeface="Arial"/>
              <a:buAutoNum type="arabicPeriod"/>
              <a:tabLst>
                <a:tab pos="469900" algn="l"/>
              </a:tabLst>
            </a:pPr>
            <a:r>
              <a:rPr dirty="0" sz="1100" spc="-5">
                <a:latin typeface="Arial"/>
                <a:cs typeface="Arial"/>
              </a:rPr>
              <a:t>Longevity </a:t>
            </a:r>
            <a:r>
              <a:rPr dirty="0" sz="1100">
                <a:latin typeface="Arial"/>
                <a:cs typeface="Arial"/>
              </a:rPr>
              <a:t>as </a:t>
            </a:r>
            <a:r>
              <a:rPr dirty="0" sz="1100" spc="-5">
                <a:latin typeface="Arial"/>
                <a:cs typeface="Arial"/>
              </a:rPr>
              <a:t>measured by </a:t>
            </a:r>
            <a:r>
              <a:rPr dirty="0" sz="1100" spc="-5" b="1">
                <a:latin typeface="Arial"/>
                <a:cs typeface="Arial"/>
              </a:rPr>
              <a:t>life expectancy </a:t>
            </a:r>
            <a:r>
              <a:rPr dirty="0" sz="1100" spc="-5">
                <a:latin typeface="Arial"/>
                <a:cs typeface="Arial"/>
              </a:rPr>
              <a:t>at</a:t>
            </a:r>
            <a:r>
              <a:rPr dirty="0" sz="1100" spc="25">
                <a:latin typeface="Arial"/>
                <a:cs typeface="Arial"/>
              </a:rPr>
              <a:t> </a:t>
            </a:r>
            <a:r>
              <a:rPr dirty="0" sz="1100" spc="-5">
                <a:latin typeface="Arial"/>
                <a:cs typeface="Arial"/>
              </a:rPr>
              <a:t>birth.</a:t>
            </a:r>
            <a:endParaRPr sz="1100">
              <a:latin typeface="Arial"/>
              <a:cs typeface="Arial"/>
            </a:endParaRPr>
          </a:p>
        </p:txBody>
      </p:sp>
      <p:sp>
        <p:nvSpPr>
          <p:cNvPr id="7" name="object 7"/>
          <p:cNvSpPr/>
          <p:nvPr/>
        </p:nvSpPr>
        <p:spPr>
          <a:xfrm>
            <a:off x="1371600" y="3323844"/>
            <a:ext cx="3076194" cy="295655"/>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1130307" y="3757680"/>
            <a:ext cx="5739765" cy="353060"/>
          </a:xfrm>
          <a:prstGeom prst="rect">
            <a:avLst/>
          </a:prstGeom>
        </p:spPr>
        <p:txBody>
          <a:bodyPr wrap="square" lIns="0" tIns="24130" rIns="0" bIns="0" rtlCol="0" vert="horz">
            <a:spAutoFit/>
          </a:bodyPr>
          <a:lstStyle/>
          <a:p>
            <a:pPr marL="240665" marR="5080" indent="-228600">
              <a:lnSpc>
                <a:spcPts val="1260"/>
              </a:lnSpc>
              <a:spcBef>
                <a:spcPts val="190"/>
              </a:spcBef>
            </a:pPr>
            <a:r>
              <a:rPr dirty="0" sz="1100" spc="-5" b="1">
                <a:latin typeface="Arial"/>
                <a:cs typeface="Arial"/>
              </a:rPr>
              <a:t>2. </a:t>
            </a:r>
            <a:r>
              <a:rPr dirty="0" sz="1100" spc="-5">
                <a:latin typeface="Arial"/>
                <a:cs typeface="Arial"/>
              </a:rPr>
              <a:t>Knowledge as measured by a weighted average of adult literacy (two-thirds) and gross  school enrollment ratio (one</a:t>
            </a:r>
            <a:r>
              <a:rPr dirty="0" sz="1100" spc="15">
                <a:latin typeface="Arial"/>
                <a:cs typeface="Arial"/>
              </a:rPr>
              <a:t> </a:t>
            </a:r>
            <a:r>
              <a:rPr dirty="0" sz="1100" spc="-5">
                <a:latin typeface="Arial"/>
                <a:cs typeface="Arial"/>
              </a:rPr>
              <a:t>third).</a:t>
            </a:r>
            <a:endParaRPr sz="1100">
              <a:latin typeface="Arial"/>
              <a:cs typeface="Arial"/>
            </a:endParaRPr>
          </a:p>
        </p:txBody>
      </p:sp>
      <p:sp>
        <p:nvSpPr>
          <p:cNvPr id="9" name="object 9"/>
          <p:cNvSpPr/>
          <p:nvPr/>
        </p:nvSpPr>
        <p:spPr>
          <a:xfrm>
            <a:off x="1143000" y="4261865"/>
            <a:ext cx="4447794" cy="285750"/>
          </a:xfrm>
          <a:prstGeom prst="rect">
            <a:avLst/>
          </a:prstGeom>
          <a:blipFill>
            <a:blip r:embed="rId3" cstate="print"/>
            <a:stretch>
              <a:fillRect/>
            </a:stretch>
          </a:blipFill>
        </p:spPr>
        <p:txBody>
          <a:bodyPr wrap="square" lIns="0" tIns="0" rIns="0" bIns="0" rtlCol="0"/>
          <a:lstStyle/>
          <a:p/>
        </p:txBody>
      </p:sp>
      <p:sp>
        <p:nvSpPr>
          <p:cNvPr id="10" name="object 10"/>
          <p:cNvSpPr txBox="1"/>
          <p:nvPr/>
        </p:nvSpPr>
        <p:spPr>
          <a:xfrm>
            <a:off x="1130296" y="4685796"/>
            <a:ext cx="5740400" cy="513715"/>
          </a:xfrm>
          <a:prstGeom prst="rect">
            <a:avLst/>
          </a:prstGeom>
        </p:spPr>
        <p:txBody>
          <a:bodyPr wrap="square" lIns="0" tIns="19685" rIns="0" bIns="0" rtlCol="0" vert="horz">
            <a:spAutoFit/>
          </a:bodyPr>
          <a:lstStyle/>
          <a:p>
            <a:pPr algn="just" marL="240665" marR="5080" indent="-228600">
              <a:lnSpc>
                <a:spcPct val="95700"/>
              </a:lnSpc>
              <a:spcBef>
                <a:spcPts val="155"/>
              </a:spcBef>
            </a:pPr>
            <a:r>
              <a:rPr dirty="0" sz="1100" spc="-5" b="1">
                <a:latin typeface="Arial"/>
                <a:cs typeface="Arial"/>
              </a:rPr>
              <a:t>3. </a:t>
            </a:r>
            <a:r>
              <a:rPr dirty="0" sz="1100" spc="-5">
                <a:latin typeface="Arial"/>
                <a:cs typeface="Arial"/>
              </a:rPr>
              <a:t>Standard of living as measured by real per capita gross domestic product adjusted for  the differing purchasing power </a:t>
            </a:r>
            <a:r>
              <a:rPr dirty="0" sz="1100">
                <a:latin typeface="Arial"/>
                <a:cs typeface="Arial"/>
              </a:rPr>
              <a:t>parity </a:t>
            </a:r>
            <a:r>
              <a:rPr dirty="0" sz="1100" spc="-5">
                <a:latin typeface="Arial"/>
                <a:cs typeface="Arial"/>
              </a:rPr>
              <a:t>of each country’s currency to reflect cost of living  and for the assumption of </a:t>
            </a:r>
            <a:r>
              <a:rPr dirty="0" sz="1100" spc="-5" b="1">
                <a:latin typeface="Arial"/>
                <a:cs typeface="Arial"/>
              </a:rPr>
              <a:t>diminishing marginal utility </a:t>
            </a:r>
            <a:r>
              <a:rPr dirty="0" sz="1100" spc="-5">
                <a:latin typeface="Arial"/>
                <a:cs typeface="Arial"/>
              </a:rPr>
              <a:t>of</a:t>
            </a:r>
            <a:r>
              <a:rPr dirty="0" sz="1100" spc="35">
                <a:latin typeface="Arial"/>
                <a:cs typeface="Arial"/>
              </a:rPr>
              <a:t> </a:t>
            </a:r>
            <a:r>
              <a:rPr dirty="0" sz="1100" spc="-5">
                <a:latin typeface="Arial"/>
                <a:cs typeface="Arial"/>
              </a:rPr>
              <a:t>income.</a:t>
            </a:r>
            <a:endParaRPr sz="1100">
              <a:latin typeface="Arial"/>
              <a:cs typeface="Arial"/>
            </a:endParaRPr>
          </a:p>
        </p:txBody>
      </p:sp>
      <p:grpSp>
        <p:nvGrpSpPr>
          <p:cNvPr id="11" name="object 11"/>
          <p:cNvGrpSpPr/>
          <p:nvPr/>
        </p:nvGrpSpPr>
        <p:grpSpPr>
          <a:xfrm>
            <a:off x="1371600" y="5351526"/>
            <a:ext cx="3286125" cy="334645"/>
            <a:chOff x="1371600" y="5351526"/>
            <a:chExt cx="3286125" cy="334645"/>
          </a:xfrm>
        </p:grpSpPr>
        <p:sp>
          <p:nvSpPr>
            <p:cNvPr id="12" name="object 12"/>
            <p:cNvSpPr/>
            <p:nvPr/>
          </p:nvSpPr>
          <p:spPr>
            <a:xfrm>
              <a:off x="1371600" y="5351526"/>
              <a:ext cx="3285744" cy="332994"/>
            </a:xfrm>
            <a:prstGeom prst="rect">
              <a:avLst/>
            </a:prstGeom>
            <a:blipFill>
              <a:blip r:embed="rId4" cstate="print"/>
              <a:stretch>
                <a:fillRect/>
              </a:stretch>
            </a:blipFill>
          </p:spPr>
          <p:txBody>
            <a:bodyPr wrap="square" lIns="0" tIns="0" rIns="0" bIns="0" rtlCol="0"/>
            <a:lstStyle/>
            <a:p/>
          </p:txBody>
        </p:sp>
        <p:sp>
          <p:nvSpPr>
            <p:cNvPr id="13" name="object 13"/>
            <p:cNvSpPr/>
            <p:nvPr/>
          </p:nvSpPr>
          <p:spPr>
            <a:xfrm>
              <a:off x="4590288" y="5681091"/>
              <a:ext cx="45720" cy="0"/>
            </a:xfrm>
            <a:custGeom>
              <a:avLst/>
              <a:gdLst/>
              <a:ahLst/>
              <a:cxnLst/>
              <a:rect l="l" t="t" r="r" b="b"/>
              <a:pathLst>
                <a:path w="45720" h="0">
                  <a:moveTo>
                    <a:pt x="0" y="0"/>
                  </a:moveTo>
                  <a:lnTo>
                    <a:pt x="45720" y="0"/>
                  </a:lnTo>
                </a:path>
              </a:pathLst>
            </a:custGeom>
            <a:ln w="9905">
              <a:solidFill>
                <a:srgbClr val="000000"/>
              </a:solidFill>
            </a:ln>
          </p:spPr>
          <p:txBody>
            <a:bodyPr wrap="square" lIns="0" tIns="0" rIns="0" bIns="0" rtlCol="0"/>
            <a:lstStyle/>
            <a:p/>
          </p:txBody>
        </p:sp>
      </p:grpSp>
      <p:sp>
        <p:nvSpPr>
          <p:cNvPr id="14" name="object 14"/>
          <p:cNvSpPr txBox="1"/>
          <p:nvPr/>
        </p:nvSpPr>
        <p:spPr>
          <a:xfrm>
            <a:off x="901704" y="5982700"/>
            <a:ext cx="5970270" cy="1317625"/>
          </a:xfrm>
          <a:prstGeom prst="rect">
            <a:avLst/>
          </a:prstGeom>
        </p:spPr>
        <p:txBody>
          <a:bodyPr wrap="square" lIns="0" tIns="22860" rIns="0" bIns="0" rtlCol="0" vert="horz">
            <a:spAutoFit/>
          </a:bodyPr>
          <a:lstStyle/>
          <a:p>
            <a:pPr algn="just" marL="12700" marR="6350">
              <a:lnSpc>
                <a:spcPts val="1270"/>
              </a:lnSpc>
              <a:spcBef>
                <a:spcPts val="180"/>
              </a:spcBef>
            </a:pPr>
            <a:r>
              <a:rPr dirty="0" sz="1100" spc="-5" b="1">
                <a:latin typeface="Arial"/>
                <a:cs typeface="Arial"/>
              </a:rPr>
              <a:t>Diminishing Marginal Utility: </a:t>
            </a:r>
            <a:r>
              <a:rPr dirty="0" sz="1100" spc="-5">
                <a:latin typeface="Arial"/>
                <a:cs typeface="Arial"/>
              </a:rPr>
              <a:t>The concept that the subjective value of additional consumption  lessens as total consumption becomes</a:t>
            </a:r>
            <a:r>
              <a:rPr dirty="0" sz="1100" spc="15">
                <a:latin typeface="Arial"/>
                <a:cs typeface="Arial"/>
              </a:rPr>
              <a:t> </a:t>
            </a:r>
            <a:r>
              <a:rPr dirty="0" sz="1100" spc="-5">
                <a:latin typeface="Arial"/>
                <a:cs typeface="Arial"/>
              </a:rPr>
              <a:t>higher.</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spcBef>
                <a:spcPts val="5"/>
              </a:spcBef>
            </a:pPr>
            <a:r>
              <a:rPr dirty="0" sz="1100" spc="-5">
                <a:latin typeface="Arial"/>
                <a:cs typeface="Arial"/>
              </a:rPr>
              <a:t>Using these three measures of development </a:t>
            </a:r>
            <a:r>
              <a:rPr dirty="0" sz="1100">
                <a:latin typeface="Arial"/>
                <a:cs typeface="Arial"/>
              </a:rPr>
              <a:t>and </a:t>
            </a:r>
            <a:r>
              <a:rPr dirty="0" sz="1100" spc="-5">
                <a:latin typeface="Arial"/>
                <a:cs typeface="Arial"/>
              </a:rPr>
              <a:t>applying a formula to data for </a:t>
            </a:r>
            <a:r>
              <a:rPr dirty="0" sz="1100">
                <a:latin typeface="Arial"/>
                <a:cs typeface="Arial"/>
              </a:rPr>
              <a:t>177 </a:t>
            </a:r>
            <a:r>
              <a:rPr dirty="0" sz="1100" spc="-5">
                <a:latin typeface="Arial"/>
                <a:cs typeface="Arial"/>
              </a:rPr>
              <a:t>countries,  the HDI </a:t>
            </a:r>
            <a:r>
              <a:rPr dirty="0" sz="1100">
                <a:latin typeface="Arial"/>
                <a:cs typeface="Arial"/>
              </a:rPr>
              <a:t>ranks </a:t>
            </a:r>
            <a:r>
              <a:rPr dirty="0" sz="1100" spc="-5">
                <a:latin typeface="Arial"/>
                <a:cs typeface="Arial"/>
              </a:rPr>
              <a:t>countries into four groups: low human development (0.0 to 0.499), medium  human development (0.50 to 0.799), high human development (0.80 to 0.90), and very </a:t>
            </a:r>
            <a:r>
              <a:rPr dirty="0" sz="1100">
                <a:latin typeface="Arial"/>
                <a:cs typeface="Arial"/>
              </a:rPr>
              <a:t>high  </a:t>
            </a:r>
            <a:r>
              <a:rPr dirty="0" sz="1100" spc="-5">
                <a:latin typeface="Arial"/>
                <a:cs typeface="Arial"/>
              </a:rPr>
              <a:t>human development (0.90 to</a:t>
            </a:r>
            <a:r>
              <a:rPr dirty="0" sz="1100" spc="15">
                <a:latin typeface="Arial"/>
                <a:cs typeface="Arial"/>
              </a:rPr>
              <a:t> </a:t>
            </a:r>
            <a:r>
              <a:rPr dirty="0" sz="1100" spc="-5">
                <a:latin typeface="Arial"/>
                <a:cs typeface="Arial"/>
              </a:rPr>
              <a:t>1.0).</a:t>
            </a:r>
            <a:endParaRPr sz="1100">
              <a:latin typeface="Arial"/>
              <a:cs typeface="Arial"/>
            </a:endParaRPr>
          </a:p>
          <a:p>
            <a:pPr algn="just" marL="12700">
              <a:lnSpc>
                <a:spcPts val="1265"/>
              </a:lnSpc>
            </a:pPr>
            <a:r>
              <a:rPr dirty="0" sz="1100" spc="-5">
                <a:latin typeface="Arial"/>
                <a:cs typeface="Arial"/>
              </a:rPr>
              <a:t>In the final index, each of the three components receives equal, or one-third, weight.</a:t>
            </a:r>
            <a:r>
              <a:rPr dirty="0" sz="1100" spc="160">
                <a:latin typeface="Arial"/>
                <a:cs typeface="Arial"/>
              </a:rPr>
              <a:t> </a:t>
            </a:r>
            <a:r>
              <a:rPr dirty="0" sz="1100" spc="-5">
                <a:latin typeface="Arial"/>
                <a:cs typeface="Arial"/>
              </a:rPr>
              <a:t>Thus</a:t>
            </a:r>
            <a:endParaRPr sz="1100">
              <a:latin typeface="Arial"/>
              <a:cs typeface="Arial"/>
            </a:endParaRPr>
          </a:p>
        </p:txBody>
      </p:sp>
      <p:sp>
        <p:nvSpPr>
          <p:cNvPr id="15" name="object 15"/>
          <p:cNvSpPr/>
          <p:nvPr/>
        </p:nvSpPr>
        <p:spPr>
          <a:xfrm>
            <a:off x="914400" y="7290054"/>
            <a:ext cx="4818888" cy="314706"/>
          </a:xfrm>
          <a:prstGeom prst="rect">
            <a:avLst/>
          </a:prstGeom>
          <a:blipFill>
            <a:blip r:embed="rId5" cstate="print"/>
            <a:stretch>
              <a:fillRect/>
            </a:stretch>
          </a:blipFill>
        </p:spPr>
        <p:txBody>
          <a:bodyPr wrap="square" lIns="0" tIns="0" rIns="0" bIns="0" rtlCol="0"/>
          <a:lstStyle/>
          <a:p/>
        </p:txBody>
      </p:sp>
      <p:sp>
        <p:nvSpPr>
          <p:cNvPr id="16" name="object 16"/>
          <p:cNvSpPr txBox="1"/>
          <p:nvPr/>
        </p:nvSpPr>
        <p:spPr>
          <a:xfrm>
            <a:off x="901696" y="7743693"/>
            <a:ext cx="5969000" cy="117538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ADVANTAGES OF</a:t>
            </a:r>
            <a:r>
              <a:rPr dirty="0" sz="1100" spc="5" b="1">
                <a:latin typeface="Arial"/>
                <a:cs typeface="Arial"/>
              </a:rPr>
              <a:t> </a:t>
            </a:r>
            <a:r>
              <a:rPr dirty="0" sz="1100" spc="-5" b="1">
                <a:latin typeface="Arial"/>
                <a:cs typeface="Arial"/>
              </a:rPr>
              <a:t>HDI</a:t>
            </a:r>
            <a:endParaRPr sz="1100">
              <a:latin typeface="Arial"/>
              <a:cs typeface="Arial"/>
            </a:endParaRPr>
          </a:p>
          <a:p>
            <a:pPr>
              <a:lnSpc>
                <a:spcPct val="100000"/>
              </a:lnSpc>
              <a:spcBef>
                <a:spcPts val="20"/>
              </a:spcBef>
            </a:pPr>
            <a:endParaRPr sz="1150">
              <a:latin typeface="Arial"/>
              <a:cs typeface="Arial"/>
            </a:endParaRPr>
          </a:p>
          <a:p>
            <a:pPr algn="just" marL="469265" marR="5080" indent="-228600">
              <a:lnSpc>
                <a:spcPct val="95700"/>
              </a:lnSpc>
              <a:buFont typeface="Symbol"/>
              <a:buChar char=""/>
              <a:tabLst>
                <a:tab pos="470534" algn="l"/>
              </a:tabLst>
            </a:pPr>
            <a:r>
              <a:rPr dirty="0" sz="1100" spc="-5">
                <a:latin typeface="Arial"/>
                <a:cs typeface="Arial"/>
              </a:rPr>
              <a:t>One major advantage of the HDI is that it does reveal that a country can do much better  than might be expected at a low level of income and that substantial income gains can  still accomplish relatively little in human</a:t>
            </a:r>
            <a:r>
              <a:rPr dirty="0" sz="1100" spc="25">
                <a:latin typeface="Arial"/>
                <a:cs typeface="Arial"/>
              </a:rPr>
              <a:t> </a:t>
            </a:r>
            <a:r>
              <a:rPr dirty="0" sz="1100" spc="-5">
                <a:latin typeface="Arial"/>
                <a:cs typeface="Arial"/>
              </a:rPr>
              <a:t>development.</a:t>
            </a:r>
            <a:endParaRPr sz="1100">
              <a:latin typeface="Arial"/>
              <a:cs typeface="Arial"/>
            </a:endParaRPr>
          </a:p>
          <a:p>
            <a:pPr algn="just" marL="469265" marR="5715" indent="-228600">
              <a:lnSpc>
                <a:spcPts val="1270"/>
              </a:lnSpc>
              <a:spcBef>
                <a:spcPts val="100"/>
              </a:spcBef>
              <a:buFont typeface="Symbol"/>
              <a:buChar char=""/>
              <a:tabLst>
                <a:tab pos="470534" algn="l"/>
              </a:tabLst>
            </a:pPr>
            <a:r>
              <a:rPr dirty="0" sz="1100" spc="-5">
                <a:latin typeface="Arial"/>
                <a:cs typeface="Arial"/>
              </a:rPr>
              <a:t>The HDI points up that, disparities in income are greater than disparities in other  indicators of development, at least health and</a:t>
            </a:r>
            <a:r>
              <a:rPr dirty="0" sz="1100" spc="30">
                <a:latin typeface="Arial"/>
                <a:cs typeface="Arial"/>
              </a:rPr>
              <a:t> </a:t>
            </a:r>
            <a:r>
              <a:rPr dirty="0" sz="1100" spc="-5">
                <a:latin typeface="Arial"/>
                <a:cs typeface="Arial"/>
              </a:rPr>
              <a:t>education.</a:t>
            </a:r>
            <a:endParaRPr sz="1100">
              <a:latin typeface="Arial"/>
              <a:cs typeface="Arial"/>
            </a:endParaRPr>
          </a:p>
        </p:txBody>
      </p:sp>
      <p:sp>
        <p:nvSpPr>
          <p:cNvPr id="17" name="object 1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8" name="object 1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15</a:t>
            </a:r>
            <a:endParaRPr sz="1100">
              <a:latin typeface="Carlito"/>
              <a:cs typeface="Carl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70905" cy="8091805"/>
          </a:xfrm>
          <a:prstGeom prst="rect">
            <a:avLst/>
          </a:prstGeom>
        </p:spPr>
        <p:txBody>
          <a:bodyPr wrap="square" lIns="0" tIns="24130" rIns="0" bIns="0" rtlCol="0" vert="horz">
            <a:spAutoFit/>
          </a:bodyPr>
          <a:lstStyle/>
          <a:p>
            <a:pPr algn="just" marL="469900" marR="8255" indent="-228600">
              <a:lnSpc>
                <a:spcPts val="1260"/>
              </a:lnSpc>
              <a:spcBef>
                <a:spcPts val="190"/>
              </a:spcBef>
              <a:buFont typeface="Symbol"/>
              <a:buChar char=""/>
              <a:tabLst>
                <a:tab pos="470534" algn="l"/>
              </a:tabLst>
            </a:pPr>
            <a:r>
              <a:rPr dirty="0" sz="1100" spc="-5">
                <a:latin typeface="Arial"/>
                <a:cs typeface="Arial"/>
              </a:rPr>
              <a:t>The HDI reminds us that by development we clearly mean broad human development,  not just higher</a:t>
            </a:r>
            <a:r>
              <a:rPr dirty="0" sz="1100" spc="5">
                <a:latin typeface="Arial"/>
                <a:cs typeface="Arial"/>
              </a:rPr>
              <a:t> </a:t>
            </a:r>
            <a:r>
              <a:rPr dirty="0" sz="1100" spc="-5">
                <a:latin typeface="Arial"/>
                <a:cs typeface="Arial"/>
              </a:rPr>
              <a:t>income.</a:t>
            </a:r>
            <a:endParaRPr sz="1100">
              <a:latin typeface="Arial"/>
              <a:cs typeface="Arial"/>
            </a:endParaRPr>
          </a:p>
          <a:p>
            <a:pPr>
              <a:lnSpc>
                <a:spcPct val="100000"/>
              </a:lnSpc>
              <a:spcBef>
                <a:spcPts val="35"/>
              </a:spcBef>
              <a:buFont typeface="Symbol"/>
              <a:buChar char=""/>
            </a:pPr>
            <a:endParaRPr sz="1000">
              <a:latin typeface="Arial"/>
              <a:cs typeface="Arial"/>
            </a:endParaRPr>
          </a:p>
          <a:p>
            <a:pPr algn="just" marL="12700">
              <a:lnSpc>
                <a:spcPct val="100000"/>
              </a:lnSpc>
            </a:pPr>
            <a:r>
              <a:rPr dirty="0" sz="1100" spc="-5" b="1">
                <a:latin typeface="Arial"/>
                <a:cs typeface="Arial"/>
              </a:rPr>
              <a:t>DRAWBACKS OF</a:t>
            </a:r>
            <a:r>
              <a:rPr dirty="0" sz="1100" b="1">
                <a:latin typeface="Arial"/>
                <a:cs typeface="Arial"/>
              </a:rPr>
              <a:t> </a:t>
            </a:r>
            <a:r>
              <a:rPr dirty="0" sz="1100" spc="-10" b="1">
                <a:latin typeface="Arial"/>
                <a:cs typeface="Arial"/>
              </a:rPr>
              <a:t>HDI</a:t>
            </a:r>
            <a:endParaRPr sz="1100">
              <a:latin typeface="Arial"/>
              <a:cs typeface="Arial"/>
            </a:endParaRPr>
          </a:p>
          <a:p>
            <a:pPr>
              <a:lnSpc>
                <a:spcPct val="100000"/>
              </a:lnSpc>
              <a:spcBef>
                <a:spcPts val="10"/>
              </a:spcBef>
            </a:pPr>
            <a:endParaRPr sz="1150">
              <a:latin typeface="Arial"/>
              <a:cs typeface="Arial"/>
            </a:endParaRPr>
          </a:p>
          <a:p>
            <a:pPr algn="just" marL="469900" marR="6985" indent="-229235">
              <a:lnSpc>
                <a:spcPct val="95700"/>
              </a:lnSpc>
              <a:buFont typeface="Symbol"/>
              <a:buChar char=""/>
              <a:tabLst>
                <a:tab pos="470534" algn="l"/>
              </a:tabLst>
            </a:pPr>
            <a:r>
              <a:rPr dirty="0" sz="1100" spc="-5">
                <a:latin typeface="Arial"/>
                <a:cs typeface="Arial"/>
              </a:rPr>
              <a:t>Gross enrollment in many cases overstates the amount of schooling because in </a:t>
            </a:r>
            <a:r>
              <a:rPr dirty="0" sz="1100">
                <a:latin typeface="Arial"/>
                <a:cs typeface="Arial"/>
              </a:rPr>
              <a:t>many  </a:t>
            </a:r>
            <a:r>
              <a:rPr dirty="0" sz="1100" spc="-5">
                <a:latin typeface="Arial"/>
                <a:cs typeface="Arial"/>
              </a:rPr>
              <a:t>countries a student who begins primary school is counted as enrolled without  considering whether the student drops out at some</a:t>
            </a:r>
            <a:r>
              <a:rPr dirty="0" sz="1100" spc="40">
                <a:latin typeface="Arial"/>
                <a:cs typeface="Arial"/>
              </a:rPr>
              <a:t> </a:t>
            </a:r>
            <a:r>
              <a:rPr dirty="0" sz="1100" spc="-5">
                <a:latin typeface="Arial"/>
                <a:cs typeface="Arial"/>
              </a:rPr>
              <a:t>stage.</a:t>
            </a:r>
            <a:endParaRPr sz="1100">
              <a:latin typeface="Arial"/>
              <a:cs typeface="Arial"/>
            </a:endParaRPr>
          </a:p>
          <a:p>
            <a:pPr algn="just" marL="469900" marR="6985" indent="-228600">
              <a:lnSpc>
                <a:spcPct val="95800"/>
              </a:lnSpc>
              <a:spcBef>
                <a:spcPts val="80"/>
              </a:spcBef>
              <a:buFont typeface="Symbol"/>
              <a:buChar char=""/>
              <a:tabLst>
                <a:tab pos="470534" algn="l"/>
              </a:tabLst>
            </a:pPr>
            <a:r>
              <a:rPr dirty="0" sz="1100" spc="-5">
                <a:latin typeface="Arial"/>
                <a:cs typeface="Arial"/>
              </a:rPr>
              <a:t>Equal (one third) weight is given to each of </a:t>
            </a:r>
            <a:r>
              <a:rPr dirty="0" sz="1100">
                <a:latin typeface="Arial"/>
                <a:cs typeface="Arial"/>
              </a:rPr>
              <a:t>the </a:t>
            </a:r>
            <a:r>
              <a:rPr dirty="0" sz="1100" spc="-5">
                <a:latin typeface="Arial"/>
                <a:cs typeface="Arial"/>
              </a:rPr>
              <a:t>three components, which clearly has  some value judgment behind it, but it is difficult to determine what this is. Note that  because the variables are measured in very different types of units, it is difficult even to  say precisely what </a:t>
            </a:r>
            <a:r>
              <a:rPr dirty="0" sz="1100">
                <a:latin typeface="Arial"/>
                <a:cs typeface="Arial"/>
              </a:rPr>
              <a:t>equal </a:t>
            </a:r>
            <a:r>
              <a:rPr dirty="0" sz="1100" spc="-5">
                <a:latin typeface="Arial"/>
                <a:cs typeface="Arial"/>
              </a:rPr>
              <a:t>weights</a:t>
            </a:r>
            <a:r>
              <a:rPr dirty="0" sz="1100" spc="15">
                <a:latin typeface="Arial"/>
                <a:cs typeface="Arial"/>
              </a:rPr>
              <a:t> </a:t>
            </a:r>
            <a:r>
              <a:rPr dirty="0" sz="1100" spc="-5">
                <a:latin typeface="Arial"/>
                <a:cs typeface="Arial"/>
              </a:rPr>
              <a:t>mean.</a:t>
            </a:r>
            <a:endParaRPr sz="1100">
              <a:latin typeface="Arial"/>
              <a:cs typeface="Arial"/>
            </a:endParaRPr>
          </a:p>
          <a:p>
            <a:pPr algn="just" marL="469900" marR="6985" indent="-228600">
              <a:lnSpc>
                <a:spcPts val="1260"/>
              </a:lnSpc>
              <a:spcBef>
                <a:spcPts val="114"/>
              </a:spcBef>
              <a:buFont typeface="Symbol"/>
              <a:buChar char=""/>
              <a:tabLst>
                <a:tab pos="470534" algn="l"/>
              </a:tabLst>
            </a:pPr>
            <a:r>
              <a:rPr dirty="0" sz="1100" spc="-5">
                <a:latin typeface="Arial"/>
                <a:cs typeface="Arial"/>
              </a:rPr>
              <a:t>Finally, there is no attention to the role of quality for example the quality of schooling  counts, not just the number of years of</a:t>
            </a:r>
            <a:r>
              <a:rPr dirty="0" sz="1100" spc="40">
                <a:latin typeface="Arial"/>
                <a:cs typeface="Arial"/>
              </a:rPr>
              <a:t> </a:t>
            </a:r>
            <a:r>
              <a:rPr dirty="0" sz="1100" spc="-5">
                <a:latin typeface="Arial"/>
                <a:cs typeface="Arial"/>
              </a:rPr>
              <a:t>enrollment.</a:t>
            </a:r>
            <a:endParaRPr sz="1100">
              <a:latin typeface="Arial"/>
              <a:cs typeface="Arial"/>
            </a:endParaRPr>
          </a:p>
          <a:p>
            <a:pPr>
              <a:lnSpc>
                <a:spcPct val="100000"/>
              </a:lnSpc>
              <a:spcBef>
                <a:spcPts val="30"/>
              </a:spcBef>
            </a:pPr>
            <a:endParaRPr sz="1050">
              <a:latin typeface="Arial"/>
              <a:cs typeface="Arial"/>
            </a:endParaRPr>
          </a:p>
          <a:p>
            <a:pPr algn="just" marL="12700" marR="5080">
              <a:lnSpc>
                <a:spcPct val="95800"/>
              </a:lnSpc>
            </a:pPr>
            <a:r>
              <a:rPr dirty="0" sz="1100" spc="-5">
                <a:latin typeface="Arial"/>
                <a:cs typeface="Arial"/>
              </a:rPr>
              <a:t>Table 2.4 shows the 2009 Human Development Index (using 2007 data) for a sample of 24  developed and developing nations ranked from low to very human development (column 3)  along with their respective real GDP per capita (column 4) and a measure of the differential  between the GDP per capita rank and the HDI rank (column 5). A positive number shows by  how much a</a:t>
            </a:r>
            <a:r>
              <a:rPr dirty="0" sz="1100" spc="10">
                <a:latin typeface="Arial"/>
                <a:cs typeface="Arial"/>
              </a:rPr>
              <a:t> </a:t>
            </a:r>
            <a:r>
              <a:rPr dirty="0" sz="1100" spc="-5">
                <a:latin typeface="Arial"/>
                <a:cs typeface="Arial"/>
              </a:rPr>
              <a:t>country’s</a:t>
            </a:r>
            <a:endParaRPr sz="1100">
              <a:latin typeface="Arial"/>
              <a:cs typeface="Arial"/>
            </a:endParaRPr>
          </a:p>
          <a:p>
            <a:pPr algn="just" marL="12700" marR="4445000">
              <a:lnSpc>
                <a:spcPct val="95800"/>
              </a:lnSpc>
            </a:pPr>
            <a:r>
              <a:rPr dirty="0" sz="1100" spc="-5">
                <a:latin typeface="Arial"/>
                <a:cs typeface="Arial"/>
              </a:rPr>
              <a:t>relative ranking rises  when HDI is used  instead of GDP per  capita, and a negative  number shows the  opposite. We see from  Table 2.4 that the  country with the lowest  HDI    (0.340)    in </a:t>
            </a:r>
            <a:r>
              <a:rPr dirty="0" sz="1100" spc="110">
                <a:latin typeface="Arial"/>
                <a:cs typeface="Arial"/>
              </a:rPr>
              <a:t> </a:t>
            </a:r>
            <a:r>
              <a:rPr dirty="0" sz="1100" spc="-5">
                <a:latin typeface="Arial"/>
                <a:cs typeface="Arial"/>
              </a:rPr>
              <a:t>2007</a:t>
            </a:r>
            <a:endParaRPr sz="1100">
              <a:latin typeface="Arial"/>
              <a:cs typeface="Arial"/>
            </a:endParaRPr>
          </a:p>
          <a:p>
            <a:pPr algn="just" marL="12700" marR="4445000">
              <a:lnSpc>
                <a:spcPts val="1270"/>
              </a:lnSpc>
              <a:spcBef>
                <a:spcPts val="30"/>
              </a:spcBef>
            </a:pPr>
            <a:r>
              <a:rPr dirty="0" sz="1100" spc="-5">
                <a:latin typeface="Arial"/>
                <a:cs typeface="Arial"/>
              </a:rPr>
              <a:t>was Niger, and the one  with the highest (0.971)  was Norway.</a:t>
            </a:r>
            <a:endParaRPr sz="1100">
              <a:latin typeface="Arial"/>
              <a:cs typeface="Arial"/>
            </a:endParaRPr>
          </a:p>
          <a:p>
            <a:pPr algn="just" marL="12700">
              <a:lnSpc>
                <a:spcPts val="1195"/>
              </a:lnSpc>
            </a:pPr>
            <a:r>
              <a:rPr dirty="0" sz="1100" spc="-5">
                <a:latin typeface="Arial"/>
                <a:cs typeface="Arial"/>
              </a:rPr>
              <a:t>For    the    countries  </a:t>
            </a:r>
            <a:r>
              <a:rPr dirty="0" sz="1100" spc="10">
                <a:latin typeface="Arial"/>
                <a:cs typeface="Arial"/>
              </a:rPr>
              <a:t> </a:t>
            </a:r>
            <a:r>
              <a:rPr dirty="0" sz="1100" spc="-5">
                <a:latin typeface="Arial"/>
                <a:cs typeface="Arial"/>
              </a:rPr>
              <a:t>in</a:t>
            </a:r>
            <a:endParaRPr sz="1100">
              <a:latin typeface="Arial"/>
              <a:cs typeface="Arial"/>
            </a:endParaRPr>
          </a:p>
          <a:p>
            <a:pPr algn="just" marL="12700" marR="4444365">
              <a:lnSpc>
                <a:spcPts val="1270"/>
              </a:lnSpc>
              <a:spcBef>
                <a:spcPts val="55"/>
              </a:spcBef>
            </a:pPr>
            <a:r>
              <a:rPr dirty="0" sz="1100" spc="-5">
                <a:latin typeface="Arial"/>
                <a:cs typeface="Arial"/>
              </a:rPr>
              <a:t>Table 2.5 with GDP per  capita  near  $2,000,</a:t>
            </a:r>
            <a:r>
              <a:rPr dirty="0" sz="1100" spc="-30">
                <a:latin typeface="Arial"/>
                <a:cs typeface="Arial"/>
              </a:rPr>
              <a:t> </a:t>
            </a:r>
            <a:r>
              <a:rPr dirty="0" sz="1100" spc="-5">
                <a:latin typeface="Arial"/>
                <a:cs typeface="Arial"/>
              </a:rPr>
              <a:t>the</a:t>
            </a:r>
            <a:endParaRPr sz="1100">
              <a:latin typeface="Arial"/>
              <a:cs typeface="Arial"/>
            </a:endParaRPr>
          </a:p>
          <a:p>
            <a:pPr algn="just" marL="12700">
              <a:lnSpc>
                <a:spcPts val="1200"/>
              </a:lnSpc>
            </a:pPr>
            <a:r>
              <a:rPr dirty="0" sz="1100" spc="-5">
                <a:latin typeface="Arial"/>
                <a:cs typeface="Arial"/>
              </a:rPr>
              <a:t>HDI   ranges,   from   0.511</a:t>
            </a:r>
            <a:r>
              <a:rPr dirty="0" sz="1100" spc="-65">
                <a:latin typeface="Arial"/>
                <a:cs typeface="Arial"/>
              </a:rPr>
              <a:t> </a:t>
            </a:r>
            <a:r>
              <a:rPr dirty="0" sz="1100" spc="-5">
                <a:latin typeface="Arial"/>
                <a:cs typeface="Arial"/>
              </a:rPr>
              <a:t>to</a:t>
            </a:r>
            <a:endParaRPr sz="1100">
              <a:latin typeface="Arial"/>
              <a:cs typeface="Arial"/>
            </a:endParaRPr>
          </a:p>
          <a:p>
            <a:pPr algn="just" marL="12700">
              <a:lnSpc>
                <a:spcPts val="1265"/>
              </a:lnSpc>
            </a:pPr>
            <a:r>
              <a:rPr dirty="0" sz="1100" spc="-5">
                <a:latin typeface="Arial"/>
                <a:cs typeface="Arial"/>
              </a:rPr>
              <a:t>0.710.       Life     </a:t>
            </a:r>
            <a:r>
              <a:rPr dirty="0" sz="1100" spc="75">
                <a:latin typeface="Arial"/>
                <a:cs typeface="Arial"/>
              </a:rPr>
              <a:t> </a:t>
            </a:r>
            <a:r>
              <a:rPr dirty="0" sz="1100" spc="-5">
                <a:latin typeface="Arial"/>
                <a:cs typeface="Arial"/>
              </a:rPr>
              <a:t>expectancy</a:t>
            </a:r>
            <a:endParaRPr sz="1100">
              <a:latin typeface="Arial"/>
              <a:cs typeface="Arial"/>
            </a:endParaRPr>
          </a:p>
          <a:p>
            <a:pPr algn="just" marL="12700" marR="4120515">
              <a:lnSpc>
                <a:spcPct val="95800"/>
              </a:lnSpc>
              <a:spcBef>
                <a:spcPts val="30"/>
              </a:spcBef>
            </a:pPr>
            <a:r>
              <a:rPr dirty="0" sz="1100" spc="-5">
                <a:latin typeface="Arial"/>
                <a:cs typeface="Arial"/>
              </a:rPr>
              <a:t>ranges from 48 to </a:t>
            </a:r>
            <a:r>
              <a:rPr dirty="0" sz="1100">
                <a:latin typeface="Arial"/>
                <a:cs typeface="Arial"/>
              </a:rPr>
              <a:t>68. </a:t>
            </a:r>
            <a:r>
              <a:rPr dirty="0" sz="1100" spc="-5">
                <a:latin typeface="Arial"/>
                <a:cs typeface="Arial"/>
              </a:rPr>
              <a:t>The  literacy rate ranges from 56%  to 99%. For countries listed  in Table 2.5 with GDP per  capita near $4,000, the HDI  index ranges from 0.654 to  0.768.       Life     </a:t>
            </a:r>
            <a:r>
              <a:rPr dirty="0" sz="1100" spc="75">
                <a:latin typeface="Arial"/>
                <a:cs typeface="Arial"/>
              </a:rPr>
              <a:t> </a:t>
            </a:r>
            <a:r>
              <a:rPr dirty="0" sz="1100" spc="-5">
                <a:latin typeface="Arial"/>
                <a:cs typeface="Arial"/>
              </a:rPr>
              <a:t>expectancy</a:t>
            </a:r>
            <a:endParaRPr sz="1100">
              <a:latin typeface="Arial"/>
              <a:cs typeface="Arial"/>
            </a:endParaRPr>
          </a:p>
          <a:p>
            <a:pPr algn="just" marL="12700" marR="4120515">
              <a:lnSpc>
                <a:spcPts val="1270"/>
              </a:lnSpc>
              <a:spcBef>
                <a:spcPts val="30"/>
              </a:spcBef>
            </a:pPr>
            <a:r>
              <a:rPr dirty="0" sz="1100" spc="-5">
                <a:latin typeface="Arial"/>
                <a:cs typeface="Arial"/>
              </a:rPr>
              <a:t>ranges from 65 to </a:t>
            </a:r>
            <a:r>
              <a:rPr dirty="0" sz="1100">
                <a:latin typeface="Arial"/>
                <a:cs typeface="Arial"/>
              </a:rPr>
              <a:t>74, </a:t>
            </a:r>
            <a:r>
              <a:rPr dirty="0" sz="1100" spc="-5">
                <a:latin typeface="Arial"/>
                <a:cs typeface="Arial"/>
              </a:rPr>
              <a:t>and  literacy rates range strikingly  from 56% in Morocco to  essentially universal literacy  in   Tonga.   These  </a:t>
            </a:r>
            <a:r>
              <a:rPr dirty="0" sz="1100" spc="105">
                <a:latin typeface="Arial"/>
                <a:cs typeface="Arial"/>
              </a:rPr>
              <a:t> </a:t>
            </a:r>
            <a:r>
              <a:rPr dirty="0" sz="1100" spc="-5">
                <a:latin typeface="Arial"/>
                <a:cs typeface="Arial"/>
              </a:rPr>
              <a:t>dramatic</a:t>
            </a:r>
            <a:endParaRPr sz="1100">
              <a:latin typeface="Arial"/>
              <a:cs typeface="Arial"/>
            </a:endParaRPr>
          </a:p>
          <a:p>
            <a:pPr algn="just" marL="12700">
              <a:lnSpc>
                <a:spcPts val="1210"/>
              </a:lnSpc>
            </a:pPr>
            <a:r>
              <a:rPr dirty="0" sz="1100" spc="-5">
                <a:latin typeface="Arial"/>
                <a:cs typeface="Arial"/>
              </a:rPr>
              <a:t>differences</a:t>
            </a:r>
            <a:r>
              <a:rPr dirty="0" sz="1100" spc="130">
                <a:latin typeface="Arial"/>
                <a:cs typeface="Arial"/>
              </a:rPr>
              <a:t> </a:t>
            </a:r>
            <a:r>
              <a:rPr dirty="0" sz="1100" spc="-5">
                <a:latin typeface="Arial"/>
                <a:cs typeface="Arial"/>
              </a:rPr>
              <a:t>show</a:t>
            </a:r>
            <a:r>
              <a:rPr dirty="0" sz="1100" spc="135">
                <a:latin typeface="Arial"/>
                <a:cs typeface="Arial"/>
              </a:rPr>
              <a:t> </a:t>
            </a:r>
            <a:r>
              <a:rPr dirty="0" sz="1100" spc="-5">
                <a:latin typeface="Arial"/>
                <a:cs typeface="Arial"/>
              </a:rPr>
              <a:t>that</a:t>
            </a:r>
            <a:r>
              <a:rPr dirty="0" sz="1100" spc="140">
                <a:latin typeface="Arial"/>
                <a:cs typeface="Arial"/>
              </a:rPr>
              <a:t> </a:t>
            </a:r>
            <a:r>
              <a:rPr dirty="0" sz="1100" spc="-5">
                <a:latin typeface="Arial"/>
                <a:cs typeface="Arial"/>
              </a:rPr>
              <a:t>the</a:t>
            </a:r>
            <a:r>
              <a:rPr dirty="0" sz="1100" spc="135">
                <a:latin typeface="Arial"/>
                <a:cs typeface="Arial"/>
              </a:rPr>
              <a:t> </a:t>
            </a:r>
            <a:r>
              <a:rPr dirty="0" sz="1100" spc="-5">
                <a:latin typeface="Arial"/>
                <a:cs typeface="Arial"/>
              </a:rPr>
              <a:t>Human</a:t>
            </a:r>
            <a:r>
              <a:rPr dirty="0" sz="1100" spc="140">
                <a:latin typeface="Arial"/>
                <a:cs typeface="Arial"/>
              </a:rPr>
              <a:t> </a:t>
            </a:r>
            <a:r>
              <a:rPr dirty="0" sz="1100" spc="-5">
                <a:latin typeface="Arial"/>
                <a:cs typeface="Arial"/>
              </a:rPr>
              <a:t>Development</a:t>
            </a:r>
            <a:r>
              <a:rPr dirty="0" sz="1100" spc="135">
                <a:latin typeface="Arial"/>
                <a:cs typeface="Arial"/>
              </a:rPr>
              <a:t> </a:t>
            </a:r>
            <a:r>
              <a:rPr dirty="0" sz="1100">
                <a:latin typeface="Arial"/>
                <a:cs typeface="Arial"/>
              </a:rPr>
              <a:t>Index</a:t>
            </a:r>
            <a:r>
              <a:rPr dirty="0" sz="1100" spc="140">
                <a:latin typeface="Arial"/>
                <a:cs typeface="Arial"/>
              </a:rPr>
              <a:t> </a:t>
            </a:r>
            <a:r>
              <a:rPr dirty="0" sz="1100" spc="-5">
                <a:latin typeface="Arial"/>
                <a:cs typeface="Arial"/>
              </a:rPr>
              <a:t>project</a:t>
            </a:r>
            <a:r>
              <a:rPr dirty="0" sz="1100" spc="135">
                <a:latin typeface="Arial"/>
                <a:cs typeface="Arial"/>
              </a:rPr>
              <a:t> </a:t>
            </a:r>
            <a:r>
              <a:rPr dirty="0" sz="1100" spc="-5">
                <a:latin typeface="Arial"/>
                <a:cs typeface="Arial"/>
              </a:rPr>
              <a:t>is</a:t>
            </a:r>
            <a:r>
              <a:rPr dirty="0" sz="1100" spc="140">
                <a:latin typeface="Arial"/>
                <a:cs typeface="Arial"/>
              </a:rPr>
              <a:t> </a:t>
            </a:r>
            <a:r>
              <a:rPr dirty="0" sz="1100" spc="-5">
                <a:latin typeface="Arial"/>
                <a:cs typeface="Arial"/>
              </a:rPr>
              <a:t>worthwhile.</a:t>
            </a:r>
            <a:r>
              <a:rPr dirty="0" sz="1100" spc="135">
                <a:latin typeface="Arial"/>
                <a:cs typeface="Arial"/>
              </a:rPr>
              <a:t> </a:t>
            </a:r>
            <a:r>
              <a:rPr dirty="0" sz="1100" spc="-5">
                <a:latin typeface="Arial"/>
                <a:cs typeface="Arial"/>
              </a:rPr>
              <a:t>Ranking</a:t>
            </a:r>
            <a:r>
              <a:rPr dirty="0" sz="1100" spc="140">
                <a:latin typeface="Arial"/>
                <a:cs typeface="Arial"/>
              </a:rPr>
              <a:t> </a:t>
            </a:r>
            <a:r>
              <a:rPr dirty="0" sz="1100" spc="-5">
                <a:latin typeface="Arial"/>
                <a:cs typeface="Arial"/>
              </a:rPr>
              <a:t>countries</a:t>
            </a:r>
            <a:endParaRPr sz="1100">
              <a:latin typeface="Arial"/>
              <a:cs typeface="Arial"/>
            </a:endParaRPr>
          </a:p>
        </p:txBody>
      </p:sp>
      <p:grpSp>
        <p:nvGrpSpPr>
          <p:cNvPr id="7" name="object 7"/>
          <p:cNvGrpSpPr/>
          <p:nvPr/>
        </p:nvGrpSpPr>
        <p:grpSpPr>
          <a:xfrm>
            <a:off x="2630297" y="4113276"/>
            <a:ext cx="4188460" cy="4674235"/>
            <a:chOff x="2630297" y="4113276"/>
            <a:chExt cx="4188460" cy="4674235"/>
          </a:xfrm>
        </p:grpSpPr>
        <p:sp>
          <p:nvSpPr>
            <p:cNvPr id="8" name="object 8"/>
            <p:cNvSpPr/>
            <p:nvPr/>
          </p:nvSpPr>
          <p:spPr>
            <a:xfrm>
              <a:off x="2630297" y="4113276"/>
              <a:ext cx="4188078" cy="2457450"/>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2857500" y="6406133"/>
              <a:ext cx="3899915" cy="2381250"/>
            </a:xfrm>
            <a:prstGeom prst="rect">
              <a:avLst/>
            </a:prstGeom>
            <a:blipFill>
              <a:blip r:embed="rId3" cstate="print"/>
              <a:stretch>
                <a:fillRect/>
              </a:stretch>
            </a:blipFill>
          </p:spPr>
          <p:txBody>
            <a:bodyPr wrap="square" lIns="0" tIns="0" rIns="0" bIns="0" rtlCol="0"/>
            <a:lstStyle/>
            <a:p/>
          </p:txBody>
        </p:sp>
      </p:gr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16</a:t>
            </a:r>
            <a:endParaRPr sz="1100">
              <a:latin typeface="Carlito"/>
              <a:cs typeface="Carl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2282190"/>
          </a:xfrm>
          <a:prstGeom prst="rect">
            <a:avLst/>
          </a:prstGeom>
        </p:spPr>
        <p:txBody>
          <a:bodyPr wrap="square" lIns="0" tIns="22860" rIns="0" bIns="0" rtlCol="0" vert="horz">
            <a:spAutoFit/>
          </a:bodyPr>
          <a:lstStyle/>
          <a:p>
            <a:pPr marL="12700" marR="8255">
              <a:lnSpc>
                <a:spcPts val="1270"/>
              </a:lnSpc>
              <a:spcBef>
                <a:spcPts val="180"/>
              </a:spcBef>
            </a:pPr>
            <a:r>
              <a:rPr dirty="0" sz="1100" spc="-5">
                <a:latin typeface="Arial"/>
                <a:cs typeface="Arial"/>
              </a:rPr>
              <a:t>only by income—or for that matter only by health or education—causes us to miss important  differences in countries’ development</a:t>
            </a:r>
            <a:r>
              <a:rPr dirty="0" sz="1100" spc="5">
                <a:latin typeface="Arial"/>
                <a:cs typeface="Arial"/>
              </a:rPr>
              <a:t> </a:t>
            </a:r>
            <a:r>
              <a:rPr dirty="0" sz="1100" spc="-5">
                <a:latin typeface="Arial"/>
                <a:cs typeface="Arial"/>
              </a:rPr>
              <a:t>levels.</a:t>
            </a:r>
            <a:endParaRPr sz="1100">
              <a:latin typeface="Arial"/>
              <a:cs typeface="Arial"/>
            </a:endParaRPr>
          </a:p>
          <a:p>
            <a:pPr marL="12700" marR="6350">
              <a:lnSpc>
                <a:spcPts val="1260"/>
              </a:lnSpc>
            </a:pPr>
            <a:r>
              <a:rPr dirty="0" sz="1100" spc="-5">
                <a:latin typeface="Arial"/>
                <a:cs typeface="Arial"/>
              </a:rPr>
              <a:t>The HDI also ranges greatly for groups within countries. The impact of social exclusion can be  seen </a:t>
            </a:r>
            <a:r>
              <a:rPr dirty="0" sz="1100" spc="95">
                <a:latin typeface="Arial"/>
                <a:cs typeface="Arial"/>
              </a:rPr>
              <a:t> </a:t>
            </a:r>
            <a:r>
              <a:rPr dirty="0" sz="1100" spc="-5">
                <a:latin typeface="Arial"/>
                <a:cs typeface="Arial"/>
              </a:rPr>
              <a:t>vividly </a:t>
            </a:r>
            <a:r>
              <a:rPr dirty="0" sz="1100" spc="95">
                <a:latin typeface="Arial"/>
                <a:cs typeface="Arial"/>
              </a:rPr>
              <a:t> </a:t>
            </a:r>
            <a:r>
              <a:rPr dirty="0" sz="1100" spc="-5">
                <a:latin typeface="Arial"/>
                <a:cs typeface="Arial"/>
              </a:rPr>
              <a:t>in </a:t>
            </a:r>
            <a:r>
              <a:rPr dirty="0" sz="1100" spc="95">
                <a:latin typeface="Arial"/>
                <a:cs typeface="Arial"/>
              </a:rPr>
              <a:t> </a:t>
            </a:r>
            <a:r>
              <a:rPr dirty="0" sz="1100" spc="-5">
                <a:latin typeface="Arial"/>
                <a:cs typeface="Arial"/>
              </a:rPr>
              <a:t>Guatemala, </a:t>
            </a:r>
            <a:r>
              <a:rPr dirty="0" sz="1100" spc="90">
                <a:latin typeface="Arial"/>
                <a:cs typeface="Arial"/>
              </a:rPr>
              <a:t> </a:t>
            </a:r>
            <a:r>
              <a:rPr dirty="0" sz="1100" spc="-5">
                <a:latin typeface="Arial"/>
                <a:cs typeface="Arial"/>
              </a:rPr>
              <a:t>where </a:t>
            </a:r>
            <a:r>
              <a:rPr dirty="0" sz="1100" spc="95">
                <a:latin typeface="Arial"/>
                <a:cs typeface="Arial"/>
              </a:rPr>
              <a:t> </a:t>
            </a:r>
            <a:r>
              <a:rPr dirty="0" sz="1100" spc="-5">
                <a:latin typeface="Arial"/>
                <a:cs typeface="Arial"/>
              </a:rPr>
              <a:t>the </a:t>
            </a:r>
            <a:r>
              <a:rPr dirty="0" sz="1100" spc="95">
                <a:latin typeface="Arial"/>
                <a:cs typeface="Arial"/>
              </a:rPr>
              <a:t> </a:t>
            </a:r>
            <a:r>
              <a:rPr dirty="0" sz="1100" spc="-5">
                <a:latin typeface="Arial"/>
                <a:cs typeface="Arial"/>
              </a:rPr>
              <a:t>Q’eqchi </a:t>
            </a:r>
            <a:r>
              <a:rPr dirty="0" sz="1100" spc="100">
                <a:latin typeface="Arial"/>
                <a:cs typeface="Arial"/>
              </a:rPr>
              <a:t> </a:t>
            </a:r>
            <a:r>
              <a:rPr dirty="0" sz="1100" spc="-5">
                <a:latin typeface="Arial"/>
                <a:cs typeface="Arial"/>
              </a:rPr>
              <a:t>ethnic </a:t>
            </a:r>
            <a:r>
              <a:rPr dirty="0" sz="1100" spc="85">
                <a:latin typeface="Arial"/>
                <a:cs typeface="Arial"/>
              </a:rPr>
              <a:t> </a:t>
            </a:r>
            <a:r>
              <a:rPr dirty="0" sz="1100" spc="-5">
                <a:latin typeface="Arial"/>
                <a:cs typeface="Arial"/>
              </a:rPr>
              <a:t>group </a:t>
            </a:r>
            <a:r>
              <a:rPr dirty="0" sz="1100" spc="95">
                <a:latin typeface="Arial"/>
                <a:cs typeface="Arial"/>
              </a:rPr>
              <a:t> </a:t>
            </a:r>
            <a:r>
              <a:rPr dirty="0" sz="1100" spc="-5">
                <a:latin typeface="Arial"/>
                <a:cs typeface="Arial"/>
              </a:rPr>
              <a:t>had </a:t>
            </a:r>
            <a:r>
              <a:rPr dirty="0" sz="1100" spc="90">
                <a:latin typeface="Arial"/>
                <a:cs typeface="Arial"/>
              </a:rPr>
              <a:t> </a:t>
            </a:r>
            <a:r>
              <a:rPr dirty="0" sz="1100" spc="-5">
                <a:latin typeface="Arial"/>
                <a:cs typeface="Arial"/>
              </a:rPr>
              <a:t>an </a:t>
            </a:r>
            <a:r>
              <a:rPr dirty="0" sz="1100" spc="95">
                <a:latin typeface="Arial"/>
                <a:cs typeface="Arial"/>
              </a:rPr>
              <a:t> </a:t>
            </a:r>
            <a:r>
              <a:rPr dirty="0" sz="1100" spc="-5">
                <a:latin typeface="Arial"/>
                <a:cs typeface="Arial"/>
              </a:rPr>
              <a:t>HDI </a:t>
            </a:r>
            <a:r>
              <a:rPr dirty="0" sz="1100" spc="90">
                <a:latin typeface="Arial"/>
                <a:cs typeface="Arial"/>
              </a:rPr>
              <a:t> </a:t>
            </a:r>
            <a:r>
              <a:rPr dirty="0" sz="1100">
                <a:latin typeface="Arial"/>
                <a:cs typeface="Arial"/>
              </a:rPr>
              <a:t>rank </a:t>
            </a:r>
            <a:r>
              <a:rPr dirty="0" sz="1100" spc="95">
                <a:latin typeface="Arial"/>
                <a:cs typeface="Arial"/>
              </a:rPr>
              <a:t> </a:t>
            </a:r>
            <a:r>
              <a:rPr dirty="0" sz="1100" spc="-5">
                <a:latin typeface="Arial"/>
                <a:cs typeface="Arial"/>
              </a:rPr>
              <a:t>similar </a:t>
            </a:r>
            <a:r>
              <a:rPr dirty="0" sz="1100" spc="95">
                <a:latin typeface="Arial"/>
                <a:cs typeface="Arial"/>
              </a:rPr>
              <a:t> </a:t>
            </a:r>
            <a:r>
              <a:rPr dirty="0" sz="1100" spc="-5">
                <a:latin typeface="Arial"/>
                <a:cs typeface="Arial"/>
              </a:rPr>
              <a:t>to</a:t>
            </a:r>
            <a:endParaRPr sz="1100">
              <a:latin typeface="Arial"/>
              <a:cs typeface="Arial"/>
            </a:endParaRPr>
          </a:p>
          <a:p>
            <a:pPr marL="12700">
              <a:lnSpc>
                <a:spcPts val="1205"/>
              </a:lnSpc>
            </a:pPr>
            <a:r>
              <a:rPr dirty="0" sz="1100" spc="-5">
                <a:latin typeface="Arial"/>
                <a:cs typeface="Arial"/>
              </a:rPr>
              <a:t>Cameroon,  and  the  Poqomchi  ranked  below  Zimbabwe,  as  seen  in  Figure  2.3a. </a:t>
            </a:r>
            <a:r>
              <a:rPr dirty="0" sz="1100" spc="114">
                <a:latin typeface="Arial"/>
                <a:cs typeface="Arial"/>
              </a:rPr>
              <a:t> </a:t>
            </a:r>
            <a:r>
              <a:rPr dirty="0" sz="1100" spc="-5">
                <a:latin typeface="Arial"/>
                <a:cs typeface="Arial"/>
              </a:rPr>
              <a:t>Regional</a:t>
            </a:r>
            <a:endParaRPr sz="1100">
              <a:latin typeface="Arial"/>
              <a:cs typeface="Arial"/>
            </a:endParaRPr>
          </a:p>
          <a:p>
            <a:pPr algn="just" marL="12700" marR="5080">
              <a:lnSpc>
                <a:spcPct val="95800"/>
              </a:lnSpc>
              <a:spcBef>
                <a:spcPts val="30"/>
              </a:spcBef>
            </a:pPr>
            <a:r>
              <a:rPr dirty="0" sz="1100" spc="-5">
                <a:latin typeface="Arial"/>
                <a:cs typeface="Arial"/>
              </a:rPr>
              <a:t>differences across districts can be seen in Kenya, where the HDI of the capital area of Nairobi  ranks as high as Turkey, but Kenya’s Turkana district’s </a:t>
            </a:r>
            <a:r>
              <a:rPr dirty="0" sz="1100" spc="-10">
                <a:latin typeface="Arial"/>
                <a:cs typeface="Arial"/>
              </a:rPr>
              <a:t>HDI </a:t>
            </a:r>
            <a:r>
              <a:rPr dirty="0" sz="1100" spc="-5">
                <a:latin typeface="Arial"/>
                <a:cs typeface="Arial"/>
              </a:rPr>
              <a:t>is lower than that of any country  average, as shown in Figure 2.3b. Rural-urban differences are illustrated with the case of China,  where as Figure 2.3c shows, urban Shanghai’s HDI was nearly as high as that of Greece, while  rural Gansu has an HDI on a par with India, and the HDI of rural Guizhou is below that </a:t>
            </a:r>
            <a:r>
              <a:rPr dirty="0" sz="1100">
                <a:latin typeface="Arial"/>
                <a:cs typeface="Arial"/>
              </a:rPr>
              <a:t>of  </a:t>
            </a:r>
            <a:r>
              <a:rPr dirty="0" sz="1100" spc="-5">
                <a:latin typeface="Arial"/>
                <a:cs typeface="Arial"/>
              </a:rPr>
              <a:t>Cambodia. An earlier UN study found similarly that in South Africa whites enjoy a high HDI level  while that for blacks was much</a:t>
            </a:r>
            <a:r>
              <a:rPr dirty="0" sz="1100" spc="20">
                <a:latin typeface="Arial"/>
                <a:cs typeface="Arial"/>
              </a:rPr>
              <a:t> </a:t>
            </a:r>
            <a:r>
              <a:rPr dirty="0" sz="1100" spc="-5">
                <a:latin typeface="Arial"/>
                <a:cs typeface="Arial"/>
              </a:rPr>
              <a:t>lower.</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II) THE NEW </a:t>
            </a:r>
            <a:r>
              <a:rPr dirty="0" sz="1100" spc="-10" b="1">
                <a:latin typeface="Arial"/>
                <a:cs typeface="Arial"/>
              </a:rPr>
              <a:t>HUMAN </a:t>
            </a:r>
            <a:r>
              <a:rPr dirty="0" sz="1100" spc="-5" b="1">
                <a:latin typeface="Arial"/>
                <a:cs typeface="Arial"/>
              </a:rPr>
              <a:t>DEVELOPMENT</a:t>
            </a:r>
            <a:r>
              <a:rPr dirty="0" sz="1100" spc="25" b="1">
                <a:latin typeface="Arial"/>
                <a:cs typeface="Arial"/>
              </a:rPr>
              <a:t> </a:t>
            </a:r>
            <a:r>
              <a:rPr dirty="0" sz="1100" spc="-5" b="1">
                <a:latin typeface="Arial"/>
                <a:cs typeface="Arial"/>
              </a:rPr>
              <a:t>INDEX</a:t>
            </a:r>
            <a:endParaRPr sz="1100">
              <a:latin typeface="Arial"/>
              <a:cs typeface="Arial"/>
            </a:endParaRPr>
          </a:p>
        </p:txBody>
      </p:sp>
      <p:sp>
        <p:nvSpPr>
          <p:cNvPr id="7" name="object 7"/>
          <p:cNvSpPr txBox="1"/>
          <p:nvPr/>
        </p:nvSpPr>
        <p:spPr>
          <a:xfrm>
            <a:off x="901700" y="8602405"/>
            <a:ext cx="5967095"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In November 2010, the UNDP introduced its New Human Development Index (NHDI), intended  to address some of the criticisms of the</a:t>
            </a:r>
            <a:r>
              <a:rPr dirty="0" sz="1100" spc="35">
                <a:latin typeface="Arial"/>
                <a:cs typeface="Arial"/>
              </a:rPr>
              <a:t> </a:t>
            </a:r>
            <a:r>
              <a:rPr dirty="0" sz="1100" spc="-5">
                <a:latin typeface="Arial"/>
                <a:cs typeface="Arial"/>
              </a:rPr>
              <a:t>HDI.</a:t>
            </a:r>
            <a:endParaRPr sz="1100">
              <a:latin typeface="Arial"/>
              <a:cs typeface="Arial"/>
            </a:endParaRPr>
          </a:p>
        </p:txBody>
      </p:sp>
      <p:sp>
        <p:nvSpPr>
          <p:cNvPr id="8" name="object 8"/>
          <p:cNvSpPr/>
          <p:nvPr/>
        </p:nvSpPr>
        <p:spPr>
          <a:xfrm>
            <a:off x="1360972" y="3343016"/>
            <a:ext cx="5055012" cy="5147003"/>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17</a:t>
            </a:r>
            <a:endParaRPr sz="1100">
              <a:latin typeface="Carlito"/>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2556"/>
            <a:ext cx="5969635" cy="514921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WHAT IS NEW IN THE NEW</a:t>
            </a:r>
            <a:r>
              <a:rPr dirty="0" sz="1100" spc="25" b="1">
                <a:latin typeface="Arial"/>
                <a:cs typeface="Arial"/>
              </a:rPr>
              <a:t> </a:t>
            </a:r>
            <a:r>
              <a:rPr dirty="0" sz="1100" spc="-5" b="1">
                <a:latin typeface="Arial"/>
                <a:cs typeface="Arial"/>
              </a:rPr>
              <a:t>HDI?</a:t>
            </a:r>
            <a:endParaRPr sz="1100">
              <a:latin typeface="Arial"/>
              <a:cs typeface="Arial"/>
            </a:endParaRPr>
          </a:p>
          <a:p>
            <a:pPr>
              <a:lnSpc>
                <a:spcPct val="100000"/>
              </a:lnSpc>
              <a:spcBef>
                <a:spcPts val="5"/>
              </a:spcBef>
            </a:pPr>
            <a:endParaRPr sz="1050">
              <a:latin typeface="Arial"/>
              <a:cs typeface="Arial"/>
            </a:endParaRPr>
          </a:p>
          <a:p>
            <a:pPr marL="167640" indent="-155575">
              <a:lnSpc>
                <a:spcPct val="100000"/>
              </a:lnSpc>
              <a:buAutoNum type="arabicPeriod"/>
              <a:tabLst>
                <a:tab pos="168275" algn="l"/>
              </a:tabLst>
            </a:pPr>
            <a:r>
              <a:rPr dirty="0" sz="1100" spc="-5" b="1">
                <a:latin typeface="Arial"/>
                <a:cs typeface="Arial"/>
              </a:rPr>
              <a:t>Calculating </a:t>
            </a:r>
            <a:r>
              <a:rPr dirty="0" sz="1100" b="1">
                <a:latin typeface="Arial"/>
                <a:cs typeface="Arial"/>
              </a:rPr>
              <a:t>with </a:t>
            </a:r>
            <a:r>
              <a:rPr dirty="0" sz="1100" spc="-5" b="1">
                <a:latin typeface="Arial"/>
                <a:cs typeface="Arial"/>
              </a:rPr>
              <a:t>a geometric</a:t>
            </a:r>
            <a:r>
              <a:rPr dirty="0" sz="1100" spc="5" b="1">
                <a:latin typeface="Arial"/>
                <a:cs typeface="Arial"/>
              </a:rPr>
              <a:t> </a:t>
            </a:r>
            <a:r>
              <a:rPr dirty="0" sz="1100" spc="-5" b="1">
                <a:latin typeface="Arial"/>
                <a:cs typeface="Arial"/>
              </a:rPr>
              <a:t>mean:</a:t>
            </a:r>
            <a:endParaRPr sz="1100">
              <a:latin typeface="Arial"/>
              <a:cs typeface="Arial"/>
            </a:endParaRPr>
          </a:p>
          <a:p>
            <a:pPr>
              <a:lnSpc>
                <a:spcPct val="100000"/>
              </a:lnSpc>
              <a:spcBef>
                <a:spcPts val="40"/>
              </a:spcBef>
              <a:buFont typeface="Arial"/>
              <a:buAutoNum type="arabicPeriod"/>
            </a:pPr>
            <a:endParaRPr sz="1250">
              <a:latin typeface="Arial"/>
              <a:cs typeface="Arial"/>
            </a:endParaRPr>
          </a:p>
          <a:p>
            <a:pPr lvl="1" marL="469900" marR="6985" indent="-228600">
              <a:lnSpc>
                <a:spcPts val="1270"/>
              </a:lnSpc>
              <a:buFont typeface="Symbol"/>
              <a:buChar char=""/>
              <a:tabLst>
                <a:tab pos="469265" algn="l"/>
                <a:tab pos="470534" algn="l"/>
              </a:tabLst>
            </a:pPr>
            <a:r>
              <a:rPr dirty="0" sz="1100" spc="-5">
                <a:latin typeface="Arial"/>
                <a:cs typeface="Arial"/>
              </a:rPr>
              <a:t>Probably most consequential: The index is </a:t>
            </a:r>
            <a:r>
              <a:rPr dirty="0" sz="1100">
                <a:latin typeface="Arial"/>
                <a:cs typeface="Arial"/>
              </a:rPr>
              <a:t>now </a:t>
            </a:r>
            <a:r>
              <a:rPr dirty="0" sz="1100" spc="-5">
                <a:latin typeface="Arial"/>
                <a:cs typeface="Arial"/>
              </a:rPr>
              <a:t>computed with a geometric mean,  instead of an arithmetic</a:t>
            </a:r>
            <a:r>
              <a:rPr dirty="0" sz="1100" spc="10">
                <a:latin typeface="Arial"/>
                <a:cs typeface="Arial"/>
              </a:rPr>
              <a:t> </a:t>
            </a:r>
            <a:r>
              <a:rPr dirty="0" sz="1100" spc="-5">
                <a:latin typeface="Arial"/>
                <a:cs typeface="Arial"/>
              </a:rPr>
              <a:t>mean.</a:t>
            </a:r>
            <a:endParaRPr sz="1100">
              <a:latin typeface="Arial"/>
              <a:cs typeface="Arial"/>
            </a:endParaRPr>
          </a:p>
          <a:p>
            <a:pPr lvl="1" marL="469900" marR="5080" indent="-228600">
              <a:lnSpc>
                <a:spcPts val="1270"/>
              </a:lnSpc>
              <a:spcBef>
                <a:spcPts val="65"/>
              </a:spcBef>
              <a:buFont typeface="Symbol"/>
              <a:buChar char=""/>
              <a:tabLst>
                <a:tab pos="469265" algn="l"/>
                <a:tab pos="470534" algn="l"/>
              </a:tabLst>
            </a:pPr>
            <a:r>
              <a:rPr dirty="0" sz="1100" spc="-5">
                <a:latin typeface="Arial"/>
                <a:cs typeface="Arial"/>
              </a:rPr>
              <a:t>A geometric mean is </a:t>
            </a:r>
            <a:r>
              <a:rPr dirty="0" sz="1100">
                <a:latin typeface="Arial"/>
                <a:cs typeface="Arial"/>
              </a:rPr>
              <a:t>also </a:t>
            </a:r>
            <a:r>
              <a:rPr dirty="0" sz="1100" spc="-5">
                <a:latin typeface="Arial"/>
                <a:cs typeface="Arial"/>
              </a:rPr>
              <a:t>used to build up the overall education index </a:t>
            </a:r>
            <a:r>
              <a:rPr dirty="0" sz="1100">
                <a:latin typeface="Arial"/>
                <a:cs typeface="Arial"/>
              </a:rPr>
              <a:t>from its </a:t>
            </a:r>
            <a:r>
              <a:rPr dirty="0" sz="1100" spc="-5">
                <a:latin typeface="Arial"/>
                <a:cs typeface="Arial"/>
              </a:rPr>
              <a:t>two  components.</a:t>
            </a:r>
            <a:endParaRPr sz="1100">
              <a:latin typeface="Arial"/>
              <a:cs typeface="Arial"/>
            </a:endParaRPr>
          </a:p>
          <a:p>
            <a:pPr lvl="1" marL="469900" indent="-229235">
              <a:lnSpc>
                <a:spcPts val="1300"/>
              </a:lnSpc>
              <a:buFont typeface="Symbol"/>
              <a:buChar char=""/>
              <a:tabLst>
                <a:tab pos="469265" algn="l"/>
                <a:tab pos="470534" algn="l"/>
              </a:tabLst>
            </a:pPr>
            <a:r>
              <a:rPr dirty="0" sz="1100" spc="-5">
                <a:latin typeface="Arial"/>
                <a:cs typeface="Arial"/>
              </a:rPr>
              <a:t>Traditional HDI added the three components and divided by</a:t>
            </a:r>
            <a:r>
              <a:rPr dirty="0" sz="1100" spc="50">
                <a:latin typeface="Arial"/>
                <a:cs typeface="Arial"/>
              </a:rPr>
              <a:t> </a:t>
            </a:r>
            <a:r>
              <a:rPr dirty="0" sz="1100" spc="-5">
                <a:latin typeface="Arial"/>
                <a:cs typeface="Arial"/>
              </a:rPr>
              <a:t>3.</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New HDI </a:t>
            </a:r>
            <a:r>
              <a:rPr dirty="0" sz="1100">
                <a:latin typeface="Arial"/>
                <a:cs typeface="Arial"/>
              </a:rPr>
              <a:t>takes </a:t>
            </a:r>
            <a:r>
              <a:rPr dirty="0" sz="1100" spc="-5">
                <a:latin typeface="Arial"/>
                <a:cs typeface="Arial"/>
              </a:rPr>
              <a:t>the cube root of the product of the three component</a:t>
            </a:r>
            <a:r>
              <a:rPr dirty="0" sz="1100" spc="90">
                <a:latin typeface="Arial"/>
                <a:cs typeface="Arial"/>
              </a:rPr>
              <a:t> </a:t>
            </a:r>
            <a:r>
              <a:rPr dirty="0" sz="1100" spc="-5">
                <a:latin typeface="Arial"/>
                <a:cs typeface="Arial"/>
              </a:rPr>
              <a:t>indexes.</a:t>
            </a:r>
            <a:endParaRPr sz="1100">
              <a:latin typeface="Arial"/>
              <a:cs typeface="Arial"/>
            </a:endParaRPr>
          </a:p>
          <a:p>
            <a:pPr lvl="1" marL="469900" marR="5080" indent="-228600">
              <a:lnSpc>
                <a:spcPts val="1260"/>
              </a:lnSpc>
              <a:spcBef>
                <a:spcPts val="110"/>
              </a:spcBef>
              <a:buFont typeface="Symbol"/>
              <a:buChar char=""/>
              <a:tabLst>
                <a:tab pos="469265" algn="l"/>
                <a:tab pos="470534" algn="l"/>
              </a:tabLst>
            </a:pPr>
            <a:r>
              <a:rPr dirty="0" sz="1100" spc="-5">
                <a:latin typeface="Arial"/>
                <a:cs typeface="Arial"/>
              </a:rPr>
              <a:t>The traditional HDI calculation assumed one component traded off against another as  perfect substitutes, a strong</a:t>
            </a:r>
            <a:r>
              <a:rPr dirty="0" sz="1100" spc="15">
                <a:latin typeface="Arial"/>
                <a:cs typeface="Arial"/>
              </a:rPr>
              <a:t> </a:t>
            </a:r>
            <a:r>
              <a:rPr dirty="0" sz="1100" spc="-5">
                <a:latin typeface="Arial"/>
                <a:cs typeface="Arial"/>
              </a:rPr>
              <a:t>assumption.</a:t>
            </a:r>
            <a:endParaRPr sz="1100">
              <a:latin typeface="Arial"/>
              <a:cs typeface="Arial"/>
            </a:endParaRPr>
          </a:p>
          <a:p>
            <a:pPr lvl="1" marL="469900" indent="-229235">
              <a:lnSpc>
                <a:spcPts val="1310"/>
              </a:lnSpc>
              <a:buFont typeface="Symbol"/>
              <a:buChar char=""/>
              <a:tabLst>
                <a:tab pos="469265" algn="l"/>
                <a:tab pos="470534" algn="l"/>
              </a:tabLst>
            </a:pPr>
            <a:r>
              <a:rPr dirty="0" sz="1100" spc="-5">
                <a:latin typeface="Arial"/>
                <a:cs typeface="Arial"/>
              </a:rPr>
              <a:t>The reformulation now allows for imperfect</a:t>
            </a:r>
            <a:r>
              <a:rPr dirty="0" sz="1100" spc="35">
                <a:latin typeface="Arial"/>
                <a:cs typeface="Arial"/>
              </a:rPr>
              <a:t> </a:t>
            </a:r>
            <a:r>
              <a:rPr dirty="0" sz="1100" spc="-5">
                <a:latin typeface="Arial"/>
                <a:cs typeface="Arial"/>
              </a:rPr>
              <a:t>substitutability.</a:t>
            </a:r>
            <a:endParaRPr sz="1100">
              <a:latin typeface="Arial"/>
              <a:cs typeface="Arial"/>
            </a:endParaRPr>
          </a:p>
          <a:p>
            <a:pPr lvl="1">
              <a:lnSpc>
                <a:spcPct val="100000"/>
              </a:lnSpc>
              <a:buFont typeface="Symbol"/>
              <a:buChar char=""/>
            </a:pPr>
            <a:endParaRPr sz="1050">
              <a:latin typeface="Arial"/>
              <a:cs typeface="Arial"/>
            </a:endParaRPr>
          </a:p>
          <a:p>
            <a:pPr marL="167640" indent="-155575">
              <a:lnSpc>
                <a:spcPct val="100000"/>
              </a:lnSpc>
              <a:buAutoNum type="arabicPeriod"/>
              <a:tabLst>
                <a:tab pos="168275" algn="l"/>
              </a:tabLst>
            </a:pPr>
            <a:r>
              <a:rPr dirty="0" sz="1100" spc="-5" b="1">
                <a:latin typeface="Arial"/>
                <a:cs typeface="Arial"/>
              </a:rPr>
              <a:t>Other </a:t>
            </a:r>
            <a:r>
              <a:rPr dirty="0" sz="1100" b="1">
                <a:latin typeface="Arial"/>
                <a:cs typeface="Arial"/>
              </a:rPr>
              <a:t>key</a:t>
            </a:r>
            <a:r>
              <a:rPr dirty="0" sz="1100" spc="-5" b="1">
                <a:latin typeface="Arial"/>
                <a:cs typeface="Arial"/>
              </a:rPr>
              <a:t> changes:</a:t>
            </a:r>
            <a:endParaRPr sz="1100">
              <a:latin typeface="Arial"/>
              <a:cs typeface="Arial"/>
            </a:endParaRPr>
          </a:p>
          <a:p>
            <a:pPr>
              <a:lnSpc>
                <a:spcPct val="100000"/>
              </a:lnSpc>
              <a:spcBef>
                <a:spcPts val="15"/>
              </a:spcBef>
              <a:buFont typeface="Arial"/>
              <a:buAutoNum type="arabicPeriod"/>
            </a:pPr>
            <a:endParaRPr sz="1200">
              <a:latin typeface="Arial"/>
              <a:cs typeface="Arial"/>
            </a:endParaRPr>
          </a:p>
          <a:p>
            <a:pPr lvl="1" marL="469900" indent="-229235">
              <a:lnSpc>
                <a:spcPct val="100000"/>
              </a:lnSpc>
              <a:buFont typeface="Symbol"/>
              <a:buChar char=""/>
              <a:tabLst>
                <a:tab pos="469265" algn="l"/>
                <a:tab pos="470534" algn="l"/>
              </a:tabLst>
            </a:pPr>
            <a:r>
              <a:rPr dirty="0" sz="1100" spc="-5">
                <a:latin typeface="Arial"/>
                <a:cs typeface="Arial"/>
              </a:rPr>
              <a:t>Gross national income per capita replaces gross domestic product per</a:t>
            </a:r>
            <a:r>
              <a:rPr dirty="0" sz="1100" spc="80">
                <a:latin typeface="Arial"/>
                <a:cs typeface="Arial"/>
              </a:rPr>
              <a:t> </a:t>
            </a:r>
            <a:r>
              <a:rPr dirty="0" sz="1100" spc="-5">
                <a:latin typeface="Arial"/>
                <a:cs typeface="Arial"/>
              </a:rPr>
              <a:t>capita.</a:t>
            </a:r>
            <a:endParaRPr sz="1100">
              <a:latin typeface="Arial"/>
              <a:cs typeface="Arial"/>
            </a:endParaRPr>
          </a:p>
          <a:p>
            <a:pPr lvl="1" marL="469900" marR="6985" indent="-228600">
              <a:lnSpc>
                <a:spcPts val="1260"/>
              </a:lnSpc>
              <a:spcBef>
                <a:spcPts val="114"/>
              </a:spcBef>
              <a:buFont typeface="Symbol"/>
              <a:buChar char=""/>
              <a:tabLst>
                <a:tab pos="469265" algn="l"/>
                <a:tab pos="470534" algn="l"/>
              </a:tabLst>
            </a:pPr>
            <a:r>
              <a:rPr dirty="0" sz="1100" spc="-5">
                <a:latin typeface="Arial"/>
                <a:cs typeface="Arial"/>
              </a:rPr>
              <a:t>Revised education components: now using the average actual educational attainment of  the whole population, and the expected attainment of today’s</a:t>
            </a:r>
            <a:r>
              <a:rPr dirty="0" sz="1100" spc="70">
                <a:latin typeface="Arial"/>
                <a:cs typeface="Arial"/>
              </a:rPr>
              <a:t> </a:t>
            </a:r>
            <a:r>
              <a:rPr dirty="0" sz="1100" spc="-5">
                <a:latin typeface="Arial"/>
                <a:cs typeface="Arial"/>
              </a:rPr>
              <a:t>children.</a:t>
            </a:r>
            <a:endParaRPr sz="1100">
              <a:latin typeface="Arial"/>
              <a:cs typeface="Arial"/>
            </a:endParaRPr>
          </a:p>
          <a:p>
            <a:pPr lvl="1" marL="469900" marR="7620" indent="-228600">
              <a:lnSpc>
                <a:spcPts val="1260"/>
              </a:lnSpc>
              <a:spcBef>
                <a:spcPts val="85"/>
              </a:spcBef>
              <a:buFont typeface="Symbol"/>
              <a:buChar char=""/>
              <a:tabLst>
                <a:tab pos="469265" algn="l"/>
                <a:tab pos="470534" algn="l"/>
              </a:tabLst>
            </a:pPr>
            <a:r>
              <a:rPr dirty="0" sz="1100" spc="-5">
                <a:latin typeface="Arial"/>
                <a:cs typeface="Arial"/>
              </a:rPr>
              <a:t>The </a:t>
            </a:r>
            <a:r>
              <a:rPr dirty="0" sz="1100">
                <a:latin typeface="Arial"/>
                <a:cs typeface="Arial"/>
              </a:rPr>
              <a:t>maximum </a:t>
            </a:r>
            <a:r>
              <a:rPr dirty="0" sz="1100" spc="-5">
                <a:latin typeface="Arial"/>
                <a:cs typeface="Arial"/>
              </a:rPr>
              <a:t>values in each dimension have been increased to the observed </a:t>
            </a:r>
            <a:r>
              <a:rPr dirty="0" sz="1100">
                <a:latin typeface="Arial"/>
                <a:cs typeface="Arial"/>
              </a:rPr>
              <a:t>maximum  </a:t>
            </a:r>
            <a:r>
              <a:rPr dirty="0" sz="1100" spc="-5">
                <a:latin typeface="Arial"/>
                <a:cs typeface="Arial"/>
              </a:rPr>
              <a:t>rather than given a predefined</a:t>
            </a:r>
            <a:r>
              <a:rPr dirty="0" sz="1100" spc="20">
                <a:latin typeface="Arial"/>
                <a:cs typeface="Arial"/>
              </a:rPr>
              <a:t> </a:t>
            </a:r>
            <a:r>
              <a:rPr dirty="0" sz="1100" spc="-5">
                <a:latin typeface="Arial"/>
                <a:cs typeface="Arial"/>
              </a:rPr>
              <a:t>cutoff.</a:t>
            </a:r>
            <a:endParaRPr sz="1100">
              <a:latin typeface="Arial"/>
              <a:cs typeface="Arial"/>
            </a:endParaRPr>
          </a:p>
          <a:p>
            <a:pPr lvl="1" marL="469900" marR="6985" indent="-228600">
              <a:lnSpc>
                <a:spcPts val="1260"/>
              </a:lnSpc>
              <a:spcBef>
                <a:spcPts val="85"/>
              </a:spcBef>
              <a:buFont typeface="Symbol"/>
              <a:buChar char=""/>
              <a:tabLst>
                <a:tab pos="469265" algn="l"/>
                <a:tab pos="470534" algn="l"/>
              </a:tabLst>
            </a:pPr>
            <a:r>
              <a:rPr dirty="0" sz="1100" spc="-5">
                <a:latin typeface="Arial"/>
                <a:cs typeface="Arial"/>
              </a:rPr>
              <a:t>The lower goalpost for income has been reduced due to new evidence on lower possible  income levels.</a:t>
            </a:r>
            <a:endParaRPr sz="1100">
              <a:latin typeface="Arial"/>
              <a:cs typeface="Arial"/>
            </a:endParaRPr>
          </a:p>
          <a:p>
            <a:pPr>
              <a:lnSpc>
                <a:spcPct val="100000"/>
              </a:lnSpc>
              <a:spcBef>
                <a:spcPts val="25"/>
              </a:spcBef>
            </a:pPr>
            <a:endParaRPr sz="1000">
              <a:latin typeface="Arial"/>
              <a:cs typeface="Arial"/>
            </a:endParaRPr>
          </a:p>
          <a:p>
            <a:pPr marL="12700">
              <a:lnSpc>
                <a:spcPct val="100000"/>
              </a:lnSpc>
              <a:spcBef>
                <a:spcPts val="5"/>
              </a:spcBef>
            </a:pPr>
            <a:r>
              <a:rPr dirty="0" sz="1100" spc="-5" b="1">
                <a:latin typeface="Arial"/>
                <a:cs typeface="Arial"/>
              </a:rPr>
              <a:t>COMPUTING THE</a:t>
            </a:r>
            <a:r>
              <a:rPr dirty="0" sz="1100" spc="5" b="1">
                <a:latin typeface="Arial"/>
                <a:cs typeface="Arial"/>
              </a:rPr>
              <a:t> </a:t>
            </a:r>
            <a:r>
              <a:rPr dirty="0" sz="1100" spc="-5" b="1">
                <a:latin typeface="Arial"/>
                <a:cs typeface="Arial"/>
              </a:rPr>
              <a:t>NHDI</a:t>
            </a:r>
            <a:endParaRPr sz="1100">
              <a:latin typeface="Arial"/>
              <a:cs typeface="Arial"/>
            </a:endParaRPr>
          </a:p>
          <a:p>
            <a:pPr>
              <a:lnSpc>
                <a:spcPct val="100000"/>
              </a:lnSpc>
              <a:spcBef>
                <a:spcPts val="20"/>
              </a:spcBef>
            </a:pPr>
            <a:endParaRPr sz="1200">
              <a:latin typeface="Arial"/>
              <a:cs typeface="Arial"/>
            </a:endParaRPr>
          </a:p>
          <a:p>
            <a:pPr algn="just" marL="12700" marR="5080">
              <a:lnSpc>
                <a:spcPts val="1270"/>
              </a:lnSpc>
              <a:spcBef>
                <a:spcPts val="5"/>
              </a:spcBef>
            </a:pPr>
            <a:r>
              <a:rPr dirty="0" sz="1100" spc="-5">
                <a:latin typeface="Arial"/>
                <a:cs typeface="Arial"/>
              </a:rPr>
              <a:t>The use of a geometric mean in </a:t>
            </a:r>
            <a:r>
              <a:rPr dirty="0" sz="1100">
                <a:latin typeface="Arial"/>
                <a:cs typeface="Arial"/>
              </a:rPr>
              <a:t>the </a:t>
            </a:r>
            <a:r>
              <a:rPr dirty="0" sz="1100" spc="-5">
                <a:latin typeface="Arial"/>
                <a:cs typeface="Arial"/>
              </a:rPr>
              <a:t>NHDI is very important. When using an arithmetic mean  (adding up the component indexes and dividing by </a:t>
            </a:r>
            <a:r>
              <a:rPr dirty="0" sz="1100">
                <a:latin typeface="Arial"/>
                <a:cs typeface="Arial"/>
              </a:rPr>
              <a:t>three) </a:t>
            </a:r>
            <a:r>
              <a:rPr dirty="0" sz="1100" spc="-5">
                <a:latin typeface="Arial"/>
                <a:cs typeface="Arial"/>
              </a:rPr>
              <a:t>in the HDI, the effect is to assume  perfect substitutability across income, health, and</a:t>
            </a:r>
            <a:r>
              <a:rPr dirty="0" sz="1100" spc="30">
                <a:latin typeface="Arial"/>
                <a:cs typeface="Arial"/>
              </a:rPr>
              <a:t> </a:t>
            </a:r>
            <a:r>
              <a:rPr dirty="0" sz="1100" spc="-5">
                <a:latin typeface="Arial"/>
                <a:cs typeface="Arial"/>
              </a:rPr>
              <a:t>education.</a:t>
            </a:r>
            <a:endParaRPr sz="1100">
              <a:latin typeface="Arial"/>
              <a:cs typeface="Arial"/>
            </a:endParaRPr>
          </a:p>
          <a:p>
            <a:pPr algn="just" marL="12700">
              <a:lnSpc>
                <a:spcPts val="1195"/>
              </a:lnSpc>
            </a:pPr>
            <a:r>
              <a:rPr dirty="0" sz="1100" spc="-5">
                <a:latin typeface="Arial"/>
                <a:cs typeface="Arial"/>
              </a:rPr>
              <a:t>So</a:t>
            </a:r>
            <a:r>
              <a:rPr dirty="0" sz="1100" spc="35">
                <a:latin typeface="Arial"/>
                <a:cs typeface="Arial"/>
              </a:rPr>
              <a:t> </a:t>
            </a:r>
            <a:r>
              <a:rPr dirty="0" sz="1100" spc="-5">
                <a:latin typeface="Arial"/>
                <a:cs typeface="Arial"/>
              </a:rPr>
              <a:t>in</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NHDI,</a:t>
            </a:r>
            <a:r>
              <a:rPr dirty="0" sz="1100" spc="40">
                <a:latin typeface="Arial"/>
                <a:cs typeface="Arial"/>
              </a:rPr>
              <a:t> </a:t>
            </a:r>
            <a:r>
              <a:rPr dirty="0" sz="1100" spc="-5">
                <a:latin typeface="Arial"/>
                <a:cs typeface="Arial"/>
              </a:rPr>
              <a:t>instead</a:t>
            </a:r>
            <a:r>
              <a:rPr dirty="0" sz="1100" spc="3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adding</a:t>
            </a:r>
            <a:r>
              <a:rPr dirty="0" sz="1100" spc="35">
                <a:latin typeface="Arial"/>
                <a:cs typeface="Arial"/>
              </a:rPr>
              <a:t> </a:t>
            </a:r>
            <a:r>
              <a:rPr dirty="0" sz="1100" spc="-5">
                <a:latin typeface="Arial"/>
                <a:cs typeface="Arial"/>
              </a:rPr>
              <a:t>up</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health,</a:t>
            </a:r>
            <a:r>
              <a:rPr dirty="0" sz="1100" spc="30">
                <a:latin typeface="Arial"/>
                <a:cs typeface="Arial"/>
              </a:rPr>
              <a:t> </a:t>
            </a:r>
            <a:r>
              <a:rPr dirty="0" sz="1100" spc="-5">
                <a:latin typeface="Arial"/>
                <a:cs typeface="Arial"/>
              </a:rPr>
              <a:t>education,</a:t>
            </a:r>
            <a:r>
              <a:rPr dirty="0" sz="1100" spc="25">
                <a:latin typeface="Arial"/>
                <a:cs typeface="Arial"/>
              </a:rPr>
              <a:t> </a:t>
            </a:r>
            <a:r>
              <a:rPr dirty="0" sz="1100" spc="-5">
                <a:latin typeface="Arial"/>
                <a:cs typeface="Arial"/>
              </a:rPr>
              <a:t>and</a:t>
            </a:r>
            <a:r>
              <a:rPr dirty="0" sz="1100" spc="40">
                <a:latin typeface="Arial"/>
                <a:cs typeface="Arial"/>
              </a:rPr>
              <a:t> </a:t>
            </a:r>
            <a:r>
              <a:rPr dirty="0" sz="1100" spc="-5">
                <a:latin typeface="Arial"/>
                <a:cs typeface="Arial"/>
              </a:rPr>
              <a:t>income</a:t>
            </a:r>
            <a:r>
              <a:rPr dirty="0" sz="1100" spc="35">
                <a:latin typeface="Arial"/>
                <a:cs typeface="Arial"/>
              </a:rPr>
              <a:t> </a:t>
            </a:r>
            <a:r>
              <a:rPr dirty="0" sz="1100" spc="-5">
                <a:latin typeface="Arial"/>
                <a:cs typeface="Arial"/>
              </a:rPr>
              <a:t>indexes</a:t>
            </a:r>
            <a:r>
              <a:rPr dirty="0" sz="1100" spc="40">
                <a:latin typeface="Arial"/>
                <a:cs typeface="Arial"/>
              </a:rPr>
              <a:t> </a:t>
            </a:r>
            <a:r>
              <a:rPr dirty="0" sz="1100" spc="-5">
                <a:latin typeface="Arial"/>
                <a:cs typeface="Arial"/>
              </a:rPr>
              <a:t>and</a:t>
            </a:r>
            <a:r>
              <a:rPr dirty="0" sz="1100" spc="35">
                <a:latin typeface="Arial"/>
                <a:cs typeface="Arial"/>
              </a:rPr>
              <a:t> </a:t>
            </a:r>
            <a:r>
              <a:rPr dirty="0" sz="1100" spc="-5">
                <a:latin typeface="Arial"/>
                <a:cs typeface="Arial"/>
              </a:rPr>
              <a:t>dividing</a:t>
            </a:r>
            <a:r>
              <a:rPr dirty="0" sz="1100" spc="40">
                <a:latin typeface="Arial"/>
                <a:cs typeface="Arial"/>
              </a:rPr>
              <a:t> </a:t>
            </a:r>
            <a:r>
              <a:rPr dirty="0" sz="1100" spc="-5">
                <a:latin typeface="Arial"/>
                <a:cs typeface="Arial"/>
              </a:rPr>
              <a:t>by</a:t>
            </a:r>
            <a:endParaRPr sz="1100">
              <a:latin typeface="Arial"/>
              <a:cs typeface="Arial"/>
            </a:endParaRPr>
          </a:p>
          <a:p>
            <a:pPr algn="just" marL="12700">
              <a:lnSpc>
                <a:spcPts val="1290"/>
              </a:lnSpc>
            </a:pPr>
            <a:r>
              <a:rPr dirty="0" sz="1100" spc="-5">
                <a:latin typeface="Arial"/>
                <a:cs typeface="Arial"/>
              </a:rPr>
              <a:t>3, the NHDI is calculated with the geometric</a:t>
            </a:r>
            <a:r>
              <a:rPr dirty="0" sz="1100" spc="45">
                <a:latin typeface="Arial"/>
                <a:cs typeface="Arial"/>
              </a:rPr>
              <a:t> </a:t>
            </a:r>
            <a:r>
              <a:rPr dirty="0" sz="1100" spc="-5">
                <a:latin typeface="Arial"/>
                <a:cs typeface="Arial"/>
              </a:rPr>
              <a:t>mean:</a:t>
            </a:r>
            <a:endParaRPr sz="1100">
              <a:latin typeface="Arial"/>
              <a:cs typeface="Arial"/>
            </a:endParaRPr>
          </a:p>
        </p:txBody>
      </p:sp>
      <p:sp>
        <p:nvSpPr>
          <p:cNvPr id="7" name="object 7"/>
          <p:cNvSpPr/>
          <p:nvPr/>
        </p:nvSpPr>
        <p:spPr>
          <a:xfrm>
            <a:off x="914400" y="6192773"/>
            <a:ext cx="1028700" cy="247650"/>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901706" y="6578604"/>
            <a:ext cx="5969000"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Where H stands for the health index, E stands for the education index, and I stands for the  income index.</a:t>
            </a:r>
            <a:endParaRPr sz="11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18</a:t>
            </a:r>
            <a:endParaRPr sz="1100">
              <a:latin typeface="Carlito"/>
              <a:cs typeface="Carli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701794"/>
            <a:ext cx="596963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Table 2.6 shows the 2010 values of the NHDI for a set of 31 countries. South Korea has  achieved the status of a fully developed country, ranking between Japan and Switzerland.  Countries such as Qatar, Guatemala, Côte d’Ivoire, Angola, and South Africa perform more  poorly on </a:t>
            </a:r>
            <a:r>
              <a:rPr dirty="0" sz="1100">
                <a:latin typeface="Arial"/>
                <a:cs typeface="Arial"/>
              </a:rPr>
              <a:t>the </a:t>
            </a:r>
            <a:r>
              <a:rPr dirty="0" sz="1100" spc="-5">
                <a:latin typeface="Arial"/>
                <a:cs typeface="Arial"/>
              </a:rPr>
              <a:t>NHDI than would be predicted from their income level, while the reverse is true of  South Korea, Chile, Bangladesh, Madagascar, and</a:t>
            </a:r>
            <a:r>
              <a:rPr dirty="0" sz="1100" spc="30">
                <a:latin typeface="Arial"/>
                <a:cs typeface="Arial"/>
              </a:rPr>
              <a:t> </a:t>
            </a:r>
            <a:r>
              <a:rPr dirty="0" sz="1100" spc="-5">
                <a:latin typeface="Arial"/>
                <a:cs typeface="Arial"/>
              </a:rPr>
              <a:t>Ghana.</a:t>
            </a:r>
            <a:endParaRPr sz="1100">
              <a:latin typeface="Arial"/>
              <a:cs typeface="Arial"/>
            </a:endParaRPr>
          </a:p>
        </p:txBody>
      </p:sp>
      <p:sp>
        <p:nvSpPr>
          <p:cNvPr id="7" name="object 7"/>
          <p:cNvSpPr/>
          <p:nvPr/>
        </p:nvSpPr>
        <p:spPr>
          <a:xfrm>
            <a:off x="1123950" y="952564"/>
            <a:ext cx="5517845" cy="3739979"/>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19</a:t>
            </a:r>
            <a:endParaRPr sz="110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5202555"/>
          </a:xfrm>
          <a:prstGeom prst="rect">
            <a:avLst/>
          </a:prstGeom>
        </p:spPr>
        <p:txBody>
          <a:bodyPr wrap="square" lIns="0" tIns="12065" rIns="0" bIns="0" rtlCol="0" vert="horz">
            <a:spAutoFit/>
          </a:bodyPr>
          <a:lstStyle/>
          <a:p>
            <a:pPr algn="r" marR="5080">
              <a:lnSpc>
                <a:spcPts val="1295"/>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03</a:t>
            </a:r>
            <a:endParaRPr sz="1100">
              <a:latin typeface="Arial"/>
              <a:cs typeface="Arial"/>
            </a:endParaRPr>
          </a:p>
          <a:p>
            <a:pPr algn="ctr">
              <a:lnSpc>
                <a:spcPts val="1295"/>
              </a:lnSpc>
            </a:pPr>
            <a:r>
              <a:rPr dirty="0" sz="1100" spc="-5" b="1">
                <a:latin typeface="Arial"/>
                <a:cs typeface="Arial"/>
              </a:rPr>
              <a:t>COMPARATIVE ECONOMIC DEVELOPMENT</a:t>
            </a:r>
            <a:r>
              <a:rPr dirty="0" sz="1100" b="1">
                <a:latin typeface="Arial"/>
                <a:cs typeface="Arial"/>
              </a:rPr>
              <a:t> </a:t>
            </a:r>
            <a:r>
              <a:rPr dirty="0" sz="1100" spc="-5" b="1">
                <a:latin typeface="Arial"/>
                <a:cs typeface="Arial"/>
              </a:rPr>
              <a:t>(CONTINUED)</a:t>
            </a:r>
            <a:endParaRPr sz="1100">
              <a:latin typeface="Arial"/>
              <a:cs typeface="Arial"/>
            </a:endParaRPr>
          </a:p>
          <a:p>
            <a:pPr>
              <a:lnSpc>
                <a:spcPct val="100000"/>
              </a:lnSpc>
            </a:pPr>
            <a:endParaRPr sz="1050">
              <a:latin typeface="Arial"/>
              <a:cs typeface="Arial"/>
            </a:endParaRPr>
          </a:p>
          <a:p>
            <a:pPr algn="just" marL="12700">
              <a:lnSpc>
                <a:spcPct val="100000"/>
              </a:lnSpc>
            </a:pPr>
            <a:r>
              <a:rPr dirty="0" sz="1100" spc="-5" b="1">
                <a:latin typeface="Arial"/>
                <a:cs typeface="Arial"/>
              </a:rPr>
              <a:t>CHARACTERISTICS OF THE DEVELOPING </a:t>
            </a:r>
            <a:r>
              <a:rPr dirty="0" sz="1100" spc="-10" b="1">
                <a:latin typeface="Arial"/>
                <a:cs typeface="Arial"/>
              </a:rPr>
              <a:t>WORLD: </a:t>
            </a:r>
            <a:r>
              <a:rPr dirty="0" sz="1100" spc="-5" b="1">
                <a:latin typeface="Arial"/>
                <a:cs typeface="Arial"/>
              </a:rPr>
              <a:t>DIVERSITY WITHIN</a:t>
            </a:r>
            <a:r>
              <a:rPr dirty="0" sz="1100" spc="65" b="1">
                <a:latin typeface="Arial"/>
                <a:cs typeface="Arial"/>
              </a:rPr>
              <a:t> </a:t>
            </a:r>
            <a:r>
              <a:rPr dirty="0" sz="1100" spc="-10" b="1">
                <a:latin typeface="Arial"/>
                <a:cs typeface="Arial"/>
              </a:rPr>
              <a:t>COMMONALITY</a:t>
            </a:r>
            <a:endParaRPr sz="1100">
              <a:latin typeface="Arial"/>
              <a:cs typeface="Arial"/>
            </a:endParaRPr>
          </a:p>
          <a:p>
            <a:pPr>
              <a:lnSpc>
                <a:spcPct val="100000"/>
              </a:lnSpc>
              <a:spcBef>
                <a:spcPts val="25"/>
              </a:spcBef>
            </a:pPr>
            <a:endParaRPr sz="1200">
              <a:latin typeface="Arial"/>
              <a:cs typeface="Arial"/>
            </a:endParaRPr>
          </a:p>
          <a:p>
            <a:pPr algn="just" marL="12700" marR="5715">
              <a:lnSpc>
                <a:spcPts val="1270"/>
              </a:lnSpc>
            </a:pPr>
            <a:r>
              <a:rPr dirty="0" sz="1100" spc="-5">
                <a:latin typeface="Arial"/>
                <a:cs typeface="Arial"/>
              </a:rPr>
              <a:t>This section examines the ten major areas of “diversity within commonality” in the developing  world.</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1. LOWER LEVELS OF LIVING AND</a:t>
            </a:r>
            <a:r>
              <a:rPr dirty="0" sz="1100" spc="40" b="1">
                <a:latin typeface="Arial"/>
                <a:cs typeface="Arial"/>
              </a:rPr>
              <a:t> </a:t>
            </a:r>
            <a:r>
              <a:rPr dirty="0" sz="1100" spc="-5" b="1">
                <a:latin typeface="Arial"/>
                <a:cs typeface="Arial"/>
              </a:rPr>
              <a:t>PRODUCTIVITY</a:t>
            </a:r>
            <a:endParaRPr sz="1100">
              <a:latin typeface="Arial"/>
              <a:cs typeface="Arial"/>
            </a:endParaRPr>
          </a:p>
          <a:p>
            <a:pPr>
              <a:lnSpc>
                <a:spcPct val="100000"/>
              </a:lnSpc>
              <a:spcBef>
                <a:spcPts val="15"/>
              </a:spcBef>
            </a:pPr>
            <a:endParaRPr sz="1200">
              <a:latin typeface="Arial"/>
              <a:cs typeface="Arial"/>
            </a:endParaRPr>
          </a:p>
          <a:p>
            <a:pPr algn="just" marL="12700" marR="5715">
              <a:lnSpc>
                <a:spcPts val="1270"/>
              </a:lnSpc>
            </a:pPr>
            <a:r>
              <a:rPr dirty="0" sz="1100" spc="-5">
                <a:latin typeface="Arial"/>
                <a:cs typeface="Arial"/>
              </a:rPr>
              <a:t>There is a vast gulf in productivity between advanced economies such as the United States and  developing nations, including India and</a:t>
            </a:r>
            <a:r>
              <a:rPr dirty="0" sz="1100" spc="-80">
                <a:latin typeface="Arial"/>
                <a:cs typeface="Arial"/>
              </a:rPr>
              <a:t> </a:t>
            </a:r>
            <a:r>
              <a:rPr dirty="0" sz="1100" spc="-5">
                <a:latin typeface="Arial"/>
                <a:cs typeface="Arial"/>
              </a:rPr>
              <a:t>the</a:t>
            </a:r>
            <a:endParaRPr sz="1100">
              <a:latin typeface="Arial"/>
              <a:cs typeface="Arial"/>
            </a:endParaRPr>
          </a:p>
          <a:p>
            <a:pPr algn="just" marL="12700">
              <a:lnSpc>
                <a:spcPts val="1200"/>
              </a:lnSpc>
            </a:pPr>
            <a:r>
              <a:rPr dirty="0" sz="1100" spc="-5">
                <a:latin typeface="Arial"/>
                <a:cs typeface="Arial"/>
              </a:rPr>
              <a:t>Democratic  Republic  of  Congo  but  also </a:t>
            </a:r>
            <a:r>
              <a:rPr dirty="0" sz="1100" spc="140">
                <a:latin typeface="Arial"/>
                <a:cs typeface="Arial"/>
              </a:rPr>
              <a:t> </a:t>
            </a:r>
            <a:r>
              <a:rPr dirty="0" sz="1100" spc="-5">
                <a:latin typeface="Arial"/>
                <a:cs typeface="Arial"/>
              </a:rPr>
              <a:t>a</a:t>
            </a:r>
            <a:endParaRPr sz="1100">
              <a:latin typeface="Arial"/>
              <a:cs typeface="Arial"/>
            </a:endParaRPr>
          </a:p>
          <a:p>
            <a:pPr algn="just" marL="12700" marR="3166745">
              <a:lnSpc>
                <a:spcPct val="95800"/>
              </a:lnSpc>
              <a:spcBef>
                <a:spcPts val="30"/>
              </a:spcBef>
            </a:pPr>
            <a:r>
              <a:rPr dirty="0" sz="1100" spc="-5">
                <a:latin typeface="Arial"/>
                <a:cs typeface="Arial"/>
              </a:rPr>
              <a:t>wide range among these and other  developing countries. And as we </a:t>
            </a:r>
            <a:r>
              <a:rPr dirty="0" sz="1100">
                <a:latin typeface="Arial"/>
                <a:cs typeface="Arial"/>
              </a:rPr>
              <a:t>have </a:t>
            </a:r>
            <a:r>
              <a:rPr dirty="0" sz="1100" spc="-5">
                <a:latin typeface="Arial"/>
                <a:cs typeface="Arial"/>
              </a:rPr>
              <a:t>seen,  all countries with averages below what is  defined as high income are considered  developing in most taxonomies. Even when  adjusted for purchasing power </a:t>
            </a:r>
            <a:r>
              <a:rPr dirty="0" sz="1100">
                <a:latin typeface="Arial"/>
                <a:cs typeface="Arial"/>
              </a:rPr>
              <a:t>parity </a:t>
            </a:r>
            <a:r>
              <a:rPr dirty="0" sz="1100" spc="-5">
                <a:latin typeface="Arial"/>
                <a:cs typeface="Arial"/>
              </a:rPr>
              <a:t>and  despite extraordinary recent growth in China  and India, the low- and middle-income  developing nations, with more than five-  sixths (84%) of the world’s people, received  slightly more than two-fifths (41%) of the  world’s income in </a:t>
            </a:r>
            <a:r>
              <a:rPr dirty="0" sz="1100">
                <a:latin typeface="Arial"/>
                <a:cs typeface="Arial"/>
              </a:rPr>
              <a:t>2008, </a:t>
            </a:r>
            <a:r>
              <a:rPr dirty="0" sz="1100" spc="-5">
                <a:latin typeface="Arial"/>
                <a:cs typeface="Arial"/>
              </a:rPr>
              <a:t>as seen in Figure  2.4.</a:t>
            </a:r>
            <a:endParaRPr sz="1100">
              <a:latin typeface="Arial"/>
              <a:cs typeface="Arial"/>
            </a:endParaRPr>
          </a:p>
          <a:p>
            <a:pPr>
              <a:lnSpc>
                <a:spcPct val="100000"/>
              </a:lnSpc>
            </a:pPr>
            <a:endParaRPr sz="1050">
              <a:latin typeface="Arial"/>
              <a:cs typeface="Arial"/>
            </a:endParaRPr>
          </a:p>
          <a:p>
            <a:pPr algn="just" marL="12700">
              <a:lnSpc>
                <a:spcPts val="1295"/>
              </a:lnSpc>
            </a:pPr>
            <a:r>
              <a:rPr dirty="0" sz="1100" spc="-5">
                <a:latin typeface="Arial"/>
                <a:cs typeface="Arial"/>
              </a:rPr>
              <a:t>At</a:t>
            </a:r>
            <a:r>
              <a:rPr dirty="0" sz="1100" spc="135">
                <a:latin typeface="Arial"/>
                <a:cs typeface="Arial"/>
              </a:rPr>
              <a:t> </a:t>
            </a:r>
            <a:r>
              <a:rPr dirty="0" sz="1100" spc="-5">
                <a:latin typeface="Arial"/>
                <a:cs typeface="Arial"/>
              </a:rPr>
              <a:t>very</a:t>
            </a:r>
            <a:r>
              <a:rPr dirty="0" sz="1100" spc="135">
                <a:latin typeface="Arial"/>
                <a:cs typeface="Arial"/>
              </a:rPr>
              <a:t> </a:t>
            </a:r>
            <a:r>
              <a:rPr dirty="0" sz="1100" spc="-5">
                <a:latin typeface="Arial"/>
                <a:cs typeface="Arial"/>
              </a:rPr>
              <a:t>low</a:t>
            </a:r>
            <a:r>
              <a:rPr dirty="0" sz="1100" spc="145">
                <a:latin typeface="Arial"/>
                <a:cs typeface="Arial"/>
              </a:rPr>
              <a:t> </a:t>
            </a:r>
            <a:r>
              <a:rPr dirty="0" sz="1100" spc="-5">
                <a:latin typeface="Arial"/>
                <a:cs typeface="Arial"/>
              </a:rPr>
              <a:t>income</a:t>
            </a:r>
            <a:r>
              <a:rPr dirty="0" sz="1100" spc="135">
                <a:latin typeface="Arial"/>
                <a:cs typeface="Arial"/>
              </a:rPr>
              <a:t> </a:t>
            </a:r>
            <a:r>
              <a:rPr dirty="0" sz="1100" spc="-5">
                <a:latin typeface="Arial"/>
                <a:cs typeface="Arial"/>
              </a:rPr>
              <a:t>levels,</a:t>
            </a:r>
            <a:r>
              <a:rPr dirty="0" sz="1100" spc="135">
                <a:latin typeface="Arial"/>
                <a:cs typeface="Arial"/>
              </a:rPr>
              <a:t> </a:t>
            </a:r>
            <a:r>
              <a:rPr dirty="0" sz="1100" spc="-5">
                <a:latin typeface="Arial"/>
                <a:cs typeface="Arial"/>
              </a:rPr>
              <a:t>in</a:t>
            </a:r>
            <a:r>
              <a:rPr dirty="0" sz="1100" spc="135">
                <a:latin typeface="Arial"/>
                <a:cs typeface="Arial"/>
              </a:rPr>
              <a:t> </a:t>
            </a:r>
            <a:r>
              <a:rPr dirty="0" sz="1100" spc="-5">
                <a:latin typeface="Arial"/>
                <a:cs typeface="Arial"/>
              </a:rPr>
              <a:t>fact,</a:t>
            </a:r>
            <a:r>
              <a:rPr dirty="0" sz="1100" spc="140">
                <a:latin typeface="Arial"/>
                <a:cs typeface="Arial"/>
              </a:rPr>
              <a:t> </a:t>
            </a:r>
            <a:r>
              <a:rPr dirty="0" sz="1100" spc="-5">
                <a:latin typeface="Arial"/>
                <a:cs typeface="Arial"/>
              </a:rPr>
              <a:t>a</a:t>
            </a:r>
            <a:r>
              <a:rPr dirty="0" sz="1100" spc="130">
                <a:latin typeface="Arial"/>
                <a:cs typeface="Arial"/>
              </a:rPr>
              <a:t> </a:t>
            </a:r>
            <a:r>
              <a:rPr dirty="0" sz="1100" spc="-5">
                <a:latin typeface="Arial"/>
                <a:cs typeface="Arial"/>
              </a:rPr>
              <a:t>vicious</a:t>
            </a:r>
            <a:endParaRPr sz="1100">
              <a:latin typeface="Arial"/>
              <a:cs typeface="Arial"/>
            </a:endParaRPr>
          </a:p>
          <a:p>
            <a:pPr algn="just" marL="12700" marR="5080">
              <a:lnSpc>
                <a:spcPts val="1270"/>
              </a:lnSpc>
              <a:spcBef>
                <a:spcPts val="55"/>
              </a:spcBef>
            </a:pPr>
            <a:r>
              <a:rPr dirty="0" sz="1100" spc="-5">
                <a:latin typeface="Arial"/>
                <a:cs typeface="Arial"/>
              </a:rPr>
              <a:t>circle may set in, whereby low-income leads to low investment in education and health as well  as plant and equipment and infrastructure, which in turn leads to low productivity and economic  stagnation. This is known as a poverty trap </a:t>
            </a:r>
            <a:r>
              <a:rPr dirty="0" sz="1100">
                <a:latin typeface="Arial"/>
                <a:cs typeface="Arial"/>
              </a:rPr>
              <a:t>or </a:t>
            </a:r>
            <a:r>
              <a:rPr dirty="0" sz="1100" spc="-5">
                <a:latin typeface="Arial"/>
                <a:cs typeface="Arial"/>
              </a:rPr>
              <a:t>what </a:t>
            </a:r>
            <a:r>
              <a:rPr dirty="0" sz="1100">
                <a:latin typeface="Arial"/>
                <a:cs typeface="Arial"/>
              </a:rPr>
              <a:t>Nobel </a:t>
            </a:r>
            <a:r>
              <a:rPr dirty="0" sz="1100" spc="-5">
                <a:latin typeface="Arial"/>
                <a:cs typeface="Arial"/>
              </a:rPr>
              <a:t>laureate Gunnar Myrdal called  “circular and cumulative</a:t>
            </a:r>
            <a:r>
              <a:rPr dirty="0" sz="1100" spc="5">
                <a:latin typeface="Arial"/>
                <a:cs typeface="Arial"/>
              </a:rPr>
              <a:t> </a:t>
            </a:r>
            <a:r>
              <a:rPr dirty="0" sz="1100" spc="-5">
                <a:latin typeface="Arial"/>
                <a:cs typeface="Arial"/>
              </a:rPr>
              <a:t>causation”.</a:t>
            </a:r>
            <a:endParaRPr sz="1100">
              <a:latin typeface="Arial"/>
              <a:cs typeface="Arial"/>
            </a:endParaRPr>
          </a:p>
        </p:txBody>
      </p:sp>
      <p:sp>
        <p:nvSpPr>
          <p:cNvPr id="7" name="object 7"/>
          <p:cNvSpPr txBox="1"/>
          <p:nvPr/>
        </p:nvSpPr>
        <p:spPr>
          <a:xfrm>
            <a:off x="901700" y="8376122"/>
            <a:ext cx="5967730" cy="6756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 12 most populous countries include representatives of all four categories: low-, lower-  middle-, upper-middle-, and high-income countries (see Table 2.7). The 12 least populous on  the list include primarily lower-middle and upper-middle-income countries, although the 12th  least</a:t>
            </a:r>
            <a:r>
              <a:rPr dirty="0" sz="1100" spc="135">
                <a:latin typeface="Arial"/>
                <a:cs typeface="Arial"/>
              </a:rPr>
              <a:t> </a:t>
            </a:r>
            <a:r>
              <a:rPr dirty="0" sz="1100" spc="-5">
                <a:latin typeface="Arial"/>
                <a:cs typeface="Arial"/>
              </a:rPr>
              <a:t>populous</a:t>
            </a:r>
            <a:r>
              <a:rPr dirty="0" sz="1100" spc="135">
                <a:latin typeface="Arial"/>
                <a:cs typeface="Arial"/>
              </a:rPr>
              <a:t> </a:t>
            </a:r>
            <a:r>
              <a:rPr dirty="0" sz="1100" spc="-5">
                <a:latin typeface="Arial"/>
                <a:cs typeface="Arial"/>
              </a:rPr>
              <a:t>country,</a:t>
            </a:r>
            <a:r>
              <a:rPr dirty="0" sz="1100" spc="135">
                <a:latin typeface="Arial"/>
                <a:cs typeface="Arial"/>
              </a:rPr>
              <a:t> </a:t>
            </a:r>
            <a:r>
              <a:rPr dirty="0" sz="1100" spc="-5">
                <a:latin typeface="Arial"/>
                <a:cs typeface="Arial"/>
              </a:rPr>
              <a:t>São</a:t>
            </a:r>
            <a:r>
              <a:rPr dirty="0" sz="1100" spc="135">
                <a:latin typeface="Arial"/>
                <a:cs typeface="Arial"/>
              </a:rPr>
              <a:t> </a:t>
            </a:r>
            <a:r>
              <a:rPr dirty="0" sz="1100" spc="-5">
                <a:latin typeface="Arial"/>
                <a:cs typeface="Arial"/>
              </a:rPr>
              <a:t>Tomé</a:t>
            </a:r>
            <a:r>
              <a:rPr dirty="0" sz="1100" spc="135">
                <a:latin typeface="Arial"/>
                <a:cs typeface="Arial"/>
              </a:rPr>
              <a:t> </a:t>
            </a:r>
            <a:r>
              <a:rPr dirty="0" sz="1100" spc="-5">
                <a:latin typeface="Arial"/>
                <a:cs typeface="Arial"/>
              </a:rPr>
              <a:t>and</a:t>
            </a:r>
            <a:r>
              <a:rPr dirty="0" sz="1100" spc="140">
                <a:latin typeface="Arial"/>
                <a:cs typeface="Arial"/>
              </a:rPr>
              <a:t> </a:t>
            </a:r>
            <a:r>
              <a:rPr dirty="0" sz="1100" spc="-5">
                <a:latin typeface="Arial"/>
                <a:cs typeface="Arial"/>
              </a:rPr>
              <a:t>Príncipe,</a:t>
            </a:r>
            <a:r>
              <a:rPr dirty="0" sz="1100" spc="135">
                <a:latin typeface="Arial"/>
                <a:cs typeface="Arial"/>
              </a:rPr>
              <a:t> </a:t>
            </a:r>
            <a:r>
              <a:rPr dirty="0" sz="1100" spc="-5">
                <a:latin typeface="Arial"/>
                <a:cs typeface="Arial"/>
              </a:rPr>
              <a:t>has</a:t>
            </a:r>
            <a:r>
              <a:rPr dirty="0" sz="1100" spc="140">
                <a:latin typeface="Arial"/>
                <a:cs typeface="Arial"/>
              </a:rPr>
              <a:t> </a:t>
            </a:r>
            <a:r>
              <a:rPr dirty="0" sz="1100" spc="-5">
                <a:latin typeface="Arial"/>
                <a:cs typeface="Arial"/>
              </a:rPr>
              <a:t>a</a:t>
            </a:r>
            <a:r>
              <a:rPr dirty="0" sz="1100" spc="130">
                <a:latin typeface="Arial"/>
                <a:cs typeface="Arial"/>
              </a:rPr>
              <a:t> </a:t>
            </a:r>
            <a:r>
              <a:rPr dirty="0" sz="1100" spc="-5">
                <a:latin typeface="Arial"/>
                <a:cs typeface="Arial"/>
              </a:rPr>
              <a:t>per</a:t>
            </a:r>
            <a:r>
              <a:rPr dirty="0" sz="1100" spc="135">
                <a:latin typeface="Arial"/>
                <a:cs typeface="Arial"/>
              </a:rPr>
              <a:t> </a:t>
            </a:r>
            <a:r>
              <a:rPr dirty="0" sz="1100" spc="-5">
                <a:latin typeface="Arial"/>
                <a:cs typeface="Arial"/>
              </a:rPr>
              <a:t>capita</a:t>
            </a:r>
            <a:r>
              <a:rPr dirty="0" sz="1100" spc="135">
                <a:latin typeface="Arial"/>
                <a:cs typeface="Arial"/>
              </a:rPr>
              <a:t> </a:t>
            </a:r>
            <a:r>
              <a:rPr dirty="0" sz="1100" spc="-5">
                <a:latin typeface="Arial"/>
                <a:cs typeface="Arial"/>
              </a:rPr>
              <a:t>income</a:t>
            </a:r>
            <a:r>
              <a:rPr dirty="0" sz="1100" spc="135">
                <a:latin typeface="Arial"/>
                <a:cs typeface="Arial"/>
              </a:rPr>
              <a:t> </a:t>
            </a:r>
            <a:r>
              <a:rPr dirty="0" sz="1100" spc="-5">
                <a:latin typeface="Arial"/>
                <a:cs typeface="Arial"/>
              </a:rPr>
              <a:t>of</a:t>
            </a:r>
            <a:r>
              <a:rPr dirty="0" sz="1100" spc="140">
                <a:latin typeface="Arial"/>
                <a:cs typeface="Arial"/>
              </a:rPr>
              <a:t> </a:t>
            </a:r>
            <a:r>
              <a:rPr dirty="0" sz="1100" spc="-5">
                <a:latin typeface="Arial"/>
                <a:cs typeface="Arial"/>
              </a:rPr>
              <a:t>just</a:t>
            </a:r>
            <a:r>
              <a:rPr dirty="0" sz="1100" spc="125">
                <a:latin typeface="Arial"/>
                <a:cs typeface="Arial"/>
              </a:rPr>
              <a:t> </a:t>
            </a:r>
            <a:r>
              <a:rPr dirty="0" sz="1100" spc="-5">
                <a:latin typeface="Arial"/>
                <a:cs typeface="Arial"/>
              </a:rPr>
              <a:t>$1,030.</a:t>
            </a:r>
            <a:r>
              <a:rPr dirty="0" sz="1100" spc="135">
                <a:latin typeface="Arial"/>
                <a:cs typeface="Arial"/>
              </a:rPr>
              <a:t> </a:t>
            </a:r>
            <a:r>
              <a:rPr dirty="0" sz="1100" spc="-5">
                <a:latin typeface="Arial"/>
                <a:cs typeface="Arial"/>
              </a:rPr>
              <a:t>And</a:t>
            </a:r>
            <a:endParaRPr sz="1100">
              <a:latin typeface="Arial"/>
              <a:cs typeface="Arial"/>
            </a:endParaRPr>
          </a:p>
        </p:txBody>
      </p:sp>
      <p:sp>
        <p:nvSpPr>
          <p:cNvPr id="8" name="object 8"/>
          <p:cNvSpPr/>
          <p:nvPr/>
        </p:nvSpPr>
        <p:spPr>
          <a:xfrm>
            <a:off x="3870100" y="2850775"/>
            <a:ext cx="2943037" cy="2523775"/>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933450" y="6102096"/>
            <a:ext cx="5945124" cy="2136647"/>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20</a:t>
            </a:r>
            <a:endParaRPr sz="110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000" cy="1653539"/>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four very small but high-income European countries that are UN members (Andorra, Monaco,  Liechtenstein, and San Marino) </a:t>
            </a:r>
            <a:r>
              <a:rPr dirty="0" sz="1100">
                <a:latin typeface="Arial"/>
                <a:cs typeface="Arial"/>
              </a:rPr>
              <a:t>would </a:t>
            </a:r>
            <a:r>
              <a:rPr dirty="0" sz="1100" spc="-5">
                <a:latin typeface="Arial"/>
                <a:cs typeface="Arial"/>
              </a:rPr>
              <a:t>appear on the list if comparable World Bank income data  were available.</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2. LOWER LEVELS OF HUMAN CAPITAL (HEALTH, EDUCATION,</a:t>
            </a:r>
            <a:r>
              <a:rPr dirty="0" sz="1100" spc="80" b="1">
                <a:latin typeface="Arial"/>
                <a:cs typeface="Arial"/>
              </a:rPr>
              <a:t> </a:t>
            </a:r>
            <a:r>
              <a:rPr dirty="0" sz="1100" spc="-5" b="1">
                <a:latin typeface="Arial"/>
                <a:cs typeface="Arial"/>
              </a:rPr>
              <a:t>SKILLS)</a:t>
            </a:r>
            <a:endParaRPr sz="1100">
              <a:latin typeface="Arial"/>
              <a:cs typeface="Arial"/>
            </a:endParaRPr>
          </a:p>
          <a:p>
            <a:pPr>
              <a:lnSpc>
                <a:spcPct val="100000"/>
              </a:lnSpc>
              <a:spcBef>
                <a:spcPts val="25"/>
              </a:spcBef>
            </a:pPr>
            <a:endParaRPr sz="1200">
              <a:latin typeface="Arial"/>
              <a:cs typeface="Arial"/>
            </a:endParaRPr>
          </a:p>
          <a:p>
            <a:pPr marL="12700" marR="6350">
              <a:lnSpc>
                <a:spcPts val="1270"/>
              </a:lnSpc>
            </a:pPr>
            <a:r>
              <a:rPr dirty="0" sz="1100" spc="-5">
                <a:latin typeface="Arial"/>
                <a:cs typeface="Arial"/>
              </a:rPr>
              <a:t>Human capital—health, education, and skills—is vital to economic growth and human  development.</a:t>
            </a:r>
            <a:endParaRPr sz="1100">
              <a:latin typeface="Arial"/>
              <a:cs typeface="Arial"/>
            </a:endParaRPr>
          </a:p>
          <a:p>
            <a:pPr marL="12700">
              <a:lnSpc>
                <a:spcPts val="1200"/>
              </a:lnSpc>
            </a:pPr>
            <a:r>
              <a:rPr dirty="0" sz="1100" spc="-5">
                <a:latin typeface="Arial"/>
                <a:cs typeface="Arial"/>
              </a:rPr>
              <a:t>The</a:t>
            </a:r>
            <a:r>
              <a:rPr dirty="0" sz="1100" spc="65">
                <a:latin typeface="Arial"/>
                <a:cs typeface="Arial"/>
              </a:rPr>
              <a:t> </a:t>
            </a:r>
            <a:r>
              <a:rPr dirty="0" sz="1100" spc="-5">
                <a:latin typeface="Arial"/>
                <a:cs typeface="Arial"/>
              </a:rPr>
              <a:t>under-5</a:t>
            </a:r>
            <a:r>
              <a:rPr dirty="0" sz="1100" spc="60">
                <a:latin typeface="Arial"/>
                <a:cs typeface="Arial"/>
              </a:rPr>
              <a:t> </a:t>
            </a:r>
            <a:r>
              <a:rPr dirty="0" sz="1100" spc="-5">
                <a:latin typeface="Arial"/>
                <a:cs typeface="Arial"/>
              </a:rPr>
              <a:t>mortality</a:t>
            </a:r>
            <a:r>
              <a:rPr dirty="0" sz="1100" spc="65">
                <a:latin typeface="Arial"/>
                <a:cs typeface="Arial"/>
              </a:rPr>
              <a:t> </a:t>
            </a:r>
            <a:r>
              <a:rPr dirty="0" sz="1100" spc="-5">
                <a:latin typeface="Arial"/>
                <a:cs typeface="Arial"/>
              </a:rPr>
              <a:t>is</a:t>
            </a:r>
            <a:r>
              <a:rPr dirty="0" sz="1100" spc="60">
                <a:latin typeface="Arial"/>
                <a:cs typeface="Arial"/>
              </a:rPr>
              <a:t> </a:t>
            </a:r>
            <a:r>
              <a:rPr dirty="0" sz="1100" spc="-5">
                <a:latin typeface="Arial"/>
                <a:cs typeface="Arial"/>
              </a:rPr>
              <a:t>17</a:t>
            </a:r>
            <a:r>
              <a:rPr dirty="0" sz="1100" spc="60">
                <a:latin typeface="Arial"/>
                <a:cs typeface="Arial"/>
              </a:rPr>
              <a:t> </a:t>
            </a:r>
            <a:r>
              <a:rPr dirty="0" sz="1100" spc="-5">
                <a:latin typeface="Arial"/>
                <a:cs typeface="Arial"/>
              </a:rPr>
              <a:t>times</a:t>
            </a:r>
            <a:r>
              <a:rPr dirty="0" sz="1100" spc="70">
                <a:latin typeface="Arial"/>
                <a:cs typeface="Arial"/>
              </a:rPr>
              <a:t> </a:t>
            </a:r>
            <a:r>
              <a:rPr dirty="0" sz="1100" spc="-5">
                <a:latin typeface="Arial"/>
                <a:cs typeface="Arial"/>
              </a:rPr>
              <a:t>higher</a:t>
            </a:r>
            <a:r>
              <a:rPr dirty="0" sz="1100" spc="60">
                <a:latin typeface="Arial"/>
                <a:cs typeface="Arial"/>
              </a:rPr>
              <a:t> </a:t>
            </a:r>
            <a:r>
              <a:rPr dirty="0" sz="1100" spc="-5">
                <a:latin typeface="Arial"/>
                <a:cs typeface="Arial"/>
              </a:rPr>
              <a:t>in</a:t>
            </a:r>
            <a:r>
              <a:rPr dirty="0" sz="1100" spc="60">
                <a:latin typeface="Arial"/>
                <a:cs typeface="Arial"/>
              </a:rPr>
              <a:t> </a:t>
            </a:r>
            <a:r>
              <a:rPr dirty="0" sz="1100" spc="-5">
                <a:latin typeface="Arial"/>
                <a:cs typeface="Arial"/>
              </a:rPr>
              <a:t>low-income</a:t>
            </a:r>
            <a:r>
              <a:rPr dirty="0" sz="1100" spc="65">
                <a:latin typeface="Arial"/>
                <a:cs typeface="Arial"/>
              </a:rPr>
              <a:t> </a:t>
            </a:r>
            <a:r>
              <a:rPr dirty="0" sz="1100" spc="-5">
                <a:latin typeface="Arial"/>
                <a:cs typeface="Arial"/>
              </a:rPr>
              <a:t>countries</a:t>
            </a:r>
            <a:r>
              <a:rPr dirty="0" sz="1100" spc="60">
                <a:latin typeface="Arial"/>
                <a:cs typeface="Arial"/>
              </a:rPr>
              <a:t> </a:t>
            </a:r>
            <a:r>
              <a:rPr dirty="0" sz="1100" spc="-5">
                <a:latin typeface="Arial"/>
                <a:cs typeface="Arial"/>
              </a:rPr>
              <a:t>than</a:t>
            </a:r>
            <a:r>
              <a:rPr dirty="0" sz="1100" spc="65">
                <a:latin typeface="Arial"/>
                <a:cs typeface="Arial"/>
              </a:rPr>
              <a:t> </a:t>
            </a:r>
            <a:r>
              <a:rPr dirty="0" sz="1100" spc="-5">
                <a:latin typeface="Arial"/>
                <a:cs typeface="Arial"/>
              </a:rPr>
              <a:t>in</a:t>
            </a:r>
            <a:r>
              <a:rPr dirty="0" sz="1100" spc="65">
                <a:latin typeface="Arial"/>
                <a:cs typeface="Arial"/>
              </a:rPr>
              <a:t> </a:t>
            </a:r>
            <a:r>
              <a:rPr dirty="0" sz="1100" spc="-5">
                <a:latin typeface="Arial"/>
                <a:cs typeface="Arial"/>
              </a:rPr>
              <a:t>high-income</a:t>
            </a:r>
            <a:r>
              <a:rPr dirty="0" sz="1100" spc="60">
                <a:latin typeface="Arial"/>
                <a:cs typeface="Arial"/>
              </a:rPr>
              <a:t> </a:t>
            </a:r>
            <a:r>
              <a:rPr dirty="0" sz="1100" spc="-5">
                <a:latin typeface="Arial"/>
                <a:cs typeface="Arial"/>
              </a:rPr>
              <a:t>countries,</a:t>
            </a:r>
            <a:endParaRPr sz="1100">
              <a:latin typeface="Arial"/>
              <a:cs typeface="Arial"/>
            </a:endParaRPr>
          </a:p>
          <a:p>
            <a:pPr marL="12700">
              <a:lnSpc>
                <a:spcPts val="1295"/>
              </a:lnSpc>
            </a:pPr>
            <a:r>
              <a:rPr dirty="0" sz="1100" spc="-5">
                <a:latin typeface="Arial"/>
                <a:cs typeface="Arial"/>
              </a:rPr>
              <a:t>although progress has been made since 1990, as shown graphically in Figure</a:t>
            </a:r>
            <a:r>
              <a:rPr dirty="0" sz="1100" spc="105">
                <a:latin typeface="Arial"/>
                <a:cs typeface="Arial"/>
              </a:rPr>
              <a:t> </a:t>
            </a:r>
            <a:r>
              <a:rPr dirty="0" sz="1100" spc="-5">
                <a:latin typeface="Arial"/>
                <a:cs typeface="Arial"/>
              </a:rPr>
              <a:t>2.5.</a:t>
            </a:r>
            <a:endParaRPr sz="1100">
              <a:latin typeface="Arial"/>
              <a:cs typeface="Arial"/>
            </a:endParaRPr>
          </a:p>
        </p:txBody>
      </p:sp>
      <p:sp>
        <p:nvSpPr>
          <p:cNvPr id="7" name="object 7"/>
          <p:cNvSpPr txBox="1"/>
          <p:nvPr/>
        </p:nvSpPr>
        <p:spPr>
          <a:xfrm>
            <a:off x="901700" y="4467857"/>
            <a:ext cx="5969000" cy="115697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Table 2.8 shows primary enrollment rates (percentage of students of primary age enrolled in  school) and the primary school pupil-to-teacher ratio for the four country income groups and for  five major developing</a:t>
            </a:r>
            <a:r>
              <a:rPr dirty="0" sz="1100" spc="10">
                <a:latin typeface="Arial"/>
                <a:cs typeface="Arial"/>
              </a:rPr>
              <a:t> </a:t>
            </a:r>
            <a:r>
              <a:rPr dirty="0" sz="1100" spc="-5">
                <a:latin typeface="Arial"/>
                <a:cs typeface="Arial"/>
              </a:rPr>
              <a:t>regions.</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700"/>
              </a:lnSpc>
            </a:pPr>
            <a:r>
              <a:rPr dirty="0" sz="1100" spc="-5">
                <a:latin typeface="Arial"/>
                <a:cs typeface="Arial"/>
              </a:rPr>
              <a:t>Moreover, </a:t>
            </a:r>
            <a:r>
              <a:rPr dirty="0" sz="1100">
                <a:latin typeface="Arial"/>
                <a:cs typeface="Arial"/>
              </a:rPr>
              <a:t>there </a:t>
            </a:r>
            <a:r>
              <a:rPr dirty="0" sz="1100" spc="-5">
                <a:latin typeface="Arial"/>
                <a:cs typeface="Arial"/>
              </a:rPr>
              <a:t>are strong synergies (complementarities) between progress in health and  education. For example, under-5 mortality rates improve as mothers’ education levels rise, as  seen in the country examples in Figure</a:t>
            </a:r>
            <a:r>
              <a:rPr dirty="0" sz="1100" spc="25">
                <a:latin typeface="Arial"/>
                <a:cs typeface="Arial"/>
              </a:rPr>
              <a:t> </a:t>
            </a:r>
            <a:r>
              <a:rPr dirty="0" sz="1100" spc="-5">
                <a:latin typeface="Arial"/>
                <a:cs typeface="Arial"/>
              </a:rPr>
              <a:t>2.6.</a:t>
            </a:r>
            <a:endParaRPr sz="1100">
              <a:latin typeface="Arial"/>
              <a:cs typeface="Arial"/>
            </a:endParaRPr>
          </a:p>
        </p:txBody>
      </p:sp>
      <p:sp>
        <p:nvSpPr>
          <p:cNvPr id="8" name="object 8"/>
          <p:cNvSpPr/>
          <p:nvPr/>
        </p:nvSpPr>
        <p:spPr>
          <a:xfrm>
            <a:off x="1767673" y="2702266"/>
            <a:ext cx="4226794" cy="1669019"/>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1432560" y="5775197"/>
            <a:ext cx="4935474" cy="2657855"/>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21</a:t>
            </a:r>
            <a:endParaRPr sz="1100">
              <a:latin typeface="Carlito"/>
              <a:cs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2788411"/>
            <a:ext cx="5970270" cy="341947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3. HIGHER </a:t>
            </a:r>
            <a:r>
              <a:rPr dirty="0" sz="1100" spc="-10" b="1">
                <a:latin typeface="Arial"/>
                <a:cs typeface="Arial"/>
              </a:rPr>
              <a:t>LEVELS </a:t>
            </a:r>
            <a:r>
              <a:rPr dirty="0" sz="1100" spc="-5" b="1">
                <a:latin typeface="Arial"/>
                <a:cs typeface="Arial"/>
              </a:rPr>
              <a:t>OF INEQUALITY AND ABSOLUTE</a:t>
            </a:r>
            <a:r>
              <a:rPr dirty="0" sz="1100" spc="50" b="1">
                <a:latin typeface="Arial"/>
                <a:cs typeface="Arial"/>
              </a:rPr>
              <a:t> </a:t>
            </a:r>
            <a:r>
              <a:rPr dirty="0" sz="1100" spc="-5" b="1">
                <a:latin typeface="Arial"/>
                <a:cs typeface="Arial"/>
              </a:rPr>
              <a:t>POVERTY</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Globally, the poorest 20% of people receive just 1.5% of world income. The lowest 20% </a:t>
            </a:r>
            <a:r>
              <a:rPr dirty="0" sz="1100">
                <a:latin typeface="Arial"/>
                <a:cs typeface="Arial"/>
              </a:rPr>
              <a:t>now  </a:t>
            </a:r>
            <a:r>
              <a:rPr dirty="0" sz="1100" spc="-5">
                <a:latin typeface="Arial"/>
                <a:cs typeface="Arial"/>
              </a:rPr>
              <a:t>roughly corresponds to the approximately 1.4 billion people living in extreme poverty on less  than</a:t>
            </a:r>
            <a:r>
              <a:rPr dirty="0" sz="1100" spc="30">
                <a:latin typeface="Arial"/>
                <a:cs typeface="Arial"/>
              </a:rPr>
              <a:t> </a:t>
            </a:r>
            <a:r>
              <a:rPr dirty="0" sz="1100" spc="-5">
                <a:latin typeface="Arial"/>
                <a:cs typeface="Arial"/>
              </a:rPr>
              <a:t>$1.25</a:t>
            </a:r>
            <a:r>
              <a:rPr dirty="0" sz="1100" spc="25">
                <a:latin typeface="Arial"/>
                <a:cs typeface="Arial"/>
              </a:rPr>
              <a:t> </a:t>
            </a:r>
            <a:r>
              <a:rPr dirty="0" sz="1100" spc="-5">
                <a:latin typeface="Arial"/>
                <a:cs typeface="Arial"/>
              </a:rPr>
              <a:t>per</a:t>
            </a:r>
            <a:r>
              <a:rPr dirty="0" sz="1100" spc="30">
                <a:latin typeface="Arial"/>
                <a:cs typeface="Arial"/>
              </a:rPr>
              <a:t> </a:t>
            </a:r>
            <a:r>
              <a:rPr dirty="0" sz="1100" spc="-5">
                <a:latin typeface="Arial"/>
                <a:cs typeface="Arial"/>
              </a:rPr>
              <a:t>day</a:t>
            </a:r>
            <a:r>
              <a:rPr dirty="0" sz="1100" spc="25">
                <a:latin typeface="Arial"/>
                <a:cs typeface="Arial"/>
              </a:rPr>
              <a:t> </a:t>
            </a:r>
            <a:r>
              <a:rPr dirty="0" sz="1100" spc="-5">
                <a:latin typeface="Arial"/>
                <a:cs typeface="Arial"/>
              </a:rPr>
              <a:t>at</a:t>
            </a:r>
            <a:r>
              <a:rPr dirty="0" sz="1100" spc="30">
                <a:latin typeface="Arial"/>
                <a:cs typeface="Arial"/>
              </a:rPr>
              <a:t> </a:t>
            </a:r>
            <a:r>
              <a:rPr dirty="0" sz="1100" spc="-5">
                <a:latin typeface="Arial"/>
                <a:cs typeface="Arial"/>
              </a:rPr>
              <a:t>purchasing</a:t>
            </a:r>
            <a:r>
              <a:rPr dirty="0" sz="1100" spc="30">
                <a:latin typeface="Arial"/>
                <a:cs typeface="Arial"/>
              </a:rPr>
              <a:t> </a:t>
            </a:r>
            <a:r>
              <a:rPr dirty="0" sz="1100" spc="-5">
                <a:latin typeface="Arial"/>
                <a:cs typeface="Arial"/>
              </a:rPr>
              <a:t>power</a:t>
            </a:r>
            <a:r>
              <a:rPr dirty="0" sz="1100" spc="25">
                <a:latin typeface="Arial"/>
                <a:cs typeface="Arial"/>
              </a:rPr>
              <a:t> </a:t>
            </a:r>
            <a:r>
              <a:rPr dirty="0" sz="1100" spc="-5">
                <a:latin typeface="Arial"/>
                <a:cs typeface="Arial"/>
              </a:rPr>
              <a:t>parity.</a:t>
            </a:r>
            <a:r>
              <a:rPr dirty="0" sz="1100" spc="30">
                <a:latin typeface="Arial"/>
                <a:cs typeface="Arial"/>
              </a:rPr>
              <a:t> </a:t>
            </a:r>
            <a:r>
              <a:rPr dirty="0" sz="1100" spc="-5">
                <a:latin typeface="Arial"/>
                <a:cs typeface="Arial"/>
              </a:rPr>
              <a:t>Bringing</a:t>
            </a:r>
            <a:r>
              <a:rPr dirty="0" sz="1100" spc="30">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incomes</a:t>
            </a:r>
            <a:r>
              <a:rPr dirty="0" sz="1100" spc="30">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those</a:t>
            </a:r>
            <a:r>
              <a:rPr dirty="0" sz="1100" spc="30">
                <a:latin typeface="Arial"/>
                <a:cs typeface="Arial"/>
              </a:rPr>
              <a:t> </a:t>
            </a:r>
            <a:r>
              <a:rPr dirty="0" sz="1100" spc="-5">
                <a:latin typeface="Arial"/>
                <a:cs typeface="Arial"/>
              </a:rPr>
              <a:t>living</a:t>
            </a:r>
            <a:r>
              <a:rPr dirty="0" sz="1100" spc="25">
                <a:latin typeface="Arial"/>
                <a:cs typeface="Arial"/>
              </a:rPr>
              <a:t> </a:t>
            </a:r>
            <a:r>
              <a:rPr dirty="0" sz="1100" spc="-5">
                <a:latin typeface="Arial"/>
                <a:cs typeface="Arial"/>
              </a:rPr>
              <a:t>on</a:t>
            </a:r>
            <a:r>
              <a:rPr dirty="0" sz="1100" spc="30">
                <a:latin typeface="Arial"/>
                <a:cs typeface="Arial"/>
              </a:rPr>
              <a:t> </a:t>
            </a:r>
            <a:r>
              <a:rPr dirty="0" sz="1100" spc="-5">
                <a:latin typeface="Arial"/>
                <a:cs typeface="Arial"/>
              </a:rPr>
              <a:t>less</a:t>
            </a:r>
            <a:r>
              <a:rPr dirty="0" sz="1100" spc="25">
                <a:latin typeface="Arial"/>
                <a:cs typeface="Arial"/>
              </a:rPr>
              <a:t> </a:t>
            </a:r>
            <a:r>
              <a:rPr dirty="0" sz="1100" spc="-5">
                <a:latin typeface="Arial"/>
                <a:cs typeface="Arial"/>
              </a:rPr>
              <a:t>than</a:t>
            </a:r>
            <a:endParaRPr sz="1100">
              <a:latin typeface="Arial"/>
              <a:cs typeface="Arial"/>
            </a:endParaRPr>
          </a:p>
          <a:p>
            <a:pPr algn="just" marL="12700">
              <a:lnSpc>
                <a:spcPts val="1195"/>
              </a:lnSpc>
            </a:pPr>
            <a:r>
              <a:rPr dirty="0" sz="1100" spc="-5">
                <a:latin typeface="Arial"/>
                <a:cs typeface="Arial"/>
              </a:rPr>
              <a:t>$1.25</a:t>
            </a:r>
            <a:r>
              <a:rPr dirty="0" sz="1100" spc="75">
                <a:latin typeface="Arial"/>
                <a:cs typeface="Arial"/>
              </a:rPr>
              <a:t> </a:t>
            </a:r>
            <a:r>
              <a:rPr dirty="0" sz="1100" spc="-5">
                <a:latin typeface="Arial"/>
                <a:cs typeface="Arial"/>
              </a:rPr>
              <a:t>per</a:t>
            </a:r>
            <a:r>
              <a:rPr dirty="0" sz="1100" spc="75">
                <a:latin typeface="Arial"/>
                <a:cs typeface="Arial"/>
              </a:rPr>
              <a:t> </a:t>
            </a:r>
            <a:r>
              <a:rPr dirty="0" sz="1100">
                <a:latin typeface="Arial"/>
                <a:cs typeface="Arial"/>
              </a:rPr>
              <a:t>day</a:t>
            </a:r>
            <a:r>
              <a:rPr dirty="0" sz="1100" spc="75">
                <a:latin typeface="Arial"/>
                <a:cs typeface="Arial"/>
              </a:rPr>
              <a:t> </a:t>
            </a:r>
            <a:r>
              <a:rPr dirty="0" sz="1100" spc="-5">
                <a:latin typeface="Arial"/>
                <a:cs typeface="Arial"/>
              </a:rPr>
              <a:t>up</a:t>
            </a:r>
            <a:r>
              <a:rPr dirty="0" sz="1100" spc="80">
                <a:latin typeface="Arial"/>
                <a:cs typeface="Arial"/>
              </a:rPr>
              <a:t> </a:t>
            </a:r>
            <a:r>
              <a:rPr dirty="0" sz="1100" spc="-5">
                <a:latin typeface="Arial"/>
                <a:cs typeface="Arial"/>
              </a:rPr>
              <a:t>to</a:t>
            </a:r>
            <a:r>
              <a:rPr dirty="0" sz="1100" spc="80">
                <a:latin typeface="Arial"/>
                <a:cs typeface="Arial"/>
              </a:rPr>
              <a:t> </a:t>
            </a:r>
            <a:r>
              <a:rPr dirty="0" sz="1100" spc="-5">
                <a:latin typeface="Arial"/>
                <a:cs typeface="Arial"/>
              </a:rPr>
              <a:t>this</a:t>
            </a:r>
            <a:r>
              <a:rPr dirty="0" sz="1100" spc="75">
                <a:latin typeface="Arial"/>
                <a:cs typeface="Arial"/>
              </a:rPr>
              <a:t> </a:t>
            </a:r>
            <a:r>
              <a:rPr dirty="0" sz="1100" spc="-5">
                <a:latin typeface="Arial"/>
                <a:cs typeface="Arial"/>
              </a:rPr>
              <a:t>minimal</a:t>
            </a:r>
            <a:r>
              <a:rPr dirty="0" sz="1100" spc="80">
                <a:latin typeface="Arial"/>
                <a:cs typeface="Arial"/>
              </a:rPr>
              <a:t> </a:t>
            </a:r>
            <a:r>
              <a:rPr dirty="0" sz="1100" spc="-5">
                <a:latin typeface="Arial"/>
                <a:cs typeface="Arial"/>
              </a:rPr>
              <a:t>poverty</a:t>
            </a:r>
            <a:r>
              <a:rPr dirty="0" sz="1100" spc="75">
                <a:latin typeface="Arial"/>
                <a:cs typeface="Arial"/>
              </a:rPr>
              <a:t> </a:t>
            </a:r>
            <a:r>
              <a:rPr dirty="0" sz="1100" spc="-5">
                <a:latin typeface="Arial"/>
                <a:cs typeface="Arial"/>
              </a:rPr>
              <a:t>line</a:t>
            </a:r>
            <a:r>
              <a:rPr dirty="0" sz="1100" spc="75">
                <a:latin typeface="Arial"/>
                <a:cs typeface="Arial"/>
              </a:rPr>
              <a:t> </a:t>
            </a:r>
            <a:r>
              <a:rPr dirty="0" sz="1100" spc="-5">
                <a:latin typeface="Arial"/>
                <a:cs typeface="Arial"/>
              </a:rPr>
              <a:t>would</a:t>
            </a:r>
            <a:r>
              <a:rPr dirty="0" sz="1100" spc="80">
                <a:latin typeface="Arial"/>
                <a:cs typeface="Arial"/>
              </a:rPr>
              <a:t> </a:t>
            </a:r>
            <a:r>
              <a:rPr dirty="0" sz="1100" spc="-5">
                <a:latin typeface="Arial"/>
                <a:cs typeface="Arial"/>
              </a:rPr>
              <a:t>require</a:t>
            </a:r>
            <a:r>
              <a:rPr dirty="0" sz="1100" spc="75">
                <a:latin typeface="Arial"/>
                <a:cs typeface="Arial"/>
              </a:rPr>
              <a:t> </a:t>
            </a:r>
            <a:r>
              <a:rPr dirty="0" sz="1100" spc="-5">
                <a:latin typeface="Arial"/>
                <a:cs typeface="Arial"/>
              </a:rPr>
              <a:t>less</a:t>
            </a:r>
            <a:r>
              <a:rPr dirty="0" sz="1100" spc="75">
                <a:latin typeface="Arial"/>
                <a:cs typeface="Arial"/>
              </a:rPr>
              <a:t> </a:t>
            </a:r>
            <a:r>
              <a:rPr dirty="0" sz="1100" spc="-5">
                <a:latin typeface="Arial"/>
                <a:cs typeface="Arial"/>
              </a:rPr>
              <a:t>than</a:t>
            </a:r>
            <a:r>
              <a:rPr dirty="0" sz="1100" spc="75">
                <a:latin typeface="Arial"/>
                <a:cs typeface="Arial"/>
              </a:rPr>
              <a:t> </a:t>
            </a:r>
            <a:r>
              <a:rPr dirty="0" sz="1100" spc="-5">
                <a:latin typeface="Arial"/>
                <a:cs typeface="Arial"/>
              </a:rPr>
              <a:t>2%</a:t>
            </a:r>
            <a:r>
              <a:rPr dirty="0" sz="1100" spc="8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incomes</a:t>
            </a:r>
            <a:r>
              <a:rPr dirty="0" sz="1100" spc="8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the</a:t>
            </a:r>
            <a:endParaRPr sz="1100">
              <a:latin typeface="Arial"/>
              <a:cs typeface="Arial"/>
            </a:endParaRPr>
          </a:p>
          <a:p>
            <a:pPr algn="just" marL="12700">
              <a:lnSpc>
                <a:spcPts val="1295"/>
              </a:lnSpc>
            </a:pPr>
            <a:r>
              <a:rPr dirty="0" sz="1100" spc="-5">
                <a:latin typeface="Arial"/>
                <a:cs typeface="Arial"/>
              </a:rPr>
              <a:t>world’s wealthiest 10%. Thus the </a:t>
            </a:r>
            <a:r>
              <a:rPr dirty="0" sz="1100">
                <a:latin typeface="Arial"/>
                <a:cs typeface="Arial"/>
              </a:rPr>
              <a:t>scale </a:t>
            </a:r>
            <a:r>
              <a:rPr dirty="0" sz="1100" spc="-5">
                <a:latin typeface="Arial"/>
                <a:cs typeface="Arial"/>
              </a:rPr>
              <a:t>of global inequality is</a:t>
            </a:r>
            <a:r>
              <a:rPr dirty="0" sz="1100" spc="60">
                <a:latin typeface="Arial"/>
                <a:cs typeface="Arial"/>
              </a:rPr>
              <a:t> </a:t>
            </a:r>
            <a:r>
              <a:rPr dirty="0" sz="1100" spc="-5">
                <a:latin typeface="Arial"/>
                <a:cs typeface="Arial"/>
              </a:rPr>
              <a:t>immense.</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But the enormous gap in per capita incomes between rich and poor nations is not the only  manifestation of the huge global economic disparities. To appreciate the breadth and depth of  deprivation in developing countries, it is also necessary to look at the gap between rich and poor  within individual developing countries. Very </a:t>
            </a:r>
            <a:r>
              <a:rPr dirty="0" sz="1100">
                <a:latin typeface="Arial"/>
                <a:cs typeface="Arial"/>
              </a:rPr>
              <a:t>high </a:t>
            </a:r>
            <a:r>
              <a:rPr dirty="0" sz="1100" spc="-5">
                <a:latin typeface="Arial"/>
                <a:cs typeface="Arial"/>
              </a:rPr>
              <a:t>levels of inequality—extremes in </a:t>
            </a:r>
            <a:r>
              <a:rPr dirty="0" sz="1100">
                <a:latin typeface="Arial"/>
                <a:cs typeface="Arial"/>
              </a:rPr>
              <a:t>the </a:t>
            </a:r>
            <a:r>
              <a:rPr dirty="0" sz="1100" spc="-5">
                <a:latin typeface="Arial"/>
                <a:cs typeface="Arial"/>
              </a:rPr>
              <a:t>relative  incomes of higher- and lower-income citizens—are found in </a:t>
            </a:r>
            <a:r>
              <a:rPr dirty="0" sz="1100">
                <a:latin typeface="Arial"/>
                <a:cs typeface="Arial"/>
              </a:rPr>
              <a:t>many </a:t>
            </a:r>
            <a:r>
              <a:rPr dirty="0" sz="1100" spc="-5">
                <a:latin typeface="Arial"/>
                <a:cs typeface="Arial"/>
              </a:rPr>
              <a:t>middle income countries,  partly because Latin American countries historically tend to be both middle-income and highly  unequal.</a:t>
            </a:r>
            <a:endParaRPr sz="1100">
              <a:latin typeface="Arial"/>
              <a:cs typeface="Arial"/>
            </a:endParaRPr>
          </a:p>
          <a:p>
            <a:pPr>
              <a:lnSpc>
                <a:spcPct val="100000"/>
              </a:lnSpc>
              <a:spcBef>
                <a:spcPts val="30"/>
              </a:spcBef>
            </a:pPr>
            <a:endParaRPr sz="1100">
              <a:latin typeface="Arial"/>
              <a:cs typeface="Arial"/>
            </a:endParaRPr>
          </a:p>
          <a:p>
            <a:pPr marL="12700" marR="5715">
              <a:lnSpc>
                <a:spcPts val="1270"/>
              </a:lnSpc>
            </a:pPr>
            <a:r>
              <a:rPr dirty="0" sz="1100" spc="-5" b="1">
                <a:latin typeface="Arial"/>
                <a:cs typeface="Arial"/>
              </a:rPr>
              <a:t>Absolute poverty: </a:t>
            </a:r>
            <a:r>
              <a:rPr dirty="0" sz="1100" spc="-5">
                <a:latin typeface="Arial"/>
                <a:cs typeface="Arial"/>
              </a:rPr>
              <a:t>The situation of being unable or only barely able </a:t>
            </a:r>
            <a:r>
              <a:rPr dirty="0" sz="1100">
                <a:latin typeface="Arial"/>
                <a:cs typeface="Arial"/>
              </a:rPr>
              <a:t>to </a:t>
            </a:r>
            <a:r>
              <a:rPr dirty="0" sz="1100" spc="-5">
                <a:latin typeface="Arial"/>
                <a:cs typeface="Arial"/>
              </a:rPr>
              <a:t>meet the subsistence  essentials of food, clothing, shelter, and basic health</a:t>
            </a:r>
            <a:r>
              <a:rPr dirty="0" sz="1100" spc="35">
                <a:latin typeface="Arial"/>
                <a:cs typeface="Arial"/>
              </a:rPr>
              <a:t> </a:t>
            </a:r>
            <a:r>
              <a:rPr dirty="0" sz="1100" spc="-5">
                <a:latin typeface="Arial"/>
                <a:cs typeface="Arial"/>
              </a:rPr>
              <a:t>care.</a:t>
            </a:r>
            <a:endParaRPr sz="1100">
              <a:latin typeface="Arial"/>
              <a:cs typeface="Arial"/>
            </a:endParaRPr>
          </a:p>
          <a:p>
            <a:pPr marL="12700">
              <a:lnSpc>
                <a:spcPts val="1195"/>
              </a:lnSpc>
            </a:pPr>
            <a:r>
              <a:rPr dirty="0" sz="1100" spc="-5">
                <a:latin typeface="Arial"/>
                <a:cs typeface="Arial"/>
              </a:rPr>
              <a:t>Figure</a:t>
            </a:r>
            <a:r>
              <a:rPr dirty="0" sz="1100" spc="125">
                <a:latin typeface="Arial"/>
                <a:cs typeface="Arial"/>
              </a:rPr>
              <a:t> </a:t>
            </a:r>
            <a:r>
              <a:rPr dirty="0" sz="1100" spc="-5">
                <a:latin typeface="Arial"/>
                <a:cs typeface="Arial"/>
              </a:rPr>
              <a:t>2.7</a:t>
            </a:r>
            <a:r>
              <a:rPr dirty="0" sz="1100" spc="125">
                <a:latin typeface="Arial"/>
                <a:cs typeface="Arial"/>
              </a:rPr>
              <a:t> </a:t>
            </a:r>
            <a:r>
              <a:rPr dirty="0" sz="1100" spc="-5">
                <a:latin typeface="Arial"/>
                <a:cs typeface="Arial"/>
              </a:rPr>
              <a:t>shows</a:t>
            </a:r>
            <a:r>
              <a:rPr dirty="0" sz="1100" spc="125">
                <a:latin typeface="Arial"/>
                <a:cs typeface="Arial"/>
              </a:rPr>
              <a:t> </a:t>
            </a:r>
            <a:r>
              <a:rPr dirty="0" sz="1100" spc="-5">
                <a:latin typeface="Arial"/>
                <a:cs typeface="Arial"/>
              </a:rPr>
              <a:t>that</a:t>
            </a:r>
            <a:r>
              <a:rPr dirty="0" sz="1100" spc="130">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number</a:t>
            </a:r>
            <a:r>
              <a:rPr dirty="0" sz="1100" spc="130">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people</a:t>
            </a:r>
            <a:r>
              <a:rPr dirty="0" sz="1100" spc="125">
                <a:latin typeface="Arial"/>
                <a:cs typeface="Arial"/>
              </a:rPr>
              <a:t> </a:t>
            </a:r>
            <a:r>
              <a:rPr dirty="0" sz="1100" spc="-5">
                <a:latin typeface="Arial"/>
                <a:cs typeface="Arial"/>
              </a:rPr>
              <a:t>living</a:t>
            </a:r>
            <a:r>
              <a:rPr dirty="0" sz="1100" spc="125">
                <a:latin typeface="Arial"/>
                <a:cs typeface="Arial"/>
              </a:rPr>
              <a:t> </a:t>
            </a:r>
            <a:r>
              <a:rPr dirty="0" sz="1100" spc="-5">
                <a:latin typeface="Arial"/>
                <a:cs typeface="Arial"/>
              </a:rPr>
              <a:t>on</a:t>
            </a:r>
            <a:r>
              <a:rPr dirty="0" sz="1100" spc="130">
                <a:latin typeface="Arial"/>
                <a:cs typeface="Arial"/>
              </a:rPr>
              <a:t> </a:t>
            </a:r>
            <a:r>
              <a:rPr dirty="0" sz="1100" spc="-5">
                <a:latin typeface="Arial"/>
                <a:cs typeface="Arial"/>
              </a:rPr>
              <a:t>less</a:t>
            </a:r>
            <a:r>
              <a:rPr dirty="0" sz="1100" spc="125">
                <a:latin typeface="Arial"/>
                <a:cs typeface="Arial"/>
              </a:rPr>
              <a:t> </a:t>
            </a:r>
            <a:r>
              <a:rPr dirty="0" sz="1100" spc="-5">
                <a:latin typeface="Arial"/>
                <a:cs typeface="Arial"/>
              </a:rPr>
              <a:t>than</a:t>
            </a:r>
            <a:r>
              <a:rPr dirty="0" sz="1100" spc="125">
                <a:latin typeface="Arial"/>
                <a:cs typeface="Arial"/>
              </a:rPr>
              <a:t> </a:t>
            </a:r>
            <a:r>
              <a:rPr dirty="0" sz="1100" spc="-5">
                <a:latin typeface="Arial"/>
                <a:cs typeface="Arial"/>
              </a:rPr>
              <a:t>$1.25</a:t>
            </a:r>
            <a:r>
              <a:rPr dirty="0" sz="1100" spc="130">
                <a:latin typeface="Arial"/>
                <a:cs typeface="Arial"/>
              </a:rPr>
              <a:t> </a:t>
            </a:r>
            <a:r>
              <a:rPr dirty="0" sz="1100" spc="-5">
                <a:latin typeface="Arial"/>
                <a:cs typeface="Arial"/>
              </a:rPr>
              <a:t>per</a:t>
            </a:r>
            <a:r>
              <a:rPr dirty="0" sz="1100" spc="125">
                <a:latin typeface="Arial"/>
                <a:cs typeface="Arial"/>
              </a:rPr>
              <a:t> </a:t>
            </a:r>
            <a:r>
              <a:rPr dirty="0" sz="1100" spc="-5">
                <a:latin typeface="Arial"/>
                <a:cs typeface="Arial"/>
              </a:rPr>
              <a:t>day</a:t>
            </a:r>
            <a:r>
              <a:rPr dirty="0" sz="1100" spc="125">
                <a:latin typeface="Arial"/>
                <a:cs typeface="Arial"/>
              </a:rPr>
              <a:t> </a:t>
            </a:r>
            <a:r>
              <a:rPr dirty="0" sz="1100" spc="-5">
                <a:latin typeface="Arial"/>
                <a:cs typeface="Arial"/>
              </a:rPr>
              <a:t>has</a:t>
            </a:r>
            <a:r>
              <a:rPr dirty="0" sz="1100" spc="135">
                <a:latin typeface="Arial"/>
                <a:cs typeface="Arial"/>
              </a:rPr>
              <a:t> </a:t>
            </a:r>
            <a:r>
              <a:rPr dirty="0" sz="1100" spc="-5">
                <a:latin typeface="Arial"/>
                <a:cs typeface="Arial"/>
              </a:rPr>
              <a:t>fallen</a:t>
            </a:r>
            <a:r>
              <a:rPr dirty="0" sz="1100" spc="125">
                <a:latin typeface="Arial"/>
                <a:cs typeface="Arial"/>
              </a:rPr>
              <a:t> </a:t>
            </a:r>
            <a:r>
              <a:rPr dirty="0" sz="1100" spc="-5">
                <a:latin typeface="Arial"/>
                <a:cs typeface="Arial"/>
              </a:rPr>
              <a:t>from</a:t>
            </a:r>
            <a:endParaRPr sz="1100">
              <a:latin typeface="Arial"/>
              <a:cs typeface="Arial"/>
            </a:endParaRPr>
          </a:p>
          <a:p>
            <a:pPr marL="12700" marR="8255">
              <a:lnSpc>
                <a:spcPts val="1270"/>
              </a:lnSpc>
              <a:spcBef>
                <a:spcPts val="55"/>
              </a:spcBef>
            </a:pPr>
            <a:r>
              <a:rPr dirty="0" sz="1100" spc="-5">
                <a:latin typeface="Arial"/>
                <a:cs typeface="Arial"/>
              </a:rPr>
              <a:t>about 1.9 billion in 1981 to about 1.4 billion in 2005; this is despite a more than 40% increase in  world population.</a:t>
            </a:r>
            <a:endParaRPr sz="1100">
              <a:latin typeface="Arial"/>
              <a:cs typeface="Arial"/>
            </a:endParaRPr>
          </a:p>
        </p:txBody>
      </p:sp>
      <p:sp>
        <p:nvSpPr>
          <p:cNvPr id="7" name="object 7"/>
          <p:cNvSpPr/>
          <p:nvPr/>
        </p:nvSpPr>
        <p:spPr>
          <a:xfrm>
            <a:off x="1588769" y="786383"/>
            <a:ext cx="4572135" cy="2020061"/>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356954" y="6405371"/>
            <a:ext cx="5078135" cy="2132857"/>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22</a:t>
            </a:r>
            <a:endParaRPr sz="1100">
              <a:latin typeface="Carlito"/>
              <a:cs typeface="Carli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69000" cy="133159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4. HIGHER POPULATION GROWTH</a:t>
            </a:r>
            <a:r>
              <a:rPr dirty="0" sz="1100" spc="20" b="1">
                <a:latin typeface="Arial"/>
                <a:cs typeface="Arial"/>
              </a:rPr>
              <a:t> </a:t>
            </a:r>
            <a:r>
              <a:rPr dirty="0" sz="1100" spc="-5" b="1">
                <a:latin typeface="Arial"/>
                <a:cs typeface="Arial"/>
              </a:rPr>
              <a:t>RATES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Global population has skyrocketed since the beginning of the industrial era, from just under 1  billion in 1800 to 1.65 billion in 1900 and to over 6 billion by 2000. in recent decades, most  population growth has been centered in the developing world. Compared with the developed  countries, which often have birth rates near or even below replacement (zero population growth)  levels, the low-income developing countries have very high birth rates. More than five sixths of  all the people in the world now live in developing</a:t>
            </a:r>
            <a:r>
              <a:rPr dirty="0" sz="1100" spc="60">
                <a:latin typeface="Arial"/>
                <a:cs typeface="Arial"/>
              </a:rPr>
              <a:t> </a:t>
            </a:r>
            <a:r>
              <a:rPr dirty="0" sz="1100" spc="-5">
                <a:latin typeface="Arial"/>
                <a:cs typeface="Arial"/>
              </a:rPr>
              <a:t>countries.</a:t>
            </a:r>
            <a:endParaRPr sz="1100">
              <a:latin typeface="Arial"/>
              <a:cs typeface="Arial"/>
            </a:endParaRPr>
          </a:p>
        </p:txBody>
      </p:sp>
      <p:sp>
        <p:nvSpPr>
          <p:cNvPr id="7" name="object 7"/>
          <p:cNvSpPr txBox="1"/>
          <p:nvPr/>
        </p:nvSpPr>
        <p:spPr>
          <a:xfrm>
            <a:off x="901658" y="4280392"/>
            <a:ext cx="5969635" cy="441325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 very </a:t>
            </a:r>
            <a:r>
              <a:rPr dirty="0" sz="1100">
                <a:latin typeface="Arial"/>
                <a:cs typeface="Arial"/>
              </a:rPr>
              <a:t>wide </a:t>
            </a:r>
            <a:r>
              <a:rPr dirty="0" sz="1100" spc="-5">
                <a:latin typeface="Arial"/>
                <a:cs typeface="Arial"/>
              </a:rPr>
              <a:t>range of </a:t>
            </a:r>
            <a:r>
              <a:rPr dirty="0" sz="1100" spc="-5" b="1">
                <a:latin typeface="Arial"/>
                <a:cs typeface="Arial"/>
              </a:rPr>
              <a:t>crude birth rates </a:t>
            </a:r>
            <a:r>
              <a:rPr dirty="0" sz="1100" spc="-5">
                <a:latin typeface="Arial"/>
                <a:cs typeface="Arial"/>
              </a:rPr>
              <a:t>around the world is illustrated in Table 2.9. As of  2010, the average rate of population growth was about 1.4% in the developing</a:t>
            </a:r>
            <a:r>
              <a:rPr dirty="0" sz="1100" spc="155">
                <a:latin typeface="Arial"/>
                <a:cs typeface="Arial"/>
              </a:rPr>
              <a:t> </a:t>
            </a:r>
            <a:r>
              <a:rPr dirty="0" sz="1100" spc="-5">
                <a:latin typeface="Arial"/>
                <a:cs typeface="Arial"/>
              </a:rPr>
              <a:t>countries.</a:t>
            </a:r>
            <a:endParaRPr sz="1100">
              <a:latin typeface="Arial"/>
              <a:cs typeface="Arial"/>
            </a:endParaRPr>
          </a:p>
          <a:p>
            <a:pPr>
              <a:lnSpc>
                <a:spcPct val="100000"/>
              </a:lnSpc>
              <a:spcBef>
                <a:spcPts val="45"/>
              </a:spcBef>
            </a:pPr>
            <a:endParaRPr sz="1050">
              <a:latin typeface="Arial"/>
              <a:cs typeface="Arial"/>
            </a:endParaRPr>
          </a:p>
          <a:p>
            <a:pPr algn="just" marL="469900" indent="-229235">
              <a:lnSpc>
                <a:spcPts val="1290"/>
              </a:lnSpc>
              <a:buFont typeface="Symbol"/>
              <a:buChar char=""/>
              <a:tabLst>
                <a:tab pos="470534" algn="l"/>
              </a:tabLst>
            </a:pPr>
            <a:r>
              <a:rPr dirty="0" sz="1100" spc="-5" b="1">
                <a:latin typeface="Arial"/>
                <a:cs typeface="Arial"/>
              </a:rPr>
              <a:t>Crude birth rate: </a:t>
            </a:r>
            <a:r>
              <a:rPr dirty="0" sz="1100" spc="-5">
                <a:latin typeface="Arial"/>
                <a:cs typeface="Arial"/>
              </a:rPr>
              <a:t>The number of children born alive each year per 1,000</a:t>
            </a:r>
            <a:r>
              <a:rPr dirty="0" sz="1100" spc="175">
                <a:latin typeface="Arial"/>
                <a:cs typeface="Arial"/>
              </a:rPr>
              <a:t> </a:t>
            </a:r>
            <a:r>
              <a:rPr dirty="0" sz="1100" spc="-5">
                <a:latin typeface="Arial"/>
                <a:cs typeface="Arial"/>
              </a:rPr>
              <a:t>population.</a:t>
            </a:r>
            <a:endParaRPr sz="1100">
              <a:latin typeface="Arial"/>
              <a:cs typeface="Arial"/>
            </a:endParaRPr>
          </a:p>
          <a:p>
            <a:pPr algn="just" marL="12700" marR="5080">
              <a:lnSpc>
                <a:spcPts val="1270"/>
              </a:lnSpc>
              <a:spcBef>
                <a:spcPts val="55"/>
              </a:spcBef>
            </a:pPr>
            <a:r>
              <a:rPr dirty="0" sz="1100" spc="-5">
                <a:latin typeface="Arial"/>
                <a:cs typeface="Arial"/>
              </a:rPr>
              <a:t>A major implication of high birth rates is that the active labor force has to support proportionally  almost twice as many children as it does in richer countries. By contrast, the proportion of  people over the age of 65 is </a:t>
            </a:r>
            <a:r>
              <a:rPr dirty="0" sz="1100">
                <a:latin typeface="Arial"/>
                <a:cs typeface="Arial"/>
              </a:rPr>
              <a:t>much </a:t>
            </a:r>
            <a:r>
              <a:rPr dirty="0" sz="1100" spc="-5">
                <a:latin typeface="Arial"/>
                <a:cs typeface="Arial"/>
              </a:rPr>
              <a:t>greater in the developed nations. Both older people and  children are often referred to as an </a:t>
            </a:r>
            <a:r>
              <a:rPr dirty="0" sz="1100" spc="-5" b="1">
                <a:latin typeface="Arial"/>
                <a:cs typeface="Arial"/>
              </a:rPr>
              <a:t>economic dependency</a:t>
            </a:r>
            <a:r>
              <a:rPr dirty="0" sz="1100" spc="45" b="1">
                <a:latin typeface="Arial"/>
                <a:cs typeface="Arial"/>
              </a:rPr>
              <a:t> </a:t>
            </a:r>
            <a:r>
              <a:rPr dirty="0" sz="1100" spc="-5" b="1">
                <a:latin typeface="Arial"/>
                <a:cs typeface="Arial"/>
              </a:rPr>
              <a:t>burden.</a:t>
            </a:r>
            <a:endParaRPr sz="1100">
              <a:latin typeface="Arial"/>
              <a:cs typeface="Arial"/>
            </a:endParaRPr>
          </a:p>
          <a:p>
            <a:pPr>
              <a:lnSpc>
                <a:spcPct val="100000"/>
              </a:lnSpc>
              <a:spcBef>
                <a:spcPts val="30"/>
              </a:spcBef>
            </a:pPr>
            <a:endParaRPr sz="1100">
              <a:latin typeface="Arial"/>
              <a:cs typeface="Arial"/>
            </a:endParaRPr>
          </a:p>
          <a:p>
            <a:pPr algn="just" marL="469900" marR="6350" indent="-228600">
              <a:lnSpc>
                <a:spcPct val="95700"/>
              </a:lnSpc>
              <a:buFont typeface="Symbol"/>
              <a:buChar char=""/>
              <a:tabLst>
                <a:tab pos="469900" algn="l"/>
              </a:tabLst>
            </a:pPr>
            <a:r>
              <a:rPr dirty="0" sz="1100" spc="-5" b="1">
                <a:latin typeface="Arial"/>
                <a:cs typeface="Arial"/>
              </a:rPr>
              <a:t>Dependency burden: </a:t>
            </a:r>
            <a:r>
              <a:rPr dirty="0" sz="1100" spc="-5">
                <a:latin typeface="Arial"/>
                <a:cs typeface="Arial"/>
              </a:rPr>
              <a:t>The proportion of the total population aged 0 to 15 and 65+,  which is considered economically unproductive and therefore not counted in the labor  force.</a:t>
            </a:r>
            <a:endParaRPr sz="1100">
              <a:latin typeface="Arial"/>
              <a:cs typeface="Arial"/>
            </a:endParaRPr>
          </a:p>
          <a:p>
            <a:pPr>
              <a:lnSpc>
                <a:spcPct val="100000"/>
              </a:lnSpc>
              <a:spcBef>
                <a:spcPts val="10"/>
              </a:spcBef>
            </a:pPr>
            <a:endParaRPr sz="1050">
              <a:latin typeface="Arial"/>
              <a:cs typeface="Arial"/>
            </a:endParaRPr>
          </a:p>
          <a:p>
            <a:pPr marL="167640" indent="-155575">
              <a:lnSpc>
                <a:spcPct val="100000"/>
              </a:lnSpc>
              <a:buAutoNum type="arabicPeriod" startAt="5"/>
              <a:tabLst>
                <a:tab pos="168275" algn="l"/>
              </a:tabLst>
            </a:pPr>
            <a:r>
              <a:rPr dirty="0" sz="1100" b="1">
                <a:latin typeface="Arial"/>
                <a:cs typeface="Arial"/>
              </a:rPr>
              <a:t>GREATER </a:t>
            </a:r>
            <a:r>
              <a:rPr dirty="0" sz="1100" spc="-5" b="1">
                <a:latin typeface="Arial"/>
                <a:cs typeface="Arial"/>
              </a:rPr>
              <a:t>SOCIAL</a:t>
            </a:r>
            <a:r>
              <a:rPr dirty="0" sz="1100" b="1">
                <a:latin typeface="Arial"/>
                <a:cs typeface="Arial"/>
              </a:rPr>
              <a:t> </a:t>
            </a:r>
            <a:r>
              <a:rPr dirty="0" sz="1100" spc="-5" b="1">
                <a:latin typeface="Arial"/>
                <a:cs typeface="Arial"/>
              </a:rPr>
              <a:t>FRACTIONALIZATION</a:t>
            </a:r>
            <a:endParaRPr sz="1100">
              <a:latin typeface="Arial"/>
              <a:cs typeface="Arial"/>
            </a:endParaRPr>
          </a:p>
          <a:p>
            <a:pPr>
              <a:lnSpc>
                <a:spcPct val="100000"/>
              </a:lnSpc>
              <a:spcBef>
                <a:spcPts val="50"/>
              </a:spcBef>
              <a:buFont typeface="Arial"/>
              <a:buAutoNum type="arabicPeriod" startAt="5"/>
            </a:pPr>
            <a:endParaRPr sz="1150">
              <a:latin typeface="Arial"/>
              <a:cs typeface="Arial"/>
            </a:endParaRPr>
          </a:p>
          <a:p>
            <a:pPr algn="just" marL="12700" marR="5080">
              <a:lnSpc>
                <a:spcPct val="95800"/>
              </a:lnSpc>
              <a:spcBef>
                <a:spcPts val="5"/>
              </a:spcBef>
            </a:pPr>
            <a:r>
              <a:rPr dirty="0" sz="1100" spc="-5">
                <a:latin typeface="Arial"/>
                <a:cs typeface="Arial"/>
              </a:rPr>
              <a:t>Low-income countries often have ethnic, linguistic, and other forms of social divisions,  sometimes known as </a:t>
            </a:r>
            <a:r>
              <a:rPr dirty="0" sz="1100" spc="-5" b="1">
                <a:latin typeface="Arial"/>
                <a:cs typeface="Arial"/>
              </a:rPr>
              <a:t>fractionalization. </a:t>
            </a:r>
            <a:r>
              <a:rPr dirty="0" sz="1100" spc="-5">
                <a:latin typeface="Arial"/>
                <a:cs typeface="Arial"/>
              </a:rPr>
              <a:t>This is sometimes associated with civil strife and even  violent conflict, which can lead developing societies to divert considerable energies to working  for political accommodations if not national consolidation. It is one of a variety of governance  challenges many developing nations</a:t>
            </a:r>
            <a:r>
              <a:rPr dirty="0" sz="1100" spc="10">
                <a:latin typeface="Arial"/>
                <a:cs typeface="Arial"/>
              </a:rPr>
              <a:t> </a:t>
            </a:r>
            <a:r>
              <a:rPr dirty="0" sz="1100" spc="-5">
                <a:latin typeface="Arial"/>
                <a:cs typeface="Arial"/>
              </a:rPr>
              <a:t>face.</a:t>
            </a:r>
            <a:endParaRPr sz="1100">
              <a:latin typeface="Arial"/>
              <a:cs typeface="Arial"/>
            </a:endParaRPr>
          </a:p>
          <a:p>
            <a:pPr>
              <a:lnSpc>
                <a:spcPct val="100000"/>
              </a:lnSpc>
              <a:spcBef>
                <a:spcPts val="40"/>
              </a:spcBef>
            </a:pPr>
            <a:endParaRPr sz="1150">
              <a:latin typeface="Arial"/>
              <a:cs typeface="Arial"/>
            </a:endParaRPr>
          </a:p>
          <a:p>
            <a:pPr algn="just" lvl="1" marL="469900" marR="6350" indent="-228600">
              <a:lnSpc>
                <a:spcPts val="1270"/>
              </a:lnSpc>
              <a:spcBef>
                <a:spcPts val="5"/>
              </a:spcBef>
              <a:buFont typeface="Symbol"/>
              <a:buChar char=""/>
              <a:tabLst>
                <a:tab pos="470534" algn="l"/>
              </a:tabLst>
            </a:pPr>
            <a:r>
              <a:rPr dirty="0" sz="1100" spc="-5" b="1">
                <a:latin typeface="Arial"/>
                <a:cs typeface="Arial"/>
              </a:rPr>
              <a:t>Fractionalization: </a:t>
            </a:r>
            <a:r>
              <a:rPr dirty="0" sz="1100" spc="-5">
                <a:latin typeface="Arial"/>
                <a:cs typeface="Arial"/>
              </a:rPr>
              <a:t>Significant ethnic, linguistic, and other social divisions within a  country.</a:t>
            </a:r>
            <a:endParaRPr sz="1100">
              <a:latin typeface="Arial"/>
              <a:cs typeface="Arial"/>
            </a:endParaRPr>
          </a:p>
          <a:p>
            <a:pPr algn="just" marL="12700">
              <a:lnSpc>
                <a:spcPts val="1195"/>
              </a:lnSpc>
            </a:pPr>
            <a:r>
              <a:rPr dirty="0" sz="1100" spc="-5">
                <a:latin typeface="Arial"/>
                <a:cs typeface="Arial"/>
              </a:rPr>
              <a:t>The</a:t>
            </a:r>
            <a:r>
              <a:rPr dirty="0" sz="1100" spc="145">
                <a:latin typeface="Arial"/>
                <a:cs typeface="Arial"/>
              </a:rPr>
              <a:t> </a:t>
            </a:r>
            <a:r>
              <a:rPr dirty="0" sz="1100" spc="-5">
                <a:latin typeface="Arial"/>
                <a:cs typeface="Arial"/>
              </a:rPr>
              <a:t>greater</a:t>
            </a:r>
            <a:r>
              <a:rPr dirty="0" sz="1100" spc="145">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ethnic,</a:t>
            </a:r>
            <a:r>
              <a:rPr dirty="0" sz="1100" spc="145">
                <a:latin typeface="Arial"/>
                <a:cs typeface="Arial"/>
              </a:rPr>
              <a:t> </a:t>
            </a:r>
            <a:r>
              <a:rPr dirty="0" sz="1100" spc="-5">
                <a:latin typeface="Arial"/>
                <a:cs typeface="Arial"/>
              </a:rPr>
              <a:t>linguistic,</a:t>
            </a:r>
            <a:r>
              <a:rPr dirty="0" sz="1100" spc="145">
                <a:latin typeface="Arial"/>
                <a:cs typeface="Arial"/>
              </a:rPr>
              <a:t> </a:t>
            </a:r>
            <a:r>
              <a:rPr dirty="0" sz="1100" spc="-5">
                <a:latin typeface="Arial"/>
                <a:cs typeface="Arial"/>
              </a:rPr>
              <a:t>and</a:t>
            </a:r>
            <a:r>
              <a:rPr dirty="0" sz="1100" spc="145">
                <a:latin typeface="Arial"/>
                <a:cs typeface="Arial"/>
              </a:rPr>
              <a:t> </a:t>
            </a:r>
            <a:r>
              <a:rPr dirty="0" sz="1100" spc="-5">
                <a:latin typeface="Arial"/>
                <a:cs typeface="Arial"/>
              </a:rPr>
              <a:t>religious</a:t>
            </a:r>
            <a:r>
              <a:rPr dirty="0" sz="1100" spc="150">
                <a:latin typeface="Arial"/>
                <a:cs typeface="Arial"/>
              </a:rPr>
              <a:t> </a:t>
            </a:r>
            <a:r>
              <a:rPr dirty="0" sz="1100" spc="-5">
                <a:latin typeface="Arial"/>
                <a:cs typeface="Arial"/>
              </a:rPr>
              <a:t>diversity</a:t>
            </a:r>
            <a:r>
              <a:rPr dirty="0" sz="1100" spc="150">
                <a:latin typeface="Arial"/>
                <a:cs typeface="Arial"/>
              </a:rPr>
              <a:t> </a:t>
            </a:r>
            <a:r>
              <a:rPr dirty="0" sz="1100" spc="-5">
                <a:latin typeface="Arial"/>
                <a:cs typeface="Arial"/>
              </a:rPr>
              <a:t>of</a:t>
            </a:r>
            <a:r>
              <a:rPr dirty="0" sz="1100" spc="140">
                <a:latin typeface="Arial"/>
                <a:cs typeface="Arial"/>
              </a:rPr>
              <a:t> </a:t>
            </a:r>
            <a:r>
              <a:rPr dirty="0" sz="1100" spc="-5">
                <a:latin typeface="Arial"/>
                <a:cs typeface="Arial"/>
              </a:rPr>
              <a:t>a</a:t>
            </a:r>
            <a:r>
              <a:rPr dirty="0" sz="1100" spc="150">
                <a:latin typeface="Arial"/>
                <a:cs typeface="Arial"/>
              </a:rPr>
              <a:t> </a:t>
            </a:r>
            <a:r>
              <a:rPr dirty="0" sz="1100" spc="-5">
                <a:latin typeface="Arial"/>
                <a:cs typeface="Arial"/>
              </a:rPr>
              <a:t>country,</a:t>
            </a:r>
            <a:r>
              <a:rPr dirty="0" sz="1100" spc="145">
                <a:latin typeface="Arial"/>
                <a:cs typeface="Arial"/>
              </a:rPr>
              <a:t> </a:t>
            </a:r>
            <a:r>
              <a:rPr dirty="0" sz="1100" spc="-5">
                <a:latin typeface="Arial"/>
                <a:cs typeface="Arial"/>
              </a:rPr>
              <a:t>the</a:t>
            </a:r>
            <a:r>
              <a:rPr dirty="0" sz="1100" spc="150">
                <a:latin typeface="Arial"/>
                <a:cs typeface="Arial"/>
              </a:rPr>
              <a:t> </a:t>
            </a:r>
            <a:r>
              <a:rPr dirty="0" sz="1100" spc="-5">
                <a:latin typeface="Arial"/>
                <a:cs typeface="Arial"/>
              </a:rPr>
              <a:t>more</a:t>
            </a:r>
            <a:r>
              <a:rPr dirty="0" sz="1100" spc="150">
                <a:latin typeface="Arial"/>
                <a:cs typeface="Arial"/>
              </a:rPr>
              <a:t> </a:t>
            </a:r>
            <a:r>
              <a:rPr dirty="0" sz="1100" spc="-5">
                <a:latin typeface="Arial"/>
                <a:cs typeface="Arial"/>
              </a:rPr>
              <a:t>likely</a:t>
            </a:r>
            <a:r>
              <a:rPr dirty="0" sz="1100" spc="145">
                <a:latin typeface="Arial"/>
                <a:cs typeface="Arial"/>
              </a:rPr>
              <a:t> </a:t>
            </a:r>
            <a:r>
              <a:rPr dirty="0" sz="1100" spc="-5">
                <a:latin typeface="Arial"/>
                <a:cs typeface="Arial"/>
              </a:rPr>
              <a:t>it</a:t>
            </a:r>
            <a:r>
              <a:rPr dirty="0" sz="1100" spc="150">
                <a:latin typeface="Arial"/>
                <a:cs typeface="Arial"/>
              </a:rPr>
              <a:t> </a:t>
            </a:r>
            <a:r>
              <a:rPr dirty="0" sz="1100" spc="-5">
                <a:latin typeface="Arial"/>
                <a:cs typeface="Arial"/>
              </a:rPr>
              <a:t>is</a:t>
            </a:r>
            <a:r>
              <a:rPr dirty="0" sz="1100" spc="150">
                <a:latin typeface="Arial"/>
                <a:cs typeface="Arial"/>
              </a:rPr>
              <a:t> </a:t>
            </a:r>
            <a:r>
              <a:rPr dirty="0" sz="1100" spc="-5">
                <a:latin typeface="Arial"/>
                <a:cs typeface="Arial"/>
              </a:rPr>
              <a:t>that</a:t>
            </a:r>
            <a:endParaRPr sz="1100">
              <a:latin typeface="Arial"/>
              <a:cs typeface="Arial"/>
            </a:endParaRPr>
          </a:p>
          <a:p>
            <a:pPr algn="just" marL="12700" marR="5080">
              <a:lnSpc>
                <a:spcPts val="1270"/>
              </a:lnSpc>
              <a:spcBef>
                <a:spcPts val="55"/>
              </a:spcBef>
            </a:pPr>
            <a:r>
              <a:rPr dirty="0" sz="1100" spc="-5">
                <a:latin typeface="Arial"/>
                <a:cs typeface="Arial"/>
              </a:rPr>
              <a:t>there will be internal strife and political instability. Some of the most successful development  experiences—South Korea, Taiwan, Singapore, and Hong Kong—have occurred in culturally  homogeneous societies.</a:t>
            </a:r>
            <a:endParaRPr sz="1100">
              <a:latin typeface="Arial"/>
              <a:cs typeface="Arial"/>
            </a:endParaRPr>
          </a:p>
        </p:txBody>
      </p:sp>
      <p:sp>
        <p:nvSpPr>
          <p:cNvPr id="8" name="object 8"/>
          <p:cNvSpPr/>
          <p:nvPr/>
        </p:nvSpPr>
        <p:spPr>
          <a:xfrm>
            <a:off x="1349502" y="2452877"/>
            <a:ext cx="5036078" cy="169011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23</a:t>
            </a:r>
            <a:endParaRPr sz="1100">
              <a:latin typeface="Carlito"/>
              <a:cs typeface="Carli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txBox="1"/>
          <p:nvPr/>
        </p:nvSpPr>
        <p:spPr>
          <a:xfrm>
            <a:off x="901700" y="892556"/>
            <a:ext cx="5969000" cy="133159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6. LARGER RURAL POPULATIONS BUT RAPID RURAL-TO-URBAN</a:t>
            </a:r>
            <a:r>
              <a:rPr dirty="0" sz="1100" spc="40" b="1">
                <a:latin typeface="Arial"/>
                <a:cs typeface="Arial"/>
              </a:rPr>
              <a:t> </a:t>
            </a:r>
            <a:r>
              <a:rPr dirty="0" sz="1100" spc="-10" b="1">
                <a:latin typeface="Arial"/>
                <a:cs typeface="Arial"/>
              </a:rPr>
              <a:t>MIGRATION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One of the hallmarks of economic development is a shift from agriculture to manufacturing and  services. In developing countries, a much higher share of the population lives in rural areas, </a:t>
            </a:r>
            <a:r>
              <a:rPr dirty="0" sz="1100">
                <a:latin typeface="Arial"/>
                <a:cs typeface="Arial"/>
              </a:rPr>
              <a:t>as  </a:t>
            </a:r>
            <a:r>
              <a:rPr dirty="0" sz="1100" spc="-5">
                <a:latin typeface="Arial"/>
                <a:cs typeface="Arial"/>
              </a:rPr>
              <a:t>seen in Table 2.10. Although modernizing in many regions, rural areas are poorer and tend to  suffer from missing markets, limited information, and social stratification. A massive population  shift is also under way </a:t>
            </a:r>
            <a:r>
              <a:rPr dirty="0" sz="1100">
                <a:latin typeface="Arial"/>
                <a:cs typeface="Arial"/>
              </a:rPr>
              <a:t>as </a:t>
            </a:r>
            <a:r>
              <a:rPr dirty="0" sz="1100" spc="-5">
                <a:latin typeface="Arial"/>
                <a:cs typeface="Arial"/>
              </a:rPr>
              <a:t>hundreds of millions of people are moving </a:t>
            </a:r>
            <a:r>
              <a:rPr dirty="0" sz="1100">
                <a:latin typeface="Arial"/>
                <a:cs typeface="Arial"/>
              </a:rPr>
              <a:t>from </a:t>
            </a:r>
            <a:r>
              <a:rPr dirty="0" sz="1100" spc="-5">
                <a:latin typeface="Arial"/>
                <a:cs typeface="Arial"/>
              </a:rPr>
              <a:t>rural to urban areas,  fueling rapid urbanization, with its own attendant</a:t>
            </a:r>
            <a:r>
              <a:rPr dirty="0" sz="1100" spc="35">
                <a:latin typeface="Arial"/>
                <a:cs typeface="Arial"/>
              </a:rPr>
              <a:t> </a:t>
            </a:r>
            <a:r>
              <a:rPr dirty="0" sz="1100" spc="-5">
                <a:latin typeface="Arial"/>
                <a:cs typeface="Arial"/>
              </a:rPr>
              <a:t>problems.</a:t>
            </a:r>
            <a:endParaRPr sz="1100">
              <a:latin typeface="Arial"/>
              <a:cs typeface="Arial"/>
            </a:endParaRPr>
          </a:p>
        </p:txBody>
      </p:sp>
      <p:sp>
        <p:nvSpPr>
          <p:cNvPr id="6" name="object 6"/>
          <p:cNvSpPr txBox="1"/>
          <p:nvPr/>
        </p:nvSpPr>
        <p:spPr>
          <a:xfrm>
            <a:off x="901700" y="4484611"/>
            <a:ext cx="5970270" cy="197358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7. </a:t>
            </a:r>
            <a:r>
              <a:rPr dirty="0" sz="1100" spc="-10" b="1">
                <a:latin typeface="Arial"/>
                <a:cs typeface="Arial"/>
              </a:rPr>
              <a:t>LOWER LEVELS </a:t>
            </a:r>
            <a:r>
              <a:rPr dirty="0" sz="1100" spc="-5" b="1">
                <a:latin typeface="Arial"/>
                <a:cs typeface="Arial"/>
              </a:rPr>
              <a:t>OF INDUSTRIALIZATION AND MANUFACTURED</a:t>
            </a:r>
            <a:r>
              <a:rPr dirty="0" sz="1100" spc="65" b="1">
                <a:latin typeface="Arial"/>
                <a:cs typeface="Arial"/>
              </a:rPr>
              <a:t> </a:t>
            </a:r>
            <a:r>
              <a:rPr dirty="0" sz="1100" spc="-5" b="1">
                <a:latin typeface="Arial"/>
                <a:cs typeface="Arial"/>
              </a:rPr>
              <a:t>EXPORTS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One of the most widely used terminologies for the original Group of Seven (G7) countries29 and  other advanced economies such as smaller European countries and Australia is the “industrial  countries.” Industrialization is associated with high productivity and incomes and has been a  hallmark of modernization and national economic power. It is no accident that most developing-  country governments have made industrialization a high national priority, with a number of  prominent success stories in Asia. Table 2.11 shows the structure of employment of men and  women and value-added in the agricultural, industrial, and service sectors. Along with lower  industrialization, developing nations have tended to have a higher dependence on primary  exports. </a:t>
            </a:r>
            <a:r>
              <a:rPr dirty="0" sz="1100">
                <a:latin typeface="Arial"/>
                <a:cs typeface="Arial"/>
              </a:rPr>
              <a:t>Most </a:t>
            </a:r>
            <a:r>
              <a:rPr dirty="0" sz="1100" spc="-5">
                <a:latin typeface="Arial"/>
                <a:cs typeface="Arial"/>
              </a:rPr>
              <a:t>developing countries have </a:t>
            </a:r>
            <a:r>
              <a:rPr dirty="0" sz="1100">
                <a:latin typeface="Arial"/>
                <a:cs typeface="Arial"/>
              </a:rPr>
              <a:t>diversified </a:t>
            </a:r>
            <a:r>
              <a:rPr dirty="0" sz="1100" spc="-5">
                <a:latin typeface="Arial"/>
                <a:cs typeface="Arial"/>
              </a:rPr>
              <a:t>away from agricultural and mineral exports  to some</a:t>
            </a:r>
            <a:r>
              <a:rPr dirty="0" sz="1100">
                <a:latin typeface="Arial"/>
                <a:cs typeface="Arial"/>
              </a:rPr>
              <a:t> </a:t>
            </a:r>
            <a:r>
              <a:rPr dirty="0" sz="1100" spc="-5">
                <a:latin typeface="Arial"/>
                <a:cs typeface="Arial"/>
              </a:rPr>
              <a:t>degree.</a:t>
            </a:r>
            <a:endParaRPr sz="1100">
              <a:latin typeface="Arial"/>
              <a:cs typeface="Arial"/>
            </a:endParaRPr>
          </a:p>
        </p:txBody>
      </p:sp>
      <p:sp>
        <p:nvSpPr>
          <p:cNvPr id="7" name="object 7"/>
          <p:cNvSpPr/>
          <p:nvPr/>
        </p:nvSpPr>
        <p:spPr>
          <a:xfrm>
            <a:off x="1018032" y="2452116"/>
            <a:ext cx="5775198" cy="1892045"/>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901446" y="6726173"/>
            <a:ext cx="5891783" cy="2923794"/>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24</a:t>
            </a:r>
            <a:endParaRPr sz="1100">
              <a:latin typeface="Carlito"/>
              <a:cs typeface="Carli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270" cy="7663180"/>
          </a:xfrm>
          <a:prstGeom prst="rect">
            <a:avLst/>
          </a:prstGeom>
        </p:spPr>
        <p:txBody>
          <a:bodyPr wrap="square" lIns="0" tIns="12065" rIns="0" bIns="0" rtlCol="0" vert="horz">
            <a:spAutoFit/>
          </a:bodyPr>
          <a:lstStyle/>
          <a:p>
            <a:pPr marL="168275" indent="-156210">
              <a:lnSpc>
                <a:spcPct val="100000"/>
              </a:lnSpc>
              <a:spcBef>
                <a:spcPts val="95"/>
              </a:spcBef>
              <a:buAutoNum type="arabicPeriod" startAt="8"/>
              <a:tabLst>
                <a:tab pos="168910" algn="l"/>
              </a:tabLst>
            </a:pPr>
            <a:r>
              <a:rPr dirty="0" sz="1100" spc="-5" b="1">
                <a:latin typeface="Arial"/>
                <a:cs typeface="Arial"/>
              </a:rPr>
              <a:t>ADVERSE GEOGRAPHY</a:t>
            </a:r>
            <a:endParaRPr sz="1100">
              <a:latin typeface="Arial"/>
              <a:cs typeface="Arial"/>
            </a:endParaRPr>
          </a:p>
          <a:p>
            <a:pPr>
              <a:lnSpc>
                <a:spcPct val="100000"/>
              </a:lnSpc>
              <a:spcBef>
                <a:spcPts val="55"/>
              </a:spcBef>
              <a:buFont typeface="Arial"/>
              <a:buAutoNum type="arabicPeriod" startAt="8"/>
            </a:pPr>
            <a:endParaRPr sz="1150">
              <a:latin typeface="Arial"/>
              <a:cs typeface="Arial"/>
            </a:endParaRPr>
          </a:p>
          <a:p>
            <a:pPr algn="just" marL="12700" marR="6350">
              <a:lnSpc>
                <a:spcPct val="95700"/>
              </a:lnSpc>
            </a:pPr>
            <a:r>
              <a:rPr dirty="0" sz="1100" spc="-5">
                <a:latin typeface="Arial"/>
                <a:cs typeface="Arial"/>
              </a:rPr>
              <a:t>Many analysts argue that geography must play some role in problems of agriculture, public  health, and comparative underdevelopment more generally. Landlocked economies, common in  Africa, often have lower incomes than coastal</a:t>
            </a:r>
            <a:r>
              <a:rPr dirty="0" sz="1100" spc="30">
                <a:latin typeface="Arial"/>
                <a:cs typeface="Arial"/>
              </a:rPr>
              <a:t> </a:t>
            </a:r>
            <a:r>
              <a:rPr dirty="0" sz="1100" spc="-5">
                <a:latin typeface="Arial"/>
                <a:cs typeface="Arial"/>
              </a:rPr>
              <a:t>economies.</a:t>
            </a:r>
            <a:endParaRPr sz="1100">
              <a:latin typeface="Arial"/>
              <a:cs typeface="Arial"/>
            </a:endParaRPr>
          </a:p>
          <a:p>
            <a:pPr algn="just" marL="12700" marR="6350">
              <a:lnSpc>
                <a:spcPts val="1270"/>
              </a:lnSpc>
              <a:spcBef>
                <a:spcPts val="30"/>
              </a:spcBef>
            </a:pPr>
            <a:r>
              <a:rPr dirty="0" sz="1100" spc="-5">
                <a:latin typeface="Arial"/>
                <a:cs typeface="Arial"/>
              </a:rPr>
              <a:t>The extreme case of favorable physical resource endowment is the oil-rich Persian Gulf states.  At the other extreme are countries like Chad, Yemen, Haiti, and Bangladesh, where  endowments of raw materials and minerals and even fertile land are relatively</a:t>
            </a:r>
            <a:r>
              <a:rPr dirty="0" sz="1100" spc="135">
                <a:latin typeface="Arial"/>
                <a:cs typeface="Arial"/>
              </a:rPr>
              <a:t> </a:t>
            </a:r>
            <a:r>
              <a:rPr dirty="0" sz="1100" spc="-5">
                <a:latin typeface="Arial"/>
                <a:cs typeface="Arial"/>
              </a:rPr>
              <a:t>minimal.</a:t>
            </a:r>
            <a:endParaRPr sz="1100">
              <a:latin typeface="Arial"/>
              <a:cs typeface="Arial"/>
            </a:endParaRPr>
          </a:p>
          <a:p>
            <a:pPr>
              <a:lnSpc>
                <a:spcPct val="100000"/>
              </a:lnSpc>
              <a:spcBef>
                <a:spcPts val="15"/>
              </a:spcBef>
            </a:pPr>
            <a:endParaRPr sz="1150">
              <a:latin typeface="Arial"/>
              <a:cs typeface="Arial"/>
            </a:endParaRPr>
          </a:p>
          <a:p>
            <a:pPr lvl="1" marL="469900" marR="8255" indent="-228600">
              <a:lnSpc>
                <a:spcPts val="1260"/>
              </a:lnSpc>
              <a:spcBef>
                <a:spcPts val="5"/>
              </a:spcBef>
              <a:buFont typeface="Symbol"/>
              <a:buChar char=""/>
              <a:tabLst>
                <a:tab pos="469265" algn="l"/>
                <a:tab pos="469900" algn="l"/>
              </a:tabLst>
            </a:pPr>
            <a:r>
              <a:rPr dirty="0" sz="1100" spc="-5" b="1">
                <a:latin typeface="Arial"/>
                <a:cs typeface="Arial"/>
              </a:rPr>
              <a:t>Resource endowment: </a:t>
            </a:r>
            <a:r>
              <a:rPr dirty="0" sz="1100" spc="-5">
                <a:latin typeface="Arial"/>
                <a:cs typeface="Arial"/>
              </a:rPr>
              <a:t>A nation’s supply of usable factors of production including  mineral deposits, raw materials, and</a:t>
            </a:r>
            <a:r>
              <a:rPr dirty="0" sz="1100" spc="15">
                <a:latin typeface="Arial"/>
                <a:cs typeface="Arial"/>
              </a:rPr>
              <a:t> </a:t>
            </a:r>
            <a:r>
              <a:rPr dirty="0" sz="1100" spc="-5">
                <a:latin typeface="Arial"/>
                <a:cs typeface="Arial"/>
              </a:rPr>
              <a:t>labor.</a:t>
            </a:r>
            <a:endParaRPr sz="1100">
              <a:latin typeface="Arial"/>
              <a:cs typeface="Arial"/>
            </a:endParaRPr>
          </a:p>
          <a:p>
            <a:pPr marL="12700">
              <a:lnSpc>
                <a:spcPts val="1200"/>
              </a:lnSpc>
            </a:pPr>
            <a:r>
              <a:rPr dirty="0" sz="1100" spc="-5">
                <a:latin typeface="Arial"/>
                <a:cs typeface="Arial"/>
              </a:rPr>
              <a:t>Clearly,</a:t>
            </a:r>
            <a:r>
              <a:rPr dirty="0" sz="1100" spc="175">
                <a:latin typeface="Arial"/>
                <a:cs typeface="Arial"/>
              </a:rPr>
              <a:t> </a:t>
            </a:r>
            <a:r>
              <a:rPr dirty="0" sz="1100" spc="-5">
                <a:latin typeface="Arial"/>
                <a:cs typeface="Arial"/>
              </a:rPr>
              <a:t>geography</a:t>
            </a:r>
            <a:r>
              <a:rPr dirty="0" sz="1100" spc="180">
                <a:latin typeface="Arial"/>
                <a:cs typeface="Arial"/>
              </a:rPr>
              <a:t> </a:t>
            </a:r>
            <a:r>
              <a:rPr dirty="0" sz="1100" spc="-5">
                <a:latin typeface="Arial"/>
                <a:cs typeface="Arial"/>
              </a:rPr>
              <a:t>is</a:t>
            </a:r>
            <a:r>
              <a:rPr dirty="0" sz="1100" spc="175">
                <a:latin typeface="Arial"/>
                <a:cs typeface="Arial"/>
              </a:rPr>
              <a:t> </a:t>
            </a:r>
            <a:r>
              <a:rPr dirty="0" sz="1100" spc="-5">
                <a:latin typeface="Arial"/>
                <a:cs typeface="Arial"/>
              </a:rPr>
              <a:t>not</a:t>
            </a:r>
            <a:r>
              <a:rPr dirty="0" sz="1100" spc="180">
                <a:latin typeface="Arial"/>
                <a:cs typeface="Arial"/>
              </a:rPr>
              <a:t> </a:t>
            </a:r>
            <a:r>
              <a:rPr dirty="0" sz="1100" spc="-5">
                <a:latin typeface="Arial"/>
                <a:cs typeface="Arial"/>
              </a:rPr>
              <a:t>destiny;</a:t>
            </a:r>
            <a:r>
              <a:rPr dirty="0" sz="1100" spc="170">
                <a:latin typeface="Arial"/>
                <a:cs typeface="Arial"/>
              </a:rPr>
              <a:t> </a:t>
            </a:r>
            <a:r>
              <a:rPr dirty="0" sz="1100" spc="-5">
                <a:latin typeface="Arial"/>
                <a:cs typeface="Arial"/>
              </a:rPr>
              <a:t>high-income</a:t>
            </a:r>
            <a:r>
              <a:rPr dirty="0" sz="1100" spc="180">
                <a:latin typeface="Arial"/>
                <a:cs typeface="Arial"/>
              </a:rPr>
              <a:t> </a:t>
            </a:r>
            <a:r>
              <a:rPr dirty="0" sz="1100" spc="-5">
                <a:latin typeface="Arial"/>
                <a:cs typeface="Arial"/>
              </a:rPr>
              <a:t>Singapore</a:t>
            </a:r>
            <a:r>
              <a:rPr dirty="0" sz="1100" spc="175">
                <a:latin typeface="Arial"/>
                <a:cs typeface="Arial"/>
              </a:rPr>
              <a:t> </a:t>
            </a:r>
            <a:r>
              <a:rPr dirty="0" sz="1100" spc="-5">
                <a:latin typeface="Arial"/>
                <a:cs typeface="Arial"/>
              </a:rPr>
              <a:t>lies</a:t>
            </a:r>
            <a:r>
              <a:rPr dirty="0" sz="1100" spc="175">
                <a:latin typeface="Arial"/>
                <a:cs typeface="Arial"/>
              </a:rPr>
              <a:t> </a:t>
            </a:r>
            <a:r>
              <a:rPr dirty="0" sz="1100" spc="-5">
                <a:latin typeface="Arial"/>
                <a:cs typeface="Arial"/>
              </a:rPr>
              <a:t>almost</a:t>
            </a:r>
            <a:r>
              <a:rPr dirty="0" sz="1100" spc="175">
                <a:latin typeface="Arial"/>
                <a:cs typeface="Arial"/>
              </a:rPr>
              <a:t> </a:t>
            </a:r>
            <a:r>
              <a:rPr dirty="0" sz="1100" spc="-5">
                <a:latin typeface="Arial"/>
                <a:cs typeface="Arial"/>
              </a:rPr>
              <a:t>directly</a:t>
            </a:r>
            <a:r>
              <a:rPr dirty="0" sz="1100" spc="175">
                <a:latin typeface="Arial"/>
                <a:cs typeface="Arial"/>
              </a:rPr>
              <a:t> </a:t>
            </a:r>
            <a:r>
              <a:rPr dirty="0" sz="1100" spc="-5">
                <a:latin typeface="Arial"/>
                <a:cs typeface="Arial"/>
              </a:rPr>
              <a:t>on</a:t>
            </a:r>
            <a:r>
              <a:rPr dirty="0" sz="1100" spc="180">
                <a:latin typeface="Arial"/>
                <a:cs typeface="Arial"/>
              </a:rPr>
              <a:t> </a:t>
            </a:r>
            <a:r>
              <a:rPr dirty="0" sz="1100" spc="-5">
                <a:latin typeface="Arial"/>
                <a:cs typeface="Arial"/>
              </a:rPr>
              <a:t>the</a:t>
            </a:r>
            <a:r>
              <a:rPr dirty="0" sz="1100" spc="175">
                <a:latin typeface="Arial"/>
                <a:cs typeface="Arial"/>
              </a:rPr>
              <a:t> </a:t>
            </a:r>
            <a:r>
              <a:rPr dirty="0" sz="1100" spc="-5">
                <a:latin typeface="Arial"/>
                <a:cs typeface="Arial"/>
              </a:rPr>
              <a:t>equator,</a:t>
            </a:r>
            <a:endParaRPr sz="1100">
              <a:latin typeface="Arial"/>
              <a:cs typeface="Arial"/>
            </a:endParaRPr>
          </a:p>
          <a:p>
            <a:pPr marL="12700">
              <a:lnSpc>
                <a:spcPts val="1295"/>
              </a:lnSpc>
            </a:pPr>
            <a:r>
              <a:rPr dirty="0" sz="1100" spc="-5">
                <a:latin typeface="Arial"/>
                <a:cs typeface="Arial"/>
              </a:rPr>
              <a:t>and parts of southern India have exhibited enormous economic dynamism in recent</a:t>
            </a:r>
            <a:r>
              <a:rPr dirty="0" sz="1100" spc="155">
                <a:latin typeface="Arial"/>
                <a:cs typeface="Arial"/>
              </a:rPr>
              <a:t> </a:t>
            </a:r>
            <a:r>
              <a:rPr dirty="0" sz="1100" spc="-5">
                <a:latin typeface="Arial"/>
                <a:cs typeface="Arial"/>
              </a:rPr>
              <a:t>years.</a:t>
            </a:r>
            <a:endParaRPr sz="1100">
              <a:latin typeface="Arial"/>
              <a:cs typeface="Arial"/>
            </a:endParaRPr>
          </a:p>
          <a:p>
            <a:pPr>
              <a:lnSpc>
                <a:spcPct val="100000"/>
              </a:lnSpc>
              <a:spcBef>
                <a:spcPts val="10"/>
              </a:spcBef>
            </a:pPr>
            <a:endParaRPr sz="1050">
              <a:latin typeface="Arial"/>
              <a:cs typeface="Arial"/>
            </a:endParaRPr>
          </a:p>
          <a:p>
            <a:pPr marL="167640" indent="-155575">
              <a:lnSpc>
                <a:spcPct val="100000"/>
              </a:lnSpc>
              <a:buAutoNum type="arabicPeriod" startAt="9"/>
              <a:tabLst>
                <a:tab pos="168275" algn="l"/>
              </a:tabLst>
            </a:pPr>
            <a:r>
              <a:rPr dirty="0" sz="1100" spc="-5" b="1">
                <a:latin typeface="Arial"/>
                <a:cs typeface="Arial"/>
              </a:rPr>
              <a:t>UNDERDEVELOPED FINANCIAL AND OTHER</a:t>
            </a:r>
            <a:r>
              <a:rPr dirty="0" sz="1100" spc="20" b="1">
                <a:latin typeface="Arial"/>
                <a:cs typeface="Arial"/>
              </a:rPr>
              <a:t> </a:t>
            </a:r>
            <a:r>
              <a:rPr dirty="0" sz="1100" spc="-5" b="1">
                <a:latin typeface="Arial"/>
                <a:cs typeface="Arial"/>
              </a:rPr>
              <a:t>MARKETS</a:t>
            </a:r>
            <a:endParaRPr sz="1100">
              <a:latin typeface="Arial"/>
              <a:cs typeface="Arial"/>
            </a:endParaRPr>
          </a:p>
          <a:p>
            <a:pPr>
              <a:lnSpc>
                <a:spcPct val="100000"/>
              </a:lnSpc>
              <a:spcBef>
                <a:spcPts val="50"/>
              </a:spcBef>
              <a:buFont typeface="Arial"/>
              <a:buAutoNum type="arabicPeriod" startAt="9"/>
            </a:pPr>
            <a:endParaRPr sz="1150">
              <a:latin typeface="Arial"/>
              <a:cs typeface="Arial"/>
            </a:endParaRPr>
          </a:p>
          <a:p>
            <a:pPr algn="just" marL="12700" marR="6350">
              <a:lnSpc>
                <a:spcPct val="95800"/>
              </a:lnSpc>
            </a:pPr>
            <a:r>
              <a:rPr dirty="0" sz="1100" spc="-5">
                <a:latin typeface="Arial"/>
                <a:cs typeface="Arial"/>
              </a:rPr>
              <a:t>Imperfect markets and incomplete information are far more prevalent in developing countries,  with the result that domestic markets, notably but not only financial markets, have worked less  efficiently. In many developing countries, legal and institutional foundations for markets are  extremely weak.</a:t>
            </a:r>
            <a:endParaRPr sz="1100">
              <a:latin typeface="Arial"/>
              <a:cs typeface="Arial"/>
            </a:endParaRPr>
          </a:p>
          <a:p>
            <a:pPr algn="just" marL="12700" marR="5080">
              <a:lnSpc>
                <a:spcPct val="95900"/>
              </a:lnSpc>
            </a:pPr>
            <a:r>
              <a:rPr dirty="0" sz="1100" spc="-5">
                <a:latin typeface="Arial"/>
                <a:cs typeface="Arial"/>
              </a:rPr>
              <a:t>Some aspects of market underdevelopment are that they often lack (1) a legal system that  enforces contracts and validates property rights; (2) a stable and trustworthy currency; (3) an  infrastructure of roads and utilities that results in low transport and communication costs so as  to facilitate interregional trade; (4)a well-developed and efficiently regulated system </a:t>
            </a:r>
            <a:r>
              <a:rPr dirty="0" sz="1100">
                <a:latin typeface="Arial"/>
                <a:cs typeface="Arial"/>
              </a:rPr>
              <a:t>of </a:t>
            </a:r>
            <a:r>
              <a:rPr dirty="0" sz="1100" spc="-5">
                <a:latin typeface="Arial"/>
                <a:cs typeface="Arial"/>
              </a:rPr>
              <a:t>banking  and insurance, with broad access and with formal credit markets that select projects and  allocate loan able funds on the basis of relative economic profitability and enforce rules of  repayment; (5) substantial market information for consumers and producers about prices,  quantities, and qualities of products and resources as well as the creditworthiness of potential  borrowers; and (6) social norms that facilitate successful long-term business</a:t>
            </a:r>
            <a:r>
              <a:rPr dirty="0" sz="1100" spc="140">
                <a:latin typeface="Arial"/>
                <a:cs typeface="Arial"/>
              </a:rPr>
              <a:t> </a:t>
            </a:r>
            <a:r>
              <a:rPr dirty="0" sz="1100" spc="-5">
                <a:latin typeface="Arial"/>
                <a:cs typeface="Arial"/>
              </a:rPr>
              <a:t>relationships.</a:t>
            </a:r>
            <a:endParaRPr sz="1100">
              <a:latin typeface="Arial"/>
              <a:cs typeface="Arial"/>
            </a:endParaRPr>
          </a:p>
          <a:p>
            <a:pPr>
              <a:lnSpc>
                <a:spcPct val="100000"/>
              </a:lnSpc>
              <a:spcBef>
                <a:spcPts val="20"/>
              </a:spcBef>
            </a:pPr>
            <a:endParaRPr sz="1150">
              <a:latin typeface="Arial"/>
              <a:cs typeface="Arial"/>
            </a:endParaRPr>
          </a:p>
          <a:p>
            <a:pPr algn="just" lvl="1" marL="469900" marR="5080" indent="-228600">
              <a:lnSpc>
                <a:spcPct val="95700"/>
              </a:lnSpc>
              <a:buFont typeface="Symbol"/>
              <a:buChar char=""/>
              <a:tabLst>
                <a:tab pos="469900" algn="l"/>
              </a:tabLst>
            </a:pPr>
            <a:r>
              <a:rPr dirty="0" sz="1100" spc="-5" b="1">
                <a:latin typeface="Arial"/>
                <a:cs typeface="Arial"/>
              </a:rPr>
              <a:t>Imperfect market: </a:t>
            </a:r>
            <a:r>
              <a:rPr dirty="0" sz="1100" spc="-5">
                <a:latin typeface="Arial"/>
                <a:cs typeface="Arial"/>
              </a:rPr>
              <a:t>A market in which the theoretical assumptions of perfect competition  are violated by the existence of, for example, a small number of buyers and sellers,  barriers to entry, and incomplete</a:t>
            </a:r>
            <a:r>
              <a:rPr dirty="0" sz="1100" spc="20">
                <a:latin typeface="Arial"/>
                <a:cs typeface="Arial"/>
              </a:rPr>
              <a:t> </a:t>
            </a:r>
            <a:r>
              <a:rPr dirty="0" sz="1100" spc="-5">
                <a:latin typeface="Arial"/>
                <a:cs typeface="Arial"/>
              </a:rPr>
              <a:t>information.</a:t>
            </a:r>
            <a:endParaRPr sz="1100">
              <a:latin typeface="Arial"/>
              <a:cs typeface="Arial"/>
            </a:endParaRPr>
          </a:p>
          <a:p>
            <a:pPr algn="just" lvl="1" marL="469900" marR="6350" indent="-228600">
              <a:lnSpc>
                <a:spcPts val="1260"/>
              </a:lnSpc>
              <a:spcBef>
                <a:spcPts val="114"/>
              </a:spcBef>
              <a:buFont typeface="Symbol"/>
              <a:buChar char=""/>
              <a:tabLst>
                <a:tab pos="469900" algn="l"/>
              </a:tabLst>
            </a:pPr>
            <a:r>
              <a:rPr dirty="0" sz="1100" spc="-5" b="1">
                <a:latin typeface="Arial"/>
                <a:cs typeface="Arial"/>
              </a:rPr>
              <a:t>Incomplete information: </a:t>
            </a:r>
            <a:r>
              <a:rPr dirty="0" sz="1100" spc="-5">
                <a:latin typeface="Arial"/>
                <a:cs typeface="Arial"/>
              </a:rPr>
              <a:t>The absence of information that producers and consumers  need to make efficient decisions resulting in underperforming</a:t>
            </a:r>
            <a:r>
              <a:rPr dirty="0" sz="1100" spc="60">
                <a:latin typeface="Arial"/>
                <a:cs typeface="Arial"/>
              </a:rPr>
              <a:t> </a:t>
            </a:r>
            <a:r>
              <a:rPr dirty="0" sz="1100" spc="-5">
                <a:latin typeface="Arial"/>
                <a:cs typeface="Arial"/>
              </a:rPr>
              <a:t>markets.</a:t>
            </a:r>
            <a:endParaRPr sz="1100">
              <a:latin typeface="Arial"/>
              <a:cs typeface="Arial"/>
            </a:endParaRPr>
          </a:p>
          <a:p>
            <a:pPr algn="just" lvl="1" marL="469900" marR="5080" indent="-228600">
              <a:lnSpc>
                <a:spcPct val="95700"/>
              </a:lnSpc>
              <a:spcBef>
                <a:spcPts val="50"/>
              </a:spcBef>
              <a:buFont typeface="Symbol"/>
              <a:buChar char=""/>
              <a:tabLst>
                <a:tab pos="469900" algn="l"/>
              </a:tabLst>
            </a:pPr>
            <a:r>
              <a:rPr dirty="0" sz="1100" spc="-5" b="1">
                <a:latin typeface="Arial"/>
                <a:cs typeface="Arial"/>
              </a:rPr>
              <a:t>Infrastructure: </a:t>
            </a:r>
            <a:r>
              <a:rPr dirty="0" sz="1100" spc="-5">
                <a:latin typeface="Arial"/>
                <a:cs typeface="Arial"/>
              </a:rPr>
              <a:t>Facilities that enable economic activity and markets, such as  transportation, communication and distribution networks, utilities, water, sewer, and  energy supply</a:t>
            </a:r>
            <a:r>
              <a:rPr dirty="0" sz="1100">
                <a:latin typeface="Arial"/>
                <a:cs typeface="Arial"/>
              </a:rPr>
              <a:t> </a:t>
            </a:r>
            <a:r>
              <a:rPr dirty="0" sz="1100" spc="-5">
                <a:latin typeface="Arial"/>
                <a:cs typeface="Arial"/>
              </a:rPr>
              <a:t>systems.</a:t>
            </a:r>
            <a:endParaRPr sz="1100">
              <a:latin typeface="Arial"/>
              <a:cs typeface="Arial"/>
            </a:endParaRPr>
          </a:p>
          <a:p>
            <a:pPr marL="12700" marR="2223770" indent="-635">
              <a:lnSpc>
                <a:spcPts val="2640"/>
              </a:lnSpc>
              <a:spcBef>
                <a:spcPts val="204"/>
              </a:spcBef>
              <a:buAutoNum type="arabicPeriod" startAt="10"/>
              <a:tabLst>
                <a:tab pos="245745" algn="l"/>
              </a:tabLst>
            </a:pPr>
            <a:r>
              <a:rPr dirty="0" sz="1100" spc="-5" b="1">
                <a:latin typeface="Arial"/>
                <a:cs typeface="Arial"/>
              </a:rPr>
              <a:t>COLONIAL LEGACY AND EXTERNAL DEPENDENCE  Colonial Legacy:</a:t>
            </a:r>
            <a:endParaRPr sz="1100">
              <a:latin typeface="Arial"/>
              <a:cs typeface="Arial"/>
            </a:endParaRPr>
          </a:p>
          <a:p>
            <a:pPr algn="just" marL="12700">
              <a:lnSpc>
                <a:spcPts val="925"/>
              </a:lnSpc>
            </a:pPr>
            <a:r>
              <a:rPr dirty="0" sz="1100" spc="-5">
                <a:latin typeface="Arial"/>
                <a:cs typeface="Arial"/>
              </a:rPr>
              <a:t>Most</a:t>
            </a:r>
            <a:r>
              <a:rPr dirty="0" sz="1100" spc="90">
                <a:latin typeface="Arial"/>
                <a:cs typeface="Arial"/>
              </a:rPr>
              <a:t> </a:t>
            </a:r>
            <a:r>
              <a:rPr dirty="0" sz="1100" spc="-5">
                <a:latin typeface="Arial"/>
                <a:cs typeface="Arial"/>
              </a:rPr>
              <a:t>developing</a:t>
            </a:r>
            <a:r>
              <a:rPr dirty="0" sz="1100" spc="90">
                <a:latin typeface="Arial"/>
                <a:cs typeface="Arial"/>
              </a:rPr>
              <a:t> </a:t>
            </a:r>
            <a:r>
              <a:rPr dirty="0" sz="1100" spc="-5">
                <a:latin typeface="Arial"/>
                <a:cs typeface="Arial"/>
              </a:rPr>
              <a:t>countries</a:t>
            </a:r>
            <a:r>
              <a:rPr dirty="0" sz="1100" spc="90">
                <a:latin typeface="Arial"/>
                <a:cs typeface="Arial"/>
              </a:rPr>
              <a:t> </a:t>
            </a:r>
            <a:r>
              <a:rPr dirty="0" sz="1100" spc="-5">
                <a:latin typeface="Arial"/>
                <a:cs typeface="Arial"/>
              </a:rPr>
              <a:t>were</a:t>
            </a:r>
            <a:r>
              <a:rPr dirty="0" sz="1100" spc="90">
                <a:latin typeface="Arial"/>
                <a:cs typeface="Arial"/>
              </a:rPr>
              <a:t> </a:t>
            </a:r>
            <a:r>
              <a:rPr dirty="0" sz="1100" spc="-5">
                <a:latin typeface="Arial"/>
                <a:cs typeface="Arial"/>
              </a:rPr>
              <a:t>once</a:t>
            </a:r>
            <a:r>
              <a:rPr dirty="0" sz="1100" spc="95">
                <a:latin typeface="Arial"/>
                <a:cs typeface="Arial"/>
              </a:rPr>
              <a:t> </a:t>
            </a:r>
            <a:r>
              <a:rPr dirty="0" sz="1100" spc="-5">
                <a:latin typeface="Arial"/>
                <a:cs typeface="Arial"/>
              </a:rPr>
              <a:t>colonies</a:t>
            </a:r>
            <a:r>
              <a:rPr dirty="0" sz="1100" spc="85">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Europe</a:t>
            </a:r>
            <a:r>
              <a:rPr dirty="0" sz="1100" spc="90">
                <a:latin typeface="Arial"/>
                <a:cs typeface="Arial"/>
              </a:rPr>
              <a:t> </a:t>
            </a:r>
            <a:r>
              <a:rPr dirty="0" sz="1100" spc="-5">
                <a:latin typeface="Arial"/>
                <a:cs typeface="Arial"/>
              </a:rPr>
              <a:t>or</a:t>
            </a:r>
            <a:r>
              <a:rPr dirty="0" sz="1100" spc="90">
                <a:latin typeface="Arial"/>
                <a:cs typeface="Arial"/>
              </a:rPr>
              <a:t> </a:t>
            </a:r>
            <a:r>
              <a:rPr dirty="0" sz="1100" spc="-5">
                <a:latin typeface="Arial"/>
                <a:cs typeface="Arial"/>
              </a:rPr>
              <a:t>otherwise</a:t>
            </a:r>
            <a:r>
              <a:rPr dirty="0" sz="1100" spc="95">
                <a:latin typeface="Arial"/>
                <a:cs typeface="Arial"/>
              </a:rPr>
              <a:t> </a:t>
            </a:r>
            <a:r>
              <a:rPr dirty="0" sz="1100" spc="-5">
                <a:latin typeface="Arial"/>
                <a:cs typeface="Arial"/>
              </a:rPr>
              <a:t>dominated</a:t>
            </a:r>
            <a:r>
              <a:rPr dirty="0" sz="1100" spc="90">
                <a:latin typeface="Arial"/>
                <a:cs typeface="Arial"/>
              </a:rPr>
              <a:t> </a:t>
            </a:r>
            <a:r>
              <a:rPr dirty="0" sz="1100" spc="-5">
                <a:latin typeface="Arial"/>
                <a:cs typeface="Arial"/>
              </a:rPr>
              <a:t>by</a:t>
            </a:r>
            <a:r>
              <a:rPr dirty="0" sz="1100" spc="90">
                <a:latin typeface="Arial"/>
                <a:cs typeface="Arial"/>
              </a:rPr>
              <a:t> </a:t>
            </a:r>
            <a:r>
              <a:rPr dirty="0" sz="1100" spc="-5">
                <a:latin typeface="Arial"/>
                <a:cs typeface="Arial"/>
              </a:rPr>
              <a:t>European</a:t>
            </a:r>
            <a:endParaRPr sz="1100">
              <a:latin typeface="Arial"/>
              <a:cs typeface="Arial"/>
            </a:endParaRPr>
          </a:p>
          <a:p>
            <a:pPr algn="just" marL="12700" marR="6350">
              <a:lnSpc>
                <a:spcPct val="95800"/>
              </a:lnSpc>
              <a:spcBef>
                <a:spcPts val="30"/>
              </a:spcBef>
            </a:pPr>
            <a:r>
              <a:rPr dirty="0" sz="1100" spc="-5">
                <a:latin typeface="Arial"/>
                <a:cs typeface="Arial"/>
              </a:rPr>
              <a:t>or other foreign powers, and institutions created during the colonial period often had pernicious  effects on development that in many cases have persisted to the present day. Despite important  variations that proved consequential, colonial era institutions often favored extractors of wealth  rather than creators of wealth, harming development then and</a:t>
            </a:r>
            <a:r>
              <a:rPr dirty="0" sz="1100" spc="55">
                <a:latin typeface="Arial"/>
                <a:cs typeface="Arial"/>
              </a:rPr>
              <a:t> </a:t>
            </a:r>
            <a:r>
              <a:rPr dirty="0" sz="1100" spc="-5">
                <a:latin typeface="Arial"/>
                <a:cs typeface="Arial"/>
              </a:rPr>
              <a:t>now.</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25</a:t>
            </a:r>
            <a:endParaRPr sz="1100">
              <a:latin typeface="Carlito"/>
              <a:cs typeface="Carl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8" y="892556"/>
            <a:ext cx="5970270" cy="7984490"/>
          </a:xfrm>
          <a:prstGeom prst="rect">
            <a:avLst/>
          </a:prstGeom>
        </p:spPr>
        <p:txBody>
          <a:bodyPr wrap="square" lIns="0" tIns="12065" rIns="0" bIns="0" rtlCol="0" vert="horz">
            <a:spAutoFit/>
          </a:bodyPr>
          <a:lstStyle/>
          <a:p>
            <a:pPr algn="just" marL="12700">
              <a:lnSpc>
                <a:spcPts val="1290"/>
              </a:lnSpc>
              <a:spcBef>
                <a:spcPts val="95"/>
              </a:spcBef>
            </a:pPr>
            <a:r>
              <a:rPr dirty="0" sz="1100" spc="-5" b="1">
                <a:latin typeface="Arial"/>
                <a:cs typeface="Arial"/>
              </a:rPr>
              <a:t>External Dependence:</a:t>
            </a:r>
            <a:endParaRPr sz="1100">
              <a:latin typeface="Arial"/>
              <a:cs typeface="Arial"/>
            </a:endParaRPr>
          </a:p>
          <a:p>
            <a:pPr algn="just" marL="12700" marR="5080">
              <a:lnSpc>
                <a:spcPct val="95800"/>
              </a:lnSpc>
              <a:spcBef>
                <a:spcPts val="25"/>
              </a:spcBef>
            </a:pPr>
            <a:r>
              <a:rPr dirty="0" sz="1100" spc="-5">
                <a:latin typeface="Arial"/>
                <a:cs typeface="Arial"/>
              </a:rPr>
              <a:t>Relatedly, developing countries have also been less well organized and influential in  international relations, with sometimes adverse consequences for development. For example,  agreements within the World </a:t>
            </a:r>
            <a:r>
              <a:rPr dirty="0" sz="1100">
                <a:latin typeface="Arial"/>
                <a:cs typeface="Arial"/>
              </a:rPr>
              <a:t>Trade </a:t>
            </a:r>
            <a:r>
              <a:rPr dirty="0" sz="1100" spc="-5">
                <a:latin typeface="Arial"/>
                <a:cs typeface="Arial"/>
              </a:rPr>
              <a:t>Organization (WTO) and its predecessors concerning  matters such as agricultural subsidies in rich countries that harm developing country farmers  and one-sided regulation of intellectual property rights have often been relatively unfavorable to  the developing</a:t>
            </a:r>
            <a:r>
              <a:rPr dirty="0" sz="1100">
                <a:latin typeface="Arial"/>
                <a:cs typeface="Arial"/>
              </a:rPr>
              <a:t> </a:t>
            </a:r>
            <a:r>
              <a:rPr dirty="0" sz="1100" spc="-5">
                <a:latin typeface="Arial"/>
                <a:cs typeface="Arial"/>
              </a:rPr>
              <a:t>world.</a:t>
            </a:r>
            <a:endParaRPr sz="1100">
              <a:latin typeface="Arial"/>
              <a:cs typeface="Arial"/>
            </a:endParaRPr>
          </a:p>
          <a:p>
            <a:pPr>
              <a:lnSpc>
                <a:spcPct val="100000"/>
              </a:lnSpc>
              <a:spcBef>
                <a:spcPts val="45"/>
              </a:spcBef>
            </a:pPr>
            <a:endParaRPr sz="1100">
              <a:latin typeface="Arial"/>
              <a:cs typeface="Arial"/>
            </a:endParaRPr>
          </a:p>
          <a:p>
            <a:pPr marL="12700" marR="6350">
              <a:lnSpc>
                <a:spcPts val="1260"/>
              </a:lnSpc>
            </a:pPr>
            <a:r>
              <a:rPr dirty="0" sz="1100" spc="-5" b="1">
                <a:latin typeface="Arial"/>
                <a:cs typeface="Arial"/>
              </a:rPr>
              <a:t>HOW LOW-INCOME COUNTRIES TODAY DIFFER FROM DEVELOPED COUNTRIES </a:t>
            </a:r>
            <a:r>
              <a:rPr dirty="0" sz="1100" b="1">
                <a:latin typeface="Arial"/>
                <a:cs typeface="Arial"/>
              </a:rPr>
              <a:t>IN  </a:t>
            </a:r>
            <a:r>
              <a:rPr dirty="0" sz="1100" spc="-5" b="1">
                <a:latin typeface="Arial"/>
                <a:cs typeface="Arial"/>
              </a:rPr>
              <a:t>THEIR EARLIER</a:t>
            </a:r>
            <a:r>
              <a:rPr dirty="0" sz="1100" b="1">
                <a:latin typeface="Arial"/>
                <a:cs typeface="Arial"/>
              </a:rPr>
              <a:t> </a:t>
            </a:r>
            <a:r>
              <a:rPr dirty="0" sz="1100" spc="-5" b="1">
                <a:latin typeface="Arial"/>
                <a:cs typeface="Arial"/>
              </a:rPr>
              <a:t>STAGES</a:t>
            </a:r>
            <a:endParaRPr sz="1100">
              <a:latin typeface="Arial"/>
              <a:cs typeface="Arial"/>
            </a:endParaRPr>
          </a:p>
          <a:p>
            <a:pPr>
              <a:lnSpc>
                <a:spcPct val="100000"/>
              </a:lnSpc>
              <a:spcBef>
                <a:spcPts val="30"/>
              </a:spcBef>
            </a:pPr>
            <a:endParaRPr sz="1100">
              <a:latin typeface="Arial"/>
              <a:cs typeface="Arial"/>
            </a:endParaRPr>
          </a:p>
          <a:p>
            <a:pPr marL="12700">
              <a:lnSpc>
                <a:spcPct val="100000"/>
              </a:lnSpc>
            </a:pPr>
            <a:r>
              <a:rPr dirty="0" sz="1100" spc="-5" b="1">
                <a:latin typeface="Arial"/>
                <a:cs typeface="Arial"/>
              </a:rPr>
              <a:t>EIGHT</a:t>
            </a:r>
            <a:r>
              <a:rPr dirty="0" sz="1100" b="1">
                <a:latin typeface="Arial"/>
                <a:cs typeface="Arial"/>
              </a:rPr>
              <a:t> </a:t>
            </a:r>
            <a:r>
              <a:rPr dirty="0" sz="1100" spc="-5" b="1">
                <a:latin typeface="Arial"/>
                <a:cs typeface="Arial"/>
              </a:rPr>
              <a:t>DIFFERENCES:</a:t>
            </a:r>
            <a:endParaRPr sz="1100">
              <a:latin typeface="Arial"/>
              <a:cs typeface="Arial"/>
            </a:endParaRPr>
          </a:p>
          <a:p>
            <a:pPr>
              <a:lnSpc>
                <a:spcPct val="100000"/>
              </a:lnSpc>
            </a:pPr>
            <a:endParaRPr sz="1050">
              <a:latin typeface="Arial"/>
              <a:cs typeface="Arial"/>
            </a:endParaRPr>
          </a:p>
          <a:p>
            <a:pPr marL="469900" indent="-229235">
              <a:lnSpc>
                <a:spcPts val="1295"/>
              </a:lnSpc>
              <a:buFont typeface="Arial"/>
              <a:buAutoNum type="arabicPeriod"/>
              <a:tabLst>
                <a:tab pos="470534" algn="l"/>
              </a:tabLst>
            </a:pPr>
            <a:r>
              <a:rPr dirty="0" sz="1100" spc="-5">
                <a:latin typeface="Arial"/>
                <a:cs typeface="Arial"/>
              </a:rPr>
              <a:t>Physical and human resource</a:t>
            </a:r>
            <a:r>
              <a:rPr dirty="0" sz="1100" spc="15">
                <a:latin typeface="Arial"/>
                <a:cs typeface="Arial"/>
              </a:rPr>
              <a:t> </a:t>
            </a:r>
            <a:r>
              <a:rPr dirty="0" sz="1100" spc="-5">
                <a:latin typeface="Arial"/>
                <a:cs typeface="Arial"/>
              </a:rPr>
              <a:t>endowments.</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Per capita incomes and levels of GDP in relation to the rest of the</a:t>
            </a:r>
            <a:r>
              <a:rPr dirty="0" sz="1100" spc="100">
                <a:latin typeface="Arial"/>
                <a:cs typeface="Arial"/>
              </a:rPr>
              <a:t> </a:t>
            </a:r>
            <a:r>
              <a:rPr dirty="0" sz="1100" spc="-5">
                <a:latin typeface="Arial"/>
                <a:cs typeface="Arial"/>
              </a:rPr>
              <a:t>world.</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Climate.</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Population size, distribution, and</a:t>
            </a:r>
            <a:r>
              <a:rPr dirty="0" sz="1100" spc="15">
                <a:latin typeface="Arial"/>
                <a:cs typeface="Arial"/>
              </a:rPr>
              <a:t> </a:t>
            </a:r>
            <a:r>
              <a:rPr dirty="0" sz="1100" spc="-5">
                <a:latin typeface="Arial"/>
                <a:cs typeface="Arial"/>
              </a:rPr>
              <a:t>growth.</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Historic role of international</a:t>
            </a:r>
            <a:r>
              <a:rPr dirty="0" sz="1100" spc="10">
                <a:latin typeface="Arial"/>
                <a:cs typeface="Arial"/>
              </a:rPr>
              <a:t> </a:t>
            </a:r>
            <a:r>
              <a:rPr dirty="0" sz="1100" spc="-5">
                <a:latin typeface="Arial"/>
                <a:cs typeface="Arial"/>
              </a:rPr>
              <a:t>migration.</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International trade</a:t>
            </a:r>
            <a:r>
              <a:rPr dirty="0" sz="1100" spc="5">
                <a:latin typeface="Arial"/>
                <a:cs typeface="Arial"/>
              </a:rPr>
              <a:t> </a:t>
            </a:r>
            <a:r>
              <a:rPr dirty="0" sz="1100" spc="-5">
                <a:latin typeface="Arial"/>
                <a:cs typeface="Arial"/>
              </a:rPr>
              <a:t>benefits.</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Basic scientific/technological research and development</a:t>
            </a:r>
            <a:r>
              <a:rPr dirty="0" sz="1100" spc="35">
                <a:latin typeface="Arial"/>
                <a:cs typeface="Arial"/>
              </a:rPr>
              <a:t> </a:t>
            </a:r>
            <a:r>
              <a:rPr dirty="0" sz="1100" spc="-5">
                <a:latin typeface="Arial"/>
                <a:cs typeface="Arial"/>
              </a:rPr>
              <a:t>capabilities.</a:t>
            </a:r>
            <a:endParaRPr sz="1100">
              <a:latin typeface="Arial"/>
              <a:cs typeface="Arial"/>
            </a:endParaRPr>
          </a:p>
          <a:p>
            <a:pPr marL="469900" indent="-229235">
              <a:lnSpc>
                <a:spcPts val="1290"/>
              </a:lnSpc>
              <a:buFont typeface="Arial"/>
              <a:buAutoNum type="arabicPeriod"/>
              <a:tabLst>
                <a:tab pos="470534" algn="l"/>
              </a:tabLst>
            </a:pPr>
            <a:r>
              <a:rPr dirty="0" sz="1100" spc="-5">
                <a:latin typeface="Arial"/>
                <a:cs typeface="Arial"/>
              </a:rPr>
              <a:t>Efficacy of domestic</a:t>
            </a:r>
            <a:r>
              <a:rPr dirty="0" sz="1100" spc="10">
                <a:latin typeface="Arial"/>
                <a:cs typeface="Arial"/>
              </a:rPr>
              <a:t> </a:t>
            </a:r>
            <a:r>
              <a:rPr dirty="0" sz="1100" spc="-5">
                <a:latin typeface="Arial"/>
                <a:cs typeface="Arial"/>
              </a:rPr>
              <a:t>institutions.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ARE LIVING STANDARDS OF DEVELOPING AND DEVELOPED NATIONS</a:t>
            </a:r>
            <a:r>
              <a:rPr dirty="0" sz="1100" spc="25" b="1">
                <a:latin typeface="Arial"/>
                <a:cs typeface="Arial"/>
              </a:rPr>
              <a:t> </a:t>
            </a:r>
            <a:r>
              <a:rPr dirty="0" sz="1100" spc="-5" b="1">
                <a:latin typeface="Arial"/>
                <a:cs typeface="Arial"/>
              </a:rPr>
              <a:t>CONVERGING?</a:t>
            </a:r>
            <a:endParaRPr sz="1100">
              <a:latin typeface="Arial"/>
              <a:cs typeface="Arial"/>
            </a:endParaRPr>
          </a:p>
          <a:p>
            <a:pPr>
              <a:lnSpc>
                <a:spcPct val="100000"/>
              </a:lnSpc>
              <a:spcBef>
                <a:spcPts val="15"/>
              </a:spcBef>
            </a:pPr>
            <a:endParaRPr sz="1250">
              <a:latin typeface="Arial"/>
              <a:cs typeface="Arial"/>
            </a:endParaRPr>
          </a:p>
          <a:p>
            <a:pPr algn="just" marL="469900" marR="6350" indent="-228600">
              <a:lnSpc>
                <a:spcPct val="95700"/>
              </a:lnSpc>
              <a:spcBef>
                <a:spcPts val="5"/>
              </a:spcBef>
              <a:buFont typeface="Symbol"/>
              <a:buChar char=""/>
              <a:tabLst>
                <a:tab pos="470534" algn="l"/>
              </a:tabLst>
            </a:pPr>
            <a:r>
              <a:rPr dirty="0" sz="1100" spc="-5" b="1">
                <a:latin typeface="Arial"/>
                <a:cs typeface="Arial"/>
              </a:rPr>
              <a:t>Divergence: </a:t>
            </a:r>
            <a:r>
              <a:rPr dirty="0" sz="1100" spc="-5">
                <a:latin typeface="Arial"/>
                <a:cs typeface="Arial"/>
              </a:rPr>
              <a:t>A tendency for per capita income (or output)to grow faster in higher income  countries than in lower-income countries so that the income gap widens across countries  over time(as was seen in the two centuries after industrialization</a:t>
            </a:r>
            <a:r>
              <a:rPr dirty="0" sz="1100" spc="85">
                <a:latin typeface="Arial"/>
                <a:cs typeface="Arial"/>
              </a:rPr>
              <a:t> </a:t>
            </a:r>
            <a:r>
              <a:rPr dirty="0" sz="1100" spc="-5">
                <a:latin typeface="Arial"/>
                <a:cs typeface="Arial"/>
              </a:rPr>
              <a:t>began).</a:t>
            </a:r>
            <a:endParaRPr sz="1100">
              <a:latin typeface="Arial"/>
              <a:cs typeface="Arial"/>
            </a:endParaRPr>
          </a:p>
          <a:p>
            <a:pPr>
              <a:lnSpc>
                <a:spcPct val="100000"/>
              </a:lnSpc>
              <a:spcBef>
                <a:spcPts val="20"/>
              </a:spcBef>
              <a:buFont typeface="Symbol"/>
              <a:buChar char=""/>
            </a:pPr>
            <a:endParaRPr sz="1150">
              <a:latin typeface="Arial"/>
              <a:cs typeface="Arial"/>
            </a:endParaRPr>
          </a:p>
          <a:p>
            <a:pPr algn="just" marL="469900" marR="5080" indent="-228600">
              <a:lnSpc>
                <a:spcPct val="95700"/>
              </a:lnSpc>
              <a:buFont typeface="Symbol"/>
              <a:buChar char=""/>
              <a:tabLst>
                <a:tab pos="470534" algn="l"/>
              </a:tabLst>
            </a:pPr>
            <a:r>
              <a:rPr dirty="0" sz="1100" spc="-5" b="1">
                <a:latin typeface="Arial"/>
                <a:cs typeface="Arial"/>
              </a:rPr>
              <a:t>Convergence: </a:t>
            </a:r>
            <a:r>
              <a:rPr dirty="0" sz="1100" spc="-5">
                <a:latin typeface="Arial"/>
                <a:cs typeface="Arial"/>
              </a:rPr>
              <a:t>The tendency for per capita income (or output)to grow faster in lower  income countries than in higher-income countries so that lower-income countries are  “catching up” over </a:t>
            </a:r>
            <a:r>
              <a:rPr dirty="0" sz="1100">
                <a:latin typeface="Arial"/>
                <a:cs typeface="Arial"/>
              </a:rPr>
              <a:t>time. </a:t>
            </a:r>
            <a:r>
              <a:rPr dirty="0" sz="1100" spc="-5">
                <a:latin typeface="Arial"/>
                <a:cs typeface="Arial"/>
              </a:rPr>
              <a:t>When countries are hypothesized to converge </a:t>
            </a:r>
            <a:r>
              <a:rPr dirty="0" sz="1100">
                <a:latin typeface="Arial"/>
                <a:cs typeface="Arial"/>
              </a:rPr>
              <a:t>not </a:t>
            </a:r>
            <a:r>
              <a:rPr dirty="0" sz="1100" spc="-5">
                <a:latin typeface="Arial"/>
                <a:cs typeface="Arial"/>
              </a:rPr>
              <a:t>in all cases  but other things being equal (particularly savings rates, labor force growth, and  production technologies), then the term conditional convergence is</a:t>
            </a:r>
            <a:r>
              <a:rPr dirty="0" sz="1100" spc="65">
                <a:latin typeface="Arial"/>
                <a:cs typeface="Arial"/>
              </a:rPr>
              <a:t> </a:t>
            </a:r>
            <a:r>
              <a:rPr dirty="0" sz="1100" spc="-5">
                <a:latin typeface="Arial"/>
                <a:cs typeface="Arial"/>
              </a:rPr>
              <a:t>used.</a:t>
            </a:r>
            <a:endParaRPr sz="1100">
              <a:latin typeface="Arial"/>
              <a:cs typeface="Arial"/>
            </a:endParaRPr>
          </a:p>
          <a:p>
            <a:pPr>
              <a:lnSpc>
                <a:spcPct val="100000"/>
              </a:lnSpc>
              <a:spcBef>
                <a:spcPts val="5"/>
              </a:spcBef>
              <a:buFont typeface="Symbol"/>
              <a:buChar char=""/>
            </a:pPr>
            <a:endParaRPr sz="1100">
              <a:latin typeface="Arial"/>
              <a:cs typeface="Arial"/>
            </a:endParaRPr>
          </a:p>
          <a:p>
            <a:pPr algn="just" marL="12700" marR="5715">
              <a:lnSpc>
                <a:spcPct val="95700"/>
              </a:lnSpc>
            </a:pPr>
            <a:r>
              <a:rPr dirty="0" sz="1100" spc="-5">
                <a:latin typeface="Arial"/>
                <a:cs typeface="Arial"/>
              </a:rPr>
              <a:t>If the growth experience of developing and developed countries were similar, there are two  important reasons to expect that developing countries would be “catching up” by growing faster  on average than developed</a:t>
            </a:r>
            <a:r>
              <a:rPr dirty="0" sz="1100" spc="15">
                <a:latin typeface="Arial"/>
                <a:cs typeface="Arial"/>
              </a:rPr>
              <a:t> </a:t>
            </a:r>
            <a:r>
              <a:rPr dirty="0" sz="1100" spc="-5">
                <a:latin typeface="Arial"/>
                <a:cs typeface="Arial"/>
              </a:rPr>
              <a:t>countries.</a:t>
            </a:r>
            <a:endParaRPr sz="1100">
              <a:latin typeface="Arial"/>
              <a:cs typeface="Arial"/>
            </a:endParaRPr>
          </a:p>
          <a:p>
            <a:pPr>
              <a:lnSpc>
                <a:spcPct val="100000"/>
              </a:lnSpc>
              <a:spcBef>
                <a:spcPts val="25"/>
              </a:spcBef>
            </a:pPr>
            <a:endParaRPr sz="11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Technology Transfer</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Rapid Capital</a:t>
            </a:r>
            <a:r>
              <a:rPr dirty="0" sz="1100">
                <a:latin typeface="Arial"/>
                <a:cs typeface="Arial"/>
              </a:rPr>
              <a:t> </a:t>
            </a:r>
            <a:r>
              <a:rPr dirty="0" sz="1100" spc="-5">
                <a:latin typeface="Arial"/>
                <a:cs typeface="Arial"/>
              </a:rPr>
              <a:t>Accumulation</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Technology</a:t>
            </a:r>
            <a:r>
              <a:rPr dirty="0" sz="1100" spc="-10" b="1">
                <a:latin typeface="Arial"/>
                <a:cs typeface="Arial"/>
              </a:rPr>
              <a:t> </a:t>
            </a:r>
            <a:r>
              <a:rPr dirty="0" sz="1100" spc="-5" b="1">
                <a:latin typeface="Arial"/>
                <a:cs typeface="Arial"/>
              </a:rPr>
              <a:t>Transfer:</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first reason is due to technology transfer. Today’s developing countries do not have to  “reinvent the wheel”; for example, they do not have to use vacuum tubes before they can use  semiconductors. Even if royalties must be paid, it is cheaper to replicate technology than to  undertake original R&amp;D, partly because one does not have to pay for mistakes and dead ends  along the way. This should enable developing countries to “leapfrog” over some of the earlier  stages of technological development, moving immediately to high productivity techniques</a:t>
            </a:r>
            <a:r>
              <a:rPr dirty="0" sz="1100" spc="-105">
                <a:latin typeface="Arial"/>
                <a:cs typeface="Arial"/>
              </a:rPr>
              <a:t> </a:t>
            </a:r>
            <a:r>
              <a:rPr dirty="0" sz="1100" spc="-5">
                <a:latin typeface="Arial"/>
                <a:cs typeface="Arial"/>
              </a:rPr>
              <a:t>of</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26</a:t>
            </a:r>
            <a:endParaRPr sz="1100">
              <a:latin typeface="Carlito"/>
              <a:cs typeface="Carl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6647815"/>
          </a:xfrm>
          <a:prstGeom prst="rect">
            <a:avLst/>
          </a:prstGeom>
        </p:spPr>
        <p:txBody>
          <a:bodyPr wrap="square" lIns="0" tIns="22860" rIns="0" bIns="0" rtlCol="0" vert="horz">
            <a:spAutoFit/>
          </a:bodyPr>
          <a:lstStyle/>
          <a:p>
            <a:pPr marL="12700" marR="6350">
              <a:lnSpc>
                <a:spcPts val="1270"/>
              </a:lnSpc>
              <a:spcBef>
                <a:spcPts val="180"/>
              </a:spcBef>
            </a:pPr>
            <a:r>
              <a:rPr dirty="0" sz="1100" spc="-5">
                <a:latin typeface="Arial"/>
                <a:cs typeface="Arial"/>
              </a:rPr>
              <a:t>production. As a result, they should be able to grow </a:t>
            </a:r>
            <a:r>
              <a:rPr dirty="0" sz="1100">
                <a:latin typeface="Arial"/>
                <a:cs typeface="Arial"/>
              </a:rPr>
              <a:t>much </a:t>
            </a:r>
            <a:r>
              <a:rPr dirty="0" sz="1100" spc="-5">
                <a:latin typeface="Arial"/>
                <a:cs typeface="Arial"/>
              </a:rPr>
              <a:t>faster than today’s developed  countries are growing now or were able to grow in the</a:t>
            </a:r>
            <a:r>
              <a:rPr dirty="0" sz="1100" spc="65">
                <a:latin typeface="Arial"/>
                <a:cs typeface="Arial"/>
              </a:rPr>
              <a:t> </a:t>
            </a:r>
            <a:r>
              <a:rPr dirty="0" sz="1100" spc="-5">
                <a:latin typeface="Arial"/>
                <a:cs typeface="Arial"/>
              </a:rPr>
              <a:t>past.</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Rapid Capital</a:t>
            </a:r>
            <a:r>
              <a:rPr dirty="0" sz="1100" spc="5" b="1">
                <a:latin typeface="Arial"/>
                <a:cs typeface="Arial"/>
              </a:rPr>
              <a:t> </a:t>
            </a:r>
            <a:r>
              <a:rPr dirty="0" sz="1100" spc="-5" b="1">
                <a:latin typeface="Arial"/>
                <a:cs typeface="Arial"/>
              </a:rPr>
              <a:t>Accumulation:</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spcBef>
                <a:spcPts val="5"/>
              </a:spcBef>
            </a:pPr>
            <a:r>
              <a:rPr dirty="0" sz="1100" spc="-5">
                <a:latin typeface="Arial"/>
                <a:cs typeface="Arial"/>
              </a:rPr>
              <a:t>Today’s developed countries have high levels of physical and human capital; in a production  function analysis, this would explain their high levels of output per person. But in traditional  neoclassical analysis, the marginal product of capital and the profitability of investments would  be lower in developed countries where capital intensity is higher, provided that the law of  diminishing returns applies. That is, the impact of additional capital on output would be expected  to be smaller in a developed country that already has a lot </a:t>
            </a:r>
            <a:r>
              <a:rPr dirty="0" sz="1100">
                <a:latin typeface="Arial"/>
                <a:cs typeface="Arial"/>
              </a:rPr>
              <a:t>of </a:t>
            </a:r>
            <a:r>
              <a:rPr dirty="0" sz="1100" spc="-5">
                <a:latin typeface="Arial"/>
                <a:cs typeface="Arial"/>
              </a:rPr>
              <a:t>capital in relation to the size of its  workforce than in a developing country where capital is</a:t>
            </a:r>
            <a:r>
              <a:rPr dirty="0" sz="1100" spc="50">
                <a:latin typeface="Arial"/>
                <a:cs typeface="Arial"/>
              </a:rPr>
              <a:t> </a:t>
            </a:r>
            <a:r>
              <a:rPr dirty="0" sz="1100" spc="-5">
                <a:latin typeface="Arial"/>
                <a:cs typeface="Arial"/>
              </a:rPr>
              <a:t>scarce.</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Convergence in the world economy depends on two</a:t>
            </a:r>
            <a:r>
              <a:rPr dirty="0" sz="1100" spc="30" b="1">
                <a:latin typeface="Arial"/>
                <a:cs typeface="Arial"/>
              </a:rPr>
              <a:t> </a:t>
            </a:r>
            <a:r>
              <a:rPr dirty="0" sz="1100" spc="-5" b="1">
                <a:latin typeface="Arial"/>
                <a:cs typeface="Arial"/>
              </a:rPr>
              <a:t>levels:</a:t>
            </a:r>
            <a:endParaRPr sz="1100">
              <a:latin typeface="Arial"/>
              <a:cs typeface="Arial"/>
            </a:endParaRPr>
          </a:p>
          <a:p>
            <a:pPr>
              <a:lnSpc>
                <a:spcPct val="100000"/>
              </a:lnSpc>
              <a:spcBef>
                <a:spcPts val="45"/>
              </a:spcBef>
            </a:pPr>
            <a:endParaRPr sz="1000">
              <a:latin typeface="Arial"/>
              <a:cs typeface="Arial"/>
            </a:endParaRPr>
          </a:p>
          <a:p>
            <a:pPr marL="469900" indent="-228600">
              <a:lnSpc>
                <a:spcPts val="1295"/>
              </a:lnSpc>
              <a:spcBef>
                <a:spcPts val="5"/>
              </a:spcBef>
              <a:buFont typeface="Arial"/>
              <a:buAutoNum type="arabicPeriod"/>
              <a:tabLst>
                <a:tab pos="469900" algn="l"/>
              </a:tabLst>
            </a:pPr>
            <a:r>
              <a:rPr dirty="0" sz="1100" spc="-5">
                <a:latin typeface="Arial"/>
                <a:cs typeface="Arial"/>
              </a:rPr>
              <a:t>Relative Country</a:t>
            </a:r>
            <a:r>
              <a:rPr dirty="0" sz="1100" spc="5">
                <a:latin typeface="Arial"/>
                <a:cs typeface="Arial"/>
              </a:rPr>
              <a:t> </a:t>
            </a:r>
            <a:r>
              <a:rPr dirty="0" sz="1100" spc="-5">
                <a:latin typeface="Arial"/>
                <a:cs typeface="Arial"/>
              </a:rPr>
              <a:t>Convergence</a:t>
            </a:r>
            <a:endParaRPr sz="11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Absolute Country</a:t>
            </a:r>
            <a:r>
              <a:rPr dirty="0" sz="1100" spc="5">
                <a:latin typeface="Arial"/>
                <a:cs typeface="Arial"/>
              </a:rPr>
              <a:t> </a:t>
            </a:r>
            <a:r>
              <a:rPr dirty="0" sz="1100" spc="-5">
                <a:latin typeface="Arial"/>
                <a:cs typeface="Arial"/>
              </a:rPr>
              <a:t>Convergence</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1- Relative Country</a:t>
            </a:r>
            <a:r>
              <a:rPr dirty="0" sz="1100" spc="5" b="1">
                <a:latin typeface="Arial"/>
                <a:cs typeface="Arial"/>
              </a:rPr>
              <a:t> </a:t>
            </a:r>
            <a:r>
              <a:rPr dirty="0" sz="1100" spc="-5" b="1">
                <a:latin typeface="Arial"/>
                <a:cs typeface="Arial"/>
              </a:rPr>
              <a:t>Convergence</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The most widely used approach is simply to examine whether poorer countries are growing  faster than richer countries. As long as this is happening, poor countries would be </a:t>
            </a:r>
            <a:r>
              <a:rPr dirty="0" sz="1100">
                <a:latin typeface="Arial"/>
                <a:cs typeface="Arial"/>
              </a:rPr>
              <a:t>on </a:t>
            </a:r>
            <a:r>
              <a:rPr dirty="0" sz="1100" spc="-5">
                <a:latin typeface="Arial"/>
                <a:cs typeface="Arial"/>
              </a:rPr>
              <a:t>a path to  eventually “catch up” to the income levels of rich countries. In the meantime the relative gap in  incomes would be shrinking, as the income of richer countries would become a smaller multiple  of income of poorer countries. This can be seen on a country-by country basis. Although  China’s average income was just 3% of that of the United States in 1980, it was estimated to  have reached 14% of U.S. income by 2007. But in the same period, </a:t>
            </a:r>
            <a:r>
              <a:rPr dirty="0" sz="1100">
                <a:latin typeface="Arial"/>
                <a:cs typeface="Arial"/>
              </a:rPr>
              <a:t>the </a:t>
            </a:r>
            <a:r>
              <a:rPr dirty="0" sz="1100" spc="-5">
                <a:latin typeface="Arial"/>
                <a:cs typeface="Arial"/>
              </a:rPr>
              <a:t>income of the Dem.  Rep. of Congo fell from about 5% of U.S. levels to just 1%. But globally, evidence for relative  convergence is weak at best, even for the most recent</a:t>
            </a:r>
            <a:r>
              <a:rPr dirty="0" sz="1100" spc="55">
                <a:latin typeface="Arial"/>
                <a:cs typeface="Arial"/>
              </a:rPr>
              <a:t> </a:t>
            </a:r>
            <a:r>
              <a:rPr dirty="0" sz="1100" spc="-5">
                <a:latin typeface="Arial"/>
                <a:cs typeface="Arial"/>
              </a:rPr>
              <a:t>decades.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Figure 2.8a illustrates that on the x-axis, income data are plotted from the initial year, in this  case 1980; while on the y-axis, the average growth rate of real per capita income is plotted, in  this case, over the subsequent 27 years to 2007. If there were unconditional convergence, there  would be a tendency for the points plotted to show a clear negative relationship, with the initially  lower-income countries growing faster. But as seen in Figure 2.8a there is no apparent  tendency toward convergence across</a:t>
            </a:r>
            <a:r>
              <a:rPr dirty="0" sz="1100" spc="15">
                <a:latin typeface="Arial"/>
                <a:cs typeface="Arial"/>
              </a:rPr>
              <a:t> </a:t>
            </a:r>
            <a:r>
              <a:rPr dirty="0" sz="1100" spc="-5">
                <a:latin typeface="Arial"/>
                <a:cs typeface="Arial"/>
              </a:rPr>
              <a:t>countries.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In Figure 2.8b, it is clear that divergence is occurring: middle-income countries are growing  faster than low-income countries, so there is a growing gap among developing countries. Many  nations, especially among the 49 least developed countries, remain in relative stagnation. Poor  developing countries have not been catching up as a</a:t>
            </a:r>
            <a:r>
              <a:rPr dirty="0" sz="1100" spc="45">
                <a:latin typeface="Arial"/>
                <a:cs typeface="Arial"/>
              </a:rPr>
              <a:t> </a:t>
            </a:r>
            <a:r>
              <a:rPr dirty="0" sz="1100" spc="-5">
                <a:latin typeface="Arial"/>
                <a:cs typeface="Arial"/>
              </a:rPr>
              <a:t>group.</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27</a:t>
            </a:r>
            <a:endParaRPr sz="1100">
              <a:latin typeface="Carlito"/>
              <a:cs typeface="Carl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51435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In Figure 2.8c, growth of high-income OECD countries is examined separately for 1950–2007.  The picture here is one of convergence, and we need to interpret it carefully. We </a:t>
            </a:r>
            <a:r>
              <a:rPr dirty="0" sz="1100">
                <a:latin typeface="Arial"/>
                <a:cs typeface="Arial"/>
              </a:rPr>
              <a:t>might </a:t>
            </a:r>
            <a:r>
              <a:rPr dirty="0" sz="1100" spc="-5">
                <a:latin typeface="Arial"/>
                <a:cs typeface="Arial"/>
              </a:rPr>
              <a:t>conclude  that</a:t>
            </a:r>
            <a:r>
              <a:rPr dirty="0" sz="1100" spc="90">
                <a:latin typeface="Arial"/>
                <a:cs typeface="Arial"/>
              </a:rPr>
              <a:t> </a:t>
            </a:r>
            <a:r>
              <a:rPr dirty="0" sz="1100" spc="-5">
                <a:latin typeface="Arial"/>
                <a:cs typeface="Arial"/>
              </a:rPr>
              <a:t>if</a:t>
            </a:r>
            <a:r>
              <a:rPr dirty="0" sz="1100" spc="90">
                <a:latin typeface="Arial"/>
                <a:cs typeface="Arial"/>
              </a:rPr>
              <a:t> </a:t>
            </a:r>
            <a:r>
              <a:rPr dirty="0" sz="1100" spc="-5">
                <a:latin typeface="Arial"/>
                <a:cs typeface="Arial"/>
              </a:rPr>
              <a:t>developing</a:t>
            </a:r>
            <a:r>
              <a:rPr dirty="0" sz="1100" spc="90">
                <a:latin typeface="Arial"/>
                <a:cs typeface="Arial"/>
              </a:rPr>
              <a:t> </a:t>
            </a:r>
            <a:r>
              <a:rPr dirty="0" sz="1100" spc="-5">
                <a:latin typeface="Arial"/>
                <a:cs typeface="Arial"/>
              </a:rPr>
              <a:t>countries</a:t>
            </a:r>
            <a:r>
              <a:rPr dirty="0" sz="1100" spc="90">
                <a:latin typeface="Arial"/>
                <a:cs typeface="Arial"/>
              </a:rPr>
              <a:t> </a:t>
            </a:r>
            <a:r>
              <a:rPr dirty="0" sz="1100" spc="-5">
                <a:latin typeface="Arial"/>
                <a:cs typeface="Arial"/>
              </a:rPr>
              <a:t>closely</a:t>
            </a:r>
            <a:r>
              <a:rPr dirty="0" sz="1100" spc="90">
                <a:latin typeface="Arial"/>
                <a:cs typeface="Arial"/>
              </a:rPr>
              <a:t> </a:t>
            </a:r>
            <a:r>
              <a:rPr dirty="0" sz="1100" spc="-5">
                <a:latin typeface="Arial"/>
                <a:cs typeface="Arial"/>
              </a:rPr>
              <a:t>followed</a:t>
            </a:r>
            <a:r>
              <a:rPr dirty="0" sz="1100" spc="95">
                <a:latin typeface="Arial"/>
                <a:cs typeface="Arial"/>
              </a:rPr>
              <a:t> </a:t>
            </a:r>
            <a:r>
              <a:rPr dirty="0" sz="1100" spc="-5">
                <a:latin typeface="Arial"/>
                <a:cs typeface="Arial"/>
              </a:rPr>
              <a:t>the</a:t>
            </a:r>
            <a:r>
              <a:rPr dirty="0" sz="1100" spc="90">
                <a:latin typeface="Arial"/>
                <a:cs typeface="Arial"/>
              </a:rPr>
              <a:t> </a:t>
            </a:r>
            <a:r>
              <a:rPr dirty="0" sz="1100" spc="-5">
                <a:latin typeface="Arial"/>
                <a:cs typeface="Arial"/>
              </a:rPr>
              <a:t>institutions</a:t>
            </a:r>
            <a:r>
              <a:rPr dirty="0" sz="1100" spc="90">
                <a:latin typeface="Arial"/>
                <a:cs typeface="Arial"/>
              </a:rPr>
              <a:t> </a:t>
            </a:r>
            <a:r>
              <a:rPr dirty="0" sz="1100" spc="-5">
                <a:latin typeface="Arial"/>
                <a:cs typeface="Arial"/>
              </a:rPr>
              <a:t>and</a:t>
            </a:r>
            <a:r>
              <a:rPr dirty="0" sz="1100" spc="90">
                <a:latin typeface="Arial"/>
                <a:cs typeface="Arial"/>
              </a:rPr>
              <a:t> </a:t>
            </a:r>
            <a:r>
              <a:rPr dirty="0" sz="1100" spc="-5">
                <a:latin typeface="Arial"/>
                <a:cs typeface="Arial"/>
              </a:rPr>
              <a:t>policies</a:t>
            </a:r>
            <a:r>
              <a:rPr dirty="0" sz="1100" spc="90">
                <a:latin typeface="Arial"/>
                <a:cs typeface="Arial"/>
              </a:rPr>
              <a:t> </a:t>
            </a:r>
            <a:r>
              <a:rPr dirty="0" sz="1100" spc="-5">
                <a:latin typeface="Arial"/>
                <a:cs typeface="Arial"/>
              </a:rPr>
              <a:t>of</a:t>
            </a:r>
            <a:r>
              <a:rPr dirty="0" sz="1100" spc="95">
                <a:latin typeface="Arial"/>
                <a:cs typeface="Arial"/>
              </a:rPr>
              <a:t> </a:t>
            </a:r>
            <a:r>
              <a:rPr dirty="0" sz="1100" spc="-5">
                <a:latin typeface="Arial"/>
                <a:cs typeface="Arial"/>
              </a:rPr>
              <a:t>these</a:t>
            </a:r>
            <a:r>
              <a:rPr dirty="0" sz="1100" spc="90">
                <a:latin typeface="Arial"/>
                <a:cs typeface="Arial"/>
              </a:rPr>
              <a:t> </a:t>
            </a:r>
            <a:r>
              <a:rPr dirty="0" sz="1100" spc="-5">
                <a:latin typeface="Arial"/>
                <a:cs typeface="Arial"/>
              </a:rPr>
              <a:t>OECD</a:t>
            </a:r>
            <a:endParaRPr sz="1100">
              <a:latin typeface="Arial"/>
              <a:cs typeface="Arial"/>
            </a:endParaRPr>
          </a:p>
        </p:txBody>
      </p:sp>
      <p:sp>
        <p:nvSpPr>
          <p:cNvPr id="7" name="object 7"/>
          <p:cNvSpPr txBox="1"/>
          <p:nvPr/>
        </p:nvSpPr>
        <p:spPr>
          <a:xfrm>
            <a:off x="901700" y="5797546"/>
            <a:ext cx="5969000" cy="3259454"/>
          </a:xfrm>
          <a:prstGeom prst="rect">
            <a:avLst/>
          </a:prstGeom>
        </p:spPr>
        <p:txBody>
          <a:bodyPr wrap="square" lIns="0" tIns="19685" rIns="0" bIns="0" rtlCol="0" vert="horz">
            <a:spAutoFit/>
          </a:bodyPr>
          <a:lstStyle/>
          <a:p>
            <a:pPr algn="just" marL="12700" marR="5080">
              <a:lnSpc>
                <a:spcPct val="95700"/>
              </a:lnSpc>
              <a:spcBef>
                <a:spcPts val="155"/>
              </a:spcBef>
            </a:pPr>
            <a:r>
              <a:rPr dirty="0" sz="1100" spc="-5">
                <a:latin typeface="Arial"/>
                <a:cs typeface="Arial"/>
              </a:rPr>
              <a:t>economies, they might converge as well. However, as noted earlier, there are </a:t>
            </a:r>
            <a:r>
              <a:rPr dirty="0" sz="1100">
                <a:latin typeface="Arial"/>
                <a:cs typeface="Arial"/>
              </a:rPr>
              <a:t>many </a:t>
            </a:r>
            <a:r>
              <a:rPr dirty="0" sz="1100" spc="-5">
                <a:latin typeface="Arial"/>
                <a:cs typeface="Arial"/>
              </a:rPr>
              <a:t>institutional  and other differences between low- and high-income economies today, some of which may be  very difficult to</a:t>
            </a:r>
            <a:r>
              <a:rPr dirty="0" sz="1100" spc="5">
                <a:latin typeface="Arial"/>
                <a:cs typeface="Arial"/>
              </a:rPr>
              <a:t> </a:t>
            </a:r>
            <a:r>
              <a:rPr dirty="0" sz="1100" spc="-5">
                <a:latin typeface="Arial"/>
                <a:cs typeface="Arial"/>
              </a:rPr>
              <a:t>change.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2- Absolute Country</a:t>
            </a:r>
            <a:r>
              <a:rPr dirty="0" sz="1100" spc="5" b="1">
                <a:latin typeface="Arial"/>
                <a:cs typeface="Arial"/>
              </a:rPr>
              <a:t> </a:t>
            </a:r>
            <a:r>
              <a:rPr dirty="0" sz="1100" spc="-5" b="1">
                <a:latin typeface="Arial"/>
                <a:cs typeface="Arial"/>
              </a:rPr>
              <a:t>Convergence</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With the recent rapid growth in China, and the acceleration of growth in South Asia as well,  these regions are currently on a path of relative country convergence. For example, in the  1990–2003 periods, while income grew 24% in high-income OECD countries, it grew 56% in  South Asia and 196% in China. But due to</a:t>
            </a:r>
            <a:r>
              <a:rPr dirty="0" sz="1100" spc="135">
                <a:latin typeface="Arial"/>
                <a:cs typeface="Arial"/>
              </a:rPr>
              <a:t> </a:t>
            </a:r>
            <a:r>
              <a:rPr dirty="0" sz="1100" spc="-5">
                <a:latin typeface="Arial"/>
                <a:cs typeface="Arial"/>
              </a:rPr>
              <a:t>their</a:t>
            </a:r>
            <a:endParaRPr sz="1100">
              <a:latin typeface="Arial"/>
              <a:cs typeface="Arial"/>
            </a:endParaRPr>
          </a:p>
          <a:p>
            <a:pPr algn="just" marL="12700" marR="2670175">
              <a:lnSpc>
                <a:spcPct val="95700"/>
              </a:lnSpc>
              <a:spcBef>
                <a:spcPts val="5"/>
              </a:spcBef>
            </a:pPr>
            <a:r>
              <a:rPr dirty="0" sz="1100" spc="-5">
                <a:latin typeface="Arial"/>
                <a:cs typeface="Arial"/>
              </a:rPr>
              <a:t>relatively </a:t>
            </a:r>
            <a:r>
              <a:rPr dirty="0" sz="1100">
                <a:latin typeface="Arial"/>
                <a:cs typeface="Arial"/>
              </a:rPr>
              <a:t>low </a:t>
            </a:r>
            <a:r>
              <a:rPr dirty="0" sz="1100" spc="-5">
                <a:latin typeface="Arial"/>
                <a:cs typeface="Arial"/>
              </a:rPr>
              <a:t>starting income levels, despite higher  growth, income gains were still smaller in absolute  amount</a:t>
            </a:r>
            <a:r>
              <a:rPr dirty="0" sz="1100" spc="229">
                <a:latin typeface="Arial"/>
                <a:cs typeface="Arial"/>
              </a:rPr>
              <a:t> </a:t>
            </a:r>
            <a:r>
              <a:rPr dirty="0" sz="1100" spc="-5">
                <a:latin typeface="Arial"/>
                <a:cs typeface="Arial"/>
              </a:rPr>
              <a:t>than</a:t>
            </a:r>
            <a:r>
              <a:rPr dirty="0" sz="1100" spc="235">
                <a:latin typeface="Arial"/>
                <a:cs typeface="Arial"/>
              </a:rPr>
              <a:t> </a:t>
            </a:r>
            <a:r>
              <a:rPr dirty="0" sz="1100" spc="-5">
                <a:latin typeface="Arial"/>
                <a:cs typeface="Arial"/>
              </a:rPr>
              <a:t>in</a:t>
            </a:r>
            <a:r>
              <a:rPr dirty="0" sz="1100" spc="235">
                <a:latin typeface="Arial"/>
                <a:cs typeface="Arial"/>
              </a:rPr>
              <a:t> </a:t>
            </a:r>
            <a:r>
              <a:rPr dirty="0" sz="1100" spc="-5">
                <a:latin typeface="Arial"/>
                <a:cs typeface="Arial"/>
              </a:rPr>
              <a:t>the</a:t>
            </a:r>
            <a:r>
              <a:rPr dirty="0" sz="1100" spc="235">
                <a:latin typeface="Arial"/>
                <a:cs typeface="Arial"/>
              </a:rPr>
              <a:t> </a:t>
            </a:r>
            <a:r>
              <a:rPr dirty="0" sz="1100" spc="-5">
                <a:latin typeface="Arial"/>
                <a:cs typeface="Arial"/>
              </a:rPr>
              <a:t>OECD,</a:t>
            </a:r>
            <a:r>
              <a:rPr dirty="0" sz="1100" spc="229">
                <a:latin typeface="Arial"/>
                <a:cs typeface="Arial"/>
              </a:rPr>
              <a:t> </a:t>
            </a:r>
            <a:r>
              <a:rPr dirty="0" sz="1100" spc="-5">
                <a:latin typeface="Arial"/>
                <a:cs typeface="Arial"/>
              </a:rPr>
              <a:t>as</a:t>
            </a:r>
            <a:r>
              <a:rPr dirty="0" sz="1100" spc="235">
                <a:latin typeface="Arial"/>
                <a:cs typeface="Arial"/>
              </a:rPr>
              <a:t> </a:t>
            </a:r>
            <a:r>
              <a:rPr dirty="0" sz="1100" spc="-5">
                <a:latin typeface="Arial"/>
                <a:cs typeface="Arial"/>
              </a:rPr>
              <a:t>illustrated</a:t>
            </a:r>
            <a:r>
              <a:rPr dirty="0" sz="1100" spc="235">
                <a:latin typeface="Arial"/>
                <a:cs typeface="Arial"/>
              </a:rPr>
              <a:t> </a:t>
            </a:r>
            <a:r>
              <a:rPr dirty="0" sz="1100" spc="-5">
                <a:latin typeface="Arial"/>
                <a:cs typeface="Arial"/>
              </a:rPr>
              <a:t>in</a:t>
            </a:r>
            <a:r>
              <a:rPr dirty="0" sz="1100" spc="229">
                <a:latin typeface="Arial"/>
                <a:cs typeface="Arial"/>
              </a:rPr>
              <a:t> </a:t>
            </a:r>
            <a:r>
              <a:rPr dirty="0" sz="1100" spc="-5">
                <a:latin typeface="Arial"/>
                <a:cs typeface="Arial"/>
              </a:rPr>
              <a:t>Figure</a:t>
            </a:r>
            <a:endParaRPr sz="1100">
              <a:latin typeface="Arial"/>
              <a:cs typeface="Arial"/>
            </a:endParaRPr>
          </a:p>
          <a:p>
            <a:pPr algn="just" marL="12700" marR="2671445">
              <a:lnSpc>
                <a:spcPct val="95800"/>
              </a:lnSpc>
            </a:pPr>
            <a:r>
              <a:rPr dirty="0" sz="1100" spc="-5">
                <a:latin typeface="Arial"/>
                <a:cs typeface="Arial"/>
              </a:rPr>
              <a:t>2.9. That is, even </a:t>
            </a:r>
            <a:r>
              <a:rPr dirty="0" sz="1100">
                <a:latin typeface="Arial"/>
                <a:cs typeface="Arial"/>
              </a:rPr>
              <a:t>when </a:t>
            </a:r>
            <a:r>
              <a:rPr dirty="0" sz="1100" spc="-5">
                <a:latin typeface="Arial"/>
                <a:cs typeface="Arial"/>
              </a:rPr>
              <a:t>the average income of a  developing country is becoming a larger fraction of  developed country average incomes, the difference  in incomes can still continue to widen for some time  before they finally begin to shrink. A process of  absolute country convergence is a stronger standard  than a process of relative country</a:t>
            </a:r>
            <a:r>
              <a:rPr dirty="0" sz="1100" spc="45">
                <a:latin typeface="Arial"/>
                <a:cs typeface="Arial"/>
              </a:rPr>
              <a:t> </a:t>
            </a:r>
            <a:r>
              <a:rPr dirty="0" sz="1100" spc="-5">
                <a:latin typeface="Arial"/>
                <a:cs typeface="Arial"/>
              </a:rPr>
              <a:t>convergence.</a:t>
            </a:r>
            <a:endParaRPr sz="1100">
              <a:latin typeface="Arial"/>
              <a:cs typeface="Arial"/>
            </a:endParaRPr>
          </a:p>
        </p:txBody>
      </p:sp>
      <p:sp>
        <p:nvSpPr>
          <p:cNvPr id="8" name="object 8"/>
          <p:cNvSpPr/>
          <p:nvPr/>
        </p:nvSpPr>
        <p:spPr>
          <a:xfrm>
            <a:off x="1153667" y="1465325"/>
            <a:ext cx="5514594" cy="4209061"/>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4307585" y="7394447"/>
            <a:ext cx="2218943" cy="2663571"/>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28</a:t>
            </a:r>
            <a:endParaRPr sz="1100">
              <a:latin typeface="Carlito"/>
              <a:cs typeface="Carli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181292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POPULATION-WEIGHTED RELATIVE COUNTRY</a:t>
            </a:r>
            <a:r>
              <a:rPr dirty="0" sz="1100" spc="5" b="1">
                <a:latin typeface="Arial"/>
                <a:cs typeface="Arial"/>
              </a:rPr>
              <a:t> </a:t>
            </a:r>
            <a:r>
              <a:rPr dirty="0" sz="1100" spc="-5" b="1">
                <a:latin typeface="Arial"/>
                <a:cs typeface="Arial"/>
              </a:rPr>
              <a:t>CONVERGENCE</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The high growth rate in China and India is particularly important because more than one-third of  the world’s people live in these two countries. A typical study of this type is depicted in Figure  2.10a–d. Instead of points representing the data for each country, bubble sizes are used to  depict the relative size of countries ‘populations. To get a sense of how the acceleration of  growth in China and India, along with a few other countries, have changed the picture, the data  are broken up into four time periods. Figures 2.10a and 2.10b reflect that there was relative per  capita divergence from 1950 through 1976, but Figure 2.10d reflects relative per capita  convergence since 1989 (and less unambiguously but plausibly from 1977 to 1989 as well—see  Figure 2.10c).</a:t>
            </a:r>
            <a:endParaRPr sz="1100">
              <a:latin typeface="Arial"/>
              <a:cs typeface="Arial"/>
            </a:endParaRPr>
          </a:p>
        </p:txBody>
      </p:sp>
      <p:sp>
        <p:nvSpPr>
          <p:cNvPr id="7" name="object 7"/>
          <p:cNvSpPr txBox="1"/>
          <p:nvPr/>
        </p:nvSpPr>
        <p:spPr>
          <a:xfrm>
            <a:off x="901700" y="8024099"/>
            <a:ext cx="5969635" cy="100965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WORLD-AS-ONE-COUNTRY CONVERGENCE</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A final—and very different—approach to the study of convergence is to think of the world as if it  were one country. In the first such study, Branko Milonovic stitched together household data  sets from around the world and concluded that global inequality rose significantly in the period  1988 to</a:t>
            </a:r>
            <a:r>
              <a:rPr dirty="0" sz="1100">
                <a:latin typeface="Arial"/>
                <a:cs typeface="Arial"/>
              </a:rPr>
              <a:t> </a:t>
            </a:r>
            <a:r>
              <a:rPr dirty="0" sz="1100" spc="-5">
                <a:latin typeface="Arial"/>
                <a:cs typeface="Arial"/>
              </a:rPr>
              <a:t>1993.</a:t>
            </a:r>
            <a:endParaRPr sz="1100">
              <a:latin typeface="Arial"/>
              <a:cs typeface="Arial"/>
            </a:endParaRPr>
          </a:p>
        </p:txBody>
      </p:sp>
      <p:sp>
        <p:nvSpPr>
          <p:cNvPr id="8" name="object 8"/>
          <p:cNvSpPr/>
          <p:nvPr/>
        </p:nvSpPr>
        <p:spPr>
          <a:xfrm>
            <a:off x="924305" y="3013710"/>
            <a:ext cx="5924550" cy="487146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29</a:t>
            </a:r>
            <a:endParaRPr sz="1100">
              <a:latin typeface="Carlito"/>
              <a:cs typeface="Carl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756094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04</a:t>
            </a:r>
            <a:endParaRPr sz="1100">
              <a:latin typeface="Arial"/>
              <a:cs typeface="Arial"/>
            </a:endParaRPr>
          </a:p>
          <a:p>
            <a:pPr marL="12700" marR="715645" indent="709295">
              <a:lnSpc>
                <a:spcPct val="191400"/>
              </a:lnSpc>
              <a:spcBef>
                <a:spcPts val="15"/>
              </a:spcBef>
            </a:pPr>
            <a:r>
              <a:rPr dirty="0" sz="1100" spc="-5" b="1">
                <a:latin typeface="Arial"/>
                <a:cs typeface="Arial"/>
              </a:rPr>
              <a:t>CLASSIC THEORIES OF ECONOMIC </a:t>
            </a:r>
            <a:r>
              <a:rPr dirty="0" sz="1100" b="1">
                <a:latin typeface="Arial"/>
                <a:cs typeface="Arial"/>
              </a:rPr>
              <a:t>GROWTH AND </a:t>
            </a:r>
            <a:r>
              <a:rPr dirty="0" sz="1100" spc="-5" b="1">
                <a:latin typeface="Arial"/>
                <a:cs typeface="Arial"/>
              </a:rPr>
              <a:t>DEVELOPMENT  </a:t>
            </a:r>
            <a:r>
              <a:rPr dirty="0" sz="1100" spc="-10" b="1">
                <a:latin typeface="Arial"/>
                <a:cs typeface="Arial"/>
              </a:rPr>
              <a:t>CASE </a:t>
            </a:r>
            <a:r>
              <a:rPr dirty="0" sz="1100" spc="-5" b="1">
                <a:latin typeface="Arial"/>
                <a:cs typeface="Arial"/>
              </a:rPr>
              <a:t>STUDY: DIVERGENT DEVELOPMENT: PAKISTAN AND</a:t>
            </a:r>
            <a:r>
              <a:rPr dirty="0" sz="1100" spc="35" b="1">
                <a:latin typeface="Arial"/>
                <a:cs typeface="Arial"/>
              </a:rPr>
              <a:t> </a:t>
            </a:r>
            <a:r>
              <a:rPr dirty="0" sz="1100" spc="-5" b="1">
                <a:latin typeface="Arial"/>
                <a:cs typeface="Arial"/>
              </a:rPr>
              <a:t>BANGLADESH</a:t>
            </a:r>
            <a:endParaRPr sz="1100">
              <a:latin typeface="Arial"/>
              <a:cs typeface="Arial"/>
            </a:endParaRPr>
          </a:p>
          <a:p>
            <a:pPr>
              <a:lnSpc>
                <a:spcPct val="100000"/>
              </a:lnSpc>
            </a:pPr>
            <a:endParaRPr sz="1150">
              <a:latin typeface="Arial"/>
              <a:cs typeface="Arial"/>
            </a:endParaRPr>
          </a:p>
          <a:p>
            <a:pPr marL="12700">
              <a:lnSpc>
                <a:spcPct val="100000"/>
              </a:lnSpc>
            </a:pPr>
            <a:r>
              <a:rPr dirty="0" sz="1100" spc="-5" b="1">
                <a:latin typeface="Arial"/>
                <a:cs typeface="Arial"/>
              </a:rPr>
              <a:t>INTRODUCTION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In 1971, Bangladesh declared independence from Pakistan. Previously, Bangladesh had been  known as East Pakistan, and what is now Pakistan was called West Pakistan. The two countries  are about 1,000 miles apart. Pakistan and Bangladesh had about the same population in 2009  (181 million in Pakistan, 162 million in Bangladesh). They are located in the South Asian region.  Both are overwhelmingly Islamic and both remained a part of the colonial British Raj of India.  Bangladesh was for a long time the global symbol of suffering, from the Bengal famine of 1943  to the 1971. And the 1974 post-independence</a:t>
            </a:r>
            <a:r>
              <a:rPr dirty="0" sz="1100" spc="30">
                <a:latin typeface="Arial"/>
                <a:cs typeface="Arial"/>
              </a:rPr>
              <a:t> </a:t>
            </a:r>
            <a:r>
              <a:rPr dirty="0" sz="1100" spc="-5">
                <a:latin typeface="Arial"/>
                <a:cs typeface="Arial"/>
              </a:rPr>
              <a:t>famine.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GROWTH</a:t>
            </a:r>
            <a:endParaRPr sz="1100">
              <a:latin typeface="Arial"/>
              <a:cs typeface="Arial"/>
            </a:endParaRPr>
          </a:p>
          <a:p>
            <a:pPr>
              <a:lnSpc>
                <a:spcPct val="100000"/>
              </a:lnSpc>
              <a:spcBef>
                <a:spcPts val="15"/>
              </a:spcBef>
            </a:pPr>
            <a:endParaRPr sz="1250">
              <a:latin typeface="Arial"/>
              <a:cs typeface="Arial"/>
            </a:endParaRPr>
          </a:p>
          <a:p>
            <a:pPr algn="just" marL="469900" marR="6985" indent="-228600">
              <a:lnSpc>
                <a:spcPct val="95700"/>
              </a:lnSpc>
              <a:buFont typeface="Symbol"/>
              <a:buChar char=""/>
              <a:tabLst>
                <a:tab pos="470534" algn="l"/>
              </a:tabLst>
            </a:pPr>
            <a:r>
              <a:rPr dirty="0" sz="1100" spc="-5">
                <a:latin typeface="Arial"/>
                <a:cs typeface="Arial"/>
              </a:rPr>
              <a:t>PPP-adjusted incomes remain higher in Pakistan ($2,590 in 2008) than in Bangladesh  ($1,450), but PPP estimation is difficult and other recent estimates show a more  narrowed gap.</a:t>
            </a:r>
            <a:endParaRPr sz="1100">
              <a:latin typeface="Arial"/>
              <a:cs typeface="Arial"/>
            </a:endParaRPr>
          </a:p>
          <a:p>
            <a:pPr algn="just" marL="469900" marR="6350" indent="-228600">
              <a:lnSpc>
                <a:spcPct val="95700"/>
              </a:lnSpc>
              <a:spcBef>
                <a:spcPts val="85"/>
              </a:spcBef>
              <a:buFont typeface="Symbol"/>
              <a:buChar char=""/>
              <a:tabLst>
                <a:tab pos="470534" algn="l"/>
              </a:tabLst>
            </a:pPr>
            <a:r>
              <a:rPr dirty="0" sz="1100" spc="-5">
                <a:latin typeface="Arial"/>
                <a:cs typeface="Arial"/>
              </a:rPr>
              <a:t>In Pakistan, per capita income grew at about 2.2% per year </a:t>
            </a:r>
            <a:r>
              <a:rPr dirty="0" sz="1100">
                <a:latin typeface="Arial"/>
                <a:cs typeface="Arial"/>
              </a:rPr>
              <a:t>in </a:t>
            </a:r>
            <a:r>
              <a:rPr dirty="0" sz="1100" spc="-5">
                <a:latin typeface="Arial"/>
                <a:cs typeface="Arial"/>
              </a:rPr>
              <a:t>the half-century </a:t>
            </a:r>
            <a:r>
              <a:rPr dirty="0" sz="1100">
                <a:latin typeface="Arial"/>
                <a:cs typeface="Arial"/>
              </a:rPr>
              <a:t>from 1950  </a:t>
            </a:r>
            <a:r>
              <a:rPr dirty="0" sz="1100" spc="-5">
                <a:latin typeface="Arial"/>
                <a:cs typeface="Arial"/>
              </a:rPr>
              <a:t>to 2000. As a result, per capita income tripled. But the growth rate declined decade by  decade.</a:t>
            </a:r>
            <a:endParaRPr sz="1100">
              <a:latin typeface="Arial"/>
              <a:cs typeface="Arial"/>
            </a:endParaRPr>
          </a:p>
          <a:p>
            <a:pPr algn="just" marL="469900" marR="7620" indent="-228600">
              <a:lnSpc>
                <a:spcPct val="95700"/>
              </a:lnSpc>
              <a:spcBef>
                <a:spcPts val="80"/>
              </a:spcBef>
              <a:buFont typeface="Symbol"/>
              <a:buChar char=""/>
              <a:tabLst>
                <a:tab pos="470534" algn="l"/>
              </a:tabLst>
            </a:pPr>
            <a:r>
              <a:rPr dirty="0" sz="1100" spc="-5">
                <a:latin typeface="Arial"/>
                <a:cs typeface="Arial"/>
              </a:rPr>
              <a:t>Indications are that Pakistan has experienced much less pro-poor growth in comparison  with Bangladesh. In Bangladesh, farm yields are up dramatically, and the economic  growth rate now tops</a:t>
            </a:r>
            <a:r>
              <a:rPr dirty="0" sz="1100" spc="10">
                <a:latin typeface="Arial"/>
                <a:cs typeface="Arial"/>
              </a:rPr>
              <a:t> </a:t>
            </a:r>
            <a:r>
              <a:rPr dirty="0" sz="1100" spc="-5">
                <a:latin typeface="Arial"/>
                <a:cs typeface="Arial"/>
              </a:rPr>
              <a:t>4%.</a:t>
            </a:r>
            <a:endParaRPr sz="1100">
              <a:latin typeface="Arial"/>
              <a:cs typeface="Arial"/>
            </a:endParaRPr>
          </a:p>
          <a:p>
            <a:pPr>
              <a:lnSpc>
                <a:spcPct val="100000"/>
              </a:lnSpc>
              <a:buFont typeface="Symbol"/>
              <a:buChar char=""/>
            </a:pPr>
            <a:endParaRPr sz="1050">
              <a:latin typeface="Arial"/>
              <a:cs typeface="Arial"/>
            </a:endParaRPr>
          </a:p>
          <a:p>
            <a:pPr marL="12700">
              <a:lnSpc>
                <a:spcPct val="100000"/>
              </a:lnSpc>
              <a:spcBef>
                <a:spcPts val="5"/>
              </a:spcBef>
            </a:pPr>
            <a:r>
              <a:rPr dirty="0" sz="1100" spc="-5" b="1">
                <a:latin typeface="Arial"/>
                <a:cs typeface="Arial"/>
              </a:rPr>
              <a:t>POVERTY</a:t>
            </a:r>
            <a:endParaRPr sz="1100">
              <a:latin typeface="Arial"/>
              <a:cs typeface="Arial"/>
            </a:endParaRPr>
          </a:p>
          <a:p>
            <a:pPr>
              <a:lnSpc>
                <a:spcPct val="100000"/>
              </a:lnSpc>
              <a:spcBef>
                <a:spcPts val="50"/>
              </a:spcBef>
            </a:pPr>
            <a:endParaRPr sz="1250">
              <a:latin typeface="Arial"/>
              <a:cs typeface="Arial"/>
            </a:endParaRPr>
          </a:p>
          <a:p>
            <a:pPr marL="469900" marR="7620" indent="-228600">
              <a:lnSpc>
                <a:spcPts val="1260"/>
              </a:lnSpc>
              <a:buFont typeface="Symbol"/>
              <a:buChar char=""/>
              <a:tabLst>
                <a:tab pos="469265" algn="l"/>
                <a:tab pos="470534" algn="l"/>
              </a:tabLst>
            </a:pPr>
            <a:r>
              <a:rPr dirty="0" sz="1100" spc="-5">
                <a:latin typeface="Arial"/>
                <a:cs typeface="Arial"/>
              </a:rPr>
              <a:t>The World Bank currently estimates that 23% of the population lives below the $1.25  per-day poverty line in Pakistan, compared with 49% in</a:t>
            </a:r>
            <a:r>
              <a:rPr dirty="0" sz="1100" spc="65">
                <a:latin typeface="Arial"/>
                <a:cs typeface="Arial"/>
              </a:rPr>
              <a:t> </a:t>
            </a:r>
            <a:r>
              <a:rPr dirty="0" sz="1100" spc="-5">
                <a:latin typeface="Arial"/>
                <a:cs typeface="Arial"/>
              </a:rPr>
              <a:t>Bangladesh</a:t>
            </a:r>
            <a:endParaRPr sz="1100">
              <a:latin typeface="Arial"/>
              <a:cs typeface="Arial"/>
            </a:endParaRPr>
          </a:p>
          <a:p>
            <a:pPr marL="469900" marR="6985" indent="-228600">
              <a:lnSpc>
                <a:spcPts val="1260"/>
              </a:lnSpc>
              <a:spcBef>
                <a:spcPts val="85"/>
              </a:spcBef>
              <a:buFont typeface="Symbol"/>
              <a:buChar char=""/>
              <a:tabLst>
                <a:tab pos="469265" algn="l"/>
                <a:tab pos="470534" algn="l"/>
              </a:tabLst>
            </a:pPr>
            <a:r>
              <a:rPr dirty="0" sz="1100" spc="-5">
                <a:latin typeface="Arial"/>
                <a:cs typeface="Arial"/>
              </a:rPr>
              <a:t>Many factors have contributed to the relatively rapid decrease in extreme poverty in  Bangladesh,</a:t>
            </a:r>
            <a:r>
              <a:rPr dirty="0" sz="1100" spc="-10">
                <a:latin typeface="Arial"/>
                <a:cs typeface="Arial"/>
              </a:rPr>
              <a:t> </a:t>
            </a:r>
            <a:r>
              <a:rPr dirty="0" sz="1100" spc="-5">
                <a:latin typeface="Arial"/>
                <a:cs typeface="Arial"/>
              </a:rPr>
              <a:t>including:</a:t>
            </a:r>
            <a:endParaRPr sz="1100">
              <a:latin typeface="Arial"/>
              <a:cs typeface="Arial"/>
            </a:endParaRPr>
          </a:p>
          <a:p>
            <a:pPr lvl="1" marL="927100" indent="-229235">
              <a:lnSpc>
                <a:spcPts val="1205"/>
              </a:lnSpc>
              <a:buFont typeface="Courier New"/>
              <a:buChar char="o"/>
              <a:tabLst>
                <a:tab pos="926465" algn="l"/>
                <a:tab pos="927735" algn="l"/>
              </a:tabLst>
            </a:pPr>
            <a:r>
              <a:rPr dirty="0" sz="1100" spc="-5">
                <a:latin typeface="Arial"/>
                <a:cs typeface="Arial"/>
              </a:rPr>
              <a:t>The early green</a:t>
            </a:r>
            <a:r>
              <a:rPr dirty="0" sz="1100" spc="5">
                <a:latin typeface="Arial"/>
                <a:cs typeface="Arial"/>
              </a:rPr>
              <a:t> </a:t>
            </a:r>
            <a:r>
              <a:rPr dirty="0" sz="1100" spc="-5">
                <a:latin typeface="Arial"/>
                <a:cs typeface="Arial"/>
              </a:rPr>
              <a:t>revolution.</a:t>
            </a:r>
            <a:endParaRPr sz="1100">
              <a:latin typeface="Arial"/>
              <a:cs typeface="Arial"/>
            </a:endParaRPr>
          </a:p>
          <a:p>
            <a:pPr lvl="1" marL="927100" marR="6985" indent="-229235">
              <a:lnSpc>
                <a:spcPts val="1270"/>
              </a:lnSpc>
              <a:spcBef>
                <a:spcPts val="55"/>
              </a:spcBef>
              <a:buFont typeface="Courier New"/>
              <a:buChar char="o"/>
              <a:tabLst>
                <a:tab pos="926465" algn="l"/>
                <a:tab pos="927735" algn="l"/>
              </a:tabLst>
            </a:pPr>
            <a:r>
              <a:rPr dirty="0" sz="1100" spc="-5">
                <a:latin typeface="Arial"/>
                <a:cs typeface="Arial"/>
              </a:rPr>
              <a:t>The impressive role of indigenous nongovernmental organizations (ngos) fighting  poverty in </a:t>
            </a:r>
            <a:r>
              <a:rPr dirty="0" sz="1100">
                <a:latin typeface="Arial"/>
                <a:cs typeface="Arial"/>
              </a:rPr>
              <a:t>rural</a:t>
            </a:r>
            <a:r>
              <a:rPr dirty="0" sz="1100" spc="5">
                <a:latin typeface="Arial"/>
                <a:cs typeface="Arial"/>
              </a:rPr>
              <a:t> </a:t>
            </a:r>
            <a:r>
              <a:rPr dirty="0" sz="1100" spc="-5">
                <a:latin typeface="Arial"/>
                <a:cs typeface="Arial"/>
              </a:rPr>
              <a:t>areas.</a:t>
            </a:r>
            <a:endParaRPr sz="1100">
              <a:latin typeface="Arial"/>
              <a:cs typeface="Arial"/>
            </a:endParaRPr>
          </a:p>
          <a:p>
            <a:pPr lvl="1" marL="927100" indent="-229235">
              <a:lnSpc>
                <a:spcPts val="1200"/>
              </a:lnSpc>
              <a:buFont typeface="Courier New"/>
              <a:buChar char="o"/>
              <a:tabLst>
                <a:tab pos="926465" algn="l"/>
                <a:tab pos="927735" algn="l"/>
              </a:tabLst>
            </a:pPr>
            <a:r>
              <a:rPr dirty="0" sz="1100" spc="-5">
                <a:latin typeface="Arial"/>
                <a:cs typeface="Arial"/>
              </a:rPr>
              <a:t>Opportunities for women’s employment in export</a:t>
            </a:r>
            <a:r>
              <a:rPr dirty="0" sz="1100" spc="40">
                <a:latin typeface="Arial"/>
                <a:cs typeface="Arial"/>
              </a:rPr>
              <a:t> </a:t>
            </a:r>
            <a:r>
              <a:rPr dirty="0" sz="1100" spc="-5">
                <a:latin typeface="Arial"/>
                <a:cs typeface="Arial"/>
              </a:rPr>
              <a:t>industries.</a:t>
            </a:r>
            <a:endParaRPr sz="1100">
              <a:latin typeface="Arial"/>
              <a:cs typeface="Arial"/>
            </a:endParaRPr>
          </a:p>
          <a:p>
            <a:pPr lvl="1" marL="927100" indent="-229235">
              <a:lnSpc>
                <a:spcPts val="1290"/>
              </a:lnSpc>
              <a:buFont typeface="Courier New"/>
              <a:buChar char="o"/>
              <a:tabLst>
                <a:tab pos="926465" algn="l"/>
                <a:tab pos="927735" algn="l"/>
              </a:tabLst>
            </a:pPr>
            <a:r>
              <a:rPr dirty="0" sz="1100" spc="-5">
                <a:latin typeface="Arial"/>
                <a:cs typeface="Arial"/>
              </a:rPr>
              <a:t>Remittances from relatives working</a:t>
            </a:r>
            <a:r>
              <a:rPr dirty="0" sz="1100" spc="10">
                <a:latin typeface="Arial"/>
                <a:cs typeface="Arial"/>
              </a:rPr>
              <a:t> </a:t>
            </a:r>
            <a:r>
              <a:rPr dirty="0" sz="1100" spc="-5">
                <a:latin typeface="Arial"/>
                <a:cs typeface="Arial"/>
              </a:rPr>
              <a:t>abroad.</a:t>
            </a:r>
            <a:endParaRPr sz="1100">
              <a:latin typeface="Arial"/>
              <a:cs typeface="Arial"/>
            </a:endParaRPr>
          </a:p>
          <a:p>
            <a:pPr lvl="1">
              <a:lnSpc>
                <a:spcPct val="100000"/>
              </a:lnSpc>
              <a:spcBef>
                <a:spcPts val="10"/>
              </a:spcBef>
              <a:buFont typeface="Courier New"/>
              <a:buChar char="o"/>
            </a:pPr>
            <a:endParaRPr sz="1050">
              <a:latin typeface="Arial"/>
              <a:cs typeface="Arial"/>
            </a:endParaRPr>
          </a:p>
          <a:p>
            <a:pPr marL="12700">
              <a:lnSpc>
                <a:spcPct val="100000"/>
              </a:lnSpc>
            </a:pPr>
            <a:r>
              <a:rPr dirty="0" sz="1100" spc="-5" b="1">
                <a:latin typeface="Arial"/>
                <a:cs typeface="Arial"/>
              </a:rPr>
              <a:t>EDUCATION AND</a:t>
            </a:r>
            <a:r>
              <a:rPr dirty="0" sz="1100" b="1">
                <a:latin typeface="Arial"/>
                <a:cs typeface="Arial"/>
              </a:rPr>
              <a:t> </a:t>
            </a:r>
            <a:r>
              <a:rPr dirty="0" sz="1100" spc="-5" b="1">
                <a:latin typeface="Arial"/>
                <a:cs typeface="Arial"/>
              </a:rPr>
              <a:t>LITERACY</a:t>
            </a:r>
            <a:endParaRPr sz="1100">
              <a:latin typeface="Arial"/>
              <a:cs typeface="Arial"/>
            </a:endParaRPr>
          </a:p>
          <a:p>
            <a:pPr>
              <a:lnSpc>
                <a:spcPct val="100000"/>
              </a:lnSpc>
              <a:spcBef>
                <a:spcPts val="55"/>
              </a:spcBef>
            </a:pPr>
            <a:endParaRPr sz="1250">
              <a:latin typeface="Arial"/>
              <a:cs typeface="Arial"/>
            </a:endParaRPr>
          </a:p>
          <a:p>
            <a:pPr marL="469900" marR="7620" indent="-228600">
              <a:lnSpc>
                <a:spcPts val="1260"/>
              </a:lnSpc>
              <a:buFont typeface="Symbol"/>
              <a:buChar char=""/>
              <a:tabLst>
                <a:tab pos="469265" algn="l"/>
                <a:tab pos="470534" algn="l"/>
              </a:tabLst>
            </a:pPr>
            <a:r>
              <a:rPr dirty="0" sz="1100" spc="-5">
                <a:latin typeface="Arial"/>
                <a:cs typeface="Arial"/>
              </a:rPr>
              <a:t>In both countries, the adult literacy rate is still a low 54%, but literacy has been growing  more quickly in Bangladesh and with greater gender</a:t>
            </a:r>
            <a:r>
              <a:rPr dirty="0" sz="1100" spc="45">
                <a:latin typeface="Arial"/>
                <a:cs typeface="Arial"/>
              </a:rPr>
              <a:t> </a:t>
            </a:r>
            <a:r>
              <a:rPr dirty="0" sz="1100" spc="-5">
                <a:latin typeface="Arial"/>
                <a:cs typeface="Arial"/>
              </a:rPr>
              <a:t>equity.</a:t>
            </a:r>
            <a:endParaRPr sz="1100">
              <a:latin typeface="Arial"/>
              <a:cs typeface="Arial"/>
            </a:endParaRPr>
          </a:p>
          <a:p>
            <a:pPr marL="469900" indent="-229235">
              <a:lnSpc>
                <a:spcPts val="1280"/>
              </a:lnSpc>
              <a:buFont typeface="Symbol"/>
              <a:buChar char=""/>
              <a:tabLst>
                <a:tab pos="469265" algn="l"/>
                <a:tab pos="470534" algn="l"/>
              </a:tabLst>
            </a:pPr>
            <a:r>
              <a:rPr dirty="0" sz="1100" spc="-5">
                <a:latin typeface="Arial"/>
                <a:cs typeface="Arial"/>
              </a:rPr>
              <a:t>Bangladesh</a:t>
            </a:r>
            <a:r>
              <a:rPr dirty="0" sz="1100" spc="45">
                <a:latin typeface="Arial"/>
                <a:cs typeface="Arial"/>
              </a:rPr>
              <a:t> </a:t>
            </a:r>
            <a:r>
              <a:rPr dirty="0" sz="1100" spc="-5">
                <a:latin typeface="Arial"/>
                <a:cs typeface="Arial"/>
              </a:rPr>
              <a:t>today</a:t>
            </a:r>
            <a:r>
              <a:rPr dirty="0" sz="1100" spc="55">
                <a:latin typeface="Arial"/>
                <a:cs typeface="Arial"/>
              </a:rPr>
              <a:t> </a:t>
            </a:r>
            <a:r>
              <a:rPr dirty="0" sz="1100" spc="-5">
                <a:latin typeface="Arial"/>
                <a:cs typeface="Arial"/>
              </a:rPr>
              <a:t>actually</a:t>
            </a:r>
            <a:r>
              <a:rPr dirty="0" sz="1100" spc="50">
                <a:latin typeface="Arial"/>
                <a:cs typeface="Arial"/>
              </a:rPr>
              <a:t> </a:t>
            </a:r>
            <a:r>
              <a:rPr dirty="0" sz="1100" spc="-5">
                <a:latin typeface="Arial"/>
                <a:cs typeface="Arial"/>
              </a:rPr>
              <a:t>has</a:t>
            </a:r>
            <a:r>
              <a:rPr dirty="0" sz="1100" spc="55">
                <a:latin typeface="Arial"/>
                <a:cs typeface="Arial"/>
              </a:rPr>
              <a:t> </a:t>
            </a:r>
            <a:r>
              <a:rPr dirty="0" sz="1100" spc="-5">
                <a:latin typeface="Arial"/>
                <a:cs typeface="Arial"/>
              </a:rPr>
              <a:t>a</a:t>
            </a:r>
            <a:r>
              <a:rPr dirty="0" sz="1100" spc="45">
                <a:latin typeface="Arial"/>
                <a:cs typeface="Arial"/>
              </a:rPr>
              <a:t> </a:t>
            </a:r>
            <a:r>
              <a:rPr dirty="0" sz="1100" spc="-5">
                <a:latin typeface="Arial"/>
                <a:cs typeface="Arial"/>
              </a:rPr>
              <a:t>female-to-male</a:t>
            </a:r>
            <a:r>
              <a:rPr dirty="0" sz="1100" spc="55">
                <a:latin typeface="Arial"/>
                <a:cs typeface="Arial"/>
              </a:rPr>
              <a:t> </a:t>
            </a:r>
            <a:r>
              <a:rPr dirty="0" sz="1100" spc="-5">
                <a:latin typeface="Arial"/>
                <a:cs typeface="Arial"/>
              </a:rPr>
              <a:t>primary</a:t>
            </a:r>
            <a:r>
              <a:rPr dirty="0" sz="1100" spc="50">
                <a:latin typeface="Arial"/>
                <a:cs typeface="Arial"/>
              </a:rPr>
              <a:t> </a:t>
            </a:r>
            <a:r>
              <a:rPr dirty="0" sz="1100" spc="-5">
                <a:latin typeface="Arial"/>
                <a:cs typeface="Arial"/>
              </a:rPr>
              <a:t>and</a:t>
            </a:r>
            <a:r>
              <a:rPr dirty="0" sz="1100" spc="55">
                <a:latin typeface="Arial"/>
                <a:cs typeface="Arial"/>
              </a:rPr>
              <a:t> </a:t>
            </a:r>
            <a:r>
              <a:rPr dirty="0" sz="1100" spc="-5">
                <a:latin typeface="Arial"/>
                <a:cs typeface="Arial"/>
              </a:rPr>
              <a:t>secondary</a:t>
            </a:r>
            <a:r>
              <a:rPr dirty="0" sz="1100" spc="50">
                <a:latin typeface="Arial"/>
                <a:cs typeface="Arial"/>
              </a:rPr>
              <a:t> </a:t>
            </a:r>
            <a:r>
              <a:rPr dirty="0" sz="1100" spc="-5">
                <a:latin typeface="Arial"/>
                <a:cs typeface="Arial"/>
              </a:rPr>
              <a:t>enrollment</a:t>
            </a:r>
            <a:r>
              <a:rPr dirty="0" sz="1100" spc="55">
                <a:latin typeface="Arial"/>
                <a:cs typeface="Arial"/>
              </a:rPr>
              <a:t> </a:t>
            </a:r>
            <a:r>
              <a:rPr dirty="0" sz="1100" spc="-5">
                <a:latin typeface="Arial"/>
                <a:cs typeface="Arial"/>
              </a:rPr>
              <a:t>ratio</a:t>
            </a:r>
            <a:endParaRPr sz="1100">
              <a:latin typeface="Arial"/>
              <a:cs typeface="Arial"/>
            </a:endParaRPr>
          </a:p>
          <a:p>
            <a:pPr marL="469900">
              <a:lnSpc>
                <a:spcPts val="1290"/>
              </a:lnSpc>
            </a:pPr>
            <a:r>
              <a:rPr dirty="0" sz="1100" spc="-5">
                <a:latin typeface="Arial"/>
                <a:cs typeface="Arial"/>
              </a:rPr>
              <a:t>1.07 to 1, while in Pakistan it is just</a:t>
            </a:r>
            <a:r>
              <a:rPr dirty="0" sz="1100" spc="35">
                <a:latin typeface="Arial"/>
                <a:cs typeface="Arial"/>
              </a:rPr>
              <a:t> </a:t>
            </a:r>
            <a:r>
              <a:rPr dirty="0" sz="1100" spc="-5">
                <a:latin typeface="Arial"/>
                <a:cs typeface="Arial"/>
              </a:rPr>
              <a:t>0.83.</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30</a:t>
            </a:r>
            <a:endParaRPr sz="1100">
              <a:latin typeface="Carlito"/>
              <a:cs typeface="Carli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2556"/>
            <a:ext cx="5969635" cy="808482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HEALTH</a:t>
            </a:r>
            <a:endParaRPr sz="1100">
              <a:latin typeface="Arial"/>
              <a:cs typeface="Arial"/>
            </a:endParaRPr>
          </a:p>
          <a:p>
            <a:pPr>
              <a:lnSpc>
                <a:spcPct val="100000"/>
              </a:lnSpc>
              <a:spcBef>
                <a:spcPts val="55"/>
              </a:spcBef>
            </a:pPr>
            <a:endParaRPr sz="1250">
              <a:latin typeface="Arial"/>
              <a:cs typeface="Arial"/>
            </a:endParaRPr>
          </a:p>
          <a:p>
            <a:pPr marL="469900" marR="7620" indent="-228600">
              <a:lnSpc>
                <a:spcPts val="1260"/>
              </a:lnSpc>
              <a:buFont typeface="Symbol"/>
              <a:buChar char=""/>
              <a:tabLst>
                <a:tab pos="469265" algn="l"/>
                <a:tab pos="470534" algn="l"/>
              </a:tabLst>
            </a:pPr>
            <a:r>
              <a:rPr dirty="0" sz="1100" spc="-5">
                <a:latin typeface="Arial"/>
                <a:cs typeface="Arial"/>
              </a:rPr>
              <a:t>Life expectancy in both countries is 66; but in 1970 life expectancy was 54 in Pakistan  and only 44 in</a:t>
            </a:r>
            <a:r>
              <a:rPr dirty="0" sz="1100" spc="10">
                <a:latin typeface="Arial"/>
                <a:cs typeface="Arial"/>
              </a:rPr>
              <a:t> </a:t>
            </a:r>
            <a:r>
              <a:rPr dirty="0" sz="1100" spc="-5">
                <a:latin typeface="Arial"/>
                <a:cs typeface="Arial"/>
              </a:rPr>
              <a:t>Bangladesh.</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Today life expectancies are almost</a:t>
            </a:r>
            <a:r>
              <a:rPr dirty="0" sz="1100" spc="15">
                <a:latin typeface="Arial"/>
                <a:cs typeface="Arial"/>
              </a:rPr>
              <a:t> </a:t>
            </a:r>
            <a:r>
              <a:rPr dirty="0" sz="1100" spc="-5">
                <a:latin typeface="Arial"/>
                <a:cs typeface="Arial"/>
              </a:rPr>
              <a:t>identical.</a:t>
            </a:r>
            <a:endParaRPr sz="1100">
              <a:latin typeface="Arial"/>
              <a:cs typeface="Arial"/>
            </a:endParaRPr>
          </a:p>
          <a:p>
            <a:pPr marL="469900" marR="5715" indent="-228600">
              <a:lnSpc>
                <a:spcPts val="1260"/>
              </a:lnSpc>
              <a:spcBef>
                <a:spcPts val="110"/>
              </a:spcBef>
              <a:buFont typeface="Symbol"/>
              <a:buChar char=""/>
              <a:tabLst>
                <a:tab pos="469265" algn="l"/>
                <a:tab pos="470534" algn="l"/>
              </a:tabLst>
            </a:pPr>
            <a:r>
              <a:rPr dirty="0" sz="1100" spc="-5">
                <a:latin typeface="Arial"/>
                <a:cs typeface="Arial"/>
              </a:rPr>
              <a:t>Since 1990, the prevalence of child malnutrition in Bangladesh has fallen from two-thirds  to less than</a:t>
            </a:r>
            <a:r>
              <a:rPr dirty="0" sz="1100">
                <a:latin typeface="Arial"/>
                <a:cs typeface="Arial"/>
              </a:rPr>
              <a:t> </a:t>
            </a:r>
            <a:r>
              <a:rPr dirty="0" sz="1100" spc="-5">
                <a:latin typeface="Arial"/>
                <a:cs typeface="Arial"/>
              </a:rPr>
              <a:t>half.</a:t>
            </a:r>
            <a:endParaRPr sz="1100">
              <a:latin typeface="Arial"/>
              <a:cs typeface="Arial"/>
            </a:endParaRPr>
          </a:p>
          <a:p>
            <a:pPr marL="469900" marR="8255" indent="-228600">
              <a:lnSpc>
                <a:spcPts val="1260"/>
              </a:lnSpc>
              <a:spcBef>
                <a:spcPts val="85"/>
              </a:spcBef>
              <a:buFont typeface="Symbol"/>
              <a:buChar char=""/>
              <a:tabLst>
                <a:tab pos="469265" algn="l"/>
                <a:tab pos="470534" algn="l"/>
              </a:tabLst>
            </a:pPr>
            <a:r>
              <a:rPr dirty="0" sz="1100" spc="-5">
                <a:latin typeface="Arial"/>
                <a:cs typeface="Arial"/>
              </a:rPr>
              <a:t>In 1970, the under-five mortality </a:t>
            </a:r>
            <a:r>
              <a:rPr dirty="0" sz="1100">
                <a:latin typeface="Arial"/>
                <a:cs typeface="Arial"/>
              </a:rPr>
              <a:t>rate </a:t>
            </a:r>
            <a:r>
              <a:rPr dirty="0" sz="1100" spc="-5">
                <a:latin typeface="Arial"/>
                <a:cs typeface="Arial"/>
              </a:rPr>
              <a:t>in Bangladesh was 239 per 1,000 live births; </a:t>
            </a:r>
            <a:r>
              <a:rPr dirty="0" sz="1100">
                <a:latin typeface="Arial"/>
                <a:cs typeface="Arial"/>
              </a:rPr>
              <a:t>the  </a:t>
            </a:r>
            <a:r>
              <a:rPr dirty="0" sz="1100" spc="-5">
                <a:latin typeface="Arial"/>
                <a:cs typeface="Arial"/>
              </a:rPr>
              <a:t>rate in Pakistan was 180 per 1,000 live</a:t>
            </a:r>
            <a:r>
              <a:rPr dirty="0" sz="1100" spc="40">
                <a:latin typeface="Arial"/>
                <a:cs typeface="Arial"/>
              </a:rPr>
              <a:t> </a:t>
            </a:r>
            <a:r>
              <a:rPr dirty="0" sz="1100" spc="-5">
                <a:latin typeface="Arial"/>
                <a:cs typeface="Arial"/>
              </a:rPr>
              <a:t>births</a:t>
            </a:r>
            <a:endParaRPr sz="1100">
              <a:latin typeface="Arial"/>
              <a:cs typeface="Arial"/>
            </a:endParaRPr>
          </a:p>
          <a:p>
            <a:pPr marL="469900" marR="5715" indent="-228600">
              <a:lnSpc>
                <a:spcPts val="1260"/>
              </a:lnSpc>
              <a:spcBef>
                <a:spcPts val="80"/>
              </a:spcBef>
              <a:buFont typeface="Symbol"/>
              <a:buChar char=""/>
              <a:tabLst>
                <a:tab pos="469265" algn="l"/>
                <a:tab pos="470534" algn="l"/>
              </a:tabLst>
            </a:pPr>
            <a:r>
              <a:rPr dirty="0" sz="1100" spc="-5">
                <a:latin typeface="Arial"/>
                <a:cs typeface="Arial"/>
              </a:rPr>
              <a:t>By 2008, in Bangladesh under-five mortality </a:t>
            </a:r>
            <a:r>
              <a:rPr dirty="0" sz="1100">
                <a:latin typeface="Arial"/>
                <a:cs typeface="Arial"/>
              </a:rPr>
              <a:t>rate </a:t>
            </a:r>
            <a:r>
              <a:rPr dirty="0" sz="1100" spc="-5">
                <a:latin typeface="Arial"/>
                <a:cs typeface="Arial"/>
              </a:rPr>
              <a:t>was 54 per 1,000, but that in Pakistan  was 89 per</a:t>
            </a:r>
            <a:r>
              <a:rPr dirty="0" sz="1100" spc="5">
                <a:latin typeface="Arial"/>
                <a:cs typeface="Arial"/>
              </a:rPr>
              <a:t> </a:t>
            </a:r>
            <a:r>
              <a:rPr dirty="0" sz="1100" spc="-5">
                <a:latin typeface="Arial"/>
                <a:cs typeface="Arial"/>
              </a:rPr>
              <a:t>1,000.</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Under-5 mortality is 65% higher in</a:t>
            </a:r>
            <a:r>
              <a:rPr dirty="0" sz="1100" spc="20">
                <a:latin typeface="Arial"/>
                <a:cs typeface="Arial"/>
              </a:rPr>
              <a:t> </a:t>
            </a:r>
            <a:r>
              <a:rPr dirty="0" sz="1100" spc="-5">
                <a:latin typeface="Arial"/>
                <a:cs typeface="Arial"/>
              </a:rPr>
              <a:t>Pakistan.</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10" b="1">
                <a:latin typeface="Arial"/>
                <a:cs typeface="Arial"/>
              </a:rPr>
              <a:t>HUMAN </a:t>
            </a:r>
            <a:r>
              <a:rPr dirty="0" sz="1100" spc="-5" b="1">
                <a:latin typeface="Arial"/>
                <a:cs typeface="Arial"/>
              </a:rPr>
              <a:t>DEVELOPMENT</a:t>
            </a:r>
            <a:r>
              <a:rPr dirty="0" sz="1100" spc="10" b="1">
                <a:latin typeface="Arial"/>
                <a:cs typeface="Arial"/>
              </a:rPr>
              <a:t> </a:t>
            </a:r>
            <a:r>
              <a:rPr dirty="0" sz="1100" spc="-5" b="1">
                <a:latin typeface="Arial"/>
                <a:cs typeface="Arial"/>
              </a:rPr>
              <a:t>INDEX</a:t>
            </a:r>
            <a:endParaRPr sz="1100">
              <a:latin typeface="Arial"/>
              <a:cs typeface="Arial"/>
            </a:endParaRPr>
          </a:p>
          <a:p>
            <a:pPr>
              <a:lnSpc>
                <a:spcPct val="100000"/>
              </a:lnSpc>
              <a:spcBef>
                <a:spcPts val="55"/>
              </a:spcBef>
            </a:pPr>
            <a:endParaRPr sz="1250">
              <a:latin typeface="Arial"/>
              <a:cs typeface="Arial"/>
            </a:endParaRPr>
          </a:p>
          <a:p>
            <a:pPr marL="469900" marR="6985" indent="-228600">
              <a:lnSpc>
                <a:spcPts val="1260"/>
              </a:lnSpc>
              <a:buFont typeface="Symbol"/>
              <a:buChar char=""/>
              <a:tabLst>
                <a:tab pos="469265" algn="l"/>
                <a:tab pos="470534" algn="l"/>
              </a:tabLst>
            </a:pPr>
            <a:r>
              <a:rPr dirty="0" sz="1100" spc="-5">
                <a:latin typeface="Arial"/>
                <a:cs typeface="Arial"/>
              </a:rPr>
              <a:t>Bangladesh was 9 places higher than predicted by its lower income, and Pakistan 9  places lower than predicted by its</a:t>
            </a:r>
            <a:r>
              <a:rPr dirty="0" sz="1100" spc="15">
                <a:latin typeface="Arial"/>
                <a:cs typeface="Arial"/>
              </a:rPr>
              <a:t> </a:t>
            </a:r>
            <a:r>
              <a:rPr dirty="0" sz="1100" spc="-5">
                <a:latin typeface="Arial"/>
                <a:cs typeface="Arial"/>
              </a:rPr>
              <a:t>income.</a:t>
            </a:r>
            <a:endParaRPr sz="1100">
              <a:latin typeface="Arial"/>
              <a:cs typeface="Arial"/>
            </a:endParaRPr>
          </a:p>
          <a:p>
            <a:pPr marL="469900" marR="5080" indent="-228600">
              <a:lnSpc>
                <a:spcPts val="1260"/>
              </a:lnSpc>
              <a:spcBef>
                <a:spcPts val="85"/>
              </a:spcBef>
              <a:buFont typeface="Symbol"/>
              <a:buChar char=""/>
              <a:tabLst>
                <a:tab pos="469265" algn="l"/>
                <a:tab pos="470534" algn="l"/>
              </a:tabLst>
            </a:pPr>
            <a:r>
              <a:rPr dirty="0" sz="1100" spc="-5">
                <a:latin typeface="Arial"/>
                <a:cs typeface="Arial"/>
              </a:rPr>
              <a:t>This reflects the better health and education performance for Bangladesh for its income  level.</a:t>
            </a:r>
            <a:endParaRPr sz="1100">
              <a:latin typeface="Arial"/>
              <a:cs typeface="Arial"/>
            </a:endParaRPr>
          </a:p>
          <a:p>
            <a:pPr>
              <a:lnSpc>
                <a:spcPct val="100000"/>
              </a:lnSpc>
              <a:spcBef>
                <a:spcPts val="30"/>
              </a:spcBef>
              <a:buFont typeface="Symbol"/>
              <a:buChar char=""/>
            </a:pPr>
            <a:endParaRPr sz="1000">
              <a:latin typeface="Arial"/>
              <a:cs typeface="Arial"/>
            </a:endParaRPr>
          </a:p>
          <a:p>
            <a:pPr marL="12700">
              <a:lnSpc>
                <a:spcPct val="100000"/>
              </a:lnSpc>
            </a:pPr>
            <a:r>
              <a:rPr dirty="0" sz="1100" spc="-5" b="1">
                <a:latin typeface="Arial"/>
                <a:cs typeface="Arial"/>
              </a:rPr>
              <a:t>POPULATION</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Bangladesh has made much greater progress than Pakistan in reducing</a:t>
            </a:r>
            <a:r>
              <a:rPr dirty="0" sz="1100" spc="95">
                <a:latin typeface="Arial"/>
                <a:cs typeface="Arial"/>
              </a:rPr>
              <a:t> </a:t>
            </a:r>
            <a:r>
              <a:rPr dirty="0" sz="1100" spc="-5">
                <a:latin typeface="Arial"/>
                <a:cs typeface="Arial"/>
              </a:rPr>
              <a:t>fertility.</a:t>
            </a:r>
            <a:endParaRPr sz="1100">
              <a:latin typeface="Arial"/>
              <a:cs typeface="Arial"/>
            </a:endParaRPr>
          </a:p>
          <a:p>
            <a:pPr marL="469900" marR="6985" indent="-228600">
              <a:lnSpc>
                <a:spcPts val="1270"/>
              </a:lnSpc>
              <a:spcBef>
                <a:spcPts val="105"/>
              </a:spcBef>
              <a:buFont typeface="Symbol"/>
              <a:buChar char=""/>
              <a:tabLst>
                <a:tab pos="469265" algn="l"/>
                <a:tab pos="470534" algn="l"/>
              </a:tabLst>
            </a:pPr>
            <a:r>
              <a:rPr dirty="0" sz="1100" spc="-5">
                <a:latin typeface="Arial"/>
                <a:cs typeface="Arial"/>
              </a:rPr>
              <a:t>In Bangladesh, fertility fell to 2.3 by 2008. But for Pakistan, fertility has fallen only to 4.0  (WDI data).</a:t>
            </a:r>
            <a:endParaRPr sz="1100">
              <a:latin typeface="Arial"/>
              <a:cs typeface="Arial"/>
            </a:endParaRPr>
          </a:p>
          <a:p>
            <a:pPr>
              <a:lnSpc>
                <a:spcPct val="100000"/>
              </a:lnSpc>
              <a:spcBef>
                <a:spcPts val="20"/>
              </a:spcBef>
            </a:pPr>
            <a:endParaRPr sz="1000">
              <a:latin typeface="Arial"/>
              <a:cs typeface="Arial"/>
            </a:endParaRPr>
          </a:p>
          <a:p>
            <a:pPr marL="12700">
              <a:lnSpc>
                <a:spcPct val="100000"/>
              </a:lnSpc>
              <a:spcBef>
                <a:spcPts val="5"/>
              </a:spcBef>
            </a:pPr>
            <a:r>
              <a:rPr dirty="0" sz="1100" spc="-5" b="1">
                <a:latin typeface="Arial"/>
                <a:cs typeface="Arial"/>
              </a:rPr>
              <a:t>UNDERSTANDING THE</a:t>
            </a:r>
            <a:r>
              <a:rPr dirty="0" sz="1100" b="1">
                <a:latin typeface="Arial"/>
                <a:cs typeface="Arial"/>
              </a:rPr>
              <a:t> </a:t>
            </a:r>
            <a:r>
              <a:rPr dirty="0" sz="1100" spc="-5" b="1">
                <a:latin typeface="Arial"/>
                <a:cs typeface="Arial"/>
              </a:rPr>
              <a:t>DIVERGENCE</a:t>
            </a:r>
            <a:endParaRPr sz="1100">
              <a:latin typeface="Arial"/>
              <a:cs typeface="Arial"/>
            </a:endParaRPr>
          </a:p>
          <a:p>
            <a:pPr>
              <a:lnSpc>
                <a:spcPct val="100000"/>
              </a:lnSpc>
            </a:pPr>
            <a:endParaRPr sz="1150">
              <a:latin typeface="Arial"/>
              <a:cs typeface="Arial"/>
            </a:endParaRPr>
          </a:p>
          <a:p>
            <a:pPr marL="168275" indent="-156210">
              <a:lnSpc>
                <a:spcPct val="100000"/>
              </a:lnSpc>
              <a:buAutoNum type="arabicPeriod"/>
              <a:tabLst>
                <a:tab pos="168910" algn="l"/>
              </a:tabLst>
            </a:pPr>
            <a:r>
              <a:rPr dirty="0" sz="1100" spc="-5" b="1">
                <a:latin typeface="Arial"/>
                <a:cs typeface="Arial"/>
              </a:rPr>
              <a:t>GEOGRAPHY</a:t>
            </a:r>
            <a:endParaRPr sz="1100">
              <a:latin typeface="Arial"/>
              <a:cs typeface="Arial"/>
            </a:endParaRPr>
          </a:p>
          <a:p>
            <a:pPr>
              <a:lnSpc>
                <a:spcPct val="100000"/>
              </a:lnSpc>
              <a:spcBef>
                <a:spcPts val="25"/>
              </a:spcBef>
              <a:buFont typeface="Arial"/>
              <a:buAutoNum type="arabicPeriod"/>
            </a:pPr>
            <a:endParaRPr sz="1200">
              <a:latin typeface="Arial"/>
              <a:cs typeface="Arial"/>
            </a:endParaRPr>
          </a:p>
          <a:p>
            <a:pPr lvl="1" marL="698500" marR="6350" indent="-228600">
              <a:lnSpc>
                <a:spcPts val="1270"/>
              </a:lnSpc>
              <a:buChar char="–"/>
              <a:tabLst>
                <a:tab pos="697865" algn="l"/>
                <a:tab pos="698500" algn="l"/>
              </a:tabLst>
            </a:pPr>
            <a:r>
              <a:rPr dirty="0" sz="1100" spc="-5">
                <a:latin typeface="Arial"/>
                <a:cs typeface="Arial"/>
              </a:rPr>
              <a:t>To the degree that geography constrains development success, Bangladesh would  seem to be at a considerable</a:t>
            </a:r>
            <a:r>
              <a:rPr dirty="0" sz="1100" spc="25">
                <a:latin typeface="Arial"/>
                <a:cs typeface="Arial"/>
              </a:rPr>
              <a:t> </a:t>
            </a:r>
            <a:r>
              <a:rPr dirty="0" sz="1100" spc="-5">
                <a:latin typeface="Arial"/>
                <a:cs typeface="Arial"/>
              </a:rPr>
              <a:t>disadvantage.</a:t>
            </a:r>
            <a:endParaRPr sz="1100">
              <a:latin typeface="Arial"/>
              <a:cs typeface="Arial"/>
            </a:endParaRPr>
          </a:p>
          <a:p>
            <a:pPr lvl="1" marL="697865" indent="-228600">
              <a:lnSpc>
                <a:spcPts val="1195"/>
              </a:lnSpc>
              <a:buChar char="–"/>
              <a:tabLst>
                <a:tab pos="697865" algn="l"/>
                <a:tab pos="698500" algn="l"/>
              </a:tabLst>
            </a:pPr>
            <a:r>
              <a:rPr dirty="0" sz="1100" spc="-5">
                <a:latin typeface="Arial"/>
                <a:cs typeface="Arial"/>
              </a:rPr>
              <a:t>Theorists</a:t>
            </a:r>
            <a:r>
              <a:rPr dirty="0" sz="1100" spc="155">
                <a:latin typeface="Arial"/>
                <a:cs typeface="Arial"/>
              </a:rPr>
              <a:t> </a:t>
            </a:r>
            <a:r>
              <a:rPr dirty="0" sz="1100" spc="-5">
                <a:latin typeface="Arial"/>
                <a:cs typeface="Arial"/>
              </a:rPr>
              <a:t>say</a:t>
            </a:r>
            <a:r>
              <a:rPr dirty="0" sz="1100" spc="165">
                <a:latin typeface="Arial"/>
                <a:cs typeface="Arial"/>
              </a:rPr>
              <a:t> </a:t>
            </a:r>
            <a:r>
              <a:rPr dirty="0" sz="1100" spc="-5">
                <a:latin typeface="Arial"/>
                <a:cs typeface="Arial"/>
              </a:rPr>
              <a:t>that</a:t>
            </a:r>
            <a:r>
              <a:rPr dirty="0" sz="1100" spc="160">
                <a:latin typeface="Arial"/>
                <a:cs typeface="Arial"/>
              </a:rPr>
              <a:t> </a:t>
            </a:r>
            <a:r>
              <a:rPr dirty="0" sz="1100" spc="-5">
                <a:latin typeface="Arial"/>
                <a:cs typeface="Arial"/>
              </a:rPr>
              <a:t>the</a:t>
            </a:r>
            <a:r>
              <a:rPr dirty="0" sz="1100" spc="165">
                <a:latin typeface="Arial"/>
                <a:cs typeface="Arial"/>
              </a:rPr>
              <a:t> </a:t>
            </a:r>
            <a:r>
              <a:rPr dirty="0" sz="1100" spc="-5">
                <a:latin typeface="Arial"/>
                <a:cs typeface="Arial"/>
              </a:rPr>
              <a:t>countries</a:t>
            </a:r>
            <a:r>
              <a:rPr dirty="0" sz="1100" spc="165">
                <a:latin typeface="Arial"/>
                <a:cs typeface="Arial"/>
              </a:rPr>
              <a:t> </a:t>
            </a:r>
            <a:r>
              <a:rPr dirty="0" sz="1100" spc="-5">
                <a:latin typeface="Arial"/>
                <a:cs typeface="Arial"/>
              </a:rPr>
              <a:t>with</a:t>
            </a:r>
            <a:r>
              <a:rPr dirty="0" sz="1100" spc="160">
                <a:latin typeface="Arial"/>
                <a:cs typeface="Arial"/>
              </a:rPr>
              <a:t> </a:t>
            </a:r>
            <a:r>
              <a:rPr dirty="0" sz="1100" spc="-5">
                <a:latin typeface="Arial"/>
                <a:cs typeface="Arial"/>
              </a:rPr>
              <a:t>a</a:t>
            </a:r>
            <a:r>
              <a:rPr dirty="0" sz="1100" spc="165">
                <a:latin typeface="Arial"/>
                <a:cs typeface="Arial"/>
              </a:rPr>
              <a:t> </a:t>
            </a:r>
            <a:r>
              <a:rPr dirty="0" sz="1100" spc="-5">
                <a:latin typeface="Arial"/>
                <a:cs typeface="Arial"/>
              </a:rPr>
              <a:t>multitude</a:t>
            </a:r>
            <a:r>
              <a:rPr dirty="0" sz="1100" spc="165">
                <a:latin typeface="Arial"/>
                <a:cs typeface="Arial"/>
              </a:rPr>
              <a:t> </a:t>
            </a:r>
            <a:r>
              <a:rPr dirty="0" sz="1100" spc="-5">
                <a:latin typeface="Arial"/>
                <a:cs typeface="Arial"/>
              </a:rPr>
              <a:t>of</a:t>
            </a:r>
            <a:r>
              <a:rPr dirty="0" sz="1100" spc="160">
                <a:latin typeface="Arial"/>
                <a:cs typeface="Arial"/>
              </a:rPr>
              <a:t> </a:t>
            </a:r>
            <a:r>
              <a:rPr dirty="0" sz="1100" spc="-5">
                <a:latin typeface="Arial"/>
                <a:cs typeface="Arial"/>
              </a:rPr>
              <a:t>social</a:t>
            </a:r>
            <a:r>
              <a:rPr dirty="0" sz="1100" spc="160">
                <a:latin typeface="Arial"/>
                <a:cs typeface="Arial"/>
              </a:rPr>
              <a:t> </a:t>
            </a:r>
            <a:r>
              <a:rPr dirty="0" sz="1100" spc="-5">
                <a:latin typeface="Arial"/>
                <a:cs typeface="Arial"/>
              </a:rPr>
              <a:t>divisions,</a:t>
            </a:r>
            <a:r>
              <a:rPr dirty="0" sz="1100" spc="165">
                <a:latin typeface="Arial"/>
                <a:cs typeface="Arial"/>
              </a:rPr>
              <a:t> </a:t>
            </a:r>
            <a:r>
              <a:rPr dirty="0" sz="1100" spc="-5">
                <a:latin typeface="Arial"/>
                <a:cs typeface="Arial"/>
              </a:rPr>
              <a:t>ethnic</a:t>
            </a:r>
            <a:r>
              <a:rPr dirty="0" sz="1100" spc="160">
                <a:latin typeface="Arial"/>
                <a:cs typeface="Arial"/>
              </a:rPr>
              <a:t> </a:t>
            </a:r>
            <a:r>
              <a:rPr dirty="0" sz="1100" spc="-5">
                <a:latin typeface="Arial"/>
                <a:cs typeface="Arial"/>
              </a:rPr>
              <a:t>groups,</a:t>
            </a:r>
            <a:endParaRPr sz="1100">
              <a:latin typeface="Arial"/>
              <a:cs typeface="Arial"/>
            </a:endParaRPr>
          </a:p>
          <a:p>
            <a:pPr marL="698500">
              <a:lnSpc>
                <a:spcPts val="1265"/>
              </a:lnSpc>
            </a:pPr>
            <a:r>
              <a:rPr dirty="0" sz="1100" spc="-5">
                <a:latin typeface="Arial"/>
                <a:cs typeface="Arial"/>
              </a:rPr>
              <a:t>and languages tend to have lower social development and growth</a:t>
            </a:r>
            <a:r>
              <a:rPr dirty="0" sz="1100" spc="80">
                <a:latin typeface="Arial"/>
                <a:cs typeface="Arial"/>
              </a:rPr>
              <a:t> </a:t>
            </a:r>
            <a:r>
              <a:rPr dirty="0" sz="1100" spc="-5">
                <a:latin typeface="Arial"/>
                <a:cs typeface="Arial"/>
              </a:rPr>
              <a:t>rates</a:t>
            </a:r>
            <a:endParaRPr sz="1100">
              <a:latin typeface="Arial"/>
              <a:cs typeface="Arial"/>
            </a:endParaRPr>
          </a:p>
          <a:p>
            <a:pPr lvl="1" marL="698500" marR="6985" indent="-229235">
              <a:lnSpc>
                <a:spcPts val="1270"/>
              </a:lnSpc>
              <a:spcBef>
                <a:spcPts val="60"/>
              </a:spcBef>
              <a:buChar char="–"/>
              <a:tabLst>
                <a:tab pos="697865" algn="l"/>
                <a:tab pos="698500" algn="l"/>
              </a:tabLst>
            </a:pPr>
            <a:r>
              <a:rPr dirty="0" sz="1100" spc="-5">
                <a:latin typeface="Arial"/>
                <a:cs typeface="Arial"/>
              </a:rPr>
              <a:t>Bangladesh is quite homogeneous (98% of the population is considered ethnic  Bangla (Bengali) and speaks the Bangla</a:t>
            </a:r>
            <a:r>
              <a:rPr dirty="0" sz="1100" spc="30">
                <a:latin typeface="Arial"/>
                <a:cs typeface="Arial"/>
              </a:rPr>
              <a:t> </a:t>
            </a:r>
            <a:r>
              <a:rPr dirty="0" sz="1100" spc="-5">
                <a:latin typeface="Arial"/>
                <a:cs typeface="Arial"/>
              </a:rPr>
              <a:t>language.</a:t>
            </a:r>
            <a:endParaRPr sz="1100">
              <a:latin typeface="Arial"/>
              <a:cs typeface="Arial"/>
            </a:endParaRPr>
          </a:p>
          <a:p>
            <a:pPr lvl="1" marL="697865" indent="-228600">
              <a:lnSpc>
                <a:spcPts val="1230"/>
              </a:lnSpc>
              <a:buChar char="–"/>
              <a:tabLst>
                <a:tab pos="697865" algn="l"/>
                <a:tab pos="698500" algn="l"/>
              </a:tabLst>
            </a:pPr>
            <a:r>
              <a:rPr dirty="0" sz="1100" spc="-5">
                <a:latin typeface="Arial"/>
                <a:cs typeface="Arial"/>
              </a:rPr>
              <a:t>Pakistan has a very high level of ethnic and language</a:t>
            </a:r>
            <a:r>
              <a:rPr dirty="0" sz="1100" spc="65">
                <a:latin typeface="Arial"/>
                <a:cs typeface="Arial"/>
              </a:rPr>
              <a:t> </a:t>
            </a:r>
            <a:r>
              <a:rPr dirty="0" sz="1100" spc="-5">
                <a:latin typeface="Arial"/>
                <a:cs typeface="Arial"/>
              </a:rPr>
              <a:t>diversity.</a:t>
            </a:r>
            <a:endParaRPr sz="1100">
              <a:latin typeface="Arial"/>
              <a:cs typeface="Arial"/>
            </a:endParaRPr>
          </a:p>
          <a:p>
            <a:pPr lvl="1">
              <a:lnSpc>
                <a:spcPct val="100000"/>
              </a:lnSpc>
              <a:buFont typeface="Arial"/>
              <a:buChar char="–"/>
            </a:pPr>
            <a:endParaRPr sz="1050">
              <a:latin typeface="Arial"/>
              <a:cs typeface="Arial"/>
            </a:endParaRPr>
          </a:p>
          <a:p>
            <a:pPr marL="167640" indent="-155575">
              <a:lnSpc>
                <a:spcPct val="100000"/>
              </a:lnSpc>
              <a:buAutoNum type="arabicPeriod"/>
              <a:tabLst>
                <a:tab pos="168275" algn="l"/>
              </a:tabLst>
            </a:pPr>
            <a:r>
              <a:rPr dirty="0" sz="1100" spc="-5" b="1">
                <a:latin typeface="Arial"/>
                <a:cs typeface="Arial"/>
              </a:rPr>
              <a:t>GENDER EQUITY</a:t>
            </a:r>
            <a:endParaRPr sz="1100">
              <a:latin typeface="Arial"/>
              <a:cs typeface="Arial"/>
            </a:endParaRPr>
          </a:p>
          <a:p>
            <a:pPr>
              <a:lnSpc>
                <a:spcPct val="100000"/>
              </a:lnSpc>
              <a:spcBef>
                <a:spcPts val="25"/>
              </a:spcBef>
              <a:buFont typeface="Arial"/>
              <a:buAutoNum type="arabicPeriod"/>
            </a:pPr>
            <a:endParaRPr sz="1200">
              <a:latin typeface="Arial"/>
              <a:cs typeface="Arial"/>
            </a:endParaRPr>
          </a:p>
          <a:p>
            <a:pPr lvl="1" marL="698500" marR="5715" indent="-228600">
              <a:lnSpc>
                <a:spcPts val="1270"/>
              </a:lnSpc>
              <a:buChar char="–"/>
              <a:tabLst>
                <a:tab pos="697865" algn="l"/>
                <a:tab pos="698500" algn="l"/>
              </a:tabLst>
            </a:pPr>
            <a:r>
              <a:rPr dirty="0" sz="1100" spc="-5">
                <a:latin typeface="Arial"/>
                <a:cs typeface="Arial"/>
              </a:rPr>
              <a:t>According to the Social Watch Report, 2004, Bangladesh scores in the “above  average” (second highest) group in overall gender</a:t>
            </a:r>
            <a:r>
              <a:rPr dirty="0" sz="1100" spc="35">
                <a:latin typeface="Arial"/>
                <a:cs typeface="Arial"/>
              </a:rPr>
              <a:t> </a:t>
            </a:r>
            <a:r>
              <a:rPr dirty="0" sz="1100" spc="-5">
                <a:latin typeface="Arial"/>
                <a:cs typeface="Arial"/>
              </a:rPr>
              <a:t>equity</a:t>
            </a:r>
            <a:endParaRPr sz="1100">
              <a:latin typeface="Arial"/>
              <a:cs typeface="Arial"/>
            </a:endParaRPr>
          </a:p>
          <a:p>
            <a:pPr lvl="1" marL="697865" indent="-228600">
              <a:lnSpc>
                <a:spcPts val="1200"/>
              </a:lnSpc>
              <a:buChar char="–"/>
              <a:tabLst>
                <a:tab pos="697865" algn="l"/>
                <a:tab pos="698500" algn="l"/>
              </a:tabLst>
            </a:pPr>
            <a:r>
              <a:rPr dirty="0" sz="1100" spc="-5">
                <a:latin typeface="Arial"/>
                <a:cs typeface="Arial"/>
              </a:rPr>
              <a:t>Pakistan is in the fourth and lowest category (“countries in worst</a:t>
            </a:r>
            <a:r>
              <a:rPr dirty="0" sz="1100" spc="105">
                <a:latin typeface="Arial"/>
                <a:cs typeface="Arial"/>
              </a:rPr>
              <a:t> </a:t>
            </a:r>
            <a:r>
              <a:rPr dirty="0" sz="1100" spc="-5">
                <a:latin typeface="Arial"/>
                <a:cs typeface="Arial"/>
              </a:rPr>
              <a:t>situation”).</a:t>
            </a:r>
            <a:endParaRPr sz="1100">
              <a:latin typeface="Arial"/>
              <a:cs typeface="Arial"/>
            </a:endParaRPr>
          </a:p>
          <a:p>
            <a:pPr lvl="1" marL="697865" indent="-228600">
              <a:lnSpc>
                <a:spcPts val="1295"/>
              </a:lnSpc>
              <a:buChar char="–"/>
              <a:tabLst>
                <a:tab pos="697865" algn="l"/>
                <a:tab pos="698500" algn="l"/>
              </a:tabLst>
            </a:pPr>
            <a:r>
              <a:rPr dirty="0" sz="1100" spc="-5">
                <a:latin typeface="Arial"/>
                <a:cs typeface="Arial"/>
              </a:rPr>
              <a:t>In Pakistan, as of 2008, only 60% as many women as men were</a:t>
            </a:r>
            <a:r>
              <a:rPr dirty="0" sz="1100" spc="95">
                <a:latin typeface="Arial"/>
                <a:cs typeface="Arial"/>
              </a:rPr>
              <a:t> </a:t>
            </a:r>
            <a:r>
              <a:rPr dirty="0" sz="1100" spc="-5">
                <a:latin typeface="Arial"/>
                <a:cs typeface="Arial"/>
              </a:rPr>
              <a:t>literate</a:t>
            </a:r>
            <a:endParaRPr sz="1100">
              <a:latin typeface="Arial"/>
              <a:cs typeface="Arial"/>
            </a:endParaRPr>
          </a:p>
          <a:p>
            <a:pPr lvl="1">
              <a:lnSpc>
                <a:spcPct val="100000"/>
              </a:lnSpc>
              <a:spcBef>
                <a:spcPts val="5"/>
              </a:spcBef>
              <a:buFont typeface="Arial"/>
              <a:buChar char="–"/>
            </a:pPr>
            <a:endParaRPr sz="1050">
              <a:latin typeface="Arial"/>
              <a:cs typeface="Arial"/>
            </a:endParaRPr>
          </a:p>
          <a:p>
            <a:pPr marL="168275" indent="-156210">
              <a:lnSpc>
                <a:spcPts val="1290"/>
              </a:lnSpc>
              <a:buAutoNum type="arabicPeriod"/>
              <a:tabLst>
                <a:tab pos="168910" algn="l"/>
              </a:tabLst>
            </a:pPr>
            <a:r>
              <a:rPr dirty="0" sz="1100" spc="-5" b="1">
                <a:latin typeface="Arial"/>
                <a:cs typeface="Arial"/>
              </a:rPr>
              <a:t>AID</a:t>
            </a:r>
            <a:endParaRPr sz="1100">
              <a:latin typeface="Arial"/>
              <a:cs typeface="Arial"/>
            </a:endParaRPr>
          </a:p>
          <a:p>
            <a:pPr lvl="1" marL="926465" marR="6985" indent="-228600">
              <a:lnSpc>
                <a:spcPts val="1270"/>
              </a:lnSpc>
              <a:spcBef>
                <a:spcPts val="55"/>
              </a:spcBef>
              <a:buChar char="–"/>
              <a:tabLst>
                <a:tab pos="926465" algn="l"/>
                <a:tab pos="927100" algn="l"/>
              </a:tabLst>
            </a:pPr>
            <a:r>
              <a:rPr dirty="0" sz="1100" spc="-5">
                <a:latin typeface="Arial"/>
                <a:cs typeface="Arial"/>
              </a:rPr>
              <a:t>Pakistan has received a great deal of aid. </a:t>
            </a:r>
            <a:r>
              <a:rPr dirty="0" sz="1100">
                <a:latin typeface="Arial"/>
                <a:cs typeface="Arial"/>
              </a:rPr>
              <a:t>Since </a:t>
            </a:r>
            <a:r>
              <a:rPr dirty="0" sz="1100" spc="-5">
                <a:latin typeface="Arial"/>
                <a:cs typeface="Arial"/>
              </a:rPr>
              <a:t>independence in 1947, it has  been one of the top three aid-earning countries, behind India and</a:t>
            </a:r>
            <a:r>
              <a:rPr dirty="0" sz="1100" spc="90">
                <a:latin typeface="Arial"/>
                <a:cs typeface="Arial"/>
              </a:rPr>
              <a:t> </a:t>
            </a:r>
            <a:r>
              <a:rPr dirty="0" sz="1100" spc="-5">
                <a:latin typeface="Arial"/>
                <a:cs typeface="Arial"/>
              </a:rPr>
              <a:t>Egypt.</a:t>
            </a:r>
            <a:endParaRPr sz="1100">
              <a:latin typeface="Arial"/>
              <a:cs typeface="Arial"/>
            </a:endParaRPr>
          </a:p>
          <a:p>
            <a:pPr lvl="1" marL="926465" indent="-228600">
              <a:lnSpc>
                <a:spcPts val="1230"/>
              </a:lnSpc>
              <a:buChar char="–"/>
              <a:tabLst>
                <a:tab pos="926465" algn="l"/>
                <a:tab pos="927100" algn="l"/>
              </a:tabLst>
            </a:pPr>
            <a:r>
              <a:rPr dirty="0" sz="1100" spc="-5">
                <a:latin typeface="Arial"/>
                <a:cs typeface="Arial"/>
              </a:rPr>
              <a:t>Bangladesh has also benefited considerably from</a:t>
            </a:r>
            <a:r>
              <a:rPr dirty="0" sz="1100" spc="25">
                <a:latin typeface="Arial"/>
                <a:cs typeface="Arial"/>
              </a:rPr>
              <a:t> </a:t>
            </a:r>
            <a:r>
              <a:rPr dirty="0" sz="1100" spc="-5">
                <a:latin typeface="Arial"/>
                <a:cs typeface="Arial"/>
              </a:rPr>
              <a:t>aid.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31</a:t>
            </a:r>
            <a:endParaRPr sz="1100">
              <a:latin typeface="Carlito"/>
              <a:cs typeface="Carli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0" y="892556"/>
            <a:ext cx="5970270" cy="8009890"/>
          </a:xfrm>
          <a:prstGeom prst="rect">
            <a:avLst/>
          </a:prstGeom>
        </p:spPr>
        <p:txBody>
          <a:bodyPr wrap="square" lIns="0" tIns="12065" rIns="0" bIns="0" rtlCol="0" vert="horz">
            <a:spAutoFit/>
          </a:bodyPr>
          <a:lstStyle/>
          <a:p>
            <a:pPr marL="167640" indent="-155575">
              <a:lnSpc>
                <a:spcPct val="100000"/>
              </a:lnSpc>
              <a:spcBef>
                <a:spcPts val="95"/>
              </a:spcBef>
              <a:buAutoNum type="arabicPeriod" startAt="4"/>
              <a:tabLst>
                <a:tab pos="168275" algn="l"/>
              </a:tabLst>
            </a:pPr>
            <a:r>
              <a:rPr dirty="0" sz="1100" spc="-5" b="1">
                <a:latin typeface="Arial"/>
                <a:cs typeface="Arial"/>
              </a:rPr>
              <a:t>GOVERNANCE AND THE ROLE OF THE</a:t>
            </a:r>
            <a:r>
              <a:rPr dirty="0" sz="1100" spc="30" b="1">
                <a:latin typeface="Arial"/>
                <a:cs typeface="Arial"/>
              </a:rPr>
              <a:t> </a:t>
            </a:r>
            <a:r>
              <a:rPr dirty="0" sz="1100" spc="-5" b="1">
                <a:latin typeface="Arial"/>
                <a:cs typeface="Arial"/>
              </a:rPr>
              <a:t>MILITARY</a:t>
            </a:r>
            <a:endParaRPr sz="1100">
              <a:latin typeface="Arial"/>
              <a:cs typeface="Arial"/>
            </a:endParaRPr>
          </a:p>
          <a:p>
            <a:pPr>
              <a:lnSpc>
                <a:spcPct val="100000"/>
              </a:lnSpc>
              <a:buFont typeface="Arial"/>
              <a:buAutoNum type="arabicPeriod" startAt="4"/>
            </a:pPr>
            <a:endParaRPr sz="1150">
              <a:latin typeface="Arial"/>
              <a:cs typeface="Arial"/>
            </a:endParaRPr>
          </a:p>
          <a:p>
            <a:pPr algn="just" lvl="1" marL="926465" indent="-228600">
              <a:lnSpc>
                <a:spcPct val="100000"/>
              </a:lnSpc>
              <a:buChar char="–"/>
              <a:tabLst>
                <a:tab pos="927100" algn="l"/>
              </a:tabLst>
            </a:pPr>
            <a:r>
              <a:rPr dirty="0" sz="1100" spc="-5">
                <a:latin typeface="Arial"/>
                <a:cs typeface="Arial"/>
              </a:rPr>
              <a:t>The military has always played a prominent role in</a:t>
            </a:r>
            <a:r>
              <a:rPr dirty="0" sz="1100" spc="60">
                <a:latin typeface="Arial"/>
                <a:cs typeface="Arial"/>
              </a:rPr>
              <a:t> </a:t>
            </a:r>
            <a:r>
              <a:rPr dirty="0" sz="1100" spc="-5">
                <a:latin typeface="Arial"/>
                <a:cs typeface="Arial"/>
              </a:rPr>
              <a:t>Pakistan</a:t>
            </a:r>
            <a:endParaRPr sz="1100">
              <a:latin typeface="Arial"/>
              <a:cs typeface="Arial"/>
            </a:endParaRPr>
          </a:p>
          <a:p>
            <a:pPr lvl="1">
              <a:lnSpc>
                <a:spcPct val="100000"/>
              </a:lnSpc>
              <a:spcBef>
                <a:spcPts val="5"/>
              </a:spcBef>
              <a:buFont typeface="Arial"/>
              <a:buChar char="–"/>
            </a:pPr>
            <a:endParaRPr sz="1050">
              <a:latin typeface="Arial"/>
              <a:cs typeface="Arial"/>
            </a:endParaRPr>
          </a:p>
          <a:p>
            <a:pPr marL="167640" indent="-155575">
              <a:lnSpc>
                <a:spcPct val="100000"/>
              </a:lnSpc>
              <a:buAutoNum type="arabicPeriod" startAt="4"/>
              <a:tabLst>
                <a:tab pos="168275" algn="l"/>
              </a:tabLst>
            </a:pPr>
            <a:r>
              <a:rPr dirty="0" sz="1100" spc="-5" b="1">
                <a:latin typeface="Arial"/>
                <a:cs typeface="Arial"/>
              </a:rPr>
              <a:t>CIVIL SOCIETY</a:t>
            </a:r>
            <a:endParaRPr sz="1100">
              <a:latin typeface="Arial"/>
              <a:cs typeface="Arial"/>
            </a:endParaRPr>
          </a:p>
          <a:p>
            <a:pPr>
              <a:lnSpc>
                <a:spcPct val="100000"/>
              </a:lnSpc>
              <a:spcBef>
                <a:spcPts val="20"/>
              </a:spcBef>
              <a:buFont typeface="Arial"/>
              <a:buAutoNum type="arabicPeriod" startAt="4"/>
            </a:pPr>
            <a:endParaRPr sz="1200">
              <a:latin typeface="Arial"/>
              <a:cs typeface="Arial"/>
            </a:endParaRPr>
          </a:p>
          <a:p>
            <a:pPr algn="just" lvl="1" marL="927100" marR="6350" indent="-228600">
              <a:lnSpc>
                <a:spcPts val="1270"/>
              </a:lnSpc>
              <a:spcBef>
                <a:spcPts val="5"/>
              </a:spcBef>
              <a:buChar char="–"/>
              <a:tabLst>
                <a:tab pos="927100" algn="l"/>
              </a:tabLst>
            </a:pPr>
            <a:r>
              <a:rPr dirty="0" sz="1100" spc="-5">
                <a:latin typeface="Arial"/>
                <a:cs typeface="Arial"/>
              </a:rPr>
              <a:t>Ishrat Husain proposes that Pakistan has experienced an “elitist growth model,”  which he identifies as combining a powerful leader or succession of leaders  operating without checks and balances, a bureaucratic class that unquestioningly  implements the wishes of the leader, and a passive and subservient</a:t>
            </a:r>
            <a:r>
              <a:rPr dirty="0" sz="1100" spc="170">
                <a:latin typeface="Arial"/>
                <a:cs typeface="Arial"/>
              </a:rPr>
              <a:t> </a:t>
            </a:r>
            <a:r>
              <a:rPr dirty="0" sz="1100" spc="-5">
                <a:latin typeface="Arial"/>
                <a:cs typeface="Arial"/>
              </a:rPr>
              <a:t>population.</a:t>
            </a:r>
            <a:endParaRPr sz="1100">
              <a:latin typeface="Arial"/>
              <a:cs typeface="Arial"/>
            </a:endParaRPr>
          </a:p>
          <a:p>
            <a:pPr algn="just" lvl="1" marL="926465" indent="-228600">
              <a:lnSpc>
                <a:spcPts val="1185"/>
              </a:lnSpc>
              <a:buChar char="–"/>
              <a:tabLst>
                <a:tab pos="927100" algn="l"/>
              </a:tabLst>
            </a:pPr>
            <a:r>
              <a:rPr dirty="0" sz="1100" spc="-5">
                <a:latin typeface="Arial"/>
                <a:cs typeface="Arial"/>
              </a:rPr>
              <a:t>He</a:t>
            </a:r>
            <a:r>
              <a:rPr dirty="0" sz="1100" spc="130">
                <a:latin typeface="Arial"/>
                <a:cs typeface="Arial"/>
              </a:rPr>
              <a:t> </a:t>
            </a:r>
            <a:r>
              <a:rPr dirty="0" sz="1100" spc="-5">
                <a:latin typeface="Arial"/>
                <a:cs typeface="Arial"/>
              </a:rPr>
              <a:t>argues</a:t>
            </a:r>
            <a:r>
              <a:rPr dirty="0" sz="1100" spc="135">
                <a:latin typeface="Arial"/>
                <a:cs typeface="Arial"/>
              </a:rPr>
              <a:t> </a:t>
            </a:r>
            <a:r>
              <a:rPr dirty="0" sz="1100" spc="-5">
                <a:latin typeface="Arial"/>
                <a:cs typeface="Arial"/>
              </a:rPr>
              <a:t>that</a:t>
            </a:r>
            <a:r>
              <a:rPr dirty="0" sz="1100" spc="135">
                <a:latin typeface="Arial"/>
                <a:cs typeface="Arial"/>
              </a:rPr>
              <a:t> </a:t>
            </a:r>
            <a:r>
              <a:rPr dirty="0" sz="1100" spc="-5">
                <a:latin typeface="Arial"/>
                <a:cs typeface="Arial"/>
              </a:rPr>
              <a:t>“failure</a:t>
            </a:r>
            <a:r>
              <a:rPr dirty="0" sz="1100" spc="130">
                <a:latin typeface="Arial"/>
                <a:cs typeface="Arial"/>
              </a:rPr>
              <a:t> </a:t>
            </a:r>
            <a:r>
              <a:rPr dirty="0" sz="1100" spc="-5">
                <a:latin typeface="Arial"/>
                <a:cs typeface="Arial"/>
              </a:rPr>
              <a:t>of</a:t>
            </a:r>
            <a:r>
              <a:rPr dirty="0" sz="1100" spc="135">
                <a:latin typeface="Arial"/>
                <a:cs typeface="Arial"/>
              </a:rPr>
              <a:t> </a:t>
            </a:r>
            <a:r>
              <a:rPr dirty="0" sz="1100" spc="-5">
                <a:latin typeface="Arial"/>
                <a:cs typeface="Arial"/>
              </a:rPr>
              <a:t>governance</a:t>
            </a:r>
            <a:r>
              <a:rPr dirty="0" sz="1100" spc="135">
                <a:latin typeface="Arial"/>
                <a:cs typeface="Arial"/>
              </a:rPr>
              <a:t> </a:t>
            </a:r>
            <a:r>
              <a:rPr dirty="0" sz="1100" spc="-5">
                <a:latin typeface="Arial"/>
                <a:cs typeface="Arial"/>
              </a:rPr>
              <a:t>and</a:t>
            </a:r>
            <a:r>
              <a:rPr dirty="0" sz="1100" spc="135">
                <a:latin typeface="Arial"/>
                <a:cs typeface="Arial"/>
              </a:rPr>
              <a:t> </a:t>
            </a:r>
            <a:r>
              <a:rPr dirty="0" sz="1100" spc="-5">
                <a:latin typeface="Arial"/>
                <a:cs typeface="Arial"/>
              </a:rPr>
              <a:t>the</a:t>
            </a:r>
            <a:r>
              <a:rPr dirty="0" sz="1100" spc="130">
                <a:latin typeface="Arial"/>
                <a:cs typeface="Arial"/>
              </a:rPr>
              <a:t> </a:t>
            </a:r>
            <a:r>
              <a:rPr dirty="0" sz="1100" spc="-5">
                <a:latin typeface="Arial"/>
                <a:cs typeface="Arial"/>
              </a:rPr>
              <a:t>consistent</a:t>
            </a:r>
            <a:r>
              <a:rPr dirty="0" sz="1100" spc="135">
                <a:latin typeface="Arial"/>
                <a:cs typeface="Arial"/>
              </a:rPr>
              <a:t> </a:t>
            </a:r>
            <a:r>
              <a:rPr dirty="0" sz="1100" spc="-5">
                <a:latin typeface="Arial"/>
                <a:cs typeface="Arial"/>
              </a:rPr>
              <a:t>domination</a:t>
            </a:r>
            <a:r>
              <a:rPr dirty="0" sz="1100" spc="130">
                <a:latin typeface="Arial"/>
                <a:cs typeface="Arial"/>
              </a:rPr>
              <a:t> </a:t>
            </a:r>
            <a:r>
              <a:rPr dirty="0" sz="1100" spc="-5">
                <a:latin typeface="Arial"/>
                <a:cs typeface="Arial"/>
              </a:rPr>
              <a:t>of</a:t>
            </a:r>
            <a:r>
              <a:rPr dirty="0" sz="1100" spc="135">
                <a:latin typeface="Arial"/>
                <a:cs typeface="Arial"/>
              </a:rPr>
              <a:t> </a:t>
            </a:r>
            <a:r>
              <a:rPr dirty="0" sz="1100" spc="-5">
                <a:latin typeface="Arial"/>
                <a:cs typeface="Arial"/>
              </a:rPr>
              <a:t>political</a:t>
            </a:r>
            <a:endParaRPr sz="1100">
              <a:latin typeface="Arial"/>
              <a:cs typeface="Arial"/>
            </a:endParaRPr>
          </a:p>
          <a:p>
            <a:pPr algn="just" marL="927100" marR="5080">
              <a:lnSpc>
                <a:spcPts val="1270"/>
              </a:lnSpc>
              <a:spcBef>
                <a:spcPts val="55"/>
              </a:spcBef>
            </a:pPr>
            <a:r>
              <a:rPr dirty="0" sz="1100" spc="-5">
                <a:latin typeface="Arial"/>
                <a:cs typeface="Arial"/>
              </a:rPr>
              <a:t>power and state apparatus by a narrowly based elite seeking to advance private  and family interests to the exclusion of the majority of the population lies at the  root of the</a:t>
            </a:r>
            <a:r>
              <a:rPr dirty="0" sz="1100" spc="5">
                <a:latin typeface="Arial"/>
                <a:cs typeface="Arial"/>
              </a:rPr>
              <a:t> </a:t>
            </a:r>
            <a:r>
              <a:rPr dirty="0" sz="1100" spc="-5">
                <a:latin typeface="Arial"/>
                <a:cs typeface="Arial"/>
              </a:rPr>
              <a:t>problem.”</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CONCLUSION</a:t>
            </a:r>
            <a:endParaRPr sz="1100">
              <a:latin typeface="Arial"/>
              <a:cs typeface="Arial"/>
            </a:endParaRPr>
          </a:p>
          <a:p>
            <a:pPr>
              <a:lnSpc>
                <a:spcPct val="100000"/>
              </a:lnSpc>
              <a:spcBef>
                <a:spcPts val="10"/>
              </a:spcBef>
            </a:pPr>
            <a:endParaRPr sz="1200">
              <a:latin typeface="Arial"/>
              <a:cs typeface="Arial"/>
            </a:endParaRPr>
          </a:p>
          <a:p>
            <a:pPr marL="469900" indent="-229235">
              <a:lnSpc>
                <a:spcPct val="100000"/>
              </a:lnSpc>
              <a:spcBef>
                <a:spcPts val="5"/>
              </a:spcBef>
              <a:buFont typeface="Symbol"/>
              <a:buChar char=""/>
              <a:tabLst>
                <a:tab pos="469265" algn="l"/>
                <a:tab pos="470534" algn="l"/>
              </a:tabLst>
            </a:pPr>
            <a:r>
              <a:rPr dirty="0" sz="1100" spc="-5">
                <a:latin typeface="Arial"/>
                <a:cs typeface="Arial"/>
              </a:rPr>
              <a:t>The development levels of these two countries are not dramatically</a:t>
            </a:r>
            <a:r>
              <a:rPr dirty="0" sz="1100" spc="95">
                <a:latin typeface="Arial"/>
                <a:cs typeface="Arial"/>
              </a:rPr>
              <a:t> </a:t>
            </a:r>
            <a:r>
              <a:rPr dirty="0" sz="1100" spc="-5">
                <a:latin typeface="Arial"/>
                <a:cs typeface="Arial"/>
              </a:rPr>
              <a:t>different.</a:t>
            </a:r>
            <a:endParaRPr sz="1100">
              <a:latin typeface="Arial"/>
              <a:cs typeface="Arial"/>
            </a:endParaRPr>
          </a:p>
          <a:p>
            <a:pPr marL="469900" marR="6350" indent="-228600">
              <a:lnSpc>
                <a:spcPts val="1260"/>
              </a:lnSpc>
              <a:spcBef>
                <a:spcPts val="114"/>
              </a:spcBef>
              <a:buFont typeface="Symbol"/>
              <a:buChar char=""/>
              <a:tabLst>
                <a:tab pos="469265" algn="l"/>
                <a:tab pos="470534" algn="l"/>
              </a:tabLst>
            </a:pPr>
            <a:r>
              <a:rPr dirty="0" sz="1100" spc="-5">
                <a:latin typeface="Arial"/>
                <a:cs typeface="Arial"/>
              </a:rPr>
              <a:t>But this itself is the dramatic finding, given the wide disparity when the countries  separated in 1971.</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CLASSICAL THEORIES OF ECONOMIC GROWTH AND</a:t>
            </a:r>
            <a:r>
              <a:rPr dirty="0" sz="1100" spc="3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Classic Theories of Economic Development: Five</a:t>
            </a:r>
            <a:r>
              <a:rPr dirty="0" sz="1100" spc="35" b="1">
                <a:latin typeface="Arial"/>
                <a:cs typeface="Arial"/>
              </a:rPr>
              <a:t> </a:t>
            </a:r>
            <a:r>
              <a:rPr dirty="0" sz="1100" spc="-5" b="1">
                <a:latin typeface="Arial"/>
                <a:cs typeface="Arial"/>
              </a:rPr>
              <a:t>Approaches</a:t>
            </a:r>
            <a:endParaRPr sz="1100">
              <a:latin typeface="Arial"/>
              <a:cs typeface="Arial"/>
            </a:endParaRPr>
          </a:p>
          <a:p>
            <a:pPr>
              <a:lnSpc>
                <a:spcPct val="100000"/>
              </a:lnSpc>
              <a:spcBef>
                <a:spcPts val="55"/>
              </a:spcBef>
            </a:pPr>
            <a:endParaRPr sz="1100">
              <a:latin typeface="Arial"/>
              <a:cs typeface="Arial"/>
            </a:endParaRPr>
          </a:p>
          <a:p>
            <a:pPr marL="469900" indent="-307340">
              <a:lnSpc>
                <a:spcPts val="1295"/>
              </a:lnSpc>
              <a:buFont typeface="Arial"/>
              <a:buAutoNum type="romanLcPeriod"/>
              <a:tabLst>
                <a:tab pos="469265" algn="l"/>
                <a:tab pos="470534" algn="l"/>
              </a:tabLst>
            </a:pPr>
            <a:r>
              <a:rPr dirty="0" sz="1100" spc="-5">
                <a:latin typeface="Arial"/>
                <a:cs typeface="Arial"/>
              </a:rPr>
              <a:t>Classical Growth</a:t>
            </a:r>
            <a:r>
              <a:rPr dirty="0" sz="1100">
                <a:latin typeface="Arial"/>
                <a:cs typeface="Arial"/>
              </a:rPr>
              <a:t> </a:t>
            </a:r>
            <a:r>
              <a:rPr dirty="0" sz="1100" spc="-5">
                <a:latin typeface="Arial"/>
                <a:cs typeface="Arial"/>
              </a:rPr>
              <a:t>Theory</a:t>
            </a:r>
            <a:endParaRPr sz="1100">
              <a:latin typeface="Arial"/>
              <a:cs typeface="Arial"/>
            </a:endParaRPr>
          </a:p>
          <a:p>
            <a:pPr marL="469900" indent="-346075">
              <a:lnSpc>
                <a:spcPts val="1265"/>
              </a:lnSpc>
              <a:buFont typeface="Arial"/>
              <a:buAutoNum type="romanLcPeriod"/>
              <a:tabLst>
                <a:tab pos="469265" algn="l"/>
                <a:tab pos="470534" algn="l"/>
              </a:tabLst>
            </a:pPr>
            <a:r>
              <a:rPr dirty="0" sz="1100" spc="-5">
                <a:latin typeface="Arial"/>
                <a:cs typeface="Arial"/>
              </a:rPr>
              <a:t>Linear stages of growth</a:t>
            </a:r>
            <a:r>
              <a:rPr dirty="0" sz="1100" spc="10">
                <a:latin typeface="Arial"/>
                <a:cs typeface="Arial"/>
              </a:rPr>
              <a:t> </a:t>
            </a:r>
            <a:r>
              <a:rPr dirty="0" sz="1100" spc="-5">
                <a:latin typeface="Arial"/>
                <a:cs typeface="Arial"/>
              </a:rPr>
              <a:t>model</a:t>
            </a:r>
            <a:endParaRPr sz="1100">
              <a:latin typeface="Arial"/>
              <a:cs typeface="Arial"/>
            </a:endParaRPr>
          </a:p>
          <a:p>
            <a:pPr marL="469900" indent="-384810">
              <a:lnSpc>
                <a:spcPts val="1265"/>
              </a:lnSpc>
              <a:buFont typeface="Arial"/>
              <a:buAutoNum type="romanLcPeriod"/>
              <a:tabLst>
                <a:tab pos="469265" algn="l"/>
                <a:tab pos="470534" algn="l"/>
              </a:tabLst>
            </a:pPr>
            <a:r>
              <a:rPr dirty="0" sz="1100" spc="-5">
                <a:latin typeface="Arial"/>
                <a:cs typeface="Arial"/>
              </a:rPr>
              <a:t>Theories and Patterns of structural</a:t>
            </a:r>
            <a:r>
              <a:rPr dirty="0" sz="1100" spc="15">
                <a:latin typeface="Arial"/>
                <a:cs typeface="Arial"/>
              </a:rPr>
              <a:t> </a:t>
            </a:r>
            <a:r>
              <a:rPr dirty="0" sz="1100" spc="-5">
                <a:latin typeface="Arial"/>
                <a:cs typeface="Arial"/>
              </a:rPr>
              <a:t>change</a:t>
            </a:r>
            <a:endParaRPr sz="1100">
              <a:latin typeface="Arial"/>
              <a:cs typeface="Arial"/>
            </a:endParaRPr>
          </a:p>
          <a:p>
            <a:pPr marL="469900" indent="-384810">
              <a:lnSpc>
                <a:spcPts val="1265"/>
              </a:lnSpc>
              <a:buFont typeface="Arial"/>
              <a:buAutoNum type="romanLcPeriod"/>
              <a:tabLst>
                <a:tab pos="469265" algn="l"/>
                <a:tab pos="470534" algn="l"/>
              </a:tabLst>
            </a:pPr>
            <a:r>
              <a:rPr dirty="0" sz="1100" spc="-5">
                <a:latin typeface="Arial"/>
                <a:cs typeface="Arial"/>
              </a:rPr>
              <a:t>International-dependence</a:t>
            </a:r>
            <a:r>
              <a:rPr dirty="0" sz="1100">
                <a:latin typeface="Arial"/>
                <a:cs typeface="Arial"/>
              </a:rPr>
              <a:t> </a:t>
            </a:r>
            <a:r>
              <a:rPr dirty="0" sz="1100" spc="-5">
                <a:latin typeface="Arial"/>
                <a:cs typeface="Arial"/>
              </a:rPr>
              <a:t>revolution</a:t>
            </a:r>
            <a:endParaRPr sz="1100">
              <a:latin typeface="Arial"/>
              <a:cs typeface="Arial"/>
            </a:endParaRPr>
          </a:p>
          <a:p>
            <a:pPr marL="469900" indent="-346075">
              <a:lnSpc>
                <a:spcPts val="1295"/>
              </a:lnSpc>
              <a:buFont typeface="Arial"/>
              <a:buAutoNum type="romanLcPeriod"/>
              <a:tabLst>
                <a:tab pos="469265" algn="l"/>
                <a:tab pos="470534" algn="l"/>
              </a:tabLst>
            </a:pPr>
            <a:r>
              <a:rPr dirty="0" sz="1100" spc="-5">
                <a:latin typeface="Arial"/>
                <a:cs typeface="Arial"/>
              </a:rPr>
              <a:t>Neoclassical, free market</a:t>
            </a:r>
            <a:r>
              <a:rPr dirty="0" sz="1100" spc="10">
                <a:latin typeface="Arial"/>
                <a:cs typeface="Arial"/>
              </a:rPr>
              <a:t> </a:t>
            </a:r>
            <a:r>
              <a:rPr dirty="0" sz="1100" spc="-5">
                <a:latin typeface="Arial"/>
                <a:cs typeface="Arial"/>
              </a:rPr>
              <a:t>counterrevolution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CLASSICAL GROWTH</a:t>
            </a:r>
            <a:r>
              <a:rPr dirty="0" sz="1100" spc="5" b="1">
                <a:latin typeface="Arial"/>
                <a:cs typeface="Arial"/>
              </a:rPr>
              <a:t> </a:t>
            </a:r>
            <a:r>
              <a:rPr dirty="0" sz="1100" spc="-5" b="1">
                <a:latin typeface="Arial"/>
                <a:cs typeface="Arial"/>
              </a:rPr>
              <a:t>THEORY</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900"/>
              </a:lnSpc>
            </a:pPr>
            <a:r>
              <a:rPr dirty="0" sz="1100" spc="-5">
                <a:latin typeface="Arial"/>
                <a:cs typeface="Arial"/>
              </a:rPr>
              <a:t>Adam Smith (1776) famous for two books the theory of moral sentiments (1759) and An Inquiry  into the Nature and Causes of th Wealth of Nations (1776). He had a generally optimistic vision  of growth and development process. Later </a:t>
            </a:r>
            <a:r>
              <a:rPr dirty="0" sz="1100">
                <a:latin typeface="Arial"/>
                <a:cs typeface="Arial"/>
              </a:rPr>
              <a:t>classical </a:t>
            </a:r>
            <a:r>
              <a:rPr dirty="0" sz="1100" spc="-5">
                <a:latin typeface="Arial"/>
                <a:cs typeface="Arial"/>
              </a:rPr>
              <a:t>economics tended to have a more gloomy  vision. This led the historian Thomas Carlyle to call economics as ‘dismal science’. Adam </a:t>
            </a:r>
            <a:r>
              <a:rPr dirty="0" sz="1100">
                <a:latin typeface="Arial"/>
                <a:cs typeface="Arial"/>
              </a:rPr>
              <a:t>Smith  </a:t>
            </a:r>
            <a:r>
              <a:rPr dirty="0" sz="1100" spc="-5">
                <a:latin typeface="Arial"/>
                <a:cs typeface="Arial"/>
              </a:rPr>
              <a:t>recognized how specialization in industrial activities could lead to increasing returns and big  increases in labour productivity, compared </a:t>
            </a:r>
            <a:r>
              <a:rPr dirty="0" sz="1100">
                <a:latin typeface="Arial"/>
                <a:cs typeface="Arial"/>
              </a:rPr>
              <a:t>with </a:t>
            </a:r>
            <a:r>
              <a:rPr dirty="0" sz="1100" spc="-5">
                <a:latin typeface="Arial"/>
                <a:cs typeface="Arial"/>
              </a:rPr>
              <a:t>specialization in agriculture. Other classical  economists apart from Adam Smith include Thomas Malthus, David Ricardo, John Stuart Mill,  They were pessimistic about the growth process because of the pressure of population on food  supply and diminishing returns in agriculture. They argued this will reduce the profit in industry.  Eventually a stationary stage would be reached .Karl Marx predicted the collapse of capitalism  itself.</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ROSTOW - STAGES OF GROWTH</a:t>
            </a:r>
            <a:r>
              <a:rPr dirty="0" sz="1100" spc="25" b="1">
                <a:latin typeface="Arial"/>
                <a:cs typeface="Arial"/>
              </a:rPr>
              <a:t> </a:t>
            </a:r>
            <a:r>
              <a:rPr dirty="0" sz="1100" spc="-5" b="1">
                <a:latin typeface="Arial"/>
                <a:cs typeface="Arial"/>
              </a:rPr>
              <a:t>THEORY</a:t>
            </a:r>
            <a:endParaRPr sz="1100">
              <a:latin typeface="Arial"/>
              <a:cs typeface="Arial"/>
            </a:endParaRPr>
          </a:p>
          <a:p>
            <a:pPr>
              <a:lnSpc>
                <a:spcPct val="100000"/>
              </a:lnSpc>
              <a:spcBef>
                <a:spcPts val="55"/>
              </a:spcBef>
            </a:pPr>
            <a:endParaRPr sz="1100">
              <a:latin typeface="Arial"/>
              <a:cs typeface="Arial"/>
            </a:endParaRPr>
          </a:p>
          <a:p>
            <a:pPr algn="just" marL="12700">
              <a:lnSpc>
                <a:spcPts val="1295"/>
              </a:lnSpc>
            </a:pPr>
            <a:r>
              <a:rPr dirty="0" sz="1100" spc="-5">
                <a:latin typeface="Arial"/>
                <a:cs typeface="Arial"/>
              </a:rPr>
              <a:t>The</a:t>
            </a:r>
            <a:r>
              <a:rPr dirty="0" sz="1100" spc="80">
                <a:latin typeface="Arial"/>
                <a:cs typeface="Arial"/>
              </a:rPr>
              <a:t> </a:t>
            </a:r>
            <a:r>
              <a:rPr dirty="0" sz="1100" spc="-5">
                <a:latin typeface="Arial"/>
                <a:cs typeface="Arial"/>
              </a:rPr>
              <a:t>most</a:t>
            </a:r>
            <a:r>
              <a:rPr dirty="0" sz="1100" spc="85">
                <a:latin typeface="Arial"/>
                <a:cs typeface="Arial"/>
              </a:rPr>
              <a:t> </a:t>
            </a:r>
            <a:r>
              <a:rPr dirty="0" sz="1100" spc="-5">
                <a:latin typeface="Arial"/>
                <a:cs typeface="Arial"/>
              </a:rPr>
              <a:t>influential</a:t>
            </a:r>
            <a:r>
              <a:rPr dirty="0" sz="1100" spc="80">
                <a:latin typeface="Arial"/>
                <a:cs typeface="Arial"/>
              </a:rPr>
              <a:t> </a:t>
            </a:r>
            <a:r>
              <a:rPr dirty="0" sz="1100" spc="-5">
                <a:latin typeface="Arial"/>
                <a:cs typeface="Arial"/>
              </a:rPr>
              <a:t>and</a:t>
            </a:r>
            <a:r>
              <a:rPr dirty="0" sz="1100" spc="80">
                <a:latin typeface="Arial"/>
                <a:cs typeface="Arial"/>
              </a:rPr>
              <a:t> </a:t>
            </a:r>
            <a:r>
              <a:rPr dirty="0" sz="1100" spc="-5">
                <a:latin typeface="Arial"/>
                <a:cs typeface="Arial"/>
              </a:rPr>
              <a:t>outspoken</a:t>
            </a:r>
            <a:r>
              <a:rPr dirty="0" sz="1100" spc="70">
                <a:latin typeface="Arial"/>
                <a:cs typeface="Arial"/>
              </a:rPr>
              <a:t> </a:t>
            </a:r>
            <a:r>
              <a:rPr dirty="0" sz="1100" spc="-5">
                <a:latin typeface="Arial"/>
                <a:cs typeface="Arial"/>
              </a:rPr>
              <a:t>advocate</a:t>
            </a:r>
            <a:r>
              <a:rPr dirty="0" sz="1100" spc="8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the</a:t>
            </a:r>
            <a:r>
              <a:rPr dirty="0" sz="1100" spc="80">
                <a:latin typeface="Arial"/>
                <a:cs typeface="Arial"/>
              </a:rPr>
              <a:t> </a:t>
            </a:r>
            <a:r>
              <a:rPr dirty="0" sz="1100" spc="-5" b="1">
                <a:latin typeface="Arial"/>
                <a:cs typeface="Arial"/>
              </a:rPr>
              <a:t>stages-of-growth</a:t>
            </a:r>
            <a:r>
              <a:rPr dirty="0" sz="1100" spc="80" b="1">
                <a:latin typeface="Arial"/>
                <a:cs typeface="Arial"/>
              </a:rPr>
              <a:t> </a:t>
            </a:r>
            <a:r>
              <a:rPr dirty="0" sz="1100" spc="-5" b="1">
                <a:latin typeface="Arial"/>
                <a:cs typeface="Arial"/>
              </a:rPr>
              <a:t>model</a:t>
            </a:r>
            <a:r>
              <a:rPr dirty="0" sz="1100" spc="80" b="1">
                <a:latin typeface="Arial"/>
                <a:cs typeface="Arial"/>
              </a:rPr>
              <a:t> </a:t>
            </a:r>
            <a:r>
              <a:rPr dirty="0" sz="1100" spc="-5" b="1">
                <a:latin typeface="Arial"/>
                <a:cs typeface="Arial"/>
              </a:rPr>
              <a:t>of</a:t>
            </a:r>
            <a:r>
              <a:rPr dirty="0" sz="1100" spc="85" b="1">
                <a:latin typeface="Arial"/>
                <a:cs typeface="Arial"/>
              </a:rPr>
              <a:t> </a:t>
            </a:r>
            <a:r>
              <a:rPr dirty="0" sz="1100" spc="-5" b="1">
                <a:latin typeface="Arial"/>
                <a:cs typeface="Arial"/>
              </a:rPr>
              <a:t>development</a:t>
            </a:r>
            <a:endParaRPr sz="1100">
              <a:latin typeface="Arial"/>
              <a:cs typeface="Arial"/>
            </a:endParaRPr>
          </a:p>
          <a:p>
            <a:pPr algn="just" marL="12700">
              <a:lnSpc>
                <a:spcPts val="1295"/>
              </a:lnSpc>
            </a:pPr>
            <a:r>
              <a:rPr dirty="0" sz="1100" spc="-5">
                <a:latin typeface="Arial"/>
                <a:cs typeface="Arial"/>
              </a:rPr>
              <a:t>was</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American</a:t>
            </a:r>
            <a:r>
              <a:rPr dirty="0" sz="1100" spc="40">
                <a:latin typeface="Arial"/>
                <a:cs typeface="Arial"/>
              </a:rPr>
              <a:t> </a:t>
            </a:r>
            <a:r>
              <a:rPr dirty="0" sz="1100" spc="-5">
                <a:latin typeface="Arial"/>
                <a:cs typeface="Arial"/>
              </a:rPr>
              <a:t>economic</a:t>
            </a:r>
            <a:r>
              <a:rPr dirty="0" sz="1100" spc="40">
                <a:latin typeface="Arial"/>
                <a:cs typeface="Arial"/>
              </a:rPr>
              <a:t> </a:t>
            </a:r>
            <a:r>
              <a:rPr dirty="0" sz="1100" spc="-5">
                <a:latin typeface="Arial"/>
                <a:cs typeface="Arial"/>
              </a:rPr>
              <a:t>historian</a:t>
            </a:r>
            <a:r>
              <a:rPr dirty="0" sz="1100" spc="40">
                <a:latin typeface="Arial"/>
                <a:cs typeface="Arial"/>
              </a:rPr>
              <a:t> </a:t>
            </a:r>
            <a:r>
              <a:rPr dirty="0" sz="1100" spc="-5">
                <a:latin typeface="Arial"/>
                <a:cs typeface="Arial"/>
              </a:rPr>
              <a:t>Walt</a:t>
            </a:r>
            <a:r>
              <a:rPr dirty="0" sz="1100" spc="40">
                <a:latin typeface="Arial"/>
                <a:cs typeface="Arial"/>
              </a:rPr>
              <a:t> </a:t>
            </a:r>
            <a:r>
              <a:rPr dirty="0" sz="1100" spc="-5">
                <a:latin typeface="Arial"/>
                <a:cs typeface="Arial"/>
              </a:rPr>
              <a:t>W.</a:t>
            </a:r>
            <a:r>
              <a:rPr dirty="0" sz="1100" spc="40">
                <a:latin typeface="Arial"/>
                <a:cs typeface="Arial"/>
              </a:rPr>
              <a:t> </a:t>
            </a:r>
            <a:r>
              <a:rPr dirty="0" sz="1100" spc="-5">
                <a:latin typeface="Arial"/>
                <a:cs typeface="Arial"/>
              </a:rPr>
              <a:t>Rostow.</a:t>
            </a:r>
            <a:r>
              <a:rPr dirty="0" sz="1100" spc="40">
                <a:latin typeface="Arial"/>
                <a:cs typeface="Arial"/>
              </a:rPr>
              <a:t> </a:t>
            </a:r>
            <a:r>
              <a:rPr dirty="0" sz="1100" spc="-5">
                <a:latin typeface="Arial"/>
                <a:cs typeface="Arial"/>
              </a:rPr>
              <a:t>According</a:t>
            </a:r>
            <a:r>
              <a:rPr dirty="0" sz="1100" spc="40">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Rostow,</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transition</a:t>
            </a:r>
            <a:r>
              <a:rPr dirty="0" sz="1100" spc="40">
                <a:latin typeface="Arial"/>
                <a:cs typeface="Arial"/>
              </a:rPr>
              <a:t> </a:t>
            </a:r>
            <a:r>
              <a:rPr dirty="0" sz="1100">
                <a:latin typeface="Arial"/>
                <a:cs typeface="Arial"/>
              </a:rPr>
              <a:t>from</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32</a:t>
            </a:r>
            <a:endParaRPr sz="1100">
              <a:latin typeface="Carlito"/>
              <a:cs typeface="Carli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81514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underdevelopment to development can be described in terms of a series of steps or stages  through which all countries must</a:t>
            </a:r>
            <a:r>
              <a:rPr dirty="0" sz="1100" spc="20">
                <a:latin typeface="Arial"/>
                <a:cs typeface="Arial"/>
              </a:rPr>
              <a:t> </a:t>
            </a:r>
            <a:r>
              <a:rPr dirty="0" sz="1100" spc="-5">
                <a:latin typeface="Arial"/>
                <a:cs typeface="Arial"/>
              </a:rPr>
              <a:t>proceed.</a:t>
            </a:r>
            <a:endParaRPr sz="1100">
              <a:latin typeface="Arial"/>
              <a:cs typeface="Arial"/>
            </a:endParaRPr>
          </a:p>
          <a:p>
            <a:pPr marL="12700" marR="6350">
              <a:lnSpc>
                <a:spcPts val="1260"/>
              </a:lnSpc>
            </a:pPr>
            <a:r>
              <a:rPr dirty="0" sz="1100" spc="-5" b="1">
                <a:latin typeface="Arial"/>
                <a:cs typeface="Arial"/>
              </a:rPr>
              <a:t>Stages-of-growth model of development: </a:t>
            </a:r>
            <a:r>
              <a:rPr dirty="0" sz="1100" spc="-5">
                <a:latin typeface="Arial"/>
                <a:cs typeface="Arial"/>
              </a:rPr>
              <a:t>A theory of economic development, associated with  the</a:t>
            </a:r>
            <a:r>
              <a:rPr dirty="0" sz="1100" spc="40">
                <a:latin typeface="Arial"/>
                <a:cs typeface="Arial"/>
              </a:rPr>
              <a:t> </a:t>
            </a:r>
            <a:r>
              <a:rPr dirty="0" sz="1100" spc="-5">
                <a:latin typeface="Arial"/>
                <a:cs typeface="Arial"/>
              </a:rPr>
              <a:t>American</a:t>
            </a:r>
            <a:r>
              <a:rPr dirty="0" sz="1100" spc="40">
                <a:latin typeface="Arial"/>
                <a:cs typeface="Arial"/>
              </a:rPr>
              <a:t> </a:t>
            </a:r>
            <a:r>
              <a:rPr dirty="0" sz="1100" spc="-5">
                <a:latin typeface="Arial"/>
                <a:cs typeface="Arial"/>
              </a:rPr>
              <a:t>economic</a:t>
            </a:r>
            <a:r>
              <a:rPr dirty="0" sz="1100" spc="40">
                <a:latin typeface="Arial"/>
                <a:cs typeface="Arial"/>
              </a:rPr>
              <a:t> </a:t>
            </a:r>
            <a:r>
              <a:rPr dirty="0" sz="1100" spc="-5">
                <a:latin typeface="Arial"/>
                <a:cs typeface="Arial"/>
              </a:rPr>
              <a:t>historian</a:t>
            </a:r>
            <a:r>
              <a:rPr dirty="0" sz="1100" spc="40">
                <a:latin typeface="Arial"/>
                <a:cs typeface="Arial"/>
              </a:rPr>
              <a:t> </a:t>
            </a:r>
            <a:r>
              <a:rPr dirty="0" sz="1100" spc="-5">
                <a:latin typeface="Arial"/>
                <a:cs typeface="Arial"/>
              </a:rPr>
              <a:t>Walt</a:t>
            </a:r>
            <a:r>
              <a:rPr dirty="0" sz="1100" spc="40">
                <a:latin typeface="Arial"/>
                <a:cs typeface="Arial"/>
              </a:rPr>
              <a:t> </a:t>
            </a:r>
            <a:r>
              <a:rPr dirty="0" sz="1100" spc="-5">
                <a:latin typeface="Arial"/>
                <a:cs typeface="Arial"/>
              </a:rPr>
              <a:t>W.</a:t>
            </a:r>
            <a:r>
              <a:rPr dirty="0" sz="1100" spc="40">
                <a:latin typeface="Arial"/>
                <a:cs typeface="Arial"/>
              </a:rPr>
              <a:t> </a:t>
            </a:r>
            <a:r>
              <a:rPr dirty="0" sz="1100" spc="-5">
                <a:latin typeface="Arial"/>
                <a:cs typeface="Arial"/>
              </a:rPr>
              <a:t>Rostow,</a:t>
            </a:r>
            <a:r>
              <a:rPr dirty="0" sz="1100" spc="40">
                <a:latin typeface="Arial"/>
                <a:cs typeface="Arial"/>
              </a:rPr>
              <a:t> </a:t>
            </a:r>
            <a:r>
              <a:rPr dirty="0" sz="1100" spc="-5">
                <a:latin typeface="Arial"/>
                <a:cs typeface="Arial"/>
              </a:rPr>
              <a:t>according</a:t>
            </a:r>
            <a:r>
              <a:rPr dirty="0" sz="1100" spc="40">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which</a:t>
            </a:r>
            <a:r>
              <a:rPr dirty="0" sz="1100" spc="40">
                <a:latin typeface="Arial"/>
                <a:cs typeface="Arial"/>
              </a:rPr>
              <a:t> </a:t>
            </a:r>
            <a:r>
              <a:rPr dirty="0" sz="1100" spc="-5">
                <a:latin typeface="Arial"/>
                <a:cs typeface="Arial"/>
              </a:rPr>
              <a:t>a</a:t>
            </a:r>
            <a:r>
              <a:rPr dirty="0" sz="1100" spc="40">
                <a:latin typeface="Arial"/>
                <a:cs typeface="Arial"/>
              </a:rPr>
              <a:t> </a:t>
            </a:r>
            <a:r>
              <a:rPr dirty="0" sz="1100" spc="-5">
                <a:latin typeface="Arial"/>
                <a:cs typeface="Arial"/>
              </a:rPr>
              <a:t>country</a:t>
            </a:r>
            <a:r>
              <a:rPr dirty="0" sz="1100" spc="40">
                <a:latin typeface="Arial"/>
                <a:cs typeface="Arial"/>
              </a:rPr>
              <a:t> </a:t>
            </a:r>
            <a:r>
              <a:rPr dirty="0" sz="1100" spc="-5">
                <a:latin typeface="Arial"/>
                <a:cs typeface="Arial"/>
              </a:rPr>
              <a:t>passes</a:t>
            </a:r>
            <a:r>
              <a:rPr dirty="0" sz="1100" spc="40">
                <a:latin typeface="Arial"/>
                <a:cs typeface="Arial"/>
              </a:rPr>
              <a:t> </a:t>
            </a:r>
            <a:r>
              <a:rPr dirty="0" sz="1100" spc="-5">
                <a:latin typeface="Arial"/>
                <a:cs typeface="Arial"/>
              </a:rPr>
              <a:t>through</a:t>
            </a:r>
            <a:endParaRPr sz="1100">
              <a:latin typeface="Arial"/>
              <a:cs typeface="Arial"/>
            </a:endParaRPr>
          </a:p>
          <a:p>
            <a:pPr marL="12700">
              <a:lnSpc>
                <a:spcPts val="1235"/>
              </a:lnSpc>
            </a:pPr>
            <a:r>
              <a:rPr dirty="0" sz="1100" spc="-5">
                <a:latin typeface="Arial"/>
                <a:cs typeface="Arial"/>
              </a:rPr>
              <a:t>sequential stages in achieving</a:t>
            </a:r>
            <a:r>
              <a:rPr dirty="0" sz="1100" spc="10">
                <a:latin typeface="Arial"/>
                <a:cs typeface="Arial"/>
              </a:rPr>
              <a:t> </a:t>
            </a:r>
            <a:r>
              <a:rPr dirty="0" sz="1100" spc="-5">
                <a:latin typeface="Arial"/>
                <a:cs typeface="Arial"/>
              </a:rPr>
              <a:t>development.</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a:latin typeface="Arial"/>
                <a:cs typeface="Arial"/>
              </a:rPr>
              <a:t>Countries can be placed in one of five categories in terms of its stage of</a:t>
            </a:r>
            <a:r>
              <a:rPr dirty="0" sz="1100" spc="114">
                <a:latin typeface="Arial"/>
                <a:cs typeface="Arial"/>
              </a:rPr>
              <a:t> </a:t>
            </a:r>
            <a:r>
              <a:rPr dirty="0" sz="1100" spc="-5">
                <a:latin typeface="Arial"/>
                <a:cs typeface="Arial"/>
              </a:rPr>
              <a:t>growth:</a:t>
            </a:r>
            <a:endParaRPr sz="1100">
              <a:latin typeface="Arial"/>
              <a:cs typeface="Arial"/>
            </a:endParaRPr>
          </a:p>
          <a:p>
            <a:pPr>
              <a:lnSpc>
                <a:spcPct val="100000"/>
              </a:lnSpc>
              <a:spcBef>
                <a:spcPts val="10"/>
              </a:spcBef>
            </a:pPr>
            <a:endParaRPr sz="1050">
              <a:latin typeface="Arial"/>
              <a:cs typeface="Arial"/>
            </a:endParaRPr>
          </a:p>
          <a:p>
            <a:pPr marL="240665" indent="-228600">
              <a:lnSpc>
                <a:spcPct val="100000"/>
              </a:lnSpc>
              <a:buAutoNum type="arabicPeriod"/>
              <a:tabLst>
                <a:tab pos="241300" algn="l"/>
              </a:tabLst>
            </a:pPr>
            <a:r>
              <a:rPr dirty="0" sz="1100" spc="-5" b="1">
                <a:latin typeface="Arial"/>
                <a:cs typeface="Arial"/>
              </a:rPr>
              <a:t>TRADITIONAL SOCIETY</a:t>
            </a:r>
            <a:endParaRPr sz="1100">
              <a:latin typeface="Arial"/>
              <a:cs typeface="Arial"/>
            </a:endParaRPr>
          </a:p>
          <a:p>
            <a:pPr>
              <a:lnSpc>
                <a:spcPct val="100000"/>
              </a:lnSpc>
              <a:spcBef>
                <a:spcPts val="50"/>
              </a:spcBef>
              <a:buFont typeface="Arial"/>
              <a:buAutoNum type="arabicPeriod"/>
            </a:pPr>
            <a:endParaRPr sz="1100">
              <a:latin typeface="Arial"/>
              <a:cs typeface="Arial"/>
            </a:endParaRPr>
          </a:p>
          <a:p>
            <a:pPr marL="12700">
              <a:lnSpc>
                <a:spcPct val="100000"/>
              </a:lnSpc>
            </a:pPr>
            <a:r>
              <a:rPr dirty="0" sz="1100" spc="-5">
                <a:latin typeface="Arial"/>
                <a:cs typeface="Arial"/>
              </a:rPr>
              <a:t>This stage is characterized</a:t>
            </a:r>
            <a:r>
              <a:rPr dirty="0" sz="1100" spc="10">
                <a:latin typeface="Arial"/>
                <a:cs typeface="Arial"/>
              </a:rPr>
              <a:t> </a:t>
            </a:r>
            <a:r>
              <a:rPr dirty="0" sz="1100" spc="-5">
                <a:latin typeface="Arial"/>
                <a:cs typeface="Arial"/>
              </a:rPr>
              <a:t>by:</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Subsistence economy – output not traded or</a:t>
            </a:r>
            <a:r>
              <a:rPr dirty="0" sz="1100" spc="35">
                <a:latin typeface="Arial"/>
                <a:cs typeface="Arial"/>
              </a:rPr>
              <a:t> </a:t>
            </a:r>
            <a:r>
              <a:rPr dirty="0" sz="1100" spc="-5">
                <a:latin typeface="Arial"/>
                <a:cs typeface="Arial"/>
              </a:rPr>
              <a:t>recorded.</a:t>
            </a:r>
            <a:endParaRPr sz="1100">
              <a:latin typeface="Arial"/>
              <a:cs typeface="Arial"/>
            </a:endParaRPr>
          </a:p>
          <a:p>
            <a:pPr lvl="1" marL="469900" indent="-229235">
              <a:lnSpc>
                <a:spcPct val="100000"/>
              </a:lnSpc>
              <a:spcBef>
                <a:spcPts val="15"/>
              </a:spcBef>
              <a:buFont typeface="Symbol"/>
              <a:buChar char=""/>
              <a:tabLst>
                <a:tab pos="469265" algn="l"/>
                <a:tab pos="470534" algn="l"/>
              </a:tabLst>
            </a:pPr>
            <a:r>
              <a:rPr dirty="0" sz="1100" spc="-5">
                <a:latin typeface="Arial"/>
                <a:cs typeface="Arial"/>
              </a:rPr>
              <a:t>Existence of</a:t>
            </a:r>
            <a:r>
              <a:rPr dirty="0" sz="1100">
                <a:latin typeface="Arial"/>
                <a:cs typeface="Arial"/>
              </a:rPr>
              <a:t> </a:t>
            </a:r>
            <a:r>
              <a:rPr dirty="0" sz="1100" spc="-5">
                <a:latin typeface="Arial"/>
                <a:cs typeface="Arial"/>
              </a:rPr>
              <a:t>barter.</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High levels of agriculture and labor intensive</a:t>
            </a:r>
            <a:r>
              <a:rPr dirty="0" sz="1100" spc="40">
                <a:latin typeface="Arial"/>
                <a:cs typeface="Arial"/>
              </a:rPr>
              <a:t> </a:t>
            </a:r>
            <a:r>
              <a:rPr dirty="0" sz="1100" spc="-5">
                <a:latin typeface="Arial"/>
                <a:cs typeface="Arial"/>
              </a:rPr>
              <a:t>agriculture.</a:t>
            </a:r>
            <a:endParaRPr sz="1100">
              <a:latin typeface="Arial"/>
              <a:cs typeface="Arial"/>
            </a:endParaRPr>
          </a:p>
          <a:p>
            <a:pPr lvl="1">
              <a:lnSpc>
                <a:spcPct val="100000"/>
              </a:lnSpc>
              <a:spcBef>
                <a:spcPts val="5"/>
              </a:spcBef>
              <a:buFont typeface="Symbol"/>
              <a:buChar char=""/>
            </a:pPr>
            <a:endParaRPr sz="1050">
              <a:latin typeface="Arial"/>
              <a:cs typeface="Arial"/>
            </a:endParaRPr>
          </a:p>
          <a:p>
            <a:pPr marL="241300" indent="-229235">
              <a:lnSpc>
                <a:spcPct val="100000"/>
              </a:lnSpc>
              <a:buAutoNum type="arabicPeriod" startAt="2"/>
              <a:tabLst>
                <a:tab pos="241935" algn="l"/>
              </a:tabLst>
            </a:pPr>
            <a:r>
              <a:rPr dirty="0" sz="1100" spc="-5" b="1">
                <a:latin typeface="Arial"/>
                <a:cs typeface="Arial"/>
              </a:rPr>
              <a:t>PRE-CONDITIONS</a:t>
            </a:r>
            <a:endParaRPr sz="1100">
              <a:latin typeface="Arial"/>
              <a:cs typeface="Arial"/>
            </a:endParaRPr>
          </a:p>
          <a:p>
            <a:pPr>
              <a:lnSpc>
                <a:spcPct val="100000"/>
              </a:lnSpc>
              <a:spcBef>
                <a:spcPts val="55"/>
              </a:spcBef>
              <a:buFont typeface="Arial"/>
              <a:buAutoNum type="arabicPeriod" startAt="2"/>
            </a:pPr>
            <a:endParaRPr sz="1100">
              <a:latin typeface="Arial"/>
              <a:cs typeface="Arial"/>
            </a:endParaRPr>
          </a:p>
          <a:p>
            <a:pPr marL="12700">
              <a:lnSpc>
                <a:spcPct val="100000"/>
              </a:lnSpc>
            </a:pPr>
            <a:r>
              <a:rPr dirty="0" sz="1100" spc="-5">
                <a:latin typeface="Arial"/>
                <a:cs typeface="Arial"/>
              </a:rPr>
              <a:t>This stage is characterized</a:t>
            </a:r>
            <a:r>
              <a:rPr dirty="0" sz="1100" spc="10">
                <a:latin typeface="Arial"/>
                <a:cs typeface="Arial"/>
              </a:rPr>
              <a:t> </a:t>
            </a:r>
            <a:r>
              <a:rPr dirty="0" sz="1100" spc="-5">
                <a:latin typeface="Arial"/>
                <a:cs typeface="Arial"/>
              </a:rPr>
              <a:t>by:</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Development of mining</a:t>
            </a:r>
            <a:r>
              <a:rPr dirty="0" sz="1100" spc="10">
                <a:latin typeface="Arial"/>
                <a:cs typeface="Arial"/>
              </a:rPr>
              <a:t> </a:t>
            </a:r>
            <a:r>
              <a:rPr dirty="0" sz="1100" spc="-5">
                <a:latin typeface="Arial"/>
                <a:cs typeface="Arial"/>
              </a:rPr>
              <a:t>industries.</a:t>
            </a:r>
            <a:endParaRPr sz="1100">
              <a:latin typeface="Arial"/>
              <a:cs typeface="Arial"/>
            </a:endParaRPr>
          </a:p>
          <a:p>
            <a:pPr lvl="1" marL="469900" indent="-229235">
              <a:lnSpc>
                <a:spcPct val="100000"/>
              </a:lnSpc>
              <a:spcBef>
                <a:spcPts val="15"/>
              </a:spcBef>
              <a:buFont typeface="Symbol"/>
              <a:buChar char=""/>
              <a:tabLst>
                <a:tab pos="469265" algn="l"/>
                <a:tab pos="470534" algn="l"/>
              </a:tabLst>
            </a:pPr>
            <a:r>
              <a:rPr dirty="0" sz="1100" spc="-5">
                <a:latin typeface="Arial"/>
                <a:cs typeface="Arial"/>
              </a:rPr>
              <a:t>Increase in capital use in</a:t>
            </a:r>
            <a:r>
              <a:rPr dirty="0" sz="1100" spc="15">
                <a:latin typeface="Arial"/>
                <a:cs typeface="Arial"/>
              </a:rPr>
              <a:t> </a:t>
            </a:r>
            <a:r>
              <a:rPr dirty="0" sz="1100" spc="-5">
                <a:latin typeface="Arial"/>
                <a:cs typeface="Arial"/>
              </a:rPr>
              <a:t>agriculture.</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Necessity of external</a:t>
            </a:r>
            <a:r>
              <a:rPr dirty="0" sz="1100" spc="5">
                <a:latin typeface="Arial"/>
                <a:cs typeface="Arial"/>
              </a:rPr>
              <a:t> </a:t>
            </a:r>
            <a:r>
              <a:rPr dirty="0" sz="1100" spc="-5">
                <a:latin typeface="Arial"/>
                <a:cs typeface="Arial"/>
              </a:rPr>
              <a:t>funding.</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Some growth in savings and</a:t>
            </a:r>
            <a:r>
              <a:rPr dirty="0" sz="1100" spc="15">
                <a:latin typeface="Arial"/>
                <a:cs typeface="Arial"/>
              </a:rPr>
              <a:t> </a:t>
            </a:r>
            <a:r>
              <a:rPr dirty="0" sz="1100" spc="-5">
                <a:latin typeface="Arial"/>
                <a:cs typeface="Arial"/>
              </a:rPr>
              <a:t>investment.</a:t>
            </a:r>
            <a:endParaRPr sz="1100">
              <a:latin typeface="Arial"/>
              <a:cs typeface="Arial"/>
            </a:endParaRPr>
          </a:p>
          <a:p>
            <a:pPr lvl="1">
              <a:lnSpc>
                <a:spcPct val="100000"/>
              </a:lnSpc>
              <a:buFont typeface="Symbol"/>
              <a:buChar char=""/>
            </a:pPr>
            <a:endParaRPr sz="1050">
              <a:latin typeface="Arial"/>
              <a:cs typeface="Arial"/>
            </a:endParaRPr>
          </a:p>
          <a:p>
            <a:pPr marL="240665" indent="-228600">
              <a:lnSpc>
                <a:spcPct val="100000"/>
              </a:lnSpc>
              <a:spcBef>
                <a:spcPts val="5"/>
              </a:spcBef>
              <a:buAutoNum type="arabicPeriod" startAt="3"/>
              <a:tabLst>
                <a:tab pos="241300" algn="l"/>
              </a:tabLst>
            </a:pPr>
            <a:r>
              <a:rPr dirty="0" sz="1100" spc="-5" b="1">
                <a:latin typeface="Arial"/>
                <a:cs typeface="Arial"/>
              </a:rPr>
              <a:t>TAKE</a:t>
            </a:r>
            <a:r>
              <a:rPr dirty="0" sz="1100" b="1">
                <a:latin typeface="Arial"/>
                <a:cs typeface="Arial"/>
              </a:rPr>
              <a:t> </a:t>
            </a:r>
            <a:r>
              <a:rPr dirty="0" sz="1100" spc="-5" b="1">
                <a:latin typeface="Arial"/>
                <a:cs typeface="Arial"/>
              </a:rPr>
              <a:t>OFF</a:t>
            </a:r>
            <a:endParaRPr sz="1100">
              <a:latin typeface="Arial"/>
              <a:cs typeface="Arial"/>
            </a:endParaRPr>
          </a:p>
          <a:p>
            <a:pPr>
              <a:lnSpc>
                <a:spcPct val="100000"/>
              </a:lnSpc>
              <a:spcBef>
                <a:spcPts val="45"/>
              </a:spcBef>
              <a:buFont typeface="Arial"/>
              <a:buAutoNum type="arabicPeriod" startAt="3"/>
            </a:pPr>
            <a:endParaRPr sz="1100">
              <a:latin typeface="Arial"/>
              <a:cs typeface="Arial"/>
            </a:endParaRPr>
          </a:p>
          <a:p>
            <a:pPr marL="12700">
              <a:lnSpc>
                <a:spcPct val="100000"/>
              </a:lnSpc>
            </a:pPr>
            <a:r>
              <a:rPr dirty="0" sz="1100" spc="-5">
                <a:latin typeface="Arial"/>
                <a:cs typeface="Arial"/>
              </a:rPr>
              <a:t>This stage is characterized</a:t>
            </a:r>
            <a:r>
              <a:rPr dirty="0" sz="1100" spc="10">
                <a:latin typeface="Arial"/>
                <a:cs typeface="Arial"/>
              </a:rPr>
              <a:t> </a:t>
            </a:r>
            <a:r>
              <a:rPr dirty="0" sz="1100" spc="-5">
                <a:latin typeface="Arial"/>
                <a:cs typeface="Arial"/>
              </a:rPr>
              <a:t>by:</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Increasing industrialization.</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Further growth in savings and</a:t>
            </a:r>
            <a:r>
              <a:rPr dirty="0" sz="1100" spc="20">
                <a:latin typeface="Arial"/>
                <a:cs typeface="Arial"/>
              </a:rPr>
              <a:t> </a:t>
            </a:r>
            <a:r>
              <a:rPr dirty="0" sz="1100" spc="-5">
                <a:latin typeface="Arial"/>
                <a:cs typeface="Arial"/>
              </a:rPr>
              <a:t>investment.</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Some regional</a:t>
            </a:r>
            <a:r>
              <a:rPr dirty="0" sz="1100">
                <a:latin typeface="Arial"/>
                <a:cs typeface="Arial"/>
              </a:rPr>
              <a:t> </a:t>
            </a:r>
            <a:r>
              <a:rPr dirty="0" sz="1100" spc="-5">
                <a:latin typeface="Arial"/>
                <a:cs typeface="Arial"/>
              </a:rPr>
              <a:t>growth.</a:t>
            </a:r>
            <a:endParaRPr sz="1100">
              <a:latin typeface="Arial"/>
              <a:cs typeface="Arial"/>
            </a:endParaRPr>
          </a:p>
          <a:p>
            <a:pPr lvl="1" marL="469900" indent="-229235">
              <a:lnSpc>
                <a:spcPct val="100000"/>
              </a:lnSpc>
              <a:spcBef>
                <a:spcPts val="15"/>
              </a:spcBef>
              <a:buFont typeface="Symbol"/>
              <a:buChar char=""/>
              <a:tabLst>
                <a:tab pos="469265" algn="l"/>
                <a:tab pos="470534" algn="l"/>
              </a:tabLst>
            </a:pPr>
            <a:r>
              <a:rPr dirty="0" sz="1100" spc="-5">
                <a:latin typeface="Arial"/>
                <a:cs typeface="Arial"/>
              </a:rPr>
              <a:t>Number employed in agriculture</a:t>
            </a:r>
            <a:r>
              <a:rPr dirty="0" sz="1100" spc="15">
                <a:latin typeface="Arial"/>
                <a:cs typeface="Arial"/>
              </a:rPr>
              <a:t> </a:t>
            </a:r>
            <a:r>
              <a:rPr dirty="0" sz="1100" spc="-5">
                <a:latin typeface="Arial"/>
                <a:cs typeface="Arial"/>
              </a:rPr>
              <a:t>declines.</a:t>
            </a:r>
            <a:endParaRPr sz="1100">
              <a:latin typeface="Arial"/>
              <a:cs typeface="Arial"/>
            </a:endParaRPr>
          </a:p>
          <a:p>
            <a:pPr lvl="1">
              <a:lnSpc>
                <a:spcPct val="100000"/>
              </a:lnSpc>
              <a:spcBef>
                <a:spcPts val="5"/>
              </a:spcBef>
              <a:buFont typeface="Symbol"/>
              <a:buChar char=""/>
            </a:pPr>
            <a:endParaRPr sz="1050">
              <a:latin typeface="Arial"/>
              <a:cs typeface="Arial"/>
            </a:endParaRPr>
          </a:p>
          <a:p>
            <a:pPr marL="240665" indent="-228600">
              <a:lnSpc>
                <a:spcPct val="100000"/>
              </a:lnSpc>
              <a:buAutoNum type="arabicPeriod" startAt="4"/>
              <a:tabLst>
                <a:tab pos="241300" algn="l"/>
              </a:tabLst>
            </a:pPr>
            <a:r>
              <a:rPr dirty="0" sz="1100" spc="-5" b="1">
                <a:latin typeface="Arial"/>
                <a:cs typeface="Arial"/>
              </a:rPr>
              <a:t>DRIVE </a:t>
            </a:r>
            <a:r>
              <a:rPr dirty="0" sz="1100" b="1">
                <a:latin typeface="Arial"/>
                <a:cs typeface="Arial"/>
              </a:rPr>
              <a:t>TO</a:t>
            </a:r>
            <a:r>
              <a:rPr dirty="0" sz="1100" spc="-45" b="1">
                <a:latin typeface="Arial"/>
                <a:cs typeface="Arial"/>
              </a:rPr>
              <a:t> </a:t>
            </a:r>
            <a:r>
              <a:rPr dirty="0" sz="1100" spc="-5" b="1">
                <a:latin typeface="Arial"/>
                <a:cs typeface="Arial"/>
              </a:rPr>
              <a:t>MATURITY</a:t>
            </a:r>
            <a:endParaRPr sz="1100">
              <a:latin typeface="Arial"/>
              <a:cs typeface="Arial"/>
            </a:endParaRPr>
          </a:p>
          <a:p>
            <a:pPr>
              <a:lnSpc>
                <a:spcPct val="100000"/>
              </a:lnSpc>
              <a:spcBef>
                <a:spcPts val="50"/>
              </a:spcBef>
              <a:buFont typeface="Arial"/>
              <a:buAutoNum type="arabicPeriod" startAt="4"/>
            </a:pPr>
            <a:endParaRPr sz="1100">
              <a:latin typeface="Arial"/>
              <a:cs typeface="Arial"/>
            </a:endParaRPr>
          </a:p>
          <a:p>
            <a:pPr marL="12700">
              <a:lnSpc>
                <a:spcPct val="100000"/>
              </a:lnSpc>
            </a:pPr>
            <a:r>
              <a:rPr dirty="0" sz="1100" spc="-5">
                <a:latin typeface="Arial"/>
                <a:cs typeface="Arial"/>
              </a:rPr>
              <a:t>This stage is characterized</a:t>
            </a:r>
            <a:r>
              <a:rPr dirty="0" sz="1100" spc="20">
                <a:latin typeface="Arial"/>
                <a:cs typeface="Arial"/>
              </a:rPr>
              <a:t> </a:t>
            </a:r>
            <a:r>
              <a:rPr dirty="0" sz="1100" spc="-5">
                <a:latin typeface="Arial"/>
                <a:cs typeface="Arial"/>
              </a:rPr>
              <a:t>by:</a:t>
            </a:r>
            <a:endParaRPr sz="1100">
              <a:latin typeface="Arial"/>
              <a:cs typeface="Arial"/>
            </a:endParaRPr>
          </a:p>
          <a:p>
            <a:pPr lvl="1" marL="469900" marR="5080" indent="-228600">
              <a:lnSpc>
                <a:spcPts val="1260"/>
              </a:lnSpc>
              <a:spcBef>
                <a:spcPts val="114"/>
              </a:spcBef>
              <a:buFont typeface="Symbol"/>
              <a:buChar char=""/>
              <a:tabLst>
                <a:tab pos="469265" algn="l"/>
                <a:tab pos="470534" algn="l"/>
              </a:tabLst>
            </a:pPr>
            <a:r>
              <a:rPr dirty="0" sz="1100" spc="-5">
                <a:latin typeface="Arial"/>
                <a:cs typeface="Arial"/>
              </a:rPr>
              <a:t>Growth becomes self-sustaining – wealth generation enables further investment in value  adding industry and</a:t>
            </a:r>
            <a:r>
              <a:rPr dirty="0" sz="1100" spc="10">
                <a:latin typeface="Arial"/>
                <a:cs typeface="Arial"/>
              </a:rPr>
              <a:t> </a:t>
            </a:r>
            <a:r>
              <a:rPr dirty="0" sz="1100" spc="-5">
                <a:latin typeface="Arial"/>
                <a:cs typeface="Arial"/>
              </a:rPr>
              <a:t>development.</a:t>
            </a:r>
            <a:endParaRPr sz="1100">
              <a:latin typeface="Arial"/>
              <a:cs typeface="Arial"/>
            </a:endParaRPr>
          </a:p>
          <a:p>
            <a:pPr lvl="1" marL="469900" indent="-229235">
              <a:lnSpc>
                <a:spcPts val="1310"/>
              </a:lnSpc>
              <a:buFont typeface="Symbol"/>
              <a:buChar char=""/>
              <a:tabLst>
                <a:tab pos="469265" algn="l"/>
                <a:tab pos="470534" algn="l"/>
              </a:tabLst>
            </a:pPr>
            <a:r>
              <a:rPr dirty="0" sz="1100" spc="-5">
                <a:latin typeface="Arial"/>
                <a:cs typeface="Arial"/>
              </a:rPr>
              <a:t>Industry more</a:t>
            </a:r>
            <a:r>
              <a:rPr dirty="0" sz="1100">
                <a:latin typeface="Arial"/>
                <a:cs typeface="Arial"/>
              </a:rPr>
              <a:t> </a:t>
            </a:r>
            <a:r>
              <a:rPr dirty="0" sz="1100" spc="-5">
                <a:latin typeface="Arial"/>
                <a:cs typeface="Arial"/>
              </a:rPr>
              <a:t>diversified.</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Increase in levels of technology</a:t>
            </a:r>
            <a:r>
              <a:rPr dirty="0" sz="1100" spc="15">
                <a:latin typeface="Arial"/>
                <a:cs typeface="Arial"/>
              </a:rPr>
              <a:t> </a:t>
            </a:r>
            <a:r>
              <a:rPr dirty="0" sz="1100" spc="-5">
                <a:latin typeface="Arial"/>
                <a:cs typeface="Arial"/>
              </a:rPr>
              <a:t>utilized.</a:t>
            </a:r>
            <a:endParaRPr sz="1100">
              <a:latin typeface="Arial"/>
              <a:cs typeface="Arial"/>
            </a:endParaRPr>
          </a:p>
          <a:p>
            <a:pPr lvl="1">
              <a:lnSpc>
                <a:spcPct val="100000"/>
              </a:lnSpc>
              <a:spcBef>
                <a:spcPts val="5"/>
              </a:spcBef>
              <a:buFont typeface="Symbol"/>
              <a:buChar char=""/>
            </a:pPr>
            <a:endParaRPr sz="1050">
              <a:latin typeface="Arial"/>
              <a:cs typeface="Arial"/>
            </a:endParaRPr>
          </a:p>
          <a:p>
            <a:pPr marL="240665" indent="-228600">
              <a:lnSpc>
                <a:spcPct val="100000"/>
              </a:lnSpc>
              <a:buAutoNum type="arabicPeriod" startAt="5"/>
              <a:tabLst>
                <a:tab pos="241300" algn="l"/>
              </a:tabLst>
            </a:pPr>
            <a:r>
              <a:rPr dirty="0" sz="1100" spc="-5" b="1">
                <a:latin typeface="Arial"/>
                <a:cs typeface="Arial"/>
              </a:rPr>
              <a:t>HIGH MASS</a:t>
            </a:r>
            <a:r>
              <a:rPr dirty="0" sz="1100" spc="5" b="1">
                <a:latin typeface="Arial"/>
                <a:cs typeface="Arial"/>
              </a:rPr>
              <a:t> </a:t>
            </a:r>
            <a:r>
              <a:rPr dirty="0" sz="1100" spc="-5" b="1">
                <a:latin typeface="Arial"/>
                <a:cs typeface="Arial"/>
              </a:rPr>
              <a:t>CONSUMPTION</a:t>
            </a:r>
            <a:endParaRPr sz="1100">
              <a:latin typeface="Arial"/>
              <a:cs typeface="Arial"/>
            </a:endParaRPr>
          </a:p>
          <a:p>
            <a:pPr>
              <a:lnSpc>
                <a:spcPct val="100000"/>
              </a:lnSpc>
              <a:spcBef>
                <a:spcPts val="55"/>
              </a:spcBef>
              <a:buFont typeface="Arial"/>
              <a:buAutoNum type="arabicPeriod" startAt="5"/>
            </a:pPr>
            <a:endParaRPr sz="1100">
              <a:latin typeface="Arial"/>
              <a:cs typeface="Arial"/>
            </a:endParaRPr>
          </a:p>
          <a:p>
            <a:pPr marL="12700">
              <a:lnSpc>
                <a:spcPct val="100000"/>
              </a:lnSpc>
            </a:pPr>
            <a:r>
              <a:rPr dirty="0" sz="1100" spc="-5">
                <a:latin typeface="Arial"/>
                <a:cs typeface="Arial"/>
              </a:rPr>
              <a:t>This stage is characterized</a:t>
            </a:r>
            <a:r>
              <a:rPr dirty="0" sz="1100" spc="10">
                <a:latin typeface="Arial"/>
                <a:cs typeface="Arial"/>
              </a:rPr>
              <a:t> </a:t>
            </a:r>
            <a:r>
              <a:rPr dirty="0" sz="1100" spc="-5">
                <a:latin typeface="Arial"/>
                <a:cs typeface="Arial"/>
              </a:rPr>
              <a:t>by:</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High output</a:t>
            </a:r>
            <a:r>
              <a:rPr dirty="0" sz="1100">
                <a:latin typeface="Arial"/>
                <a:cs typeface="Arial"/>
              </a:rPr>
              <a:t> </a:t>
            </a:r>
            <a:r>
              <a:rPr dirty="0" sz="1100" spc="-5">
                <a:latin typeface="Arial"/>
                <a:cs typeface="Arial"/>
              </a:rPr>
              <a:t>levels.</a:t>
            </a:r>
            <a:endParaRPr sz="1100">
              <a:latin typeface="Arial"/>
              <a:cs typeface="Arial"/>
            </a:endParaRPr>
          </a:p>
          <a:p>
            <a:pPr lvl="1" marL="469900" indent="-229235">
              <a:lnSpc>
                <a:spcPct val="100000"/>
              </a:lnSpc>
              <a:spcBef>
                <a:spcPts val="15"/>
              </a:spcBef>
              <a:buFont typeface="Symbol"/>
              <a:buChar char=""/>
              <a:tabLst>
                <a:tab pos="469265" algn="l"/>
                <a:tab pos="470534" algn="l"/>
              </a:tabLst>
            </a:pPr>
            <a:r>
              <a:rPr dirty="0" sz="1100" spc="-5">
                <a:latin typeface="Arial"/>
                <a:cs typeface="Arial"/>
              </a:rPr>
              <a:t>Mass consumption of consumer</a:t>
            </a:r>
            <a:r>
              <a:rPr dirty="0" sz="1100" spc="15">
                <a:latin typeface="Arial"/>
                <a:cs typeface="Arial"/>
              </a:rPr>
              <a:t> </a:t>
            </a:r>
            <a:r>
              <a:rPr dirty="0" sz="1100" spc="-5">
                <a:latin typeface="Arial"/>
                <a:cs typeface="Arial"/>
              </a:rPr>
              <a:t>durables.</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High proportion of employment in service</a:t>
            </a:r>
            <a:r>
              <a:rPr dirty="0" sz="1100" spc="30">
                <a:latin typeface="Arial"/>
                <a:cs typeface="Arial"/>
              </a:rPr>
              <a:t> </a:t>
            </a:r>
            <a:r>
              <a:rPr dirty="0" sz="1100" spc="-5">
                <a:latin typeface="Arial"/>
                <a:cs typeface="Arial"/>
              </a:rPr>
              <a:t>sector.</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5" b="1">
                <a:latin typeface="Arial"/>
                <a:cs typeface="Arial"/>
              </a:rPr>
              <a:t>CRITICISMS</a:t>
            </a:r>
            <a:endParaRPr sz="1100">
              <a:latin typeface="Arial"/>
              <a:cs typeface="Arial"/>
            </a:endParaRPr>
          </a:p>
          <a:p>
            <a:pPr>
              <a:lnSpc>
                <a:spcPct val="100000"/>
              </a:lnSpc>
              <a:spcBef>
                <a:spcPts val="55"/>
              </a:spcBef>
            </a:pPr>
            <a:endParaRPr sz="1100">
              <a:latin typeface="Arial"/>
              <a:cs typeface="Arial"/>
            </a:endParaRPr>
          </a:p>
          <a:p>
            <a:pPr marL="241300">
              <a:lnSpc>
                <a:spcPct val="100000"/>
              </a:lnSpc>
              <a:tabLst>
                <a:tab pos="469265" algn="l"/>
              </a:tabLst>
            </a:pPr>
            <a:r>
              <a:rPr dirty="0" sz="1100" spc="-5">
                <a:latin typeface="Arial"/>
                <a:cs typeface="Arial"/>
              </a:rPr>
              <a:t>–	Too simplistic.</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33</a:t>
            </a:r>
            <a:endParaRPr sz="1100">
              <a:latin typeface="Carlito"/>
              <a:cs typeface="Carli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1130300" y="891794"/>
            <a:ext cx="5741035" cy="1317625"/>
          </a:xfrm>
          <a:prstGeom prst="rect">
            <a:avLst/>
          </a:prstGeom>
        </p:spPr>
        <p:txBody>
          <a:bodyPr wrap="square" lIns="0" tIns="22860" rIns="0" bIns="0" rtlCol="0" vert="horz">
            <a:spAutoFit/>
          </a:bodyPr>
          <a:lstStyle/>
          <a:p>
            <a:pPr marL="240665" marR="5080" indent="-228600">
              <a:lnSpc>
                <a:spcPts val="1270"/>
              </a:lnSpc>
              <a:spcBef>
                <a:spcPts val="180"/>
              </a:spcBef>
              <a:buChar char="–"/>
              <a:tabLst>
                <a:tab pos="240665" algn="l"/>
                <a:tab pos="241300" algn="l"/>
              </a:tabLst>
            </a:pPr>
            <a:r>
              <a:rPr dirty="0" sz="1100" spc="-5">
                <a:latin typeface="Arial"/>
                <a:cs typeface="Arial"/>
              </a:rPr>
              <a:t>Necessity of a financial infrastructure to channel any savings that are made into  investment.</a:t>
            </a:r>
            <a:endParaRPr sz="1100">
              <a:latin typeface="Arial"/>
              <a:cs typeface="Arial"/>
            </a:endParaRPr>
          </a:p>
          <a:p>
            <a:pPr marL="240665" indent="-228600">
              <a:lnSpc>
                <a:spcPts val="1200"/>
              </a:lnSpc>
              <a:buChar char="–"/>
              <a:tabLst>
                <a:tab pos="240665" algn="l"/>
                <a:tab pos="241300" algn="l"/>
              </a:tabLst>
            </a:pPr>
            <a:r>
              <a:rPr dirty="0" sz="1100" spc="-5">
                <a:latin typeface="Arial"/>
                <a:cs typeface="Arial"/>
              </a:rPr>
              <a:t>Will such investment yield growth? Not</a:t>
            </a:r>
            <a:r>
              <a:rPr dirty="0" sz="1100" spc="30">
                <a:latin typeface="Arial"/>
                <a:cs typeface="Arial"/>
              </a:rPr>
              <a:t> </a:t>
            </a:r>
            <a:r>
              <a:rPr dirty="0" sz="1100" spc="-5">
                <a:latin typeface="Arial"/>
                <a:cs typeface="Arial"/>
              </a:rPr>
              <a:t>necessarily.</a:t>
            </a:r>
            <a:endParaRPr sz="1100">
              <a:latin typeface="Arial"/>
              <a:cs typeface="Arial"/>
            </a:endParaRPr>
          </a:p>
          <a:p>
            <a:pPr marL="240665" marR="6350" indent="-228600">
              <a:lnSpc>
                <a:spcPts val="1270"/>
              </a:lnSpc>
              <a:spcBef>
                <a:spcPts val="55"/>
              </a:spcBef>
              <a:buChar char="–"/>
              <a:tabLst>
                <a:tab pos="240665" algn="l"/>
                <a:tab pos="241300" algn="l"/>
              </a:tabLst>
            </a:pPr>
            <a:r>
              <a:rPr dirty="0" sz="1100" spc="-5">
                <a:latin typeface="Arial"/>
                <a:cs typeface="Arial"/>
              </a:rPr>
              <a:t>Need for other infrastructure – human resources (education), roads, rail, and  communications networks.</a:t>
            </a:r>
            <a:endParaRPr sz="1100">
              <a:latin typeface="Arial"/>
              <a:cs typeface="Arial"/>
            </a:endParaRPr>
          </a:p>
          <a:p>
            <a:pPr marL="240665" indent="-228600">
              <a:lnSpc>
                <a:spcPts val="1200"/>
              </a:lnSpc>
              <a:buChar char="–"/>
              <a:tabLst>
                <a:tab pos="240665" algn="l"/>
                <a:tab pos="241300" algn="l"/>
              </a:tabLst>
            </a:pPr>
            <a:r>
              <a:rPr dirty="0" sz="1100" spc="-5">
                <a:latin typeface="Arial"/>
                <a:cs typeface="Arial"/>
              </a:rPr>
              <a:t>Efficiency of use of investment – in palaces or productive</a:t>
            </a:r>
            <a:r>
              <a:rPr dirty="0" sz="1100" spc="70">
                <a:latin typeface="Arial"/>
                <a:cs typeface="Arial"/>
              </a:rPr>
              <a:t> </a:t>
            </a:r>
            <a:r>
              <a:rPr dirty="0" sz="1100" spc="-5">
                <a:latin typeface="Arial"/>
                <a:cs typeface="Arial"/>
              </a:rPr>
              <a:t>activities?</a:t>
            </a:r>
            <a:endParaRPr sz="1100">
              <a:latin typeface="Arial"/>
              <a:cs typeface="Arial"/>
            </a:endParaRPr>
          </a:p>
          <a:p>
            <a:pPr marL="240665" marR="5080" indent="-228600">
              <a:lnSpc>
                <a:spcPts val="1270"/>
              </a:lnSpc>
              <a:spcBef>
                <a:spcPts val="55"/>
              </a:spcBef>
              <a:buChar char="–"/>
              <a:tabLst>
                <a:tab pos="240665" algn="l"/>
                <a:tab pos="241300" algn="l"/>
              </a:tabLst>
            </a:pPr>
            <a:r>
              <a:rPr dirty="0" sz="1100" spc="-5">
                <a:latin typeface="Arial"/>
                <a:cs typeface="Arial"/>
              </a:rPr>
              <a:t>Rostow argued economies would learn from one another and reduce the time taken to  develop – has this</a:t>
            </a:r>
            <a:r>
              <a:rPr dirty="0" sz="1100" spc="10">
                <a:latin typeface="Arial"/>
                <a:cs typeface="Arial"/>
              </a:rPr>
              <a:t> </a:t>
            </a:r>
            <a:r>
              <a:rPr dirty="0" sz="1100" spc="-5">
                <a:latin typeface="Arial"/>
                <a:cs typeface="Arial"/>
              </a:rPr>
              <a:t>happened?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34</a:t>
            </a:r>
            <a:endParaRPr sz="1100">
              <a:latin typeface="Carlito"/>
              <a:cs typeface="Carli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2141982" y="5813297"/>
            <a:ext cx="443483" cy="153162"/>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2370582" y="6499097"/>
            <a:ext cx="452628" cy="150113"/>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3704844" y="7162038"/>
            <a:ext cx="361950" cy="295656"/>
          </a:xfrm>
          <a:prstGeom prst="rect">
            <a:avLst/>
          </a:prstGeom>
          <a:blipFill>
            <a:blip r:embed="rId4" cstate="print"/>
            <a:stretch>
              <a:fillRect/>
            </a:stretch>
          </a:blipFill>
        </p:spPr>
        <p:txBody>
          <a:bodyPr wrap="square" lIns="0" tIns="0" rIns="0" bIns="0" rtlCol="0"/>
          <a:lstStyle/>
          <a:p/>
        </p:txBody>
      </p:sp>
      <p:sp>
        <p:nvSpPr>
          <p:cNvPr id="9" name="object 9"/>
          <p:cNvSpPr txBox="1"/>
          <p:nvPr/>
        </p:nvSpPr>
        <p:spPr>
          <a:xfrm>
            <a:off x="850906" y="891794"/>
            <a:ext cx="6071235" cy="6736080"/>
          </a:xfrm>
          <a:prstGeom prst="rect">
            <a:avLst/>
          </a:prstGeom>
        </p:spPr>
        <p:txBody>
          <a:bodyPr wrap="square" lIns="0" tIns="12065" rIns="0" bIns="0" rtlCol="0" vert="horz">
            <a:spAutoFit/>
          </a:bodyPr>
          <a:lstStyle/>
          <a:p>
            <a:pPr algn="r" marR="558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05</a:t>
            </a:r>
            <a:endParaRPr sz="1100">
              <a:latin typeface="Arial"/>
              <a:cs typeface="Arial"/>
            </a:endParaRPr>
          </a:p>
          <a:p>
            <a:pPr marL="62865" marR="247015" indent="188595">
              <a:lnSpc>
                <a:spcPct val="200500"/>
              </a:lnSpc>
              <a:spcBef>
                <a:spcPts val="5"/>
              </a:spcBef>
            </a:pPr>
            <a:r>
              <a:rPr dirty="0" sz="1100" spc="-5" b="1">
                <a:latin typeface="Arial"/>
                <a:cs typeface="Arial"/>
              </a:rPr>
              <a:t>CLASSIC THEORIES OF ECONOMIC </a:t>
            </a:r>
            <a:r>
              <a:rPr dirty="0" sz="1100" b="1">
                <a:latin typeface="Arial"/>
                <a:cs typeface="Arial"/>
              </a:rPr>
              <a:t>GROWTH AND </a:t>
            </a:r>
            <a:r>
              <a:rPr dirty="0" sz="1100" spc="-5" b="1">
                <a:latin typeface="Arial"/>
                <a:cs typeface="Arial"/>
              </a:rPr>
              <a:t>DEVELOPMENT (CONTINUED1)  THE HARROD-DOMAR GROWTH</a:t>
            </a:r>
            <a:r>
              <a:rPr dirty="0" sz="1100" spc="5" b="1">
                <a:latin typeface="Arial"/>
                <a:cs typeface="Arial"/>
              </a:rPr>
              <a:t> </a:t>
            </a:r>
            <a:r>
              <a:rPr dirty="0" sz="1100" spc="-10" b="1">
                <a:latin typeface="Arial"/>
                <a:cs typeface="Arial"/>
              </a:rPr>
              <a:t>MODEL</a:t>
            </a:r>
            <a:endParaRPr sz="1100">
              <a:latin typeface="Arial"/>
              <a:cs typeface="Arial"/>
            </a:endParaRPr>
          </a:p>
          <a:p>
            <a:pPr>
              <a:lnSpc>
                <a:spcPct val="100000"/>
              </a:lnSpc>
              <a:spcBef>
                <a:spcPts val="20"/>
              </a:spcBef>
            </a:pPr>
            <a:endParaRPr sz="1200">
              <a:latin typeface="Arial"/>
              <a:cs typeface="Arial"/>
            </a:endParaRPr>
          </a:p>
          <a:p>
            <a:pPr algn="just" marL="62865" marR="55880">
              <a:lnSpc>
                <a:spcPts val="1270"/>
              </a:lnSpc>
            </a:pPr>
            <a:r>
              <a:rPr dirty="0" sz="1100" spc="-5" b="1">
                <a:latin typeface="Arial"/>
                <a:cs typeface="Arial"/>
              </a:rPr>
              <a:t>Def: </a:t>
            </a:r>
            <a:r>
              <a:rPr dirty="0" sz="1100" spc="-5">
                <a:latin typeface="Arial"/>
                <a:cs typeface="Arial"/>
              </a:rPr>
              <a:t>“A functional economic relationship in which the growth rate of gross domestic product (g)  depends directly on the national net savings rate (s) and inversely on the national capital-output  ratio (c).”</a:t>
            </a:r>
            <a:endParaRPr sz="1100">
              <a:latin typeface="Arial"/>
              <a:cs typeface="Arial"/>
            </a:endParaRPr>
          </a:p>
          <a:p>
            <a:pPr>
              <a:lnSpc>
                <a:spcPct val="100000"/>
              </a:lnSpc>
              <a:spcBef>
                <a:spcPts val="15"/>
              </a:spcBef>
            </a:pPr>
            <a:endParaRPr sz="1050">
              <a:latin typeface="Arial"/>
              <a:cs typeface="Arial"/>
            </a:endParaRPr>
          </a:p>
          <a:p>
            <a:pPr algn="just" marL="62865" marR="55880">
              <a:lnSpc>
                <a:spcPct val="95800"/>
              </a:lnSpc>
              <a:spcBef>
                <a:spcPts val="5"/>
              </a:spcBef>
            </a:pPr>
            <a:r>
              <a:rPr dirty="0" sz="1100" spc="-5">
                <a:latin typeface="Arial"/>
                <a:cs typeface="Arial"/>
              </a:rPr>
              <a:t>Every economy must save a certain proportion of its national income, if only to replace worn-out  or impaired capital goods (buildings, equipment, and materials).However, in order to grow, new  investments representing net additions to the capital stock are necessary. If we assume that  there is some direct economic relationship between the size of the total capital stock, K, and  total GDP, Y—for example, if $3 of capital is always necessary to produce an annual$1 stream  of GDP—it follows that any net additions to the capital stock in the form of new investment will  bring about corresponding increases in the flow of national output,</a:t>
            </a:r>
            <a:r>
              <a:rPr dirty="0" sz="1100" spc="60">
                <a:latin typeface="Arial"/>
                <a:cs typeface="Arial"/>
              </a:rPr>
              <a:t> </a:t>
            </a:r>
            <a:r>
              <a:rPr dirty="0" sz="1100" spc="-5">
                <a:latin typeface="Arial"/>
                <a:cs typeface="Arial"/>
              </a:rPr>
              <a:t>GDP.</a:t>
            </a:r>
            <a:endParaRPr sz="1100">
              <a:latin typeface="Arial"/>
              <a:cs typeface="Arial"/>
            </a:endParaRPr>
          </a:p>
          <a:p>
            <a:pPr>
              <a:lnSpc>
                <a:spcPct val="100000"/>
              </a:lnSpc>
              <a:spcBef>
                <a:spcPts val="20"/>
              </a:spcBef>
            </a:pPr>
            <a:endParaRPr sz="1100">
              <a:latin typeface="Arial"/>
              <a:cs typeface="Arial"/>
            </a:endParaRPr>
          </a:p>
          <a:p>
            <a:pPr algn="just" marL="62865" marR="54610">
              <a:lnSpc>
                <a:spcPts val="1270"/>
              </a:lnSpc>
              <a:spcBef>
                <a:spcPts val="5"/>
              </a:spcBef>
            </a:pPr>
            <a:r>
              <a:rPr dirty="0" sz="1100" spc="-5">
                <a:latin typeface="Arial"/>
                <a:cs typeface="Arial"/>
              </a:rPr>
              <a:t>Suppose that this relationship, known in economics as the capital-output ratio, is roughly 3 to 1.  If we define the capital-output ratio as k and assume further that the national net savings ratio,  s, is a fixed proportion of national output (e.g., 6%) and that total new investment is determined  by the level of total savings, we can construct the following simple model of economic</a:t>
            </a:r>
            <a:r>
              <a:rPr dirty="0" sz="1100" spc="225">
                <a:latin typeface="Arial"/>
                <a:cs typeface="Arial"/>
              </a:rPr>
              <a:t> </a:t>
            </a:r>
            <a:r>
              <a:rPr dirty="0" sz="1100" spc="-5">
                <a:latin typeface="Arial"/>
                <a:cs typeface="Arial"/>
              </a:rPr>
              <a:t>growth:</a:t>
            </a:r>
            <a:endParaRPr sz="1100">
              <a:latin typeface="Arial"/>
              <a:cs typeface="Arial"/>
            </a:endParaRPr>
          </a:p>
          <a:p>
            <a:pPr>
              <a:lnSpc>
                <a:spcPct val="100000"/>
              </a:lnSpc>
              <a:spcBef>
                <a:spcPts val="5"/>
              </a:spcBef>
            </a:pPr>
            <a:endParaRPr sz="1150">
              <a:latin typeface="Arial"/>
              <a:cs typeface="Arial"/>
            </a:endParaRPr>
          </a:p>
          <a:p>
            <a:pPr marL="520065" marR="56515" indent="-228600">
              <a:lnSpc>
                <a:spcPts val="1260"/>
              </a:lnSpc>
              <a:buFont typeface="Symbol"/>
              <a:buChar char=""/>
              <a:tabLst>
                <a:tab pos="520065" algn="l"/>
                <a:tab pos="520700" algn="l"/>
              </a:tabLst>
            </a:pPr>
            <a:r>
              <a:rPr dirty="0" sz="1100" spc="-5" b="1">
                <a:latin typeface="Arial"/>
                <a:cs typeface="Arial"/>
              </a:rPr>
              <a:t>Capital-output ratio: </a:t>
            </a:r>
            <a:r>
              <a:rPr dirty="0" sz="1100" spc="-5">
                <a:latin typeface="Arial"/>
                <a:cs typeface="Arial"/>
              </a:rPr>
              <a:t>A ratio that shows the units of capital required to produce a unit </a:t>
            </a:r>
            <a:r>
              <a:rPr dirty="0" sz="1100">
                <a:latin typeface="Arial"/>
                <a:cs typeface="Arial"/>
              </a:rPr>
              <a:t>of  </a:t>
            </a:r>
            <a:r>
              <a:rPr dirty="0" sz="1100" spc="-5">
                <a:latin typeface="Arial"/>
                <a:cs typeface="Arial"/>
              </a:rPr>
              <a:t>output over a given period of</a:t>
            </a:r>
            <a:r>
              <a:rPr dirty="0" sz="1100" spc="25">
                <a:latin typeface="Arial"/>
                <a:cs typeface="Arial"/>
              </a:rPr>
              <a:t> </a:t>
            </a:r>
            <a:r>
              <a:rPr dirty="0" sz="1100" spc="-5">
                <a:latin typeface="Arial"/>
                <a:cs typeface="Arial"/>
              </a:rPr>
              <a:t>time.</a:t>
            </a:r>
            <a:endParaRPr sz="1100">
              <a:latin typeface="Arial"/>
              <a:cs typeface="Arial"/>
            </a:endParaRPr>
          </a:p>
          <a:p>
            <a:pPr marL="520065" marR="59055" indent="-228600">
              <a:lnSpc>
                <a:spcPts val="1260"/>
              </a:lnSpc>
              <a:spcBef>
                <a:spcPts val="85"/>
              </a:spcBef>
              <a:buFont typeface="Symbol"/>
              <a:buChar char=""/>
              <a:tabLst>
                <a:tab pos="520065" algn="l"/>
                <a:tab pos="520700" algn="l"/>
              </a:tabLst>
            </a:pPr>
            <a:r>
              <a:rPr dirty="0" sz="1100" spc="-5" b="1">
                <a:latin typeface="Arial"/>
                <a:cs typeface="Arial"/>
              </a:rPr>
              <a:t>Net savings ratio: </a:t>
            </a:r>
            <a:r>
              <a:rPr dirty="0" sz="1100" spc="-5">
                <a:latin typeface="Arial"/>
                <a:cs typeface="Arial"/>
              </a:rPr>
              <a:t>Savings expressed as a proportion of disposable income over some  period of</a:t>
            </a:r>
            <a:r>
              <a:rPr dirty="0" sz="1100">
                <a:latin typeface="Arial"/>
                <a:cs typeface="Arial"/>
              </a:rPr>
              <a:t> </a:t>
            </a:r>
            <a:r>
              <a:rPr dirty="0" sz="1100" spc="-5">
                <a:latin typeface="Arial"/>
                <a:cs typeface="Arial"/>
              </a:rPr>
              <a:t>time.</a:t>
            </a:r>
            <a:endParaRPr sz="1100">
              <a:latin typeface="Arial"/>
              <a:cs typeface="Arial"/>
            </a:endParaRPr>
          </a:p>
          <a:p>
            <a:pPr>
              <a:lnSpc>
                <a:spcPct val="100000"/>
              </a:lnSpc>
            </a:pPr>
            <a:endParaRPr sz="1100">
              <a:latin typeface="Arial"/>
              <a:cs typeface="Arial"/>
            </a:endParaRPr>
          </a:p>
          <a:p>
            <a:pPr marL="291465" marR="55880" indent="-228600">
              <a:lnSpc>
                <a:spcPts val="1270"/>
              </a:lnSpc>
              <a:buFont typeface="Arial"/>
              <a:buAutoNum type="arabicPeriod"/>
              <a:tabLst>
                <a:tab pos="292100" algn="l"/>
              </a:tabLst>
            </a:pPr>
            <a:r>
              <a:rPr dirty="0" sz="1100" spc="-5">
                <a:latin typeface="Arial"/>
                <a:cs typeface="Arial"/>
              </a:rPr>
              <a:t>Net saving (S) is some proportion, s, of national income </a:t>
            </a:r>
            <a:r>
              <a:rPr dirty="0" sz="1100" spc="-10">
                <a:latin typeface="Arial"/>
                <a:cs typeface="Arial"/>
              </a:rPr>
              <a:t>(Y) </a:t>
            </a:r>
            <a:r>
              <a:rPr dirty="0" sz="1100" spc="-5">
                <a:latin typeface="Arial"/>
                <a:cs typeface="Arial"/>
              </a:rPr>
              <a:t>such that we have the simple  equation</a:t>
            </a:r>
            <a:endParaRPr sz="1100">
              <a:latin typeface="Arial"/>
              <a:cs typeface="Arial"/>
            </a:endParaRPr>
          </a:p>
          <a:p>
            <a:pPr marL="4491355">
              <a:lnSpc>
                <a:spcPct val="100000"/>
              </a:lnSpc>
              <a:spcBef>
                <a:spcPts val="225"/>
              </a:spcBef>
            </a:pPr>
            <a:r>
              <a:rPr dirty="0" sz="1100" spc="-5">
                <a:latin typeface="Arial"/>
                <a:cs typeface="Arial"/>
              </a:rPr>
              <a:t>(3.1)</a:t>
            </a:r>
            <a:endParaRPr sz="1100">
              <a:latin typeface="Arial"/>
              <a:cs typeface="Arial"/>
            </a:endParaRPr>
          </a:p>
          <a:p>
            <a:pPr>
              <a:lnSpc>
                <a:spcPct val="100000"/>
              </a:lnSpc>
              <a:spcBef>
                <a:spcPts val="25"/>
              </a:spcBef>
            </a:pPr>
            <a:endParaRPr sz="1100">
              <a:latin typeface="Arial"/>
              <a:cs typeface="Arial"/>
            </a:endParaRPr>
          </a:p>
          <a:p>
            <a:pPr marL="291465" marR="57150" indent="-228600">
              <a:lnSpc>
                <a:spcPts val="1270"/>
              </a:lnSpc>
              <a:buFont typeface="Arial"/>
              <a:buAutoNum type="arabicPeriod" startAt="2"/>
              <a:tabLst>
                <a:tab pos="292100" algn="l"/>
              </a:tabLst>
            </a:pPr>
            <a:r>
              <a:rPr dirty="0" sz="1100" spc="-5">
                <a:latin typeface="Arial"/>
                <a:cs typeface="Arial"/>
              </a:rPr>
              <a:t>Net investment (I ) is defined as the change in the capital stock, K, and can be represented  by K such</a:t>
            </a:r>
            <a:r>
              <a:rPr dirty="0" sz="1100" spc="5">
                <a:latin typeface="Arial"/>
                <a:cs typeface="Arial"/>
              </a:rPr>
              <a:t> </a:t>
            </a:r>
            <a:r>
              <a:rPr dirty="0" sz="1100" spc="-5">
                <a:latin typeface="Arial"/>
                <a:cs typeface="Arial"/>
              </a:rPr>
              <a:t>that</a:t>
            </a:r>
            <a:endParaRPr sz="1100">
              <a:latin typeface="Arial"/>
              <a:cs typeface="Arial"/>
            </a:endParaRPr>
          </a:p>
          <a:p>
            <a:pPr marL="4262755">
              <a:lnSpc>
                <a:spcPct val="100000"/>
              </a:lnSpc>
              <a:spcBef>
                <a:spcPts val="225"/>
              </a:spcBef>
            </a:pPr>
            <a:r>
              <a:rPr dirty="0" sz="1100" spc="-5">
                <a:latin typeface="Arial"/>
                <a:cs typeface="Arial"/>
              </a:rPr>
              <a:t>(3.2)</a:t>
            </a:r>
            <a:endParaRPr sz="1100">
              <a:latin typeface="Arial"/>
              <a:cs typeface="Arial"/>
            </a:endParaRPr>
          </a:p>
          <a:p>
            <a:pPr>
              <a:lnSpc>
                <a:spcPct val="100000"/>
              </a:lnSpc>
              <a:spcBef>
                <a:spcPts val="40"/>
              </a:spcBef>
            </a:pPr>
            <a:endParaRPr sz="1100">
              <a:latin typeface="Arial"/>
              <a:cs typeface="Arial"/>
            </a:endParaRPr>
          </a:p>
          <a:p>
            <a:pPr algn="just" marL="63500" marR="55880">
              <a:lnSpc>
                <a:spcPts val="1260"/>
              </a:lnSpc>
            </a:pPr>
            <a:r>
              <a:rPr dirty="0" sz="1100" spc="-5">
                <a:latin typeface="Arial"/>
                <a:cs typeface="Arial"/>
              </a:rPr>
              <a:t>But because the total capital stock, K, bears a direct relationship to total national income or  output, Y, as expressed by the capital-output ratio, </a:t>
            </a:r>
            <a:r>
              <a:rPr dirty="0" sz="1100">
                <a:latin typeface="Arial"/>
                <a:cs typeface="Arial"/>
              </a:rPr>
              <a:t>c</a:t>
            </a:r>
            <a:r>
              <a:rPr dirty="0" baseline="39682" sz="1050">
                <a:latin typeface="Arial"/>
                <a:cs typeface="Arial"/>
              </a:rPr>
              <a:t>3 </a:t>
            </a:r>
            <a:r>
              <a:rPr dirty="0" sz="1100" spc="-5">
                <a:latin typeface="Arial"/>
                <a:cs typeface="Arial"/>
              </a:rPr>
              <a:t>it follows</a:t>
            </a:r>
            <a:r>
              <a:rPr dirty="0" sz="1100" spc="-20">
                <a:latin typeface="Arial"/>
                <a:cs typeface="Arial"/>
              </a:rPr>
              <a:t> </a:t>
            </a:r>
            <a:r>
              <a:rPr dirty="0" sz="1100" spc="-5">
                <a:latin typeface="Arial"/>
                <a:cs typeface="Arial"/>
              </a:rPr>
              <a:t>that</a:t>
            </a:r>
            <a:endParaRPr sz="1100">
              <a:latin typeface="Arial"/>
              <a:cs typeface="Arial"/>
            </a:endParaRPr>
          </a:p>
          <a:p>
            <a:pPr>
              <a:lnSpc>
                <a:spcPct val="100000"/>
              </a:lnSpc>
            </a:pPr>
            <a:endParaRPr sz="1300">
              <a:latin typeface="Arial"/>
              <a:cs typeface="Arial"/>
            </a:endParaRPr>
          </a:p>
          <a:p>
            <a:pPr algn="ctr">
              <a:lnSpc>
                <a:spcPct val="100000"/>
              </a:lnSpc>
              <a:spcBef>
                <a:spcPts val="745"/>
              </a:spcBef>
            </a:pPr>
            <a:r>
              <a:rPr dirty="0" sz="1100" spc="-10">
                <a:latin typeface="Arial"/>
                <a:cs typeface="Arial"/>
              </a:rPr>
              <a:t>Or</a:t>
            </a:r>
            <a:endParaRPr sz="1100">
              <a:latin typeface="Arial"/>
              <a:cs typeface="Arial"/>
            </a:endParaRPr>
          </a:p>
        </p:txBody>
      </p:sp>
      <p:sp>
        <p:nvSpPr>
          <p:cNvPr id="10" name="object 10"/>
          <p:cNvSpPr/>
          <p:nvPr/>
        </p:nvSpPr>
        <p:spPr>
          <a:xfrm>
            <a:off x="3662171" y="7617714"/>
            <a:ext cx="448055" cy="295656"/>
          </a:xfrm>
          <a:prstGeom prst="rect">
            <a:avLst/>
          </a:prstGeom>
          <a:blipFill>
            <a:blip r:embed="rId5" cstate="print"/>
            <a:stretch>
              <a:fillRect/>
            </a:stretch>
          </a:blipFill>
        </p:spPr>
        <p:txBody>
          <a:bodyPr wrap="square" lIns="0" tIns="0" rIns="0" bIns="0" rtlCol="0"/>
          <a:lstStyle/>
          <a:p/>
        </p:txBody>
      </p:sp>
      <p:sp>
        <p:nvSpPr>
          <p:cNvPr id="11" name="object 11"/>
          <p:cNvSpPr txBox="1"/>
          <p:nvPr/>
        </p:nvSpPr>
        <p:spPr>
          <a:xfrm>
            <a:off x="3574033" y="8051550"/>
            <a:ext cx="62420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or,</a:t>
            </a:r>
            <a:r>
              <a:rPr dirty="0" sz="1100" spc="-40">
                <a:latin typeface="Arial"/>
                <a:cs typeface="Arial"/>
              </a:rPr>
              <a:t> </a:t>
            </a:r>
            <a:r>
              <a:rPr dirty="0" sz="1100" spc="-5">
                <a:latin typeface="Arial"/>
                <a:cs typeface="Arial"/>
              </a:rPr>
              <a:t>finally,</a:t>
            </a:r>
            <a:endParaRPr sz="1100">
              <a:latin typeface="Arial"/>
              <a:cs typeface="Arial"/>
            </a:endParaRPr>
          </a:p>
        </p:txBody>
      </p:sp>
      <p:sp>
        <p:nvSpPr>
          <p:cNvPr id="12" name="object 12"/>
          <p:cNvSpPr/>
          <p:nvPr/>
        </p:nvSpPr>
        <p:spPr>
          <a:xfrm>
            <a:off x="2235707" y="8234171"/>
            <a:ext cx="644652" cy="142494"/>
          </a:xfrm>
          <a:prstGeom prst="rect">
            <a:avLst/>
          </a:prstGeom>
          <a:blipFill>
            <a:blip r:embed="rId6" cstate="print"/>
            <a:stretch>
              <a:fillRect/>
            </a:stretch>
          </a:blipFill>
        </p:spPr>
        <p:txBody>
          <a:bodyPr wrap="square" lIns="0" tIns="0" rIns="0" bIns="0" rtlCol="0"/>
          <a:lstStyle/>
          <a:p/>
        </p:txBody>
      </p:sp>
      <p:grpSp>
        <p:nvGrpSpPr>
          <p:cNvPr id="13" name="object 13"/>
          <p:cNvGrpSpPr/>
          <p:nvPr/>
        </p:nvGrpSpPr>
        <p:grpSpPr>
          <a:xfrm>
            <a:off x="2377439" y="8942831"/>
            <a:ext cx="317500" cy="91440"/>
            <a:chOff x="2377439" y="8942831"/>
            <a:chExt cx="317500" cy="91440"/>
          </a:xfrm>
        </p:grpSpPr>
        <p:sp>
          <p:nvSpPr>
            <p:cNvPr id="14" name="object 14"/>
            <p:cNvSpPr/>
            <p:nvPr/>
          </p:nvSpPr>
          <p:spPr>
            <a:xfrm>
              <a:off x="2387345" y="8942831"/>
              <a:ext cx="59436" cy="18287"/>
            </a:xfrm>
            <a:prstGeom prst="rect">
              <a:avLst/>
            </a:prstGeom>
            <a:blipFill>
              <a:blip r:embed="rId7" cstate="print"/>
              <a:stretch>
                <a:fillRect/>
              </a:stretch>
            </a:blipFill>
          </p:spPr>
          <p:txBody>
            <a:bodyPr wrap="square" lIns="0" tIns="0" rIns="0" bIns="0" rtlCol="0"/>
            <a:lstStyle/>
            <a:p/>
          </p:txBody>
        </p:sp>
        <p:sp>
          <p:nvSpPr>
            <p:cNvPr id="15" name="object 15"/>
            <p:cNvSpPr/>
            <p:nvPr/>
          </p:nvSpPr>
          <p:spPr>
            <a:xfrm>
              <a:off x="2634995" y="8942831"/>
              <a:ext cx="59436" cy="91440"/>
            </a:xfrm>
            <a:prstGeom prst="rect">
              <a:avLst/>
            </a:prstGeom>
            <a:blipFill>
              <a:blip r:embed="rId8" cstate="print"/>
              <a:stretch>
                <a:fillRect/>
              </a:stretch>
            </a:blipFill>
          </p:spPr>
          <p:txBody>
            <a:bodyPr wrap="square" lIns="0" tIns="0" rIns="0" bIns="0" rtlCol="0"/>
            <a:lstStyle/>
            <a:p/>
          </p:txBody>
        </p:sp>
        <p:sp>
          <p:nvSpPr>
            <p:cNvPr id="16" name="object 16"/>
            <p:cNvSpPr/>
            <p:nvPr/>
          </p:nvSpPr>
          <p:spPr>
            <a:xfrm>
              <a:off x="2486405" y="8979407"/>
              <a:ext cx="108966" cy="36575"/>
            </a:xfrm>
            <a:prstGeom prst="rect">
              <a:avLst/>
            </a:prstGeom>
            <a:blipFill>
              <a:blip r:embed="rId9" cstate="print"/>
              <a:stretch>
                <a:fillRect/>
              </a:stretch>
            </a:blipFill>
          </p:spPr>
          <p:txBody>
            <a:bodyPr wrap="square" lIns="0" tIns="0" rIns="0" bIns="0" rtlCol="0"/>
            <a:lstStyle/>
            <a:p/>
          </p:txBody>
        </p:sp>
        <p:sp>
          <p:nvSpPr>
            <p:cNvPr id="17" name="object 17"/>
            <p:cNvSpPr/>
            <p:nvPr/>
          </p:nvSpPr>
          <p:spPr>
            <a:xfrm>
              <a:off x="2377439" y="8951975"/>
              <a:ext cx="69342" cy="82296"/>
            </a:xfrm>
            <a:prstGeom prst="rect">
              <a:avLst/>
            </a:prstGeom>
            <a:blipFill>
              <a:blip r:embed="rId10" cstate="print"/>
              <a:stretch>
                <a:fillRect/>
              </a:stretch>
            </a:blipFill>
          </p:spPr>
          <p:txBody>
            <a:bodyPr wrap="square" lIns="0" tIns="0" rIns="0" bIns="0" rtlCol="0"/>
            <a:lstStyle/>
            <a:p/>
          </p:txBody>
        </p:sp>
      </p:grpSp>
      <p:sp>
        <p:nvSpPr>
          <p:cNvPr id="18" name="object 18"/>
          <p:cNvSpPr txBox="1"/>
          <p:nvPr/>
        </p:nvSpPr>
        <p:spPr>
          <a:xfrm>
            <a:off x="901698" y="8224519"/>
            <a:ext cx="5969635" cy="875665"/>
          </a:xfrm>
          <a:prstGeom prst="rect">
            <a:avLst/>
          </a:prstGeom>
        </p:spPr>
        <p:txBody>
          <a:bodyPr wrap="square" lIns="0" tIns="12065" rIns="0" bIns="0" rtlCol="0" vert="horz">
            <a:spAutoFit/>
          </a:bodyPr>
          <a:lstStyle/>
          <a:p>
            <a:pPr algn="r" marR="1324610">
              <a:lnSpc>
                <a:spcPct val="100000"/>
              </a:lnSpc>
              <a:spcBef>
                <a:spcPts val="95"/>
              </a:spcBef>
            </a:pPr>
            <a:r>
              <a:rPr dirty="0" sz="1100" spc="-5">
                <a:latin typeface="Arial"/>
                <a:cs typeface="Arial"/>
              </a:rPr>
              <a:t>(3.3)</a:t>
            </a:r>
            <a:endParaRPr sz="1100">
              <a:latin typeface="Arial"/>
              <a:cs typeface="Arial"/>
            </a:endParaRPr>
          </a:p>
          <a:p>
            <a:pPr>
              <a:lnSpc>
                <a:spcPct val="100000"/>
              </a:lnSpc>
              <a:spcBef>
                <a:spcPts val="25"/>
              </a:spcBef>
            </a:pPr>
            <a:endParaRPr sz="1100">
              <a:latin typeface="Arial"/>
              <a:cs typeface="Arial"/>
            </a:endParaRPr>
          </a:p>
          <a:p>
            <a:pPr marL="240665" marR="5080" indent="-228600">
              <a:lnSpc>
                <a:spcPts val="1270"/>
              </a:lnSpc>
            </a:pPr>
            <a:r>
              <a:rPr dirty="0" sz="1100" spc="-5" b="1">
                <a:latin typeface="Arial"/>
                <a:cs typeface="Arial"/>
              </a:rPr>
              <a:t>3. </a:t>
            </a:r>
            <a:r>
              <a:rPr dirty="0" sz="1100" spc="-5">
                <a:latin typeface="Arial"/>
                <a:cs typeface="Arial"/>
              </a:rPr>
              <a:t>Finally, because net national savings, S, must equal net investment, I, we can write this  </a:t>
            </a:r>
            <a:r>
              <a:rPr dirty="0" sz="1100" spc="-10">
                <a:latin typeface="Arial"/>
                <a:cs typeface="Arial"/>
              </a:rPr>
              <a:t>equality</a:t>
            </a:r>
            <a:r>
              <a:rPr dirty="0" sz="1100" spc="-5">
                <a:latin typeface="Arial"/>
                <a:cs typeface="Arial"/>
              </a:rPr>
              <a:t> </a:t>
            </a:r>
            <a:r>
              <a:rPr dirty="0" sz="1100" spc="-10">
                <a:latin typeface="Arial"/>
                <a:cs typeface="Arial"/>
              </a:rPr>
              <a:t>as</a:t>
            </a:r>
            <a:endParaRPr sz="1100">
              <a:latin typeface="Arial"/>
              <a:cs typeface="Arial"/>
            </a:endParaRPr>
          </a:p>
          <a:p>
            <a:pPr marL="4211955">
              <a:lnSpc>
                <a:spcPct val="100000"/>
              </a:lnSpc>
              <a:spcBef>
                <a:spcPts val="229"/>
              </a:spcBef>
            </a:pPr>
            <a:r>
              <a:rPr dirty="0" sz="1100" spc="-5">
                <a:latin typeface="Arial"/>
                <a:cs typeface="Arial"/>
              </a:rPr>
              <a:t>(3.4)</a:t>
            </a:r>
            <a:endParaRPr sz="1100">
              <a:latin typeface="Arial"/>
              <a:cs typeface="Arial"/>
            </a:endParaRPr>
          </a:p>
        </p:txBody>
      </p:sp>
      <p:sp>
        <p:nvSpPr>
          <p:cNvPr id="19" name="object 1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20" name="object 2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35</a:t>
            </a:r>
            <a:endParaRPr sz="1100">
              <a:latin typeface="Carlito"/>
              <a:cs typeface="Carli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3452621" y="1094994"/>
            <a:ext cx="867155" cy="151637"/>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1988057" y="1746504"/>
            <a:ext cx="1468374" cy="151638"/>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2177033" y="2276855"/>
            <a:ext cx="611886" cy="144018"/>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2196083" y="2771394"/>
            <a:ext cx="505206" cy="371855"/>
          </a:xfrm>
          <a:prstGeom prst="rect">
            <a:avLst/>
          </a:prstGeom>
          <a:blipFill>
            <a:blip r:embed="rId5" cstate="print"/>
            <a:stretch>
              <a:fillRect/>
            </a:stretch>
          </a:blipFill>
        </p:spPr>
        <p:txBody>
          <a:bodyPr wrap="square" lIns="0" tIns="0" rIns="0" bIns="0" rtlCol="0"/>
          <a:lstStyle/>
          <a:p/>
        </p:txBody>
      </p:sp>
      <p:sp>
        <p:nvSpPr>
          <p:cNvPr id="10" name="object 10"/>
          <p:cNvSpPr/>
          <p:nvPr/>
        </p:nvSpPr>
        <p:spPr>
          <a:xfrm>
            <a:off x="2258567" y="5582411"/>
            <a:ext cx="859536" cy="409956"/>
          </a:xfrm>
          <a:prstGeom prst="rect">
            <a:avLst/>
          </a:prstGeom>
          <a:blipFill>
            <a:blip r:embed="rId6" cstate="print"/>
            <a:stretch>
              <a:fillRect/>
            </a:stretch>
          </a:blipFill>
        </p:spPr>
        <p:txBody>
          <a:bodyPr wrap="square" lIns="0" tIns="0" rIns="0" bIns="0" rtlCol="0"/>
          <a:lstStyle/>
          <a:p/>
        </p:txBody>
      </p:sp>
      <p:sp>
        <p:nvSpPr>
          <p:cNvPr id="11" name="object 11"/>
          <p:cNvSpPr/>
          <p:nvPr/>
        </p:nvSpPr>
        <p:spPr>
          <a:xfrm>
            <a:off x="1367027" y="6071615"/>
            <a:ext cx="89153" cy="100584"/>
          </a:xfrm>
          <a:prstGeom prst="rect">
            <a:avLst/>
          </a:prstGeom>
          <a:blipFill>
            <a:blip r:embed="rId7" cstate="print"/>
            <a:stretch>
              <a:fillRect/>
            </a:stretch>
          </a:blipFill>
        </p:spPr>
        <p:txBody>
          <a:bodyPr wrap="square" lIns="0" tIns="0" rIns="0" bIns="0" rtlCol="0"/>
          <a:lstStyle/>
          <a:p/>
        </p:txBody>
      </p:sp>
      <p:sp>
        <p:nvSpPr>
          <p:cNvPr id="12" name="object 12"/>
          <p:cNvSpPr txBox="1"/>
          <p:nvPr/>
        </p:nvSpPr>
        <p:spPr>
          <a:xfrm>
            <a:off x="812801" y="891794"/>
            <a:ext cx="6146800" cy="8257540"/>
          </a:xfrm>
          <a:prstGeom prst="rect">
            <a:avLst/>
          </a:prstGeom>
        </p:spPr>
        <p:txBody>
          <a:bodyPr wrap="square" lIns="0" tIns="12065" rIns="0" bIns="0" rtlCol="0" vert="horz">
            <a:spAutoFit/>
          </a:bodyPr>
          <a:lstStyle/>
          <a:p>
            <a:pPr marL="100965">
              <a:lnSpc>
                <a:spcPct val="100000"/>
              </a:lnSpc>
              <a:spcBef>
                <a:spcPts val="95"/>
              </a:spcBef>
            </a:pPr>
            <a:r>
              <a:rPr dirty="0" sz="1100" spc="-5">
                <a:latin typeface="Arial"/>
                <a:cs typeface="Arial"/>
              </a:rPr>
              <a:t>But from Equation 3.1 we know that S = sY, and from Equations 3.2 and 3.3 we know</a:t>
            </a:r>
            <a:r>
              <a:rPr dirty="0" sz="1100" spc="185">
                <a:latin typeface="Arial"/>
                <a:cs typeface="Arial"/>
              </a:rPr>
              <a:t> </a:t>
            </a:r>
            <a:r>
              <a:rPr dirty="0" sz="1100" spc="-5">
                <a:latin typeface="Arial"/>
                <a:cs typeface="Arial"/>
              </a:rPr>
              <a:t>that:</a:t>
            </a:r>
            <a:endParaRPr sz="1100">
              <a:latin typeface="Arial"/>
              <a:cs typeface="Arial"/>
            </a:endParaRPr>
          </a:p>
          <a:p>
            <a:pPr>
              <a:lnSpc>
                <a:spcPct val="100000"/>
              </a:lnSpc>
            </a:pPr>
            <a:endParaRPr sz="1200">
              <a:latin typeface="Arial"/>
              <a:cs typeface="Arial"/>
            </a:endParaRPr>
          </a:p>
          <a:p>
            <a:pPr>
              <a:lnSpc>
                <a:spcPct val="100000"/>
              </a:lnSpc>
              <a:spcBef>
                <a:spcPts val="10"/>
              </a:spcBef>
            </a:pPr>
            <a:endParaRPr sz="1100">
              <a:latin typeface="Arial"/>
              <a:cs typeface="Arial"/>
            </a:endParaRPr>
          </a:p>
          <a:p>
            <a:pPr marL="100965" marR="93345">
              <a:lnSpc>
                <a:spcPts val="1260"/>
              </a:lnSpc>
            </a:pPr>
            <a:r>
              <a:rPr dirty="0" sz="1100" spc="-5">
                <a:latin typeface="Arial"/>
                <a:cs typeface="Arial"/>
              </a:rPr>
              <a:t>It therefore follows that we can write the “identity” of saving equaling investment shown </a:t>
            </a:r>
            <a:r>
              <a:rPr dirty="0" sz="1100">
                <a:latin typeface="Arial"/>
                <a:cs typeface="Arial"/>
              </a:rPr>
              <a:t>by  </a:t>
            </a:r>
            <a:r>
              <a:rPr dirty="0" sz="1100" spc="-5">
                <a:latin typeface="Arial"/>
                <a:cs typeface="Arial"/>
              </a:rPr>
              <a:t>Equation 3.4</a:t>
            </a:r>
            <a:r>
              <a:rPr dirty="0" sz="1100">
                <a:latin typeface="Arial"/>
                <a:cs typeface="Arial"/>
              </a:rPr>
              <a:t> </a:t>
            </a:r>
            <a:r>
              <a:rPr dirty="0" sz="1100" spc="-5">
                <a:latin typeface="Arial"/>
                <a:cs typeface="Arial"/>
              </a:rPr>
              <a:t>as</a:t>
            </a:r>
            <a:endParaRPr sz="1100">
              <a:latin typeface="Arial"/>
              <a:cs typeface="Arial"/>
            </a:endParaRPr>
          </a:p>
          <a:p>
            <a:pPr marL="4685665">
              <a:lnSpc>
                <a:spcPct val="100000"/>
              </a:lnSpc>
              <a:spcBef>
                <a:spcPts val="234"/>
              </a:spcBef>
            </a:pPr>
            <a:r>
              <a:rPr dirty="0" sz="1100" spc="-5">
                <a:latin typeface="Arial"/>
                <a:cs typeface="Arial"/>
              </a:rPr>
              <a:t>(3.5)</a:t>
            </a:r>
            <a:endParaRPr sz="1100">
              <a:latin typeface="Arial"/>
              <a:cs typeface="Arial"/>
            </a:endParaRPr>
          </a:p>
          <a:p>
            <a:pPr>
              <a:lnSpc>
                <a:spcPct val="100000"/>
              </a:lnSpc>
            </a:pPr>
            <a:endParaRPr sz="1050">
              <a:latin typeface="Arial"/>
              <a:cs typeface="Arial"/>
            </a:endParaRPr>
          </a:p>
          <a:p>
            <a:pPr marL="100965">
              <a:lnSpc>
                <a:spcPct val="100000"/>
              </a:lnSpc>
            </a:pPr>
            <a:r>
              <a:rPr dirty="0" sz="1100" spc="-5">
                <a:latin typeface="Arial"/>
                <a:cs typeface="Arial"/>
              </a:rPr>
              <a:t>or simply</a:t>
            </a:r>
            <a:r>
              <a:rPr dirty="0" sz="1100">
                <a:latin typeface="Arial"/>
                <a:cs typeface="Arial"/>
              </a:rPr>
              <a:t> </a:t>
            </a:r>
            <a:r>
              <a:rPr dirty="0" sz="1100" spc="-5">
                <a:latin typeface="Arial"/>
                <a:cs typeface="Arial"/>
              </a:rPr>
              <a:t>as</a:t>
            </a:r>
            <a:endParaRPr sz="1100">
              <a:latin typeface="Arial"/>
              <a:cs typeface="Arial"/>
            </a:endParaRPr>
          </a:p>
          <a:p>
            <a:pPr marL="4496435">
              <a:lnSpc>
                <a:spcPct val="100000"/>
              </a:lnSpc>
              <a:spcBef>
                <a:spcPts val="265"/>
              </a:spcBef>
            </a:pPr>
            <a:r>
              <a:rPr dirty="0" sz="1100" spc="-5">
                <a:latin typeface="Arial"/>
                <a:cs typeface="Arial"/>
              </a:rPr>
              <a:t>(3.6)</a:t>
            </a:r>
            <a:endParaRPr sz="1100">
              <a:latin typeface="Arial"/>
              <a:cs typeface="Arial"/>
            </a:endParaRPr>
          </a:p>
          <a:p>
            <a:pPr>
              <a:lnSpc>
                <a:spcPct val="100000"/>
              </a:lnSpc>
            </a:pPr>
            <a:endParaRPr sz="1050">
              <a:latin typeface="Arial"/>
              <a:cs typeface="Arial"/>
            </a:endParaRPr>
          </a:p>
          <a:p>
            <a:pPr marL="100965">
              <a:lnSpc>
                <a:spcPct val="100000"/>
              </a:lnSpc>
            </a:pPr>
            <a:r>
              <a:rPr dirty="0" sz="1100" spc="-5">
                <a:latin typeface="Arial"/>
                <a:cs typeface="Arial"/>
              </a:rPr>
              <a:t>Dividing both sides of Equation 3.6 first by Y and then by c, we obtain the following</a:t>
            </a:r>
            <a:r>
              <a:rPr dirty="0" sz="1100" spc="229">
                <a:latin typeface="Arial"/>
                <a:cs typeface="Arial"/>
              </a:rPr>
              <a:t> </a:t>
            </a:r>
            <a:r>
              <a:rPr dirty="0" sz="1100" spc="-5">
                <a:latin typeface="Arial"/>
                <a:cs typeface="Arial"/>
              </a:rPr>
              <a:t>expression:</a:t>
            </a:r>
            <a:endParaRPr sz="1100">
              <a:latin typeface="Arial"/>
              <a:cs typeface="Arial"/>
            </a:endParaRPr>
          </a:p>
          <a:p>
            <a:pPr>
              <a:lnSpc>
                <a:spcPct val="100000"/>
              </a:lnSpc>
            </a:pPr>
            <a:endParaRPr sz="1600">
              <a:latin typeface="Arial"/>
              <a:cs typeface="Arial"/>
            </a:endParaRPr>
          </a:p>
          <a:p>
            <a:pPr marL="4476115">
              <a:lnSpc>
                <a:spcPct val="100000"/>
              </a:lnSpc>
            </a:pPr>
            <a:r>
              <a:rPr dirty="0" sz="1100" spc="-5">
                <a:latin typeface="Arial"/>
                <a:cs typeface="Arial"/>
              </a:rPr>
              <a:t>(3.7)</a:t>
            </a:r>
            <a:endParaRPr sz="1100">
              <a:latin typeface="Arial"/>
              <a:cs typeface="Arial"/>
            </a:endParaRPr>
          </a:p>
          <a:p>
            <a:pPr>
              <a:lnSpc>
                <a:spcPct val="100000"/>
              </a:lnSpc>
              <a:spcBef>
                <a:spcPts val="25"/>
              </a:spcBef>
            </a:pPr>
            <a:endParaRPr sz="1100">
              <a:latin typeface="Arial"/>
              <a:cs typeface="Arial"/>
            </a:endParaRPr>
          </a:p>
          <a:p>
            <a:pPr marL="101600" marR="93345">
              <a:lnSpc>
                <a:spcPts val="1270"/>
              </a:lnSpc>
            </a:pPr>
            <a:r>
              <a:rPr dirty="0" sz="1100" spc="-5">
                <a:latin typeface="Arial"/>
                <a:cs typeface="Arial"/>
              </a:rPr>
              <a:t>Note that the left-hand side of Equation 3.7, Y/Y, represents the rate of change or rate of growth  of GDP.</a:t>
            </a:r>
            <a:endParaRPr sz="1100">
              <a:latin typeface="Arial"/>
              <a:cs typeface="Arial"/>
            </a:endParaRPr>
          </a:p>
          <a:p>
            <a:pPr>
              <a:lnSpc>
                <a:spcPct val="100000"/>
              </a:lnSpc>
              <a:spcBef>
                <a:spcPts val="25"/>
              </a:spcBef>
            </a:pPr>
            <a:endParaRPr sz="1050">
              <a:latin typeface="Arial"/>
              <a:cs typeface="Arial"/>
            </a:endParaRPr>
          </a:p>
          <a:p>
            <a:pPr algn="just" marL="101600" marR="92710">
              <a:lnSpc>
                <a:spcPct val="95800"/>
              </a:lnSpc>
            </a:pPr>
            <a:r>
              <a:rPr dirty="0" sz="1100" spc="-5">
                <a:latin typeface="Arial"/>
                <a:cs typeface="Arial"/>
              </a:rPr>
              <a:t>Equation 3.7, which is a simplified version of the famous equation in the Harrod-Domar theory </a:t>
            </a:r>
            <a:r>
              <a:rPr dirty="0" sz="1100">
                <a:latin typeface="Arial"/>
                <a:cs typeface="Arial"/>
              </a:rPr>
              <a:t>of  </a:t>
            </a:r>
            <a:r>
              <a:rPr dirty="0" sz="1100" spc="-5">
                <a:latin typeface="Arial"/>
                <a:cs typeface="Arial"/>
              </a:rPr>
              <a:t>economic growth, states simply that the rate of growth of GDP ( </a:t>
            </a:r>
            <a:r>
              <a:rPr dirty="0" sz="1100">
                <a:latin typeface="Arial"/>
                <a:cs typeface="Arial"/>
              </a:rPr>
              <a:t>Y/Y) </a:t>
            </a:r>
            <a:r>
              <a:rPr dirty="0" sz="1100" spc="-5">
                <a:latin typeface="Arial"/>
                <a:cs typeface="Arial"/>
              </a:rPr>
              <a:t>is determined jointly by the  net national savings ratio, s , and the national capital-output ratio, c. More specifically, it says  that in the absence of government, the growth rate of national income will be directly or  positively related to the savings ratio (i.e., the more an economy is able to save—and invest—  out of a given GDP, the greater the growth of that GDP will be) and inversely or negatively  related to the economy’s capital-output ratio(i.e., the higher c is, the lower the rate of GDP  growth will</a:t>
            </a:r>
            <a:r>
              <a:rPr dirty="0" sz="1100">
                <a:latin typeface="Arial"/>
                <a:cs typeface="Arial"/>
              </a:rPr>
              <a:t> </a:t>
            </a:r>
            <a:r>
              <a:rPr dirty="0" sz="1100" spc="-5">
                <a:latin typeface="Arial"/>
                <a:cs typeface="Arial"/>
              </a:rPr>
              <a:t>be).</a:t>
            </a:r>
            <a:endParaRPr sz="1100">
              <a:latin typeface="Arial"/>
              <a:cs typeface="Arial"/>
            </a:endParaRPr>
          </a:p>
          <a:p>
            <a:pPr>
              <a:lnSpc>
                <a:spcPct val="100000"/>
              </a:lnSpc>
              <a:spcBef>
                <a:spcPts val="25"/>
              </a:spcBef>
            </a:pPr>
            <a:endParaRPr sz="1100">
              <a:latin typeface="Arial"/>
              <a:cs typeface="Arial"/>
            </a:endParaRPr>
          </a:p>
          <a:p>
            <a:pPr algn="just" marL="101600" marR="93980">
              <a:lnSpc>
                <a:spcPts val="1270"/>
              </a:lnSpc>
            </a:pPr>
            <a:r>
              <a:rPr dirty="0" sz="1100" spc="-5">
                <a:latin typeface="Arial"/>
                <a:cs typeface="Arial"/>
              </a:rPr>
              <a:t>Equation 3.7 is also often expressed in terms of gross savings, </a:t>
            </a:r>
            <a:r>
              <a:rPr dirty="0" sz="1100">
                <a:latin typeface="Arial"/>
                <a:cs typeface="Arial"/>
              </a:rPr>
              <a:t>s</a:t>
            </a:r>
            <a:r>
              <a:rPr dirty="0" baseline="39682" sz="1050">
                <a:latin typeface="Arial"/>
                <a:cs typeface="Arial"/>
              </a:rPr>
              <a:t>G</a:t>
            </a:r>
            <a:r>
              <a:rPr dirty="0" sz="1100">
                <a:latin typeface="Arial"/>
                <a:cs typeface="Arial"/>
              </a:rPr>
              <a:t>, </a:t>
            </a:r>
            <a:r>
              <a:rPr dirty="0" sz="1100" spc="-5">
                <a:latin typeface="Arial"/>
                <a:cs typeface="Arial"/>
              </a:rPr>
              <a:t>in which case the growth rate  is given</a:t>
            </a:r>
            <a:r>
              <a:rPr dirty="0" sz="1100">
                <a:latin typeface="Arial"/>
                <a:cs typeface="Arial"/>
              </a:rPr>
              <a:t> </a:t>
            </a:r>
            <a:r>
              <a:rPr dirty="0" sz="1100" spc="-5">
                <a:latin typeface="Arial"/>
                <a:cs typeface="Arial"/>
              </a:rPr>
              <a:t>by:</a:t>
            </a:r>
            <a:endParaRPr sz="1100">
              <a:latin typeface="Arial"/>
              <a:cs typeface="Arial"/>
            </a:endParaRPr>
          </a:p>
          <a:p>
            <a:pPr>
              <a:lnSpc>
                <a:spcPct val="100000"/>
              </a:lnSpc>
            </a:pPr>
            <a:endParaRPr sz="1200">
              <a:latin typeface="Arial"/>
              <a:cs typeface="Arial"/>
            </a:endParaRPr>
          </a:p>
          <a:p>
            <a:pPr marL="4383405">
              <a:lnSpc>
                <a:spcPct val="100000"/>
              </a:lnSpc>
              <a:spcBef>
                <a:spcPts val="725"/>
              </a:spcBef>
            </a:pPr>
            <a:r>
              <a:rPr dirty="0" sz="1100" spc="-5">
                <a:latin typeface="Arial"/>
                <a:cs typeface="Arial"/>
              </a:rPr>
              <a:t>(3.7’)</a:t>
            </a:r>
            <a:endParaRPr sz="1100">
              <a:latin typeface="Arial"/>
              <a:cs typeface="Arial"/>
            </a:endParaRPr>
          </a:p>
          <a:p>
            <a:pPr marL="101600">
              <a:lnSpc>
                <a:spcPct val="100000"/>
              </a:lnSpc>
              <a:spcBef>
                <a:spcPts val="254"/>
              </a:spcBef>
              <a:tabLst>
                <a:tab pos="733425" algn="l"/>
              </a:tabLst>
            </a:pPr>
            <a:r>
              <a:rPr dirty="0" sz="1100" spc="-5">
                <a:latin typeface="Arial"/>
                <a:cs typeface="Arial"/>
              </a:rPr>
              <a:t>Where	is the rate of capital</a:t>
            </a:r>
            <a:r>
              <a:rPr dirty="0" sz="1100" spc="20">
                <a:latin typeface="Arial"/>
                <a:cs typeface="Arial"/>
              </a:rPr>
              <a:t> </a:t>
            </a:r>
            <a:r>
              <a:rPr dirty="0" sz="1100" spc="-5">
                <a:latin typeface="Arial"/>
                <a:cs typeface="Arial"/>
              </a:rPr>
              <a:t>depreciation.</a:t>
            </a:r>
            <a:endParaRPr sz="1100">
              <a:latin typeface="Arial"/>
              <a:cs typeface="Arial"/>
            </a:endParaRPr>
          </a:p>
          <a:p>
            <a:pPr>
              <a:lnSpc>
                <a:spcPct val="100000"/>
              </a:lnSpc>
              <a:spcBef>
                <a:spcPts val="5"/>
              </a:spcBef>
            </a:pPr>
            <a:endParaRPr sz="1100">
              <a:latin typeface="Arial"/>
              <a:cs typeface="Arial"/>
            </a:endParaRPr>
          </a:p>
          <a:p>
            <a:pPr algn="just" marL="101600" marR="93345">
              <a:lnSpc>
                <a:spcPct val="95700"/>
              </a:lnSpc>
            </a:pPr>
            <a:r>
              <a:rPr dirty="0" sz="1100" spc="-5">
                <a:latin typeface="Arial"/>
                <a:cs typeface="Arial"/>
              </a:rPr>
              <a:t>The economic logic of Equations 3.7 and 3.7’ is very simple. To grow, economies must save  and invest a certain proportion of their GDP. </a:t>
            </a:r>
            <a:r>
              <a:rPr dirty="0" sz="1100">
                <a:latin typeface="Arial"/>
                <a:cs typeface="Arial"/>
              </a:rPr>
              <a:t>The </a:t>
            </a:r>
            <a:r>
              <a:rPr dirty="0" sz="1100" spc="-5">
                <a:latin typeface="Arial"/>
                <a:cs typeface="Arial"/>
              </a:rPr>
              <a:t>more they can save and invest, the faster they  can grow.</a:t>
            </a:r>
            <a:endParaRPr sz="1100">
              <a:latin typeface="Arial"/>
              <a:cs typeface="Arial"/>
            </a:endParaRPr>
          </a:p>
          <a:p>
            <a:pPr>
              <a:lnSpc>
                <a:spcPct val="100000"/>
              </a:lnSpc>
            </a:pPr>
            <a:endParaRPr sz="1100">
              <a:latin typeface="Arial"/>
              <a:cs typeface="Arial"/>
            </a:endParaRPr>
          </a:p>
          <a:p>
            <a:pPr algn="just" marL="101600" marR="93345">
              <a:lnSpc>
                <a:spcPct val="95800"/>
              </a:lnSpc>
              <a:spcBef>
                <a:spcPts val="5"/>
              </a:spcBef>
            </a:pPr>
            <a:r>
              <a:rPr dirty="0" sz="1100" spc="-5">
                <a:latin typeface="Arial"/>
                <a:cs typeface="Arial"/>
              </a:rPr>
              <a:t>In addition to investment, two other components of economic growth are labor force growth and  technological progress. In the context of the Harrod-Domar model, </a:t>
            </a:r>
            <a:r>
              <a:rPr dirty="0" sz="1100">
                <a:latin typeface="Arial"/>
                <a:cs typeface="Arial"/>
              </a:rPr>
              <a:t>labor </a:t>
            </a:r>
            <a:r>
              <a:rPr dirty="0" sz="1100" spc="-5">
                <a:latin typeface="Arial"/>
                <a:cs typeface="Arial"/>
              </a:rPr>
              <a:t>force growth is </a:t>
            </a:r>
            <a:r>
              <a:rPr dirty="0" sz="1100">
                <a:latin typeface="Arial"/>
                <a:cs typeface="Arial"/>
              </a:rPr>
              <a:t>not  </a:t>
            </a:r>
            <a:r>
              <a:rPr dirty="0" sz="1100" spc="-5">
                <a:latin typeface="Arial"/>
                <a:cs typeface="Arial"/>
              </a:rPr>
              <a:t>described explicitly. This is because labor is assumed to be abundant in a developing-country  context and can be hired as needed in a given proportion to capital investments (this  assumption is not always valid). In a general way, technological progress can be expressed in  the Harrod-Domar context as a decrease in the required capital-output ratio, giving more growth  for a given level of investment, as follows from Equation 3.7 or</a:t>
            </a:r>
            <a:r>
              <a:rPr dirty="0" sz="1100" spc="75">
                <a:latin typeface="Arial"/>
                <a:cs typeface="Arial"/>
              </a:rPr>
              <a:t> </a:t>
            </a:r>
            <a:r>
              <a:rPr dirty="0" sz="1100" spc="-5">
                <a:latin typeface="Arial"/>
                <a:cs typeface="Arial"/>
              </a:rPr>
              <a:t>3.7’.</a:t>
            </a:r>
            <a:endParaRPr sz="1100">
              <a:latin typeface="Arial"/>
              <a:cs typeface="Arial"/>
            </a:endParaRPr>
          </a:p>
          <a:p>
            <a:pPr>
              <a:lnSpc>
                <a:spcPct val="100000"/>
              </a:lnSpc>
              <a:spcBef>
                <a:spcPts val="10"/>
              </a:spcBef>
            </a:pPr>
            <a:endParaRPr sz="1050">
              <a:latin typeface="Arial"/>
              <a:cs typeface="Arial"/>
            </a:endParaRPr>
          </a:p>
          <a:p>
            <a:pPr marL="101600">
              <a:lnSpc>
                <a:spcPct val="100000"/>
              </a:lnSpc>
            </a:pPr>
            <a:r>
              <a:rPr dirty="0" sz="1100" spc="-5" b="1">
                <a:latin typeface="Arial"/>
                <a:cs typeface="Arial"/>
              </a:rPr>
              <a:t>NECESSARY VERSUS SUFFICIENT</a:t>
            </a:r>
            <a:r>
              <a:rPr dirty="0" sz="1100" spc="10" b="1">
                <a:latin typeface="Arial"/>
                <a:cs typeface="Arial"/>
              </a:rPr>
              <a:t> </a:t>
            </a:r>
            <a:r>
              <a:rPr dirty="0" sz="1100" spc="-5" b="1">
                <a:latin typeface="Arial"/>
                <a:cs typeface="Arial"/>
              </a:rPr>
              <a:t>CONDITIONS</a:t>
            </a:r>
            <a:endParaRPr sz="1100">
              <a:latin typeface="Arial"/>
              <a:cs typeface="Arial"/>
            </a:endParaRPr>
          </a:p>
          <a:p>
            <a:pPr>
              <a:lnSpc>
                <a:spcPct val="100000"/>
              </a:lnSpc>
              <a:spcBef>
                <a:spcPts val="10"/>
              </a:spcBef>
            </a:pPr>
            <a:endParaRPr sz="1250">
              <a:latin typeface="Arial"/>
              <a:cs typeface="Arial"/>
            </a:endParaRPr>
          </a:p>
          <a:p>
            <a:pPr algn="just" marL="558165" marR="93345" indent="-228600">
              <a:lnSpc>
                <a:spcPct val="95700"/>
              </a:lnSpc>
              <a:buFont typeface="Symbol"/>
              <a:buChar char=""/>
              <a:tabLst>
                <a:tab pos="558800" algn="l"/>
              </a:tabLst>
            </a:pPr>
            <a:r>
              <a:rPr dirty="0" sz="1100" spc="-5" b="1">
                <a:latin typeface="Arial"/>
                <a:cs typeface="Arial"/>
              </a:rPr>
              <a:t>Necessary Condition: </a:t>
            </a:r>
            <a:r>
              <a:rPr dirty="0" sz="1100" spc="-5">
                <a:latin typeface="Arial"/>
                <a:cs typeface="Arial"/>
              </a:rPr>
              <a:t>A condition that must be present, although it need not be in itself  sufficient, for an event </a:t>
            </a:r>
            <a:r>
              <a:rPr dirty="0" sz="1100">
                <a:latin typeface="Arial"/>
                <a:cs typeface="Arial"/>
              </a:rPr>
              <a:t>to </a:t>
            </a:r>
            <a:r>
              <a:rPr dirty="0" sz="1100" spc="-5">
                <a:latin typeface="Arial"/>
                <a:cs typeface="Arial"/>
              </a:rPr>
              <a:t>occur. For example, capital formation may </a:t>
            </a:r>
            <a:r>
              <a:rPr dirty="0" sz="1100">
                <a:latin typeface="Arial"/>
                <a:cs typeface="Arial"/>
              </a:rPr>
              <a:t>be </a:t>
            </a:r>
            <a:r>
              <a:rPr dirty="0" sz="1100" spc="-5">
                <a:latin typeface="Arial"/>
                <a:cs typeface="Arial"/>
              </a:rPr>
              <a:t>a necessary  condition</a:t>
            </a:r>
            <a:r>
              <a:rPr dirty="0" sz="1100" spc="70">
                <a:latin typeface="Arial"/>
                <a:cs typeface="Arial"/>
              </a:rPr>
              <a:t> </a:t>
            </a:r>
            <a:r>
              <a:rPr dirty="0" sz="1100" spc="-5">
                <a:latin typeface="Arial"/>
                <a:cs typeface="Arial"/>
              </a:rPr>
              <a:t>for</a:t>
            </a:r>
            <a:r>
              <a:rPr dirty="0" sz="1100" spc="75">
                <a:latin typeface="Arial"/>
                <a:cs typeface="Arial"/>
              </a:rPr>
              <a:t> </a:t>
            </a:r>
            <a:r>
              <a:rPr dirty="0" sz="1100" spc="-5">
                <a:latin typeface="Arial"/>
                <a:cs typeface="Arial"/>
              </a:rPr>
              <a:t>sustained</a:t>
            </a:r>
            <a:r>
              <a:rPr dirty="0" sz="1100" spc="80">
                <a:latin typeface="Arial"/>
                <a:cs typeface="Arial"/>
              </a:rPr>
              <a:t> </a:t>
            </a:r>
            <a:r>
              <a:rPr dirty="0" sz="1100" spc="-5">
                <a:latin typeface="Arial"/>
                <a:cs typeface="Arial"/>
              </a:rPr>
              <a:t>economic</a:t>
            </a:r>
            <a:r>
              <a:rPr dirty="0" sz="1100" spc="80">
                <a:latin typeface="Arial"/>
                <a:cs typeface="Arial"/>
              </a:rPr>
              <a:t> </a:t>
            </a:r>
            <a:r>
              <a:rPr dirty="0" sz="1100" spc="-5">
                <a:latin typeface="Arial"/>
                <a:cs typeface="Arial"/>
              </a:rPr>
              <a:t>growth</a:t>
            </a:r>
            <a:r>
              <a:rPr dirty="0" sz="1100" spc="80">
                <a:latin typeface="Arial"/>
                <a:cs typeface="Arial"/>
              </a:rPr>
              <a:t> </a:t>
            </a:r>
            <a:r>
              <a:rPr dirty="0" sz="1100" spc="-5">
                <a:latin typeface="Arial"/>
                <a:cs typeface="Arial"/>
              </a:rPr>
              <a:t>(before</a:t>
            </a:r>
            <a:r>
              <a:rPr dirty="0" sz="1100" spc="70">
                <a:latin typeface="Arial"/>
                <a:cs typeface="Arial"/>
              </a:rPr>
              <a:t> </a:t>
            </a:r>
            <a:r>
              <a:rPr dirty="0" sz="1100" spc="-5">
                <a:latin typeface="Arial"/>
                <a:cs typeface="Arial"/>
              </a:rPr>
              <a:t>growth</a:t>
            </a:r>
            <a:r>
              <a:rPr dirty="0" sz="1100" spc="80">
                <a:latin typeface="Arial"/>
                <a:cs typeface="Arial"/>
              </a:rPr>
              <a:t> </a:t>
            </a:r>
            <a:r>
              <a:rPr dirty="0" sz="1100" spc="-5">
                <a:latin typeface="Arial"/>
                <a:cs typeface="Arial"/>
              </a:rPr>
              <a:t>in</a:t>
            </a:r>
            <a:r>
              <a:rPr dirty="0" sz="1100" spc="80">
                <a:latin typeface="Arial"/>
                <a:cs typeface="Arial"/>
              </a:rPr>
              <a:t> </a:t>
            </a:r>
            <a:r>
              <a:rPr dirty="0" sz="1100" spc="-5">
                <a:latin typeface="Arial"/>
                <a:cs typeface="Arial"/>
              </a:rPr>
              <a:t>output</a:t>
            </a:r>
            <a:r>
              <a:rPr dirty="0" sz="1100" spc="80">
                <a:latin typeface="Arial"/>
                <a:cs typeface="Arial"/>
              </a:rPr>
              <a:t> </a:t>
            </a:r>
            <a:r>
              <a:rPr dirty="0" sz="1100" spc="-5">
                <a:latin typeface="Arial"/>
                <a:cs typeface="Arial"/>
              </a:rPr>
              <a:t>can</a:t>
            </a:r>
            <a:r>
              <a:rPr dirty="0" sz="1100" spc="75">
                <a:latin typeface="Arial"/>
                <a:cs typeface="Arial"/>
              </a:rPr>
              <a:t> </a:t>
            </a:r>
            <a:r>
              <a:rPr dirty="0" sz="1100" spc="-5">
                <a:latin typeface="Arial"/>
                <a:cs typeface="Arial"/>
              </a:rPr>
              <a:t>occur,</a:t>
            </a:r>
            <a:r>
              <a:rPr dirty="0" sz="1100" spc="80">
                <a:latin typeface="Arial"/>
                <a:cs typeface="Arial"/>
              </a:rPr>
              <a:t> </a:t>
            </a:r>
            <a:r>
              <a:rPr dirty="0" sz="1100" spc="-5">
                <a:latin typeface="Arial"/>
                <a:cs typeface="Arial"/>
              </a:rPr>
              <a:t>there</a:t>
            </a:r>
            <a:r>
              <a:rPr dirty="0" sz="1100" spc="75">
                <a:latin typeface="Arial"/>
                <a:cs typeface="Arial"/>
              </a:rPr>
              <a:t> </a:t>
            </a:r>
            <a:r>
              <a:rPr dirty="0" sz="1100" spc="-5">
                <a:latin typeface="Arial"/>
                <a:cs typeface="Arial"/>
              </a:rPr>
              <a:t>must</a:t>
            </a:r>
            <a:endParaRPr sz="1100">
              <a:latin typeface="Arial"/>
              <a:cs typeface="Arial"/>
            </a:endParaRPr>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4" name="object 14"/>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36</a:t>
            </a:r>
            <a:endParaRPr sz="1100">
              <a:latin typeface="Carlito"/>
              <a:cs typeface="Carli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8" y="891794"/>
            <a:ext cx="5970270" cy="8136890"/>
          </a:xfrm>
          <a:prstGeom prst="rect">
            <a:avLst/>
          </a:prstGeom>
        </p:spPr>
        <p:txBody>
          <a:bodyPr wrap="square" lIns="0" tIns="22860" rIns="0" bIns="0" rtlCol="0" vert="horz">
            <a:spAutoFit/>
          </a:bodyPr>
          <a:lstStyle/>
          <a:p>
            <a:pPr marL="469900" marR="6985">
              <a:lnSpc>
                <a:spcPts val="1270"/>
              </a:lnSpc>
              <a:spcBef>
                <a:spcPts val="180"/>
              </a:spcBef>
            </a:pPr>
            <a:r>
              <a:rPr dirty="0" sz="1100" spc="-5">
                <a:latin typeface="Arial"/>
                <a:cs typeface="Arial"/>
              </a:rPr>
              <a:t>be tools to produce it). But for this growth to continue, social, institutional, and attitudinal  changes may have to</a:t>
            </a:r>
            <a:r>
              <a:rPr dirty="0" sz="1100" spc="10">
                <a:latin typeface="Arial"/>
                <a:cs typeface="Arial"/>
              </a:rPr>
              <a:t> </a:t>
            </a:r>
            <a:r>
              <a:rPr dirty="0" sz="1100" spc="-5">
                <a:latin typeface="Arial"/>
                <a:cs typeface="Arial"/>
              </a:rPr>
              <a:t>occur.</a:t>
            </a:r>
            <a:endParaRPr sz="1100">
              <a:latin typeface="Arial"/>
              <a:cs typeface="Arial"/>
            </a:endParaRPr>
          </a:p>
          <a:p>
            <a:pPr>
              <a:lnSpc>
                <a:spcPct val="100000"/>
              </a:lnSpc>
              <a:spcBef>
                <a:spcPts val="35"/>
              </a:spcBef>
            </a:pPr>
            <a:endParaRPr sz="1100">
              <a:latin typeface="Arial"/>
              <a:cs typeface="Arial"/>
            </a:endParaRPr>
          </a:p>
          <a:p>
            <a:pPr algn="just" marL="469900" marR="7620" indent="-228600">
              <a:lnSpc>
                <a:spcPct val="95700"/>
              </a:lnSpc>
              <a:spcBef>
                <a:spcPts val="5"/>
              </a:spcBef>
              <a:buFont typeface="Symbol"/>
              <a:buChar char=""/>
              <a:tabLst>
                <a:tab pos="469900" algn="l"/>
              </a:tabLst>
            </a:pPr>
            <a:r>
              <a:rPr dirty="0" sz="1100" spc="-5" b="1">
                <a:latin typeface="Arial"/>
                <a:cs typeface="Arial"/>
              </a:rPr>
              <a:t>Sufficient Condition: </a:t>
            </a:r>
            <a:r>
              <a:rPr dirty="0" sz="1100" spc="-5">
                <a:latin typeface="Arial"/>
                <a:cs typeface="Arial"/>
              </a:rPr>
              <a:t>A condition that when present causes or guarantees that an event  will or can occur; in economic models, a condition that logically requires that a statement  must be true (or a result must hold) given other</a:t>
            </a:r>
            <a:r>
              <a:rPr dirty="0" sz="1100" spc="55">
                <a:latin typeface="Arial"/>
                <a:cs typeface="Arial"/>
              </a:rPr>
              <a:t> </a:t>
            </a:r>
            <a:r>
              <a:rPr dirty="0" sz="1100" spc="-5">
                <a:latin typeface="Arial"/>
                <a:cs typeface="Arial"/>
              </a:rPr>
              <a:t>assumptions.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STRUCTURAL CHANGE</a:t>
            </a:r>
            <a:r>
              <a:rPr dirty="0" sz="1100" b="1">
                <a:latin typeface="Arial"/>
                <a:cs typeface="Arial"/>
              </a:rPr>
              <a:t> </a:t>
            </a:r>
            <a:r>
              <a:rPr dirty="0" sz="1100" spc="-10" b="1">
                <a:latin typeface="Arial"/>
                <a:cs typeface="Arial"/>
              </a:rPr>
              <a:t>MODELS</a:t>
            </a:r>
            <a:endParaRPr sz="1100">
              <a:latin typeface="Arial"/>
              <a:cs typeface="Arial"/>
            </a:endParaRPr>
          </a:p>
          <a:p>
            <a:pPr>
              <a:lnSpc>
                <a:spcPct val="100000"/>
              </a:lnSpc>
            </a:pPr>
            <a:endParaRPr sz="1150">
              <a:latin typeface="Arial"/>
              <a:cs typeface="Arial"/>
            </a:endParaRPr>
          </a:p>
          <a:p>
            <a:pPr marL="182880" indent="-170815">
              <a:lnSpc>
                <a:spcPct val="100000"/>
              </a:lnSpc>
              <a:spcBef>
                <a:spcPts val="5"/>
              </a:spcBef>
              <a:buAutoNum type="romanUcParenBoth"/>
              <a:tabLst>
                <a:tab pos="183515" algn="l"/>
              </a:tabLst>
            </a:pPr>
            <a:r>
              <a:rPr dirty="0" sz="1100" spc="-5" b="1">
                <a:latin typeface="Arial"/>
                <a:cs typeface="Arial"/>
              </a:rPr>
              <a:t>STRUCTURAL CHANGE</a:t>
            </a:r>
            <a:r>
              <a:rPr dirty="0" sz="1100" b="1">
                <a:latin typeface="Arial"/>
                <a:cs typeface="Arial"/>
              </a:rPr>
              <a:t> </a:t>
            </a:r>
            <a:r>
              <a:rPr dirty="0" sz="1100" spc="-5" b="1">
                <a:latin typeface="Arial"/>
                <a:cs typeface="Arial"/>
              </a:rPr>
              <a:t>THEORY</a:t>
            </a:r>
            <a:endParaRPr sz="1100">
              <a:latin typeface="Arial"/>
              <a:cs typeface="Arial"/>
            </a:endParaRPr>
          </a:p>
          <a:p>
            <a:pPr>
              <a:lnSpc>
                <a:spcPct val="100000"/>
              </a:lnSpc>
              <a:spcBef>
                <a:spcPts val="15"/>
              </a:spcBef>
              <a:buFont typeface="Arial"/>
              <a:buAutoNum type="romanUcParenBoth"/>
            </a:pPr>
            <a:endParaRPr sz="1100">
              <a:latin typeface="Arial"/>
              <a:cs typeface="Arial"/>
            </a:endParaRPr>
          </a:p>
          <a:p>
            <a:pPr algn="just" marL="12700" marR="6350">
              <a:lnSpc>
                <a:spcPts val="1270"/>
              </a:lnSpc>
            </a:pPr>
            <a:r>
              <a:rPr dirty="0" sz="1100" spc="-5">
                <a:latin typeface="Arial"/>
                <a:cs typeface="Arial"/>
              </a:rPr>
              <a:t>“The hypothesis that underdevelopment is due to underutilization of resources arising from  structural or institutional factors that have </a:t>
            </a:r>
            <a:r>
              <a:rPr dirty="0" sz="1100">
                <a:latin typeface="Arial"/>
                <a:cs typeface="Arial"/>
              </a:rPr>
              <a:t>their </a:t>
            </a:r>
            <a:r>
              <a:rPr dirty="0" sz="1100" spc="-5">
                <a:latin typeface="Arial"/>
                <a:cs typeface="Arial"/>
              </a:rPr>
              <a:t>origins in both domestic and international  dualism. Development therefore requires more than just accelerated capital</a:t>
            </a:r>
            <a:r>
              <a:rPr dirty="0" sz="1100" spc="114">
                <a:latin typeface="Arial"/>
                <a:cs typeface="Arial"/>
              </a:rPr>
              <a:t> </a:t>
            </a:r>
            <a:r>
              <a:rPr dirty="0" sz="1100" spc="-5">
                <a:latin typeface="Arial"/>
                <a:cs typeface="Arial"/>
              </a:rPr>
              <a:t>formation.”</a:t>
            </a:r>
            <a:endParaRPr sz="1100">
              <a:latin typeface="Arial"/>
              <a:cs typeface="Arial"/>
            </a:endParaRPr>
          </a:p>
          <a:p>
            <a:pPr marL="12700" marR="3234055">
              <a:lnSpc>
                <a:spcPts val="2650"/>
              </a:lnSpc>
              <a:spcBef>
                <a:spcPts val="160"/>
              </a:spcBef>
            </a:pPr>
            <a:r>
              <a:rPr dirty="0" sz="1100" spc="-5" b="1">
                <a:latin typeface="Arial"/>
                <a:cs typeface="Arial"/>
              </a:rPr>
              <a:t>THE LEWIS THEORY OF DEVELOPMENT  BASIC</a:t>
            </a:r>
            <a:r>
              <a:rPr dirty="0" sz="1100" b="1">
                <a:latin typeface="Arial"/>
                <a:cs typeface="Arial"/>
              </a:rPr>
              <a:t> </a:t>
            </a:r>
            <a:r>
              <a:rPr dirty="0" sz="1100" spc="-5" b="1">
                <a:latin typeface="Arial"/>
                <a:cs typeface="Arial"/>
              </a:rPr>
              <a:t>MODEL</a:t>
            </a:r>
            <a:endParaRPr sz="1100">
              <a:latin typeface="Arial"/>
              <a:cs typeface="Arial"/>
            </a:endParaRPr>
          </a:p>
          <a:p>
            <a:pPr>
              <a:lnSpc>
                <a:spcPct val="100000"/>
              </a:lnSpc>
              <a:spcBef>
                <a:spcPts val="45"/>
              </a:spcBef>
            </a:pPr>
            <a:endParaRPr sz="900">
              <a:latin typeface="Arial"/>
              <a:cs typeface="Arial"/>
            </a:endParaRPr>
          </a:p>
          <a:p>
            <a:pPr algn="just" marL="12700" marR="5080">
              <a:lnSpc>
                <a:spcPts val="1270"/>
              </a:lnSpc>
            </a:pPr>
            <a:r>
              <a:rPr dirty="0" sz="1100" spc="-5">
                <a:latin typeface="Arial"/>
                <a:cs typeface="Arial"/>
              </a:rPr>
              <a:t>One of the best-known early theoretical models of development that focused on the </a:t>
            </a:r>
            <a:r>
              <a:rPr dirty="0" sz="1100" spc="-5" b="1">
                <a:latin typeface="Arial"/>
                <a:cs typeface="Arial"/>
              </a:rPr>
              <a:t>structural  transformation </a:t>
            </a:r>
            <a:r>
              <a:rPr dirty="0" sz="1100" spc="-5">
                <a:latin typeface="Arial"/>
                <a:cs typeface="Arial"/>
              </a:rPr>
              <a:t>of a primarily subsistence economy was that formulated by Nobel laureate W.  Arthur Lewis.</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pPr>
            <a:r>
              <a:rPr dirty="0" sz="1100" spc="-5">
                <a:latin typeface="Arial"/>
                <a:cs typeface="Arial"/>
              </a:rPr>
              <a:t>In the </a:t>
            </a:r>
            <a:r>
              <a:rPr dirty="0" sz="1100">
                <a:latin typeface="Arial"/>
                <a:cs typeface="Arial"/>
              </a:rPr>
              <a:t>Lewis </a:t>
            </a:r>
            <a:r>
              <a:rPr dirty="0" sz="1100" spc="-5">
                <a:latin typeface="Arial"/>
                <a:cs typeface="Arial"/>
              </a:rPr>
              <a:t>model, </a:t>
            </a:r>
            <a:r>
              <a:rPr dirty="0" sz="1100">
                <a:latin typeface="Arial"/>
                <a:cs typeface="Arial"/>
              </a:rPr>
              <a:t>the </a:t>
            </a:r>
            <a:r>
              <a:rPr dirty="0" sz="1100" spc="-5">
                <a:latin typeface="Arial"/>
                <a:cs typeface="Arial"/>
              </a:rPr>
              <a:t>underdeveloped economy consists of </a:t>
            </a:r>
            <a:r>
              <a:rPr dirty="0" sz="1100" b="1">
                <a:latin typeface="Arial"/>
                <a:cs typeface="Arial"/>
              </a:rPr>
              <a:t>two </a:t>
            </a:r>
            <a:r>
              <a:rPr dirty="0" sz="1100" spc="-5" b="1">
                <a:latin typeface="Arial"/>
                <a:cs typeface="Arial"/>
              </a:rPr>
              <a:t>sectors</a:t>
            </a:r>
            <a:r>
              <a:rPr dirty="0" sz="1100" spc="-5">
                <a:latin typeface="Arial"/>
                <a:cs typeface="Arial"/>
              </a:rPr>
              <a:t>: a traditional,  overpopulated rural subsistence sector characterized by zero marginal labor productivity—a  situation that permits Lewis to classify this as </a:t>
            </a:r>
            <a:r>
              <a:rPr dirty="0" sz="1100" spc="-5" b="1">
                <a:latin typeface="Arial"/>
                <a:cs typeface="Arial"/>
              </a:rPr>
              <a:t>surplus labor </a:t>
            </a:r>
            <a:r>
              <a:rPr dirty="0" sz="1100" spc="-5">
                <a:latin typeface="Arial"/>
                <a:cs typeface="Arial"/>
              </a:rPr>
              <a:t>in the sense that it can be  withdrawn from the traditional agricultural sector without any loss of output—and a high-  productivity modern urban industrial sector into which labor from </a:t>
            </a:r>
            <a:r>
              <a:rPr dirty="0" sz="1100">
                <a:latin typeface="Arial"/>
                <a:cs typeface="Arial"/>
              </a:rPr>
              <a:t>the </a:t>
            </a:r>
            <a:r>
              <a:rPr dirty="0" sz="1100" spc="-5">
                <a:latin typeface="Arial"/>
                <a:cs typeface="Arial"/>
              </a:rPr>
              <a:t>subsistence sector is  gradually transferred. The primary focus of the model is on both the process of labor transfer  and the growth of output and employment in the modern</a:t>
            </a:r>
            <a:r>
              <a:rPr dirty="0" sz="1100" spc="65">
                <a:latin typeface="Arial"/>
                <a:cs typeface="Arial"/>
              </a:rPr>
              <a:t> </a:t>
            </a:r>
            <a:r>
              <a:rPr dirty="0" sz="1100" spc="-5">
                <a:latin typeface="Arial"/>
                <a:cs typeface="Arial"/>
              </a:rPr>
              <a:t>sector.</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Both labor transfer and modern-sector employment growth are brought about by output  expansion in that sector. The speed with which this expansion occurs is determined by the rate  of industrial investment and capital accumulation in the modern sector. Such investment is  made possible by the excess of modern-sector profits over wages on the assumption that  capitalists reinvest all their profits. Finally, </a:t>
            </a:r>
            <a:r>
              <a:rPr dirty="0" sz="1100">
                <a:latin typeface="Arial"/>
                <a:cs typeface="Arial"/>
              </a:rPr>
              <a:t>Lewis </a:t>
            </a:r>
            <a:r>
              <a:rPr dirty="0" sz="1100" spc="-5">
                <a:latin typeface="Arial"/>
                <a:cs typeface="Arial"/>
              </a:rPr>
              <a:t>assumed that the level of wages in the urban  industrial sector was constant, determined as a given premium over a </a:t>
            </a:r>
            <a:r>
              <a:rPr dirty="0" sz="1100">
                <a:latin typeface="Arial"/>
                <a:cs typeface="Arial"/>
              </a:rPr>
              <a:t>fixed </a:t>
            </a:r>
            <a:r>
              <a:rPr dirty="0" sz="1100" spc="-5">
                <a:latin typeface="Arial"/>
                <a:cs typeface="Arial"/>
              </a:rPr>
              <a:t>average  subsistence level of wages in the traditional agricultural sector. At the constant urban wage, the  supply curve of rural labor to the modern sector is considered to be perfectly</a:t>
            </a:r>
            <a:r>
              <a:rPr dirty="0" sz="1100" spc="135">
                <a:latin typeface="Arial"/>
                <a:cs typeface="Arial"/>
              </a:rPr>
              <a:t> </a:t>
            </a:r>
            <a:r>
              <a:rPr dirty="0" sz="1100" spc="-5">
                <a:latin typeface="Arial"/>
                <a:cs typeface="Arial"/>
              </a:rPr>
              <a:t>elastic.</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Note:</a:t>
            </a:r>
            <a:endParaRPr sz="1100">
              <a:latin typeface="Arial"/>
              <a:cs typeface="Arial"/>
            </a:endParaRPr>
          </a:p>
          <a:p>
            <a:pPr algn="just" lvl="1" marL="469265" marR="6350" indent="-228600">
              <a:lnSpc>
                <a:spcPct val="95800"/>
              </a:lnSpc>
              <a:spcBef>
                <a:spcPts val="75"/>
              </a:spcBef>
              <a:buFont typeface="Symbol"/>
              <a:buChar char=""/>
              <a:tabLst>
                <a:tab pos="469900" algn="l"/>
              </a:tabLst>
            </a:pPr>
            <a:r>
              <a:rPr dirty="0" sz="1100" spc="-5" b="1">
                <a:latin typeface="Arial"/>
                <a:cs typeface="Arial"/>
              </a:rPr>
              <a:t>Structural transformation</a:t>
            </a:r>
            <a:r>
              <a:rPr dirty="0" sz="1100" spc="-5">
                <a:latin typeface="Arial"/>
                <a:cs typeface="Arial"/>
              </a:rPr>
              <a:t>: The process of transforming an economy in such a way that  the contribution to national income by the manufacturing sector eventually surpasses the  contribution by the agricultural sector. More generally, a </a:t>
            </a:r>
            <a:r>
              <a:rPr dirty="0" sz="1100">
                <a:latin typeface="Arial"/>
                <a:cs typeface="Arial"/>
              </a:rPr>
              <a:t>major </a:t>
            </a:r>
            <a:r>
              <a:rPr dirty="0" sz="1100" spc="-5">
                <a:latin typeface="Arial"/>
                <a:cs typeface="Arial"/>
              </a:rPr>
              <a:t>alteration in the industrial  composition of any</a:t>
            </a:r>
            <a:r>
              <a:rPr dirty="0" sz="1100">
                <a:latin typeface="Arial"/>
                <a:cs typeface="Arial"/>
              </a:rPr>
              <a:t> </a:t>
            </a:r>
            <a:r>
              <a:rPr dirty="0" sz="1100" spc="-5">
                <a:latin typeface="Arial"/>
                <a:cs typeface="Arial"/>
              </a:rPr>
              <a:t>economy.</a:t>
            </a:r>
            <a:endParaRPr sz="1100">
              <a:latin typeface="Arial"/>
              <a:cs typeface="Arial"/>
            </a:endParaRPr>
          </a:p>
          <a:p>
            <a:pPr lvl="1">
              <a:lnSpc>
                <a:spcPct val="100000"/>
              </a:lnSpc>
              <a:spcBef>
                <a:spcPts val="20"/>
              </a:spcBef>
              <a:buFont typeface="Symbol"/>
              <a:buChar char=""/>
            </a:pPr>
            <a:endParaRPr sz="1150">
              <a:latin typeface="Arial"/>
              <a:cs typeface="Arial"/>
            </a:endParaRPr>
          </a:p>
          <a:p>
            <a:pPr algn="just" lvl="1" marL="469265" marR="5080" indent="-228600">
              <a:lnSpc>
                <a:spcPct val="95800"/>
              </a:lnSpc>
              <a:spcBef>
                <a:spcPts val="5"/>
              </a:spcBef>
              <a:buFont typeface="Symbol"/>
              <a:buChar char=""/>
              <a:tabLst>
                <a:tab pos="469900" algn="l"/>
              </a:tabLst>
            </a:pPr>
            <a:r>
              <a:rPr dirty="0" sz="1100" spc="-5" b="1">
                <a:latin typeface="Arial"/>
                <a:cs typeface="Arial"/>
              </a:rPr>
              <a:t>Lewis two-sector model: </a:t>
            </a:r>
            <a:r>
              <a:rPr dirty="0" sz="1100" spc="-5">
                <a:latin typeface="Arial"/>
                <a:cs typeface="Arial"/>
              </a:rPr>
              <a:t>A theory of development in which surplus labor from the  traditional agricultural sector is transferred to the modern industrial sector, the growth of  which absorbs the surplus labor, promotes industrialization, and stimulates sustained  development.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37</a:t>
            </a:r>
            <a:endParaRPr sz="1100">
              <a:latin typeface="Carlito"/>
              <a:cs typeface="Carli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1130300" y="901699"/>
            <a:ext cx="5741035" cy="674370"/>
          </a:xfrm>
          <a:prstGeom prst="rect">
            <a:avLst/>
          </a:prstGeom>
        </p:spPr>
        <p:txBody>
          <a:bodyPr wrap="square" lIns="0" tIns="19050" rIns="0" bIns="0" rtlCol="0" vert="horz">
            <a:spAutoFit/>
          </a:bodyPr>
          <a:lstStyle/>
          <a:p>
            <a:pPr algn="just" marL="240665" marR="5080" indent="-228600">
              <a:lnSpc>
                <a:spcPct val="95800"/>
              </a:lnSpc>
              <a:spcBef>
                <a:spcPts val="150"/>
              </a:spcBef>
              <a:buFont typeface="Symbol"/>
              <a:buChar char=""/>
              <a:tabLst>
                <a:tab pos="241300" algn="l"/>
              </a:tabLst>
            </a:pPr>
            <a:r>
              <a:rPr dirty="0" sz="1100" spc="-5" b="1">
                <a:latin typeface="Arial"/>
                <a:cs typeface="Arial"/>
              </a:rPr>
              <a:t>Surplus labor: </a:t>
            </a:r>
            <a:r>
              <a:rPr dirty="0" sz="1100" spc="-5">
                <a:latin typeface="Arial"/>
                <a:cs typeface="Arial"/>
              </a:rPr>
              <a:t>The excess supply of labor </a:t>
            </a:r>
            <a:r>
              <a:rPr dirty="0" sz="1100">
                <a:latin typeface="Arial"/>
                <a:cs typeface="Arial"/>
              </a:rPr>
              <a:t>over </a:t>
            </a:r>
            <a:r>
              <a:rPr dirty="0" sz="1100" spc="-5">
                <a:latin typeface="Arial"/>
                <a:cs typeface="Arial"/>
              </a:rPr>
              <a:t>and above the quantity demanded at  the going free-market wage rate. In the Lewis two-sector model of economic  development, surplus labor refers to the portion of the rural labor force whose marginal  productivity is zero or</a:t>
            </a:r>
            <a:r>
              <a:rPr dirty="0" sz="1100" spc="15">
                <a:latin typeface="Arial"/>
                <a:cs typeface="Arial"/>
              </a:rPr>
              <a:t> </a:t>
            </a:r>
            <a:r>
              <a:rPr dirty="0" sz="1100" spc="-5">
                <a:latin typeface="Arial"/>
                <a:cs typeface="Arial"/>
              </a:rPr>
              <a:t>negative.</a:t>
            </a:r>
            <a:endParaRPr sz="1100">
              <a:latin typeface="Arial"/>
              <a:cs typeface="Arial"/>
            </a:endParaRPr>
          </a:p>
        </p:txBody>
      </p:sp>
      <p:sp>
        <p:nvSpPr>
          <p:cNvPr id="7" name="object 7"/>
          <p:cNvSpPr/>
          <p:nvPr/>
        </p:nvSpPr>
        <p:spPr>
          <a:xfrm>
            <a:off x="1031747" y="1800605"/>
            <a:ext cx="5708904" cy="592455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38</a:t>
            </a:r>
            <a:endParaRPr sz="1100">
              <a:latin typeface="Carlito"/>
              <a:cs typeface="Carli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905" cy="811720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We can illustrate the Lewis model of modern-sector growth in a two-sector economy by using  Figure 3.1. Consider first the traditional agricultural sector portrayed in the two right-side  diagrams of Figure 3.1b. The upper diagram shows how subsistence food production varies with  increases in labor inputs. It is a typical agricultural </a:t>
            </a:r>
            <a:r>
              <a:rPr dirty="0" sz="1100" spc="-5" b="1">
                <a:latin typeface="Arial"/>
                <a:cs typeface="Arial"/>
              </a:rPr>
              <a:t>production function </a:t>
            </a:r>
            <a:r>
              <a:rPr dirty="0" sz="1100" spc="-5">
                <a:latin typeface="Arial"/>
                <a:cs typeface="Arial"/>
              </a:rPr>
              <a:t>in which the total output  or product (TPA) of food is determined by changes in the amount of the only variable input,  labor (LA), given a </a:t>
            </a:r>
            <a:r>
              <a:rPr dirty="0" sz="1100">
                <a:latin typeface="Arial"/>
                <a:cs typeface="Arial"/>
              </a:rPr>
              <a:t>fixed </a:t>
            </a:r>
            <a:r>
              <a:rPr dirty="0" sz="1100" spc="-5">
                <a:latin typeface="Arial"/>
                <a:cs typeface="Arial"/>
              </a:rPr>
              <a:t>quantity </a:t>
            </a:r>
            <a:r>
              <a:rPr dirty="0" sz="1100">
                <a:latin typeface="Arial"/>
                <a:cs typeface="Arial"/>
              </a:rPr>
              <a:t>of </a:t>
            </a:r>
            <a:r>
              <a:rPr dirty="0" sz="1100" spc="-5">
                <a:latin typeface="Arial"/>
                <a:cs typeface="Arial"/>
              </a:rPr>
              <a:t>capital, KA, and unchanging traditional technology, . In the  lower-right diagram, we have the </a:t>
            </a:r>
            <a:r>
              <a:rPr dirty="0" sz="1100" spc="-5" b="1">
                <a:latin typeface="Arial"/>
                <a:cs typeface="Arial"/>
              </a:rPr>
              <a:t>average and marginal product of labor </a:t>
            </a:r>
            <a:r>
              <a:rPr dirty="0" sz="1100" spc="-5">
                <a:latin typeface="Arial"/>
                <a:cs typeface="Arial"/>
              </a:rPr>
              <a:t>curves, APLA and  </a:t>
            </a:r>
            <a:r>
              <a:rPr dirty="0" sz="1100" spc="-10">
                <a:latin typeface="Arial"/>
                <a:cs typeface="Arial"/>
              </a:rPr>
              <a:t>MPLA.</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Lewis makes two assumptions about the traditional sector. First, there is surplus labor in the  sense that MPLA is zero, and second, all rural workers share </a:t>
            </a:r>
            <a:r>
              <a:rPr dirty="0" sz="1100" spc="-5" b="1">
                <a:latin typeface="Arial"/>
                <a:cs typeface="Arial"/>
              </a:rPr>
              <a:t>equally </a:t>
            </a:r>
            <a:r>
              <a:rPr dirty="0" sz="1100">
                <a:latin typeface="Arial"/>
                <a:cs typeface="Arial"/>
              </a:rPr>
              <a:t>in </a:t>
            </a:r>
            <a:r>
              <a:rPr dirty="0" sz="1100" spc="-5">
                <a:latin typeface="Arial"/>
                <a:cs typeface="Arial"/>
              </a:rPr>
              <a:t>the output so that the  rural real wage is determined by the average and not the marginal product of</a:t>
            </a:r>
            <a:r>
              <a:rPr dirty="0" sz="1100" spc="135">
                <a:latin typeface="Arial"/>
                <a:cs typeface="Arial"/>
              </a:rPr>
              <a:t> </a:t>
            </a:r>
            <a:r>
              <a:rPr dirty="0" sz="1100" spc="-5">
                <a:latin typeface="Arial"/>
                <a:cs typeface="Arial"/>
              </a:rPr>
              <a:t>labor.</a:t>
            </a:r>
            <a:endParaRPr sz="1100">
              <a:latin typeface="Arial"/>
              <a:cs typeface="Arial"/>
            </a:endParaRPr>
          </a:p>
          <a:p>
            <a:pPr>
              <a:lnSpc>
                <a:spcPct val="100000"/>
              </a:lnSpc>
              <a:spcBef>
                <a:spcPts val="20"/>
              </a:spcBef>
            </a:pPr>
            <a:endParaRPr sz="1050">
              <a:latin typeface="Arial"/>
              <a:cs typeface="Arial"/>
            </a:endParaRPr>
          </a:p>
          <a:p>
            <a:pPr algn="just" marL="12700" marR="6350">
              <a:lnSpc>
                <a:spcPct val="95800"/>
              </a:lnSpc>
            </a:pPr>
            <a:r>
              <a:rPr dirty="0" sz="1100" spc="-5">
                <a:latin typeface="Arial"/>
                <a:cs typeface="Arial"/>
              </a:rPr>
              <a:t>The upper-left diagram of Figure 3.1a portrays the total product (production function) curves for  the modern industrial sector. WA in the lower diagrams of Figures 3.1a and 3.1b represents the  average level of real subsistence income in the traditional rural sector. WM in Figure 3.1a is  therefore the real wage in the modern capitalist sector. At this wage, the supply of </a:t>
            </a:r>
            <a:r>
              <a:rPr dirty="0" sz="1100">
                <a:latin typeface="Arial"/>
                <a:cs typeface="Arial"/>
              </a:rPr>
              <a:t>rural </a:t>
            </a:r>
            <a:r>
              <a:rPr dirty="0" sz="1100" spc="-5">
                <a:latin typeface="Arial"/>
                <a:cs typeface="Arial"/>
              </a:rPr>
              <a:t>labor is  assumed to be unlimited or perfectly elastic, as shown by the horizontal labor supply curve  WMSL.</a:t>
            </a:r>
            <a:endParaRPr sz="1100">
              <a:latin typeface="Arial"/>
              <a:cs typeface="Arial"/>
            </a:endParaRPr>
          </a:p>
          <a:p>
            <a:pPr>
              <a:lnSpc>
                <a:spcPct val="100000"/>
              </a:lnSpc>
              <a:spcBef>
                <a:spcPts val="55"/>
              </a:spcBef>
            </a:pPr>
            <a:endParaRPr sz="1050">
              <a:latin typeface="Arial"/>
              <a:cs typeface="Arial"/>
            </a:endParaRPr>
          </a:p>
          <a:p>
            <a:pPr algn="just" marL="12700" marR="6350">
              <a:lnSpc>
                <a:spcPct val="95800"/>
              </a:lnSpc>
            </a:pPr>
            <a:r>
              <a:rPr dirty="0" sz="1100" spc="-5">
                <a:latin typeface="Arial"/>
                <a:cs typeface="Arial"/>
              </a:rPr>
              <a:t>This process of modern-sector </a:t>
            </a:r>
            <a:r>
              <a:rPr dirty="0" sz="1100" spc="-5" b="1">
                <a:latin typeface="Arial"/>
                <a:cs typeface="Arial"/>
              </a:rPr>
              <a:t>self-sustaining </a:t>
            </a:r>
            <a:r>
              <a:rPr dirty="0" sz="1100" b="1">
                <a:latin typeface="Arial"/>
                <a:cs typeface="Arial"/>
              </a:rPr>
              <a:t>growth </a:t>
            </a:r>
            <a:r>
              <a:rPr dirty="0" sz="1100" spc="-5">
                <a:latin typeface="Arial"/>
                <a:cs typeface="Arial"/>
              </a:rPr>
              <a:t>and employment expansion is assumed  to continue until all surplus rural labor is absorbed in the new industrial sector. Thereafter,  additional workers can be withdrawn from the agricultural sector only at a higher cost of lost  food production because the declining labor-to-land ratio means that the marginal product of  rural labor is no longer zero. This is known as the “Lewis turning point.” Thus the labor supply  curve becomes positively sloped as modern-sector wages and employment continue to grow.  The structural transformation of the economy will have taken place, with the balance of  economic activity shifting from traditional rural agriculture to modern urban</a:t>
            </a:r>
            <a:r>
              <a:rPr dirty="0" sz="1100" spc="105">
                <a:latin typeface="Arial"/>
                <a:cs typeface="Arial"/>
              </a:rPr>
              <a:t> </a:t>
            </a:r>
            <a:r>
              <a:rPr dirty="0" sz="1100" spc="-5">
                <a:latin typeface="Arial"/>
                <a:cs typeface="Arial"/>
              </a:rPr>
              <a:t>industry.</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CRITICISM</a:t>
            </a:r>
            <a:endParaRPr sz="1100">
              <a:latin typeface="Arial"/>
              <a:cs typeface="Arial"/>
            </a:endParaRPr>
          </a:p>
          <a:p>
            <a:pPr>
              <a:lnSpc>
                <a:spcPct val="100000"/>
              </a:lnSpc>
              <a:spcBef>
                <a:spcPts val="10"/>
              </a:spcBef>
            </a:pPr>
            <a:endParaRPr sz="1250">
              <a:latin typeface="Arial"/>
              <a:cs typeface="Arial"/>
            </a:endParaRPr>
          </a:p>
          <a:p>
            <a:pPr algn="just" marL="469900" marR="6350" indent="-228600">
              <a:lnSpc>
                <a:spcPct val="95700"/>
              </a:lnSpc>
              <a:buFont typeface="Symbol"/>
              <a:buChar char=""/>
              <a:tabLst>
                <a:tab pos="470534" algn="l"/>
              </a:tabLst>
            </a:pPr>
            <a:r>
              <a:rPr dirty="0" sz="1100" spc="-5">
                <a:latin typeface="Arial"/>
                <a:cs typeface="Arial"/>
              </a:rPr>
              <a:t>First, the model implicitly assumes that the rate of labor transfer and employment  creation in the modern sector is proportional to the rate of modern sector capital  accumulation.</a:t>
            </a:r>
            <a:endParaRPr sz="1100">
              <a:latin typeface="Arial"/>
              <a:cs typeface="Arial"/>
            </a:endParaRPr>
          </a:p>
          <a:p>
            <a:pPr algn="just" marL="469900" marR="6985" indent="-228600">
              <a:lnSpc>
                <a:spcPts val="1260"/>
              </a:lnSpc>
              <a:spcBef>
                <a:spcPts val="114"/>
              </a:spcBef>
              <a:buFont typeface="Symbol"/>
              <a:buChar char=""/>
              <a:tabLst>
                <a:tab pos="470534" algn="l"/>
              </a:tabLst>
            </a:pPr>
            <a:r>
              <a:rPr dirty="0" sz="1100" spc="-5">
                <a:latin typeface="Arial"/>
                <a:cs typeface="Arial"/>
              </a:rPr>
              <a:t>The second questionable assumption of the Lewis model is the notion that surplus labor  exists in rural areas while there is full employment in the urban</a:t>
            </a:r>
            <a:r>
              <a:rPr dirty="0" sz="1100" spc="90">
                <a:latin typeface="Arial"/>
                <a:cs typeface="Arial"/>
              </a:rPr>
              <a:t> </a:t>
            </a:r>
            <a:r>
              <a:rPr dirty="0" sz="1100" spc="-5">
                <a:latin typeface="Arial"/>
                <a:cs typeface="Arial"/>
              </a:rPr>
              <a:t>areas.</a:t>
            </a:r>
            <a:endParaRPr sz="1100">
              <a:latin typeface="Arial"/>
              <a:cs typeface="Arial"/>
            </a:endParaRPr>
          </a:p>
          <a:p>
            <a:pPr algn="just" marL="469900" marR="5715" indent="-228600">
              <a:lnSpc>
                <a:spcPct val="95700"/>
              </a:lnSpc>
              <a:spcBef>
                <a:spcPts val="50"/>
              </a:spcBef>
              <a:buFont typeface="Symbol"/>
              <a:buChar char=""/>
              <a:tabLst>
                <a:tab pos="470534" algn="l"/>
              </a:tabLst>
            </a:pPr>
            <a:r>
              <a:rPr dirty="0" sz="1100" spc="-5">
                <a:latin typeface="Arial"/>
                <a:cs typeface="Arial"/>
              </a:rPr>
              <a:t>The third dubious assumption is the notion of a competitive modern sector labor market  that guarantees the continued existence of constant real urban wages up to the point  where the supply of rural surplus labor is</a:t>
            </a:r>
            <a:r>
              <a:rPr dirty="0" sz="1100" spc="35">
                <a:latin typeface="Arial"/>
                <a:cs typeface="Arial"/>
              </a:rPr>
              <a:t> </a:t>
            </a:r>
            <a:r>
              <a:rPr dirty="0" sz="1100" spc="-5">
                <a:latin typeface="Arial"/>
                <a:cs typeface="Arial"/>
              </a:rPr>
              <a:t>exhausted.</a:t>
            </a:r>
            <a:endParaRPr sz="1100">
              <a:latin typeface="Arial"/>
              <a:cs typeface="Arial"/>
            </a:endParaRPr>
          </a:p>
          <a:p>
            <a:pPr algn="just" marL="469900" marR="6350" indent="-228600">
              <a:lnSpc>
                <a:spcPts val="1260"/>
              </a:lnSpc>
              <a:spcBef>
                <a:spcPts val="114"/>
              </a:spcBef>
              <a:buFont typeface="Symbol"/>
              <a:buChar char=""/>
              <a:tabLst>
                <a:tab pos="470534" algn="l"/>
              </a:tabLst>
            </a:pPr>
            <a:r>
              <a:rPr dirty="0" sz="1100" spc="-5">
                <a:latin typeface="Arial"/>
                <a:cs typeface="Arial"/>
              </a:rPr>
              <a:t>A final concern with the Lewis model is its assumption of diminishing returns in the  modern industrial</a:t>
            </a:r>
            <a:r>
              <a:rPr dirty="0" sz="1100">
                <a:latin typeface="Arial"/>
                <a:cs typeface="Arial"/>
              </a:rPr>
              <a:t> </a:t>
            </a:r>
            <a:r>
              <a:rPr dirty="0" sz="1100" spc="-5">
                <a:latin typeface="Arial"/>
                <a:cs typeface="Arial"/>
              </a:rPr>
              <a:t>sector.</a:t>
            </a:r>
            <a:endParaRPr sz="1100">
              <a:latin typeface="Arial"/>
              <a:cs typeface="Arial"/>
            </a:endParaRPr>
          </a:p>
          <a:p>
            <a:pPr>
              <a:lnSpc>
                <a:spcPct val="100000"/>
              </a:lnSpc>
              <a:spcBef>
                <a:spcPts val="35"/>
              </a:spcBef>
            </a:pPr>
            <a:endParaRPr sz="1000">
              <a:latin typeface="Arial"/>
              <a:cs typeface="Arial"/>
            </a:endParaRPr>
          </a:p>
          <a:p>
            <a:pPr marL="12700">
              <a:lnSpc>
                <a:spcPct val="100000"/>
              </a:lnSpc>
              <a:spcBef>
                <a:spcPts val="5"/>
              </a:spcBef>
            </a:pPr>
            <a:r>
              <a:rPr dirty="0" sz="1100" spc="-5" b="1">
                <a:latin typeface="Arial"/>
                <a:cs typeface="Arial"/>
              </a:rPr>
              <a:t>(II) STRUCTURAL CHANGE AND PATTERNS OF</a:t>
            </a:r>
            <a:r>
              <a:rPr dirty="0" sz="1100" spc="3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15"/>
              </a:spcBef>
            </a:pPr>
            <a:endParaRPr sz="1100">
              <a:latin typeface="Arial"/>
              <a:cs typeface="Arial"/>
            </a:endParaRPr>
          </a:p>
          <a:p>
            <a:pPr algn="just" marL="12700" marR="6350">
              <a:lnSpc>
                <a:spcPts val="1270"/>
              </a:lnSpc>
            </a:pPr>
            <a:r>
              <a:rPr dirty="0" sz="1100" spc="-5" b="1">
                <a:latin typeface="Arial"/>
                <a:cs typeface="Arial"/>
              </a:rPr>
              <a:t>Patterns-of-development Analysis: </a:t>
            </a:r>
            <a:r>
              <a:rPr dirty="0" sz="1100" spc="-5">
                <a:latin typeface="Arial"/>
                <a:cs typeface="Arial"/>
              </a:rPr>
              <a:t>An attempt to identify characteristic features of the  internal process of structural transformation that a “typical” developing economy undergoes as it  generates and sustains modern economic growth and</a:t>
            </a:r>
            <a:r>
              <a:rPr dirty="0" sz="1100" spc="35">
                <a:latin typeface="Arial"/>
                <a:cs typeface="Arial"/>
              </a:rPr>
              <a:t> </a:t>
            </a:r>
            <a:r>
              <a:rPr dirty="0" sz="1100" spc="-5">
                <a:latin typeface="Arial"/>
                <a:cs typeface="Arial"/>
              </a:rPr>
              <a:t>development.</a:t>
            </a:r>
            <a:endParaRPr sz="1100">
              <a:latin typeface="Arial"/>
              <a:cs typeface="Arial"/>
            </a:endParaRPr>
          </a:p>
          <a:p>
            <a:pPr>
              <a:lnSpc>
                <a:spcPct val="100000"/>
              </a:lnSpc>
              <a:spcBef>
                <a:spcPts val="50"/>
              </a:spcBef>
            </a:pPr>
            <a:endParaRPr sz="1050">
              <a:latin typeface="Arial"/>
              <a:cs typeface="Arial"/>
            </a:endParaRPr>
          </a:p>
          <a:p>
            <a:pPr algn="just" marL="12700" marR="5715">
              <a:lnSpc>
                <a:spcPts val="1270"/>
              </a:lnSpc>
            </a:pPr>
            <a:r>
              <a:rPr dirty="0" sz="1100" spc="-5">
                <a:latin typeface="Arial"/>
                <a:cs typeface="Arial"/>
              </a:rPr>
              <a:t>The best-known model of structural change is the one based largely on the empirical work of  Harvard</a:t>
            </a:r>
            <a:r>
              <a:rPr dirty="0" sz="1100" spc="145">
                <a:latin typeface="Arial"/>
                <a:cs typeface="Arial"/>
              </a:rPr>
              <a:t> </a:t>
            </a:r>
            <a:r>
              <a:rPr dirty="0" sz="1100" spc="-5">
                <a:latin typeface="Arial"/>
                <a:cs typeface="Arial"/>
              </a:rPr>
              <a:t>economist</a:t>
            </a:r>
            <a:r>
              <a:rPr dirty="0" sz="1100" spc="155">
                <a:latin typeface="Arial"/>
                <a:cs typeface="Arial"/>
              </a:rPr>
              <a:t> </a:t>
            </a:r>
            <a:r>
              <a:rPr dirty="0" sz="1100" spc="-5" b="1">
                <a:latin typeface="Arial"/>
                <a:cs typeface="Arial"/>
              </a:rPr>
              <a:t>Hollis</a:t>
            </a:r>
            <a:r>
              <a:rPr dirty="0" sz="1100" spc="150" b="1">
                <a:latin typeface="Arial"/>
                <a:cs typeface="Arial"/>
              </a:rPr>
              <a:t> </a:t>
            </a:r>
            <a:r>
              <a:rPr dirty="0" sz="1100" spc="-5" b="1">
                <a:latin typeface="Arial"/>
                <a:cs typeface="Arial"/>
              </a:rPr>
              <a:t>B.</a:t>
            </a:r>
            <a:r>
              <a:rPr dirty="0" sz="1100" spc="150" b="1">
                <a:latin typeface="Arial"/>
                <a:cs typeface="Arial"/>
              </a:rPr>
              <a:t> </a:t>
            </a:r>
            <a:r>
              <a:rPr dirty="0" sz="1100" spc="-5" b="1">
                <a:latin typeface="Arial"/>
                <a:cs typeface="Arial"/>
              </a:rPr>
              <a:t>Chenery</a:t>
            </a:r>
            <a:r>
              <a:rPr dirty="0" sz="1100" spc="140" b="1">
                <a:latin typeface="Arial"/>
                <a:cs typeface="Arial"/>
              </a:rPr>
              <a:t> </a:t>
            </a:r>
            <a:r>
              <a:rPr dirty="0" sz="1100" spc="-5" b="1">
                <a:latin typeface="Arial"/>
                <a:cs typeface="Arial"/>
              </a:rPr>
              <a:t>and</a:t>
            </a:r>
            <a:r>
              <a:rPr dirty="0" sz="1100" spc="160" b="1">
                <a:latin typeface="Arial"/>
                <a:cs typeface="Arial"/>
              </a:rPr>
              <a:t> </a:t>
            </a:r>
            <a:r>
              <a:rPr dirty="0" sz="1100" spc="-5" b="1">
                <a:latin typeface="Arial"/>
                <a:cs typeface="Arial"/>
              </a:rPr>
              <a:t>his</a:t>
            </a:r>
            <a:r>
              <a:rPr dirty="0" sz="1100" spc="150" b="1">
                <a:latin typeface="Arial"/>
                <a:cs typeface="Arial"/>
              </a:rPr>
              <a:t> </a:t>
            </a:r>
            <a:r>
              <a:rPr dirty="0" sz="1100" spc="-5" b="1">
                <a:latin typeface="Arial"/>
                <a:cs typeface="Arial"/>
              </a:rPr>
              <a:t>colleagues</a:t>
            </a:r>
            <a:r>
              <a:rPr dirty="0" sz="1100" spc="-5">
                <a:latin typeface="Arial"/>
                <a:cs typeface="Arial"/>
              </a:rPr>
              <a:t>,</a:t>
            </a:r>
            <a:r>
              <a:rPr dirty="0" sz="1100" spc="145">
                <a:latin typeface="Arial"/>
                <a:cs typeface="Arial"/>
              </a:rPr>
              <a:t> </a:t>
            </a:r>
            <a:r>
              <a:rPr dirty="0" sz="1100" spc="-5">
                <a:latin typeface="Arial"/>
                <a:cs typeface="Arial"/>
              </a:rPr>
              <a:t>who</a:t>
            </a:r>
            <a:r>
              <a:rPr dirty="0" sz="1100" spc="150">
                <a:latin typeface="Arial"/>
                <a:cs typeface="Arial"/>
              </a:rPr>
              <a:t> </a:t>
            </a:r>
            <a:r>
              <a:rPr dirty="0" sz="1100" spc="-5">
                <a:latin typeface="Arial"/>
                <a:cs typeface="Arial"/>
              </a:rPr>
              <a:t>examined</a:t>
            </a:r>
            <a:r>
              <a:rPr dirty="0" sz="1100" spc="160">
                <a:latin typeface="Arial"/>
                <a:cs typeface="Arial"/>
              </a:rPr>
              <a:t> </a:t>
            </a:r>
            <a:r>
              <a:rPr dirty="0" sz="1100" spc="-5">
                <a:latin typeface="Arial"/>
                <a:cs typeface="Arial"/>
              </a:rPr>
              <a:t>patterns</a:t>
            </a:r>
            <a:r>
              <a:rPr dirty="0" sz="1100" spc="150">
                <a:latin typeface="Arial"/>
                <a:cs typeface="Arial"/>
              </a:rPr>
              <a:t> </a:t>
            </a:r>
            <a:r>
              <a:rPr dirty="0" sz="1100" spc="-5">
                <a:latin typeface="Arial"/>
                <a:cs typeface="Arial"/>
              </a:rPr>
              <a:t>of</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39</a:t>
            </a:r>
            <a:endParaRPr sz="1100">
              <a:latin typeface="Carlito"/>
              <a:cs typeface="Carli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64725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development for numerous developing countries during the postwar period. (This approach also  built on research by Nobel laureate Simon Kuznets on modern economic growth of developed  countries). Their empirical studies, both cross-sectional (among countries at a given point in  time) and time-series (over long periods of time), of countries at different levels of per capita  income led to the identification of several characteristic features of the development</a:t>
            </a:r>
            <a:r>
              <a:rPr dirty="0" sz="1100" spc="200">
                <a:latin typeface="Arial"/>
                <a:cs typeface="Arial"/>
              </a:rPr>
              <a:t> </a:t>
            </a:r>
            <a:r>
              <a:rPr dirty="0" sz="1100" spc="-5">
                <a:latin typeface="Arial"/>
                <a:cs typeface="Arial"/>
              </a:rPr>
              <a:t>process.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These included the shift from agricultural to industrial production, the steady accumulation of  physical and human capital, the change in consumer demands from emphasis on food and  basic necessities to desires for diverse manufactured goods and services, the growth of cities  and urban industries as people migrate from farms and small towns, and the decline in family  size and overall population growth as children lose their economic value and parents substitute  what is traditionally labeled child quality (education) for quantity, with population growth </a:t>
            </a:r>
            <a:r>
              <a:rPr dirty="0" sz="1100">
                <a:latin typeface="Arial"/>
                <a:cs typeface="Arial"/>
              </a:rPr>
              <a:t>first  </a:t>
            </a:r>
            <a:r>
              <a:rPr dirty="0" sz="1100" spc="-5">
                <a:latin typeface="Arial"/>
                <a:cs typeface="Arial"/>
              </a:rPr>
              <a:t>increasing and then decreasing in the process of development. Proponents of this school often  call for development specialists to “let the facts speak for themselves” rather than get bogged  down in the arcane of theories such as the stages of growth. This is a valuable counterbalance  to empty theorizing, but it also has its own</a:t>
            </a:r>
            <a:r>
              <a:rPr dirty="0" sz="1100" spc="35">
                <a:latin typeface="Arial"/>
                <a:cs typeface="Arial"/>
              </a:rPr>
              <a:t> </a:t>
            </a:r>
            <a:r>
              <a:rPr dirty="0" sz="1100" spc="-5">
                <a:latin typeface="Arial"/>
                <a:cs typeface="Arial"/>
              </a:rPr>
              <a:t>limits.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CONCLUSIONS AND</a:t>
            </a:r>
            <a:r>
              <a:rPr dirty="0" sz="1100" spc="5" b="1">
                <a:latin typeface="Arial"/>
                <a:cs typeface="Arial"/>
              </a:rPr>
              <a:t> </a:t>
            </a:r>
            <a:r>
              <a:rPr dirty="0" sz="1100" spc="-5" b="1">
                <a:latin typeface="Arial"/>
                <a:cs typeface="Arial"/>
              </a:rPr>
              <a:t>IMPLICATIONS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The structural changes that we have described are the “average” patterns of development  Chenery </a:t>
            </a:r>
            <a:r>
              <a:rPr dirty="0" sz="1100">
                <a:latin typeface="Arial"/>
                <a:cs typeface="Arial"/>
              </a:rPr>
              <a:t>and </a:t>
            </a:r>
            <a:r>
              <a:rPr dirty="0" sz="1100" spc="-5">
                <a:latin typeface="Arial"/>
                <a:cs typeface="Arial"/>
              </a:rPr>
              <a:t>colleagues observed among countries in time-series and cross-sectional analyses.  The major hypothesis of the structural-change model is that development is an identifiable  process of growth and change whose main features are similar in all countries. However, </a:t>
            </a:r>
            <a:r>
              <a:rPr dirty="0" sz="1100">
                <a:latin typeface="Arial"/>
                <a:cs typeface="Arial"/>
              </a:rPr>
              <a:t>as  </a:t>
            </a:r>
            <a:r>
              <a:rPr dirty="0" sz="1100" spc="-5">
                <a:latin typeface="Arial"/>
                <a:cs typeface="Arial"/>
              </a:rPr>
              <a:t>mentioned earlier, the model does recognize that differences can arise among countries in the  pace and pattern of development, depending on their particular set of circumstances. Factors  influencing the development process include a </a:t>
            </a:r>
            <a:r>
              <a:rPr dirty="0" sz="1100">
                <a:latin typeface="Arial"/>
                <a:cs typeface="Arial"/>
              </a:rPr>
              <a:t>country’s </a:t>
            </a:r>
            <a:r>
              <a:rPr dirty="0" sz="1100" spc="-5">
                <a:latin typeface="Arial"/>
                <a:cs typeface="Arial"/>
              </a:rPr>
              <a:t>resource endowment </a:t>
            </a:r>
            <a:r>
              <a:rPr dirty="0" sz="1100">
                <a:latin typeface="Arial"/>
                <a:cs typeface="Arial"/>
              </a:rPr>
              <a:t>and </a:t>
            </a:r>
            <a:r>
              <a:rPr dirty="0" sz="1100" spc="-5">
                <a:latin typeface="Arial"/>
                <a:cs typeface="Arial"/>
              </a:rPr>
              <a:t>size, its  government’s policies and objectives, the availability of external capital and technology, and </a:t>
            </a:r>
            <a:r>
              <a:rPr dirty="0" sz="1100">
                <a:latin typeface="Arial"/>
                <a:cs typeface="Arial"/>
              </a:rPr>
              <a:t>the  </a:t>
            </a:r>
            <a:r>
              <a:rPr dirty="0" sz="1100" spc="-5">
                <a:latin typeface="Arial"/>
                <a:cs typeface="Arial"/>
              </a:rPr>
              <a:t>international trade</a:t>
            </a:r>
            <a:r>
              <a:rPr dirty="0" sz="1100" spc="5">
                <a:latin typeface="Arial"/>
                <a:cs typeface="Arial"/>
              </a:rPr>
              <a:t> </a:t>
            </a:r>
            <a:r>
              <a:rPr dirty="0" sz="1100" spc="-5">
                <a:latin typeface="Arial"/>
                <a:cs typeface="Arial"/>
              </a:rPr>
              <a:t>environment.</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One limitation to keep in mind is that by emphasizing patterns rather than theory, this approach  runs the risk of leading practitioners to draw the wrong conclusions about causality—in effect, to  “put the cart before the horse.” Observing developed-country patterns </a:t>
            </a:r>
            <a:r>
              <a:rPr dirty="0" sz="1100">
                <a:latin typeface="Arial"/>
                <a:cs typeface="Arial"/>
              </a:rPr>
              <a:t>such </a:t>
            </a:r>
            <a:r>
              <a:rPr dirty="0" sz="1100" spc="-5">
                <a:latin typeface="Arial"/>
                <a:cs typeface="Arial"/>
              </a:rPr>
              <a:t>as the decline of the  share of the labor force in agriculture over </a:t>
            </a:r>
            <a:r>
              <a:rPr dirty="0" sz="1100">
                <a:latin typeface="Arial"/>
                <a:cs typeface="Arial"/>
              </a:rPr>
              <a:t>time, </a:t>
            </a:r>
            <a:r>
              <a:rPr dirty="0" sz="1100" spc="-5">
                <a:latin typeface="Arial"/>
                <a:cs typeface="Arial"/>
              </a:rPr>
              <a:t>many developing-country policymakers have  been inclined to neglect that vital</a:t>
            </a:r>
            <a:r>
              <a:rPr dirty="0" sz="1100" spc="20">
                <a:latin typeface="Arial"/>
                <a:cs typeface="Arial"/>
              </a:rPr>
              <a:t> </a:t>
            </a:r>
            <a:r>
              <a:rPr dirty="0" sz="1100" spc="-5">
                <a:latin typeface="Arial"/>
                <a:cs typeface="Arial"/>
              </a:rPr>
              <a:t>sector.</a:t>
            </a:r>
            <a:endParaRPr sz="1100">
              <a:latin typeface="Arial"/>
              <a:cs typeface="Arial"/>
            </a:endParaRPr>
          </a:p>
          <a:p>
            <a:pPr>
              <a:lnSpc>
                <a:spcPct val="100000"/>
              </a:lnSpc>
            </a:pPr>
            <a:endParaRPr sz="1100">
              <a:latin typeface="Arial"/>
              <a:cs typeface="Arial"/>
            </a:endParaRPr>
          </a:p>
          <a:p>
            <a:pPr algn="just" marL="12700" marR="6985">
              <a:lnSpc>
                <a:spcPct val="95800"/>
              </a:lnSpc>
              <a:spcBef>
                <a:spcPts val="5"/>
              </a:spcBef>
            </a:pPr>
            <a:r>
              <a:rPr dirty="0" sz="1100" spc="-5">
                <a:latin typeface="Arial"/>
                <a:cs typeface="Arial"/>
              </a:rPr>
              <a:t>Empirical studies on the process of structural change lead to the conclusion that the pace and  pattern of development can vary according to both domestic and international factors, many of  which lie beyond the control of an individual developing nation. Yet despite this variation,  structural-change economists argue that one can identify certain patterns occurring in almost all  countries during the development</a:t>
            </a:r>
            <a:r>
              <a:rPr dirty="0" sz="1100" spc="15">
                <a:latin typeface="Arial"/>
                <a:cs typeface="Arial"/>
              </a:rPr>
              <a:t> </a:t>
            </a:r>
            <a:r>
              <a:rPr dirty="0" sz="1100" spc="-5">
                <a:latin typeface="Arial"/>
                <a:cs typeface="Arial"/>
              </a:rPr>
              <a:t>process.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40</a:t>
            </a:r>
            <a:endParaRPr sz="1100">
              <a:latin typeface="Carlito"/>
              <a:cs typeface="Carli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80605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06</a:t>
            </a:r>
            <a:endParaRPr sz="1100">
              <a:latin typeface="Arial"/>
              <a:cs typeface="Arial"/>
            </a:endParaRPr>
          </a:p>
          <a:p>
            <a:pPr>
              <a:lnSpc>
                <a:spcPct val="100000"/>
              </a:lnSpc>
              <a:spcBef>
                <a:spcPts val="10"/>
              </a:spcBef>
            </a:pPr>
            <a:endParaRPr sz="1150">
              <a:latin typeface="Arial"/>
              <a:cs typeface="Arial"/>
            </a:endParaRPr>
          </a:p>
          <a:p>
            <a:pPr marL="201295">
              <a:lnSpc>
                <a:spcPct val="100000"/>
              </a:lnSpc>
            </a:pPr>
            <a:r>
              <a:rPr dirty="0" sz="1100" spc="-5" b="1">
                <a:latin typeface="Arial"/>
                <a:cs typeface="Arial"/>
              </a:rPr>
              <a:t>CLASSIC THEORIES OF ECONOMIC </a:t>
            </a:r>
            <a:r>
              <a:rPr dirty="0" sz="1100" b="1">
                <a:latin typeface="Arial"/>
                <a:cs typeface="Arial"/>
              </a:rPr>
              <a:t>GROWTH AND </a:t>
            </a:r>
            <a:r>
              <a:rPr dirty="0" sz="1100" spc="-5" b="1">
                <a:latin typeface="Arial"/>
                <a:cs typeface="Arial"/>
              </a:rPr>
              <a:t>DEVELOPMENT</a:t>
            </a:r>
            <a:r>
              <a:rPr dirty="0" sz="1100" spc="70" b="1">
                <a:latin typeface="Arial"/>
                <a:cs typeface="Arial"/>
              </a:rPr>
              <a:t> </a:t>
            </a:r>
            <a:r>
              <a:rPr dirty="0" sz="1100" spc="-5" b="1">
                <a:latin typeface="Arial"/>
                <a:cs typeface="Arial"/>
              </a:rPr>
              <a:t>(CONTINUED2)</a:t>
            </a:r>
            <a:endParaRPr sz="1100">
              <a:latin typeface="Arial"/>
              <a:cs typeface="Arial"/>
            </a:endParaRPr>
          </a:p>
          <a:p>
            <a:pPr>
              <a:lnSpc>
                <a:spcPct val="100000"/>
              </a:lnSpc>
              <a:spcBef>
                <a:spcPts val="40"/>
              </a:spcBef>
            </a:pPr>
            <a:endParaRPr sz="1200">
              <a:latin typeface="Arial"/>
              <a:cs typeface="Arial"/>
            </a:endParaRPr>
          </a:p>
          <a:p>
            <a:pPr algn="just" marL="12700" marR="6350">
              <a:lnSpc>
                <a:spcPts val="1260"/>
              </a:lnSpc>
            </a:pPr>
            <a:r>
              <a:rPr dirty="0" sz="1100" spc="-5" b="1">
                <a:latin typeface="Arial"/>
                <a:cs typeface="Arial"/>
              </a:rPr>
              <a:t>THE NEOCLASSICAL COUNTERREVOLUTION: MARKET FUNDAMENTALISM:  CHALLENGING </a:t>
            </a:r>
            <a:r>
              <a:rPr dirty="0" sz="1100" b="1">
                <a:latin typeface="Arial"/>
                <a:cs typeface="Arial"/>
              </a:rPr>
              <a:t>THE </a:t>
            </a:r>
            <a:r>
              <a:rPr dirty="0" sz="1100" spc="-5" b="1">
                <a:latin typeface="Arial"/>
                <a:cs typeface="Arial"/>
              </a:rPr>
              <a:t>STATIC</a:t>
            </a:r>
            <a:r>
              <a:rPr dirty="0" sz="1100" b="1">
                <a:latin typeface="Arial"/>
                <a:cs typeface="Arial"/>
              </a:rPr>
              <a:t> </a:t>
            </a:r>
            <a:r>
              <a:rPr dirty="0" sz="1100" spc="-5" b="1">
                <a:latin typeface="Arial"/>
                <a:cs typeface="Arial"/>
              </a:rPr>
              <a:t>MODEL</a:t>
            </a:r>
            <a:endParaRPr sz="1100">
              <a:latin typeface="Arial"/>
              <a:cs typeface="Arial"/>
            </a:endParaRPr>
          </a:p>
          <a:p>
            <a:pPr>
              <a:lnSpc>
                <a:spcPct val="100000"/>
              </a:lnSpc>
              <a:spcBef>
                <a:spcPts val="50"/>
              </a:spcBef>
            </a:pPr>
            <a:endParaRPr sz="1150">
              <a:latin typeface="Arial"/>
              <a:cs typeface="Arial"/>
            </a:endParaRPr>
          </a:p>
          <a:p>
            <a:pPr algn="just" marL="12700" marR="6350">
              <a:lnSpc>
                <a:spcPts val="1270"/>
              </a:lnSpc>
            </a:pPr>
            <a:r>
              <a:rPr dirty="0" sz="1100" spc="-5">
                <a:latin typeface="Arial"/>
                <a:cs typeface="Arial"/>
              </a:rPr>
              <a:t>In the 1980s, the political ascendancy of conservative governments in the United States,  Canada, Britain, and West Germany came with a </a:t>
            </a:r>
            <a:r>
              <a:rPr dirty="0" sz="1100" spc="-5" b="1">
                <a:latin typeface="Arial"/>
                <a:cs typeface="Arial"/>
              </a:rPr>
              <a:t>neoclassical counterrevolution </a:t>
            </a:r>
            <a:r>
              <a:rPr dirty="0" sz="1100" spc="-5">
                <a:latin typeface="Arial"/>
                <a:cs typeface="Arial"/>
              </a:rPr>
              <a:t>in economic  theory and</a:t>
            </a:r>
            <a:r>
              <a:rPr dirty="0" sz="1100">
                <a:latin typeface="Arial"/>
                <a:cs typeface="Arial"/>
              </a:rPr>
              <a:t> </a:t>
            </a:r>
            <a:r>
              <a:rPr dirty="0" sz="1100" spc="-5">
                <a:latin typeface="Arial"/>
                <a:cs typeface="Arial"/>
              </a:rPr>
              <a:t>policy.</a:t>
            </a:r>
            <a:endParaRPr sz="1100">
              <a:latin typeface="Arial"/>
              <a:cs typeface="Arial"/>
            </a:endParaRPr>
          </a:p>
          <a:p>
            <a:pPr algn="just" marL="12700">
              <a:lnSpc>
                <a:spcPts val="1195"/>
              </a:lnSpc>
            </a:pPr>
            <a:r>
              <a:rPr dirty="0" sz="1100" spc="-5">
                <a:latin typeface="Arial"/>
                <a:cs typeface="Arial"/>
              </a:rPr>
              <a:t>The</a:t>
            </a:r>
            <a:r>
              <a:rPr dirty="0" sz="1100" spc="225">
                <a:latin typeface="Arial"/>
                <a:cs typeface="Arial"/>
              </a:rPr>
              <a:t> </a:t>
            </a:r>
            <a:r>
              <a:rPr dirty="0" sz="1100" spc="-5">
                <a:latin typeface="Arial"/>
                <a:cs typeface="Arial"/>
              </a:rPr>
              <a:t>central</a:t>
            </a:r>
            <a:r>
              <a:rPr dirty="0" sz="1100" spc="225">
                <a:latin typeface="Arial"/>
                <a:cs typeface="Arial"/>
              </a:rPr>
              <a:t> </a:t>
            </a:r>
            <a:r>
              <a:rPr dirty="0" sz="1100" spc="-5">
                <a:latin typeface="Arial"/>
                <a:cs typeface="Arial"/>
              </a:rPr>
              <a:t>argument</a:t>
            </a:r>
            <a:r>
              <a:rPr dirty="0" sz="1100" spc="220">
                <a:latin typeface="Arial"/>
                <a:cs typeface="Arial"/>
              </a:rPr>
              <a:t> </a:t>
            </a:r>
            <a:r>
              <a:rPr dirty="0" sz="1100" spc="-5">
                <a:latin typeface="Arial"/>
                <a:cs typeface="Arial"/>
              </a:rPr>
              <a:t>of</a:t>
            </a:r>
            <a:r>
              <a:rPr dirty="0" sz="1100" spc="220">
                <a:latin typeface="Arial"/>
                <a:cs typeface="Arial"/>
              </a:rPr>
              <a:t> </a:t>
            </a:r>
            <a:r>
              <a:rPr dirty="0" sz="1100" spc="-5">
                <a:latin typeface="Arial"/>
                <a:cs typeface="Arial"/>
              </a:rPr>
              <a:t>the</a:t>
            </a:r>
            <a:r>
              <a:rPr dirty="0" sz="1100" spc="229">
                <a:latin typeface="Arial"/>
                <a:cs typeface="Arial"/>
              </a:rPr>
              <a:t> </a:t>
            </a:r>
            <a:r>
              <a:rPr dirty="0" sz="1100" spc="-5">
                <a:latin typeface="Arial"/>
                <a:cs typeface="Arial"/>
              </a:rPr>
              <a:t>neoclassical</a:t>
            </a:r>
            <a:r>
              <a:rPr dirty="0" sz="1100" spc="220">
                <a:latin typeface="Arial"/>
                <a:cs typeface="Arial"/>
              </a:rPr>
              <a:t> </a:t>
            </a:r>
            <a:r>
              <a:rPr dirty="0" sz="1100" spc="-5">
                <a:latin typeface="Arial"/>
                <a:cs typeface="Arial"/>
              </a:rPr>
              <a:t>counterrevolution</a:t>
            </a:r>
            <a:r>
              <a:rPr dirty="0" sz="1100" spc="225">
                <a:latin typeface="Arial"/>
                <a:cs typeface="Arial"/>
              </a:rPr>
              <a:t> </a:t>
            </a:r>
            <a:r>
              <a:rPr dirty="0" sz="1100" spc="-5">
                <a:latin typeface="Arial"/>
                <a:cs typeface="Arial"/>
              </a:rPr>
              <a:t>is</a:t>
            </a:r>
            <a:r>
              <a:rPr dirty="0" sz="1100" spc="220">
                <a:latin typeface="Arial"/>
                <a:cs typeface="Arial"/>
              </a:rPr>
              <a:t> </a:t>
            </a:r>
            <a:r>
              <a:rPr dirty="0" sz="1100" spc="-5">
                <a:latin typeface="Arial"/>
                <a:cs typeface="Arial"/>
              </a:rPr>
              <a:t>that</a:t>
            </a:r>
            <a:r>
              <a:rPr dirty="0" sz="1100" spc="229">
                <a:latin typeface="Arial"/>
                <a:cs typeface="Arial"/>
              </a:rPr>
              <a:t> </a:t>
            </a:r>
            <a:r>
              <a:rPr dirty="0" sz="1100" spc="-5">
                <a:latin typeface="Arial"/>
                <a:cs typeface="Arial"/>
              </a:rPr>
              <a:t>underdevelopment</a:t>
            </a:r>
            <a:r>
              <a:rPr dirty="0" sz="1100" spc="220">
                <a:latin typeface="Arial"/>
                <a:cs typeface="Arial"/>
              </a:rPr>
              <a:t> </a:t>
            </a:r>
            <a:r>
              <a:rPr dirty="0" sz="1100" spc="-5">
                <a:latin typeface="Arial"/>
                <a:cs typeface="Arial"/>
              </a:rPr>
              <a:t>results</a:t>
            </a:r>
            <a:endParaRPr sz="1100">
              <a:latin typeface="Arial"/>
              <a:cs typeface="Arial"/>
            </a:endParaRPr>
          </a:p>
          <a:p>
            <a:pPr algn="just" marL="12700" marR="5715">
              <a:lnSpc>
                <a:spcPct val="95900"/>
              </a:lnSpc>
              <a:spcBef>
                <a:spcPts val="25"/>
              </a:spcBef>
            </a:pPr>
            <a:r>
              <a:rPr dirty="0" sz="1100" spc="-5">
                <a:latin typeface="Arial"/>
                <a:cs typeface="Arial"/>
              </a:rPr>
              <a:t>from poor resource allocation due to incorrect pricing policies and too </a:t>
            </a:r>
            <a:r>
              <a:rPr dirty="0" sz="1100">
                <a:latin typeface="Arial"/>
                <a:cs typeface="Arial"/>
              </a:rPr>
              <a:t>much </a:t>
            </a:r>
            <a:r>
              <a:rPr dirty="0" sz="1100" spc="-5">
                <a:latin typeface="Arial"/>
                <a:cs typeface="Arial"/>
              </a:rPr>
              <a:t>state intervention by  overly active developing-nation governments. Rather, the leading writers of the  counterrevolution school, including Lord Peter Bauer, Deepak Lal, and Ian Little, Harry Johnson,  Bela Balassa, Jagdish Bhagwati, and Anne Krueger, argued that it is this very state intervention  in economic activity </a:t>
            </a:r>
            <a:r>
              <a:rPr dirty="0" sz="1100">
                <a:latin typeface="Arial"/>
                <a:cs typeface="Arial"/>
              </a:rPr>
              <a:t>that </a:t>
            </a:r>
            <a:r>
              <a:rPr dirty="0" sz="1100" spc="-5">
                <a:latin typeface="Arial"/>
                <a:cs typeface="Arial"/>
              </a:rPr>
              <a:t>slows the pace of economic growth. The neo-liberals argue that by  permitting competitive free markets to flourish, privatizing state-owned enterprises, promoting  free trade and export expansion, welcoming </a:t>
            </a:r>
            <a:r>
              <a:rPr dirty="0" sz="1100">
                <a:latin typeface="Arial"/>
                <a:cs typeface="Arial"/>
              </a:rPr>
              <a:t>investors </a:t>
            </a:r>
            <a:r>
              <a:rPr dirty="0" sz="1100" spc="-5">
                <a:latin typeface="Arial"/>
                <a:cs typeface="Arial"/>
              </a:rPr>
              <a:t>from developed countries, and eliminating  the plethora of government regulations and price distortions in factor, product, and financial  markets, both economic efficiency and economic growth will be</a:t>
            </a:r>
            <a:r>
              <a:rPr dirty="0" sz="1100" spc="60">
                <a:latin typeface="Arial"/>
                <a:cs typeface="Arial"/>
              </a:rPr>
              <a:t> </a:t>
            </a:r>
            <a:r>
              <a:rPr dirty="0" sz="1100" spc="-5">
                <a:latin typeface="Arial"/>
                <a:cs typeface="Arial"/>
              </a:rPr>
              <a:t>stimulated.</a:t>
            </a:r>
            <a:endParaRPr sz="1100">
              <a:latin typeface="Arial"/>
              <a:cs typeface="Arial"/>
            </a:endParaRPr>
          </a:p>
          <a:p>
            <a:pPr>
              <a:lnSpc>
                <a:spcPct val="100000"/>
              </a:lnSpc>
              <a:spcBef>
                <a:spcPts val="20"/>
              </a:spcBef>
            </a:pPr>
            <a:endParaRPr sz="1150">
              <a:latin typeface="Arial"/>
              <a:cs typeface="Arial"/>
            </a:endParaRPr>
          </a:p>
          <a:p>
            <a:pPr algn="just" marL="240665" marR="5080" indent="-228600">
              <a:lnSpc>
                <a:spcPct val="95700"/>
              </a:lnSpc>
              <a:buFont typeface="Symbol"/>
              <a:buChar char=""/>
              <a:tabLst>
                <a:tab pos="241300" algn="l"/>
              </a:tabLst>
            </a:pPr>
            <a:r>
              <a:rPr dirty="0" sz="1100" spc="-5" b="1">
                <a:latin typeface="Arial"/>
                <a:cs typeface="Arial"/>
              </a:rPr>
              <a:t>Free markets: </a:t>
            </a:r>
            <a:r>
              <a:rPr dirty="0" sz="1100" spc="-5">
                <a:latin typeface="Arial"/>
                <a:cs typeface="Arial"/>
              </a:rPr>
              <a:t>The system whereby prices of commodities or services freely rise or </a:t>
            </a:r>
            <a:r>
              <a:rPr dirty="0" sz="1100">
                <a:latin typeface="Arial"/>
                <a:cs typeface="Arial"/>
              </a:rPr>
              <a:t>fall  </a:t>
            </a:r>
            <a:r>
              <a:rPr dirty="0" sz="1100" spc="-5">
                <a:latin typeface="Arial"/>
                <a:cs typeface="Arial"/>
              </a:rPr>
              <a:t>when the buyer’s demand for them </a:t>
            </a:r>
            <a:r>
              <a:rPr dirty="0" sz="1100">
                <a:latin typeface="Arial"/>
                <a:cs typeface="Arial"/>
              </a:rPr>
              <a:t>rises </a:t>
            </a:r>
            <a:r>
              <a:rPr dirty="0" sz="1100" spc="-5">
                <a:latin typeface="Arial"/>
                <a:cs typeface="Arial"/>
              </a:rPr>
              <a:t>or falls or the seller’s supply of </a:t>
            </a:r>
            <a:r>
              <a:rPr dirty="0" sz="1100">
                <a:latin typeface="Arial"/>
                <a:cs typeface="Arial"/>
              </a:rPr>
              <a:t>them </a:t>
            </a:r>
            <a:r>
              <a:rPr dirty="0" sz="1100" spc="-5">
                <a:latin typeface="Arial"/>
                <a:cs typeface="Arial"/>
              </a:rPr>
              <a:t>decreases or  increases.</a:t>
            </a:r>
            <a:endParaRPr sz="1100">
              <a:latin typeface="Arial"/>
              <a:cs typeface="Arial"/>
            </a:endParaRPr>
          </a:p>
          <a:p>
            <a:pPr>
              <a:lnSpc>
                <a:spcPct val="100000"/>
              </a:lnSpc>
              <a:spcBef>
                <a:spcPts val="5"/>
              </a:spcBef>
              <a:buFont typeface="Symbol"/>
              <a:buChar char=""/>
            </a:pPr>
            <a:endParaRPr sz="1050">
              <a:latin typeface="Arial"/>
              <a:cs typeface="Arial"/>
            </a:endParaRPr>
          </a:p>
          <a:p>
            <a:pPr algn="just" marL="12700">
              <a:lnSpc>
                <a:spcPct val="100000"/>
              </a:lnSpc>
            </a:pPr>
            <a:r>
              <a:rPr dirty="0" sz="1100" spc="-5" b="1">
                <a:latin typeface="Arial"/>
                <a:cs typeface="Arial"/>
              </a:rPr>
              <a:t>APPROACHES OF NEOCLASSICAL</a:t>
            </a:r>
            <a:r>
              <a:rPr dirty="0" sz="1100" spc="15" b="1">
                <a:latin typeface="Arial"/>
                <a:cs typeface="Arial"/>
              </a:rPr>
              <a:t> </a:t>
            </a:r>
            <a:r>
              <a:rPr dirty="0" sz="1100" spc="-5" b="1">
                <a:latin typeface="Arial"/>
                <a:cs typeface="Arial"/>
              </a:rPr>
              <a:t>COUNTERREVOLUTION</a:t>
            </a:r>
            <a:endParaRPr sz="1100">
              <a:latin typeface="Arial"/>
              <a:cs typeface="Arial"/>
            </a:endParaRPr>
          </a:p>
          <a:p>
            <a:pPr>
              <a:lnSpc>
                <a:spcPct val="100000"/>
              </a:lnSpc>
            </a:pPr>
            <a:endParaRPr sz="1100">
              <a:latin typeface="Arial"/>
              <a:cs typeface="Arial"/>
            </a:endParaRPr>
          </a:p>
          <a:p>
            <a:pPr algn="just" marL="12700" marR="5715">
              <a:lnSpc>
                <a:spcPct val="95700"/>
              </a:lnSpc>
            </a:pPr>
            <a:r>
              <a:rPr dirty="0" sz="1100" spc="-5">
                <a:latin typeface="Arial"/>
                <a:cs typeface="Arial"/>
              </a:rPr>
              <a:t>The neoclassical counterrevolution can be divided into three component approaches: the free-  market approach, the public-choice (or “new political economy”) approach, and the “market-  friendly” approach.</a:t>
            </a:r>
            <a:endParaRPr sz="1100">
              <a:latin typeface="Arial"/>
              <a:cs typeface="Arial"/>
            </a:endParaRPr>
          </a:p>
          <a:p>
            <a:pPr>
              <a:lnSpc>
                <a:spcPct val="100000"/>
              </a:lnSpc>
              <a:spcBef>
                <a:spcPts val="30"/>
              </a:spcBef>
            </a:pPr>
            <a:endParaRPr sz="1100">
              <a:latin typeface="Arial"/>
              <a:cs typeface="Arial"/>
            </a:endParaRPr>
          </a:p>
          <a:p>
            <a:pPr algn="just" lvl="1" marL="469900" marR="6350" indent="-229235">
              <a:lnSpc>
                <a:spcPts val="1270"/>
              </a:lnSpc>
              <a:buAutoNum type="arabicPeriod"/>
              <a:tabLst>
                <a:tab pos="469900" algn="l"/>
              </a:tabLst>
            </a:pPr>
            <a:r>
              <a:rPr dirty="0" sz="1100" spc="-5" b="1">
                <a:latin typeface="Arial"/>
                <a:cs typeface="Arial"/>
              </a:rPr>
              <a:t>Free-market analysis: </a:t>
            </a:r>
            <a:r>
              <a:rPr dirty="0" sz="1100" spc="-5">
                <a:latin typeface="Arial"/>
                <a:cs typeface="Arial"/>
              </a:rPr>
              <a:t>Theoretical analysis of the properties of an economic system  operating with free markets, often under the assumption that an unregulated market  performs better than one with government</a:t>
            </a:r>
            <a:r>
              <a:rPr dirty="0" sz="1100" spc="30">
                <a:latin typeface="Arial"/>
                <a:cs typeface="Arial"/>
              </a:rPr>
              <a:t> </a:t>
            </a:r>
            <a:r>
              <a:rPr dirty="0" sz="1100" spc="-5">
                <a:latin typeface="Arial"/>
                <a:cs typeface="Arial"/>
              </a:rPr>
              <a:t>regulation.</a:t>
            </a:r>
            <a:endParaRPr sz="1100">
              <a:latin typeface="Arial"/>
              <a:cs typeface="Arial"/>
            </a:endParaRPr>
          </a:p>
          <a:p>
            <a:pPr lvl="1">
              <a:lnSpc>
                <a:spcPct val="100000"/>
              </a:lnSpc>
              <a:spcBef>
                <a:spcPts val="40"/>
              </a:spcBef>
              <a:buFont typeface="Arial"/>
              <a:buAutoNum type="arabicPeriod"/>
            </a:pPr>
            <a:endParaRPr sz="1050">
              <a:latin typeface="Arial"/>
              <a:cs typeface="Arial"/>
            </a:endParaRPr>
          </a:p>
          <a:p>
            <a:pPr algn="just" lvl="1" marL="469900" marR="5080" indent="-228600">
              <a:lnSpc>
                <a:spcPts val="1270"/>
              </a:lnSpc>
              <a:buAutoNum type="arabicPeriod"/>
              <a:tabLst>
                <a:tab pos="470534" algn="l"/>
              </a:tabLst>
            </a:pPr>
            <a:r>
              <a:rPr dirty="0" sz="1100" spc="-5" b="1">
                <a:latin typeface="Arial"/>
                <a:cs typeface="Arial"/>
              </a:rPr>
              <a:t>Public-choice theory (new political economy approach): </a:t>
            </a:r>
            <a:r>
              <a:rPr dirty="0" sz="1100" spc="-5">
                <a:latin typeface="Arial"/>
                <a:cs typeface="Arial"/>
              </a:rPr>
              <a:t>The theory that self-interest  guides all individual behavior and that governments are inefficient and corrupt because  people use government to pursue their own</a:t>
            </a:r>
            <a:r>
              <a:rPr dirty="0" sz="1100" spc="35">
                <a:latin typeface="Arial"/>
                <a:cs typeface="Arial"/>
              </a:rPr>
              <a:t> </a:t>
            </a:r>
            <a:r>
              <a:rPr dirty="0" sz="1100" spc="-5">
                <a:latin typeface="Arial"/>
                <a:cs typeface="Arial"/>
              </a:rPr>
              <a:t>agendas.</a:t>
            </a:r>
            <a:endParaRPr sz="1100">
              <a:latin typeface="Arial"/>
              <a:cs typeface="Arial"/>
            </a:endParaRPr>
          </a:p>
          <a:p>
            <a:pPr lvl="1">
              <a:lnSpc>
                <a:spcPct val="100000"/>
              </a:lnSpc>
              <a:spcBef>
                <a:spcPts val="20"/>
              </a:spcBef>
              <a:buFont typeface="Arial"/>
              <a:buAutoNum type="arabicPeriod"/>
            </a:pPr>
            <a:endParaRPr sz="1050">
              <a:latin typeface="Arial"/>
              <a:cs typeface="Arial"/>
            </a:endParaRPr>
          </a:p>
          <a:p>
            <a:pPr algn="just" lvl="1" marL="469900" marR="5715" indent="-229235">
              <a:lnSpc>
                <a:spcPct val="95800"/>
              </a:lnSpc>
              <a:buAutoNum type="arabicPeriod"/>
              <a:tabLst>
                <a:tab pos="469900" algn="l"/>
              </a:tabLst>
            </a:pPr>
            <a:r>
              <a:rPr dirty="0" sz="1100" spc="-5" b="1">
                <a:latin typeface="Arial"/>
                <a:cs typeface="Arial"/>
              </a:rPr>
              <a:t>Market-friendly approach</a:t>
            </a:r>
            <a:r>
              <a:rPr dirty="0" sz="1100" spc="-5">
                <a:latin typeface="Arial"/>
                <a:cs typeface="Arial"/>
              </a:rPr>
              <a:t>: The notion historically promulgated by the World Bank that  successful development policy requires governments to create an environment in which  markets can operate efficiently and to intervene only selectively in the economy in areas  where the market is</a:t>
            </a:r>
            <a:r>
              <a:rPr dirty="0" sz="1100" spc="15">
                <a:latin typeface="Arial"/>
                <a:cs typeface="Arial"/>
              </a:rPr>
              <a:t> </a:t>
            </a:r>
            <a:r>
              <a:rPr dirty="0" sz="1100" spc="-5">
                <a:latin typeface="Arial"/>
                <a:cs typeface="Arial"/>
              </a:rPr>
              <a:t>inefficient.</a:t>
            </a:r>
            <a:endParaRPr sz="1100">
              <a:latin typeface="Arial"/>
              <a:cs typeface="Arial"/>
            </a:endParaRPr>
          </a:p>
          <a:p>
            <a:pPr lvl="1">
              <a:lnSpc>
                <a:spcPct val="100000"/>
              </a:lnSpc>
              <a:spcBef>
                <a:spcPts val="20"/>
              </a:spcBef>
              <a:buFont typeface="Arial"/>
              <a:buAutoNum type="arabicPeriod"/>
            </a:pPr>
            <a:endParaRPr sz="1150">
              <a:latin typeface="Arial"/>
              <a:cs typeface="Arial"/>
            </a:endParaRPr>
          </a:p>
          <a:p>
            <a:pPr algn="just" marL="241300" marR="5080" indent="-228600">
              <a:lnSpc>
                <a:spcPct val="95800"/>
              </a:lnSpc>
              <a:buFont typeface="Symbol"/>
              <a:buChar char=""/>
              <a:tabLst>
                <a:tab pos="241935" algn="l"/>
              </a:tabLst>
            </a:pPr>
            <a:r>
              <a:rPr dirty="0" sz="1100" spc="-5" b="1">
                <a:latin typeface="Arial"/>
                <a:cs typeface="Arial"/>
              </a:rPr>
              <a:t>Market failure: </a:t>
            </a:r>
            <a:r>
              <a:rPr dirty="0" sz="1100" spc="-5">
                <a:latin typeface="Arial"/>
                <a:cs typeface="Arial"/>
              </a:rPr>
              <a:t>A market’s inability to deliver its theoretical benefits due to the existence of  market imperfections such as monopoly power, lack of factor mobility, significant  externalities, or lack of knowledge. Market failure often provides the justification for  government intervention to alter the working of the free</a:t>
            </a:r>
            <a:r>
              <a:rPr dirty="0" sz="1100" spc="55">
                <a:latin typeface="Arial"/>
                <a:cs typeface="Arial"/>
              </a:rPr>
              <a:t> </a:t>
            </a:r>
            <a:r>
              <a:rPr dirty="0" sz="1100" spc="-5">
                <a:latin typeface="Arial"/>
                <a:cs typeface="Arial"/>
              </a:rPr>
              <a:t>market.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41</a:t>
            </a:r>
            <a:endParaRPr sz="1100">
              <a:latin typeface="Carlito"/>
              <a:cs typeface="Carli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64" y="892556"/>
            <a:ext cx="5971540" cy="798449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COMPONENTS OF ECONOMIC</a:t>
            </a:r>
            <a:r>
              <a:rPr dirty="0" sz="1100" b="1">
                <a:latin typeface="Arial"/>
                <a:cs typeface="Arial"/>
              </a:rPr>
              <a:t> </a:t>
            </a:r>
            <a:r>
              <a:rPr dirty="0" sz="1100" spc="-10" b="1">
                <a:latin typeface="Arial"/>
                <a:cs typeface="Arial"/>
              </a:rPr>
              <a:t>GROWTH</a:t>
            </a:r>
            <a:endParaRPr sz="1100">
              <a:latin typeface="Arial"/>
              <a:cs typeface="Arial"/>
            </a:endParaRPr>
          </a:p>
          <a:p>
            <a:pPr>
              <a:lnSpc>
                <a:spcPct val="100000"/>
              </a:lnSpc>
            </a:pPr>
            <a:endParaRPr sz="1150">
              <a:latin typeface="Arial"/>
              <a:cs typeface="Arial"/>
            </a:endParaRPr>
          </a:p>
          <a:p>
            <a:pPr marL="12700">
              <a:lnSpc>
                <a:spcPts val="1295"/>
              </a:lnSpc>
            </a:pPr>
            <a:r>
              <a:rPr dirty="0" sz="1100" spc="-5">
                <a:latin typeface="Arial"/>
                <a:cs typeface="Arial"/>
              </a:rPr>
              <a:t>Three components of economic growth are of prime</a:t>
            </a:r>
            <a:r>
              <a:rPr dirty="0" sz="1100" spc="50">
                <a:latin typeface="Arial"/>
                <a:cs typeface="Arial"/>
              </a:rPr>
              <a:t> </a:t>
            </a:r>
            <a:r>
              <a:rPr dirty="0" sz="1100" spc="-5">
                <a:latin typeface="Arial"/>
                <a:cs typeface="Arial"/>
              </a:rPr>
              <a:t>importance:</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Capital accumulation.</a:t>
            </a:r>
            <a:endParaRPr sz="1100">
              <a:latin typeface="Arial"/>
              <a:cs typeface="Arial"/>
            </a:endParaRPr>
          </a:p>
          <a:p>
            <a:pPr marL="469900" indent="-229235">
              <a:lnSpc>
                <a:spcPts val="1265"/>
              </a:lnSpc>
              <a:buFont typeface="Arial"/>
              <a:buAutoNum type="arabicPeriod"/>
              <a:tabLst>
                <a:tab pos="470534" algn="l"/>
              </a:tabLst>
            </a:pPr>
            <a:r>
              <a:rPr dirty="0" sz="1100" spc="-5">
                <a:latin typeface="Arial"/>
                <a:cs typeface="Arial"/>
              </a:rPr>
              <a:t>Growth in population and hence eventual growth in the labor</a:t>
            </a:r>
            <a:r>
              <a:rPr dirty="0" sz="1100" spc="65">
                <a:latin typeface="Arial"/>
                <a:cs typeface="Arial"/>
              </a:rPr>
              <a:t> </a:t>
            </a:r>
            <a:r>
              <a:rPr dirty="0" sz="1100" spc="-5">
                <a:latin typeface="Arial"/>
                <a:cs typeface="Arial"/>
              </a:rPr>
              <a:t>force.</a:t>
            </a:r>
            <a:endParaRPr sz="1100">
              <a:latin typeface="Arial"/>
              <a:cs typeface="Arial"/>
            </a:endParaRPr>
          </a:p>
          <a:p>
            <a:pPr marL="469900" indent="-229235">
              <a:lnSpc>
                <a:spcPts val="1295"/>
              </a:lnSpc>
              <a:buFont typeface="Arial"/>
              <a:buAutoNum type="arabicPeriod"/>
              <a:tabLst>
                <a:tab pos="470534" algn="l"/>
              </a:tabLst>
            </a:pPr>
            <a:r>
              <a:rPr dirty="0" sz="1100" spc="-5">
                <a:latin typeface="Arial"/>
                <a:cs typeface="Arial"/>
              </a:rPr>
              <a:t>Technological progress—new </a:t>
            </a:r>
            <a:r>
              <a:rPr dirty="0" sz="1100">
                <a:latin typeface="Arial"/>
                <a:cs typeface="Arial"/>
              </a:rPr>
              <a:t>ways </a:t>
            </a:r>
            <a:r>
              <a:rPr dirty="0" sz="1100" spc="-5">
                <a:latin typeface="Arial"/>
                <a:cs typeface="Arial"/>
              </a:rPr>
              <a:t>of accomplishing</a:t>
            </a:r>
            <a:r>
              <a:rPr dirty="0" sz="1100" spc="20">
                <a:latin typeface="Arial"/>
                <a:cs typeface="Arial"/>
              </a:rPr>
              <a:t> </a:t>
            </a:r>
            <a:r>
              <a:rPr dirty="0" sz="1100" spc="-5">
                <a:latin typeface="Arial"/>
                <a:cs typeface="Arial"/>
              </a:rPr>
              <a:t>tasks.</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a:tabLst>
                <a:tab pos="175895" algn="l"/>
              </a:tabLst>
            </a:pPr>
            <a:r>
              <a:rPr dirty="0" sz="1100" spc="-10" b="1">
                <a:latin typeface="Arial"/>
                <a:cs typeface="Arial"/>
              </a:rPr>
              <a:t>CAPITAL</a:t>
            </a:r>
            <a:r>
              <a:rPr dirty="0" sz="1100" b="1">
                <a:latin typeface="Arial"/>
                <a:cs typeface="Arial"/>
              </a:rPr>
              <a:t> </a:t>
            </a:r>
            <a:r>
              <a:rPr dirty="0" sz="1100" spc="-5" b="1">
                <a:latin typeface="Arial"/>
                <a:cs typeface="Arial"/>
              </a:rPr>
              <a:t>ACCUMULATION:</a:t>
            </a:r>
            <a:endParaRPr sz="1100">
              <a:latin typeface="Arial"/>
              <a:cs typeface="Arial"/>
            </a:endParaRPr>
          </a:p>
          <a:p>
            <a:pPr>
              <a:lnSpc>
                <a:spcPct val="100000"/>
              </a:lnSpc>
              <a:spcBef>
                <a:spcPts val="15"/>
              </a:spcBef>
              <a:buFont typeface="Arial"/>
              <a:buAutoNum type="arabicPlain"/>
            </a:pPr>
            <a:endParaRPr sz="1250">
              <a:latin typeface="Arial"/>
              <a:cs typeface="Arial"/>
            </a:endParaRPr>
          </a:p>
          <a:p>
            <a:pPr algn="just" lvl="1" marL="469900" marR="5080" indent="-228600">
              <a:lnSpc>
                <a:spcPct val="95700"/>
              </a:lnSpc>
              <a:buFont typeface="Symbol"/>
              <a:buChar char=""/>
              <a:tabLst>
                <a:tab pos="470534" algn="l"/>
              </a:tabLst>
            </a:pPr>
            <a:r>
              <a:rPr dirty="0" sz="1100" spc="-5" b="1">
                <a:latin typeface="Arial"/>
                <a:cs typeface="Arial"/>
              </a:rPr>
              <a:t>Capita Accumulation: </a:t>
            </a:r>
            <a:r>
              <a:rPr dirty="0" sz="1100" spc="-5">
                <a:latin typeface="Arial"/>
                <a:cs typeface="Arial"/>
              </a:rPr>
              <a:t>Increasing a country’s stock of real capital (net investment in  fixed assets). To increase the production of capital goods necessitates a reduction in the  production of consumer</a:t>
            </a:r>
            <a:r>
              <a:rPr dirty="0" sz="1100" spc="10">
                <a:latin typeface="Arial"/>
                <a:cs typeface="Arial"/>
              </a:rPr>
              <a:t> </a:t>
            </a:r>
            <a:r>
              <a:rPr dirty="0" sz="1100" spc="-5">
                <a:latin typeface="Arial"/>
                <a:cs typeface="Arial"/>
              </a:rPr>
              <a:t>goods.</a:t>
            </a:r>
            <a:endParaRPr sz="1100">
              <a:latin typeface="Arial"/>
              <a:cs typeface="Arial"/>
            </a:endParaRPr>
          </a:p>
          <a:p>
            <a:pPr lvl="1">
              <a:lnSpc>
                <a:spcPct val="100000"/>
              </a:lnSpc>
              <a:spcBef>
                <a:spcPts val="55"/>
              </a:spcBef>
              <a:buFont typeface="Symbol"/>
              <a:buChar char=""/>
            </a:pPr>
            <a:endParaRPr sz="1050">
              <a:latin typeface="Arial"/>
              <a:cs typeface="Arial"/>
            </a:endParaRPr>
          </a:p>
          <a:p>
            <a:pPr algn="just" marL="12700" marR="6350">
              <a:lnSpc>
                <a:spcPct val="95900"/>
              </a:lnSpc>
            </a:pPr>
            <a:r>
              <a:rPr dirty="0" sz="1100" spc="-5">
                <a:latin typeface="Arial"/>
                <a:cs typeface="Arial"/>
              </a:rPr>
              <a:t>Capital accumulation results when some proportion of present income is saved and invested in  order to augment future output and income. New factories, machinery, equipment, and materials  increase the physical </a:t>
            </a:r>
            <a:r>
              <a:rPr dirty="0" sz="1100" spc="-5" b="1">
                <a:latin typeface="Arial"/>
                <a:cs typeface="Arial"/>
              </a:rPr>
              <a:t>capital stock </a:t>
            </a:r>
            <a:r>
              <a:rPr dirty="0" sz="1100" spc="-5">
                <a:latin typeface="Arial"/>
                <a:cs typeface="Arial"/>
              </a:rPr>
              <a:t>of a nation and make it possible for expanded output levels  to be achieved. These directly productive investments are supplemented by investments in </a:t>
            </a:r>
            <a:r>
              <a:rPr dirty="0" sz="1100">
                <a:latin typeface="Arial"/>
                <a:cs typeface="Arial"/>
              </a:rPr>
              <a:t>what  </a:t>
            </a:r>
            <a:r>
              <a:rPr dirty="0" sz="1100" spc="-5">
                <a:latin typeface="Arial"/>
                <a:cs typeface="Arial"/>
              </a:rPr>
              <a:t>is known as social and </a:t>
            </a:r>
            <a:r>
              <a:rPr dirty="0" sz="1100" spc="-5" b="1">
                <a:latin typeface="Arial"/>
                <a:cs typeface="Arial"/>
              </a:rPr>
              <a:t>economic infrastructure</a:t>
            </a:r>
            <a:r>
              <a:rPr dirty="0" sz="1100" spc="-5">
                <a:latin typeface="Arial"/>
                <a:cs typeface="Arial"/>
              </a:rPr>
              <a:t>—roads, electricity, water and sanitation,  communications, and the like—which facilitates and integrates economic activities. For  example, investment by a farmer in a new tractor may increase the total output of the crops he  can produce, but without adequate transport facilities to get this extra product to local  commercial markets, his investment may not add anything to national food</a:t>
            </a:r>
            <a:r>
              <a:rPr dirty="0" sz="1100" spc="125">
                <a:latin typeface="Arial"/>
                <a:cs typeface="Arial"/>
              </a:rPr>
              <a:t> </a:t>
            </a:r>
            <a:r>
              <a:rPr dirty="0" sz="1100" spc="-5">
                <a:latin typeface="Arial"/>
                <a:cs typeface="Arial"/>
              </a:rPr>
              <a:t>production.</a:t>
            </a:r>
            <a:endParaRPr sz="1100">
              <a:latin typeface="Arial"/>
              <a:cs typeface="Arial"/>
            </a:endParaRPr>
          </a:p>
          <a:p>
            <a:pPr algn="just" marL="12700" marR="7620">
              <a:lnSpc>
                <a:spcPts val="1260"/>
              </a:lnSpc>
              <a:spcBef>
                <a:spcPts val="40"/>
              </a:spcBef>
            </a:pPr>
            <a:r>
              <a:rPr dirty="0" sz="1100" spc="-5">
                <a:latin typeface="Arial"/>
                <a:cs typeface="Arial"/>
              </a:rPr>
              <a:t>There are less direct ways to invest in a nation’s physical resources, like investing in land  resources.</a:t>
            </a:r>
            <a:endParaRPr sz="1100">
              <a:latin typeface="Arial"/>
              <a:cs typeface="Arial"/>
            </a:endParaRPr>
          </a:p>
          <a:p>
            <a:pPr>
              <a:lnSpc>
                <a:spcPct val="100000"/>
              </a:lnSpc>
              <a:spcBef>
                <a:spcPts val="25"/>
              </a:spcBef>
            </a:pPr>
            <a:endParaRPr sz="1050">
              <a:latin typeface="Arial"/>
              <a:cs typeface="Arial"/>
            </a:endParaRPr>
          </a:p>
          <a:p>
            <a:pPr algn="just" marL="12700" marR="6350">
              <a:lnSpc>
                <a:spcPct val="95800"/>
              </a:lnSpc>
            </a:pPr>
            <a:r>
              <a:rPr dirty="0" sz="1100" spc="-5">
                <a:latin typeface="Arial"/>
                <a:cs typeface="Arial"/>
              </a:rPr>
              <a:t>Investment </a:t>
            </a:r>
            <a:r>
              <a:rPr dirty="0" sz="1100">
                <a:latin typeface="Arial"/>
                <a:cs typeface="Arial"/>
              </a:rPr>
              <a:t>in </a:t>
            </a:r>
            <a:r>
              <a:rPr dirty="0" sz="1100" spc="-5">
                <a:latin typeface="Arial"/>
                <a:cs typeface="Arial"/>
              </a:rPr>
              <a:t>human resources can improve its quality and thereby </a:t>
            </a:r>
            <a:r>
              <a:rPr dirty="0" sz="1100">
                <a:latin typeface="Arial"/>
                <a:cs typeface="Arial"/>
              </a:rPr>
              <a:t>have </a:t>
            </a:r>
            <a:r>
              <a:rPr dirty="0" sz="1100" spc="-5">
                <a:latin typeface="Arial"/>
                <a:cs typeface="Arial"/>
              </a:rPr>
              <a:t>the same or even a  more powerful effect on production as an increase in human numbers. The concept of  investment </a:t>
            </a:r>
            <a:r>
              <a:rPr dirty="0" sz="1100">
                <a:latin typeface="Arial"/>
                <a:cs typeface="Arial"/>
              </a:rPr>
              <a:t>in </a:t>
            </a:r>
            <a:r>
              <a:rPr dirty="0" sz="1100" spc="-5">
                <a:latin typeface="Arial"/>
                <a:cs typeface="Arial"/>
              </a:rPr>
              <a:t>human resources and the creation of </a:t>
            </a:r>
            <a:r>
              <a:rPr dirty="0" sz="1100" spc="-5" b="1">
                <a:latin typeface="Arial"/>
                <a:cs typeface="Arial"/>
              </a:rPr>
              <a:t>human capital </a:t>
            </a:r>
            <a:r>
              <a:rPr dirty="0" sz="1100" spc="-5">
                <a:latin typeface="Arial"/>
                <a:cs typeface="Arial"/>
              </a:rPr>
              <a:t>is therefore analogous to  that of improving the quality and thus the productivity of existing land resources through  strategic investments.</a:t>
            </a:r>
            <a:endParaRPr sz="1100">
              <a:latin typeface="Arial"/>
              <a:cs typeface="Arial"/>
            </a:endParaRPr>
          </a:p>
          <a:p>
            <a:pPr algn="just" marL="12700" marR="5080">
              <a:lnSpc>
                <a:spcPct val="95800"/>
              </a:lnSpc>
            </a:pPr>
            <a:r>
              <a:rPr dirty="0" sz="1100" spc="-5">
                <a:latin typeface="Arial"/>
                <a:cs typeface="Arial"/>
              </a:rPr>
              <a:t>All of these phenomena and many others are forms of investment that lead to capital  accumulation. Capital accumulation may add new resources or upgrade the quality of existing  resources, but its essential feature is that it involves a trade-off between present and future  consumption—giving up a little now so that more can be had later, such as giving up current  income to stay in</a:t>
            </a:r>
            <a:r>
              <a:rPr dirty="0" sz="1100" spc="10">
                <a:latin typeface="Arial"/>
                <a:cs typeface="Arial"/>
              </a:rPr>
              <a:t> </a:t>
            </a:r>
            <a:r>
              <a:rPr dirty="0" sz="1100" spc="-5">
                <a:latin typeface="Arial"/>
                <a:cs typeface="Arial"/>
              </a:rPr>
              <a:t>school.</a:t>
            </a:r>
            <a:endParaRPr sz="1100">
              <a:latin typeface="Arial"/>
              <a:cs typeface="Arial"/>
            </a:endParaRPr>
          </a:p>
          <a:p>
            <a:pPr>
              <a:lnSpc>
                <a:spcPct val="100000"/>
              </a:lnSpc>
              <a:spcBef>
                <a:spcPts val="5"/>
              </a:spcBef>
            </a:pPr>
            <a:endParaRPr sz="1200">
              <a:latin typeface="Arial"/>
              <a:cs typeface="Arial"/>
            </a:endParaRPr>
          </a:p>
          <a:p>
            <a:pPr algn="just" lvl="1" marL="469900" marR="7620" indent="-228600">
              <a:lnSpc>
                <a:spcPts val="1260"/>
              </a:lnSpc>
              <a:buFont typeface="Symbol"/>
              <a:buChar char=""/>
              <a:tabLst>
                <a:tab pos="469900" algn="l"/>
              </a:tabLst>
            </a:pPr>
            <a:r>
              <a:rPr dirty="0" sz="1100" spc="-5" b="1">
                <a:latin typeface="Arial"/>
                <a:cs typeface="Arial"/>
              </a:rPr>
              <a:t>Capital stock: </a:t>
            </a:r>
            <a:r>
              <a:rPr dirty="0" sz="1100" spc="-5">
                <a:latin typeface="Arial"/>
                <a:cs typeface="Arial"/>
              </a:rPr>
              <a:t>The total amount of physical goods existing at a particular time that have  been produced for use in the production of other goods and</a:t>
            </a:r>
            <a:r>
              <a:rPr dirty="0" sz="1100" spc="70">
                <a:latin typeface="Arial"/>
                <a:cs typeface="Arial"/>
              </a:rPr>
              <a:t> </a:t>
            </a:r>
            <a:r>
              <a:rPr dirty="0" sz="1100" spc="-5">
                <a:latin typeface="Arial"/>
                <a:cs typeface="Arial"/>
              </a:rPr>
              <a:t>services.</a:t>
            </a:r>
            <a:endParaRPr sz="1100">
              <a:latin typeface="Arial"/>
              <a:cs typeface="Arial"/>
            </a:endParaRPr>
          </a:p>
          <a:p>
            <a:pPr algn="just" lvl="1" marL="469900" marR="6985" indent="-228600">
              <a:lnSpc>
                <a:spcPct val="95800"/>
              </a:lnSpc>
              <a:spcBef>
                <a:spcPts val="45"/>
              </a:spcBef>
              <a:buFont typeface="Symbol"/>
              <a:buChar char=""/>
              <a:tabLst>
                <a:tab pos="469900" algn="l"/>
              </a:tabLst>
            </a:pPr>
            <a:r>
              <a:rPr dirty="0" sz="1100" spc="-5" b="1">
                <a:latin typeface="Arial"/>
                <a:cs typeface="Arial"/>
              </a:rPr>
              <a:t>Economic infrastructure: </a:t>
            </a:r>
            <a:r>
              <a:rPr dirty="0" sz="1100" spc="-5">
                <a:latin typeface="Arial"/>
                <a:cs typeface="Arial"/>
              </a:rPr>
              <a:t>The amount of physical and financial capital embodied in  roads, railways, waterways, airways, and </a:t>
            </a:r>
            <a:r>
              <a:rPr dirty="0" sz="1100">
                <a:latin typeface="Arial"/>
                <a:cs typeface="Arial"/>
              </a:rPr>
              <a:t>other </a:t>
            </a:r>
            <a:r>
              <a:rPr dirty="0" sz="1100" spc="-5">
                <a:latin typeface="Arial"/>
                <a:cs typeface="Arial"/>
              </a:rPr>
              <a:t>transportation and communications plus  other facilities such as water supplies, financial institutions, electricity, and public  services such as health and</a:t>
            </a:r>
            <a:r>
              <a:rPr dirty="0" sz="1100" spc="15">
                <a:latin typeface="Arial"/>
                <a:cs typeface="Arial"/>
              </a:rPr>
              <a:t> </a:t>
            </a:r>
            <a:r>
              <a:rPr dirty="0" sz="1100" spc="-5">
                <a:latin typeface="Arial"/>
                <a:cs typeface="Arial"/>
              </a:rPr>
              <a:t>education.</a:t>
            </a:r>
            <a:endParaRPr sz="1100">
              <a:latin typeface="Arial"/>
              <a:cs typeface="Arial"/>
            </a:endParaRPr>
          </a:p>
          <a:p>
            <a:pPr algn="just" lvl="1" marL="469900" marR="6985" indent="-228600">
              <a:lnSpc>
                <a:spcPts val="1260"/>
              </a:lnSpc>
              <a:spcBef>
                <a:spcPts val="120"/>
              </a:spcBef>
              <a:buFont typeface="Symbol"/>
              <a:buChar char=""/>
              <a:tabLst>
                <a:tab pos="469900" algn="l"/>
              </a:tabLst>
            </a:pPr>
            <a:r>
              <a:rPr dirty="0" sz="1100" spc="-5" b="1">
                <a:latin typeface="Arial"/>
                <a:cs typeface="Arial"/>
              </a:rPr>
              <a:t>Human capital: </a:t>
            </a:r>
            <a:r>
              <a:rPr dirty="0" sz="1100" spc="-5">
                <a:latin typeface="Arial"/>
                <a:cs typeface="Arial"/>
              </a:rPr>
              <a:t>Productive investments embodied in human persons, including skills,  location, and</a:t>
            </a:r>
            <a:r>
              <a:rPr dirty="0" sz="1100">
                <a:latin typeface="Arial"/>
                <a:cs typeface="Arial"/>
              </a:rPr>
              <a:t> </a:t>
            </a:r>
            <a:r>
              <a:rPr dirty="0" sz="1100" spc="-5">
                <a:latin typeface="Arial"/>
                <a:cs typeface="Arial"/>
              </a:rPr>
              <a:t>health.</a:t>
            </a:r>
            <a:endParaRPr sz="1100">
              <a:latin typeface="Arial"/>
              <a:cs typeface="Arial"/>
            </a:endParaRPr>
          </a:p>
          <a:p>
            <a:pPr lvl="1">
              <a:lnSpc>
                <a:spcPct val="100000"/>
              </a:lnSpc>
              <a:spcBef>
                <a:spcPts val="25"/>
              </a:spcBef>
              <a:buFont typeface="Symbol"/>
              <a:buChar char=""/>
            </a:pPr>
            <a:endParaRPr sz="1000">
              <a:latin typeface="Arial"/>
              <a:cs typeface="Arial"/>
            </a:endParaRPr>
          </a:p>
          <a:p>
            <a:pPr marL="175260" indent="-163195">
              <a:lnSpc>
                <a:spcPct val="100000"/>
              </a:lnSpc>
              <a:spcBef>
                <a:spcPts val="5"/>
              </a:spcBef>
              <a:buAutoNum type="arabicPlain"/>
              <a:tabLst>
                <a:tab pos="175895" algn="l"/>
              </a:tabLst>
            </a:pPr>
            <a:r>
              <a:rPr dirty="0" sz="1100" spc="-5" b="1">
                <a:latin typeface="Arial"/>
                <a:cs typeface="Arial"/>
              </a:rPr>
              <a:t>POPULATION </a:t>
            </a:r>
            <a:r>
              <a:rPr dirty="0" sz="1100" b="1">
                <a:latin typeface="Arial"/>
                <a:cs typeface="Arial"/>
              </a:rPr>
              <a:t>AND </a:t>
            </a:r>
            <a:r>
              <a:rPr dirty="0" sz="1100" spc="-5" b="1">
                <a:latin typeface="Arial"/>
                <a:cs typeface="Arial"/>
              </a:rPr>
              <a:t>LABOR FORCE</a:t>
            </a:r>
            <a:r>
              <a:rPr dirty="0" sz="1100" spc="20" b="1">
                <a:latin typeface="Arial"/>
                <a:cs typeface="Arial"/>
              </a:rPr>
              <a:t> </a:t>
            </a:r>
            <a:r>
              <a:rPr dirty="0" sz="1100" spc="-5" b="1">
                <a:latin typeface="Arial"/>
                <a:cs typeface="Arial"/>
              </a:rPr>
              <a:t>GROWTH:</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Population growth, and the associated eventual increase in the labor force, has traditionally  been</a:t>
            </a:r>
            <a:r>
              <a:rPr dirty="0" sz="1100" spc="140">
                <a:latin typeface="Arial"/>
                <a:cs typeface="Arial"/>
              </a:rPr>
              <a:t> </a:t>
            </a:r>
            <a:r>
              <a:rPr dirty="0" sz="1100" spc="-5">
                <a:latin typeface="Arial"/>
                <a:cs typeface="Arial"/>
              </a:rPr>
              <a:t>considered</a:t>
            </a:r>
            <a:r>
              <a:rPr dirty="0" sz="1100" spc="145">
                <a:latin typeface="Arial"/>
                <a:cs typeface="Arial"/>
              </a:rPr>
              <a:t> </a:t>
            </a:r>
            <a:r>
              <a:rPr dirty="0" sz="1100" spc="-5">
                <a:latin typeface="Arial"/>
                <a:cs typeface="Arial"/>
              </a:rPr>
              <a:t>a</a:t>
            </a:r>
            <a:r>
              <a:rPr dirty="0" sz="1100" spc="145">
                <a:latin typeface="Arial"/>
                <a:cs typeface="Arial"/>
              </a:rPr>
              <a:t> </a:t>
            </a:r>
            <a:r>
              <a:rPr dirty="0" sz="1100" spc="-5">
                <a:latin typeface="Arial"/>
                <a:cs typeface="Arial"/>
              </a:rPr>
              <a:t>positive</a:t>
            </a:r>
            <a:r>
              <a:rPr dirty="0" sz="1100" spc="145">
                <a:latin typeface="Arial"/>
                <a:cs typeface="Arial"/>
              </a:rPr>
              <a:t> </a:t>
            </a:r>
            <a:r>
              <a:rPr dirty="0" sz="1100" spc="-5">
                <a:latin typeface="Arial"/>
                <a:cs typeface="Arial"/>
              </a:rPr>
              <a:t>factor</a:t>
            </a:r>
            <a:r>
              <a:rPr dirty="0" sz="1100" spc="145">
                <a:latin typeface="Arial"/>
                <a:cs typeface="Arial"/>
              </a:rPr>
              <a:t> </a:t>
            </a:r>
            <a:r>
              <a:rPr dirty="0" sz="1100" spc="-5">
                <a:latin typeface="Arial"/>
                <a:cs typeface="Arial"/>
              </a:rPr>
              <a:t>in</a:t>
            </a:r>
            <a:r>
              <a:rPr dirty="0" sz="1100" spc="145">
                <a:latin typeface="Arial"/>
                <a:cs typeface="Arial"/>
              </a:rPr>
              <a:t> </a:t>
            </a:r>
            <a:r>
              <a:rPr dirty="0" sz="1100" spc="-5">
                <a:latin typeface="Arial"/>
                <a:cs typeface="Arial"/>
              </a:rPr>
              <a:t>stimulating</a:t>
            </a:r>
            <a:r>
              <a:rPr dirty="0" sz="1100" spc="150">
                <a:latin typeface="Arial"/>
                <a:cs typeface="Arial"/>
              </a:rPr>
              <a:t> </a:t>
            </a:r>
            <a:r>
              <a:rPr dirty="0" sz="1100" spc="-5">
                <a:latin typeface="Arial"/>
                <a:cs typeface="Arial"/>
              </a:rPr>
              <a:t>economic</a:t>
            </a:r>
            <a:r>
              <a:rPr dirty="0" sz="1100" spc="140">
                <a:latin typeface="Arial"/>
                <a:cs typeface="Arial"/>
              </a:rPr>
              <a:t> </a:t>
            </a:r>
            <a:r>
              <a:rPr dirty="0" sz="1100" spc="-5">
                <a:latin typeface="Arial"/>
                <a:cs typeface="Arial"/>
              </a:rPr>
              <a:t>growth.</a:t>
            </a:r>
            <a:r>
              <a:rPr dirty="0" sz="1100" spc="145">
                <a:latin typeface="Arial"/>
                <a:cs typeface="Arial"/>
              </a:rPr>
              <a:t> </a:t>
            </a:r>
            <a:r>
              <a:rPr dirty="0" sz="1100" spc="-5">
                <a:latin typeface="Arial"/>
                <a:cs typeface="Arial"/>
              </a:rPr>
              <a:t>A</a:t>
            </a:r>
            <a:r>
              <a:rPr dirty="0" sz="1100" spc="145">
                <a:latin typeface="Arial"/>
                <a:cs typeface="Arial"/>
              </a:rPr>
              <a:t> </a:t>
            </a:r>
            <a:r>
              <a:rPr dirty="0" sz="1100">
                <a:latin typeface="Arial"/>
                <a:cs typeface="Arial"/>
              </a:rPr>
              <a:t>larger</a:t>
            </a:r>
            <a:r>
              <a:rPr dirty="0" sz="1100" spc="145">
                <a:latin typeface="Arial"/>
                <a:cs typeface="Arial"/>
              </a:rPr>
              <a:t> </a:t>
            </a:r>
            <a:r>
              <a:rPr dirty="0" sz="1100" spc="-5">
                <a:latin typeface="Arial"/>
                <a:cs typeface="Arial"/>
              </a:rPr>
              <a:t>labor</a:t>
            </a:r>
            <a:r>
              <a:rPr dirty="0" sz="1100" spc="145">
                <a:latin typeface="Arial"/>
                <a:cs typeface="Arial"/>
              </a:rPr>
              <a:t> </a:t>
            </a:r>
            <a:r>
              <a:rPr dirty="0" sz="1100" spc="-5">
                <a:latin typeface="Arial"/>
                <a:cs typeface="Arial"/>
              </a:rPr>
              <a:t>force</a:t>
            </a:r>
            <a:r>
              <a:rPr dirty="0" sz="1100" spc="145">
                <a:latin typeface="Arial"/>
                <a:cs typeface="Arial"/>
              </a:rPr>
              <a:t> </a:t>
            </a:r>
            <a:r>
              <a:rPr dirty="0" sz="1100" spc="-5">
                <a:latin typeface="Arial"/>
                <a:cs typeface="Arial"/>
              </a:rPr>
              <a:t>means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42</a:t>
            </a:r>
            <a:endParaRPr sz="1100">
              <a:latin typeface="Carlito"/>
              <a:cs typeface="Carli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3896995"/>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more productive workers, and a large overall population increases the potential size of domestic  markets.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Given an initial understanding of these first two fundamental components of economic growth  and disregarding for a moment the third (technology), let us see how they interact via the  </a:t>
            </a:r>
            <a:r>
              <a:rPr dirty="0" sz="1100" spc="-5" b="1">
                <a:latin typeface="Arial"/>
                <a:cs typeface="Arial"/>
              </a:rPr>
              <a:t>production possibility curve </a:t>
            </a:r>
            <a:r>
              <a:rPr dirty="0" sz="1100" spc="-5">
                <a:latin typeface="Arial"/>
                <a:cs typeface="Arial"/>
              </a:rPr>
              <a:t>to expand society’s potential total output of all goods. For a given  technology and a given amount of physical and human resources, the production possibility  curve portrays the maximum attainable output combinations of any two commodities— say, rice  and radios—when all resources are fully and efficiently employed. Figure A3.1.1 shows two  production possibility curves for rice and</a:t>
            </a:r>
            <a:r>
              <a:rPr dirty="0" sz="1100" spc="20">
                <a:latin typeface="Arial"/>
                <a:cs typeface="Arial"/>
              </a:rPr>
              <a:t> </a:t>
            </a:r>
            <a:r>
              <a:rPr dirty="0" sz="1100" spc="-5">
                <a:latin typeface="Arial"/>
                <a:cs typeface="Arial"/>
              </a:rPr>
              <a:t>radios.</a:t>
            </a:r>
            <a:endParaRPr sz="1100">
              <a:latin typeface="Arial"/>
              <a:cs typeface="Arial"/>
            </a:endParaRPr>
          </a:p>
          <a:p>
            <a:pPr>
              <a:lnSpc>
                <a:spcPct val="100000"/>
              </a:lnSpc>
              <a:spcBef>
                <a:spcPts val="25"/>
              </a:spcBef>
            </a:pPr>
            <a:endParaRPr sz="1150">
              <a:latin typeface="Arial"/>
              <a:cs typeface="Arial"/>
            </a:endParaRPr>
          </a:p>
          <a:p>
            <a:pPr algn="just" marL="469900" marR="5715" indent="-228600">
              <a:lnSpc>
                <a:spcPct val="95800"/>
              </a:lnSpc>
              <a:buFont typeface="Symbol"/>
              <a:buChar char=""/>
              <a:tabLst>
                <a:tab pos="469900" algn="l"/>
              </a:tabLst>
            </a:pPr>
            <a:r>
              <a:rPr dirty="0" sz="1100" spc="-5" b="1">
                <a:latin typeface="Arial"/>
                <a:cs typeface="Arial"/>
              </a:rPr>
              <a:t>Production possibility curve: </a:t>
            </a:r>
            <a:r>
              <a:rPr dirty="0" sz="1100" spc="-5">
                <a:latin typeface="Arial"/>
                <a:cs typeface="Arial"/>
              </a:rPr>
              <a:t>A </a:t>
            </a:r>
            <a:r>
              <a:rPr dirty="0" sz="1100">
                <a:latin typeface="Arial"/>
                <a:cs typeface="Arial"/>
              </a:rPr>
              <a:t>curve </a:t>
            </a:r>
            <a:r>
              <a:rPr dirty="0" sz="1100" spc="-5">
                <a:latin typeface="Arial"/>
                <a:cs typeface="Arial"/>
              </a:rPr>
              <a:t>on a </a:t>
            </a:r>
            <a:r>
              <a:rPr dirty="0" sz="1100">
                <a:latin typeface="Arial"/>
                <a:cs typeface="Arial"/>
              </a:rPr>
              <a:t>graph </a:t>
            </a:r>
            <a:r>
              <a:rPr dirty="0" sz="1100" spc="-5">
                <a:latin typeface="Arial"/>
                <a:cs typeface="Arial"/>
              </a:rPr>
              <a:t>indicating alternative combinations of  two commodities or categories of commodities (e.g., agricultural and manufactured  goods) that can be produced when all the available factors of production are efficiently  employed. Given available resources and technology, the curve </a:t>
            </a:r>
            <a:r>
              <a:rPr dirty="0" sz="1100">
                <a:latin typeface="Arial"/>
                <a:cs typeface="Arial"/>
              </a:rPr>
              <a:t>sets </a:t>
            </a:r>
            <a:r>
              <a:rPr dirty="0" sz="1100" spc="-5">
                <a:latin typeface="Arial"/>
                <a:cs typeface="Arial"/>
              </a:rPr>
              <a:t>the boundary  between the attainable and the</a:t>
            </a:r>
            <a:r>
              <a:rPr dirty="0" sz="1100" spc="20">
                <a:latin typeface="Arial"/>
                <a:cs typeface="Arial"/>
              </a:rPr>
              <a:t> </a:t>
            </a:r>
            <a:r>
              <a:rPr dirty="0" sz="1100" spc="-5">
                <a:latin typeface="Arial"/>
                <a:cs typeface="Arial"/>
              </a:rPr>
              <a:t>unobtainable.</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Initial possibilities for the production of rice and radios are shown by the curve PP. </a:t>
            </a:r>
            <a:r>
              <a:rPr dirty="0" sz="1100">
                <a:latin typeface="Arial"/>
                <a:cs typeface="Arial"/>
              </a:rPr>
              <a:t>Now  </a:t>
            </a:r>
            <a:r>
              <a:rPr dirty="0" sz="1100" spc="-5">
                <a:latin typeface="Arial"/>
                <a:cs typeface="Arial"/>
              </a:rPr>
              <a:t>suppose that without any change in technology, the quantity of physical and human resources  were to double as a result of either investments that improved </a:t>
            </a:r>
            <a:r>
              <a:rPr dirty="0" sz="1100">
                <a:latin typeface="Arial"/>
                <a:cs typeface="Arial"/>
              </a:rPr>
              <a:t>the </a:t>
            </a:r>
            <a:r>
              <a:rPr dirty="0" sz="1100" spc="-5">
                <a:latin typeface="Arial"/>
                <a:cs typeface="Arial"/>
              </a:rPr>
              <a:t>quality of the existing  resources or investment in new resources—land, capital, and, in the case of larger families,  labor. FigureA3.1.1 shows that this doubling of total resources will cause the entire production  possibility curve to shift uniformly outward from PP to P'P'. More radios and more rice can now  be produced.</a:t>
            </a:r>
            <a:endParaRPr sz="1100">
              <a:latin typeface="Arial"/>
              <a:cs typeface="Arial"/>
            </a:endParaRPr>
          </a:p>
        </p:txBody>
      </p:sp>
      <p:sp>
        <p:nvSpPr>
          <p:cNvPr id="7" name="object 7"/>
          <p:cNvSpPr/>
          <p:nvPr/>
        </p:nvSpPr>
        <p:spPr>
          <a:xfrm>
            <a:off x="1485900" y="5003291"/>
            <a:ext cx="4424172" cy="3288953"/>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43</a:t>
            </a:r>
            <a:endParaRPr sz="1100">
              <a:latin typeface="Carlito"/>
              <a:cs typeface="Carli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Now, instead of assuming the proportionate growth of all factors of production let us assume  that, say, only capital or only land is increased in quality and quantity. Figure A3.1.2 shows that  if radio manufacturing is a relatively large user of capital equipment and rice production is a  relatively land intensive process, the shifts in society’s production possibility curve will be more  pronounced for radios when capital grows rapidly (Figure A3.1.2a) and for rice when the growth  is in land quantity or quality (Figure</a:t>
            </a:r>
            <a:r>
              <a:rPr dirty="0" sz="1100" spc="30">
                <a:latin typeface="Arial"/>
                <a:cs typeface="Arial"/>
              </a:rPr>
              <a:t> </a:t>
            </a:r>
            <a:r>
              <a:rPr dirty="0" sz="1100" spc="-5">
                <a:latin typeface="Arial"/>
                <a:cs typeface="Arial"/>
              </a:rPr>
              <a:t>A3.1.2b).</a:t>
            </a:r>
            <a:endParaRPr sz="1100">
              <a:latin typeface="Arial"/>
              <a:cs typeface="Arial"/>
            </a:endParaRPr>
          </a:p>
        </p:txBody>
      </p:sp>
      <p:sp>
        <p:nvSpPr>
          <p:cNvPr id="7" name="object 7"/>
          <p:cNvSpPr txBox="1"/>
          <p:nvPr/>
        </p:nvSpPr>
        <p:spPr>
          <a:xfrm>
            <a:off x="901678" y="5359378"/>
            <a:ext cx="5970270" cy="3778885"/>
          </a:xfrm>
          <a:prstGeom prst="rect">
            <a:avLst/>
          </a:prstGeom>
        </p:spPr>
        <p:txBody>
          <a:bodyPr wrap="square" lIns="0" tIns="12065" rIns="0" bIns="0" rtlCol="0" vert="horz">
            <a:spAutoFit/>
          </a:bodyPr>
          <a:lstStyle/>
          <a:p>
            <a:pPr algn="just" marL="175260" indent="-163195">
              <a:lnSpc>
                <a:spcPct val="100000"/>
              </a:lnSpc>
              <a:spcBef>
                <a:spcPts val="95"/>
              </a:spcBef>
              <a:buAutoNum type="arabicPlain" startAt="3"/>
              <a:tabLst>
                <a:tab pos="175895" algn="l"/>
              </a:tabLst>
            </a:pPr>
            <a:r>
              <a:rPr dirty="0" sz="1100" spc="-5" b="1">
                <a:latin typeface="Arial"/>
                <a:cs typeface="Arial"/>
              </a:rPr>
              <a:t>TECHNOLOGICAL PROGRESS</a:t>
            </a:r>
            <a:endParaRPr sz="1100">
              <a:latin typeface="Arial"/>
              <a:cs typeface="Arial"/>
            </a:endParaRPr>
          </a:p>
          <a:p>
            <a:pPr>
              <a:lnSpc>
                <a:spcPct val="100000"/>
              </a:lnSpc>
              <a:spcBef>
                <a:spcPts val="55"/>
              </a:spcBef>
              <a:buFont typeface="Arial"/>
              <a:buAutoNum type="arabicPlain" startAt="3"/>
            </a:pPr>
            <a:endParaRPr sz="1250">
              <a:latin typeface="Arial"/>
              <a:cs typeface="Arial"/>
            </a:endParaRPr>
          </a:p>
          <a:p>
            <a:pPr algn="just" lvl="1" marL="469900" marR="5715" indent="-228600">
              <a:lnSpc>
                <a:spcPts val="1260"/>
              </a:lnSpc>
              <a:buFont typeface="Symbol"/>
              <a:buChar char=""/>
              <a:tabLst>
                <a:tab pos="470534" algn="l"/>
              </a:tabLst>
            </a:pPr>
            <a:r>
              <a:rPr dirty="0" sz="1100" spc="-5" b="1">
                <a:latin typeface="Arial"/>
                <a:cs typeface="Arial"/>
              </a:rPr>
              <a:t>Technological progress: </a:t>
            </a:r>
            <a:r>
              <a:rPr dirty="0" sz="1100" spc="-5">
                <a:latin typeface="Arial"/>
                <a:cs typeface="Arial"/>
              </a:rPr>
              <a:t>Increased application of new scientific knowledge in the form  of inventions and innovations with regard to both physical and human</a:t>
            </a:r>
            <a:r>
              <a:rPr dirty="0" sz="1100" spc="100">
                <a:latin typeface="Arial"/>
                <a:cs typeface="Arial"/>
              </a:rPr>
              <a:t> </a:t>
            </a:r>
            <a:r>
              <a:rPr dirty="0" sz="1100" spc="-5">
                <a:latin typeface="Arial"/>
                <a:cs typeface="Arial"/>
              </a:rPr>
              <a:t>capital.</a:t>
            </a:r>
            <a:endParaRPr sz="1100">
              <a:latin typeface="Arial"/>
              <a:cs typeface="Arial"/>
            </a:endParaRPr>
          </a:p>
          <a:p>
            <a:pPr lvl="1">
              <a:lnSpc>
                <a:spcPct val="100000"/>
              </a:lnSpc>
              <a:spcBef>
                <a:spcPts val="55"/>
              </a:spcBef>
              <a:buFont typeface="Symbol"/>
              <a:buChar char=""/>
            </a:pPr>
            <a:endParaRPr sz="1050">
              <a:latin typeface="Arial"/>
              <a:cs typeface="Arial"/>
            </a:endParaRPr>
          </a:p>
          <a:p>
            <a:pPr algn="just" marL="12700" marR="5080">
              <a:lnSpc>
                <a:spcPts val="1270"/>
              </a:lnSpc>
            </a:pPr>
            <a:r>
              <a:rPr dirty="0" sz="1100" spc="-5">
                <a:latin typeface="Arial"/>
                <a:cs typeface="Arial"/>
              </a:rPr>
              <a:t>There are three basic classifications of technological progress: neutral, laborsaving, and capital-  saving.</a:t>
            </a:r>
            <a:endParaRPr sz="1100">
              <a:latin typeface="Arial"/>
              <a:cs typeface="Arial"/>
            </a:endParaRPr>
          </a:p>
          <a:p>
            <a:pPr>
              <a:lnSpc>
                <a:spcPct val="100000"/>
              </a:lnSpc>
              <a:spcBef>
                <a:spcPts val="20"/>
              </a:spcBef>
            </a:pPr>
            <a:endParaRPr sz="1150">
              <a:latin typeface="Arial"/>
              <a:cs typeface="Arial"/>
            </a:endParaRPr>
          </a:p>
          <a:p>
            <a:pPr algn="just" lvl="1" marL="469900" marR="6350" indent="-228600">
              <a:lnSpc>
                <a:spcPts val="1260"/>
              </a:lnSpc>
              <a:buFont typeface="Symbol"/>
              <a:buChar char=""/>
              <a:tabLst>
                <a:tab pos="469900" algn="l"/>
              </a:tabLst>
            </a:pPr>
            <a:r>
              <a:rPr dirty="0" sz="1100" spc="-5" b="1">
                <a:latin typeface="Arial"/>
                <a:cs typeface="Arial"/>
              </a:rPr>
              <a:t>Neutral technological progress: </a:t>
            </a:r>
            <a:r>
              <a:rPr dirty="0" sz="1100" spc="-5">
                <a:latin typeface="Arial"/>
                <a:cs typeface="Arial"/>
              </a:rPr>
              <a:t>Higher output levels achieved with the same quantity  or combination of all factor</a:t>
            </a:r>
            <a:r>
              <a:rPr dirty="0" sz="1100" spc="20">
                <a:latin typeface="Arial"/>
                <a:cs typeface="Arial"/>
              </a:rPr>
              <a:t> </a:t>
            </a:r>
            <a:r>
              <a:rPr dirty="0" sz="1100" spc="-5">
                <a:latin typeface="Arial"/>
                <a:cs typeface="Arial"/>
              </a:rPr>
              <a:t>inputs.</a:t>
            </a:r>
            <a:endParaRPr sz="1100">
              <a:latin typeface="Arial"/>
              <a:cs typeface="Arial"/>
            </a:endParaRPr>
          </a:p>
          <a:p>
            <a:pPr algn="just" lvl="1" marL="469900" marR="6985" indent="-228600">
              <a:lnSpc>
                <a:spcPts val="1260"/>
              </a:lnSpc>
              <a:spcBef>
                <a:spcPts val="85"/>
              </a:spcBef>
              <a:buFont typeface="Symbol"/>
              <a:buChar char=""/>
              <a:tabLst>
                <a:tab pos="469900" algn="l"/>
              </a:tabLst>
            </a:pPr>
            <a:r>
              <a:rPr dirty="0" sz="1100" spc="-5" b="1">
                <a:latin typeface="Arial"/>
                <a:cs typeface="Arial"/>
              </a:rPr>
              <a:t>Laborsaving technological progress: </a:t>
            </a:r>
            <a:r>
              <a:rPr dirty="0" sz="1100" spc="-5">
                <a:latin typeface="Arial"/>
                <a:cs typeface="Arial"/>
              </a:rPr>
              <a:t>The achievement of higher output using an  unchanged quantity of </a:t>
            </a:r>
            <a:r>
              <a:rPr dirty="0" sz="1100">
                <a:latin typeface="Arial"/>
                <a:cs typeface="Arial"/>
              </a:rPr>
              <a:t>labor </a:t>
            </a:r>
            <a:r>
              <a:rPr dirty="0" sz="1100" spc="-5">
                <a:latin typeface="Arial"/>
                <a:cs typeface="Arial"/>
              </a:rPr>
              <a:t>inputs as a result of some invention (e.g., the computer) or  innovation (such as assembly-line</a:t>
            </a:r>
            <a:r>
              <a:rPr dirty="0" sz="1100" spc="15">
                <a:latin typeface="Arial"/>
                <a:cs typeface="Arial"/>
              </a:rPr>
              <a:t> </a:t>
            </a:r>
            <a:r>
              <a:rPr dirty="0" sz="1100" spc="-5">
                <a:latin typeface="Arial"/>
                <a:cs typeface="Arial"/>
              </a:rPr>
              <a:t>production).</a:t>
            </a:r>
            <a:endParaRPr sz="1100">
              <a:latin typeface="Arial"/>
              <a:cs typeface="Arial"/>
            </a:endParaRPr>
          </a:p>
          <a:p>
            <a:pPr algn="just" lvl="1" marL="469900" marR="5080" indent="-228600">
              <a:lnSpc>
                <a:spcPct val="95700"/>
              </a:lnSpc>
              <a:spcBef>
                <a:spcPts val="50"/>
              </a:spcBef>
              <a:buFont typeface="Symbol"/>
              <a:buChar char=""/>
              <a:tabLst>
                <a:tab pos="469900" algn="l"/>
              </a:tabLst>
            </a:pPr>
            <a:r>
              <a:rPr dirty="0" sz="1100" spc="-5" b="1">
                <a:latin typeface="Arial"/>
                <a:cs typeface="Arial"/>
              </a:rPr>
              <a:t>Capital-saving technological progress: </a:t>
            </a:r>
            <a:r>
              <a:rPr dirty="0" sz="1100" spc="-5">
                <a:latin typeface="Arial"/>
                <a:cs typeface="Arial"/>
              </a:rPr>
              <a:t>Technological progress that results from some  invention or innovation that facilitates the achievement of higher output levels using the  same quantity of inputs of</a:t>
            </a:r>
            <a:r>
              <a:rPr dirty="0" sz="1100" spc="15">
                <a:latin typeface="Arial"/>
                <a:cs typeface="Arial"/>
              </a:rPr>
              <a:t> </a:t>
            </a:r>
            <a:r>
              <a:rPr dirty="0" sz="1100" spc="-5">
                <a:latin typeface="Arial"/>
                <a:cs typeface="Arial"/>
              </a:rPr>
              <a:t>capital.</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Technological progress may also be labor or capital-augmenting. </a:t>
            </a:r>
            <a:r>
              <a:rPr dirty="0" sz="1100" spc="-5" b="1">
                <a:latin typeface="Arial"/>
                <a:cs typeface="Arial"/>
              </a:rPr>
              <a:t>Labor augmenting  technological progress </a:t>
            </a:r>
            <a:r>
              <a:rPr dirty="0" sz="1100" spc="-5">
                <a:latin typeface="Arial"/>
                <a:cs typeface="Arial"/>
              </a:rPr>
              <a:t>occurs when the quality or skills of the labor force are upgraded—for  example, </a:t>
            </a:r>
            <a:r>
              <a:rPr dirty="0" sz="1100">
                <a:latin typeface="Arial"/>
                <a:cs typeface="Arial"/>
              </a:rPr>
              <a:t>by </a:t>
            </a:r>
            <a:r>
              <a:rPr dirty="0" sz="1100" spc="-5">
                <a:latin typeface="Arial"/>
                <a:cs typeface="Arial"/>
              </a:rPr>
              <a:t>the use of videotapes, televisions, and other electronic communications media for  classroom instruction. Similarly, </a:t>
            </a:r>
            <a:r>
              <a:rPr dirty="0" sz="1100" spc="-5" b="1">
                <a:latin typeface="Arial"/>
                <a:cs typeface="Arial"/>
              </a:rPr>
              <a:t>capital-augmenting technological progress </a:t>
            </a:r>
            <a:r>
              <a:rPr dirty="0" sz="1100" spc="-5">
                <a:latin typeface="Arial"/>
                <a:cs typeface="Arial"/>
              </a:rPr>
              <a:t>results in the  more productive use of existing capital goods—for example, the substitution of steel for wooden  plows in agricultural</a:t>
            </a:r>
            <a:r>
              <a:rPr dirty="0" sz="1100" spc="10">
                <a:latin typeface="Arial"/>
                <a:cs typeface="Arial"/>
              </a:rPr>
              <a:t> </a:t>
            </a:r>
            <a:r>
              <a:rPr dirty="0" sz="1100" spc="-5">
                <a:latin typeface="Arial"/>
                <a:cs typeface="Arial"/>
              </a:rPr>
              <a:t>production.</a:t>
            </a:r>
            <a:endParaRPr sz="1100">
              <a:latin typeface="Arial"/>
              <a:cs typeface="Arial"/>
            </a:endParaRPr>
          </a:p>
        </p:txBody>
      </p:sp>
      <p:sp>
        <p:nvSpPr>
          <p:cNvPr id="8" name="object 8"/>
          <p:cNvSpPr/>
          <p:nvPr/>
        </p:nvSpPr>
        <p:spPr>
          <a:xfrm>
            <a:off x="925995" y="2220026"/>
            <a:ext cx="5892646" cy="298149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44</a:t>
            </a:r>
            <a:endParaRPr sz="1100">
              <a:latin typeface="Carlito"/>
              <a:cs typeface="Carli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606031"/>
            <a:ext cx="5969635" cy="180022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We can use our production possibility curve for </a:t>
            </a:r>
            <a:r>
              <a:rPr dirty="0" sz="1100">
                <a:latin typeface="Arial"/>
                <a:cs typeface="Arial"/>
              </a:rPr>
              <a:t>rice </a:t>
            </a:r>
            <a:r>
              <a:rPr dirty="0" sz="1100" spc="-5">
                <a:latin typeface="Arial"/>
                <a:cs typeface="Arial"/>
              </a:rPr>
              <a:t>and radios to examine two very specific  examples of technological progress as it relates to output growth in developing countries. In  terms of our production possibility analysis, the higher yielding varieties of hybrid rice could be  depicted, as in Figure A3.1.3, by an outward shift of the curve along the rice axis with the  intercept on the radio axis remaining essentially unchanged (i.e., the new rice seeds could not  be directly used to increase radio</a:t>
            </a:r>
            <a:r>
              <a:rPr dirty="0" sz="1100" spc="25">
                <a:latin typeface="Arial"/>
                <a:cs typeface="Arial"/>
              </a:rPr>
              <a:t> </a:t>
            </a:r>
            <a:r>
              <a:rPr dirty="0" sz="1100" spc="-5">
                <a:latin typeface="Arial"/>
                <a:cs typeface="Arial"/>
              </a:rPr>
              <a:t>production).</a:t>
            </a:r>
            <a:endParaRPr sz="1100">
              <a:latin typeface="Arial"/>
              <a:cs typeface="Arial"/>
            </a:endParaRPr>
          </a:p>
          <a:p>
            <a:pPr algn="just" marL="12700">
              <a:lnSpc>
                <a:spcPts val="1180"/>
              </a:lnSpc>
            </a:pPr>
            <a:r>
              <a:rPr dirty="0" sz="1100" spc="-5">
                <a:latin typeface="Arial"/>
                <a:cs typeface="Arial"/>
              </a:rPr>
              <a:t>In</a:t>
            </a:r>
            <a:r>
              <a:rPr dirty="0" sz="1100" spc="80">
                <a:latin typeface="Arial"/>
                <a:cs typeface="Arial"/>
              </a:rPr>
              <a:t> </a:t>
            </a:r>
            <a:r>
              <a:rPr dirty="0" sz="1100" spc="-5">
                <a:latin typeface="Arial"/>
                <a:cs typeface="Arial"/>
              </a:rPr>
              <a:t>terms</a:t>
            </a:r>
            <a:r>
              <a:rPr dirty="0" sz="1100" spc="8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technology</a:t>
            </a:r>
            <a:r>
              <a:rPr dirty="0" sz="1100" spc="8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radio</a:t>
            </a:r>
            <a:r>
              <a:rPr dirty="0" sz="1100" spc="80">
                <a:latin typeface="Arial"/>
                <a:cs typeface="Arial"/>
              </a:rPr>
              <a:t> </a:t>
            </a:r>
            <a:r>
              <a:rPr dirty="0" sz="1100" spc="-5">
                <a:latin typeface="Arial"/>
                <a:cs typeface="Arial"/>
              </a:rPr>
              <a:t>production,</a:t>
            </a:r>
            <a:r>
              <a:rPr dirty="0" sz="1100" spc="85">
                <a:latin typeface="Arial"/>
                <a:cs typeface="Arial"/>
              </a:rPr>
              <a:t> </a:t>
            </a:r>
            <a:r>
              <a:rPr dirty="0" sz="1100" spc="-5">
                <a:latin typeface="Arial"/>
                <a:cs typeface="Arial"/>
              </a:rPr>
              <a:t>the</a:t>
            </a:r>
            <a:r>
              <a:rPr dirty="0" sz="1100" spc="80">
                <a:latin typeface="Arial"/>
                <a:cs typeface="Arial"/>
              </a:rPr>
              <a:t> </a:t>
            </a:r>
            <a:r>
              <a:rPr dirty="0" sz="1100" spc="-5">
                <a:latin typeface="Arial"/>
                <a:cs typeface="Arial"/>
              </a:rPr>
              <a:t>invention</a:t>
            </a:r>
            <a:r>
              <a:rPr dirty="0" sz="1100" spc="80">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transistors</a:t>
            </a:r>
            <a:r>
              <a:rPr dirty="0" sz="1100" spc="85">
                <a:latin typeface="Arial"/>
                <a:cs typeface="Arial"/>
              </a:rPr>
              <a:t> </a:t>
            </a:r>
            <a:r>
              <a:rPr dirty="0" sz="1100" spc="-5">
                <a:latin typeface="Arial"/>
                <a:cs typeface="Arial"/>
              </a:rPr>
              <a:t>has</a:t>
            </a:r>
            <a:r>
              <a:rPr dirty="0" sz="1100" spc="85">
                <a:latin typeface="Arial"/>
                <a:cs typeface="Arial"/>
              </a:rPr>
              <a:t> </a:t>
            </a:r>
            <a:r>
              <a:rPr dirty="0" sz="1100" spc="-5">
                <a:latin typeface="Arial"/>
                <a:cs typeface="Arial"/>
              </a:rPr>
              <a:t>probably</a:t>
            </a:r>
            <a:r>
              <a:rPr dirty="0" sz="1100" spc="80">
                <a:latin typeface="Arial"/>
                <a:cs typeface="Arial"/>
              </a:rPr>
              <a:t> </a:t>
            </a:r>
            <a:r>
              <a:rPr dirty="0" sz="1100" spc="-5">
                <a:latin typeface="Arial"/>
                <a:cs typeface="Arial"/>
              </a:rPr>
              <a:t>had</a:t>
            </a:r>
            <a:r>
              <a:rPr dirty="0" sz="1100" spc="85">
                <a:latin typeface="Arial"/>
                <a:cs typeface="Arial"/>
              </a:rPr>
              <a:t> </a:t>
            </a:r>
            <a:r>
              <a:rPr dirty="0" sz="1100" spc="-5">
                <a:latin typeface="Arial"/>
                <a:cs typeface="Arial"/>
              </a:rPr>
              <a:t>as</a:t>
            </a:r>
            <a:endParaRPr sz="1100">
              <a:latin typeface="Arial"/>
              <a:cs typeface="Arial"/>
            </a:endParaRPr>
          </a:p>
          <a:p>
            <a:pPr algn="just" marL="12700" marR="5080">
              <a:lnSpc>
                <a:spcPts val="1270"/>
              </a:lnSpc>
              <a:spcBef>
                <a:spcPts val="55"/>
              </a:spcBef>
            </a:pPr>
            <a:r>
              <a:rPr dirty="0" sz="1100" spc="-5">
                <a:latin typeface="Arial"/>
                <a:cs typeface="Arial"/>
              </a:rPr>
              <a:t>significant an impact on communications as the development of the steam engine had on  transportation. FigureA3.1.4 shows that as in the case of higher-yielding rice seeds, the  technology of the transistor can be said to have caused the production possibility curve to rotate  outward along the vertical</a:t>
            </a:r>
            <a:r>
              <a:rPr dirty="0" sz="1100" spc="15">
                <a:latin typeface="Arial"/>
                <a:cs typeface="Arial"/>
              </a:rPr>
              <a:t> </a:t>
            </a:r>
            <a:r>
              <a:rPr dirty="0" sz="1100" spc="-5">
                <a:latin typeface="Arial"/>
                <a:cs typeface="Arial"/>
              </a:rPr>
              <a:t>axis.</a:t>
            </a:r>
            <a:endParaRPr sz="1100">
              <a:latin typeface="Arial"/>
              <a:cs typeface="Arial"/>
            </a:endParaRPr>
          </a:p>
        </p:txBody>
      </p:sp>
      <p:sp>
        <p:nvSpPr>
          <p:cNvPr id="7" name="object 7"/>
          <p:cNvSpPr/>
          <p:nvPr/>
        </p:nvSpPr>
        <p:spPr>
          <a:xfrm>
            <a:off x="1736262" y="5709709"/>
            <a:ext cx="4142051" cy="3070302"/>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965198" y="886205"/>
            <a:ext cx="3842004" cy="2396734"/>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45</a:t>
            </a:r>
            <a:endParaRPr sz="1100">
              <a:latin typeface="Carlito"/>
              <a:cs typeface="Carli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3081527" y="2066544"/>
            <a:ext cx="771144" cy="156972"/>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4400" y="2734817"/>
            <a:ext cx="1800606" cy="228600"/>
          </a:xfrm>
          <a:prstGeom prst="rect">
            <a:avLst/>
          </a:prstGeom>
          <a:blipFill>
            <a:blip r:embed="rId3" cstate="print"/>
            <a:stretch>
              <a:fillRect/>
            </a:stretch>
          </a:blipFill>
        </p:spPr>
        <p:txBody>
          <a:bodyPr wrap="square" lIns="0" tIns="0" rIns="0" bIns="0" rtlCol="0"/>
          <a:lstStyle/>
          <a:p/>
        </p:txBody>
      </p:sp>
      <p:sp>
        <p:nvSpPr>
          <p:cNvPr id="8" name="object 8"/>
          <p:cNvSpPr txBox="1"/>
          <p:nvPr/>
        </p:nvSpPr>
        <p:spPr>
          <a:xfrm>
            <a:off x="901695" y="892556"/>
            <a:ext cx="5970905" cy="323659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SOLOW NEOCLASSICAL GROWTH</a:t>
            </a:r>
            <a:r>
              <a:rPr dirty="0" sz="1100" spc="25" b="1">
                <a:latin typeface="Arial"/>
                <a:cs typeface="Arial"/>
              </a:rPr>
              <a:t> </a:t>
            </a:r>
            <a:r>
              <a:rPr dirty="0" sz="1100" spc="-5" b="1">
                <a:latin typeface="Arial"/>
                <a:cs typeface="Arial"/>
              </a:rPr>
              <a:t>MODEL</a:t>
            </a:r>
            <a:endParaRPr sz="1100">
              <a:latin typeface="Arial"/>
              <a:cs typeface="Arial"/>
            </a:endParaRPr>
          </a:p>
          <a:p>
            <a:pPr>
              <a:lnSpc>
                <a:spcPct val="100000"/>
              </a:lnSpc>
              <a:spcBef>
                <a:spcPts val="25"/>
              </a:spcBef>
            </a:pPr>
            <a:endParaRPr sz="1200">
              <a:latin typeface="Arial"/>
              <a:cs typeface="Arial"/>
            </a:endParaRPr>
          </a:p>
          <a:p>
            <a:pPr algn="just" marL="12700" marR="6350">
              <a:lnSpc>
                <a:spcPts val="1270"/>
              </a:lnSpc>
            </a:pPr>
            <a:r>
              <a:rPr dirty="0" sz="1100" spc="-5">
                <a:latin typeface="Arial"/>
                <a:cs typeface="Arial"/>
              </a:rPr>
              <a:t>The Solow neoclassical growth model, for which Robert Solow of the Massachusetts Institute of  Technology received the Nobel Prize, is probably the best known model of economic</a:t>
            </a:r>
            <a:r>
              <a:rPr dirty="0" sz="1100" spc="185">
                <a:latin typeface="Arial"/>
                <a:cs typeface="Arial"/>
              </a:rPr>
              <a:t> </a:t>
            </a:r>
            <a:r>
              <a:rPr dirty="0" sz="1100" spc="-5">
                <a:latin typeface="Arial"/>
                <a:cs typeface="Arial"/>
              </a:rPr>
              <a:t>growth.</a:t>
            </a:r>
            <a:endParaRPr sz="1100">
              <a:latin typeface="Arial"/>
              <a:cs typeface="Arial"/>
            </a:endParaRPr>
          </a:p>
          <a:p>
            <a:pPr>
              <a:lnSpc>
                <a:spcPct val="100000"/>
              </a:lnSpc>
              <a:spcBef>
                <a:spcPts val="45"/>
              </a:spcBef>
            </a:pPr>
            <a:endParaRPr sz="1050">
              <a:latin typeface="Arial"/>
              <a:cs typeface="Arial"/>
            </a:endParaRPr>
          </a:p>
          <a:p>
            <a:pPr algn="just" marL="12700" marR="7620">
              <a:lnSpc>
                <a:spcPts val="1270"/>
              </a:lnSpc>
            </a:pPr>
            <a:r>
              <a:rPr dirty="0" sz="1100" spc="-5">
                <a:latin typeface="Arial"/>
                <a:cs typeface="Arial"/>
              </a:rPr>
              <a:t>The Solow model allows for substitution between capital and labor. In the process, it assumes  that there are diminishing returns to the use of these</a:t>
            </a:r>
            <a:r>
              <a:rPr dirty="0" sz="1100" spc="55">
                <a:latin typeface="Arial"/>
                <a:cs typeface="Arial"/>
              </a:rPr>
              <a:t> </a:t>
            </a:r>
            <a:r>
              <a:rPr dirty="0" sz="1100" spc="-5">
                <a:latin typeface="Arial"/>
                <a:cs typeface="Arial"/>
              </a:rPr>
              <a:t>inputs.</a:t>
            </a:r>
            <a:endParaRPr sz="1100">
              <a:latin typeface="Arial"/>
              <a:cs typeface="Arial"/>
            </a:endParaRPr>
          </a:p>
          <a:p>
            <a:pPr algn="just" marL="12700" marR="5080">
              <a:lnSpc>
                <a:spcPts val="1270"/>
              </a:lnSpc>
              <a:spcBef>
                <a:spcPts val="310"/>
              </a:spcBef>
              <a:tabLst>
                <a:tab pos="2990215" algn="l"/>
              </a:tabLst>
            </a:pPr>
            <a:r>
              <a:rPr dirty="0" sz="1100" spc="-5">
                <a:latin typeface="Arial"/>
                <a:cs typeface="Arial"/>
              </a:rPr>
              <a:t>The aggregate</a:t>
            </a:r>
            <a:r>
              <a:rPr dirty="0" sz="1100" spc="50">
                <a:latin typeface="Arial"/>
                <a:cs typeface="Arial"/>
              </a:rPr>
              <a:t> </a:t>
            </a:r>
            <a:r>
              <a:rPr dirty="0" sz="1100" spc="-5">
                <a:latin typeface="Arial"/>
                <a:cs typeface="Arial"/>
              </a:rPr>
              <a:t>production</a:t>
            </a:r>
            <a:r>
              <a:rPr dirty="0" sz="1100" spc="25">
                <a:latin typeface="Arial"/>
                <a:cs typeface="Arial"/>
              </a:rPr>
              <a:t> </a:t>
            </a:r>
            <a:r>
              <a:rPr dirty="0" sz="1100" spc="-5">
                <a:latin typeface="Arial"/>
                <a:cs typeface="Arial"/>
              </a:rPr>
              <a:t>function	is assumed characterized by constant returns to  scale. For example, in </a:t>
            </a:r>
            <a:r>
              <a:rPr dirty="0" sz="1100">
                <a:latin typeface="Arial"/>
                <a:cs typeface="Arial"/>
              </a:rPr>
              <a:t>the </a:t>
            </a:r>
            <a:r>
              <a:rPr dirty="0" sz="1100" spc="-5">
                <a:latin typeface="Arial"/>
                <a:cs typeface="Arial"/>
              </a:rPr>
              <a:t>special case known as the Cobb-Douglas production function, at any  time t we</a:t>
            </a:r>
            <a:r>
              <a:rPr dirty="0" sz="1100" spc="5">
                <a:latin typeface="Arial"/>
                <a:cs typeface="Arial"/>
              </a:rPr>
              <a:t> </a:t>
            </a:r>
            <a:r>
              <a:rPr dirty="0" sz="1100" spc="-5">
                <a:latin typeface="Arial"/>
                <a:cs typeface="Arial"/>
              </a:rPr>
              <a:t>have:</a:t>
            </a:r>
            <a:endParaRPr sz="1100">
              <a:latin typeface="Arial"/>
              <a:cs typeface="Arial"/>
            </a:endParaRPr>
          </a:p>
          <a:p>
            <a:pPr>
              <a:lnSpc>
                <a:spcPct val="100000"/>
              </a:lnSpc>
              <a:spcBef>
                <a:spcPts val="35"/>
              </a:spcBef>
            </a:pPr>
            <a:endParaRPr sz="1650">
              <a:latin typeface="Arial"/>
              <a:cs typeface="Arial"/>
            </a:endParaRPr>
          </a:p>
          <a:p>
            <a:pPr algn="ctr" marL="990600">
              <a:lnSpc>
                <a:spcPct val="100000"/>
              </a:lnSpc>
            </a:pPr>
            <a:r>
              <a:rPr dirty="0" sz="1100" spc="-5">
                <a:latin typeface="Arial"/>
                <a:cs typeface="Arial"/>
              </a:rPr>
              <a:t>(A 3.2.1)</a:t>
            </a:r>
            <a:endParaRPr sz="1100">
              <a:latin typeface="Arial"/>
              <a:cs typeface="Arial"/>
            </a:endParaRPr>
          </a:p>
          <a:p>
            <a:pPr>
              <a:lnSpc>
                <a:spcPct val="100000"/>
              </a:lnSpc>
              <a:spcBef>
                <a:spcPts val="5"/>
              </a:spcBef>
            </a:pPr>
            <a:endParaRPr sz="1100">
              <a:latin typeface="Arial"/>
              <a:cs typeface="Arial"/>
            </a:endParaRPr>
          </a:p>
          <a:p>
            <a:pPr algn="just" marL="12700" marR="8255">
              <a:lnSpc>
                <a:spcPct val="95700"/>
              </a:lnSpc>
            </a:pPr>
            <a:r>
              <a:rPr dirty="0" sz="1100" spc="-5">
                <a:latin typeface="Arial"/>
                <a:cs typeface="Arial"/>
              </a:rPr>
              <a:t>Where Y is gross domestic product, K is the stock of capital (which may include human capital  as well as physical capital), L is labor, and A(t) represents the productivity of labor, which grows  over time at an exogenous</a:t>
            </a:r>
            <a:r>
              <a:rPr dirty="0" sz="1100" spc="25">
                <a:latin typeface="Arial"/>
                <a:cs typeface="Arial"/>
              </a:rPr>
              <a:t> </a:t>
            </a:r>
            <a:r>
              <a:rPr dirty="0" sz="1100" spc="-5">
                <a:latin typeface="Arial"/>
                <a:cs typeface="Arial"/>
              </a:rPr>
              <a:t>rate.</a:t>
            </a:r>
            <a:endParaRPr sz="1100">
              <a:latin typeface="Arial"/>
              <a:cs typeface="Arial"/>
            </a:endParaRPr>
          </a:p>
          <a:p>
            <a:pPr>
              <a:lnSpc>
                <a:spcPct val="100000"/>
              </a:lnSpc>
              <a:spcBef>
                <a:spcPts val="30"/>
              </a:spcBef>
            </a:pPr>
            <a:endParaRPr sz="1100">
              <a:latin typeface="Arial"/>
              <a:cs typeface="Arial"/>
            </a:endParaRPr>
          </a:p>
          <a:p>
            <a:pPr algn="just" marL="12700" marR="8255">
              <a:lnSpc>
                <a:spcPts val="1270"/>
              </a:lnSpc>
            </a:pPr>
            <a:r>
              <a:rPr dirty="0" sz="1100" spc="-5">
                <a:latin typeface="Arial"/>
                <a:cs typeface="Arial"/>
              </a:rPr>
              <a:t>Because of constant returns to scale, if all inputs are increased by the </a:t>
            </a:r>
            <a:r>
              <a:rPr dirty="0" sz="1100">
                <a:latin typeface="Arial"/>
                <a:cs typeface="Arial"/>
              </a:rPr>
              <a:t>same </a:t>
            </a:r>
            <a:r>
              <a:rPr dirty="0" sz="1100" spc="-5">
                <a:latin typeface="Arial"/>
                <a:cs typeface="Arial"/>
              </a:rPr>
              <a:t>amount, say </a:t>
            </a:r>
            <a:r>
              <a:rPr dirty="0" sz="1100">
                <a:latin typeface="Arial"/>
                <a:cs typeface="Arial"/>
              </a:rPr>
              <a:t>10%,  </a:t>
            </a:r>
            <a:r>
              <a:rPr dirty="0" sz="1100" spc="-5">
                <a:latin typeface="Arial"/>
                <a:cs typeface="Arial"/>
              </a:rPr>
              <a:t>then output will increase by the same amount (10% in this case). More</a:t>
            </a:r>
            <a:r>
              <a:rPr dirty="0" sz="1100" spc="100">
                <a:latin typeface="Arial"/>
                <a:cs typeface="Arial"/>
              </a:rPr>
              <a:t> </a:t>
            </a:r>
            <a:r>
              <a:rPr dirty="0" sz="1100" spc="-5">
                <a:latin typeface="Arial"/>
                <a:cs typeface="Arial"/>
              </a:rPr>
              <a:t>generally,</a:t>
            </a:r>
            <a:endParaRPr sz="1100">
              <a:latin typeface="Arial"/>
              <a:cs typeface="Arial"/>
            </a:endParaRPr>
          </a:p>
        </p:txBody>
      </p:sp>
      <p:sp>
        <p:nvSpPr>
          <p:cNvPr id="9" name="object 9"/>
          <p:cNvSpPr/>
          <p:nvPr/>
        </p:nvSpPr>
        <p:spPr>
          <a:xfrm>
            <a:off x="914400" y="4295394"/>
            <a:ext cx="943356" cy="156209"/>
          </a:xfrm>
          <a:prstGeom prst="rect">
            <a:avLst/>
          </a:prstGeom>
          <a:blipFill>
            <a:blip r:embed="rId4" cstate="print"/>
            <a:stretch>
              <a:fillRect/>
            </a:stretch>
          </a:blipFill>
        </p:spPr>
        <p:txBody>
          <a:bodyPr wrap="square" lIns="0" tIns="0" rIns="0" bIns="0" rtlCol="0"/>
          <a:lstStyle/>
          <a:p/>
        </p:txBody>
      </p:sp>
      <p:sp>
        <p:nvSpPr>
          <p:cNvPr id="10" name="object 10"/>
          <p:cNvSpPr/>
          <p:nvPr/>
        </p:nvSpPr>
        <p:spPr>
          <a:xfrm>
            <a:off x="1139189" y="4931664"/>
            <a:ext cx="361950" cy="314706"/>
          </a:xfrm>
          <a:prstGeom prst="rect">
            <a:avLst/>
          </a:prstGeom>
          <a:blipFill>
            <a:blip r:embed="rId5" cstate="print"/>
            <a:stretch>
              <a:fillRect/>
            </a:stretch>
          </a:blipFill>
        </p:spPr>
        <p:txBody>
          <a:bodyPr wrap="square" lIns="0" tIns="0" rIns="0" bIns="0" rtlCol="0"/>
          <a:lstStyle/>
          <a:p/>
        </p:txBody>
      </p:sp>
      <p:sp>
        <p:nvSpPr>
          <p:cNvPr id="11" name="object 11"/>
          <p:cNvSpPr/>
          <p:nvPr/>
        </p:nvSpPr>
        <p:spPr>
          <a:xfrm>
            <a:off x="914400" y="5436108"/>
            <a:ext cx="1466850" cy="313943"/>
          </a:xfrm>
          <a:prstGeom prst="rect">
            <a:avLst/>
          </a:prstGeom>
          <a:blipFill>
            <a:blip r:embed="rId6" cstate="print"/>
            <a:stretch>
              <a:fillRect/>
            </a:stretch>
          </a:blipFill>
        </p:spPr>
        <p:txBody>
          <a:bodyPr wrap="square" lIns="0" tIns="0" rIns="0" bIns="0" rtlCol="0"/>
          <a:lstStyle/>
          <a:p/>
        </p:txBody>
      </p:sp>
      <p:sp>
        <p:nvSpPr>
          <p:cNvPr id="12" name="object 12"/>
          <p:cNvSpPr/>
          <p:nvPr/>
        </p:nvSpPr>
        <p:spPr>
          <a:xfrm>
            <a:off x="914400" y="7251192"/>
            <a:ext cx="533400" cy="146304"/>
          </a:xfrm>
          <a:prstGeom prst="rect">
            <a:avLst/>
          </a:prstGeom>
          <a:blipFill>
            <a:blip r:embed="rId7" cstate="print"/>
            <a:stretch>
              <a:fillRect/>
            </a:stretch>
          </a:blipFill>
        </p:spPr>
        <p:txBody>
          <a:bodyPr wrap="square" lIns="0" tIns="0" rIns="0" bIns="0" rtlCol="0"/>
          <a:lstStyle/>
          <a:p/>
        </p:txBody>
      </p:sp>
      <p:sp>
        <p:nvSpPr>
          <p:cNvPr id="13" name="object 13"/>
          <p:cNvSpPr txBox="1"/>
          <p:nvPr/>
        </p:nvSpPr>
        <p:spPr>
          <a:xfrm>
            <a:off x="901703" y="4589017"/>
            <a:ext cx="5969635" cy="42951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Where g is some positive amount (1.1 in the case of a 10% increase), because g can be </a:t>
            </a:r>
            <a:r>
              <a:rPr dirty="0" sz="1100">
                <a:latin typeface="Arial"/>
                <a:cs typeface="Arial"/>
              </a:rPr>
              <a:t>any  </a:t>
            </a:r>
            <a:r>
              <a:rPr dirty="0" sz="1100" spc="-5">
                <a:latin typeface="Arial"/>
                <a:cs typeface="Arial"/>
              </a:rPr>
              <a:t>positive</a:t>
            </a:r>
            <a:r>
              <a:rPr dirty="0" sz="1100" spc="45">
                <a:latin typeface="Arial"/>
                <a:cs typeface="Arial"/>
              </a:rPr>
              <a:t> </a:t>
            </a:r>
            <a:r>
              <a:rPr dirty="0" sz="1100" spc="-5">
                <a:latin typeface="Arial"/>
                <a:cs typeface="Arial"/>
              </a:rPr>
              <a:t>real</a:t>
            </a:r>
            <a:r>
              <a:rPr dirty="0" sz="1100" spc="50">
                <a:latin typeface="Arial"/>
                <a:cs typeface="Arial"/>
              </a:rPr>
              <a:t> </a:t>
            </a:r>
            <a:r>
              <a:rPr dirty="0" sz="1100" spc="-5">
                <a:latin typeface="Arial"/>
                <a:cs typeface="Arial"/>
              </a:rPr>
              <a:t>number,</a:t>
            </a:r>
            <a:r>
              <a:rPr dirty="0" sz="1100" spc="50">
                <a:latin typeface="Arial"/>
                <a:cs typeface="Arial"/>
              </a:rPr>
              <a:t> </a:t>
            </a:r>
            <a:r>
              <a:rPr dirty="0" sz="1100" spc="-5">
                <a:latin typeface="Arial"/>
                <a:cs typeface="Arial"/>
              </a:rPr>
              <a:t>a</a:t>
            </a:r>
            <a:r>
              <a:rPr dirty="0" sz="1100" spc="60">
                <a:latin typeface="Arial"/>
                <a:cs typeface="Arial"/>
              </a:rPr>
              <a:t> </a:t>
            </a:r>
            <a:r>
              <a:rPr dirty="0" sz="1100" spc="-5">
                <a:latin typeface="Arial"/>
                <a:cs typeface="Arial"/>
              </a:rPr>
              <a:t>mathematical</a:t>
            </a:r>
            <a:r>
              <a:rPr dirty="0" sz="1100" spc="50">
                <a:latin typeface="Arial"/>
                <a:cs typeface="Arial"/>
              </a:rPr>
              <a:t> </a:t>
            </a:r>
            <a:r>
              <a:rPr dirty="0" sz="1100" spc="-5">
                <a:latin typeface="Arial"/>
                <a:cs typeface="Arial"/>
              </a:rPr>
              <a:t>trick</a:t>
            </a:r>
            <a:r>
              <a:rPr dirty="0" sz="1100" spc="50">
                <a:latin typeface="Arial"/>
                <a:cs typeface="Arial"/>
              </a:rPr>
              <a:t> </a:t>
            </a:r>
            <a:r>
              <a:rPr dirty="0" sz="1100" spc="-5">
                <a:latin typeface="Arial"/>
                <a:cs typeface="Arial"/>
              </a:rPr>
              <a:t>useful</a:t>
            </a:r>
            <a:r>
              <a:rPr dirty="0" sz="1100" spc="50">
                <a:latin typeface="Arial"/>
                <a:cs typeface="Arial"/>
              </a:rPr>
              <a:t> </a:t>
            </a:r>
            <a:r>
              <a:rPr dirty="0" sz="1100" spc="-5">
                <a:latin typeface="Arial"/>
                <a:cs typeface="Arial"/>
              </a:rPr>
              <a:t>in</a:t>
            </a:r>
            <a:r>
              <a:rPr dirty="0" sz="1100" spc="50">
                <a:latin typeface="Arial"/>
                <a:cs typeface="Arial"/>
              </a:rPr>
              <a:t> </a:t>
            </a:r>
            <a:r>
              <a:rPr dirty="0" sz="1100" spc="-5">
                <a:latin typeface="Arial"/>
                <a:cs typeface="Arial"/>
              </a:rPr>
              <a:t>analyzing</a:t>
            </a:r>
            <a:r>
              <a:rPr dirty="0" sz="1100" spc="50">
                <a:latin typeface="Arial"/>
                <a:cs typeface="Arial"/>
              </a:rPr>
              <a:t> </a:t>
            </a:r>
            <a:r>
              <a:rPr dirty="0" sz="1100" spc="-5">
                <a:latin typeface="Arial"/>
                <a:cs typeface="Arial"/>
              </a:rPr>
              <a:t>the</a:t>
            </a:r>
            <a:r>
              <a:rPr dirty="0" sz="1100" spc="50">
                <a:latin typeface="Arial"/>
                <a:cs typeface="Arial"/>
              </a:rPr>
              <a:t> </a:t>
            </a:r>
            <a:r>
              <a:rPr dirty="0" sz="1100" spc="-5">
                <a:latin typeface="Arial"/>
                <a:cs typeface="Arial"/>
              </a:rPr>
              <a:t>implications</a:t>
            </a:r>
            <a:r>
              <a:rPr dirty="0" sz="1100" spc="50">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the</a:t>
            </a:r>
            <a:r>
              <a:rPr dirty="0" sz="1100" spc="50">
                <a:latin typeface="Arial"/>
                <a:cs typeface="Arial"/>
              </a:rPr>
              <a:t> </a:t>
            </a:r>
            <a:r>
              <a:rPr dirty="0" sz="1100" spc="-5">
                <a:latin typeface="Arial"/>
                <a:cs typeface="Arial"/>
              </a:rPr>
              <a:t>model</a:t>
            </a:r>
            <a:r>
              <a:rPr dirty="0" sz="1100" spc="50">
                <a:latin typeface="Arial"/>
                <a:cs typeface="Arial"/>
              </a:rPr>
              <a:t> </a:t>
            </a:r>
            <a:r>
              <a:rPr dirty="0" sz="1100" spc="-5">
                <a:latin typeface="Arial"/>
                <a:cs typeface="Arial"/>
              </a:rPr>
              <a:t>is</a:t>
            </a:r>
            <a:r>
              <a:rPr dirty="0" sz="1100" spc="50">
                <a:latin typeface="Arial"/>
                <a:cs typeface="Arial"/>
              </a:rPr>
              <a:t> </a:t>
            </a:r>
            <a:r>
              <a:rPr dirty="0" sz="1100">
                <a:latin typeface="Arial"/>
                <a:cs typeface="Arial"/>
              </a:rPr>
              <a:t>to</a:t>
            </a:r>
            <a:endParaRPr sz="1100">
              <a:latin typeface="Arial"/>
              <a:cs typeface="Arial"/>
            </a:endParaRPr>
          </a:p>
          <a:p>
            <a:pPr>
              <a:lnSpc>
                <a:spcPct val="100000"/>
              </a:lnSpc>
              <a:spcBef>
                <a:spcPts val="30"/>
              </a:spcBef>
            </a:pPr>
            <a:endParaRPr sz="1150">
              <a:latin typeface="Arial"/>
              <a:cs typeface="Arial"/>
            </a:endParaRPr>
          </a:p>
          <a:p>
            <a:pPr algn="just" marL="12700">
              <a:lnSpc>
                <a:spcPct val="100000"/>
              </a:lnSpc>
              <a:tabLst>
                <a:tab pos="638175" algn="l"/>
              </a:tabLst>
            </a:pPr>
            <a:r>
              <a:rPr dirty="0" sz="1100" spc="-5">
                <a:latin typeface="Arial"/>
                <a:cs typeface="Arial"/>
              </a:rPr>
              <a:t>set	so that.:</a:t>
            </a:r>
            <a:endParaRPr sz="1100">
              <a:latin typeface="Arial"/>
              <a:cs typeface="Arial"/>
            </a:endParaRPr>
          </a:p>
          <a:p>
            <a:pPr>
              <a:lnSpc>
                <a:spcPct val="100000"/>
              </a:lnSpc>
            </a:pPr>
            <a:endParaRPr sz="1200">
              <a:latin typeface="Arial"/>
              <a:cs typeface="Arial"/>
            </a:endParaRPr>
          </a:p>
          <a:p>
            <a:pPr>
              <a:lnSpc>
                <a:spcPct val="100000"/>
              </a:lnSpc>
              <a:spcBef>
                <a:spcPts val="10"/>
              </a:spcBef>
            </a:pPr>
            <a:endParaRPr sz="1100">
              <a:latin typeface="Arial"/>
              <a:cs typeface="Arial"/>
            </a:endParaRPr>
          </a:p>
          <a:p>
            <a:pPr algn="ctr" marL="39370">
              <a:lnSpc>
                <a:spcPct val="100000"/>
              </a:lnSpc>
            </a:pPr>
            <a:r>
              <a:rPr dirty="0" sz="1100" spc="-5">
                <a:latin typeface="Arial"/>
                <a:cs typeface="Arial"/>
              </a:rPr>
              <a:t>(A3.2.2)</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Lowercase variables are expressed in per-worker terms in these equations. The concave shape  of that is, increasing at a decreasing rate—reflects diminishing returns to capital per worker, as  can be seen in Figure A3.2.1.2 In the Harrod-Domar model, this would instead be a straight,  upward-sloping line.</a:t>
            </a:r>
            <a:endParaRPr sz="1100">
              <a:latin typeface="Arial"/>
              <a:cs typeface="Arial"/>
            </a:endParaRPr>
          </a:p>
          <a:p>
            <a:pPr>
              <a:lnSpc>
                <a:spcPct val="100000"/>
              </a:lnSpc>
              <a:spcBef>
                <a:spcPts val="35"/>
              </a:spcBef>
            </a:pPr>
            <a:endParaRPr sz="1050">
              <a:latin typeface="Arial"/>
              <a:cs typeface="Arial"/>
            </a:endParaRPr>
          </a:p>
          <a:p>
            <a:pPr algn="just" marL="12700" marR="5715">
              <a:lnSpc>
                <a:spcPts val="1270"/>
              </a:lnSpc>
            </a:pPr>
            <a:r>
              <a:rPr dirty="0" sz="1100" spc="-5">
                <a:latin typeface="Arial"/>
                <a:cs typeface="Arial"/>
              </a:rPr>
              <a:t>This simplification allows us to deal with just one argument in the production function. For  example, in the Cobb-Douglas case introduced in Equation</a:t>
            </a:r>
            <a:r>
              <a:rPr dirty="0" sz="1100" spc="45">
                <a:latin typeface="Arial"/>
                <a:cs typeface="Arial"/>
              </a:rPr>
              <a:t> </a:t>
            </a:r>
            <a:r>
              <a:rPr dirty="0" sz="1100" spc="-5">
                <a:latin typeface="Arial"/>
                <a:cs typeface="Arial"/>
              </a:rPr>
              <a:t>A3.2.1,</a:t>
            </a:r>
            <a:endParaRPr sz="1100">
              <a:latin typeface="Arial"/>
              <a:cs typeface="Arial"/>
            </a:endParaRPr>
          </a:p>
          <a:p>
            <a:pPr>
              <a:lnSpc>
                <a:spcPct val="100000"/>
              </a:lnSpc>
              <a:spcBef>
                <a:spcPts val="55"/>
              </a:spcBef>
            </a:pPr>
            <a:endParaRPr sz="1250">
              <a:latin typeface="Arial"/>
              <a:cs typeface="Arial"/>
            </a:endParaRPr>
          </a:p>
          <a:p>
            <a:pPr algn="ctr" marL="78105">
              <a:lnSpc>
                <a:spcPct val="100000"/>
              </a:lnSpc>
            </a:pPr>
            <a:r>
              <a:rPr dirty="0" sz="1100" spc="-5">
                <a:latin typeface="Arial"/>
                <a:cs typeface="Arial"/>
              </a:rPr>
              <a:t>(A 3.2.3)</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This represents an alternative </a:t>
            </a:r>
            <a:r>
              <a:rPr dirty="0" sz="1100">
                <a:latin typeface="Arial"/>
                <a:cs typeface="Arial"/>
              </a:rPr>
              <a:t>way </a:t>
            </a:r>
            <a:r>
              <a:rPr dirty="0" sz="1100" spc="-5">
                <a:latin typeface="Arial"/>
                <a:cs typeface="Arial"/>
              </a:rPr>
              <a:t>to think about a production function, in which everything is  measured in quantities per worker. Equation A3.2.3 states that output per worker is a function  that depends on the amount of capital per worker. The more capital with which each worker has  to work, the more output that worker can produce. The labor </a:t>
            </a:r>
            <a:r>
              <a:rPr dirty="0" sz="1100">
                <a:latin typeface="Arial"/>
                <a:cs typeface="Arial"/>
              </a:rPr>
              <a:t>force </a:t>
            </a:r>
            <a:r>
              <a:rPr dirty="0" sz="1100" spc="-5">
                <a:latin typeface="Arial"/>
                <a:cs typeface="Arial"/>
              </a:rPr>
              <a:t>grows at rate n per year, </a:t>
            </a:r>
            <a:r>
              <a:rPr dirty="0" sz="1100">
                <a:latin typeface="Arial"/>
                <a:cs typeface="Arial"/>
              </a:rPr>
              <a:t>say,  </a:t>
            </a:r>
            <a:r>
              <a:rPr dirty="0" sz="1100" spc="-5">
                <a:latin typeface="Arial"/>
                <a:cs typeface="Arial"/>
              </a:rPr>
              <a:t>and labor productivity growth, the rate at which the value of A in the production function  increases, occurs at rate l. The total capital stock grows when savings are greater than  depreciation, but capital per worker grows when savings are also greater than what is needed to  equip new workers with the same amount of capital as existing workers</a:t>
            </a:r>
            <a:r>
              <a:rPr dirty="0" sz="1100" spc="90">
                <a:latin typeface="Arial"/>
                <a:cs typeface="Arial"/>
              </a:rPr>
              <a:t> </a:t>
            </a:r>
            <a:r>
              <a:rPr dirty="0" sz="1100" spc="-5">
                <a:latin typeface="Arial"/>
                <a:cs typeface="Arial"/>
              </a:rPr>
              <a:t>have.</a:t>
            </a:r>
            <a:endParaRPr sz="1100">
              <a:latin typeface="Arial"/>
              <a:cs typeface="Arial"/>
            </a:endParaRPr>
          </a:p>
        </p:txBody>
      </p:sp>
      <p:sp>
        <p:nvSpPr>
          <p:cNvPr id="14" name="object 14"/>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5" name="object 15"/>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46</a:t>
            </a:r>
            <a:endParaRPr sz="1100">
              <a:latin typeface="Carlito"/>
              <a:cs typeface="Carli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5407152" y="1085850"/>
            <a:ext cx="333755" cy="159257"/>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4398264" y="1297686"/>
            <a:ext cx="168401" cy="99059"/>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921258" y="1655064"/>
            <a:ext cx="158496" cy="100584"/>
          </a:xfrm>
          <a:prstGeom prst="rect">
            <a:avLst/>
          </a:prstGeom>
          <a:blipFill>
            <a:blip r:embed="rId4" cstate="print"/>
            <a:stretch>
              <a:fillRect/>
            </a:stretch>
          </a:blipFill>
        </p:spPr>
        <p:txBody>
          <a:bodyPr wrap="square" lIns="0" tIns="0" rIns="0" bIns="0" rtlCol="0"/>
          <a:lstStyle/>
          <a:p/>
        </p:txBody>
      </p:sp>
      <p:sp>
        <p:nvSpPr>
          <p:cNvPr id="9" name="object 9"/>
          <p:cNvSpPr txBox="1"/>
          <p:nvPr/>
        </p:nvSpPr>
        <p:spPr>
          <a:xfrm>
            <a:off x="901700" y="857964"/>
            <a:ext cx="5969635" cy="962025"/>
          </a:xfrm>
          <a:prstGeom prst="rect">
            <a:avLst/>
          </a:prstGeom>
        </p:spPr>
        <p:txBody>
          <a:bodyPr wrap="square" lIns="0" tIns="12700" rIns="0" bIns="0" rtlCol="0" vert="horz">
            <a:spAutoFit/>
          </a:bodyPr>
          <a:lstStyle/>
          <a:p>
            <a:pPr marL="12700" marR="5080">
              <a:lnSpc>
                <a:spcPct val="120000"/>
              </a:lnSpc>
              <a:spcBef>
                <a:spcPts val="100"/>
              </a:spcBef>
              <a:tabLst>
                <a:tab pos="4838700" algn="l"/>
              </a:tabLst>
            </a:pPr>
            <a:r>
              <a:rPr dirty="0" sz="1100" spc="-5">
                <a:latin typeface="Arial"/>
                <a:cs typeface="Arial"/>
              </a:rPr>
              <a:t>The Solow equation (Equation A3.2.4) gives the growth of the capital-labor ratio, k (known as  capital</a:t>
            </a:r>
            <a:r>
              <a:rPr dirty="0" sz="1100" spc="50">
                <a:latin typeface="Arial"/>
                <a:cs typeface="Arial"/>
              </a:rPr>
              <a:t> </a:t>
            </a:r>
            <a:r>
              <a:rPr dirty="0" sz="1100" spc="-5">
                <a:latin typeface="Arial"/>
                <a:cs typeface="Arial"/>
              </a:rPr>
              <a:t>deepening),</a:t>
            </a:r>
            <a:r>
              <a:rPr dirty="0" sz="1100" spc="55">
                <a:latin typeface="Arial"/>
                <a:cs typeface="Arial"/>
              </a:rPr>
              <a:t> </a:t>
            </a:r>
            <a:r>
              <a:rPr dirty="0" sz="1100" spc="-5">
                <a:latin typeface="Arial"/>
                <a:cs typeface="Arial"/>
              </a:rPr>
              <a:t>and</a:t>
            </a:r>
            <a:r>
              <a:rPr dirty="0" sz="1100" spc="50">
                <a:latin typeface="Arial"/>
                <a:cs typeface="Arial"/>
              </a:rPr>
              <a:t> </a:t>
            </a:r>
            <a:r>
              <a:rPr dirty="0" sz="1100" spc="-5">
                <a:latin typeface="Arial"/>
                <a:cs typeface="Arial"/>
              </a:rPr>
              <a:t>shows</a:t>
            </a:r>
            <a:r>
              <a:rPr dirty="0" sz="1100" spc="55">
                <a:latin typeface="Arial"/>
                <a:cs typeface="Arial"/>
              </a:rPr>
              <a:t> </a:t>
            </a:r>
            <a:r>
              <a:rPr dirty="0" sz="1100" spc="-5">
                <a:latin typeface="Arial"/>
                <a:cs typeface="Arial"/>
              </a:rPr>
              <a:t>that</a:t>
            </a:r>
            <a:r>
              <a:rPr dirty="0" sz="1100" spc="50">
                <a:latin typeface="Arial"/>
                <a:cs typeface="Arial"/>
              </a:rPr>
              <a:t> </a:t>
            </a:r>
            <a:r>
              <a:rPr dirty="0" sz="1100" spc="-5">
                <a:latin typeface="Arial"/>
                <a:cs typeface="Arial"/>
              </a:rPr>
              <a:t>the</a:t>
            </a:r>
            <a:r>
              <a:rPr dirty="0" sz="1100" spc="55">
                <a:latin typeface="Arial"/>
                <a:cs typeface="Arial"/>
              </a:rPr>
              <a:t> </a:t>
            </a:r>
            <a:r>
              <a:rPr dirty="0" sz="1100" spc="-5">
                <a:latin typeface="Arial"/>
                <a:cs typeface="Arial"/>
              </a:rPr>
              <a:t>growth</a:t>
            </a:r>
            <a:r>
              <a:rPr dirty="0" sz="1100" spc="50">
                <a:latin typeface="Arial"/>
                <a:cs typeface="Arial"/>
              </a:rPr>
              <a:t> </a:t>
            </a:r>
            <a:r>
              <a:rPr dirty="0" sz="1100" spc="-5">
                <a:latin typeface="Arial"/>
                <a:cs typeface="Arial"/>
              </a:rPr>
              <a:t>of</a:t>
            </a:r>
            <a:r>
              <a:rPr dirty="0" sz="1100" spc="60">
                <a:latin typeface="Arial"/>
                <a:cs typeface="Arial"/>
              </a:rPr>
              <a:t> </a:t>
            </a:r>
            <a:r>
              <a:rPr dirty="0" sz="1100" spc="-5">
                <a:latin typeface="Arial"/>
                <a:cs typeface="Arial"/>
              </a:rPr>
              <a:t>k</a:t>
            </a:r>
            <a:r>
              <a:rPr dirty="0" sz="1100" spc="50">
                <a:latin typeface="Arial"/>
                <a:cs typeface="Arial"/>
              </a:rPr>
              <a:t> </a:t>
            </a:r>
            <a:r>
              <a:rPr dirty="0" sz="1100" spc="-5">
                <a:latin typeface="Arial"/>
                <a:cs typeface="Arial"/>
              </a:rPr>
              <a:t>depends</a:t>
            </a:r>
            <a:r>
              <a:rPr dirty="0" sz="1100" spc="55">
                <a:latin typeface="Arial"/>
                <a:cs typeface="Arial"/>
              </a:rPr>
              <a:t> </a:t>
            </a:r>
            <a:r>
              <a:rPr dirty="0" sz="1100" spc="-5">
                <a:latin typeface="Arial"/>
                <a:cs typeface="Arial"/>
              </a:rPr>
              <a:t>on</a:t>
            </a:r>
            <a:r>
              <a:rPr dirty="0" sz="1100" spc="55">
                <a:latin typeface="Arial"/>
                <a:cs typeface="Arial"/>
              </a:rPr>
              <a:t> </a:t>
            </a:r>
            <a:r>
              <a:rPr dirty="0" sz="1100" spc="-5">
                <a:latin typeface="Arial"/>
                <a:cs typeface="Arial"/>
              </a:rPr>
              <a:t>savings	, after allowing</a:t>
            </a:r>
            <a:r>
              <a:rPr dirty="0" sz="1100" spc="85">
                <a:latin typeface="Arial"/>
                <a:cs typeface="Arial"/>
              </a:rPr>
              <a:t> </a:t>
            </a:r>
            <a:r>
              <a:rPr dirty="0" sz="1100" spc="-5">
                <a:latin typeface="Arial"/>
                <a:cs typeface="Arial"/>
              </a:rPr>
              <a:t>for</a:t>
            </a:r>
            <a:endParaRPr sz="1100">
              <a:latin typeface="Arial"/>
              <a:cs typeface="Arial"/>
            </a:endParaRPr>
          </a:p>
          <a:p>
            <a:pPr marL="12700" marR="5080">
              <a:lnSpc>
                <a:spcPts val="1260"/>
              </a:lnSpc>
              <a:spcBef>
                <a:spcPts val="135"/>
              </a:spcBef>
              <a:tabLst>
                <a:tab pos="3714750" algn="l"/>
              </a:tabLst>
            </a:pPr>
            <a:r>
              <a:rPr dirty="0" sz="1100" spc="-5">
                <a:latin typeface="Arial"/>
                <a:cs typeface="Arial"/>
              </a:rPr>
              <a:t>the</a:t>
            </a:r>
            <a:r>
              <a:rPr dirty="0" sz="1100" spc="140">
                <a:latin typeface="Arial"/>
                <a:cs typeface="Arial"/>
              </a:rPr>
              <a:t> </a:t>
            </a:r>
            <a:r>
              <a:rPr dirty="0" sz="1100" spc="-5">
                <a:latin typeface="Arial"/>
                <a:cs typeface="Arial"/>
              </a:rPr>
              <a:t>amount</a:t>
            </a:r>
            <a:r>
              <a:rPr dirty="0" sz="1100" spc="140">
                <a:latin typeface="Arial"/>
                <a:cs typeface="Arial"/>
              </a:rPr>
              <a:t> </a:t>
            </a:r>
            <a:r>
              <a:rPr dirty="0" sz="1100" spc="-5">
                <a:latin typeface="Arial"/>
                <a:cs typeface="Arial"/>
              </a:rPr>
              <a:t>of</a:t>
            </a:r>
            <a:r>
              <a:rPr dirty="0" sz="1100" spc="145">
                <a:latin typeface="Arial"/>
                <a:cs typeface="Arial"/>
              </a:rPr>
              <a:t> </a:t>
            </a:r>
            <a:r>
              <a:rPr dirty="0" sz="1100" spc="-5">
                <a:latin typeface="Arial"/>
                <a:cs typeface="Arial"/>
              </a:rPr>
              <a:t>capital</a:t>
            </a:r>
            <a:r>
              <a:rPr dirty="0" sz="1100" spc="140">
                <a:latin typeface="Arial"/>
                <a:cs typeface="Arial"/>
              </a:rPr>
              <a:t> </a:t>
            </a:r>
            <a:r>
              <a:rPr dirty="0" sz="1100" spc="-5">
                <a:latin typeface="Arial"/>
                <a:cs typeface="Arial"/>
              </a:rPr>
              <a:t>required</a:t>
            </a:r>
            <a:r>
              <a:rPr dirty="0" sz="1100" spc="140">
                <a:latin typeface="Arial"/>
                <a:cs typeface="Arial"/>
              </a:rPr>
              <a:t> </a:t>
            </a:r>
            <a:r>
              <a:rPr dirty="0" sz="1100" spc="-5">
                <a:latin typeface="Arial"/>
                <a:cs typeface="Arial"/>
              </a:rPr>
              <a:t>to</a:t>
            </a:r>
            <a:r>
              <a:rPr dirty="0" sz="1100" spc="145">
                <a:latin typeface="Arial"/>
                <a:cs typeface="Arial"/>
              </a:rPr>
              <a:t> </a:t>
            </a:r>
            <a:r>
              <a:rPr dirty="0" sz="1100" spc="-5">
                <a:latin typeface="Arial"/>
                <a:cs typeface="Arial"/>
              </a:rPr>
              <a:t>service</a:t>
            </a:r>
            <a:r>
              <a:rPr dirty="0" sz="1100" spc="140">
                <a:latin typeface="Arial"/>
                <a:cs typeface="Arial"/>
              </a:rPr>
              <a:t> </a:t>
            </a:r>
            <a:r>
              <a:rPr dirty="0" sz="1100" spc="-5">
                <a:latin typeface="Arial"/>
                <a:cs typeface="Arial"/>
              </a:rPr>
              <a:t>depreciation,	, and after capital widening, that is,  providing</a:t>
            </a:r>
            <a:r>
              <a:rPr dirty="0" sz="1100" spc="114">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existing</a:t>
            </a:r>
            <a:r>
              <a:rPr dirty="0" sz="1100" spc="120">
                <a:latin typeface="Arial"/>
                <a:cs typeface="Arial"/>
              </a:rPr>
              <a:t> </a:t>
            </a:r>
            <a:r>
              <a:rPr dirty="0" sz="1100" spc="-5">
                <a:latin typeface="Arial"/>
                <a:cs typeface="Arial"/>
              </a:rPr>
              <a:t>amount</a:t>
            </a:r>
            <a:r>
              <a:rPr dirty="0" sz="1100" spc="120">
                <a:latin typeface="Arial"/>
                <a:cs typeface="Arial"/>
              </a:rPr>
              <a:t> </a:t>
            </a:r>
            <a:r>
              <a:rPr dirty="0" sz="1100" spc="-5">
                <a:latin typeface="Arial"/>
                <a:cs typeface="Arial"/>
              </a:rPr>
              <a:t>of</a:t>
            </a:r>
            <a:r>
              <a:rPr dirty="0" sz="1100" spc="120">
                <a:latin typeface="Arial"/>
                <a:cs typeface="Arial"/>
              </a:rPr>
              <a:t> </a:t>
            </a:r>
            <a:r>
              <a:rPr dirty="0" sz="1100" spc="-5">
                <a:latin typeface="Arial"/>
                <a:cs typeface="Arial"/>
              </a:rPr>
              <a:t>capital</a:t>
            </a:r>
            <a:r>
              <a:rPr dirty="0" sz="1100" spc="114">
                <a:latin typeface="Arial"/>
                <a:cs typeface="Arial"/>
              </a:rPr>
              <a:t> </a:t>
            </a:r>
            <a:r>
              <a:rPr dirty="0" sz="1100" spc="-5">
                <a:latin typeface="Arial"/>
                <a:cs typeface="Arial"/>
              </a:rPr>
              <a:t>per</a:t>
            </a:r>
            <a:r>
              <a:rPr dirty="0" sz="1100" spc="120">
                <a:latin typeface="Arial"/>
                <a:cs typeface="Arial"/>
              </a:rPr>
              <a:t> </a:t>
            </a:r>
            <a:r>
              <a:rPr dirty="0" sz="1100" spc="-5">
                <a:latin typeface="Arial"/>
                <a:cs typeface="Arial"/>
              </a:rPr>
              <a:t>worker</a:t>
            </a:r>
            <a:r>
              <a:rPr dirty="0" sz="1100" spc="120">
                <a:latin typeface="Arial"/>
                <a:cs typeface="Arial"/>
              </a:rPr>
              <a:t> </a:t>
            </a:r>
            <a:r>
              <a:rPr dirty="0" sz="1100" spc="-5">
                <a:latin typeface="Arial"/>
                <a:cs typeface="Arial"/>
              </a:rPr>
              <a:t>to</a:t>
            </a:r>
            <a:r>
              <a:rPr dirty="0" sz="1100" spc="125">
                <a:latin typeface="Arial"/>
                <a:cs typeface="Arial"/>
              </a:rPr>
              <a:t> </a:t>
            </a:r>
            <a:r>
              <a:rPr dirty="0" sz="1100" spc="-5">
                <a:latin typeface="Arial"/>
                <a:cs typeface="Arial"/>
              </a:rPr>
              <a:t>net</a:t>
            </a:r>
            <a:r>
              <a:rPr dirty="0" sz="1100" spc="114">
                <a:latin typeface="Arial"/>
                <a:cs typeface="Arial"/>
              </a:rPr>
              <a:t> </a:t>
            </a:r>
            <a:r>
              <a:rPr dirty="0" sz="1100" spc="-5">
                <a:latin typeface="Arial"/>
                <a:cs typeface="Arial"/>
              </a:rPr>
              <a:t>new</a:t>
            </a:r>
            <a:r>
              <a:rPr dirty="0" sz="1100" spc="120">
                <a:latin typeface="Arial"/>
                <a:cs typeface="Arial"/>
              </a:rPr>
              <a:t> </a:t>
            </a:r>
            <a:r>
              <a:rPr dirty="0" sz="1100" spc="-5">
                <a:latin typeface="Arial"/>
                <a:cs typeface="Arial"/>
              </a:rPr>
              <a:t>workers</a:t>
            </a:r>
            <a:r>
              <a:rPr dirty="0" sz="1100" spc="114">
                <a:latin typeface="Arial"/>
                <a:cs typeface="Arial"/>
              </a:rPr>
              <a:t> </a:t>
            </a:r>
            <a:r>
              <a:rPr dirty="0" sz="1100" spc="-5">
                <a:latin typeface="Arial"/>
                <a:cs typeface="Arial"/>
              </a:rPr>
              <a:t>joining</a:t>
            </a:r>
            <a:r>
              <a:rPr dirty="0" sz="1100" spc="114">
                <a:latin typeface="Arial"/>
                <a:cs typeface="Arial"/>
              </a:rPr>
              <a:t> </a:t>
            </a:r>
            <a:r>
              <a:rPr dirty="0" sz="1100" spc="-5">
                <a:latin typeface="Arial"/>
                <a:cs typeface="Arial"/>
              </a:rPr>
              <a:t>the</a:t>
            </a:r>
            <a:r>
              <a:rPr dirty="0" sz="1100" spc="114">
                <a:latin typeface="Arial"/>
                <a:cs typeface="Arial"/>
              </a:rPr>
              <a:t> </a:t>
            </a:r>
            <a:r>
              <a:rPr dirty="0" sz="1100" spc="-5">
                <a:latin typeface="Arial"/>
                <a:cs typeface="Arial"/>
              </a:rPr>
              <a:t>labor</a:t>
            </a:r>
            <a:r>
              <a:rPr dirty="0" sz="1100" spc="120">
                <a:latin typeface="Arial"/>
                <a:cs typeface="Arial"/>
              </a:rPr>
              <a:t> </a:t>
            </a:r>
            <a:r>
              <a:rPr dirty="0" sz="1100" spc="-5">
                <a:latin typeface="Arial"/>
                <a:cs typeface="Arial"/>
              </a:rPr>
              <a:t>force,</a:t>
            </a:r>
            <a:endParaRPr sz="1100">
              <a:latin typeface="Arial"/>
              <a:cs typeface="Arial"/>
            </a:endParaRPr>
          </a:p>
          <a:p>
            <a:pPr marL="231775">
              <a:lnSpc>
                <a:spcPct val="100000"/>
              </a:lnSpc>
              <a:spcBef>
                <a:spcPts val="229"/>
              </a:spcBef>
            </a:pPr>
            <a:r>
              <a:rPr dirty="0" sz="1100" spc="-5">
                <a:latin typeface="Arial"/>
                <a:cs typeface="Arial"/>
              </a:rPr>
              <a:t>. That</a:t>
            </a:r>
            <a:r>
              <a:rPr dirty="0" sz="1100">
                <a:latin typeface="Arial"/>
                <a:cs typeface="Arial"/>
              </a:rPr>
              <a:t> </a:t>
            </a:r>
            <a:r>
              <a:rPr dirty="0" sz="1100" spc="-5">
                <a:latin typeface="Arial"/>
                <a:cs typeface="Arial"/>
              </a:rPr>
              <a:t>is,</a:t>
            </a:r>
            <a:endParaRPr sz="1100">
              <a:latin typeface="Arial"/>
              <a:cs typeface="Arial"/>
            </a:endParaRPr>
          </a:p>
        </p:txBody>
      </p:sp>
      <p:sp>
        <p:nvSpPr>
          <p:cNvPr id="10" name="object 10"/>
          <p:cNvSpPr/>
          <p:nvPr/>
        </p:nvSpPr>
        <p:spPr>
          <a:xfrm>
            <a:off x="914400" y="1987295"/>
            <a:ext cx="1343406" cy="143255"/>
          </a:xfrm>
          <a:prstGeom prst="rect">
            <a:avLst/>
          </a:prstGeom>
          <a:blipFill>
            <a:blip r:embed="rId5" cstate="print"/>
            <a:stretch>
              <a:fillRect/>
            </a:stretch>
          </a:blipFill>
        </p:spPr>
        <p:txBody>
          <a:bodyPr wrap="square" lIns="0" tIns="0" rIns="0" bIns="0" rtlCol="0"/>
          <a:lstStyle/>
          <a:p/>
        </p:txBody>
      </p:sp>
      <p:sp>
        <p:nvSpPr>
          <p:cNvPr id="11" name="object 11"/>
          <p:cNvSpPr/>
          <p:nvPr/>
        </p:nvSpPr>
        <p:spPr>
          <a:xfrm>
            <a:off x="2654045" y="2612135"/>
            <a:ext cx="454914" cy="143255"/>
          </a:xfrm>
          <a:prstGeom prst="rect">
            <a:avLst/>
          </a:prstGeom>
          <a:blipFill>
            <a:blip r:embed="rId6" cstate="print"/>
            <a:stretch>
              <a:fillRect/>
            </a:stretch>
          </a:blipFill>
        </p:spPr>
        <p:txBody>
          <a:bodyPr wrap="square" lIns="0" tIns="0" rIns="0" bIns="0" rtlCol="0"/>
          <a:lstStyle/>
          <a:p/>
        </p:txBody>
      </p:sp>
      <p:sp>
        <p:nvSpPr>
          <p:cNvPr id="12" name="object 12"/>
          <p:cNvSpPr txBox="1"/>
          <p:nvPr/>
        </p:nvSpPr>
        <p:spPr>
          <a:xfrm>
            <a:off x="901697" y="2269485"/>
            <a:ext cx="5969635" cy="527050"/>
          </a:xfrm>
          <a:prstGeom prst="rect">
            <a:avLst/>
          </a:prstGeom>
        </p:spPr>
        <p:txBody>
          <a:bodyPr wrap="square" lIns="0" tIns="13335" rIns="0" bIns="0" rtlCol="0" vert="horz">
            <a:spAutoFit/>
          </a:bodyPr>
          <a:lstStyle/>
          <a:p>
            <a:pPr algn="just" marL="12700" marR="5080">
              <a:lnSpc>
                <a:spcPct val="99500"/>
              </a:lnSpc>
              <a:spcBef>
                <a:spcPts val="105"/>
              </a:spcBef>
              <a:tabLst>
                <a:tab pos="2228215" algn="l"/>
              </a:tabLst>
            </a:pPr>
            <a:r>
              <a:rPr dirty="0" sz="1100" spc="-5">
                <a:latin typeface="Arial"/>
                <a:cs typeface="Arial"/>
              </a:rPr>
              <a:t>For simplicity, we are assuming for now that A remains constant. In this case, there will be a  state in which output and capital per worker are no longer changing, known as the steady state.  To find this steady</a:t>
            </a:r>
            <a:r>
              <a:rPr dirty="0" sz="1100" spc="65">
                <a:latin typeface="Arial"/>
                <a:cs typeface="Arial"/>
              </a:rPr>
              <a:t> </a:t>
            </a:r>
            <a:r>
              <a:rPr dirty="0" sz="1100" spc="-5">
                <a:latin typeface="Arial"/>
                <a:cs typeface="Arial"/>
              </a:rPr>
              <a:t>state,</a:t>
            </a:r>
            <a:r>
              <a:rPr dirty="0" sz="1100" spc="15">
                <a:latin typeface="Arial"/>
                <a:cs typeface="Arial"/>
              </a:rPr>
              <a:t> </a:t>
            </a:r>
            <a:r>
              <a:rPr dirty="0" sz="1100" spc="-5">
                <a:latin typeface="Arial"/>
                <a:cs typeface="Arial"/>
              </a:rPr>
              <a:t>set	:</a:t>
            </a:r>
            <a:endParaRPr sz="1100">
              <a:latin typeface="Arial"/>
              <a:cs typeface="Arial"/>
            </a:endParaRPr>
          </a:p>
        </p:txBody>
      </p:sp>
      <p:sp>
        <p:nvSpPr>
          <p:cNvPr id="13" name="object 13"/>
          <p:cNvSpPr/>
          <p:nvPr/>
        </p:nvSpPr>
        <p:spPr>
          <a:xfrm>
            <a:off x="914400" y="2960370"/>
            <a:ext cx="1152906" cy="157733"/>
          </a:xfrm>
          <a:prstGeom prst="rect">
            <a:avLst/>
          </a:prstGeom>
          <a:blipFill>
            <a:blip r:embed="rId7" cstate="print"/>
            <a:stretch>
              <a:fillRect/>
            </a:stretch>
          </a:blipFill>
        </p:spPr>
        <p:txBody>
          <a:bodyPr wrap="square" lIns="0" tIns="0" rIns="0" bIns="0" rtlCol="0"/>
          <a:lstStyle/>
          <a:p/>
        </p:txBody>
      </p:sp>
      <p:sp>
        <p:nvSpPr>
          <p:cNvPr id="14" name="object 14"/>
          <p:cNvSpPr txBox="1"/>
          <p:nvPr/>
        </p:nvSpPr>
        <p:spPr>
          <a:xfrm>
            <a:off x="901694" y="3256284"/>
            <a:ext cx="5970905" cy="6743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notation k* means the level of capital per worker when the economy is in its steady state.  That this equilibrium is stable can be seen from Figure A3.2.1. The capital per worker k*  represents the steady state. If k is higher or lower than k*, the economy will return to it; thus k*  is a stable equilibrium. This stability is seen in the diagram </a:t>
            </a:r>
            <a:r>
              <a:rPr dirty="0" sz="1100">
                <a:latin typeface="Arial"/>
                <a:cs typeface="Arial"/>
              </a:rPr>
              <a:t>by </a:t>
            </a:r>
            <a:r>
              <a:rPr dirty="0" sz="1100" spc="-5">
                <a:latin typeface="Arial"/>
                <a:cs typeface="Arial"/>
              </a:rPr>
              <a:t>noting that to </a:t>
            </a:r>
            <a:r>
              <a:rPr dirty="0" sz="1100">
                <a:latin typeface="Arial"/>
                <a:cs typeface="Arial"/>
              </a:rPr>
              <a:t>the </a:t>
            </a:r>
            <a:r>
              <a:rPr dirty="0" sz="1100" spc="-5">
                <a:latin typeface="Arial"/>
                <a:cs typeface="Arial"/>
              </a:rPr>
              <a:t>left of</a:t>
            </a:r>
            <a:r>
              <a:rPr dirty="0" sz="1100" spc="-60">
                <a:latin typeface="Arial"/>
                <a:cs typeface="Arial"/>
              </a:rPr>
              <a:t> </a:t>
            </a:r>
            <a:r>
              <a:rPr dirty="0" sz="1100" spc="-5">
                <a:latin typeface="Arial"/>
                <a:cs typeface="Arial"/>
              </a:rPr>
              <a:t>k*,</a:t>
            </a:r>
            <a:endParaRPr sz="1100">
              <a:latin typeface="Arial"/>
              <a:cs typeface="Arial"/>
            </a:endParaRPr>
          </a:p>
        </p:txBody>
      </p:sp>
      <p:sp>
        <p:nvSpPr>
          <p:cNvPr id="15" name="object 15"/>
          <p:cNvSpPr/>
          <p:nvPr/>
        </p:nvSpPr>
        <p:spPr>
          <a:xfrm>
            <a:off x="914400" y="3941064"/>
            <a:ext cx="495300" cy="150113"/>
          </a:xfrm>
          <a:prstGeom prst="rect">
            <a:avLst/>
          </a:prstGeom>
          <a:blipFill>
            <a:blip r:embed="rId8" cstate="print"/>
            <a:stretch>
              <a:fillRect/>
            </a:stretch>
          </a:blipFill>
        </p:spPr>
        <p:txBody>
          <a:bodyPr wrap="square" lIns="0" tIns="0" rIns="0" bIns="0" rtlCol="0"/>
          <a:lstStyle/>
          <a:p/>
        </p:txBody>
      </p:sp>
      <p:sp>
        <p:nvSpPr>
          <p:cNvPr id="16" name="object 16"/>
          <p:cNvSpPr/>
          <p:nvPr/>
        </p:nvSpPr>
        <p:spPr>
          <a:xfrm>
            <a:off x="4543044" y="3947921"/>
            <a:ext cx="605027" cy="143255"/>
          </a:xfrm>
          <a:prstGeom prst="rect">
            <a:avLst/>
          </a:prstGeom>
          <a:blipFill>
            <a:blip r:embed="rId9" cstate="print"/>
            <a:stretch>
              <a:fillRect/>
            </a:stretch>
          </a:blipFill>
        </p:spPr>
        <p:txBody>
          <a:bodyPr wrap="square" lIns="0" tIns="0" rIns="0" bIns="0" rtlCol="0"/>
          <a:lstStyle/>
          <a:p/>
        </p:txBody>
      </p:sp>
      <p:sp>
        <p:nvSpPr>
          <p:cNvPr id="17" name="object 17"/>
          <p:cNvSpPr txBox="1"/>
          <p:nvPr/>
        </p:nvSpPr>
        <p:spPr>
          <a:xfrm>
            <a:off x="901693" y="3939032"/>
            <a:ext cx="3608704" cy="365760"/>
          </a:xfrm>
          <a:prstGeom prst="rect">
            <a:avLst/>
          </a:prstGeom>
        </p:spPr>
        <p:txBody>
          <a:bodyPr wrap="square" lIns="0" tIns="6985" rIns="0" bIns="0" rtlCol="0" vert="horz">
            <a:spAutoFit/>
          </a:bodyPr>
          <a:lstStyle/>
          <a:p>
            <a:pPr marL="12700" marR="5080" indent="539750">
              <a:lnSpc>
                <a:spcPct val="103200"/>
              </a:lnSpc>
              <a:spcBef>
                <a:spcPts val="55"/>
              </a:spcBef>
            </a:pPr>
            <a:r>
              <a:rPr dirty="0" sz="1100" spc="-5">
                <a:latin typeface="Arial"/>
                <a:cs typeface="Arial"/>
              </a:rPr>
              <a:t>Looking at the diagram, we see that in this case,  the</a:t>
            </a:r>
            <a:r>
              <a:rPr dirty="0" sz="1100" spc="45">
                <a:latin typeface="Arial"/>
                <a:cs typeface="Arial"/>
              </a:rPr>
              <a:t> </a:t>
            </a:r>
            <a:r>
              <a:rPr dirty="0" sz="1100" spc="-5">
                <a:latin typeface="Arial"/>
                <a:cs typeface="Arial"/>
              </a:rPr>
              <a:t>Solow</a:t>
            </a:r>
            <a:r>
              <a:rPr dirty="0" sz="1100" spc="50">
                <a:latin typeface="Arial"/>
                <a:cs typeface="Arial"/>
              </a:rPr>
              <a:t> </a:t>
            </a:r>
            <a:r>
              <a:rPr dirty="0" sz="1100" spc="-5">
                <a:latin typeface="Arial"/>
                <a:cs typeface="Arial"/>
              </a:rPr>
              <a:t>equation</a:t>
            </a:r>
            <a:r>
              <a:rPr dirty="0" sz="1100" spc="50">
                <a:latin typeface="Arial"/>
                <a:cs typeface="Arial"/>
              </a:rPr>
              <a:t> </a:t>
            </a:r>
            <a:r>
              <a:rPr dirty="0" sz="1100" spc="-5">
                <a:latin typeface="Arial"/>
                <a:cs typeface="Arial"/>
              </a:rPr>
              <a:t>(Equation</a:t>
            </a:r>
            <a:r>
              <a:rPr dirty="0" sz="1100" spc="50">
                <a:latin typeface="Arial"/>
                <a:cs typeface="Arial"/>
              </a:rPr>
              <a:t> </a:t>
            </a:r>
            <a:r>
              <a:rPr dirty="0" sz="1100" spc="-5">
                <a:latin typeface="Arial"/>
                <a:cs typeface="Arial"/>
              </a:rPr>
              <a:t>A3.2.4),</a:t>
            </a:r>
            <a:r>
              <a:rPr dirty="0" sz="1100" spc="45">
                <a:latin typeface="Arial"/>
                <a:cs typeface="Arial"/>
              </a:rPr>
              <a:t> </a:t>
            </a:r>
            <a:r>
              <a:rPr dirty="0" sz="1100" spc="-5">
                <a:latin typeface="Arial"/>
                <a:cs typeface="Arial"/>
              </a:rPr>
              <a:t>we</a:t>
            </a:r>
            <a:r>
              <a:rPr dirty="0" sz="1100" spc="50">
                <a:latin typeface="Arial"/>
                <a:cs typeface="Arial"/>
              </a:rPr>
              <a:t> </a:t>
            </a:r>
            <a:r>
              <a:rPr dirty="0" sz="1100" spc="-5">
                <a:latin typeface="Arial"/>
                <a:cs typeface="Arial"/>
              </a:rPr>
              <a:t>see</a:t>
            </a:r>
            <a:r>
              <a:rPr dirty="0" sz="1100" spc="50">
                <a:latin typeface="Arial"/>
                <a:cs typeface="Arial"/>
              </a:rPr>
              <a:t> </a:t>
            </a:r>
            <a:r>
              <a:rPr dirty="0" sz="1100" spc="-5">
                <a:latin typeface="Arial"/>
                <a:cs typeface="Arial"/>
              </a:rPr>
              <a:t>that</a:t>
            </a:r>
            <a:r>
              <a:rPr dirty="0" sz="1100" spc="50">
                <a:latin typeface="Arial"/>
                <a:cs typeface="Arial"/>
              </a:rPr>
              <a:t> </a:t>
            </a:r>
            <a:r>
              <a:rPr dirty="0" sz="1100" spc="-5">
                <a:latin typeface="Arial"/>
                <a:cs typeface="Arial"/>
              </a:rPr>
              <a:t>when</a:t>
            </a:r>
            <a:endParaRPr sz="1100">
              <a:latin typeface="Arial"/>
              <a:cs typeface="Arial"/>
            </a:endParaRPr>
          </a:p>
        </p:txBody>
      </p:sp>
      <p:sp>
        <p:nvSpPr>
          <p:cNvPr id="18" name="object 18"/>
          <p:cNvSpPr/>
          <p:nvPr/>
        </p:nvSpPr>
        <p:spPr>
          <a:xfrm>
            <a:off x="4481321" y="4120896"/>
            <a:ext cx="602741" cy="143255"/>
          </a:xfrm>
          <a:prstGeom prst="rect">
            <a:avLst/>
          </a:prstGeom>
          <a:blipFill>
            <a:blip r:embed="rId10" cstate="print"/>
            <a:stretch>
              <a:fillRect/>
            </a:stretch>
          </a:blipFill>
        </p:spPr>
        <p:txBody>
          <a:bodyPr wrap="square" lIns="0" tIns="0" rIns="0" bIns="0" rtlCol="0"/>
          <a:lstStyle/>
          <a:p/>
        </p:txBody>
      </p:sp>
      <p:sp>
        <p:nvSpPr>
          <p:cNvPr id="19" name="object 19"/>
          <p:cNvSpPr txBox="1"/>
          <p:nvPr/>
        </p:nvSpPr>
        <p:spPr>
          <a:xfrm>
            <a:off x="5141490" y="3939032"/>
            <a:ext cx="1729105" cy="365760"/>
          </a:xfrm>
          <a:prstGeom prst="rect">
            <a:avLst/>
          </a:prstGeom>
        </p:spPr>
        <p:txBody>
          <a:bodyPr wrap="square" lIns="0" tIns="12065" rIns="0" bIns="0" rtlCol="0" vert="horz">
            <a:spAutoFit/>
          </a:bodyPr>
          <a:lstStyle/>
          <a:p>
            <a:pPr marL="74930">
              <a:lnSpc>
                <a:spcPct val="100000"/>
              </a:lnSpc>
              <a:spcBef>
                <a:spcPts val="95"/>
              </a:spcBef>
            </a:pPr>
            <a:r>
              <a:rPr dirty="0" sz="1100" spc="-5">
                <a:latin typeface="Arial"/>
                <a:cs typeface="Arial"/>
              </a:rPr>
              <a:t>&lt; sf(k). But now looking</a:t>
            </a:r>
            <a:r>
              <a:rPr dirty="0" sz="1100" spc="225">
                <a:latin typeface="Arial"/>
                <a:cs typeface="Arial"/>
              </a:rPr>
              <a:t> </a:t>
            </a:r>
            <a:r>
              <a:rPr dirty="0" sz="1100" spc="-5">
                <a:latin typeface="Arial"/>
                <a:cs typeface="Arial"/>
              </a:rPr>
              <a:t>at</a:t>
            </a:r>
            <a:endParaRPr sz="1100">
              <a:latin typeface="Arial"/>
              <a:cs typeface="Arial"/>
            </a:endParaRPr>
          </a:p>
          <a:p>
            <a:pPr marL="12700">
              <a:lnSpc>
                <a:spcPct val="100000"/>
              </a:lnSpc>
              <a:spcBef>
                <a:spcPts val="45"/>
              </a:spcBef>
            </a:pPr>
            <a:r>
              <a:rPr dirty="0" sz="1100" spc="-5">
                <a:latin typeface="Arial"/>
                <a:cs typeface="Arial"/>
              </a:rPr>
              <a:t>&lt; sf(k), k &lt; 0. As a result, </a:t>
            </a:r>
            <a:r>
              <a:rPr dirty="0" sz="1100" spc="45">
                <a:latin typeface="Arial"/>
                <a:cs typeface="Arial"/>
              </a:rPr>
              <a:t> </a:t>
            </a:r>
            <a:r>
              <a:rPr dirty="0" sz="1100" spc="-5">
                <a:latin typeface="Arial"/>
                <a:cs typeface="Arial"/>
              </a:rPr>
              <a:t>k</a:t>
            </a:r>
            <a:endParaRPr sz="1100">
              <a:latin typeface="Arial"/>
              <a:cs typeface="Arial"/>
            </a:endParaRPr>
          </a:p>
        </p:txBody>
      </p:sp>
      <p:sp>
        <p:nvSpPr>
          <p:cNvPr id="20" name="object 20"/>
          <p:cNvSpPr/>
          <p:nvPr/>
        </p:nvSpPr>
        <p:spPr>
          <a:xfrm>
            <a:off x="914400" y="4453890"/>
            <a:ext cx="603504" cy="143255"/>
          </a:xfrm>
          <a:prstGeom prst="rect">
            <a:avLst/>
          </a:prstGeom>
          <a:blipFill>
            <a:blip r:embed="rId11" cstate="print"/>
            <a:stretch>
              <a:fillRect/>
            </a:stretch>
          </a:blipFill>
        </p:spPr>
        <p:txBody>
          <a:bodyPr wrap="square" lIns="0" tIns="0" rIns="0" bIns="0" rtlCol="0"/>
          <a:lstStyle/>
          <a:p/>
        </p:txBody>
      </p:sp>
      <p:sp>
        <p:nvSpPr>
          <p:cNvPr id="21" name="object 21"/>
          <p:cNvSpPr/>
          <p:nvPr/>
        </p:nvSpPr>
        <p:spPr>
          <a:xfrm>
            <a:off x="2611373" y="6714743"/>
            <a:ext cx="607313" cy="143256"/>
          </a:xfrm>
          <a:prstGeom prst="rect">
            <a:avLst/>
          </a:prstGeom>
          <a:blipFill>
            <a:blip r:embed="rId12" cstate="print"/>
            <a:stretch>
              <a:fillRect/>
            </a:stretch>
          </a:blipFill>
        </p:spPr>
        <p:txBody>
          <a:bodyPr wrap="square" lIns="0" tIns="0" rIns="0" bIns="0" rtlCol="0"/>
          <a:lstStyle/>
          <a:p/>
        </p:txBody>
      </p:sp>
      <p:sp>
        <p:nvSpPr>
          <p:cNvPr id="22" name="object 22"/>
          <p:cNvSpPr/>
          <p:nvPr/>
        </p:nvSpPr>
        <p:spPr>
          <a:xfrm>
            <a:off x="6190488" y="6714743"/>
            <a:ext cx="603504" cy="143256"/>
          </a:xfrm>
          <a:prstGeom prst="rect">
            <a:avLst/>
          </a:prstGeom>
          <a:blipFill>
            <a:blip r:embed="rId13" cstate="print"/>
            <a:stretch>
              <a:fillRect/>
            </a:stretch>
          </a:blipFill>
        </p:spPr>
        <p:txBody>
          <a:bodyPr wrap="square" lIns="0" tIns="0" rIns="0" bIns="0" rtlCol="0"/>
          <a:lstStyle/>
          <a:p/>
        </p:txBody>
      </p:sp>
      <p:sp>
        <p:nvSpPr>
          <p:cNvPr id="23" name="object 23"/>
          <p:cNvSpPr txBox="1"/>
          <p:nvPr/>
        </p:nvSpPr>
        <p:spPr>
          <a:xfrm>
            <a:off x="901694" y="4272020"/>
            <a:ext cx="5970270" cy="2947670"/>
          </a:xfrm>
          <a:prstGeom prst="rect">
            <a:avLst/>
          </a:prstGeom>
        </p:spPr>
        <p:txBody>
          <a:bodyPr wrap="square" lIns="0" tIns="12065" rIns="0" bIns="0" rtlCol="0" vert="horz">
            <a:spAutoFit/>
          </a:bodyPr>
          <a:lstStyle/>
          <a:p>
            <a:pPr algn="just" marL="12700">
              <a:lnSpc>
                <a:spcPct val="100000"/>
              </a:lnSpc>
              <a:spcBef>
                <a:spcPts val="95"/>
              </a:spcBef>
            </a:pPr>
            <a:r>
              <a:rPr dirty="0" sz="1100" spc="-5">
                <a:latin typeface="Arial"/>
                <a:cs typeface="Arial"/>
              </a:rPr>
              <a:t>in</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economy</a:t>
            </a:r>
            <a:r>
              <a:rPr dirty="0" sz="1100" spc="20">
                <a:latin typeface="Arial"/>
                <a:cs typeface="Arial"/>
              </a:rPr>
              <a:t> </a:t>
            </a:r>
            <a:r>
              <a:rPr dirty="0" sz="1100" spc="-5">
                <a:latin typeface="Arial"/>
                <a:cs typeface="Arial"/>
              </a:rPr>
              <a:t>is</a:t>
            </a:r>
            <a:r>
              <a:rPr dirty="0" sz="1100" spc="25">
                <a:latin typeface="Arial"/>
                <a:cs typeface="Arial"/>
              </a:rPr>
              <a:t> </a:t>
            </a:r>
            <a:r>
              <a:rPr dirty="0" sz="1100" spc="-5">
                <a:latin typeface="Arial"/>
                <a:cs typeface="Arial"/>
              </a:rPr>
              <a:t>growing</a:t>
            </a:r>
            <a:r>
              <a:rPr dirty="0" sz="1100" spc="20">
                <a:latin typeface="Arial"/>
                <a:cs typeface="Arial"/>
              </a:rPr>
              <a:t> </a:t>
            </a:r>
            <a:r>
              <a:rPr dirty="0" sz="1100" spc="-5">
                <a:latin typeface="Arial"/>
                <a:cs typeface="Arial"/>
              </a:rPr>
              <a:t>toward</a:t>
            </a:r>
            <a:r>
              <a:rPr dirty="0" sz="1100" spc="25">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equilibrium</a:t>
            </a:r>
            <a:r>
              <a:rPr dirty="0" sz="1100" spc="20">
                <a:latin typeface="Arial"/>
                <a:cs typeface="Arial"/>
              </a:rPr>
              <a:t> </a:t>
            </a:r>
            <a:r>
              <a:rPr dirty="0" sz="1100" spc="-5">
                <a:latin typeface="Arial"/>
                <a:cs typeface="Arial"/>
              </a:rPr>
              <a:t>point</a:t>
            </a:r>
            <a:r>
              <a:rPr dirty="0" sz="1100" spc="20">
                <a:latin typeface="Arial"/>
                <a:cs typeface="Arial"/>
              </a:rPr>
              <a:t> </a:t>
            </a:r>
            <a:r>
              <a:rPr dirty="0" sz="1100" spc="-5">
                <a:latin typeface="Arial"/>
                <a:cs typeface="Arial"/>
              </a:rPr>
              <a:t>k*.</a:t>
            </a:r>
            <a:r>
              <a:rPr dirty="0" sz="1100" spc="25">
                <a:latin typeface="Arial"/>
                <a:cs typeface="Arial"/>
              </a:rPr>
              <a:t> </a:t>
            </a:r>
            <a:r>
              <a:rPr dirty="0" sz="1100" spc="-5">
                <a:latin typeface="Arial"/>
                <a:cs typeface="Arial"/>
              </a:rPr>
              <a:t>By</a:t>
            </a:r>
            <a:r>
              <a:rPr dirty="0" sz="1100" spc="20">
                <a:latin typeface="Arial"/>
                <a:cs typeface="Arial"/>
              </a:rPr>
              <a:t> </a:t>
            </a:r>
            <a:r>
              <a:rPr dirty="0" sz="1100" spc="-5">
                <a:latin typeface="Arial"/>
                <a:cs typeface="Arial"/>
              </a:rPr>
              <a:t>similar</a:t>
            </a:r>
            <a:r>
              <a:rPr dirty="0" sz="1100" spc="25">
                <a:latin typeface="Arial"/>
                <a:cs typeface="Arial"/>
              </a:rPr>
              <a:t> </a:t>
            </a:r>
            <a:r>
              <a:rPr dirty="0" sz="1100" spc="-5">
                <a:latin typeface="Arial"/>
                <a:cs typeface="Arial"/>
              </a:rPr>
              <a:t>reasoning</a:t>
            </a:r>
            <a:r>
              <a:rPr dirty="0" sz="1100" spc="20">
                <a:latin typeface="Arial"/>
                <a:cs typeface="Arial"/>
              </a:rPr>
              <a:t> </a:t>
            </a:r>
            <a:r>
              <a:rPr dirty="0" sz="1100" spc="-5">
                <a:latin typeface="Arial"/>
                <a:cs typeface="Arial"/>
              </a:rPr>
              <a:t>to</a:t>
            </a:r>
            <a:r>
              <a:rPr dirty="0" sz="1100" spc="25">
                <a:latin typeface="Arial"/>
                <a:cs typeface="Arial"/>
              </a:rPr>
              <a:t> </a:t>
            </a:r>
            <a:r>
              <a:rPr dirty="0" sz="1100" spc="-5">
                <a:latin typeface="Arial"/>
                <a:cs typeface="Arial"/>
              </a:rPr>
              <a:t>the</a:t>
            </a:r>
            <a:r>
              <a:rPr dirty="0" sz="1100" spc="15">
                <a:latin typeface="Arial"/>
                <a:cs typeface="Arial"/>
              </a:rPr>
              <a:t> </a:t>
            </a:r>
            <a:r>
              <a:rPr dirty="0" sz="1100" spc="-5">
                <a:latin typeface="Arial"/>
                <a:cs typeface="Arial"/>
              </a:rPr>
              <a:t>right</a:t>
            </a:r>
            <a:r>
              <a:rPr dirty="0" sz="1100" spc="2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k*,</a:t>
            </a:r>
            <a:endParaRPr sz="1100">
              <a:latin typeface="Arial"/>
              <a:cs typeface="Arial"/>
            </a:endParaRPr>
          </a:p>
          <a:p>
            <a:pPr marL="12700" marR="6350" indent="671195">
              <a:lnSpc>
                <a:spcPts val="1260"/>
              </a:lnSpc>
              <a:spcBef>
                <a:spcPts val="135"/>
              </a:spcBef>
            </a:pPr>
            <a:r>
              <a:rPr dirty="0" sz="1100" spc="-5">
                <a:latin typeface="Arial"/>
                <a:cs typeface="Arial"/>
              </a:rPr>
              <a:t>&lt; sf(k), and as a result, k &lt; 0 (again refer to Equation A3.2.4), and capital per worker  is actually shrinking toward the equilibrium</a:t>
            </a:r>
            <a:r>
              <a:rPr dirty="0" sz="1100" spc="25">
                <a:latin typeface="Arial"/>
                <a:cs typeface="Arial"/>
              </a:rPr>
              <a:t> </a:t>
            </a:r>
            <a:r>
              <a:rPr dirty="0" sz="1100" spc="-5">
                <a:latin typeface="Arial"/>
                <a:cs typeface="Arial"/>
              </a:rPr>
              <a:t>k*.</a:t>
            </a:r>
            <a:endParaRPr sz="1100">
              <a:latin typeface="Arial"/>
              <a:cs typeface="Arial"/>
            </a:endParaRPr>
          </a:p>
          <a:p>
            <a:pPr>
              <a:lnSpc>
                <a:spcPct val="100000"/>
              </a:lnSpc>
              <a:spcBef>
                <a:spcPts val="30"/>
              </a:spcBef>
            </a:pPr>
            <a:endParaRPr sz="1050">
              <a:latin typeface="Arial"/>
              <a:cs typeface="Arial"/>
            </a:endParaRPr>
          </a:p>
          <a:p>
            <a:pPr algn="just" marL="12700" marR="5715">
              <a:lnSpc>
                <a:spcPct val="95800"/>
              </a:lnSpc>
            </a:pPr>
            <a:r>
              <a:rPr dirty="0" sz="1100" spc="-5">
                <a:latin typeface="Arial"/>
                <a:cs typeface="Arial"/>
              </a:rPr>
              <a:t>It is instructive to consider what happens in the Solow neoclassical growth model if we increase  the rate of savings, s. A temporary increase in the rate of output growth is realized as we  increase k by raising the rate of savings. We return to the original steady-state growth rate later,  though at a higher level of output per worker in each later</a:t>
            </a:r>
            <a:r>
              <a:rPr dirty="0" sz="1100" spc="70">
                <a:latin typeface="Arial"/>
                <a:cs typeface="Arial"/>
              </a:rPr>
              <a:t> </a:t>
            </a:r>
            <a:r>
              <a:rPr dirty="0" sz="1100" spc="-5">
                <a:latin typeface="Arial"/>
                <a:cs typeface="Arial"/>
              </a:rPr>
              <a:t>year.</a:t>
            </a:r>
            <a:endParaRPr sz="1100">
              <a:latin typeface="Arial"/>
              <a:cs typeface="Arial"/>
            </a:endParaRPr>
          </a:p>
          <a:p>
            <a:pPr>
              <a:lnSpc>
                <a:spcPct val="100000"/>
              </a:lnSpc>
              <a:spcBef>
                <a:spcPts val="45"/>
              </a:spcBef>
            </a:pPr>
            <a:endParaRPr sz="1050">
              <a:latin typeface="Arial"/>
              <a:cs typeface="Arial"/>
            </a:endParaRPr>
          </a:p>
          <a:p>
            <a:pPr algn="just" marL="12700" marR="5080">
              <a:lnSpc>
                <a:spcPct val="96700"/>
              </a:lnSpc>
              <a:tabLst>
                <a:tab pos="2338070" algn="l"/>
                <a:tab pos="5916930" algn="l"/>
              </a:tabLst>
            </a:pPr>
            <a:r>
              <a:rPr dirty="0" sz="1100" spc="-5">
                <a:latin typeface="Arial"/>
                <a:cs typeface="Arial"/>
              </a:rPr>
              <a:t>The key implication is that unlike in the Harrod-Domar (AK) analysis, in the Solow model an  increase in s will not increase growth in the long run; it will </a:t>
            </a:r>
            <a:r>
              <a:rPr dirty="0" sz="1100">
                <a:latin typeface="Arial"/>
                <a:cs typeface="Arial"/>
              </a:rPr>
              <a:t>only </a:t>
            </a:r>
            <a:r>
              <a:rPr dirty="0" sz="1100" spc="-5">
                <a:latin typeface="Arial"/>
                <a:cs typeface="Arial"/>
              </a:rPr>
              <a:t>increase the equilibrium k*. That  is, after the economy </a:t>
            </a:r>
            <a:r>
              <a:rPr dirty="0" sz="1100">
                <a:latin typeface="Arial"/>
                <a:cs typeface="Arial"/>
              </a:rPr>
              <a:t>has </a:t>
            </a:r>
            <a:r>
              <a:rPr dirty="0" sz="1100" spc="-5">
                <a:latin typeface="Arial"/>
                <a:cs typeface="Arial"/>
              </a:rPr>
              <a:t>time to adjust, the capital-labor ratio increases, and so does the  output-labor ratio, but not the rate of growth. The effect is shown in Figure A3.2.2, in which  savings is raised to s. In contrast, in the Harrod-Domar model, an increase in s raises the  growth rate. (This is because in the Harrod-Domar model sf(k) becomes a straight line from the  </a:t>
            </a:r>
            <a:r>
              <a:rPr dirty="0" sz="1100" spc="-5">
                <a:latin typeface="Arial"/>
                <a:cs typeface="Arial"/>
              </a:rPr>
              <a:t>origin</a:t>
            </a:r>
            <a:r>
              <a:rPr dirty="0" sz="1100" spc="150">
                <a:latin typeface="Arial"/>
                <a:cs typeface="Arial"/>
              </a:rPr>
              <a:t> </a:t>
            </a:r>
            <a:r>
              <a:rPr dirty="0" sz="1100" spc="-5">
                <a:latin typeface="Arial"/>
                <a:cs typeface="Arial"/>
              </a:rPr>
              <a:t>that</a:t>
            </a:r>
            <a:r>
              <a:rPr dirty="0" sz="1100" spc="150">
                <a:latin typeface="Arial"/>
                <a:cs typeface="Arial"/>
              </a:rPr>
              <a:t> </a:t>
            </a:r>
            <a:r>
              <a:rPr dirty="0" sz="1100" spc="-5">
                <a:latin typeface="Arial"/>
                <a:cs typeface="Arial"/>
              </a:rPr>
              <a:t>does</a:t>
            </a:r>
            <a:r>
              <a:rPr dirty="0" sz="1100" spc="150">
                <a:latin typeface="Arial"/>
                <a:cs typeface="Arial"/>
              </a:rPr>
              <a:t> </a:t>
            </a:r>
            <a:r>
              <a:rPr dirty="0" sz="1100" spc="-5">
                <a:latin typeface="Arial"/>
                <a:cs typeface="Arial"/>
              </a:rPr>
              <a:t>not</a:t>
            </a:r>
            <a:r>
              <a:rPr dirty="0" sz="1100" spc="150">
                <a:latin typeface="Arial"/>
                <a:cs typeface="Arial"/>
              </a:rPr>
              <a:t> </a:t>
            </a:r>
            <a:r>
              <a:rPr dirty="0" sz="1100" spc="-5">
                <a:latin typeface="Arial"/>
                <a:cs typeface="Arial"/>
              </a:rPr>
              <a:t>cross</a:t>
            </a:r>
            <a:r>
              <a:rPr dirty="0" sz="1100">
                <a:latin typeface="Arial"/>
                <a:cs typeface="Arial"/>
              </a:rPr>
              <a:t>	</a:t>
            </a:r>
            <a:r>
              <a:rPr dirty="0" sz="1100" spc="-5">
                <a:latin typeface="Arial"/>
                <a:cs typeface="Arial"/>
              </a:rPr>
              <a:t>;</a:t>
            </a:r>
            <a:r>
              <a:rPr dirty="0" sz="1100" spc="150">
                <a:latin typeface="Arial"/>
                <a:cs typeface="Arial"/>
              </a:rPr>
              <a:t> </a:t>
            </a:r>
            <a:r>
              <a:rPr dirty="0" sz="1100" spc="-5">
                <a:latin typeface="Arial"/>
                <a:cs typeface="Arial"/>
              </a:rPr>
              <a:t>and</a:t>
            </a:r>
            <a:r>
              <a:rPr dirty="0" sz="1100" spc="150">
                <a:latin typeface="Arial"/>
                <a:cs typeface="Arial"/>
              </a:rPr>
              <a:t> </a:t>
            </a:r>
            <a:r>
              <a:rPr dirty="0" sz="1100" spc="-5">
                <a:latin typeface="Arial"/>
                <a:cs typeface="Arial"/>
              </a:rPr>
              <a:t>so,</a:t>
            </a:r>
            <a:r>
              <a:rPr dirty="0" sz="1100" spc="150">
                <a:latin typeface="Arial"/>
                <a:cs typeface="Arial"/>
              </a:rPr>
              <a:t> </a:t>
            </a:r>
            <a:r>
              <a:rPr dirty="0" sz="1100" spc="-5">
                <a:latin typeface="Arial"/>
                <a:cs typeface="Arial"/>
              </a:rPr>
              <a:t>as</a:t>
            </a:r>
            <a:r>
              <a:rPr dirty="0" sz="1100" spc="150">
                <a:latin typeface="Arial"/>
                <a:cs typeface="Arial"/>
              </a:rPr>
              <a:t> </a:t>
            </a:r>
            <a:r>
              <a:rPr dirty="0" sz="1100" spc="-5">
                <a:latin typeface="Arial"/>
                <a:cs typeface="Arial"/>
              </a:rPr>
              <a:t>we</a:t>
            </a:r>
            <a:r>
              <a:rPr dirty="0" sz="1100" spc="150">
                <a:latin typeface="Arial"/>
                <a:cs typeface="Arial"/>
              </a:rPr>
              <a:t> </a:t>
            </a:r>
            <a:r>
              <a:rPr dirty="0" sz="1100" spc="-5">
                <a:latin typeface="Arial"/>
                <a:cs typeface="Arial"/>
              </a:rPr>
              <a:t>as</a:t>
            </a:r>
            <a:r>
              <a:rPr dirty="0" sz="1100">
                <a:latin typeface="Arial"/>
                <a:cs typeface="Arial"/>
              </a:rPr>
              <a:t>s</a:t>
            </a:r>
            <a:r>
              <a:rPr dirty="0" sz="1100" spc="-5">
                <a:latin typeface="Arial"/>
                <a:cs typeface="Arial"/>
              </a:rPr>
              <a:t>ume</a:t>
            </a:r>
            <a:r>
              <a:rPr dirty="0" sz="1100" spc="150">
                <a:latin typeface="Arial"/>
                <a:cs typeface="Arial"/>
              </a:rPr>
              <a:t> </a:t>
            </a:r>
            <a:r>
              <a:rPr dirty="0" sz="1100" spc="-5">
                <a:latin typeface="Arial"/>
                <a:cs typeface="Arial"/>
              </a:rPr>
              <a:t>that</a:t>
            </a:r>
            <a:r>
              <a:rPr dirty="0" sz="1100" spc="150">
                <a:latin typeface="Arial"/>
                <a:cs typeface="Arial"/>
              </a:rPr>
              <a:t> </a:t>
            </a:r>
            <a:r>
              <a:rPr dirty="0" sz="1100" spc="-5">
                <a:latin typeface="Arial"/>
                <a:cs typeface="Arial"/>
              </a:rPr>
              <a:t>sf(k)</a:t>
            </a:r>
            <a:r>
              <a:rPr dirty="0" sz="1100" spc="150">
                <a:latin typeface="Arial"/>
                <a:cs typeface="Arial"/>
              </a:rPr>
              <a:t> </a:t>
            </a:r>
            <a:r>
              <a:rPr dirty="0" sz="1100" spc="-5">
                <a:latin typeface="Arial"/>
                <a:cs typeface="Arial"/>
              </a:rPr>
              <a:t>lies</a:t>
            </a:r>
            <a:r>
              <a:rPr dirty="0" sz="1100" spc="150">
                <a:latin typeface="Arial"/>
                <a:cs typeface="Arial"/>
              </a:rPr>
              <a:t> </a:t>
            </a:r>
            <a:r>
              <a:rPr dirty="0" sz="1100" spc="-5">
                <a:latin typeface="Arial"/>
                <a:cs typeface="Arial"/>
              </a:rPr>
              <a:t>above</a:t>
            </a:r>
            <a:r>
              <a:rPr dirty="0" sz="1100">
                <a:latin typeface="Arial"/>
                <a:cs typeface="Arial"/>
              </a:rPr>
              <a:t>	</a:t>
            </a:r>
            <a:r>
              <a:rPr dirty="0" sz="1100" spc="-5">
                <a:latin typeface="Arial"/>
                <a:cs typeface="Arial"/>
              </a:rPr>
              <a:t>,  </a:t>
            </a:r>
            <a:r>
              <a:rPr dirty="0" sz="1100" spc="-5">
                <a:latin typeface="Arial"/>
                <a:cs typeface="Arial"/>
              </a:rPr>
              <a:t>growth continues at the now higher Harrod-Domar rate—a result that was represented, for  example, in the comparison of Equations 3.8 and</a:t>
            </a:r>
            <a:r>
              <a:rPr dirty="0" sz="1100" spc="40">
                <a:latin typeface="Arial"/>
                <a:cs typeface="Arial"/>
              </a:rPr>
              <a:t> </a:t>
            </a:r>
            <a:r>
              <a:rPr dirty="0" sz="1100" spc="-5">
                <a:latin typeface="Arial"/>
                <a:cs typeface="Arial"/>
              </a:rPr>
              <a:t>3.9.)</a:t>
            </a:r>
            <a:endParaRPr sz="1100">
              <a:latin typeface="Arial"/>
              <a:cs typeface="Arial"/>
            </a:endParaRPr>
          </a:p>
        </p:txBody>
      </p:sp>
      <p:sp>
        <p:nvSpPr>
          <p:cNvPr id="24" name="object 24"/>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25" name="object 25"/>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47</a:t>
            </a:r>
            <a:endParaRPr sz="1100">
              <a:latin typeface="Carlito"/>
              <a:cs typeface="Carli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739889"/>
            <a:ext cx="5970270" cy="22815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Note carefully that in the Solow model, an increase in s does raise equilibrium output per  person—which is certainly a valuable contribution to development—just not the equilibrium rate  of growth. And the growth rate does increase temporarily as the economy kicks up toward the  higher equilibrium capital per worker. Moreover, simulations based on cross-national data  suggest that if s is increased, the economy </a:t>
            </a:r>
            <a:r>
              <a:rPr dirty="0" sz="1100">
                <a:latin typeface="Arial"/>
                <a:cs typeface="Arial"/>
              </a:rPr>
              <a:t>may </a:t>
            </a:r>
            <a:r>
              <a:rPr dirty="0" sz="1100" spc="-5">
                <a:latin typeface="Arial"/>
                <a:cs typeface="Arial"/>
              </a:rPr>
              <a:t>not return even halfway to its steady state for  decades. That is, for practical purposes of policymaking in developing countries, even if the  Solow model is an accurate depiction of the economy, an increase in savings may substantially  increase the growth rate for many decades to</a:t>
            </a:r>
            <a:r>
              <a:rPr dirty="0" sz="1100" spc="35">
                <a:latin typeface="Arial"/>
                <a:cs typeface="Arial"/>
              </a:rPr>
              <a:t> </a:t>
            </a:r>
            <a:r>
              <a:rPr dirty="0" sz="1100" spc="-5">
                <a:latin typeface="Arial"/>
                <a:cs typeface="Arial"/>
              </a:rPr>
              <a:t>come.</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Finally, it is possible that the rate of savings (and hence investment) is positively related to the  rate of technological progress itself, so that the growth of A depends on s. This could be the  case if investment uses newer-vintage capital and hence is more productive, if investment  represents innovation in that it solves problems faced by the firm, and if other firms see what the  investing firm has done and imitate it (“learning by watching”), generating</a:t>
            </a:r>
            <a:r>
              <a:rPr dirty="0" sz="1100" spc="120">
                <a:latin typeface="Arial"/>
                <a:cs typeface="Arial"/>
              </a:rPr>
              <a:t> </a:t>
            </a:r>
            <a:r>
              <a:rPr dirty="0" sz="1100" spc="-5">
                <a:latin typeface="Arial"/>
                <a:cs typeface="Arial"/>
              </a:rPr>
              <a:t>externalities.</a:t>
            </a:r>
            <a:endParaRPr sz="1100">
              <a:latin typeface="Arial"/>
              <a:cs typeface="Arial"/>
            </a:endParaRPr>
          </a:p>
        </p:txBody>
      </p:sp>
      <p:sp>
        <p:nvSpPr>
          <p:cNvPr id="7" name="object 7"/>
          <p:cNvSpPr/>
          <p:nvPr/>
        </p:nvSpPr>
        <p:spPr>
          <a:xfrm>
            <a:off x="1257300" y="1143000"/>
            <a:ext cx="5010150" cy="3265363"/>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48</a:t>
            </a:r>
            <a:endParaRPr sz="1100">
              <a:latin typeface="Carlito"/>
              <a:cs typeface="Carli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1143000" y="1143000"/>
            <a:ext cx="5125733" cy="3257550"/>
          </a:xfrm>
          <a:prstGeom prst="rect">
            <a:avLst/>
          </a:prstGeom>
          <a:blipFill>
            <a:blip r:embed="rId2" cstate="print"/>
            <a:stretch>
              <a:fillRect/>
            </a:stretch>
          </a:blipFill>
        </p:spPr>
        <p:txBody>
          <a:bodyPr wrap="square" lIns="0" tIns="0" rIns="0" bIns="0" rtlCol="0"/>
          <a:lstStyle/>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49</a:t>
            </a:r>
            <a:endParaRPr sz="1100">
              <a:latin typeface="Carlito"/>
              <a:cs typeface="Carli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563753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07</a:t>
            </a:r>
            <a:endParaRPr sz="1100">
              <a:latin typeface="Arial"/>
              <a:cs typeface="Arial"/>
            </a:endParaRPr>
          </a:p>
          <a:p>
            <a:pPr marL="12700" marR="1056640" indent="1050290">
              <a:lnSpc>
                <a:spcPct val="191400"/>
              </a:lnSpc>
              <a:spcBef>
                <a:spcPts val="15"/>
              </a:spcBef>
            </a:pPr>
            <a:r>
              <a:rPr dirty="0" sz="1100" spc="-5" b="1">
                <a:latin typeface="Arial"/>
                <a:cs typeface="Arial"/>
              </a:rPr>
              <a:t>POVERTY, INEQUALITY AND ECONOMIC DEVELOPMENT  DISTRIBUTION AND DEVELOPMENT: SEVEN CRITICAL</a:t>
            </a:r>
            <a:r>
              <a:rPr dirty="0" sz="1100" spc="55" b="1">
                <a:latin typeface="Arial"/>
                <a:cs typeface="Arial"/>
              </a:rPr>
              <a:t> </a:t>
            </a:r>
            <a:r>
              <a:rPr dirty="0" sz="1100" spc="-5" b="1">
                <a:latin typeface="Arial"/>
                <a:cs typeface="Arial"/>
              </a:rPr>
              <a:t>QUESTIONS</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What is the extent of relative inequality, and how is this related to the extent of</a:t>
            </a:r>
            <a:r>
              <a:rPr dirty="0" sz="1100" spc="240">
                <a:latin typeface="Arial"/>
                <a:cs typeface="Arial"/>
              </a:rPr>
              <a:t> </a:t>
            </a:r>
            <a:r>
              <a:rPr dirty="0" sz="1100" spc="-5">
                <a:latin typeface="Arial"/>
                <a:cs typeface="Arial"/>
              </a:rPr>
              <a:t>poverty?</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Who are the</a:t>
            </a:r>
            <a:r>
              <a:rPr dirty="0" sz="1100" spc="5">
                <a:latin typeface="Arial"/>
                <a:cs typeface="Arial"/>
              </a:rPr>
              <a:t> </a:t>
            </a:r>
            <a:r>
              <a:rPr dirty="0" sz="1100" spc="-5">
                <a:latin typeface="Arial"/>
                <a:cs typeface="Arial"/>
              </a:rPr>
              <a:t>poor?</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Who benefits from economic</a:t>
            </a:r>
            <a:r>
              <a:rPr dirty="0" sz="1100" spc="15">
                <a:latin typeface="Arial"/>
                <a:cs typeface="Arial"/>
              </a:rPr>
              <a:t> </a:t>
            </a:r>
            <a:r>
              <a:rPr dirty="0" sz="1100" spc="-5">
                <a:latin typeface="Arial"/>
                <a:cs typeface="Arial"/>
              </a:rPr>
              <a:t>growth?</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Does rapid growth necessarily cause greater income</a:t>
            </a:r>
            <a:r>
              <a:rPr dirty="0" sz="1100" spc="40">
                <a:latin typeface="Arial"/>
                <a:cs typeface="Arial"/>
              </a:rPr>
              <a:t> </a:t>
            </a:r>
            <a:r>
              <a:rPr dirty="0" sz="1100" spc="-5">
                <a:latin typeface="Arial"/>
                <a:cs typeface="Arial"/>
              </a:rPr>
              <a:t>inequality?</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Do the poor benefit from</a:t>
            </a:r>
            <a:r>
              <a:rPr dirty="0" sz="1100" spc="20">
                <a:latin typeface="Arial"/>
                <a:cs typeface="Arial"/>
              </a:rPr>
              <a:t> </a:t>
            </a:r>
            <a:r>
              <a:rPr dirty="0" sz="1100" spc="-5">
                <a:latin typeface="Arial"/>
                <a:cs typeface="Arial"/>
              </a:rPr>
              <a:t>growth?</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Are high levels of inequality always</a:t>
            </a:r>
            <a:r>
              <a:rPr dirty="0" sz="1100" spc="25">
                <a:latin typeface="Arial"/>
                <a:cs typeface="Arial"/>
              </a:rPr>
              <a:t> </a:t>
            </a:r>
            <a:r>
              <a:rPr dirty="0" sz="1100" spc="-5">
                <a:latin typeface="Arial"/>
                <a:cs typeface="Arial"/>
              </a:rPr>
              <a:t>bad?</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What policies can reduce</a:t>
            </a:r>
            <a:r>
              <a:rPr dirty="0" sz="1100" spc="15">
                <a:latin typeface="Arial"/>
                <a:cs typeface="Arial"/>
              </a:rPr>
              <a:t> </a:t>
            </a:r>
            <a:r>
              <a:rPr dirty="0" sz="1100" spc="-5">
                <a:latin typeface="Arial"/>
                <a:cs typeface="Arial"/>
              </a:rPr>
              <a:t>poverty?</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MEASURING INEQUALITY AND</a:t>
            </a:r>
            <a:r>
              <a:rPr dirty="0" sz="1100" spc="5" b="1">
                <a:latin typeface="Arial"/>
                <a:cs typeface="Arial"/>
              </a:rPr>
              <a:t> </a:t>
            </a:r>
            <a:r>
              <a:rPr dirty="0" sz="1100" spc="-5" b="1">
                <a:latin typeface="Arial"/>
                <a:cs typeface="Arial"/>
              </a:rPr>
              <a:t>POVERTY</a:t>
            </a:r>
            <a:endParaRPr sz="1100">
              <a:latin typeface="Arial"/>
              <a:cs typeface="Arial"/>
            </a:endParaRPr>
          </a:p>
          <a:p>
            <a:pPr>
              <a:lnSpc>
                <a:spcPct val="100000"/>
              </a:lnSpc>
              <a:spcBef>
                <a:spcPts val="25"/>
              </a:spcBef>
            </a:pPr>
            <a:endParaRPr sz="1200">
              <a:latin typeface="Arial"/>
              <a:cs typeface="Arial"/>
            </a:endParaRPr>
          </a:p>
          <a:p>
            <a:pPr marL="12700" marR="6985">
              <a:lnSpc>
                <a:spcPts val="1270"/>
              </a:lnSpc>
            </a:pPr>
            <a:r>
              <a:rPr dirty="0" sz="1100" spc="-5">
                <a:latin typeface="Arial"/>
                <a:cs typeface="Arial"/>
              </a:rPr>
              <a:t>In this section, we define the dimensions of the income distribution and poverty problems and  identify some similar elements that characterize the problem in many developing</a:t>
            </a:r>
            <a:r>
              <a:rPr dirty="0" sz="1100" spc="145">
                <a:latin typeface="Arial"/>
                <a:cs typeface="Arial"/>
              </a:rPr>
              <a:t> </a:t>
            </a:r>
            <a:r>
              <a:rPr dirty="0" sz="1100" spc="-5">
                <a:latin typeface="Arial"/>
                <a:cs typeface="Arial"/>
              </a:rPr>
              <a:t>nations.</a:t>
            </a:r>
            <a:endParaRPr sz="1100">
              <a:latin typeface="Arial"/>
              <a:cs typeface="Arial"/>
            </a:endParaRPr>
          </a:p>
          <a:p>
            <a:pPr>
              <a:lnSpc>
                <a:spcPct val="100000"/>
              </a:lnSpc>
              <a:spcBef>
                <a:spcPts val="20"/>
              </a:spcBef>
            </a:pPr>
            <a:endParaRPr sz="1000">
              <a:latin typeface="Arial"/>
              <a:cs typeface="Arial"/>
            </a:endParaRPr>
          </a:p>
          <a:p>
            <a:pPr marL="12700">
              <a:lnSpc>
                <a:spcPct val="100000"/>
              </a:lnSpc>
              <a:spcBef>
                <a:spcPts val="5"/>
              </a:spcBef>
            </a:pPr>
            <a:r>
              <a:rPr dirty="0" sz="1100" spc="-5" b="1">
                <a:latin typeface="Arial"/>
                <a:cs typeface="Arial"/>
              </a:rPr>
              <a:t>MEASURING</a:t>
            </a:r>
            <a:r>
              <a:rPr dirty="0" sz="1100" spc="-10" b="1">
                <a:latin typeface="Arial"/>
                <a:cs typeface="Arial"/>
              </a:rPr>
              <a:t> </a:t>
            </a:r>
            <a:r>
              <a:rPr dirty="0" sz="1100" spc="-5" b="1">
                <a:latin typeface="Arial"/>
                <a:cs typeface="Arial"/>
              </a:rPr>
              <a:t>INEQUALITY</a:t>
            </a:r>
            <a:endParaRPr sz="1100">
              <a:latin typeface="Arial"/>
              <a:cs typeface="Arial"/>
            </a:endParaRPr>
          </a:p>
          <a:p>
            <a:pPr>
              <a:lnSpc>
                <a:spcPct val="100000"/>
              </a:lnSpc>
              <a:spcBef>
                <a:spcPts val="20"/>
              </a:spcBef>
            </a:pPr>
            <a:endParaRPr sz="1200">
              <a:latin typeface="Arial"/>
              <a:cs typeface="Arial"/>
            </a:endParaRPr>
          </a:p>
          <a:p>
            <a:pPr marL="12700" marR="5715">
              <a:lnSpc>
                <a:spcPts val="1270"/>
              </a:lnSpc>
            </a:pPr>
            <a:r>
              <a:rPr dirty="0" sz="1100" spc="-5">
                <a:latin typeface="Arial"/>
                <a:cs typeface="Arial"/>
              </a:rPr>
              <a:t>Economists usually distinguish between two principal measures of income distribution for both  analytical and quantitative</a:t>
            </a:r>
            <a:r>
              <a:rPr dirty="0" sz="1100" spc="10">
                <a:latin typeface="Arial"/>
                <a:cs typeface="Arial"/>
              </a:rPr>
              <a:t> </a:t>
            </a:r>
            <a:r>
              <a:rPr dirty="0" sz="1100" spc="-5">
                <a:latin typeface="Arial"/>
                <a:cs typeface="Arial"/>
              </a:rPr>
              <a:t>purposes:</a:t>
            </a:r>
            <a:endParaRPr sz="1100">
              <a:latin typeface="Arial"/>
              <a:cs typeface="Arial"/>
            </a:endParaRPr>
          </a:p>
          <a:p>
            <a:pPr marL="469900" indent="-229235">
              <a:lnSpc>
                <a:spcPts val="1305"/>
              </a:lnSpc>
              <a:buFont typeface="Symbol"/>
              <a:buChar char=""/>
              <a:tabLst>
                <a:tab pos="469265" algn="l"/>
                <a:tab pos="470534" algn="l"/>
              </a:tabLst>
            </a:pPr>
            <a:r>
              <a:rPr dirty="0" sz="1100" spc="-5">
                <a:latin typeface="Arial"/>
                <a:cs typeface="Arial"/>
              </a:rPr>
              <a:t>The personal or size distribution of</a:t>
            </a:r>
            <a:r>
              <a:rPr dirty="0" sz="1100" spc="20">
                <a:latin typeface="Arial"/>
                <a:cs typeface="Arial"/>
              </a:rPr>
              <a:t> </a:t>
            </a:r>
            <a:r>
              <a:rPr dirty="0" sz="1100" spc="-5">
                <a:latin typeface="Arial"/>
                <a:cs typeface="Arial"/>
              </a:rPr>
              <a:t>income.</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functional or distributive factor share distribution of</a:t>
            </a:r>
            <a:r>
              <a:rPr dirty="0" sz="1100" spc="55">
                <a:latin typeface="Arial"/>
                <a:cs typeface="Arial"/>
              </a:rPr>
              <a:t> </a:t>
            </a:r>
            <a:r>
              <a:rPr dirty="0" sz="1100" spc="-5">
                <a:latin typeface="Arial"/>
                <a:cs typeface="Arial"/>
              </a:rPr>
              <a:t>income.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SIZE DISTRIBUTIONS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The </a:t>
            </a:r>
            <a:r>
              <a:rPr dirty="0" sz="1100" spc="-5" b="1">
                <a:latin typeface="Arial"/>
                <a:cs typeface="Arial"/>
              </a:rPr>
              <a:t>personal or size distribution of income </a:t>
            </a:r>
            <a:r>
              <a:rPr dirty="0" sz="1100" spc="-5">
                <a:latin typeface="Arial"/>
                <a:cs typeface="Arial"/>
              </a:rPr>
              <a:t>is the measure most commonly used by  economists. It simply deals with individual persons or households and the total incomes they  receive. The way in which that income was received is not considered. What matters is how  much each earns irrespective of whether the income was derived solely from employment or  came also from other sources such as interest, profits, rents, gifts, or</a:t>
            </a:r>
            <a:r>
              <a:rPr dirty="0" sz="1100" spc="105">
                <a:latin typeface="Arial"/>
                <a:cs typeface="Arial"/>
              </a:rPr>
              <a:t> </a:t>
            </a:r>
            <a:r>
              <a:rPr dirty="0" sz="1100" spc="-5">
                <a:latin typeface="Arial"/>
                <a:cs typeface="Arial"/>
              </a:rPr>
              <a:t>inheritance.</a:t>
            </a:r>
            <a:endParaRPr sz="1100">
              <a:latin typeface="Arial"/>
              <a:cs typeface="Arial"/>
            </a:endParaRPr>
          </a:p>
          <a:p>
            <a:pPr algn="just" marL="12700">
              <a:lnSpc>
                <a:spcPts val="1265"/>
              </a:lnSpc>
            </a:pPr>
            <a:r>
              <a:rPr dirty="0" sz="1100" spc="-5">
                <a:latin typeface="Arial"/>
                <a:cs typeface="Arial"/>
              </a:rPr>
              <a:t>Economists and statisticians therefore like to arrange all individuals by ascending</a:t>
            </a:r>
            <a:r>
              <a:rPr dirty="0" sz="1100" spc="35">
                <a:latin typeface="Arial"/>
                <a:cs typeface="Arial"/>
              </a:rPr>
              <a:t> </a:t>
            </a:r>
            <a:r>
              <a:rPr dirty="0" sz="1100" spc="-5">
                <a:latin typeface="Arial"/>
                <a:cs typeface="Arial"/>
              </a:rPr>
              <a:t>personal</a:t>
            </a:r>
            <a:endParaRPr sz="1100">
              <a:latin typeface="Arial"/>
              <a:cs typeface="Arial"/>
            </a:endParaRPr>
          </a:p>
        </p:txBody>
      </p:sp>
      <p:sp>
        <p:nvSpPr>
          <p:cNvPr id="7" name="object 7"/>
          <p:cNvSpPr/>
          <p:nvPr/>
        </p:nvSpPr>
        <p:spPr>
          <a:xfrm>
            <a:off x="1637538" y="6574535"/>
            <a:ext cx="4502658" cy="2440686"/>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50</a:t>
            </a:r>
            <a:endParaRPr sz="1100">
              <a:latin typeface="Carlito"/>
              <a:cs typeface="Carlit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891794"/>
            <a:ext cx="5970270" cy="796544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incomes and then divide the total population into distinct groups, or sizes. A common method is  to divide the population into successive quintiles (fifths) or deciles (tenths) according to  ascending income levels and then determine what proportion of the total national income is  received by each income group. For example, Table 5.1 shows a hypothetical but fairly typical  distribution of income for a developing</a:t>
            </a:r>
            <a:r>
              <a:rPr dirty="0" sz="1100" spc="15">
                <a:latin typeface="Arial"/>
                <a:cs typeface="Arial"/>
              </a:rPr>
              <a:t> </a:t>
            </a:r>
            <a:r>
              <a:rPr dirty="0" sz="1100" spc="-5">
                <a:latin typeface="Arial"/>
                <a:cs typeface="Arial"/>
              </a:rPr>
              <a:t>country.</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A common measure of income inequality that can be derived from column3 is the ratio of the  incomes received by </a:t>
            </a:r>
            <a:r>
              <a:rPr dirty="0" sz="1100">
                <a:latin typeface="Arial"/>
                <a:cs typeface="Arial"/>
              </a:rPr>
              <a:t>the </a:t>
            </a:r>
            <a:r>
              <a:rPr dirty="0" sz="1100" spc="-5">
                <a:latin typeface="Arial"/>
                <a:cs typeface="Arial"/>
              </a:rPr>
              <a:t>top 20% and bottom 40% of the population. This ratio, sometimes  called a Kuznets ratio after Nobel laureate Simon Kuznets, has often been used as a measure  of the degree of inequality between high- and low-income groups in a country. In our example,  this inequality ratio is equal to 51 divided by 14, or approximately 3.64. In Table 5.1, we see that  the top 5% of the population (the twentieth individual) receives 15% of the income, a higher  share than the combined shares of the lowest</a:t>
            </a:r>
            <a:r>
              <a:rPr dirty="0" sz="1100" spc="35">
                <a:latin typeface="Arial"/>
                <a:cs typeface="Arial"/>
              </a:rPr>
              <a:t> </a:t>
            </a:r>
            <a:r>
              <a:rPr dirty="0" sz="1100" spc="-5">
                <a:latin typeface="Arial"/>
                <a:cs typeface="Arial"/>
              </a:rPr>
              <a:t>40%.</a:t>
            </a:r>
            <a:endParaRPr sz="1100">
              <a:latin typeface="Arial"/>
              <a:cs typeface="Arial"/>
            </a:endParaRPr>
          </a:p>
          <a:p>
            <a:pPr>
              <a:lnSpc>
                <a:spcPct val="100000"/>
              </a:lnSpc>
              <a:spcBef>
                <a:spcPts val="15"/>
              </a:spcBef>
            </a:pPr>
            <a:endParaRPr sz="1150">
              <a:latin typeface="Arial"/>
              <a:cs typeface="Arial"/>
            </a:endParaRPr>
          </a:p>
          <a:p>
            <a:pPr algn="just" marL="469900" marR="5715" indent="-228600">
              <a:lnSpc>
                <a:spcPct val="95800"/>
              </a:lnSpc>
              <a:buFont typeface="Symbol"/>
              <a:buChar char=""/>
              <a:tabLst>
                <a:tab pos="470534" algn="l"/>
              </a:tabLst>
            </a:pPr>
            <a:r>
              <a:rPr dirty="0" sz="1100" spc="-5" b="1">
                <a:latin typeface="Arial"/>
                <a:cs typeface="Arial"/>
              </a:rPr>
              <a:t>Personal distribution of income (size distribution of income): </a:t>
            </a:r>
            <a:r>
              <a:rPr dirty="0" sz="1100" spc="-5">
                <a:latin typeface="Arial"/>
                <a:cs typeface="Arial"/>
              </a:rPr>
              <a:t>The distribution of  income according to size class of persons—for example, the share of total income  accruing to the poorest specific percentage or the richest specific percentage of a  population without regard to the sources of that</a:t>
            </a:r>
            <a:r>
              <a:rPr dirty="0" sz="1100" spc="40">
                <a:latin typeface="Arial"/>
                <a:cs typeface="Arial"/>
              </a:rPr>
              <a:t> </a:t>
            </a:r>
            <a:r>
              <a:rPr dirty="0" sz="1100" spc="-5">
                <a:latin typeface="Arial"/>
                <a:cs typeface="Arial"/>
              </a:rPr>
              <a:t>income.</a:t>
            </a:r>
            <a:endParaRPr sz="1100">
              <a:latin typeface="Arial"/>
              <a:cs typeface="Arial"/>
            </a:endParaRPr>
          </a:p>
          <a:p>
            <a:pPr marL="469900" marR="8255" indent="-228600">
              <a:lnSpc>
                <a:spcPts val="1260"/>
              </a:lnSpc>
              <a:spcBef>
                <a:spcPts val="120"/>
              </a:spcBef>
              <a:buFont typeface="Symbol"/>
              <a:buChar char=""/>
              <a:tabLst>
                <a:tab pos="469265" algn="l"/>
                <a:tab pos="469900" algn="l"/>
              </a:tabLst>
            </a:pPr>
            <a:r>
              <a:rPr dirty="0" sz="1100" spc="-5" b="1">
                <a:latin typeface="Arial"/>
                <a:cs typeface="Arial"/>
              </a:rPr>
              <a:t>Quintile: </a:t>
            </a:r>
            <a:r>
              <a:rPr dirty="0" sz="1100" spc="-5">
                <a:latin typeface="Arial"/>
                <a:cs typeface="Arial"/>
              </a:rPr>
              <a:t>A 20% proportion of any numerical quantity. A population divided into quintiles  would be divided into five groups of equal</a:t>
            </a:r>
            <a:r>
              <a:rPr dirty="0" sz="1100" spc="35">
                <a:latin typeface="Arial"/>
                <a:cs typeface="Arial"/>
              </a:rPr>
              <a:t> </a:t>
            </a:r>
            <a:r>
              <a:rPr dirty="0" sz="1100" spc="-5">
                <a:latin typeface="Arial"/>
                <a:cs typeface="Arial"/>
              </a:rPr>
              <a:t>size.</a:t>
            </a:r>
            <a:endParaRPr sz="1100">
              <a:latin typeface="Arial"/>
              <a:cs typeface="Arial"/>
            </a:endParaRPr>
          </a:p>
          <a:p>
            <a:pPr marL="469900" marR="7620" indent="-228600">
              <a:lnSpc>
                <a:spcPts val="1260"/>
              </a:lnSpc>
              <a:spcBef>
                <a:spcPts val="80"/>
              </a:spcBef>
              <a:buFont typeface="Symbol"/>
              <a:buChar char=""/>
              <a:tabLst>
                <a:tab pos="469265" algn="l"/>
                <a:tab pos="469900" algn="l"/>
              </a:tabLst>
            </a:pPr>
            <a:r>
              <a:rPr dirty="0" sz="1100" spc="-5" b="1">
                <a:latin typeface="Arial"/>
                <a:cs typeface="Arial"/>
              </a:rPr>
              <a:t>Decile: </a:t>
            </a:r>
            <a:r>
              <a:rPr dirty="0" sz="1100" spc="-5">
                <a:latin typeface="Arial"/>
                <a:cs typeface="Arial"/>
              </a:rPr>
              <a:t>A 10% portion of any numerical quantity; a population divided into deciles would  be divided into ten equal numerical</a:t>
            </a:r>
            <a:r>
              <a:rPr dirty="0" sz="1100" spc="20">
                <a:latin typeface="Arial"/>
                <a:cs typeface="Arial"/>
              </a:rPr>
              <a:t> </a:t>
            </a:r>
            <a:r>
              <a:rPr dirty="0" sz="1100" spc="-5">
                <a:latin typeface="Arial"/>
                <a:cs typeface="Arial"/>
              </a:rPr>
              <a:t>groups.</a:t>
            </a:r>
            <a:endParaRPr sz="1100">
              <a:latin typeface="Arial"/>
              <a:cs typeface="Arial"/>
            </a:endParaRPr>
          </a:p>
          <a:p>
            <a:pPr marL="469900" marR="7620" indent="-228600">
              <a:lnSpc>
                <a:spcPts val="1260"/>
              </a:lnSpc>
              <a:spcBef>
                <a:spcPts val="85"/>
              </a:spcBef>
              <a:buFont typeface="Symbol"/>
              <a:buChar char=""/>
              <a:tabLst>
                <a:tab pos="469265" algn="l"/>
                <a:tab pos="469900" algn="l"/>
              </a:tabLst>
            </a:pPr>
            <a:r>
              <a:rPr dirty="0" sz="1100" spc="-5" b="1">
                <a:latin typeface="Arial"/>
                <a:cs typeface="Arial"/>
              </a:rPr>
              <a:t>Income inequality: </a:t>
            </a:r>
            <a:r>
              <a:rPr dirty="0" sz="1100">
                <a:latin typeface="Arial"/>
                <a:cs typeface="Arial"/>
              </a:rPr>
              <a:t>The </a:t>
            </a:r>
            <a:r>
              <a:rPr dirty="0" sz="1100" spc="-5">
                <a:latin typeface="Arial"/>
                <a:cs typeface="Arial"/>
              </a:rPr>
              <a:t>disproportionate distribution of total national income among  households.</a:t>
            </a:r>
            <a:endParaRPr sz="1100">
              <a:latin typeface="Arial"/>
              <a:cs typeface="Arial"/>
            </a:endParaRPr>
          </a:p>
          <a:p>
            <a:pPr>
              <a:lnSpc>
                <a:spcPct val="100000"/>
              </a:lnSpc>
              <a:spcBef>
                <a:spcPts val="35"/>
              </a:spcBef>
              <a:buFont typeface="Symbol"/>
              <a:buChar char=""/>
            </a:pPr>
            <a:endParaRPr sz="1000">
              <a:latin typeface="Arial"/>
              <a:cs typeface="Arial"/>
            </a:endParaRPr>
          </a:p>
          <a:p>
            <a:pPr algn="just" marL="12700">
              <a:lnSpc>
                <a:spcPct val="100000"/>
              </a:lnSpc>
            </a:pPr>
            <a:r>
              <a:rPr dirty="0" sz="1100" spc="-5" b="1">
                <a:latin typeface="Arial"/>
                <a:cs typeface="Arial"/>
              </a:rPr>
              <a:t>LORENZ CURVES</a:t>
            </a:r>
            <a:endParaRPr sz="1100">
              <a:latin typeface="Arial"/>
              <a:cs typeface="Arial"/>
            </a:endParaRPr>
          </a:p>
          <a:p>
            <a:pPr>
              <a:lnSpc>
                <a:spcPct val="100000"/>
              </a:lnSpc>
              <a:spcBef>
                <a:spcPts val="35"/>
              </a:spcBef>
            </a:pPr>
            <a:endParaRPr sz="1200">
              <a:latin typeface="Arial"/>
              <a:cs typeface="Arial"/>
            </a:endParaRPr>
          </a:p>
          <a:p>
            <a:pPr algn="just" marL="12700" marR="6985">
              <a:lnSpc>
                <a:spcPts val="1260"/>
              </a:lnSpc>
            </a:pPr>
            <a:r>
              <a:rPr dirty="0" sz="1100" spc="-5">
                <a:latin typeface="Arial"/>
                <a:cs typeface="Arial"/>
              </a:rPr>
              <a:t>Another common way </a:t>
            </a:r>
            <a:r>
              <a:rPr dirty="0" sz="1100">
                <a:latin typeface="Arial"/>
                <a:cs typeface="Arial"/>
              </a:rPr>
              <a:t>to </a:t>
            </a:r>
            <a:r>
              <a:rPr dirty="0" sz="1100" spc="-5">
                <a:latin typeface="Arial"/>
                <a:cs typeface="Arial"/>
              </a:rPr>
              <a:t>analyze personal income statistics is to construct what is known as a  Lorenz curve</a:t>
            </a:r>
            <a:r>
              <a:rPr dirty="0" sz="1100">
                <a:latin typeface="Arial"/>
                <a:cs typeface="Arial"/>
              </a:rPr>
              <a:t> </a:t>
            </a:r>
            <a:r>
              <a:rPr dirty="0" sz="1100" spc="-5">
                <a:latin typeface="Arial"/>
                <a:cs typeface="Arial"/>
              </a:rPr>
              <a:t>i.e.</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b="1">
                <a:latin typeface="Arial"/>
                <a:cs typeface="Arial"/>
              </a:rPr>
              <a:t>Lorenz curve: </a:t>
            </a:r>
            <a:r>
              <a:rPr dirty="0" sz="1100" spc="-5">
                <a:latin typeface="Arial"/>
                <a:cs typeface="Arial"/>
              </a:rPr>
              <a:t>A graph depicting the variance of the size distribution of income from  perfect equality.</a:t>
            </a:r>
            <a:endParaRPr sz="1100">
              <a:latin typeface="Arial"/>
              <a:cs typeface="Arial"/>
            </a:endParaRPr>
          </a:p>
          <a:p>
            <a:pPr>
              <a:lnSpc>
                <a:spcPct val="100000"/>
              </a:lnSpc>
              <a:spcBef>
                <a:spcPts val="25"/>
              </a:spcBef>
            </a:pPr>
            <a:endParaRPr sz="1050">
              <a:latin typeface="Arial"/>
              <a:cs typeface="Arial"/>
            </a:endParaRPr>
          </a:p>
          <a:p>
            <a:pPr algn="just" marL="12700" marR="2538730">
              <a:lnSpc>
                <a:spcPct val="95800"/>
              </a:lnSpc>
            </a:pPr>
            <a:r>
              <a:rPr dirty="0" sz="1100" spc="-5">
                <a:latin typeface="Arial"/>
                <a:cs typeface="Arial"/>
              </a:rPr>
              <a:t>Figure 5.1 shows how it is done. The numbers of  income recipients are plotted on the horizontal axis,  not in absolute terms but in cumulative percentages.  For example, at point 20, we have the lowest (poorest)  20% of the population; at point </a:t>
            </a:r>
            <a:r>
              <a:rPr dirty="0" sz="1100">
                <a:latin typeface="Arial"/>
                <a:cs typeface="Arial"/>
              </a:rPr>
              <a:t>60, </a:t>
            </a:r>
            <a:r>
              <a:rPr dirty="0" sz="1100" spc="-5">
                <a:latin typeface="Arial"/>
                <a:cs typeface="Arial"/>
              </a:rPr>
              <a:t>we </a:t>
            </a:r>
            <a:r>
              <a:rPr dirty="0" sz="1100">
                <a:latin typeface="Arial"/>
                <a:cs typeface="Arial"/>
              </a:rPr>
              <a:t>have </a:t>
            </a:r>
            <a:r>
              <a:rPr dirty="0" sz="1100" spc="-5">
                <a:latin typeface="Arial"/>
                <a:cs typeface="Arial"/>
              </a:rPr>
              <a:t>the  bottom60%; and at the end of the axis, all 100% of the  population has been accounted for. The vertical axis  shows the share of total income received by each  percentage of population. It is also cumulative up to  100%, meaning that both axes are the same length.  The entire figure is enclosed in a square, and a  diagonal line is drawn from the lower left corner (the  origin) of the square to the upper right corner. At every  point on that diagonal, the percentage of income  received</a:t>
            </a:r>
            <a:r>
              <a:rPr dirty="0" sz="1100" spc="120">
                <a:latin typeface="Arial"/>
                <a:cs typeface="Arial"/>
              </a:rPr>
              <a:t> </a:t>
            </a:r>
            <a:r>
              <a:rPr dirty="0" sz="1100" spc="-5">
                <a:latin typeface="Arial"/>
                <a:cs typeface="Arial"/>
              </a:rPr>
              <a:t>is</a:t>
            </a:r>
            <a:r>
              <a:rPr dirty="0" sz="1100" spc="125">
                <a:latin typeface="Arial"/>
                <a:cs typeface="Arial"/>
              </a:rPr>
              <a:t> </a:t>
            </a:r>
            <a:r>
              <a:rPr dirty="0" sz="1100" spc="-5">
                <a:latin typeface="Arial"/>
                <a:cs typeface="Arial"/>
              </a:rPr>
              <a:t>exactly</a:t>
            </a:r>
            <a:r>
              <a:rPr dirty="0" sz="1100" spc="120">
                <a:latin typeface="Arial"/>
                <a:cs typeface="Arial"/>
              </a:rPr>
              <a:t> </a:t>
            </a:r>
            <a:r>
              <a:rPr dirty="0" sz="1100">
                <a:latin typeface="Arial"/>
                <a:cs typeface="Arial"/>
              </a:rPr>
              <a:t>equal</a:t>
            </a:r>
            <a:r>
              <a:rPr dirty="0" sz="1100" spc="125">
                <a:latin typeface="Arial"/>
                <a:cs typeface="Arial"/>
              </a:rPr>
              <a:t> </a:t>
            </a:r>
            <a:r>
              <a:rPr dirty="0" sz="1100" spc="-5">
                <a:latin typeface="Arial"/>
                <a:cs typeface="Arial"/>
              </a:rPr>
              <a:t>to</a:t>
            </a:r>
            <a:r>
              <a:rPr dirty="0" sz="1100" spc="120">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percentage</a:t>
            </a:r>
            <a:r>
              <a:rPr dirty="0" sz="1100" spc="120">
                <a:latin typeface="Arial"/>
                <a:cs typeface="Arial"/>
              </a:rPr>
              <a:t> </a:t>
            </a:r>
            <a:r>
              <a:rPr dirty="0" sz="1100" spc="-5">
                <a:latin typeface="Arial"/>
                <a:cs typeface="Arial"/>
              </a:rPr>
              <a:t>of</a:t>
            </a:r>
            <a:r>
              <a:rPr dirty="0" sz="1100" spc="125">
                <a:latin typeface="Arial"/>
                <a:cs typeface="Arial"/>
              </a:rPr>
              <a:t> </a:t>
            </a:r>
            <a:r>
              <a:rPr dirty="0" sz="1100" spc="-5">
                <a:latin typeface="Arial"/>
                <a:cs typeface="Arial"/>
              </a:rPr>
              <a:t>income</a:t>
            </a:r>
            <a:endParaRPr sz="1100">
              <a:latin typeface="Arial"/>
              <a:cs typeface="Arial"/>
            </a:endParaRPr>
          </a:p>
          <a:p>
            <a:pPr algn="just" marL="12700" marR="6350">
              <a:lnSpc>
                <a:spcPts val="1270"/>
              </a:lnSpc>
              <a:spcBef>
                <a:spcPts val="30"/>
              </a:spcBef>
            </a:pPr>
            <a:r>
              <a:rPr dirty="0" sz="1100" spc="-5">
                <a:latin typeface="Arial"/>
                <a:cs typeface="Arial"/>
              </a:rPr>
              <a:t>recipients In other words, the diagonal line in Figure 5.1 is representative of “perfect equality” in  size</a:t>
            </a:r>
            <a:r>
              <a:rPr dirty="0" sz="1100" spc="25">
                <a:latin typeface="Arial"/>
                <a:cs typeface="Arial"/>
              </a:rPr>
              <a:t> </a:t>
            </a:r>
            <a:r>
              <a:rPr dirty="0" sz="1100" spc="-5">
                <a:latin typeface="Arial"/>
                <a:cs typeface="Arial"/>
              </a:rPr>
              <a:t>distribution</a:t>
            </a:r>
            <a:r>
              <a:rPr dirty="0" sz="1100" spc="25">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income.</a:t>
            </a:r>
            <a:r>
              <a:rPr dirty="0" sz="1100" spc="25">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Lorenz</a:t>
            </a:r>
            <a:r>
              <a:rPr dirty="0" sz="1100" spc="25">
                <a:latin typeface="Arial"/>
                <a:cs typeface="Arial"/>
              </a:rPr>
              <a:t> </a:t>
            </a:r>
            <a:r>
              <a:rPr dirty="0" sz="1100" spc="-5">
                <a:latin typeface="Arial"/>
                <a:cs typeface="Arial"/>
              </a:rPr>
              <a:t>curve</a:t>
            </a:r>
            <a:r>
              <a:rPr dirty="0" sz="1100" spc="30">
                <a:latin typeface="Arial"/>
                <a:cs typeface="Arial"/>
              </a:rPr>
              <a:t> </a:t>
            </a:r>
            <a:r>
              <a:rPr dirty="0" sz="1100" spc="-5">
                <a:latin typeface="Arial"/>
                <a:cs typeface="Arial"/>
              </a:rPr>
              <a:t>shows</a:t>
            </a:r>
            <a:r>
              <a:rPr dirty="0" sz="1100" spc="25">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actual</a:t>
            </a:r>
            <a:r>
              <a:rPr dirty="0" sz="1100" spc="25">
                <a:latin typeface="Arial"/>
                <a:cs typeface="Arial"/>
              </a:rPr>
              <a:t> </a:t>
            </a:r>
            <a:r>
              <a:rPr dirty="0" sz="1100" spc="-5">
                <a:latin typeface="Arial"/>
                <a:cs typeface="Arial"/>
              </a:rPr>
              <a:t>quantitative</a:t>
            </a:r>
            <a:r>
              <a:rPr dirty="0" sz="1100" spc="25">
                <a:latin typeface="Arial"/>
                <a:cs typeface="Arial"/>
              </a:rPr>
              <a:t> </a:t>
            </a:r>
            <a:r>
              <a:rPr dirty="0" sz="1100" spc="-5">
                <a:latin typeface="Arial"/>
                <a:cs typeface="Arial"/>
              </a:rPr>
              <a:t>relationship</a:t>
            </a:r>
            <a:r>
              <a:rPr dirty="0" sz="1100" spc="25">
                <a:latin typeface="Arial"/>
                <a:cs typeface="Arial"/>
              </a:rPr>
              <a:t> </a:t>
            </a:r>
            <a:r>
              <a:rPr dirty="0" sz="1100" spc="-5">
                <a:latin typeface="Arial"/>
                <a:cs typeface="Arial"/>
              </a:rPr>
              <a:t>between</a:t>
            </a:r>
            <a:endParaRPr sz="1100">
              <a:latin typeface="Arial"/>
              <a:cs typeface="Arial"/>
            </a:endParaRPr>
          </a:p>
        </p:txBody>
      </p:sp>
      <p:sp>
        <p:nvSpPr>
          <p:cNvPr id="7" name="object 7"/>
          <p:cNvSpPr/>
          <p:nvPr/>
        </p:nvSpPr>
        <p:spPr>
          <a:xfrm>
            <a:off x="4485871" y="6063399"/>
            <a:ext cx="2424053" cy="2372014"/>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51</a:t>
            </a:r>
            <a:endParaRPr sz="1100">
              <a:latin typeface="Carlito"/>
              <a:cs typeface="Carlito"/>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44221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 percentage of income recipients and the percentage of the total income they did in fact  receive during, say, a given</a:t>
            </a:r>
            <a:r>
              <a:rPr dirty="0" sz="1100" spc="20">
                <a:latin typeface="Arial"/>
                <a:cs typeface="Arial"/>
              </a:rPr>
              <a:t> </a:t>
            </a:r>
            <a:r>
              <a:rPr dirty="0" sz="1100" spc="-5">
                <a:latin typeface="Arial"/>
                <a:cs typeface="Arial"/>
              </a:rPr>
              <a:t>year.</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The more the Lorenz line curves away from </a:t>
            </a:r>
            <a:r>
              <a:rPr dirty="0" sz="1100">
                <a:latin typeface="Arial"/>
                <a:cs typeface="Arial"/>
              </a:rPr>
              <a:t>the </a:t>
            </a:r>
            <a:r>
              <a:rPr dirty="0" sz="1100" spc="-5">
                <a:latin typeface="Arial"/>
                <a:cs typeface="Arial"/>
              </a:rPr>
              <a:t>diagonal (line of perfect equality), the greater  the degree of inequality represented. The extreme case of perfect inequality (i.e., a situation in  which one person receives all of the national income while everybody else receives nothing)  would be represented by the congruence of the Lorenz curve with the bottom horizontal and  right hand vertical axes. Because no country exhibits either perfect equality or perfect inequality  in its distribution of income, the Lorenz curves for different countries will lie somewhere to the  right of the diagonal in Figure 5.1. The greater the degree of inequality, the greater the bend and  the closer to the bottom horizontal axis the Lorenz curve will be. Two representative  distributions are shown in Figure 5.2, one for a relatively equal distribution (Figure 5.2a) and the  other for a more unequal distribution (Figure</a:t>
            </a:r>
            <a:r>
              <a:rPr dirty="0" sz="1100" spc="35">
                <a:latin typeface="Arial"/>
                <a:cs typeface="Arial"/>
              </a:rPr>
              <a:t> </a:t>
            </a:r>
            <a:r>
              <a:rPr dirty="0" sz="1100" spc="-5">
                <a:latin typeface="Arial"/>
                <a:cs typeface="Arial"/>
              </a:rPr>
              <a:t>5.2b).</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GINI COEFFICIENTS AND AGGREGATE MEASURES OF</a:t>
            </a:r>
            <a:r>
              <a:rPr dirty="0" sz="1100" spc="25" b="1">
                <a:latin typeface="Arial"/>
                <a:cs typeface="Arial"/>
              </a:rPr>
              <a:t> </a:t>
            </a:r>
            <a:r>
              <a:rPr dirty="0" sz="1100" spc="-5" b="1">
                <a:latin typeface="Arial"/>
                <a:cs typeface="Arial"/>
              </a:rPr>
              <a:t>INEQUALITY</a:t>
            </a:r>
            <a:endParaRPr sz="1100">
              <a:latin typeface="Arial"/>
              <a:cs typeface="Arial"/>
            </a:endParaRPr>
          </a:p>
        </p:txBody>
      </p:sp>
      <p:sp>
        <p:nvSpPr>
          <p:cNvPr id="7" name="object 7"/>
          <p:cNvSpPr txBox="1"/>
          <p:nvPr/>
        </p:nvSpPr>
        <p:spPr>
          <a:xfrm>
            <a:off x="901700" y="5978114"/>
            <a:ext cx="5970270" cy="147828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b="1">
                <a:latin typeface="Arial"/>
                <a:cs typeface="Arial"/>
              </a:rPr>
              <a:t>Def: </a:t>
            </a:r>
            <a:r>
              <a:rPr dirty="0" sz="1100" spc="-5">
                <a:latin typeface="Arial"/>
                <a:cs typeface="Arial"/>
              </a:rPr>
              <a:t>An aggregate numerical measure of income inequality ranging from 0 (perfect equality) to  1(perfect inequality). It is measured graphically by dividing the area between the perfect equality  line and the Lorenz curve by the total area lying to the right of the equality line in a Lorenz  diagram. The higher the value of the coefficient, the higher the inequality of income distribution;  the lower it is, the more equal the distribution of</a:t>
            </a:r>
            <a:r>
              <a:rPr dirty="0" sz="1100" spc="50">
                <a:latin typeface="Arial"/>
                <a:cs typeface="Arial"/>
              </a:rPr>
              <a:t> </a:t>
            </a:r>
            <a:r>
              <a:rPr dirty="0" sz="1100" spc="-5">
                <a:latin typeface="Arial"/>
                <a:cs typeface="Arial"/>
              </a:rPr>
              <a:t>income.</a:t>
            </a:r>
            <a:endParaRPr sz="1100">
              <a:latin typeface="Arial"/>
              <a:cs typeface="Arial"/>
            </a:endParaRPr>
          </a:p>
          <a:p>
            <a:pPr>
              <a:lnSpc>
                <a:spcPct val="100000"/>
              </a:lnSpc>
              <a:spcBef>
                <a:spcPts val="30"/>
              </a:spcBef>
            </a:pPr>
            <a:endParaRPr sz="1100">
              <a:latin typeface="Arial"/>
              <a:cs typeface="Arial"/>
            </a:endParaRPr>
          </a:p>
          <a:p>
            <a:pPr algn="just" marL="12700" marR="5080">
              <a:lnSpc>
                <a:spcPts val="1270"/>
              </a:lnSpc>
              <a:spcBef>
                <a:spcPts val="5"/>
              </a:spcBef>
            </a:pPr>
            <a:r>
              <a:rPr dirty="0" sz="1100" spc="-5">
                <a:latin typeface="Arial"/>
                <a:cs typeface="Arial"/>
              </a:rPr>
              <a:t>In Figure 5.3, this is the ratio of the shaded area A to the total area of the triangle BCD. </a:t>
            </a:r>
            <a:r>
              <a:rPr dirty="0" sz="1100">
                <a:latin typeface="Arial"/>
                <a:cs typeface="Arial"/>
              </a:rPr>
              <a:t>This  </a:t>
            </a:r>
            <a:r>
              <a:rPr dirty="0" sz="1100" spc="-5">
                <a:latin typeface="Arial"/>
                <a:cs typeface="Arial"/>
              </a:rPr>
              <a:t>ratio is known as the Gini concentration ratio or Gini coefficient, named after the Italian  statistician who first formulated it in</a:t>
            </a:r>
            <a:r>
              <a:rPr dirty="0" sz="1100" spc="15">
                <a:latin typeface="Arial"/>
                <a:cs typeface="Arial"/>
              </a:rPr>
              <a:t> </a:t>
            </a:r>
            <a:r>
              <a:rPr dirty="0" sz="1100" spc="-5">
                <a:latin typeface="Arial"/>
                <a:cs typeface="Arial"/>
              </a:rPr>
              <a:t>1912.</a:t>
            </a:r>
            <a:endParaRPr sz="1100">
              <a:latin typeface="Arial"/>
              <a:cs typeface="Arial"/>
            </a:endParaRPr>
          </a:p>
        </p:txBody>
      </p:sp>
      <p:sp>
        <p:nvSpPr>
          <p:cNvPr id="8" name="object 8"/>
          <p:cNvSpPr/>
          <p:nvPr/>
        </p:nvSpPr>
        <p:spPr>
          <a:xfrm>
            <a:off x="1866900" y="3419094"/>
            <a:ext cx="4171950" cy="24193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52</a:t>
            </a:r>
            <a:endParaRPr sz="1100">
              <a:latin typeface="Carlito"/>
              <a:cs typeface="Carlito"/>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1156970"/>
          </a:xfrm>
          <a:prstGeom prst="rect">
            <a:avLst/>
          </a:prstGeom>
        </p:spPr>
        <p:txBody>
          <a:bodyPr wrap="square" lIns="0" tIns="12065" rIns="0" bIns="0" rtlCol="0" vert="horz">
            <a:spAutoFit/>
          </a:bodyPr>
          <a:lstStyle/>
          <a:p>
            <a:pPr algn="just" marL="12700">
              <a:lnSpc>
                <a:spcPts val="1295"/>
              </a:lnSpc>
              <a:spcBef>
                <a:spcPts val="95"/>
              </a:spcBef>
            </a:pPr>
            <a:r>
              <a:rPr dirty="0" sz="1100" spc="-5">
                <a:latin typeface="Arial"/>
                <a:cs typeface="Arial"/>
              </a:rPr>
              <a:t>Four</a:t>
            </a:r>
            <a:r>
              <a:rPr dirty="0" sz="1100" spc="120">
                <a:latin typeface="Arial"/>
                <a:cs typeface="Arial"/>
              </a:rPr>
              <a:t> </a:t>
            </a:r>
            <a:r>
              <a:rPr dirty="0" sz="1100" spc="-5">
                <a:latin typeface="Arial"/>
                <a:cs typeface="Arial"/>
              </a:rPr>
              <a:t>possible</a:t>
            </a:r>
            <a:r>
              <a:rPr dirty="0" sz="1100" spc="114">
                <a:latin typeface="Arial"/>
                <a:cs typeface="Arial"/>
              </a:rPr>
              <a:t> </a:t>
            </a:r>
            <a:r>
              <a:rPr dirty="0" sz="1100" spc="-5">
                <a:latin typeface="Arial"/>
                <a:cs typeface="Arial"/>
              </a:rPr>
              <a:t>Lorenz</a:t>
            </a:r>
            <a:r>
              <a:rPr dirty="0" sz="1100" spc="120">
                <a:latin typeface="Arial"/>
                <a:cs typeface="Arial"/>
              </a:rPr>
              <a:t> </a:t>
            </a:r>
            <a:r>
              <a:rPr dirty="0" sz="1100" spc="-5">
                <a:latin typeface="Arial"/>
                <a:cs typeface="Arial"/>
              </a:rPr>
              <a:t>curves</a:t>
            </a:r>
            <a:r>
              <a:rPr dirty="0" sz="1100" spc="114">
                <a:latin typeface="Arial"/>
                <a:cs typeface="Arial"/>
              </a:rPr>
              <a:t> </a:t>
            </a:r>
            <a:r>
              <a:rPr dirty="0" sz="1100" spc="-5">
                <a:latin typeface="Arial"/>
                <a:cs typeface="Arial"/>
              </a:rPr>
              <a:t>such</a:t>
            </a:r>
            <a:r>
              <a:rPr dirty="0" sz="1100" spc="114">
                <a:latin typeface="Arial"/>
                <a:cs typeface="Arial"/>
              </a:rPr>
              <a:t> </a:t>
            </a:r>
            <a:r>
              <a:rPr dirty="0" sz="1100" spc="-5">
                <a:latin typeface="Arial"/>
                <a:cs typeface="Arial"/>
              </a:rPr>
              <a:t>as</a:t>
            </a:r>
            <a:r>
              <a:rPr dirty="0" sz="1100" spc="125">
                <a:latin typeface="Arial"/>
                <a:cs typeface="Arial"/>
              </a:rPr>
              <a:t> </a:t>
            </a:r>
            <a:r>
              <a:rPr dirty="0" sz="1100" spc="-5">
                <a:latin typeface="Arial"/>
                <a:cs typeface="Arial"/>
              </a:rPr>
              <a:t>might</a:t>
            </a:r>
            <a:r>
              <a:rPr dirty="0" sz="1100" spc="114">
                <a:latin typeface="Arial"/>
                <a:cs typeface="Arial"/>
              </a:rPr>
              <a:t> </a:t>
            </a:r>
            <a:r>
              <a:rPr dirty="0" sz="1100" spc="-5">
                <a:latin typeface="Arial"/>
                <a:cs typeface="Arial"/>
              </a:rPr>
              <a:t>be</a:t>
            </a:r>
            <a:r>
              <a:rPr dirty="0" sz="1100" spc="114">
                <a:latin typeface="Arial"/>
                <a:cs typeface="Arial"/>
              </a:rPr>
              <a:t> </a:t>
            </a:r>
            <a:r>
              <a:rPr dirty="0" sz="1100" spc="-5">
                <a:latin typeface="Arial"/>
                <a:cs typeface="Arial"/>
              </a:rPr>
              <a:t>found</a:t>
            </a:r>
            <a:r>
              <a:rPr dirty="0" sz="1100" spc="120">
                <a:latin typeface="Arial"/>
                <a:cs typeface="Arial"/>
              </a:rPr>
              <a:t> </a:t>
            </a:r>
            <a:r>
              <a:rPr dirty="0" sz="1100" spc="-5">
                <a:latin typeface="Arial"/>
                <a:cs typeface="Arial"/>
              </a:rPr>
              <a:t>in</a:t>
            </a:r>
            <a:r>
              <a:rPr dirty="0" sz="1100" spc="114">
                <a:latin typeface="Arial"/>
                <a:cs typeface="Arial"/>
              </a:rPr>
              <a:t> </a:t>
            </a:r>
            <a:r>
              <a:rPr dirty="0" sz="1100" spc="-5">
                <a:latin typeface="Arial"/>
                <a:cs typeface="Arial"/>
              </a:rPr>
              <a:t>international</a:t>
            </a:r>
            <a:r>
              <a:rPr dirty="0" sz="1100" spc="114">
                <a:latin typeface="Arial"/>
                <a:cs typeface="Arial"/>
              </a:rPr>
              <a:t> </a:t>
            </a:r>
            <a:r>
              <a:rPr dirty="0" sz="1100" spc="-5">
                <a:latin typeface="Arial"/>
                <a:cs typeface="Arial"/>
              </a:rPr>
              <a:t>data</a:t>
            </a:r>
            <a:r>
              <a:rPr dirty="0" sz="1100" spc="125">
                <a:latin typeface="Arial"/>
                <a:cs typeface="Arial"/>
              </a:rPr>
              <a:t> </a:t>
            </a:r>
            <a:r>
              <a:rPr dirty="0" sz="1100" spc="-5">
                <a:latin typeface="Arial"/>
                <a:cs typeface="Arial"/>
              </a:rPr>
              <a:t>are</a:t>
            </a:r>
            <a:r>
              <a:rPr dirty="0" sz="1100" spc="114">
                <a:latin typeface="Arial"/>
                <a:cs typeface="Arial"/>
              </a:rPr>
              <a:t> </a:t>
            </a:r>
            <a:r>
              <a:rPr dirty="0" sz="1100" spc="-5">
                <a:latin typeface="Arial"/>
                <a:cs typeface="Arial"/>
              </a:rPr>
              <a:t>drawn</a:t>
            </a:r>
            <a:r>
              <a:rPr dirty="0" sz="1100" spc="114">
                <a:latin typeface="Arial"/>
                <a:cs typeface="Arial"/>
              </a:rPr>
              <a:t> </a:t>
            </a:r>
            <a:r>
              <a:rPr dirty="0" sz="1100" spc="-5">
                <a:latin typeface="Arial"/>
                <a:cs typeface="Arial"/>
              </a:rPr>
              <a:t>in</a:t>
            </a:r>
            <a:r>
              <a:rPr dirty="0" sz="1100" spc="120">
                <a:latin typeface="Arial"/>
                <a:cs typeface="Arial"/>
              </a:rPr>
              <a:t> </a:t>
            </a:r>
            <a:r>
              <a:rPr dirty="0" sz="1100" spc="-5">
                <a:latin typeface="Arial"/>
                <a:cs typeface="Arial"/>
              </a:rPr>
              <a:t>Figure</a:t>
            </a:r>
            <a:endParaRPr sz="1100">
              <a:latin typeface="Arial"/>
              <a:cs typeface="Arial"/>
            </a:endParaRPr>
          </a:p>
          <a:p>
            <a:pPr algn="just" marL="12700" marR="5080">
              <a:lnSpc>
                <a:spcPct val="95800"/>
              </a:lnSpc>
              <a:spcBef>
                <a:spcPts val="30"/>
              </a:spcBef>
            </a:pPr>
            <a:r>
              <a:rPr dirty="0" sz="1100" spc="-5">
                <a:latin typeface="Arial"/>
                <a:cs typeface="Arial"/>
              </a:rPr>
              <a:t>5.4. In the “Lorenz criterion” of income distribution, whenever one Lorenz curve lies above  another Lorenz curve, the economy corresponding to the upper Lorenz curve is more equal than  that of the </a:t>
            </a:r>
            <a:r>
              <a:rPr dirty="0" sz="1100">
                <a:latin typeface="Arial"/>
                <a:cs typeface="Arial"/>
              </a:rPr>
              <a:t>lower </a:t>
            </a:r>
            <a:r>
              <a:rPr dirty="0" sz="1100" spc="-5">
                <a:latin typeface="Arial"/>
                <a:cs typeface="Arial"/>
              </a:rPr>
              <a:t>curve. Thus economy A </a:t>
            </a:r>
            <a:r>
              <a:rPr dirty="0" sz="1100">
                <a:latin typeface="Arial"/>
                <a:cs typeface="Arial"/>
              </a:rPr>
              <a:t>may </a:t>
            </a:r>
            <a:r>
              <a:rPr dirty="0" sz="1100" spc="-5">
                <a:latin typeface="Arial"/>
                <a:cs typeface="Arial"/>
              </a:rPr>
              <a:t>unambiguously be said to be more equal than  economy D. Whenever two Lorenz curves cross, such as curves B and C, the Lorenz criterion  states that we “need more information” or additional assumptions before we </a:t>
            </a:r>
            <a:r>
              <a:rPr dirty="0" sz="1100">
                <a:latin typeface="Arial"/>
                <a:cs typeface="Arial"/>
              </a:rPr>
              <a:t>can </a:t>
            </a:r>
            <a:r>
              <a:rPr dirty="0" sz="1100" spc="-5">
                <a:latin typeface="Arial"/>
                <a:cs typeface="Arial"/>
              </a:rPr>
              <a:t>determine  which</a:t>
            </a:r>
            <a:r>
              <a:rPr dirty="0" sz="1100" spc="145">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underlying</a:t>
            </a:r>
            <a:r>
              <a:rPr dirty="0" sz="1100" spc="150">
                <a:latin typeface="Arial"/>
                <a:cs typeface="Arial"/>
              </a:rPr>
              <a:t> </a:t>
            </a:r>
            <a:r>
              <a:rPr dirty="0" sz="1100" spc="-5">
                <a:latin typeface="Arial"/>
                <a:cs typeface="Arial"/>
              </a:rPr>
              <a:t>economies</a:t>
            </a:r>
            <a:r>
              <a:rPr dirty="0" sz="1100" spc="150">
                <a:latin typeface="Arial"/>
                <a:cs typeface="Arial"/>
              </a:rPr>
              <a:t> </a:t>
            </a:r>
            <a:r>
              <a:rPr dirty="0" sz="1100" spc="-5">
                <a:latin typeface="Arial"/>
                <a:cs typeface="Arial"/>
              </a:rPr>
              <a:t>is</a:t>
            </a:r>
            <a:r>
              <a:rPr dirty="0" sz="1100" spc="145">
                <a:latin typeface="Arial"/>
                <a:cs typeface="Arial"/>
              </a:rPr>
              <a:t> </a:t>
            </a:r>
            <a:r>
              <a:rPr dirty="0" sz="1100" spc="-5">
                <a:latin typeface="Arial"/>
                <a:cs typeface="Arial"/>
              </a:rPr>
              <a:t>more</a:t>
            </a:r>
            <a:r>
              <a:rPr dirty="0" sz="1100" spc="150">
                <a:latin typeface="Arial"/>
                <a:cs typeface="Arial"/>
              </a:rPr>
              <a:t> </a:t>
            </a:r>
            <a:r>
              <a:rPr dirty="0" sz="1100" spc="-5">
                <a:latin typeface="Arial"/>
                <a:cs typeface="Arial"/>
              </a:rPr>
              <a:t>equal.</a:t>
            </a:r>
            <a:r>
              <a:rPr dirty="0" sz="1100" spc="150">
                <a:latin typeface="Arial"/>
                <a:cs typeface="Arial"/>
              </a:rPr>
              <a:t> </a:t>
            </a:r>
            <a:r>
              <a:rPr dirty="0" sz="1100" spc="-5">
                <a:latin typeface="Arial"/>
                <a:cs typeface="Arial"/>
              </a:rPr>
              <a:t>But</a:t>
            </a:r>
            <a:r>
              <a:rPr dirty="0" sz="1100" spc="145">
                <a:latin typeface="Arial"/>
                <a:cs typeface="Arial"/>
              </a:rPr>
              <a:t> </a:t>
            </a:r>
            <a:r>
              <a:rPr dirty="0" sz="1100" spc="-5">
                <a:latin typeface="Arial"/>
                <a:cs typeface="Arial"/>
              </a:rPr>
              <a:t>others</a:t>
            </a:r>
            <a:r>
              <a:rPr dirty="0" sz="1100" spc="150">
                <a:latin typeface="Arial"/>
                <a:cs typeface="Arial"/>
              </a:rPr>
              <a:t> </a:t>
            </a:r>
            <a:r>
              <a:rPr dirty="0" sz="1100" spc="-5">
                <a:latin typeface="Arial"/>
                <a:cs typeface="Arial"/>
              </a:rPr>
              <a:t>might</a:t>
            </a:r>
            <a:r>
              <a:rPr dirty="0" sz="1100" spc="150">
                <a:latin typeface="Arial"/>
                <a:cs typeface="Arial"/>
              </a:rPr>
              <a:t> </a:t>
            </a:r>
            <a:r>
              <a:rPr dirty="0" sz="1100" spc="-5">
                <a:latin typeface="Arial"/>
                <a:cs typeface="Arial"/>
              </a:rPr>
              <a:t>start</a:t>
            </a:r>
            <a:r>
              <a:rPr dirty="0" sz="1100" spc="145">
                <a:latin typeface="Arial"/>
                <a:cs typeface="Arial"/>
              </a:rPr>
              <a:t> </a:t>
            </a:r>
            <a:r>
              <a:rPr dirty="0" sz="1100" spc="-5">
                <a:latin typeface="Arial"/>
                <a:cs typeface="Arial"/>
              </a:rPr>
              <a:t>with</a:t>
            </a:r>
            <a:r>
              <a:rPr dirty="0" sz="1100" spc="150">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assumption</a:t>
            </a:r>
            <a:endParaRPr sz="1100">
              <a:latin typeface="Arial"/>
              <a:cs typeface="Arial"/>
            </a:endParaRPr>
          </a:p>
        </p:txBody>
      </p:sp>
      <p:sp>
        <p:nvSpPr>
          <p:cNvPr id="7" name="object 7"/>
          <p:cNvSpPr txBox="1"/>
          <p:nvPr/>
        </p:nvSpPr>
        <p:spPr>
          <a:xfrm>
            <a:off x="901686" y="4568440"/>
            <a:ext cx="5970270" cy="4563745"/>
          </a:xfrm>
          <a:prstGeom prst="rect">
            <a:avLst/>
          </a:prstGeom>
        </p:spPr>
        <p:txBody>
          <a:bodyPr wrap="square" lIns="0" tIns="22860" rIns="0" bIns="0" rtlCol="0" vert="horz">
            <a:spAutoFit/>
          </a:bodyPr>
          <a:lstStyle/>
          <a:p>
            <a:pPr algn="just" marL="12700" marR="8255">
              <a:lnSpc>
                <a:spcPts val="1270"/>
              </a:lnSpc>
              <a:spcBef>
                <a:spcPts val="180"/>
              </a:spcBef>
            </a:pPr>
            <a:r>
              <a:rPr dirty="0" sz="1100" spc="-5">
                <a:latin typeface="Arial"/>
                <a:cs typeface="Arial"/>
              </a:rPr>
              <a:t>that an economy with a stronger middle class is inherently more equal, and those observers  might select economy</a:t>
            </a:r>
            <a:r>
              <a:rPr dirty="0" sz="1100">
                <a:latin typeface="Arial"/>
                <a:cs typeface="Arial"/>
              </a:rPr>
              <a:t> </a:t>
            </a:r>
            <a:r>
              <a:rPr dirty="0" sz="1100" spc="-5">
                <a:latin typeface="Arial"/>
                <a:cs typeface="Arial"/>
              </a:rPr>
              <a:t>C.</a:t>
            </a:r>
            <a:endParaRPr sz="1100">
              <a:latin typeface="Arial"/>
              <a:cs typeface="Arial"/>
            </a:endParaRPr>
          </a:p>
          <a:p>
            <a:pPr>
              <a:lnSpc>
                <a:spcPct val="100000"/>
              </a:lnSpc>
              <a:spcBef>
                <a:spcPts val="45"/>
              </a:spcBef>
            </a:pPr>
            <a:endParaRPr sz="1050">
              <a:latin typeface="Arial"/>
              <a:cs typeface="Arial"/>
            </a:endParaRPr>
          </a:p>
          <a:p>
            <a:pPr algn="just" marL="12700" marR="5080">
              <a:lnSpc>
                <a:spcPts val="1270"/>
              </a:lnSpc>
            </a:pPr>
            <a:r>
              <a:rPr dirty="0" sz="1100" spc="-5">
                <a:latin typeface="Arial"/>
                <a:cs typeface="Arial"/>
              </a:rPr>
              <a:t>One could also use an aggregate measure such as the Gini coefficient to decide the matter. As  it turns out, the Gini coefficient is among a class of measures that satisfy four highly desirable  properties: the anonymity, scale independence, population independence, and transfer  principles. Note, finally, that we can also use Lorenz curves to study inequality in the distribution  of land, in education and health, and in other</a:t>
            </a:r>
            <a:r>
              <a:rPr dirty="0" sz="1100" spc="45">
                <a:latin typeface="Arial"/>
                <a:cs typeface="Arial"/>
              </a:rPr>
              <a:t> </a:t>
            </a:r>
            <a:r>
              <a:rPr dirty="0" sz="1100" spc="-5">
                <a:latin typeface="Arial"/>
                <a:cs typeface="Arial"/>
              </a:rPr>
              <a:t>assets.</a:t>
            </a:r>
            <a:endParaRPr sz="1100">
              <a:latin typeface="Arial"/>
              <a:cs typeface="Arial"/>
            </a:endParaRPr>
          </a:p>
          <a:p>
            <a:pPr>
              <a:lnSpc>
                <a:spcPct val="100000"/>
              </a:lnSpc>
              <a:spcBef>
                <a:spcPts val="10"/>
              </a:spcBef>
            </a:pPr>
            <a:endParaRPr sz="1000">
              <a:latin typeface="Arial"/>
              <a:cs typeface="Arial"/>
            </a:endParaRPr>
          </a:p>
          <a:p>
            <a:pPr algn="just" marL="12700">
              <a:lnSpc>
                <a:spcPct val="100000"/>
              </a:lnSpc>
            </a:pPr>
            <a:r>
              <a:rPr dirty="0" sz="1100" spc="-5" b="1">
                <a:latin typeface="Arial"/>
                <a:cs typeface="Arial"/>
              </a:rPr>
              <a:t>FUNCTIONAL DISTRIBUTIONS</a:t>
            </a:r>
            <a:endParaRPr sz="1100">
              <a:latin typeface="Arial"/>
              <a:cs typeface="Arial"/>
            </a:endParaRPr>
          </a:p>
          <a:p>
            <a:pPr>
              <a:lnSpc>
                <a:spcPct val="100000"/>
              </a:lnSpc>
              <a:spcBef>
                <a:spcPts val="25"/>
              </a:spcBef>
            </a:pPr>
            <a:endParaRPr sz="1200">
              <a:latin typeface="Arial"/>
              <a:cs typeface="Arial"/>
            </a:endParaRPr>
          </a:p>
          <a:p>
            <a:pPr algn="just" marL="12700" marR="6985">
              <a:lnSpc>
                <a:spcPts val="1270"/>
              </a:lnSpc>
            </a:pPr>
            <a:r>
              <a:rPr dirty="0" sz="1100" spc="-5">
                <a:latin typeface="Arial"/>
                <a:cs typeface="Arial"/>
              </a:rPr>
              <a:t>The second common measure of income distribution used by economists, the functional or  factor share distribution of income, attempts to explain the share of total national income that  each of the factors of production (land, labor, and capital)</a:t>
            </a:r>
            <a:r>
              <a:rPr dirty="0" sz="1100" spc="60">
                <a:latin typeface="Arial"/>
                <a:cs typeface="Arial"/>
              </a:rPr>
              <a:t> </a:t>
            </a:r>
            <a:r>
              <a:rPr dirty="0" sz="1100" spc="-5">
                <a:latin typeface="Arial"/>
                <a:cs typeface="Arial"/>
              </a:rPr>
              <a:t>receives.</a:t>
            </a:r>
            <a:endParaRPr sz="1100">
              <a:latin typeface="Arial"/>
              <a:cs typeface="Arial"/>
            </a:endParaRPr>
          </a:p>
          <a:p>
            <a:pPr>
              <a:lnSpc>
                <a:spcPct val="100000"/>
              </a:lnSpc>
              <a:spcBef>
                <a:spcPts val="35"/>
              </a:spcBef>
            </a:pPr>
            <a:endParaRPr sz="1100">
              <a:latin typeface="Arial"/>
              <a:cs typeface="Arial"/>
            </a:endParaRPr>
          </a:p>
          <a:p>
            <a:pPr algn="just" marL="469900" marR="5715" indent="-228600">
              <a:lnSpc>
                <a:spcPct val="95700"/>
              </a:lnSpc>
              <a:buFont typeface="Symbol"/>
              <a:buChar char=""/>
              <a:tabLst>
                <a:tab pos="469900" algn="l"/>
              </a:tabLst>
            </a:pPr>
            <a:r>
              <a:rPr dirty="0" sz="1100" spc="-5" b="1">
                <a:latin typeface="Arial"/>
                <a:cs typeface="Arial"/>
              </a:rPr>
              <a:t>Functional distribution of income (factor share distribution </a:t>
            </a:r>
            <a:r>
              <a:rPr dirty="0" sz="1100" b="1">
                <a:latin typeface="Arial"/>
                <a:cs typeface="Arial"/>
              </a:rPr>
              <a:t>of </a:t>
            </a:r>
            <a:r>
              <a:rPr dirty="0" sz="1100" spc="-5" b="1">
                <a:latin typeface="Arial"/>
                <a:cs typeface="Arial"/>
              </a:rPr>
              <a:t>income): </a:t>
            </a:r>
            <a:r>
              <a:rPr dirty="0" sz="1100" spc="-5">
                <a:latin typeface="Arial"/>
                <a:cs typeface="Arial"/>
              </a:rPr>
              <a:t>The  distribution of income to factors of production without regard to the ownership of the  factors.</a:t>
            </a:r>
            <a:endParaRPr sz="1100">
              <a:latin typeface="Arial"/>
              <a:cs typeface="Arial"/>
            </a:endParaRPr>
          </a:p>
          <a:p>
            <a:pPr algn="just" marL="469900" marR="8255" indent="-228600">
              <a:lnSpc>
                <a:spcPts val="1260"/>
              </a:lnSpc>
              <a:spcBef>
                <a:spcPts val="114"/>
              </a:spcBef>
              <a:buFont typeface="Symbol"/>
              <a:buChar char=""/>
              <a:tabLst>
                <a:tab pos="469900" algn="l"/>
              </a:tabLst>
            </a:pPr>
            <a:r>
              <a:rPr dirty="0" sz="1100" spc="-5" b="1">
                <a:latin typeface="Arial"/>
                <a:cs typeface="Arial"/>
              </a:rPr>
              <a:t>Factors of production: </a:t>
            </a:r>
            <a:r>
              <a:rPr dirty="0" sz="1100" spc="-5">
                <a:latin typeface="Arial"/>
                <a:cs typeface="Arial"/>
              </a:rPr>
              <a:t>Resources or inputs required to produce a good or a service,  such as land, labor, and</a:t>
            </a:r>
            <a:r>
              <a:rPr dirty="0" sz="1100" spc="10">
                <a:latin typeface="Arial"/>
                <a:cs typeface="Arial"/>
              </a:rPr>
              <a:t> </a:t>
            </a:r>
            <a:r>
              <a:rPr dirty="0" sz="1100" spc="-5">
                <a:latin typeface="Arial"/>
                <a:cs typeface="Arial"/>
              </a:rPr>
              <a:t>capital.</a:t>
            </a:r>
            <a:endParaRPr sz="1100">
              <a:latin typeface="Arial"/>
              <a:cs typeface="Arial"/>
            </a:endParaRPr>
          </a:p>
          <a:p>
            <a:pPr>
              <a:lnSpc>
                <a:spcPct val="100000"/>
              </a:lnSpc>
              <a:spcBef>
                <a:spcPts val="30"/>
              </a:spcBef>
            </a:pPr>
            <a:endParaRPr sz="1050">
              <a:latin typeface="Arial"/>
              <a:cs typeface="Arial"/>
            </a:endParaRPr>
          </a:p>
          <a:p>
            <a:pPr algn="just" marL="12700" marR="5080">
              <a:lnSpc>
                <a:spcPct val="95800"/>
              </a:lnSpc>
            </a:pPr>
            <a:r>
              <a:rPr dirty="0" sz="1100" spc="-5">
                <a:latin typeface="Arial"/>
                <a:cs typeface="Arial"/>
              </a:rPr>
              <a:t>Figure 5.5 provides a simple diagrammatic illustration of the traditional theory of functional  income distribution. We assume that there are only two factors of production: capital, which is a  fixed (given) factor, and labor, which is the only variable factor. Under competitive market  assumptions, the demand for labor will be determined by labor’s marginal product (i.e.,  additional workers will be hired up to the point where the value of their marginal product equals  their real wage). But in accordance with the principle of diminishing marginal products, this  demand</a:t>
            </a:r>
            <a:r>
              <a:rPr dirty="0" sz="1100" spc="250">
                <a:latin typeface="Arial"/>
                <a:cs typeface="Arial"/>
              </a:rPr>
              <a:t> </a:t>
            </a:r>
            <a:r>
              <a:rPr dirty="0" sz="1100" spc="-5">
                <a:latin typeface="Arial"/>
                <a:cs typeface="Arial"/>
              </a:rPr>
              <a:t>for</a:t>
            </a:r>
            <a:r>
              <a:rPr dirty="0" sz="1100" spc="254">
                <a:latin typeface="Arial"/>
                <a:cs typeface="Arial"/>
              </a:rPr>
              <a:t> </a:t>
            </a:r>
            <a:r>
              <a:rPr dirty="0" sz="1100" spc="-5">
                <a:latin typeface="Arial"/>
                <a:cs typeface="Arial"/>
              </a:rPr>
              <a:t>labor</a:t>
            </a:r>
            <a:r>
              <a:rPr dirty="0" sz="1100" spc="254">
                <a:latin typeface="Arial"/>
                <a:cs typeface="Arial"/>
              </a:rPr>
              <a:t> </a:t>
            </a:r>
            <a:r>
              <a:rPr dirty="0" sz="1100" spc="-5">
                <a:latin typeface="Arial"/>
                <a:cs typeface="Arial"/>
              </a:rPr>
              <a:t>will</a:t>
            </a:r>
            <a:r>
              <a:rPr dirty="0" sz="1100" spc="254">
                <a:latin typeface="Arial"/>
                <a:cs typeface="Arial"/>
              </a:rPr>
              <a:t> </a:t>
            </a:r>
            <a:r>
              <a:rPr dirty="0" sz="1100" spc="-5">
                <a:latin typeface="Arial"/>
                <a:cs typeface="Arial"/>
              </a:rPr>
              <a:t>be</a:t>
            </a:r>
            <a:r>
              <a:rPr dirty="0" sz="1100" spc="254">
                <a:latin typeface="Arial"/>
                <a:cs typeface="Arial"/>
              </a:rPr>
              <a:t> </a:t>
            </a:r>
            <a:r>
              <a:rPr dirty="0" sz="1100" spc="-5">
                <a:latin typeface="Arial"/>
                <a:cs typeface="Arial"/>
              </a:rPr>
              <a:t>a</a:t>
            </a:r>
            <a:r>
              <a:rPr dirty="0" sz="1100" spc="254">
                <a:latin typeface="Arial"/>
                <a:cs typeface="Arial"/>
              </a:rPr>
              <a:t> </a:t>
            </a:r>
            <a:r>
              <a:rPr dirty="0" sz="1100" spc="-5">
                <a:latin typeface="Arial"/>
                <a:cs typeface="Arial"/>
              </a:rPr>
              <a:t>declining</a:t>
            </a:r>
            <a:r>
              <a:rPr dirty="0" sz="1100" spc="254">
                <a:latin typeface="Arial"/>
                <a:cs typeface="Arial"/>
              </a:rPr>
              <a:t> </a:t>
            </a:r>
            <a:r>
              <a:rPr dirty="0" sz="1100" spc="-5">
                <a:latin typeface="Arial"/>
                <a:cs typeface="Arial"/>
              </a:rPr>
              <a:t>function</a:t>
            </a:r>
            <a:r>
              <a:rPr dirty="0" sz="1100" spc="250">
                <a:latin typeface="Arial"/>
                <a:cs typeface="Arial"/>
              </a:rPr>
              <a:t> </a:t>
            </a:r>
            <a:r>
              <a:rPr dirty="0" sz="1100" spc="-5">
                <a:latin typeface="Arial"/>
                <a:cs typeface="Arial"/>
              </a:rPr>
              <a:t>of</a:t>
            </a:r>
            <a:r>
              <a:rPr dirty="0" sz="1100" spc="254">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numbers</a:t>
            </a:r>
            <a:r>
              <a:rPr dirty="0" sz="1100" spc="254">
                <a:latin typeface="Arial"/>
                <a:cs typeface="Arial"/>
              </a:rPr>
              <a:t> </a:t>
            </a:r>
            <a:r>
              <a:rPr dirty="0" sz="1100" spc="-5">
                <a:latin typeface="Arial"/>
                <a:cs typeface="Arial"/>
              </a:rPr>
              <a:t>employed.</a:t>
            </a:r>
            <a:r>
              <a:rPr dirty="0" sz="1100" spc="254">
                <a:latin typeface="Arial"/>
                <a:cs typeface="Arial"/>
              </a:rPr>
              <a:t> </a:t>
            </a:r>
            <a:r>
              <a:rPr dirty="0" sz="1100" spc="-5">
                <a:latin typeface="Arial"/>
                <a:cs typeface="Arial"/>
              </a:rPr>
              <a:t>Such</a:t>
            </a:r>
            <a:r>
              <a:rPr dirty="0" sz="1100" spc="260">
                <a:latin typeface="Arial"/>
                <a:cs typeface="Arial"/>
              </a:rPr>
              <a:t> </a:t>
            </a:r>
            <a:r>
              <a:rPr dirty="0" sz="1100" spc="-5">
                <a:latin typeface="Arial"/>
                <a:cs typeface="Arial"/>
              </a:rPr>
              <a:t>a</a:t>
            </a:r>
            <a:r>
              <a:rPr dirty="0" sz="1100" spc="250">
                <a:latin typeface="Arial"/>
                <a:cs typeface="Arial"/>
              </a:rPr>
              <a:t> </a:t>
            </a:r>
            <a:r>
              <a:rPr dirty="0" sz="1100" spc="-5">
                <a:latin typeface="Arial"/>
                <a:cs typeface="Arial"/>
              </a:rPr>
              <a:t>negatively</a:t>
            </a:r>
            <a:endParaRPr sz="1100">
              <a:latin typeface="Arial"/>
              <a:cs typeface="Arial"/>
            </a:endParaRPr>
          </a:p>
        </p:txBody>
      </p:sp>
      <p:sp>
        <p:nvSpPr>
          <p:cNvPr id="8" name="object 8"/>
          <p:cNvSpPr/>
          <p:nvPr/>
        </p:nvSpPr>
        <p:spPr>
          <a:xfrm>
            <a:off x="1371600" y="2114550"/>
            <a:ext cx="2381250" cy="2457450"/>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4133850" y="2133600"/>
            <a:ext cx="2286000" cy="2285843"/>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53</a:t>
            </a:r>
            <a:endParaRPr sz="1100">
              <a:latin typeface="Carlito"/>
              <a:cs typeface="Carlit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145020"/>
          </a:xfrm>
          <a:prstGeom prst="rect">
            <a:avLst/>
          </a:prstGeom>
        </p:spPr>
        <p:txBody>
          <a:bodyPr wrap="square" lIns="0" tIns="19050" rIns="0" bIns="0" rtlCol="0" vert="horz">
            <a:spAutoFit/>
          </a:bodyPr>
          <a:lstStyle/>
          <a:p>
            <a:pPr algn="just" marL="12700" marR="3663315">
              <a:lnSpc>
                <a:spcPct val="95800"/>
              </a:lnSpc>
              <a:spcBef>
                <a:spcPts val="150"/>
              </a:spcBef>
            </a:pPr>
            <a:r>
              <a:rPr dirty="0" sz="1100" spc="-5">
                <a:latin typeface="Arial"/>
                <a:cs typeface="Arial"/>
              </a:rPr>
              <a:t>sloped labor demand curve is shown  by line DL in Figure 5.5. With a  traditional neoclassical upward-  sloping labor supply curve SL, the  equilibrium wage will be equal to WE  and the equilibrium level of  employment will be LE. Total  national output (which equals total  national income) will be represented  by the area 0RELE.5 This national  income will be distributed in two  shares: 0WEELE going to workers in  the form of wages and WERE  remaining as capitalist profits (the  return to owners of capital).Hence in  a competitive market economy </a:t>
            </a:r>
            <a:r>
              <a:rPr dirty="0" sz="1100">
                <a:latin typeface="Arial"/>
                <a:cs typeface="Arial"/>
              </a:rPr>
              <a:t>with  </a:t>
            </a:r>
            <a:r>
              <a:rPr dirty="0" sz="1100" spc="-5">
                <a:latin typeface="Arial"/>
                <a:cs typeface="Arial"/>
              </a:rPr>
              <a:t>constant-returns-to-scale production  functions</a:t>
            </a:r>
            <a:r>
              <a:rPr dirty="0" sz="1100" spc="95">
                <a:latin typeface="Arial"/>
                <a:cs typeface="Arial"/>
              </a:rPr>
              <a:t> </a:t>
            </a:r>
            <a:r>
              <a:rPr dirty="0" sz="1100" spc="-5">
                <a:latin typeface="Arial"/>
                <a:cs typeface="Arial"/>
              </a:rPr>
              <a:t>(a</a:t>
            </a:r>
            <a:r>
              <a:rPr dirty="0" sz="1100" spc="95">
                <a:latin typeface="Arial"/>
                <a:cs typeface="Arial"/>
              </a:rPr>
              <a:t> </a:t>
            </a:r>
            <a:r>
              <a:rPr dirty="0" sz="1100" spc="-5">
                <a:latin typeface="Arial"/>
                <a:cs typeface="Arial"/>
              </a:rPr>
              <a:t>doubling</a:t>
            </a:r>
            <a:r>
              <a:rPr dirty="0" sz="1100" spc="90">
                <a:latin typeface="Arial"/>
                <a:cs typeface="Arial"/>
              </a:rPr>
              <a:t> </a:t>
            </a:r>
            <a:r>
              <a:rPr dirty="0" sz="1100" spc="-5">
                <a:latin typeface="Arial"/>
                <a:cs typeface="Arial"/>
              </a:rPr>
              <a:t>of</a:t>
            </a:r>
            <a:r>
              <a:rPr dirty="0" sz="1100" spc="100">
                <a:latin typeface="Arial"/>
                <a:cs typeface="Arial"/>
              </a:rPr>
              <a:t> </a:t>
            </a:r>
            <a:r>
              <a:rPr dirty="0" sz="1100" spc="-5">
                <a:latin typeface="Arial"/>
                <a:cs typeface="Arial"/>
              </a:rPr>
              <a:t>all</a:t>
            </a:r>
            <a:r>
              <a:rPr dirty="0" sz="1100" spc="95">
                <a:latin typeface="Arial"/>
                <a:cs typeface="Arial"/>
              </a:rPr>
              <a:t> </a:t>
            </a:r>
            <a:r>
              <a:rPr dirty="0" sz="1100" spc="-5">
                <a:latin typeface="Arial"/>
                <a:cs typeface="Arial"/>
              </a:rPr>
              <a:t>inputs</a:t>
            </a:r>
            <a:endParaRPr sz="1100">
              <a:latin typeface="Arial"/>
              <a:cs typeface="Arial"/>
            </a:endParaRPr>
          </a:p>
          <a:p>
            <a:pPr algn="just" marL="12700" marR="5715">
              <a:lnSpc>
                <a:spcPct val="95800"/>
              </a:lnSpc>
              <a:spcBef>
                <a:spcPts val="5"/>
              </a:spcBef>
            </a:pPr>
            <a:r>
              <a:rPr dirty="0" sz="1100" spc="-5">
                <a:latin typeface="Arial"/>
                <a:cs typeface="Arial"/>
              </a:rPr>
              <a:t>doubles output), factor prices are determined by factor supply and demand curves, and factor  shares always combine to exhaust the total national product. Income is distributed by function—  laborers are paid wages, owners of </a:t>
            </a:r>
            <a:r>
              <a:rPr dirty="0" sz="1100">
                <a:latin typeface="Arial"/>
                <a:cs typeface="Arial"/>
              </a:rPr>
              <a:t>land </a:t>
            </a:r>
            <a:r>
              <a:rPr dirty="0" sz="1100" spc="-5">
                <a:latin typeface="Arial"/>
                <a:cs typeface="Arial"/>
              </a:rPr>
              <a:t>receive rents, and capitalists obtain profits. It is a neat  and logical theory in that each and every factor gets paid only in accordance with what it  contributes to national output, no more and no </a:t>
            </a:r>
            <a:r>
              <a:rPr dirty="0" sz="1100">
                <a:latin typeface="Arial"/>
                <a:cs typeface="Arial"/>
              </a:rPr>
              <a:t>less. </a:t>
            </a:r>
            <a:r>
              <a:rPr dirty="0" sz="1100" spc="-5">
                <a:latin typeface="Arial"/>
                <a:cs typeface="Arial"/>
              </a:rPr>
              <a:t>In fact, as you </a:t>
            </a:r>
            <a:r>
              <a:rPr dirty="0" sz="1100">
                <a:latin typeface="Arial"/>
                <a:cs typeface="Arial"/>
              </a:rPr>
              <a:t>may </a:t>
            </a:r>
            <a:r>
              <a:rPr dirty="0" sz="1100" spc="-5">
                <a:latin typeface="Arial"/>
                <a:cs typeface="Arial"/>
              </a:rPr>
              <a:t>recall from Chapter 3,  this model of income distribution is at the core of the Lewis theory of modern-sector growth  based on the reinvestment of rising capitalist</a:t>
            </a:r>
            <a:r>
              <a:rPr dirty="0" sz="1100" spc="30">
                <a:latin typeface="Arial"/>
                <a:cs typeface="Arial"/>
              </a:rPr>
              <a:t> </a:t>
            </a:r>
            <a:r>
              <a:rPr dirty="0" sz="1100" spc="-5">
                <a:latin typeface="Arial"/>
                <a:cs typeface="Arial"/>
              </a:rPr>
              <a:t>profits.</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5" b="1">
                <a:latin typeface="Arial"/>
                <a:cs typeface="Arial"/>
              </a:rPr>
              <a:t>MEASURING ABSOLUTE POVERTY</a:t>
            </a:r>
            <a:endParaRPr sz="1100">
              <a:latin typeface="Arial"/>
              <a:cs typeface="Arial"/>
            </a:endParaRPr>
          </a:p>
          <a:p>
            <a:pPr>
              <a:lnSpc>
                <a:spcPct val="100000"/>
              </a:lnSpc>
              <a:spcBef>
                <a:spcPts val="20"/>
              </a:spcBef>
            </a:pPr>
            <a:endParaRPr sz="1200">
              <a:latin typeface="Arial"/>
              <a:cs typeface="Arial"/>
            </a:endParaRPr>
          </a:p>
          <a:p>
            <a:pPr algn="just" marL="12700" marR="6985">
              <a:lnSpc>
                <a:spcPts val="1270"/>
              </a:lnSpc>
            </a:pPr>
            <a:r>
              <a:rPr dirty="0" sz="1100" spc="-5" b="1">
                <a:latin typeface="Arial"/>
                <a:cs typeface="Arial"/>
              </a:rPr>
              <a:t>Absolute poverty: </a:t>
            </a:r>
            <a:r>
              <a:rPr dirty="0" sz="1100" spc="-5">
                <a:latin typeface="Arial"/>
                <a:cs typeface="Arial"/>
              </a:rPr>
              <a:t>The situation of being unable or only barely able </a:t>
            </a:r>
            <a:r>
              <a:rPr dirty="0" sz="1100">
                <a:latin typeface="Arial"/>
                <a:cs typeface="Arial"/>
              </a:rPr>
              <a:t>to </a:t>
            </a:r>
            <a:r>
              <a:rPr dirty="0" sz="1100" spc="-5">
                <a:latin typeface="Arial"/>
                <a:cs typeface="Arial"/>
              </a:rPr>
              <a:t>meet the subsistence  essentials of food, clothing, and</a:t>
            </a:r>
            <a:r>
              <a:rPr dirty="0" sz="1100" spc="15">
                <a:latin typeface="Arial"/>
                <a:cs typeface="Arial"/>
              </a:rPr>
              <a:t> </a:t>
            </a:r>
            <a:r>
              <a:rPr dirty="0" sz="1100" spc="-5">
                <a:latin typeface="Arial"/>
                <a:cs typeface="Arial"/>
              </a:rPr>
              <a:t>shelter.</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HEADCOUNT INDEX</a:t>
            </a:r>
            <a:endParaRPr sz="1100">
              <a:latin typeface="Arial"/>
              <a:cs typeface="Arial"/>
            </a:endParaRPr>
          </a:p>
          <a:p>
            <a:pPr>
              <a:lnSpc>
                <a:spcPct val="100000"/>
              </a:lnSpc>
            </a:pPr>
            <a:endParaRPr sz="1100">
              <a:latin typeface="Arial"/>
              <a:cs typeface="Arial"/>
            </a:endParaRPr>
          </a:p>
          <a:p>
            <a:pPr algn="just" marL="12700" marR="6350">
              <a:lnSpc>
                <a:spcPct val="95700"/>
              </a:lnSpc>
            </a:pPr>
            <a:r>
              <a:rPr dirty="0" sz="1100" spc="-5">
                <a:latin typeface="Arial"/>
                <a:cs typeface="Arial"/>
              </a:rPr>
              <a:t>Absolute poverty is sometimes measured by the number, or “headcount,” H, of those whose  incomes fall below the absolute poverty line, Yp. When the headcount is taken as a fraction of  the total population, N, </a:t>
            </a:r>
            <a:r>
              <a:rPr dirty="0" sz="1100" spc="-10">
                <a:latin typeface="Arial"/>
                <a:cs typeface="Arial"/>
              </a:rPr>
              <a:t>we </a:t>
            </a:r>
            <a:r>
              <a:rPr dirty="0" sz="1100" spc="-5">
                <a:latin typeface="Arial"/>
                <a:cs typeface="Arial"/>
              </a:rPr>
              <a:t>define the headcount index, H/N. Headcount index is </a:t>
            </a:r>
            <a:r>
              <a:rPr dirty="0" sz="1100">
                <a:latin typeface="Arial"/>
                <a:cs typeface="Arial"/>
              </a:rPr>
              <a:t>t</a:t>
            </a:r>
            <a:r>
              <a:rPr dirty="0" sz="1200">
                <a:latin typeface="Arial"/>
                <a:cs typeface="Arial"/>
              </a:rPr>
              <a:t>he </a:t>
            </a:r>
            <a:r>
              <a:rPr dirty="0" sz="1200" spc="-5">
                <a:latin typeface="Arial"/>
                <a:cs typeface="Arial"/>
              </a:rPr>
              <a:t>proportion  of </a:t>
            </a:r>
            <a:r>
              <a:rPr dirty="0" sz="1200">
                <a:latin typeface="Arial"/>
                <a:cs typeface="Arial"/>
              </a:rPr>
              <a:t>a </a:t>
            </a:r>
            <a:r>
              <a:rPr dirty="0" sz="1200" spc="-5">
                <a:latin typeface="Arial"/>
                <a:cs typeface="Arial"/>
              </a:rPr>
              <a:t>country’s population living below the poverty</a:t>
            </a:r>
            <a:r>
              <a:rPr dirty="0" sz="1200" spc="20">
                <a:latin typeface="Arial"/>
                <a:cs typeface="Arial"/>
              </a:rPr>
              <a:t> </a:t>
            </a:r>
            <a:r>
              <a:rPr dirty="0" sz="1200" spc="-5">
                <a:latin typeface="Arial"/>
                <a:cs typeface="Arial"/>
              </a:rPr>
              <a:t>line.</a:t>
            </a:r>
            <a:endParaRPr sz="12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TOTAL POVERTY GAP</a:t>
            </a:r>
            <a:r>
              <a:rPr dirty="0" sz="1100" spc="10" b="1">
                <a:latin typeface="Arial"/>
                <a:cs typeface="Arial"/>
              </a:rPr>
              <a:t> </a:t>
            </a:r>
            <a:r>
              <a:rPr dirty="0" sz="1100" spc="-5" b="1">
                <a:latin typeface="Arial"/>
                <a:cs typeface="Arial"/>
              </a:rPr>
              <a:t>(TPG)</a:t>
            </a:r>
            <a:endParaRPr sz="1100">
              <a:latin typeface="Arial"/>
              <a:cs typeface="Arial"/>
            </a:endParaRPr>
          </a:p>
          <a:p>
            <a:pPr>
              <a:lnSpc>
                <a:spcPct val="100000"/>
              </a:lnSpc>
              <a:spcBef>
                <a:spcPts val="20"/>
              </a:spcBef>
            </a:pPr>
            <a:endParaRPr sz="1100">
              <a:latin typeface="Arial"/>
              <a:cs typeface="Arial"/>
            </a:endParaRPr>
          </a:p>
          <a:p>
            <a:pPr algn="just" marL="12700" marR="5080">
              <a:lnSpc>
                <a:spcPts val="1270"/>
              </a:lnSpc>
              <a:spcBef>
                <a:spcPts val="5"/>
              </a:spcBef>
            </a:pPr>
            <a:r>
              <a:rPr dirty="0" sz="1100" spc="-5">
                <a:latin typeface="Arial"/>
                <a:cs typeface="Arial"/>
              </a:rPr>
              <a:t>Economists therefore attempt to calculate a total poverty </a:t>
            </a:r>
            <a:r>
              <a:rPr dirty="0" sz="1100">
                <a:latin typeface="Arial"/>
                <a:cs typeface="Arial"/>
              </a:rPr>
              <a:t>gap </a:t>
            </a:r>
            <a:r>
              <a:rPr dirty="0" sz="1100" spc="-5">
                <a:latin typeface="Arial"/>
                <a:cs typeface="Arial"/>
              </a:rPr>
              <a:t>(TPG) that measures the total  amount of income necessary to raise everyone who is below the poverty line up to that line.  Figure 5.6 illustrates how we could measure the total poverty gap as the shaded area between  poverty line, PV, and the annual income profile of the</a:t>
            </a:r>
            <a:r>
              <a:rPr dirty="0" sz="1100" spc="65">
                <a:latin typeface="Arial"/>
                <a:cs typeface="Arial"/>
              </a:rPr>
              <a:t> </a:t>
            </a:r>
            <a:r>
              <a:rPr dirty="0" sz="1100" spc="-5">
                <a:latin typeface="Arial"/>
                <a:cs typeface="Arial"/>
              </a:rPr>
              <a:t>population.</a:t>
            </a:r>
            <a:endParaRPr sz="1100">
              <a:latin typeface="Arial"/>
              <a:cs typeface="Arial"/>
            </a:endParaRPr>
          </a:p>
        </p:txBody>
      </p:sp>
      <p:sp>
        <p:nvSpPr>
          <p:cNvPr id="7" name="object 7"/>
          <p:cNvSpPr/>
          <p:nvPr/>
        </p:nvSpPr>
        <p:spPr>
          <a:xfrm>
            <a:off x="3314700" y="952500"/>
            <a:ext cx="3524250" cy="274320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54</a:t>
            </a:r>
            <a:endParaRPr sz="1100">
              <a:latin typeface="Carlito"/>
              <a:cs typeface="Carlito"/>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289806"/>
            <a:ext cx="5969635" cy="1638300"/>
          </a:xfrm>
          <a:prstGeom prst="rect">
            <a:avLst/>
          </a:prstGeom>
        </p:spPr>
        <p:txBody>
          <a:bodyPr wrap="square" lIns="0" tIns="24130" rIns="0" bIns="0" rtlCol="0" vert="horz">
            <a:spAutoFit/>
          </a:bodyPr>
          <a:lstStyle/>
          <a:p>
            <a:pPr algn="just" marL="12700" marR="6350">
              <a:lnSpc>
                <a:spcPts val="1260"/>
              </a:lnSpc>
              <a:spcBef>
                <a:spcPts val="190"/>
              </a:spcBef>
            </a:pPr>
            <a:r>
              <a:rPr dirty="0" sz="1100" spc="-5">
                <a:latin typeface="Arial"/>
                <a:cs typeface="Arial"/>
              </a:rPr>
              <a:t>The sum of the difference between the poverty </a:t>
            </a:r>
            <a:r>
              <a:rPr dirty="0" sz="1100">
                <a:latin typeface="Arial"/>
                <a:cs typeface="Arial"/>
              </a:rPr>
              <a:t>line </a:t>
            </a:r>
            <a:r>
              <a:rPr dirty="0" sz="1100" spc="-5">
                <a:latin typeface="Arial"/>
                <a:cs typeface="Arial"/>
              </a:rPr>
              <a:t>and actual income levels of all people living  below that</a:t>
            </a:r>
            <a:r>
              <a:rPr dirty="0" sz="1100">
                <a:latin typeface="Arial"/>
                <a:cs typeface="Arial"/>
              </a:rPr>
              <a:t> </a:t>
            </a:r>
            <a:r>
              <a:rPr dirty="0" sz="1100" spc="-5">
                <a:latin typeface="Arial"/>
                <a:cs typeface="Arial"/>
              </a:rPr>
              <a:t>line.</a:t>
            </a:r>
            <a:endParaRPr sz="1100">
              <a:latin typeface="Arial"/>
              <a:cs typeface="Arial"/>
            </a:endParaRPr>
          </a:p>
          <a:p>
            <a:pPr>
              <a:lnSpc>
                <a:spcPct val="100000"/>
              </a:lnSpc>
              <a:spcBef>
                <a:spcPts val="55"/>
              </a:spcBef>
            </a:pPr>
            <a:endParaRPr sz="1050">
              <a:latin typeface="Arial"/>
              <a:cs typeface="Arial"/>
            </a:endParaRPr>
          </a:p>
          <a:p>
            <a:pPr algn="just" marL="12700" marR="5080">
              <a:lnSpc>
                <a:spcPts val="1270"/>
              </a:lnSpc>
            </a:pPr>
            <a:r>
              <a:rPr dirty="0" sz="1100" spc="-5">
                <a:latin typeface="Arial"/>
                <a:cs typeface="Arial"/>
              </a:rPr>
              <a:t>Even though in both country A and country B, 50% of the population falls below the same  poverty line, the TPG in country A is greater than in country B. Therefore, it will take more of an  effort to eliminate absolute poverty in country</a:t>
            </a:r>
            <a:r>
              <a:rPr dirty="0" sz="1100" spc="40">
                <a:latin typeface="Arial"/>
                <a:cs typeface="Arial"/>
              </a:rPr>
              <a:t> </a:t>
            </a:r>
            <a:r>
              <a:rPr dirty="0" sz="1100" spc="-5">
                <a:latin typeface="Arial"/>
                <a:cs typeface="Arial"/>
              </a:rPr>
              <a:t>A.</a:t>
            </a:r>
            <a:endParaRPr sz="1100">
              <a:latin typeface="Arial"/>
              <a:cs typeface="Arial"/>
            </a:endParaRPr>
          </a:p>
          <a:p>
            <a:pPr>
              <a:lnSpc>
                <a:spcPct val="100000"/>
              </a:lnSpc>
              <a:spcBef>
                <a:spcPts val="40"/>
              </a:spcBef>
            </a:pPr>
            <a:endParaRPr sz="1050">
              <a:latin typeface="Arial"/>
              <a:cs typeface="Arial"/>
            </a:endParaRPr>
          </a:p>
          <a:p>
            <a:pPr algn="just" marL="12700" marR="5715">
              <a:lnSpc>
                <a:spcPts val="1270"/>
              </a:lnSpc>
            </a:pPr>
            <a:r>
              <a:rPr dirty="0" sz="1100" spc="-5">
                <a:latin typeface="Arial"/>
                <a:cs typeface="Arial"/>
              </a:rPr>
              <a:t>The TPG—the extent to which the incomes of </a:t>
            </a:r>
            <a:r>
              <a:rPr dirty="0" sz="1100">
                <a:latin typeface="Arial"/>
                <a:cs typeface="Arial"/>
              </a:rPr>
              <a:t>the </a:t>
            </a:r>
            <a:r>
              <a:rPr dirty="0" sz="1100" spc="-5">
                <a:latin typeface="Arial"/>
                <a:cs typeface="Arial"/>
              </a:rPr>
              <a:t>poor lie below the poverty line—is found by  adding up the amounts by which each poor person’s income, Yi, falls below the</a:t>
            </a:r>
            <a:r>
              <a:rPr dirty="0" sz="1100" spc="185">
                <a:latin typeface="Arial"/>
                <a:cs typeface="Arial"/>
              </a:rPr>
              <a:t> </a:t>
            </a:r>
            <a:r>
              <a:rPr dirty="0" sz="1100" spc="-5">
                <a:latin typeface="Arial"/>
                <a:cs typeface="Arial"/>
              </a:rPr>
              <a:t>absolute  poverty line, , as</a:t>
            </a:r>
            <a:r>
              <a:rPr dirty="0" sz="1100" spc="10">
                <a:latin typeface="Arial"/>
                <a:cs typeface="Arial"/>
              </a:rPr>
              <a:t> </a:t>
            </a:r>
            <a:r>
              <a:rPr dirty="0" sz="1100" spc="-5">
                <a:latin typeface="Arial"/>
                <a:cs typeface="Arial"/>
              </a:rPr>
              <a:t>follows:</a:t>
            </a:r>
            <a:endParaRPr sz="1100">
              <a:latin typeface="Arial"/>
              <a:cs typeface="Arial"/>
            </a:endParaRPr>
          </a:p>
        </p:txBody>
      </p:sp>
      <p:sp>
        <p:nvSpPr>
          <p:cNvPr id="7" name="object 7"/>
          <p:cNvSpPr/>
          <p:nvPr/>
        </p:nvSpPr>
        <p:spPr>
          <a:xfrm>
            <a:off x="914400" y="4983479"/>
            <a:ext cx="1257300" cy="525779"/>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901699" y="5648207"/>
            <a:ext cx="2199005" cy="193040"/>
          </a:xfrm>
          <a:prstGeom prst="rect">
            <a:avLst/>
          </a:prstGeom>
        </p:spPr>
        <p:txBody>
          <a:bodyPr wrap="square" lIns="0" tIns="12065" rIns="0" bIns="0" rtlCol="0" vert="horz">
            <a:spAutoFit/>
          </a:bodyPr>
          <a:lstStyle/>
          <a:p>
            <a:pPr marL="12700">
              <a:lnSpc>
                <a:spcPct val="100000"/>
              </a:lnSpc>
              <a:spcBef>
                <a:spcPts val="95"/>
              </a:spcBef>
            </a:pPr>
            <a:r>
              <a:rPr dirty="0" sz="1100" spc="-10" b="1">
                <a:latin typeface="Arial"/>
                <a:cs typeface="Arial"/>
              </a:rPr>
              <a:t>AVERAGE </a:t>
            </a:r>
            <a:r>
              <a:rPr dirty="0" sz="1100" spc="-5" b="1">
                <a:latin typeface="Arial"/>
                <a:cs typeface="Arial"/>
              </a:rPr>
              <a:t>POVERTY GAP</a:t>
            </a:r>
            <a:r>
              <a:rPr dirty="0" sz="1100" spc="-15" b="1">
                <a:latin typeface="Arial"/>
                <a:cs typeface="Arial"/>
              </a:rPr>
              <a:t> </a:t>
            </a:r>
            <a:r>
              <a:rPr dirty="0" sz="1100" spc="-5" b="1">
                <a:latin typeface="Arial"/>
                <a:cs typeface="Arial"/>
              </a:rPr>
              <a:t>(APG)</a:t>
            </a:r>
            <a:endParaRPr sz="1100">
              <a:latin typeface="Arial"/>
              <a:cs typeface="Arial"/>
            </a:endParaRPr>
          </a:p>
        </p:txBody>
      </p:sp>
      <p:sp>
        <p:nvSpPr>
          <p:cNvPr id="9" name="object 9"/>
          <p:cNvSpPr/>
          <p:nvPr/>
        </p:nvSpPr>
        <p:spPr>
          <a:xfrm>
            <a:off x="914400" y="6062471"/>
            <a:ext cx="781050" cy="347472"/>
          </a:xfrm>
          <a:prstGeom prst="rect">
            <a:avLst/>
          </a:prstGeom>
          <a:blipFill>
            <a:blip r:embed="rId3" cstate="print"/>
            <a:stretch>
              <a:fillRect/>
            </a:stretch>
          </a:blipFill>
        </p:spPr>
        <p:txBody>
          <a:bodyPr wrap="square" lIns="0" tIns="0" rIns="0" bIns="0" rtlCol="0"/>
          <a:lstStyle/>
          <a:p/>
        </p:txBody>
      </p:sp>
      <p:sp>
        <p:nvSpPr>
          <p:cNvPr id="10" name="object 10"/>
          <p:cNvSpPr txBox="1"/>
          <p:nvPr/>
        </p:nvSpPr>
        <p:spPr>
          <a:xfrm>
            <a:off x="901685" y="6558025"/>
            <a:ext cx="3361690" cy="854710"/>
          </a:xfrm>
          <a:prstGeom prst="rect">
            <a:avLst/>
          </a:prstGeom>
        </p:spPr>
        <p:txBody>
          <a:bodyPr wrap="square" lIns="0" tIns="12065" rIns="0" bIns="0" rtlCol="0" vert="horz">
            <a:spAutoFit/>
          </a:bodyPr>
          <a:lstStyle/>
          <a:p>
            <a:pPr marL="469900" indent="-229235">
              <a:lnSpc>
                <a:spcPct val="100000"/>
              </a:lnSpc>
              <a:spcBef>
                <a:spcPts val="95"/>
              </a:spcBef>
              <a:buFont typeface="Symbol"/>
              <a:buChar char=""/>
              <a:tabLst>
                <a:tab pos="469265" algn="l"/>
                <a:tab pos="470534" algn="l"/>
              </a:tabLst>
            </a:pPr>
            <a:r>
              <a:rPr dirty="0" sz="1100" spc="-5">
                <a:latin typeface="Arial"/>
                <a:cs typeface="Arial"/>
              </a:rPr>
              <a:t>Where N is number of persons in the</a:t>
            </a:r>
            <a:r>
              <a:rPr dirty="0" sz="1100" spc="65">
                <a:latin typeface="Arial"/>
                <a:cs typeface="Arial"/>
              </a:rPr>
              <a:t> </a:t>
            </a:r>
            <a:r>
              <a:rPr dirty="0" sz="1100" spc="-5">
                <a:latin typeface="Arial"/>
                <a:cs typeface="Arial"/>
              </a:rPr>
              <a:t>economy</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TPG is total poverty</a:t>
            </a:r>
            <a:r>
              <a:rPr dirty="0" sz="1100" spc="10">
                <a:latin typeface="Arial"/>
                <a:cs typeface="Arial"/>
              </a:rPr>
              <a:t> </a:t>
            </a:r>
            <a:r>
              <a:rPr dirty="0" sz="1100" spc="-5">
                <a:latin typeface="Arial"/>
                <a:cs typeface="Arial"/>
              </a:rPr>
              <a:t>gap</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Note: normalized poverty gap, NPG =</a:t>
            </a:r>
            <a:r>
              <a:rPr dirty="0" sz="1100" spc="55">
                <a:latin typeface="Arial"/>
                <a:cs typeface="Arial"/>
              </a:rPr>
              <a:t> </a:t>
            </a:r>
            <a:r>
              <a:rPr dirty="0" sz="1100" spc="-5">
                <a:latin typeface="Arial"/>
                <a:cs typeface="Arial"/>
              </a:rPr>
              <a:t>APG/Yp</a:t>
            </a:r>
            <a:endParaRPr sz="1100">
              <a:latin typeface="Arial"/>
              <a:cs typeface="Arial"/>
            </a:endParaRPr>
          </a:p>
          <a:p>
            <a:pPr>
              <a:lnSpc>
                <a:spcPct val="100000"/>
              </a:lnSpc>
            </a:pPr>
            <a:endParaRPr sz="1050">
              <a:latin typeface="Arial"/>
              <a:cs typeface="Arial"/>
            </a:endParaRPr>
          </a:p>
          <a:p>
            <a:pPr marL="12700">
              <a:lnSpc>
                <a:spcPct val="100000"/>
              </a:lnSpc>
            </a:pPr>
            <a:r>
              <a:rPr dirty="0" sz="1100" spc="-5" b="1">
                <a:latin typeface="Arial"/>
                <a:cs typeface="Arial"/>
              </a:rPr>
              <a:t>AVERAGE INCOME SHORTFALL</a:t>
            </a:r>
            <a:r>
              <a:rPr dirty="0" sz="1100" spc="15" b="1">
                <a:latin typeface="Arial"/>
                <a:cs typeface="Arial"/>
              </a:rPr>
              <a:t> </a:t>
            </a:r>
            <a:r>
              <a:rPr dirty="0" sz="1100" spc="-5" b="1">
                <a:latin typeface="Arial"/>
                <a:cs typeface="Arial"/>
              </a:rPr>
              <a:t>(AIS)</a:t>
            </a:r>
            <a:endParaRPr sz="1100">
              <a:latin typeface="Arial"/>
              <a:cs typeface="Arial"/>
            </a:endParaRPr>
          </a:p>
        </p:txBody>
      </p:sp>
      <p:sp>
        <p:nvSpPr>
          <p:cNvPr id="11" name="object 11"/>
          <p:cNvSpPr/>
          <p:nvPr/>
        </p:nvSpPr>
        <p:spPr>
          <a:xfrm>
            <a:off x="914400" y="7635240"/>
            <a:ext cx="723900" cy="346710"/>
          </a:xfrm>
          <a:prstGeom prst="rect">
            <a:avLst/>
          </a:prstGeom>
          <a:blipFill>
            <a:blip r:embed="rId4" cstate="print"/>
            <a:stretch>
              <a:fillRect/>
            </a:stretch>
          </a:blipFill>
        </p:spPr>
        <p:txBody>
          <a:bodyPr wrap="square" lIns="0" tIns="0" rIns="0" bIns="0" rtlCol="0"/>
          <a:lstStyle/>
          <a:p/>
        </p:txBody>
      </p:sp>
      <p:sp>
        <p:nvSpPr>
          <p:cNvPr id="12" name="object 12"/>
          <p:cNvSpPr txBox="1"/>
          <p:nvPr/>
        </p:nvSpPr>
        <p:spPr>
          <a:xfrm>
            <a:off x="1130287" y="8130030"/>
            <a:ext cx="3253740" cy="532765"/>
          </a:xfrm>
          <a:prstGeom prst="rect">
            <a:avLst/>
          </a:prstGeom>
        </p:spPr>
        <p:txBody>
          <a:bodyPr wrap="square" lIns="0" tIns="12065" rIns="0" bIns="0" rtlCol="0" vert="horz">
            <a:spAutoFit/>
          </a:bodyPr>
          <a:lstStyle/>
          <a:p>
            <a:pPr marL="241300" indent="-229235">
              <a:lnSpc>
                <a:spcPct val="100000"/>
              </a:lnSpc>
              <a:spcBef>
                <a:spcPts val="95"/>
              </a:spcBef>
              <a:buFont typeface="Symbol"/>
              <a:buChar char=""/>
              <a:tabLst>
                <a:tab pos="240665" algn="l"/>
                <a:tab pos="241935" algn="l"/>
              </a:tabLst>
            </a:pPr>
            <a:r>
              <a:rPr dirty="0" sz="1100" spc="-5">
                <a:latin typeface="Arial"/>
                <a:cs typeface="Arial"/>
              </a:rPr>
              <a:t>Where H is number of poor</a:t>
            </a:r>
            <a:r>
              <a:rPr dirty="0" sz="1100" spc="25">
                <a:latin typeface="Arial"/>
                <a:cs typeface="Arial"/>
              </a:rPr>
              <a:t> </a:t>
            </a:r>
            <a:r>
              <a:rPr dirty="0" sz="1100" spc="-5">
                <a:latin typeface="Arial"/>
                <a:cs typeface="Arial"/>
              </a:rPr>
              <a:t>persons</a:t>
            </a:r>
            <a:endParaRPr sz="1100">
              <a:latin typeface="Arial"/>
              <a:cs typeface="Arial"/>
            </a:endParaRPr>
          </a:p>
          <a:p>
            <a:pPr marL="241300" indent="-229235">
              <a:lnSpc>
                <a:spcPct val="100000"/>
              </a:lnSpc>
              <a:spcBef>
                <a:spcPts val="20"/>
              </a:spcBef>
              <a:buFont typeface="Symbol"/>
              <a:buChar char=""/>
              <a:tabLst>
                <a:tab pos="240665" algn="l"/>
                <a:tab pos="241935" algn="l"/>
              </a:tabLst>
            </a:pPr>
            <a:r>
              <a:rPr dirty="0" sz="1100" spc="-5">
                <a:latin typeface="Arial"/>
                <a:cs typeface="Arial"/>
              </a:rPr>
              <a:t>TPG is total poverty</a:t>
            </a:r>
            <a:r>
              <a:rPr dirty="0" sz="1100" spc="10">
                <a:latin typeface="Arial"/>
                <a:cs typeface="Arial"/>
              </a:rPr>
              <a:t> </a:t>
            </a:r>
            <a:r>
              <a:rPr dirty="0" sz="1100" spc="-5">
                <a:latin typeface="Arial"/>
                <a:cs typeface="Arial"/>
              </a:rPr>
              <a:t>gap</a:t>
            </a:r>
            <a:endParaRPr sz="1100">
              <a:latin typeface="Arial"/>
              <a:cs typeface="Arial"/>
            </a:endParaRPr>
          </a:p>
          <a:p>
            <a:pPr marL="241300" indent="-229235">
              <a:lnSpc>
                <a:spcPct val="100000"/>
              </a:lnSpc>
              <a:spcBef>
                <a:spcPts val="20"/>
              </a:spcBef>
              <a:buFont typeface="Symbol"/>
              <a:buChar char=""/>
              <a:tabLst>
                <a:tab pos="240665" algn="l"/>
                <a:tab pos="241935" algn="l"/>
              </a:tabLst>
            </a:pPr>
            <a:r>
              <a:rPr dirty="0" sz="1100" spc="-5">
                <a:latin typeface="Arial"/>
                <a:cs typeface="Arial"/>
              </a:rPr>
              <a:t>Note: Normalized income shortfall, NIS =</a:t>
            </a:r>
            <a:r>
              <a:rPr dirty="0" sz="1100" spc="75">
                <a:latin typeface="Arial"/>
                <a:cs typeface="Arial"/>
              </a:rPr>
              <a:t> </a:t>
            </a:r>
            <a:r>
              <a:rPr dirty="0" sz="1100" spc="-5">
                <a:latin typeface="Arial"/>
                <a:cs typeface="Arial"/>
              </a:rPr>
              <a:t>AIS/Yp</a:t>
            </a:r>
            <a:endParaRPr sz="1100">
              <a:latin typeface="Arial"/>
              <a:cs typeface="Arial"/>
            </a:endParaRPr>
          </a:p>
        </p:txBody>
      </p:sp>
      <p:sp>
        <p:nvSpPr>
          <p:cNvPr id="13" name="object 13"/>
          <p:cNvSpPr/>
          <p:nvPr/>
        </p:nvSpPr>
        <p:spPr>
          <a:xfrm>
            <a:off x="1867661" y="929639"/>
            <a:ext cx="4076700" cy="2028692"/>
          </a:xfrm>
          <a:prstGeom prst="rect">
            <a:avLst/>
          </a:prstGeom>
          <a:blipFill>
            <a:blip r:embed="rId5" cstate="print"/>
            <a:stretch>
              <a:fillRect/>
            </a:stretch>
          </a:blipFill>
        </p:spPr>
        <p:txBody>
          <a:bodyPr wrap="square" lIns="0" tIns="0" rIns="0" bIns="0" rtlCol="0"/>
          <a:lstStyle/>
          <a:p/>
        </p:txBody>
      </p:sp>
      <p:sp>
        <p:nvSpPr>
          <p:cNvPr id="14" name="object 14"/>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5" name="object 15"/>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55</a:t>
            </a:r>
            <a:endParaRPr sz="1100">
              <a:latin typeface="Carlito"/>
              <a:cs typeface="Carlito"/>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3216275" cy="83439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FOSTER-GREER-THORBECKE </a:t>
            </a:r>
            <a:r>
              <a:rPr dirty="0" sz="1100" b="1">
                <a:latin typeface="Arial"/>
                <a:cs typeface="Arial"/>
              </a:rPr>
              <a:t>(FGT)</a:t>
            </a:r>
            <a:r>
              <a:rPr dirty="0" sz="1100" spc="5" b="1">
                <a:latin typeface="Arial"/>
                <a:cs typeface="Arial"/>
              </a:rPr>
              <a:t> </a:t>
            </a:r>
            <a:r>
              <a:rPr dirty="0" sz="1100" spc="-5" b="1">
                <a:latin typeface="Arial"/>
                <a:cs typeface="Arial"/>
              </a:rPr>
              <a:t>INDEX</a:t>
            </a:r>
            <a:endParaRPr sz="1100">
              <a:latin typeface="Arial"/>
              <a:cs typeface="Arial"/>
            </a:endParaRPr>
          </a:p>
          <a:p>
            <a:pPr marL="12700" marR="5080">
              <a:lnSpc>
                <a:spcPct val="191400"/>
              </a:lnSpc>
            </a:pPr>
            <a:r>
              <a:rPr dirty="0" sz="1100" spc="-5">
                <a:latin typeface="Arial"/>
                <a:cs typeface="Arial"/>
              </a:rPr>
              <a:t>A class of measures of the level of absolute poverty  The Pα index is given</a:t>
            </a:r>
            <a:r>
              <a:rPr dirty="0" sz="1100" spc="15">
                <a:latin typeface="Arial"/>
                <a:cs typeface="Arial"/>
              </a:rPr>
              <a:t> </a:t>
            </a:r>
            <a:r>
              <a:rPr dirty="0" sz="1100" spc="-5">
                <a:latin typeface="Arial"/>
                <a:cs typeface="Arial"/>
              </a:rPr>
              <a:t>by</a:t>
            </a:r>
            <a:endParaRPr sz="1100">
              <a:latin typeface="Arial"/>
              <a:cs typeface="Arial"/>
            </a:endParaRPr>
          </a:p>
        </p:txBody>
      </p:sp>
      <p:sp>
        <p:nvSpPr>
          <p:cNvPr id="7" name="object 7"/>
          <p:cNvSpPr/>
          <p:nvPr/>
        </p:nvSpPr>
        <p:spPr>
          <a:xfrm>
            <a:off x="914400" y="1783079"/>
            <a:ext cx="1428750" cy="525018"/>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863572" y="2446278"/>
            <a:ext cx="6019165" cy="1156970"/>
          </a:xfrm>
          <a:prstGeom prst="rect">
            <a:avLst/>
          </a:prstGeom>
        </p:spPr>
        <p:txBody>
          <a:bodyPr wrap="square" lIns="0" tIns="19050" rIns="0" bIns="0" rtlCol="0" vert="horz">
            <a:spAutoFit/>
          </a:bodyPr>
          <a:lstStyle/>
          <a:p>
            <a:pPr algn="just" marL="50800" marR="17780">
              <a:lnSpc>
                <a:spcPct val="95800"/>
              </a:lnSpc>
              <a:spcBef>
                <a:spcPts val="150"/>
              </a:spcBef>
            </a:pPr>
            <a:r>
              <a:rPr dirty="0" sz="1100" spc="-5">
                <a:latin typeface="Arial"/>
                <a:cs typeface="Arial"/>
              </a:rPr>
              <a:t>Where Yi is the income of the ith poor person, Yp is the poverty line, and N is the population.  Depending on the value of α, the Pα index </a:t>
            </a:r>
            <a:r>
              <a:rPr dirty="0" sz="1100">
                <a:latin typeface="Arial"/>
                <a:cs typeface="Arial"/>
              </a:rPr>
              <a:t>takes </a:t>
            </a:r>
            <a:r>
              <a:rPr dirty="0" sz="1100" spc="-5">
                <a:latin typeface="Arial"/>
                <a:cs typeface="Arial"/>
              </a:rPr>
              <a:t>on different forms. If α= 0, the numerator is  equal to H, and we get the headcount ratio, H/N. If α= 1, we get the normalized poverty gap. If  α= 2, the impact on measured poverty of a gain in income by a poor person increases in  proportion to the distance of the person from the poverty</a:t>
            </a:r>
            <a:r>
              <a:rPr dirty="0" sz="1100" spc="55">
                <a:latin typeface="Arial"/>
                <a:cs typeface="Arial"/>
              </a:rPr>
              <a:t> </a:t>
            </a:r>
            <a:r>
              <a:rPr dirty="0" sz="1100" spc="-5">
                <a:latin typeface="Arial"/>
                <a:cs typeface="Arial"/>
              </a:rPr>
              <a:t>line.</a:t>
            </a:r>
            <a:endParaRPr sz="1100">
              <a:latin typeface="Arial"/>
              <a:cs typeface="Arial"/>
            </a:endParaRPr>
          </a:p>
          <a:p>
            <a:pPr>
              <a:lnSpc>
                <a:spcPct val="100000"/>
              </a:lnSpc>
              <a:spcBef>
                <a:spcPts val="5"/>
              </a:spcBef>
            </a:pPr>
            <a:endParaRPr sz="1050">
              <a:latin typeface="Arial"/>
              <a:cs typeface="Arial"/>
            </a:endParaRPr>
          </a:p>
          <a:p>
            <a:pPr algn="just" marL="50800">
              <a:lnSpc>
                <a:spcPct val="100000"/>
              </a:lnSpc>
            </a:pPr>
            <a:r>
              <a:rPr dirty="0" sz="1100" spc="-5">
                <a:latin typeface="Arial"/>
                <a:cs typeface="Arial"/>
              </a:rPr>
              <a:t>If α = 2, the resulting measure, P</a:t>
            </a:r>
            <a:r>
              <a:rPr dirty="0" baseline="-11904" sz="1050" spc="-7">
                <a:latin typeface="Arial"/>
                <a:cs typeface="Arial"/>
              </a:rPr>
              <a:t>2</a:t>
            </a:r>
            <a:r>
              <a:rPr dirty="0" sz="1100" spc="-5">
                <a:latin typeface="Arial"/>
                <a:cs typeface="Arial"/>
              </a:rPr>
              <a:t>, can be rewritten</a:t>
            </a:r>
            <a:r>
              <a:rPr dirty="0" sz="1100" spc="55">
                <a:latin typeface="Arial"/>
                <a:cs typeface="Arial"/>
              </a:rPr>
              <a:t> </a:t>
            </a:r>
            <a:r>
              <a:rPr dirty="0" sz="1100" spc="-5">
                <a:latin typeface="Arial"/>
                <a:cs typeface="Arial"/>
              </a:rPr>
              <a:t>as:</a:t>
            </a:r>
            <a:endParaRPr sz="1100">
              <a:latin typeface="Arial"/>
              <a:cs typeface="Arial"/>
            </a:endParaRPr>
          </a:p>
        </p:txBody>
      </p:sp>
      <p:sp>
        <p:nvSpPr>
          <p:cNvPr id="9" name="object 9"/>
          <p:cNvSpPr/>
          <p:nvPr/>
        </p:nvSpPr>
        <p:spPr>
          <a:xfrm>
            <a:off x="914400" y="3664458"/>
            <a:ext cx="2410205" cy="348234"/>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56</a:t>
            </a:r>
            <a:endParaRPr sz="1100">
              <a:latin typeface="Carlito"/>
              <a:cs typeface="Carlito"/>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txBox="1"/>
          <p:nvPr/>
        </p:nvSpPr>
        <p:spPr>
          <a:xfrm>
            <a:off x="901686" y="891794"/>
            <a:ext cx="5969635" cy="429006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08</a:t>
            </a:r>
            <a:endParaRPr sz="1100">
              <a:latin typeface="Arial"/>
              <a:cs typeface="Arial"/>
            </a:endParaRPr>
          </a:p>
          <a:p>
            <a:pPr marL="12700" marR="537210" indent="530225">
              <a:lnSpc>
                <a:spcPct val="191400"/>
              </a:lnSpc>
              <a:spcBef>
                <a:spcPts val="15"/>
              </a:spcBef>
            </a:pPr>
            <a:r>
              <a:rPr dirty="0" sz="1100" spc="-5" b="1">
                <a:latin typeface="Arial"/>
                <a:cs typeface="Arial"/>
              </a:rPr>
              <a:t>POVERTY, INEQUALITY AND ECONOMIC </a:t>
            </a:r>
            <a:r>
              <a:rPr dirty="0" sz="1100" b="1">
                <a:latin typeface="Arial"/>
                <a:cs typeface="Arial"/>
              </a:rPr>
              <a:t>DEVELOPMENT </a:t>
            </a:r>
            <a:r>
              <a:rPr dirty="0" sz="1100" spc="-5" b="1">
                <a:latin typeface="Arial"/>
                <a:cs typeface="Arial"/>
              </a:rPr>
              <a:t>(CONTINUED1)  MULTIDIMENSIONAL POVERTY</a:t>
            </a:r>
            <a:r>
              <a:rPr dirty="0" sz="1100" b="1">
                <a:latin typeface="Arial"/>
                <a:cs typeface="Arial"/>
              </a:rPr>
              <a:t> </a:t>
            </a:r>
            <a:r>
              <a:rPr dirty="0" sz="1100" spc="-5" b="1">
                <a:latin typeface="Arial"/>
                <a:cs typeface="Arial"/>
              </a:rPr>
              <a:t>INDEX</a:t>
            </a:r>
            <a:endParaRPr sz="1100">
              <a:latin typeface="Arial"/>
              <a:cs typeface="Arial"/>
            </a:endParaRPr>
          </a:p>
          <a:p>
            <a:pPr>
              <a:lnSpc>
                <a:spcPct val="100000"/>
              </a:lnSpc>
              <a:spcBef>
                <a:spcPts val="20"/>
              </a:spcBef>
            </a:pPr>
            <a:endParaRPr sz="1100">
              <a:latin typeface="Arial"/>
              <a:cs typeface="Arial"/>
            </a:endParaRPr>
          </a:p>
          <a:p>
            <a:pPr algn="just" marL="12700" marR="5715">
              <a:lnSpc>
                <a:spcPts val="1270"/>
              </a:lnSpc>
              <a:spcBef>
                <a:spcPts val="5"/>
              </a:spcBef>
            </a:pPr>
            <a:r>
              <a:rPr dirty="0" sz="1100" spc="-5" b="1">
                <a:latin typeface="Arial"/>
                <a:cs typeface="Arial"/>
              </a:rPr>
              <a:t>Def: </a:t>
            </a:r>
            <a:r>
              <a:rPr dirty="0" sz="1100" spc="-5">
                <a:latin typeface="Arial"/>
                <a:cs typeface="Arial"/>
              </a:rPr>
              <a:t>A poverty measure that identifies the poor using dual cutoffs for levels and numbers of  deprivations, and then multiplies the percentage of people living in poverty times the percent of  weighted indicators for which poor households are deprived on</a:t>
            </a:r>
            <a:r>
              <a:rPr dirty="0" sz="1100" spc="50">
                <a:latin typeface="Arial"/>
                <a:cs typeface="Arial"/>
              </a:rPr>
              <a:t> </a:t>
            </a:r>
            <a:r>
              <a:rPr dirty="0" sz="1100" spc="-5">
                <a:latin typeface="Arial"/>
                <a:cs typeface="Arial"/>
              </a:rPr>
              <a:t>average.</a:t>
            </a:r>
            <a:endParaRPr sz="1100">
              <a:latin typeface="Arial"/>
              <a:cs typeface="Arial"/>
            </a:endParaRPr>
          </a:p>
          <a:p>
            <a:pPr algn="just" marL="469900" indent="-229235">
              <a:lnSpc>
                <a:spcPts val="1295"/>
              </a:lnSpc>
              <a:buFont typeface="Symbol"/>
              <a:buChar char=""/>
              <a:tabLst>
                <a:tab pos="470534" algn="l"/>
              </a:tabLst>
            </a:pPr>
            <a:r>
              <a:rPr dirty="0" sz="1100" spc="-5">
                <a:latin typeface="Arial"/>
                <a:cs typeface="Arial"/>
              </a:rPr>
              <a:t>Identification of poverty status through a dual</a:t>
            </a:r>
            <a:r>
              <a:rPr dirty="0" sz="1100" spc="40">
                <a:latin typeface="Arial"/>
                <a:cs typeface="Arial"/>
              </a:rPr>
              <a:t> </a:t>
            </a:r>
            <a:r>
              <a:rPr dirty="0" sz="1100" spc="-5">
                <a:latin typeface="Arial"/>
                <a:cs typeface="Arial"/>
              </a:rPr>
              <a:t>cutoff:</a:t>
            </a:r>
            <a:endParaRPr sz="1100">
              <a:latin typeface="Arial"/>
              <a:cs typeface="Arial"/>
            </a:endParaRPr>
          </a:p>
          <a:p>
            <a:pPr algn="just" marL="469900" marR="6350" indent="-228600">
              <a:lnSpc>
                <a:spcPts val="1260"/>
              </a:lnSpc>
              <a:spcBef>
                <a:spcPts val="114"/>
              </a:spcBef>
              <a:buFont typeface="Symbol"/>
              <a:buChar char=""/>
              <a:tabLst>
                <a:tab pos="470534" algn="l"/>
              </a:tabLst>
            </a:pPr>
            <a:r>
              <a:rPr dirty="0" sz="1100" spc="-5">
                <a:latin typeface="Arial"/>
                <a:cs typeface="Arial"/>
              </a:rPr>
              <a:t>First, cutoff levels within each dimension (analogous to falling below a poverty line for  example </a:t>
            </a:r>
            <a:r>
              <a:rPr dirty="0" sz="1100">
                <a:latin typeface="Arial"/>
                <a:cs typeface="Arial"/>
              </a:rPr>
              <a:t>$1.25 </a:t>
            </a:r>
            <a:r>
              <a:rPr dirty="0" sz="1100" spc="-5">
                <a:latin typeface="Arial"/>
                <a:cs typeface="Arial"/>
              </a:rPr>
              <a:t>per day for income</a:t>
            </a:r>
            <a:r>
              <a:rPr dirty="0" sz="1100" spc="20">
                <a:latin typeface="Arial"/>
                <a:cs typeface="Arial"/>
              </a:rPr>
              <a:t> </a:t>
            </a:r>
            <a:r>
              <a:rPr dirty="0" sz="1100" spc="-5">
                <a:latin typeface="Arial"/>
                <a:cs typeface="Arial"/>
              </a:rPr>
              <a:t>poverty).</a:t>
            </a:r>
            <a:endParaRPr sz="1100">
              <a:latin typeface="Arial"/>
              <a:cs typeface="Arial"/>
            </a:endParaRPr>
          </a:p>
          <a:p>
            <a:pPr algn="just" marL="469900" marR="5080" indent="-228600">
              <a:lnSpc>
                <a:spcPts val="1270"/>
              </a:lnSpc>
              <a:spcBef>
                <a:spcPts val="70"/>
              </a:spcBef>
              <a:buFont typeface="Symbol"/>
              <a:buChar char=""/>
              <a:tabLst>
                <a:tab pos="470534" algn="l"/>
              </a:tabLst>
            </a:pPr>
            <a:r>
              <a:rPr dirty="0" sz="1100" spc="-5">
                <a:latin typeface="Arial"/>
                <a:cs typeface="Arial"/>
              </a:rPr>
              <a:t>Second, cutoff in the number of dimensions in which a person must be deprived (below  a line) to be deemed </a:t>
            </a:r>
            <a:r>
              <a:rPr dirty="0" sz="1100">
                <a:latin typeface="Arial"/>
                <a:cs typeface="Arial"/>
              </a:rPr>
              <a:t>multi </a:t>
            </a:r>
            <a:r>
              <a:rPr dirty="0" sz="1100" spc="-5">
                <a:latin typeface="Arial"/>
                <a:cs typeface="Arial"/>
              </a:rPr>
              <a:t>dimensionally</a:t>
            </a:r>
            <a:r>
              <a:rPr dirty="0" sz="1100" spc="20">
                <a:latin typeface="Arial"/>
                <a:cs typeface="Arial"/>
              </a:rPr>
              <a:t> </a:t>
            </a:r>
            <a:r>
              <a:rPr dirty="0" sz="1100" spc="-5">
                <a:latin typeface="Arial"/>
                <a:cs typeface="Arial"/>
              </a:rPr>
              <a:t>poor.</a:t>
            </a:r>
            <a:endParaRPr sz="1100">
              <a:latin typeface="Arial"/>
              <a:cs typeface="Arial"/>
            </a:endParaRPr>
          </a:p>
          <a:p>
            <a:pPr algn="just" marL="469900" marR="6985" indent="-228600">
              <a:lnSpc>
                <a:spcPts val="1270"/>
              </a:lnSpc>
              <a:spcBef>
                <a:spcPts val="65"/>
              </a:spcBef>
              <a:buFont typeface="Symbol"/>
              <a:buChar char=""/>
              <a:tabLst>
                <a:tab pos="470534" algn="l"/>
              </a:tabLst>
            </a:pPr>
            <a:r>
              <a:rPr dirty="0" sz="1100" spc="-5">
                <a:latin typeface="Arial"/>
                <a:cs typeface="Arial"/>
              </a:rPr>
              <a:t>MPI focuses on deprivations in health, education, and standard of living; and each  receives equal (that is one-third of the overall total)</a:t>
            </a:r>
            <a:r>
              <a:rPr dirty="0" sz="1100" spc="55">
                <a:latin typeface="Arial"/>
                <a:cs typeface="Arial"/>
              </a:rPr>
              <a:t> </a:t>
            </a:r>
            <a:r>
              <a:rPr dirty="0" sz="1100" spc="-5">
                <a:latin typeface="Arial"/>
                <a:cs typeface="Arial"/>
              </a:rPr>
              <a:t>weight.</a:t>
            </a:r>
            <a:endParaRPr sz="1100">
              <a:latin typeface="Arial"/>
              <a:cs typeface="Arial"/>
            </a:endParaRPr>
          </a:p>
          <a:p>
            <a:pPr>
              <a:lnSpc>
                <a:spcPct val="100000"/>
              </a:lnSpc>
              <a:spcBef>
                <a:spcPts val="20"/>
              </a:spcBef>
              <a:buFont typeface="Symbol"/>
              <a:buChar char=""/>
            </a:pPr>
            <a:endParaRPr sz="1000">
              <a:latin typeface="Arial"/>
              <a:cs typeface="Arial"/>
            </a:endParaRPr>
          </a:p>
          <a:p>
            <a:pPr algn="just" marL="12700">
              <a:lnSpc>
                <a:spcPct val="100000"/>
              </a:lnSpc>
            </a:pPr>
            <a:r>
              <a:rPr dirty="0" sz="1100" spc="-5" b="1">
                <a:latin typeface="Arial"/>
                <a:cs typeface="Arial"/>
              </a:rPr>
              <a:t>MPI INDICATORS</a:t>
            </a:r>
            <a:endParaRPr sz="1100">
              <a:latin typeface="Arial"/>
              <a:cs typeface="Arial"/>
            </a:endParaRPr>
          </a:p>
          <a:p>
            <a:pPr>
              <a:lnSpc>
                <a:spcPct val="100000"/>
              </a:lnSpc>
              <a:spcBef>
                <a:spcPts val="20"/>
              </a:spcBef>
            </a:pPr>
            <a:endParaRPr sz="1250">
              <a:latin typeface="Arial"/>
              <a:cs typeface="Arial"/>
            </a:endParaRPr>
          </a:p>
          <a:p>
            <a:pPr algn="just" marL="469900" marR="5080" indent="-228600">
              <a:lnSpc>
                <a:spcPct val="95700"/>
              </a:lnSpc>
              <a:buFont typeface="Symbol"/>
              <a:buChar char=""/>
              <a:tabLst>
                <a:tab pos="470534" algn="l"/>
              </a:tabLst>
            </a:pPr>
            <a:r>
              <a:rPr dirty="0" sz="1100" spc="-5" b="1">
                <a:latin typeface="Arial"/>
                <a:cs typeface="Arial"/>
              </a:rPr>
              <a:t>Health: </a:t>
            </a:r>
            <a:r>
              <a:rPr dirty="0" sz="1100" spc="-5">
                <a:latin typeface="Arial"/>
                <a:cs typeface="Arial"/>
              </a:rPr>
              <a:t>Two indicators with equal weight - whether any child has died in the family, and  whether any adult or child in the family is malnourished –weighted equally (each counts  as one-sixth toward the maximum deprivation in the</a:t>
            </a:r>
            <a:r>
              <a:rPr dirty="0" sz="1100" spc="40">
                <a:latin typeface="Arial"/>
                <a:cs typeface="Arial"/>
              </a:rPr>
              <a:t> </a:t>
            </a:r>
            <a:r>
              <a:rPr dirty="0" sz="1100" spc="-5">
                <a:latin typeface="Arial"/>
                <a:cs typeface="Arial"/>
              </a:rPr>
              <a:t>MPI)</a:t>
            </a:r>
            <a:endParaRPr sz="1100">
              <a:latin typeface="Arial"/>
              <a:cs typeface="Arial"/>
            </a:endParaRPr>
          </a:p>
          <a:p>
            <a:pPr algn="just" marL="469900" marR="5080" indent="-228600">
              <a:lnSpc>
                <a:spcPct val="95700"/>
              </a:lnSpc>
              <a:spcBef>
                <a:spcPts val="80"/>
              </a:spcBef>
              <a:buFont typeface="Symbol"/>
              <a:buChar char=""/>
              <a:tabLst>
                <a:tab pos="470534" algn="l"/>
              </a:tabLst>
            </a:pPr>
            <a:r>
              <a:rPr dirty="0" sz="1100" spc="-5" b="1">
                <a:latin typeface="Arial"/>
                <a:cs typeface="Arial"/>
              </a:rPr>
              <a:t>Education: </a:t>
            </a:r>
            <a:r>
              <a:rPr dirty="0" sz="1100" spc="-5">
                <a:latin typeface="Arial"/>
                <a:cs typeface="Arial"/>
              </a:rPr>
              <a:t>Two indicators with equal weight - whether no household member  completed 5 years of schooling, and whether any school-aged child is out of school for  grades 1 through 8 (each counts one-sixth toward the</a:t>
            </a:r>
            <a:r>
              <a:rPr dirty="0" sz="1100" spc="50">
                <a:latin typeface="Arial"/>
                <a:cs typeface="Arial"/>
              </a:rPr>
              <a:t> </a:t>
            </a:r>
            <a:r>
              <a:rPr dirty="0" sz="1100" spc="-5">
                <a:latin typeface="Arial"/>
                <a:cs typeface="Arial"/>
              </a:rPr>
              <a:t>MPI).</a:t>
            </a:r>
            <a:endParaRPr sz="1100">
              <a:latin typeface="Arial"/>
              <a:cs typeface="Arial"/>
            </a:endParaRPr>
          </a:p>
          <a:p>
            <a:pPr algn="just" marL="469900" indent="-229235">
              <a:lnSpc>
                <a:spcPct val="100000"/>
              </a:lnSpc>
              <a:spcBef>
                <a:spcPts val="25"/>
              </a:spcBef>
              <a:buFont typeface="Symbol"/>
              <a:buChar char=""/>
              <a:tabLst>
                <a:tab pos="470534" algn="l"/>
              </a:tabLst>
            </a:pPr>
            <a:r>
              <a:rPr dirty="0" sz="1100" spc="-5">
                <a:latin typeface="Arial"/>
                <a:cs typeface="Arial"/>
              </a:rPr>
              <a:t>Standard</a:t>
            </a:r>
            <a:r>
              <a:rPr dirty="0" sz="1100" spc="229">
                <a:latin typeface="Arial"/>
                <a:cs typeface="Arial"/>
              </a:rPr>
              <a:t> </a:t>
            </a:r>
            <a:r>
              <a:rPr dirty="0" sz="1100" spc="-5">
                <a:latin typeface="Arial"/>
                <a:cs typeface="Arial"/>
              </a:rPr>
              <a:t>of</a:t>
            </a:r>
            <a:r>
              <a:rPr dirty="0" sz="1100" spc="235">
                <a:latin typeface="Arial"/>
                <a:cs typeface="Arial"/>
              </a:rPr>
              <a:t> </a:t>
            </a:r>
            <a:r>
              <a:rPr dirty="0" sz="1100" spc="-5">
                <a:latin typeface="Arial"/>
                <a:cs typeface="Arial"/>
              </a:rPr>
              <a:t>Living,</a:t>
            </a:r>
            <a:r>
              <a:rPr dirty="0" sz="1100" spc="235">
                <a:latin typeface="Arial"/>
                <a:cs typeface="Arial"/>
              </a:rPr>
              <a:t> </a:t>
            </a:r>
            <a:r>
              <a:rPr dirty="0" sz="1100" spc="-5">
                <a:latin typeface="Arial"/>
                <a:cs typeface="Arial"/>
              </a:rPr>
              <a:t>equal</a:t>
            </a:r>
            <a:r>
              <a:rPr dirty="0" sz="1100" spc="229">
                <a:latin typeface="Arial"/>
                <a:cs typeface="Arial"/>
              </a:rPr>
              <a:t> </a:t>
            </a:r>
            <a:r>
              <a:rPr dirty="0" sz="1100" spc="-5">
                <a:latin typeface="Arial"/>
                <a:cs typeface="Arial"/>
              </a:rPr>
              <a:t>weight</a:t>
            </a:r>
            <a:r>
              <a:rPr dirty="0" sz="1100" spc="235">
                <a:latin typeface="Arial"/>
                <a:cs typeface="Arial"/>
              </a:rPr>
              <a:t> </a:t>
            </a:r>
            <a:r>
              <a:rPr dirty="0" sz="1100" spc="-5">
                <a:latin typeface="Arial"/>
                <a:cs typeface="Arial"/>
              </a:rPr>
              <a:t>on</a:t>
            </a:r>
            <a:r>
              <a:rPr dirty="0" sz="1100" spc="235">
                <a:latin typeface="Arial"/>
                <a:cs typeface="Arial"/>
              </a:rPr>
              <a:t> </a:t>
            </a:r>
            <a:r>
              <a:rPr dirty="0" sz="1100" spc="-5">
                <a:latin typeface="Arial"/>
                <a:cs typeface="Arial"/>
              </a:rPr>
              <a:t>6</a:t>
            </a:r>
            <a:r>
              <a:rPr dirty="0" sz="1100" spc="235">
                <a:latin typeface="Arial"/>
                <a:cs typeface="Arial"/>
              </a:rPr>
              <a:t> </a:t>
            </a:r>
            <a:r>
              <a:rPr dirty="0" sz="1100" spc="-5">
                <a:latin typeface="Arial"/>
                <a:cs typeface="Arial"/>
              </a:rPr>
              <a:t>deprivations</a:t>
            </a:r>
            <a:r>
              <a:rPr dirty="0" sz="1100" spc="229">
                <a:latin typeface="Arial"/>
                <a:cs typeface="Arial"/>
              </a:rPr>
              <a:t> </a:t>
            </a:r>
            <a:r>
              <a:rPr dirty="0" sz="1100" spc="-5">
                <a:latin typeface="Arial"/>
                <a:cs typeface="Arial"/>
              </a:rPr>
              <a:t>(each</a:t>
            </a:r>
            <a:r>
              <a:rPr dirty="0" sz="1100" spc="229">
                <a:latin typeface="Arial"/>
                <a:cs typeface="Arial"/>
              </a:rPr>
              <a:t> </a:t>
            </a:r>
            <a:r>
              <a:rPr dirty="0" sz="1100" spc="-5">
                <a:latin typeface="Arial"/>
                <a:cs typeface="Arial"/>
              </a:rPr>
              <a:t>counts</a:t>
            </a:r>
            <a:r>
              <a:rPr dirty="0" sz="1100" spc="235">
                <a:latin typeface="Arial"/>
                <a:cs typeface="Arial"/>
              </a:rPr>
              <a:t> </a:t>
            </a:r>
            <a:r>
              <a:rPr dirty="0" sz="1100" spc="-5">
                <a:latin typeface="Arial"/>
                <a:cs typeface="Arial"/>
              </a:rPr>
              <a:t>as</a:t>
            </a:r>
            <a:r>
              <a:rPr dirty="0" sz="1100" spc="229">
                <a:latin typeface="Arial"/>
                <a:cs typeface="Arial"/>
              </a:rPr>
              <a:t> </a:t>
            </a:r>
            <a:r>
              <a:rPr dirty="0" sz="1100" spc="-5">
                <a:latin typeface="Arial"/>
                <a:cs typeface="Arial"/>
              </a:rPr>
              <a:t>1/18</a:t>
            </a:r>
            <a:r>
              <a:rPr dirty="0" sz="1100" spc="235">
                <a:latin typeface="Arial"/>
                <a:cs typeface="Arial"/>
              </a:rPr>
              <a:t> </a:t>
            </a:r>
            <a:r>
              <a:rPr dirty="0" sz="1100" spc="-5">
                <a:latin typeface="Arial"/>
                <a:cs typeface="Arial"/>
              </a:rPr>
              <a:t>toward</a:t>
            </a:r>
            <a:r>
              <a:rPr dirty="0" sz="1100" spc="235">
                <a:latin typeface="Arial"/>
                <a:cs typeface="Arial"/>
              </a:rPr>
              <a:t> </a:t>
            </a:r>
            <a:r>
              <a:rPr dirty="0" sz="1100" spc="-5">
                <a:latin typeface="Arial"/>
                <a:cs typeface="Arial"/>
              </a:rPr>
              <a:t>the</a:t>
            </a:r>
            <a:endParaRPr sz="1100">
              <a:latin typeface="Arial"/>
              <a:cs typeface="Arial"/>
            </a:endParaRPr>
          </a:p>
        </p:txBody>
      </p:sp>
      <p:sp>
        <p:nvSpPr>
          <p:cNvPr id="6" name="object 6"/>
          <p:cNvSpPr/>
          <p:nvPr/>
        </p:nvSpPr>
        <p:spPr>
          <a:xfrm>
            <a:off x="923544" y="5182361"/>
            <a:ext cx="5896356" cy="4191000"/>
          </a:xfrm>
          <a:prstGeom prst="rect">
            <a:avLst/>
          </a:prstGeom>
          <a:blipFill>
            <a:blip r:embed="rId2" cstate="print"/>
            <a:stretch>
              <a:fillRect/>
            </a:stretch>
          </a:blipFill>
        </p:spPr>
        <p:txBody>
          <a:bodyPr wrap="square" lIns="0" tIns="0" rIns="0" bIns="0" rtlCol="0"/>
          <a:lstStyle/>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57</a:t>
            </a:r>
            <a:endParaRPr sz="1100">
              <a:latin typeface="Carlito"/>
              <a:cs typeface="Carlit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8241030"/>
          </a:xfrm>
          <a:prstGeom prst="rect">
            <a:avLst/>
          </a:prstGeom>
        </p:spPr>
        <p:txBody>
          <a:bodyPr wrap="square" lIns="0" tIns="22860" rIns="0" bIns="0" rtlCol="0" vert="horz">
            <a:spAutoFit/>
          </a:bodyPr>
          <a:lstStyle/>
          <a:p>
            <a:pPr algn="just" marL="469900" marR="5080">
              <a:lnSpc>
                <a:spcPts val="1270"/>
              </a:lnSpc>
              <a:spcBef>
                <a:spcPts val="180"/>
              </a:spcBef>
            </a:pPr>
            <a:r>
              <a:rPr dirty="0" sz="1100" spc="-5">
                <a:latin typeface="Arial"/>
                <a:cs typeface="Arial"/>
              </a:rPr>
              <a:t>maximum): lack of electricity; insufficiently safe drinking water; inadequate sanitation;  inadequate flooring; unimproved cooking fuel; lack of more than one of 5 assets –  telephone, radio, TV, bicycle, and</a:t>
            </a:r>
            <a:r>
              <a:rPr dirty="0" sz="1100" spc="20">
                <a:latin typeface="Arial"/>
                <a:cs typeface="Arial"/>
              </a:rPr>
              <a:t> </a:t>
            </a:r>
            <a:r>
              <a:rPr dirty="0" sz="1100" spc="-5">
                <a:latin typeface="Arial"/>
                <a:cs typeface="Arial"/>
              </a:rPr>
              <a:t>motorbike.</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INTERACTION OF THE</a:t>
            </a:r>
            <a:r>
              <a:rPr dirty="0" sz="1100" spc="15" b="1">
                <a:latin typeface="Arial"/>
                <a:cs typeface="Arial"/>
              </a:rPr>
              <a:t> </a:t>
            </a:r>
            <a:r>
              <a:rPr dirty="0" sz="1100" spc="-5" b="1">
                <a:latin typeface="Arial"/>
                <a:cs typeface="Arial"/>
              </a:rPr>
              <a:t>DEPRIVATIONS?</a:t>
            </a:r>
            <a:endParaRPr sz="1100">
              <a:latin typeface="Arial"/>
              <a:cs typeface="Arial"/>
            </a:endParaRPr>
          </a:p>
          <a:p>
            <a:pPr>
              <a:lnSpc>
                <a:spcPct val="100000"/>
              </a:lnSpc>
              <a:spcBef>
                <a:spcPts val="15"/>
              </a:spcBef>
            </a:pPr>
            <a:endParaRPr sz="1250">
              <a:latin typeface="Arial"/>
              <a:cs typeface="Arial"/>
            </a:endParaRPr>
          </a:p>
          <a:p>
            <a:pPr algn="just" marL="469900" marR="5715" indent="-228600">
              <a:lnSpc>
                <a:spcPct val="95800"/>
              </a:lnSpc>
              <a:buFont typeface="Symbol"/>
              <a:buChar char=""/>
              <a:tabLst>
                <a:tab pos="470534" algn="l"/>
              </a:tabLst>
            </a:pPr>
            <a:r>
              <a:rPr dirty="0" sz="1100" spc="-5">
                <a:latin typeface="Arial"/>
                <a:cs typeface="Arial"/>
              </a:rPr>
              <a:t>Building the index from household measures up to the aggregate measure (rather than  using already-aggregated statistics), MPI approach takes account of multiplied or  interactive harm (complementarity) done when multiple deprivations are experienced by  the same individual or</a:t>
            </a:r>
            <a:r>
              <a:rPr dirty="0" sz="1100" spc="10">
                <a:latin typeface="Arial"/>
                <a:cs typeface="Arial"/>
              </a:rPr>
              <a:t> </a:t>
            </a:r>
            <a:r>
              <a:rPr dirty="0" sz="1100" spc="-5">
                <a:latin typeface="Arial"/>
                <a:cs typeface="Arial"/>
              </a:rPr>
              <a:t>family</a:t>
            </a:r>
            <a:endParaRPr sz="1100">
              <a:latin typeface="Arial"/>
              <a:cs typeface="Arial"/>
            </a:endParaRPr>
          </a:p>
          <a:p>
            <a:pPr algn="just" marL="469900" marR="5715" indent="-228600">
              <a:lnSpc>
                <a:spcPct val="95700"/>
              </a:lnSpc>
              <a:spcBef>
                <a:spcPts val="80"/>
              </a:spcBef>
              <a:buFont typeface="Symbol"/>
              <a:buChar char=""/>
              <a:tabLst>
                <a:tab pos="470534" algn="l"/>
              </a:tabLst>
            </a:pPr>
            <a:r>
              <a:rPr dirty="0" sz="1100" spc="-5">
                <a:latin typeface="Arial"/>
                <a:cs typeface="Arial"/>
              </a:rPr>
              <a:t>The MPI approach assumes an individual’s lack of capability in one area can only to a  degree be made up by other capabilities – capabilities are treated as substitutes up to a  point but then as</a:t>
            </a:r>
            <a:r>
              <a:rPr dirty="0" sz="1100" spc="10">
                <a:latin typeface="Arial"/>
                <a:cs typeface="Arial"/>
              </a:rPr>
              <a:t> </a:t>
            </a:r>
            <a:r>
              <a:rPr dirty="0" sz="1100" spc="-5">
                <a:latin typeface="Arial"/>
                <a:cs typeface="Arial"/>
              </a:rPr>
              <a:t>complements.</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COMPUTING THE</a:t>
            </a:r>
            <a:r>
              <a:rPr dirty="0" sz="1100" spc="5" b="1">
                <a:latin typeface="Arial"/>
                <a:cs typeface="Arial"/>
              </a:rPr>
              <a:t> </a:t>
            </a:r>
            <a:r>
              <a:rPr dirty="0" sz="1100" spc="-10" b="1">
                <a:latin typeface="Arial"/>
                <a:cs typeface="Arial"/>
              </a:rPr>
              <a:t>MPI</a:t>
            </a:r>
            <a:endParaRPr sz="1100">
              <a:latin typeface="Arial"/>
              <a:cs typeface="Arial"/>
            </a:endParaRPr>
          </a:p>
          <a:p>
            <a:pPr>
              <a:lnSpc>
                <a:spcPct val="100000"/>
              </a:lnSpc>
              <a:spcBef>
                <a:spcPts val="20"/>
              </a:spcBef>
            </a:pPr>
            <a:endParaRPr sz="12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The MPI for the country (or region or group) is then</a:t>
            </a:r>
            <a:r>
              <a:rPr dirty="0" sz="1100" spc="70">
                <a:latin typeface="Arial"/>
                <a:cs typeface="Arial"/>
              </a:rPr>
              <a:t> </a:t>
            </a:r>
            <a:r>
              <a:rPr dirty="0" sz="1100" spc="-5">
                <a:latin typeface="Arial"/>
                <a:cs typeface="Arial"/>
              </a:rPr>
              <a:t>computed.</a:t>
            </a:r>
            <a:endParaRPr sz="1100">
              <a:latin typeface="Arial"/>
              <a:cs typeface="Arial"/>
            </a:endParaRPr>
          </a:p>
          <a:p>
            <a:pPr algn="just" marL="469900" marR="5715" indent="-228600">
              <a:lnSpc>
                <a:spcPct val="95700"/>
              </a:lnSpc>
              <a:spcBef>
                <a:spcPts val="75"/>
              </a:spcBef>
              <a:buFont typeface="Symbol"/>
              <a:buChar char=""/>
              <a:tabLst>
                <a:tab pos="470534" algn="l"/>
              </a:tabLst>
            </a:pPr>
            <a:r>
              <a:rPr dirty="0" sz="1100" spc="-5">
                <a:latin typeface="Arial"/>
                <a:cs typeface="Arial"/>
              </a:rPr>
              <a:t>A convenient way to express the resulting value is H*A, i.e., the product of the  headcount ratio H (the percent of people living in multidimensional poverty), and the  average intensity of deprivation</a:t>
            </a:r>
            <a:r>
              <a:rPr dirty="0" sz="1100" spc="15">
                <a:latin typeface="Arial"/>
                <a:cs typeface="Arial"/>
              </a:rPr>
              <a:t> </a:t>
            </a:r>
            <a:r>
              <a:rPr dirty="0" sz="1100" spc="-5">
                <a:latin typeface="Arial"/>
                <a:cs typeface="Arial"/>
              </a:rPr>
              <a:t>A.</a:t>
            </a:r>
            <a:endParaRPr sz="1100">
              <a:latin typeface="Arial"/>
              <a:cs typeface="Arial"/>
            </a:endParaRPr>
          </a:p>
          <a:p>
            <a:pPr algn="just" marL="469900" indent="-229235">
              <a:lnSpc>
                <a:spcPct val="100000"/>
              </a:lnSpc>
              <a:spcBef>
                <a:spcPts val="25"/>
              </a:spcBef>
              <a:buFont typeface="Symbol"/>
              <a:buChar char=""/>
              <a:tabLst>
                <a:tab pos="470534" algn="l"/>
              </a:tabLst>
            </a:pPr>
            <a:r>
              <a:rPr dirty="0" sz="1100" spc="-5">
                <a:latin typeface="Arial"/>
                <a:cs typeface="Arial"/>
              </a:rPr>
              <a:t>The adjusted headcount ratio HA is readily</a:t>
            </a:r>
            <a:r>
              <a:rPr dirty="0" sz="1100" spc="30">
                <a:latin typeface="Arial"/>
                <a:cs typeface="Arial"/>
              </a:rPr>
              <a:t> </a:t>
            </a:r>
            <a:r>
              <a:rPr dirty="0" sz="1100" spc="-5">
                <a:latin typeface="Arial"/>
                <a:cs typeface="Arial"/>
              </a:rPr>
              <a:t>calculated.</a:t>
            </a:r>
            <a:endParaRPr sz="1100">
              <a:latin typeface="Arial"/>
              <a:cs typeface="Arial"/>
            </a:endParaRPr>
          </a:p>
          <a:p>
            <a:pPr algn="just" marL="469900" indent="-229235">
              <a:lnSpc>
                <a:spcPct val="100000"/>
              </a:lnSpc>
              <a:spcBef>
                <a:spcPts val="15"/>
              </a:spcBef>
              <a:buFont typeface="Symbol"/>
              <a:buChar char=""/>
              <a:tabLst>
                <a:tab pos="470534" algn="l"/>
              </a:tabLst>
            </a:pPr>
            <a:r>
              <a:rPr dirty="0" sz="1100" spc="-5">
                <a:latin typeface="Arial"/>
                <a:cs typeface="Arial"/>
              </a:rPr>
              <a:t>HA satisfies some desirable</a:t>
            </a:r>
            <a:r>
              <a:rPr dirty="0" sz="1100" spc="10">
                <a:latin typeface="Arial"/>
                <a:cs typeface="Arial"/>
              </a:rPr>
              <a:t> </a:t>
            </a:r>
            <a:r>
              <a:rPr dirty="0" sz="1100" spc="-5">
                <a:latin typeface="Arial"/>
                <a:cs typeface="Arial"/>
              </a:rPr>
              <a:t>properties.</a:t>
            </a:r>
            <a:endParaRPr sz="1100">
              <a:latin typeface="Arial"/>
              <a:cs typeface="Arial"/>
            </a:endParaRPr>
          </a:p>
          <a:p>
            <a:pPr algn="just" marL="469900" marR="5080" indent="-228600">
              <a:lnSpc>
                <a:spcPct val="95700"/>
              </a:lnSpc>
              <a:spcBef>
                <a:spcPts val="75"/>
              </a:spcBef>
              <a:buFont typeface="Symbol"/>
              <a:buChar char=""/>
              <a:tabLst>
                <a:tab pos="470534" algn="l"/>
              </a:tabLst>
            </a:pPr>
            <a:r>
              <a:rPr dirty="0" sz="1100" spc="-5">
                <a:latin typeface="Arial"/>
                <a:cs typeface="Arial"/>
              </a:rPr>
              <a:t>Dimensional monotonicity: If a person already identified as poor becomes deprived in  another indicator she is measured as even poorer - not the case using a simple  headcount ratio.</a:t>
            </a:r>
            <a:endParaRPr sz="1100">
              <a:latin typeface="Arial"/>
              <a:cs typeface="Arial"/>
            </a:endParaRPr>
          </a:p>
          <a:p>
            <a:pPr>
              <a:lnSpc>
                <a:spcPct val="100000"/>
              </a:lnSpc>
              <a:spcBef>
                <a:spcPts val="10"/>
              </a:spcBef>
              <a:buFont typeface="Symbol"/>
              <a:buChar char=""/>
            </a:pPr>
            <a:endParaRPr sz="1050">
              <a:latin typeface="Arial"/>
              <a:cs typeface="Arial"/>
            </a:endParaRPr>
          </a:p>
          <a:p>
            <a:pPr marL="12700">
              <a:lnSpc>
                <a:spcPct val="100000"/>
              </a:lnSpc>
            </a:pPr>
            <a:r>
              <a:rPr dirty="0" sz="1100" spc="-5" b="1">
                <a:latin typeface="Arial"/>
                <a:cs typeface="Arial"/>
              </a:rPr>
              <a:t>MULTIDIMENSIONAL POVERTY TELLS A DIFFERENT </a:t>
            </a:r>
            <a:r>
              <a:rPr dirty="0" sz="1100" spc="-10" b="1">
                <a:latin typeface="Arial"/>
                <a:cs typeface="Arial"/>
              </a:rPr>
              <a:t>STORY </a:t>
            </a:r>
            <a:r>
              <a:rPr dirty="0" sz="1100" spc="-5" b="1">
                <a:latin typeface="Arial"/>
                <a:cs typeface="Arial"/>
              </a:rPr>
              <a:t>THAN </a:t>
            </a:r>
            <a:r>
              <a:rPr dirty="0" sz="1100" spc="-10" b="1">
                <a:latin typeface="Arial"/>
                <a:cs typeface="Arial"/>
              </a:rPr>
              <a:t>INCOME</a:t>
            </a:r>
            <a:r>
              <a:rPr dirty="0" sz="1100" spc="60" b="1">
                <a:latin typeface="Arial"/>
                <a:cs typeface="Arial"/>
              </a:rPr>
              <a:t> </a:t>
            </a:r>
            <a:r>
              <a:rPr dirty="0" sz="1100" spc="-5" b="1">
                <a:latin typeface="Arial"/>
                <a:cs typeface="Arial"/>
              </a:rPr>
              <a:t>POVERTY</a:t>
            </a:r>
            <a:endParaRPr sz="1100">
              <a:latin typeface="Arial"/>
              <a:cs typeface="Arial"/>
            </a:endParaRPr>
          </a:p>
          <a:p>
            <a:pPr>
              <a:lnSpc>
                <a:spcPct val="100000"/>
              </a:lnSpc>
              <a:spcBef>
                <a:spcPts val="55"/>
              </a:spcBef>
            </a:pPr>
            <a:endParaRPr sz="1250">
              <a:latin typeface="Arial"/>
              <a:cs typeface="Arial"/>
            </a:endParaRPr>
          </a:p>
          <a:p>
            <a:pPr marL="469900" marR="7620" indent="-228600">
              <a:lnSpc>
                <a:spcPts val="1260"/>
              </a:lnSpc>
              <a:buFont typeface="Symbol"/>
              <a:buChar char=""/>
              <a:tabLst>
                <a:tab pos="469265" algn="l"/>
                <a:tab pos="470534" algn="l"/>
              </a:tabLst>
            </a:pPr>
            <a:r>
              <a:rPr dirty="0" sz="1100" spc="-5">
                <a:latin typeface="Arial"/>
                <a:cs typeface="Arial"/>
              </a:rPr>
              <a:t>The results showed that knowing income poverty is not enough if our concern is with  multidimensional</a:t>
            </a:r>
            <a:r>
              <a:rPr dirty="0" sz="1100">
                <a:latin typeface="Arial"/>
                <a:cs typeface="Arial"/>
              </a:rPr>
              <a:t> </a:t>
            </a:r>
            <a:r>
              <a:rPr dirty="0" sz="1100" spc="-5">
                <a:latin typeface="Arial"/>
                <a:cs typeface="Arial"/>
              </a:rPr>
              <a:t>poverty.</a:t>
            </a:r>
            <a:endParaRPr sz="1100">
              <a:latin typeface="Arial"/>
              <a:cs typeface="Arial"/>
            </a:endParaRPr>
          </a:p>
          <a:p>
            <a:pPr marL="469900" marR="6985" indent="-228600">
              <a:lnSpc>
                <a:spcPts val="1260"/>
              </a:lnSpc>
              <a:spcBef>
                <a:spcPts val="85"/>
              </a:spcBef>
              <a:buFont typeface="Symbol"/>
              <a:buChar char=""/>
              <a:tabLst>
                <a:tab pos="469265" algn="l"/>
                <a:tab pos="470534" algn="l"/>
              </a:tabLst>
            </a:pPr>
            <a:r>
              <a:rPr dirty="0" sz="1100" spc="-5">
                <a:latin typeface="Arial"/>
                <a:cs typeface="Arial"/>
              </a:rPr>
              <a:t>Multi dimensionally, Bangladesh is substantially less poor - but Pakistan substantially  poorer - than would be predicted by income</a:t>
            </a:r>
            <a:r>
              <a:rPr dirty="0" sz="1100" spc="40">
                <a:latin typeface="Arial"/>
                <a:cs typeface="Arial"/>
              </a:rPr>
              <a:t> </a:t>
            </a:r>
            <a:r>
              <a:rPr dirty="0" sz="1100" spc="-5">
                <a:latin typeface="Arial"/>
                <a:cs typeface="Arial"/>
              </a:rPr>
              <a:t>poverty.</a:t>
            </a:r>
            <a:endParaRPr sz="1100">
              <a:latin typeface="Arial"/>
              <a:cs typeface="Arial"/>
            </a:endParaRPr>
          </a:p>
          <a:p>
            <a:pPr marL="469900" marR="5715" indent="-228600">
              <a:lnSpc>
                <a:spcPts val="1260"/>
              </a:lnSpc>
              <a:spcBef>
                <a:spcPts val="85"/>
              </a:spcBef>
              <a:buFont typeface="Symbol"/>
              <a:buChar char=""/>
              <a:tabLst>
                <a:tab pos="469265" algn="l"/>
                <a:tab pos="470534" algn="l"/>
              </a:tabLst>
            </a:pPr>
            <a:r>
              <a:rPr dirty="0" sz="1100" spc="-5">
                <a:latin typeface="Arial"/>
                <a:cs typeface="Arial"/>
              </a:rPr>
              <a:t>Ethiopia is far more </a:t>
            </a:r>
            <a:r>
              <a:rPr dirty="0" sz="1100">
                <a:latin typeface="Arial"/>
                <a:cs typeface="Arial"/>
              </a:rPr>
              <a:t>multi </a:t>
            </a:r>
            <a:r>
              <a:rPr dirty="0" sz="1100" spc="-5">
                <a:latin typeface="Arial"/>
                <a:cs typeface="Arial"/>
              </a:rPr>
              <a:t>dimensionally poor, </a:t>
            </a:r>
            <a:r>
              <a:rPr dirty="0" sz="1100">
                <a:latin typeface="Arial"/>
                <a:cs typeface="Arial"/>
              </a:rPr>
              <a:t>and </a:t>
            </a:r>
            <a:r>
              <a:rPr dirty="0" sz="1100" spc="-5">
                <a:latin typeface="Arial"/>
                <a:cs typeface="Arial"/>
              </a:rPr>
              <a:t>Tanzania much less so, than predicted  by income</a:t>
            </a:r>
            <a:r>
              <a:rPr dirty="0" sz="1100">
                <a:latin typeface="Arial"/>
                <a:cs typeface="Arial"/>
              </a:rPr>
              <a:t> </a:t>
            </a:r>
            <a:r>
              <a:rPr dirty="0" sz="1100" spc="-5">
                <a:latin typeface="Arial"/>
                <a:cs typeface="Arial"/>
              </a:rPr>
              <a:t>poverty.</a:t>
            </a:r>
            <a:endParaRPr sz="1100">
              <a:latin typeface="Arial"/>
              <a:cs typeface="Arial"/>
            </a:endParaRPr>
          </a:p>
          <a:p>
            <a:pPr marL="469900" marR="6985" indent="-228600">
              <a:lnSpc>
                <a:spcPts val="1260"/>
              </a:lnSpc>
              <a:spcBef>
                <a:spcPts val="80"/>
              </a:spcBef>
              <a:buFont typeface="Symbol"/>
              <a:buChar char=""/>
              <a:tabLst>
                <a:tab pos="469265" algn="l"/>
                <a:tab pos="470534" algn="l"/>
              </a:tabLst>
            </a:pPr>
            <a:r>
              <a:rPr dirty="0" sz="1100" spc="-5">
                <a:latin typeface="Arial"/>
                <a:cs typeface="Arial"/>
              </a:rPr>
              <a:t>Most Latin American countries e.g. Brazil rank worse on multidimensional poverty than  on income poverty; but Colombia’s income and MPI poverty ranks are about</a:t>
            </a:r>
            <a:r>
              <a:rPr dirty="0" sz="1100" spc="150">
                <a:latin typeface="Arial"/>
                <a:cs typeface="Arial"/>
              </a:rPr>
              <a:t> </a:t>
            </a:r>
            <a:r>
              <a:rPr dirty="0" sz="1100" spc="-5">
                <a:latin typeface="Arial"/>
                <a:cs typeface="Arial"/>
              </a:rPr>
              <a:t>same.</a:t>
            </a:r>
            <a:endParaRPr sz="1100">
              <a:latin typeface="Arial"/>
              <a:cs typeface="Arial"/>
            </a:endParaRPr>
          </a:p>
          <a:p>
            <a:pPr>
              <a:lnSpc>
                <a:spcPct val="100000"/>
              </a:lnSpc>
              <a:spcBef>
                <a:spcPts val="35"/>
              </a:spcBef>
            </a:pPr>
            <a:endParaRPr sz="1000">
              <a:latin typeface="Arial"/>
              <a:cs typeface="Arial"/>
            </a:endParaRPr>
          </a:p>
          <a:p>
            <a:pPr marL="12700">
              <a:lnSpc>
                <a:spcPct val="100000"/>
              </a:lnSpc>
              <a:spcBef>
                <a:spcPts val="5"/>
              </a:spcBef>
            </a:pPr>
            <a:r>
              <a:rPr dirty="0" sz="1100" spc="-5" b="1">
                <a:latin typeface="Arial"/>
                <a:cs typeface="Arial"/>
              </a:rPr>
              <a:t>LIMITATIONS</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800"/>
              </a:lnSpc>
            </a:pPr>
            <a:r>
              <a:rPr dirty="0" sz="1100" spc="-5">
                <a:latin typeface="Arial"/>
                <a:cs typeface="Arial"/>
              </a:rPr>
              <a:t>As mentioned, data are from the household rather than the individual level (such as whether any  child of school age is out of school or whether any family member is undernourished).It does not  fully distinguish between past and present conditions (because its measure is whether a child  has ever died). It does not distinguish differences within households. Education considers only  inputs such as enrolling or attending for five years, not outputs such as being able to read. And  the choice of basic assets is</a:t>
            </a:r>
            <a:r>
              <a:rPr dirty="0" sz="1100" spc="25">
                <a:latin typeface="Arial"/>
                <a:cs typeface="Arial"/>
              </a:rPr>
              <a:t> </a:t>
            </a:r>
            <a:r>
              <a:rPr dirty="0" sz="1100" spc="-5">
                <a:latin typeface="Arial"/>
                <a:cs typeface="Arial"/>
              </a:rPr>
              <a:t>questionable.</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WHAT’S </a:t>
            </a:r>
            <a:r>
              <a:rPr dirty="0" sz="1100" b="1">
                <a:latin typeface="Arial"/>
                <a:cs typeface="Arial"/>
              </a:rPr>
              <a:t>SO BAD </a:t>
            </a:r>
            <a:r>
              <a:rPr dirty="0" sz="1100" spc="-5" b="1">
                <a:latin typeface="Arial"/>
                <a:cs typeface="Arial"/>
              </a:rPr>
              <a:t>ABOUT EXTREME</a:t>
            </a:r>
            <a:r>
              <a:rPr dirty="0" sz="1100" spc="5" b="1">
                <a:latin typeface="Arial"/>
                <a:cs typeface="Arial"/>
              </a:rPr>
              <a:t> </a:t>
            </a:r>
            <a:r>
              <a:rPr dirty="0" sz="1100" spc="-5" b="1">
                <a:latin typeface="Arial"/>
                <a:cs typeface="Arial"/>
              </a:rPr>
              <a:t>INEQUALITY?</a:t>
            </a:r>
            <a:endParaRPr sz="1100">
              <a:latin typeface="Arial"/>
              <a:cs typeface="Arial"/>
            </a:endParaRPr>
          </a:p>
          <a:p>
            <a:pPr>
              <a:lnSpc>
                <a:spcPct val="100000"/>
              </a:lnSpc>
              <a:spcBef>
                <a:spcPts val="25"/>
              </a:spcBef>
            </a:pPr>
            <a:endParaRPr sz="1200">
              <a:latin typeface="Arial"/>
              <a:cs typeface="Arial"/>
            </a:endParaRPr>
          </a:p>
          <a:p>
            <a:pPr algn="just" marL="12700" marR="6985">
              <a:lnSpc>
                <a:spcPts val="1270"/>
              </a:lnSpc>
            </a:pPr>
            <a:r>
              <a:rPr dirty="0" sz="1100" spc="-5">
                <a:latin typeface="Arial"/>
                <a:cs typeface="Arial"/>
              </a:rPr>
              <a:t>Throughout this chapter, we are assuming that </a:t>
            </a:r>
            <a:r>
              <a:rPr dirty="0" sz="1100">
                <a:latin typeface="Arial"/>
                <a:cs typeface="Arial"/>
              </a:rPr>
              <a:t>social </a:t>
            </a:r>
            <a:r>
              <a:rPr dirty="0" sz="1100" spc="-5">
                <a:latin typeface="Arial"/>
                <a:cs typeface="Arial"/>
              </a:rPr>
              <a:t>welfare depends positively on the level </a:t>
            </a:r>
            <a:r>
              <a:rPr dirty="0" sz="1100">
                <a:latin typeface="Arial"/>
                <a:cs typeface="Arial"/>
              </a:rPr>
              <a:t>of  </a:t>
            </a:r>
            <a:r>
              <a:rPr dirty="0" sz="1100" spc="-5">
                <a:latin typeface="Arial"/>
                <a:cs typeface="Arial"/>
              </a:rPr>
              <a:t>income</a:t>
            </a:r>
            <a:r>
              <a:rPr dirty="0" sz="1100" spc="95">
                <a:latin typeface="Arial"/>
                <a:cs typeface="Arial"/>
              </a:rPr>
              <a:t> </a:t>
            </a:r>
            <a:r>
              <a:rPr dirty="0" sz="1100" spc="-5">
                <a:latin typeface="Arial"/>
                <a:cs typeface="Arial"/>
              </a:rPr>
              <a:t>per</a:t>
            </a:r>
            <a:r>
              <a:rPr dirty="0" sz="1100" spc="105">
                <a:latin typeface="Arial"/>
                <a:cs typeface="Arial"/>
              </a:rPr>
              <a:t> </a:t>
            </a:r>
            <a:r>
              <a:rPr dirty="0" sz="1100" spc="-5">
                <a:latin typeface="Arial"/>
                <a:cs typeface="Arial"/>
              </a:rPr>
              <a:t>capita</a:t>
            </a:r>
            <a:r>
              <a:rPr dirty="0" sz="1100" spc="95">
                <a:latin typeface="Arial"/>
                <a:cs typeface="Arial"/>
              </a:rPr>
              <a:t> </a:t>
            </a:r>
            <a:r>
              <a:rPr dirty="0" sz="1100" spc="-5">
                <a:latin typeface="Arial"/>
                <a:cs typeface="Arial"/>
              </a:rPr>
              <a:t>but</a:t>
            </a:r>
            <a:r>
              <a:rPr dirty="0" sz="1100" spc="100">
                <a:latin typeface="Arial"/>
                <a:cs typeface="Arial"/>
              </a:rPr>
              <a:t> </a:t>
            </a:r>
            <a:r>
              <a:rPr dirty="0" sz="1100" spc="-5">
                <a:latin typeface="Arial"/>
                <a:cs typeface="Arial"/>
              </a:rPr>
              <a:t>negatively</a:t>
            </a:r>
            <a:r>
              <a:rPr dirty="0" sz="1100" spc="95">
                <a:latin typeface="Arial"/>
                <a:cs typeface="Arial"/>
              </a:rPr>
              <a:t> </a:t>
            </a:r>
            <a:r>
              <a:rPr dirty="0" sz="1100" spc="-5">
                <a:latin typeface="Arial"/>
                <a:cs typeface="Arial"/>
              </a:rPr>
              <a:t>on</a:t>
            </a:r>
            <a:r>
              <a:rPr dirty="0" sz="1100" spc="105">
                <a:latin typeface="Arial"/>
                <a:cs typeface="Arial"/>
              </a:rPr>
              <a:t> </a:t>
            </a:r>
            <a:r>
              <a:rPr dirty="0" sz="1100" spc="-5">
                <a:latin typeface="Arial"/>
                <a:cs typeface="Arial"/>
              </a:rPr>
              <a:t>poverty</a:t>
            </a:r>
            <a:r>
              <a:rPr dirty="0" sz="1100" spc="90">
                <a:latin typeface="Arial"/>
                <a:cs typeface="Arial"/>
              </a:rPr>
              <a:t> </a:t>
            </a:r>
            <a:r>
              <a:rPr dirty="0" sz="1100">
                <a:latin typeface="Arial"/>
                <a:cs typeface="Arial"/>
              </a:rPr>
              <a:t>and</a:t>
            </a:r>
            <a:r>
              <a:rPr dirty="0" sz="1100" spc="100">
                <a:latin typeface="Arial"/>
                <a:cs typeface="Arial"/>
              </a:rPr>
              <a:t> </a:t>
            </a:r>
            <a:r>
              <a:rPr dirty="0" sz="1100" spc="-5">
                <a:latin typeface="Arial"/>
                <a:cs typeface="Arial"/>
              </a:rPr>
              <a:t>negatively</a:t>
            </a:r>
            <a:r>
              <a:rPr dirty="0" sz="1100" spc="95">
                <a:latin typeface="Arial"/>
                <a:cs typeface="Arial"/>
              </a:rPr>
              <a:t> </a:t>
            </a:r>
            <a:r>
              <a:rPr dirty="0" sz="1100" spc="-5">
                <a:latin typeface="Arial"/>
                <a:cs typeface="Arial"/>
              </a:rPr>
              <a:t>on</a:t>
            </a:r>
            <a:r>
              <a:rPr dirty="0" sz="1100" spc="100">
                <a:latin typeface="Arial"/>
                <a:cs typeface="Arial"/>
              </a:rPr>
              <a:t> </a:t>
            </a:r>
            <a:r>
              <a:rPr dirty="0" sz="1100" spc="-5">
                <a:latin typeface="Arial"/>
                <a:cs typeface="Arial"/>
              </a:rPr>
              <a:t>the</a:t>
            </a:r>
            <a:r>
              <a:rPr dirty="0" sz="1100" spc="95">
                <a:latin typeface="Arial"/>
                <a:cs typeface="Arial"/>
              </a:rPr>
              <a:t> </a:t>
            </a:r>
            <a:r>
              <a:rPr dirty="0" sz="1100">
                <a:latin typeface="Arial"/>
                <a:cs typeface="Arial"/>
              </a:rPr>
              <a:t>level</a:t>
            </a:r>
            <a:r>
              <a:rPr dirty="0" sz="1100" spc="95">
                <a:latin typeface="Arial"/>
                <a:cs typeface="Arial"/>
              </a:rPr>
              <a:t> </a:t>
            </a:r>
            <a:r>
              <a:rPr dirty="0" sz="1100" spc="-5">
                <a:latin typeface="Arial"/>
                <a:cs typeface="Arial"/>
              </a:rPr>
              <a:t>of</a:t>
            </a:r>
            <a:r>
              <a:rPr dirty="0" sz="1100" spc="100">
                <a:latin typeface="Arial"/>
                <a:cs typeface="Arial"/>
              </a:rPr>
              <a:t> </a:t>
            </a:r>
            <a:r>
              <a:rPr dirty="0" sz="1100" spc="-5">
                <a:latin typeface="Arial"/>
                <a:cs typeface="Arial"/>
              </a:rPr>
              <a:t>inequality,</a:t>
            </a:r>
            <a:r>
              <a:rPr dirty="0" sz="1100" spc="95">
                <a:latin typeface="Arial"/>
                <a:cs typeface="Arial"/>
              </a:rPr>
              <a:t> </a:t>
            </a:r>
            <a:r>
              <a:rPr dirty="0" sz="1100" spc="-5">
                <a:latin typeface="Arial"/>
                <a:cs typeface="Arial"/>
              </a:rPr>
              <a:t>as</a:t>
            </a:r>
            <a:r>
              <a:rPr dirty="0" sz="1100" spc="100">
                <a:latin typeface="Arial"/>
                <a:cs typeface="Arial"/>
              </a:rPr>
              <a:t> </a:t>
            </a:r>
            <a:r>
              <a:rPr dirty="0" sz="1100" spc="-5">
                <a:latin typeface="Arial"/>
                <a:cs typeface="Arial"/>
              </a:rPr>
              <a:t>these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58</a:t>
            </a:r>
            <a:endParaRPr sz="1100">
              <a:latin typeface="Carlito"/>
              <a:cs typeface="Carlit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635444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terms have just been defined. The problem of absolute poverty is obvious. No civilized people  can feel satisfied with a state of affairs in </a:t>
            </a:r>
            <a:r>
              <a:rPr dirty="0" sz="1100">
                <a:latin typeface="Arial"/>
                <a:cs typeface="Arial"/>
              </a:rPr>
              <a:t>which </a:t>
            </a:r>
            <a:r>
              <a:rPr dirty="0" sz="1100" spc="-5">
                <a:latin typeface="Arial"/>
                <a:cs typeface="Arial"/>
              </a:rPr>
              <a:t>their fellow humans exist in conditions of such  absolute human misery, which is probably why every major religion has emphasized the  importance of working to alleviate poverty and is at least one of the reasons why international  development assistance has the nearly universal support of every democratic nation. Why  should we be concerned with inequality among </a:t>
            </a:r>
            <a:r>
              <a:rPr dirty="0" sz="1100">
                <a:latin typeface="Arial"/>
                <a:cs typeface="Arial"/>
              </a:rPr>
              <a:t>those </a:t>
            </a:r>
            <a:r>
              <a:rPr dirty="0" sz="1100" spc="-5">
                <a:latin typeface="Arial"/>
                <a:cs typeface="Arial"/>
              </a:rPr>
              <a:t>above the poverty</a:t>
            </a:r>
            <a:r>
              <a:rPr dirty="0" sz="1100" spc="70">
                <a:latin typeface="Arial"/>
                <a:cs typeface="Arial"/>
              </a:rPr>
              <a:t> </a:t>
            </a:r>
            <a:r>
              <a:rPr dirty="0" sz="1100" spc="-5">
                <a:latin typeface="Arial"/>
                <a:cs typeface="Arial"/>
              </a:rPr>
              <a:t>line?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There are three major answers to this</a:t>
            </a:r>
            <a:r>
              <a:rPr dirty="0" sz="1100" spc="35" b="1">
                <a:latin typeface="Arial"/>
                <a:cs typeface="Arial"/>
              </a:rPr>
              <a:t> </a:t>
            </a:r>
            <a:r>
              <a:rPr dirty="0" sz="1100" spc="-5" b="1">
                <a:latin typeface="Arial"/>
                <a:cs typeface="Arial"/>
              </a:rPr>
              <a:t>question.</a:t>
            </a:r>
            <a:endParaRPr sz="1100">
              <a:latin typeface="Arial"/>
              <a:cs typeface="Arial"/>
            </a:endParaRPr>
          </a:p>
          <a:p>
            <a:pPr>
              <a:lnSpc>
                <a:spcPct val="100000"/>
              </a:lnSpc>
              <a:spcBef>
                <a:spcPts val="10"/>
              </a:spcBef>
            </a:pPr>
            <a:endParaRPr sz="11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Extreme income inequality leads to economic</a:t>
            </a:r>
            <a:r>
              <a:rPr dirty="0" sz="1100" spc="30">
                <a:latin typeface="Arial"/>
                <a:cs typeface="Arial"/>
              </a:rPr>
              <a:t> </a:t>
            </a:r>
            <a:r>
              <a:rPr dirty="0" sz="1100" spc="-5">
                <a:latin typeface="Arial"/>
                <a:cs typeface="Arial"/>
              </a:rPr>
              <a:t>inefficiency.</a:t>
            </a:r>
            <a:endParaRPr sz="1100">
              <a:latin typeface="Arial"/>
              <a:cs typeface="Arial"/>
            </a:endParaRPr>
          </a:p>
          <a:p>
            <a:pPr algn="just" marL="469900" marR="6350" indent="-228600">
              <a:lnSpc>
                <a:spcPts val="1260"/>
              </a:lnSpc>
              <a:spcBef>
                <a:spcPts val="114"/>
              </a:spcBef>
              <a:buFont typeface="Symbol"/>
              <a:buChar char=""/>
              <a:tabLst>
                <a:tab pos="470534" algn="l"/>
              </a:tabLst>
            </a:pPr>
            <a:r>
              <a:rPr dirty="0" sz="1100" spc="-5">
                <a:latin typeface="Arial"/>
                <a:cs typeface="Arial"/>
              </a:rPr>
              <a:t>Extreme income disparities undermine social stability and solidarity. High inequality  facilitates rent seeking, including actions such as excessive lobbying, large political  donations, bribery and</a:t>
            </a:r>
            <a:r>
              <a:rPr dirty="0" sz="1100" spc="10">
                <a:latin typeface="Arial"/>
                <a:cs typeface="Arial"/>
              </a:rPr>
              <a:t> </a:t>
            </a:r>
            <a:r>
              <a:rPr dirty="0" sz="1100" spc="-5">
                <a:latin typeface="Arial"/>
                <a:cs typeface="Arial"/>
              </a:rPr>
              <a:t>cronyism.</a:t>
            </a:r>
            <a:endParaRPr sz="1100">
              <a:latin typeface="Arial"/>
              <a:cs typeface="Arial"/>
            </a:endParaRPr>
          </a:p>
          <a:p>
            <a:pPr algn="just" marL="469900" marR="8890" indent="-228600">
              <a:lnSpc>
                <a:spcPts val="1260"/>
              </a:lnSpc>
              <a:spcBef>
                <a:spcPts val="85"/>
              </a:spcBef>
              <a:buFont typeface="Symbol"/>
              <a:buChar char=""/>
              <a:tabLst>
                <a:tab pos="470534" algn="l"/>
              </a:tabLst>
            </a:pPr>
            <a:r>
              <a:rPr dirty="0" sz="1100" spc="-5">
                <a:latin typeface="Arial"/>
                <a:cs typeface="Arial"/>
              </a:rPr>
              <a:t>Extreme inequality is generally viewed as unfair i.e. it </a:t>
            </a:r>
            <a:r>
              <a:rPr dirty="0" sz="1100">
                <a:latin typeface="Arial"/>
                <a:cs typeface="Arial"/>
              </a:rPr>
              <a:t>may also </a:t>
            </a:r>
            <a:r>
              <a:rPr dirty="0" sz="1100" spc="-5">
                <a:latin typeface="Arial"/>
                <a:cs typeface="Arial"/>
              </a:rPr>
              <a:t>lead the poor to support  populist policies that can be self</a:t>
            </a:r>
            <a:r>
              <a:rPr dirty="0" sz="1100" spc="20">
                <a:latin typeface="Arial"/>
                <a:cs typeface="Arial"/>
              </a:rPr>
              <a:t> </a:t>
            </a:r>
            <a:r>
              <a:rPr dirty="0" sz="1100" spc="-5">
                <a:latin typeface="Arial"/>
                <a:cs typeface="Arial"/>
              </a:rPr>
              <a:t>defeating.</a:t>
            </a:r>
            <a:endParaRPr sz="1100">
              <a:latin typeface="Arial"/>
              <a:cs typeface="Arial"/>
            </a:endParaRPr>
          </a:p>
          <a:p>
            <a:pPr>
              <a:lnSpc>
                <a:spcPct val="100000"/>
              </a:lnSpc>
            </a:pPr>
            <a:endParaRPr sz="1100">
              <a:latin typeface="Arial"/>
              <a:cs typeface="Arial"/>
            </a:endParaRPr>
          </a:p>
          <a:p>
            <a:pPr marL="12700" marR="1228090">
              <a:lnSpc>
                <a:spcPts val="1270"/>
              </a:lnSpc>
            </a:pPr>
            <a:r>
              <a:rPr dirty="0" sz="1100" spc="-5">
                <a:latin typeface="Arial"/>
                <a:cs typeface="Arial"/>
              </a:rPr>
              <a:t>For all these reasons, for this part of the analysis we will write welfare, W, as  W = W(Y, I,</a:t>
            </a:r>
            <a:r>
              <a:rPr dirty="0" sz="1100" spc="10">
                <a:latin typeface="Arial"/>
                <a:cs typeface="Arial"/>
              </a:rPr>
              <a:t> </a:t>
            </a:r>
            <a:r>
              <a:rPr dirty="0" sz="1100" spc="-5">
                <a:latin typeface="Arial"/>
                <a:cs typeface="Arial"/>
              </a:rPr>
              <a:t>P)</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pPr>
            <a:r>
              <a:rPr dirty="0" sz="1100" spc="-5">
                <a:latin typeface="Arial"/>
                <a:cs typeface="Arial"/>
              </a:rPr>
              <a:t>Where Y is income per capita and enters our welfare function positively, I is inequality and  enters negatively, and P is absolute poverty and also enters negatively. These three  components have distinct significance, and we need to consider all three elements to achieve  an overall assessment of welfare in developing</a:t>
            </a:r>
            <a:r>
              <a:rPr dirty="0" sz="1100" spc="30">
                <a:latin typeface="Arial"/>
                <a:cs typeface="Arial"/>
              </a:rPr>
              <a:t> </a:t>
            </a:r>
            <a:r>
              <a:rPr dirty="0" sz="1100" spc="-5">
                <a:latin typeface="Arial"/>
                <a:cs typeface="Arial"/>
              </a:rPr>
              <a:t>countries.</a:t>
            </a:r>
            <a:endParaRPr sz="1100">
              <a:latin typeface="Arial"/>
              <a:cs typeface="Arial"/>
            </a:endParaRPr>
          </a:p>
          <a:p>
            <a:pPr marL="12700" marR="1837055" indent="-635">
              <a:lnSpc>
                <a:spcPts val="2640"/>
              </a:lnSpc>
              <a:spcBef>
                <a:spcPts val="209"/>
              </a:spcBef>
            </a:pPr>
            <a:r>
              <a:rPr dirty="0" sz="1100" spc="-5" b="1">
                <a:latin typeface="Arial"/>
                <a:cs typeface="Arial"/>
              </a:rPr>
              <a:t>DUALISTIC DEVELOPMENT AND </a:t>
            </a:r>
            <a:r>
              <a:rPr dirty="0" sz="1100" spc="-10" b="1">
                <a:latin typeface="Arial"/>
                <a:cs typeface="Arial"/>
              </a:rPr>
              <a:t>SHIFTING </a:t>
            </a:r>
            <a:r>
              <a:rPr dirty="0" sz="1100" spc="-5" b="1">
                <a:latin typeface="Arial"/>
                <a:cs typeface="Arial"/>
              </a:rPr>
              <a:t>LORENZ CURVES  SOME STYLIZED</a:t>
            </a:r>
            <a:r>
              <a:rPr dirty="0" sz="1100" b="1">
                <a:latin typeface="Arial"/>
                <a:cs typeface="Arial"/>
              </a:rPr>
              <a:t> </a:t>
            </a:r>
            <a:r>
              <a:rPr dirty="0" sz="1100" spc="-5" b="1">
                <a:latin typeface="Arial"/>
                <a:cs typeface="Arial"/>
              </a:rPr>
              <a:t>TYPOLOGIES</a:t>
            </a:r>
            <a:endParaRPr sz="1100">
              <a:latin typeface="Arial"/>
              <a:cs typeface="Arial"/>
            </a:endParaRPr>
          </a:p>
          <a:p>
            <a:pPr algn="just" marL="12700">
              <a:lnSpc>
                <a:spcPct val="100000"/>
              </a:lnSpc>
              <a:spcBef>
                <a:spcPts val="1010"/>
              </a:spcBef>
            </a:pPr>
            <a:r>
              <a:rPr dirty="0" sz="1100" spc="-5">
                <a:latin typeface="Arial"/>
                <a:cs typeface="Arial"/>
              </a:rPr>
              <a:t>Gary Fields used Lorenz curves to analyze three limiting cases of dualistic</a:t>
            </a:r>
            <a:r>
              <a:rPr dirty="0" sz="1100" spc="145">
                <a:latin typeface="Arial"/>
                <a:cs typeface="Arial"/>
              </a:rPr>
              <a:t> </a:t>
            </a:r>
            <a:r>
              <a:rPr dirty="0" sz="1100" spc="-5">
                <a:latin typeface="Arial"/>
                <a:cs typeface="Arial"/>
              </a:rPr>
              <a:t>development.</a:t>
            </a:r>
            <a:endParaRPr sz="1100">
              <a:latin typeface="Arial"/>
              <a:cs typeface="Arial"/>
            </a:endParaRPr>
          </a:p>
          <a:p>
            <a:pPr>
              <a:lnSpc>
                <a:spcPct val="100000"/>
              </a:lnSpc>
              <a:spcBef>
                <a:spcPts val="5"/>
              </a:spcBef>
            </a:pPr>
            <a:endParaRPr sz="1100">
              <a:latin typeface="Arial"/>
              <a:cs typeface="Arial"/>
            </a:endParaRPr>
          </a:p>
          <a:p>
            <a:pPr algn="just" marL="469900" marR="5715" indent="-228600">
              <a:lnSpc>
                <a:spcPct val="95700"/>
              </a:lnSpc>
              <a:buFont typeface="Arial"/>
              <a:buAutoNum type="arabicPeriod"/>
              <a:tabLst>
                <a:tab pos="469900" algn="l"/>
              </a:tabLst>
            </a:pPr>
            <a:r>
              <a:rPr dirty="0" sz="1100" spc="-5">
                <a:latin typeface="Arial"/>
                <a:cs typeface="Arial"/>
              </a:rPr>
              <a:t>The </a:t>
            </a:r>
            <a:r>
              <a:rPr dirty="0" sz="1100" spc="-5" b="1">
                <a:latin typeface="Arial"/>
                <a:cs typeface="Arial"/>
              </a:rPr>
              <a:t>modern-sector enlargement </a:t>
            </a:r>
            <a:r>
              <a:rPr dirty="0" sz="1100" b="1">
                <a:latin typeface="Arial"/>
                <a:cs typeface="Arial"/>
              </a:rPr>
              <a:t>growth </a:t>
            </a:r>
            <a:r>
              <a:rPr dirty="0" sz="1100" spc="-5" b="1">
                <a:latin typeface="Arial"/>
                <a:cs typeface="Arial"/>
              </a:rPr>
              <a:t>typology</a:t>
            </a:r>
            <a:r>
              <a:rPr dirty="0" sz="1100" spc="-5">
                <a:latin typeface="Arial"/>
                <a:cs typeface="Arial"/>
              </a:rPr>
              <a:t>, in which the two-sector economy  develops by enlarging the size of its modern sector while maintaining constant wages in  both sectors.</a:t>
            </a:r>
            <a:endParaRPr sz="1100">
              <a:latin typeface="Arial"/>
              <a:cs typeface="Arial"/>
            </a:endParaRPr>
          </a:p>
          <a:p>
            <a:pPr algn="just" marL="469265" marR="6350" indent="-228600">
              <a:lnSpc>
                <a:spcPts val="1270"/>
              </a:lnSpc>
              <a:spcBef>
                <a:spcPts val="30"/>
              </a:spcBef>
              <a:buFont typeface="Arial"/>
              <a:buAutoNum type="arabicPeriod"/>
              <a:tabLst>
                <a:tab pos="469900" algn="l"/>
              </a:tabLst>
            </a:pPr>
            <a:r>
              <a:rPr dirty="0" sz="1100" spc="-5">
                <a:latin typeface="Arial"/>
                <a:cs typeface="Arial"/>
              </a:rPr>
              <a:t>The </a:t>
            </a:r>
            <a:r>
              <a:rPr dirty="0" sz="1100" spc="-5" b="1">
                <a:latin typeface="Arial"/>
                <a:cs typeface="Arial"/>
              </a:rPr>
              <a:t>modern-sector enrichment </a:t>
            </a:r>
            <a:r>
              <a:rPr dirty="0" sz="1100" b="1">
                <a:latin typeface="Arial"/>
                <a:cs typeface="Arial"/>
              </a:rPr>
              <a:t>growth </a:t>
            </a:r>
            <a:r>
              <a:rPr dirty="0" sz="1100" spc="-5" b="1">
                <a:latin typeface="Arial"/>
                <a:cs typeface="Arial"/>
              </a:rPr>
              <a:t>typology, </a:t>
            </a:r>
            <a:r>
              <a:rPr dirty="0" sz="1100" spc="-5">
                <a:latin typeface="Arial"/>
                <a:cs typeface="Arial"/>
              </a:rPr>
              <a:t>in </a:t>
            </a:r>
            <a:r>
              <a:rPr dirty="0" sz="1100">
                <a:latin typeface="Arial"/>
                <a:cs typeface="Arial"/>
              </a:rPr>
              <a:t>which </a:t>
            </a:r>
            <a:r>
              <a:rPr dirty="0" sz="1100" spc="-5">
                <a:latin typeface="Arial"/>
                <a:cs typeface="Arial"/>
              </a:rPr>
              <a:t>the economy grows </a:t>
            </a:r>
            <a:r>
              <a:rPr dirty="0" sz="1100">
                <a:latin typeface="Arial"/>
                <a:cs typeface="Arial"/>
              </a:rPr>
              <a:t>but  </a:t>
            </a:r>
            <a:r>
              <a:rPr dirty="0" sz="1100" spc="-5">
                <a:latin typeface="Arial"/>
                <a:cs typeface="Arial"/>
              </a:rPr>
              <a:t>such growth is limited to a fixed number of people in the modern sector, with both the  numbers of workers and their wages held constant in the traditional</a:t>
            </a:r>
            <a:r>
              <a:rPr dirty="0" sz="1100" spc="95">
                <a:latin typeface="Arial"/>
                <a:cs typeface="Arial"/>
              </a:rPr>
              <a:t> </a:t>
            </a:r>
            <a:r>
              <a:rPr dirty="0" sz="1100" spc="-5">
                <a:latin typeface="Arial"/>
                <a:cs typeface="Arial"/>
              </a:rPr>
              <a:t>sector.</a:t>
            </a:r>
            <a:endParaRPr sz="1100">
              <a:latin typeface="Arial"/>
              <a:cs typeface="Arial"/>
            </a:endParaRPr>
          </a:p>
          <a:p>
            <a:pPr algn="just" marL="469265" indent="-229235">
              <a:lnSpc>
                <a:spcPts val="1195"/>
              </a:lnSpc>
              <a:buFont typeface="Arial"/>
              <a:buAutoNum type="arabicPeriod"/>
              <a:tabLst>
                <a:tab pos="469900" algn="l"/>
              </a:tabLst>
            </a:pPr>
            <a:r>
              <a:rPr dirty="0" sz="1100" spc="-5">
                <a:latin typeface="Arial"/>
                <a:cs typeface="Arial"/>
              </a:rPr>
              <a:t>The </a:t>
            </a:r>
            <a:r>
              <a:rPr dirty="0" sz="1100" spc="-5" b="1">
                <a:latin typeface="Arial"/>
                <a:cs typeface="Arial"/>
              </a:rPr>
              <a:t>traditional-sector enrichment </a:t>
            </a:r>
            <a:r>
              <a:rPr dirty="0" sz="1100" b="1">
                <a:latin typeface="Arial"/>
                <a:cs typeface="Arial"/>
              </a:rPr>
              <a:t>growth </a:t>
            </a:r>
            <a:r>
              <a:rPr dirty="0" sz="1100" spc="-5" b="1">
                <a:latin typeface="Arial"/>
                <a:cs typeface="Arial"/>
              </a:rPr>
              <a:t>typology, </a:t>
            </a:r>
            <a:r>
              <a:rPr dirty="0" sz="1100" spc="-5">
                <a:latin typeface="Arial"/>
                <a:cs typeface="Arial"/>
              </a:rPr>
              <a:t>in which all of the benefits</a:t>
            </a:r>
            <a:r>
              <a:rPr dirty="0" sz="1100" spc="-55">
                <a:latin typeface="Arial"/>
                <a:cs typeface="Arial"/>
              </a:rPr>
              <a:t> </a:t>
            </a:r>
            <a:r>
              <a:rPr dirty="0" sz="1100" spc="-5">
                <a:latin typeface="Arial"/>
                <a:cs typeface="Arial"/>
              </a:rPr>
              <a:t>of</a:t>
            </a:r>
            <a:endParaRPr sz="1100">
              <a:latin typeface="Arial"/>
              <a:cs typeface="Arial"/>
            </a:endParaRPr>
          </a:p>
          <a:p>
            <a:pPr algn="just" marL="469265" marR="5715">
              <a:lnSpc>
                <a:spcPts val="1260"/>
              </a:lnSpc>
              <a:spcBef>
                <a:spcPts val="65"/>
              </a:spcBef>
            </a:pPr>
            <a:r>
              <a:rPr dirty="0" sz="1100" spc="-5">
                <a:latin typeface="Arial"/>
                <a:cs typeface="Arial"/>
              </a:rPr>
              <a:t>growth are divided among traditional-sector workers, with little or no growth occurring in  the modern</a:t>
            </a:r>
            <a:r>
              <a:rPr dirty="0" sz="1100">
                <a:latin typeface="Arial"/>
                <a:cs typeface="Arial"/>
              </a:rPr>
              <a:t> </a:t>
            </a:r>
            <a:r>
              <a:rPr dirty="0" sz="1100" spc="-5">
                <a:latin typeface="Arial"/>
                <a:cs typeface="Arial"/>
              </a:rPr>
              <a:t>sector.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59</a:t>
            </a:r>
            <a:endParaRPr sz="1100">
              <a:latin typeface="Carlito"/>
              <a:cs typeface="Carlit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763520"/>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Using these three special cases and Lorenz curves, Fields demonstrated the validity of the  following propositions.</a:t>
            </a:r>
            <a:endParaRPr sz="1100">
              <a:latin typeface="Arial"/>
              <a:cs typeface="Arial"/>
            </a:endParaRPr>
          </a:p>
          <a:p>
            <a:pPr>
              <a:lnSpc>
                <a:spcPct val="100000"/>
              </a:lnSpc>
              <a:spcBef>
                <a:spcPts val="45"/>
              </a:spcBef>
            </a:pPr>
            <a:endParaRPr sz="1050">
              <a:latin typeface="Arial"/>
              <a:cs typeface="Arial"/>
            </a:endParaRPr>
          </a:p>
          <a:p>
            <a:pPr algn="just" marL="469265" marR="5715" indent="-228600">
              <a:lnSpc>
                <a:spcPts val="1270"/>
              </a:lnSpc>
              <a:buFont typeface="Arial"/>
              <a:buAutoNum type="arabicPeriod"/>
              <a:tabLst>
                <a:tab pos="469900" algn="l"/>
              </a:tabLst>
            </a:pPr>
            <a:r>
              <a:rPr dirty="0" sz="1100" spc="-5">
                <a:latin typeface="Arial"/>
                <a:cs typeface="Arial"/>
              </a:rPr>
              <a:t>In the traditional-sector enrichment typology, growth results in higher income, a more  equal relative distribution of income, and </a:t>
            </a:r>
            <a:r>
              <a:rPr dirty="0" sz="1100">
                <a:latin typeface="Arial"/>
                <a:cs typeface="Arial"/>
              </a:rPr>
              <a:t>less </a:t>
            </a:r>
            <a:r>
              <a:rPr dirty="0" sz="1100" spc="-5">
                <a:latin typeface="Arial"/>
                <a:cs typeface="Arial"/>
              </a:rPr>
              <a:t>poverty. Traditional sector enrichment  growth causes the Lorenz curve to shift uniformly upward and closer toward the line of  equality, as depicted in Figure</a:t>
            </a:r>
            <a:r>
              <a:rPr dirty="0" sz="1100" spc="10">
                <a:latin typeface="Arial"/>
                <a:cs typeface="Arial"/>
              </a:rPr>
              <a:t> </a:t>
            </a:r>
            <a:r>
              <a:rPr dirty="0" sz="1100" spc="-5">
                <a:latin typeface="Arial"/>
                <a:cs typeface="Arial"/>
              </a:rPr>
              <a:t>5.7.</a:t>
            </a:r>
            <a:endParaRPr sz="1100">
              <a:latin typeface="Arial"/>
              <a:cs typeface="Arial"/>
            </a:endParaRPr>
          </a:p>
          <a:p>
            <a:pPr algn="just" marL="469265" indent="-229235">
              <a:lnSpc>
                <a:spcPts val="1195"/>
              </a:lnSpc>
              <a:buFont typeface="Arial"/>
              <a:buAutoNum type="arabicPeriod"/>
              <a:tabLst>
                <a:tab pos="469900" algn="l"/>
              </a:tabLst>
            </a:pPr>
            <a:r>
              <a:rPr dirty="0" sz="1100" spc="-5">
                <a:latin typeface="Arial"/>
                <a:cs typeface="Arial"/>
              </a:rPr>
              <a:t>In</a:t>
            </a:r>
            <a:r>
              <a:rPr dirty="0" sz="1100" spc="165">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modern-sector</a:t>
            </a:r>
            <a:r>
              <a:rPr dirty="0" sz="1100" spc="165">
                <a:latin typeface="Arial"/>
                <a:cs typeface="Arial"/>
              </a:rPr>
              <a:t> </a:t>
            </a:r>
            <a:r>
              <a:rPr dirty="0" sz="1100" spc="-5">
                <a:latin typeface="Arial"/>
                <a:cs typeface="Arial"/>
              </a:rPr>
              <a:t>enrichment</a:t>
            </a:r>
            <a:r>
              <a:rPr dirty="0" sz="1100" spc="165">
                <a:latin typeface="Arial"/>
                <a:cs typeface="Arial"/>
              </a:rPr>
              <a:t> </a:t>
            </a:r>
            <a:r>
              <a:rPr dirty="0" sz="1100" spc="-5">
                <a:latin typeface="Arial"/>
                <a:cs typeface="Arial"/>
              </a:rPr>
              <a:t>growth</a:t>
            </a:r>
            <a:r>
              <a:rPr dirty="0" sz="1100" spc="170">
                <a:latin typeface="Arial"/>
                <a:cs typeface="Arial"/>
              </a:rPr>
              <a:t> </a:t>
            </a:r>
            <a:r>
              <a:rPr dirty="0" sz="1100" spc="-5">
                <a:latin typeface="Arial"/>
                <a:cs typeface="Arial"/>
              </a:rPr>
              <a:t>typology,</a:t>
            </a:r>
            <a:r>
              <a:rPr dirty="0" sz="1100" spc="165">
                <a:latin typeface="Arial"/>
                <a:cs typeface="Arial"/>
              </a:rPr>
              <a:t> </a:t>
            </a:r>
            <a:r>
              <a:rPr dirty="0" sz="1100" spc="-5">
                <a:latin typeface="Arial"/>
                <a:cs typeface="Arial"/>
              </a:rPr>
              <a:t>growth</a:t>
            </a:r>
            <a:r>
              <a:rPr dirty="0" sz="1100" spc="175">
                <a:latin typeface="Arial"/>
                <a:cs typeface="Arial"/>
              </a:rPr>
              <a:t> </a:t>
            </a:r>
            <a:r>
              <a:rPr dirty="0" sz="1100" spc="-5">
                <a:latin typeface="Arial"/>
                <a:cs typeface="Arial"/>
              </a:rPr>
              <a:t>results</a:t>
            </a:r>
            <a:r>
              <a:rPr dirty="0" sz="1100" spc="170">
                <a:latin typeface="Arial"/>
                <a:cs typeface="Arial"/>
              </a:rPr>
              <a:t> </a:t>
            </a:r>
            <a:r>
              <a:rPr dirty="0" sz="1100" spc="-5">
                <a:latin typeface="Arial"/>
                <a:cs typeface="Arial"/>
              </a:rPr>
              <a:t>in</a:t>
            </a:r>
            <a:r>
              <a:rPr dirty="0" sz="1100" spc="165">
                <a:latin typeface="Arial"/>
                <a:cs typeface="Arial"/>
              </a:rPr>
              <a:t> </a:t>
            </a:r>
            <a:r>
              <a:rPr dirty="0" sz="1100" spc="-5">
                <a:latin typeface="Arial"/>
                <a:cs typeface="Arial"/>
              </a:rPr>
              <a:t>higher</a:t>
            </a:r>
            <a:r>
              <a:rPr dirty="0" sz="1100" spc="170">
                <a:latin typeface="Arial"/>
                <a:cs typeface="Arial"/>
              </a:rPr>
              <a:t> </a:t>
            </a:r>
            <a:r>
              <a:rPr dirty="0" sz="1100" spc="-5">
                <a:latin typeface="Arial"/>
                <a:cs typeface="Arial"/>
              </a:rPr>
              <a:t>incomes,</a:t>
            </a:r>
            <a:r>
              <a:rPr dirty="0" sz="1100" spc="165">
                <a:latin typeface="Arial"/>
                <a:cs typeface="Arial"/>
              </a:rPr>
              <a:t> </a:t>
            </a:r>
            <a:r>
              <a:rPr dirty="0" sz="1100" spc="-5">
                <a:latin typeface="Arial"/>
                <a:cs typeface="Arial"/>
              </a:rPr>
              <a:t>a</a:t>
            </a:r>
            <a:endParaRPr sz="1100">
              <a:latin typeface="Arial"/>
              <a:cs typeface="Arial"/>
            </a:endParaRPr>
          </a:p>
          <a:p>
            <a:pPr algn="just" marL="469265" marR="5080">
              <a:lnSpc>
                <a:spcPct val="95700"/>
              </a:lnSpc>
              <a:spcBef>
                <a:spcPts val="30"/>
              </a:spcBef>
            </a:pPr>
            <a:r>
              <a:rPr dirty="0" sz="1100" spc="-5">
                <a:latin typeface="Arial"/>
                <a:cs typeface="Arial"/>
              </a:rPr>
              <a:t>less equal relative distribution of income, and no change in poverty. Modern-sector  enrichment growth causes the Lorenz curve to shift downward and farther from the line  of equality, as shown in Figure</a:t>
            </a:r>
            <a:r>
              <a:rPr dirty="0" sz="1100" spc="20">
                <a:latin typeface="Arial"/>
                <a:cs typeface="Arial"/>
              </a:rPr>
              <a:t> </a:t>
            </a:r>
            <a:r>
              <a:rPr dirty="0" sz="1100" spc="-5">
                <a:latin typeface="Arial"/>
                <a:cs typeface="Arial"/>
              </a:rPr>
              <a:t>5.8.</a:t>
            </a:r>
            <a:endParaRPr sz="1100">
              <a:latin typeface="Arial"/>
              <a:cs typeface="Arial"/>
            </a:endParaRPr>
          </a:p>
          <a:p>
            <a:pPr algn="just" marL="469265" marR="5080" indent="-228600">
              <a:lnSpc>
                <a:spcPct val="95800"/>
              </a:lnSpc>
              <a:buFont typeface="Arial"/>
              <a:buAutoNum type="arabicPeriod" startAt="3"/>
              <a:tabLst>
                <a:tab pos="469900" algn="l"/>
              </a:tabLst>
            </a:pPr>
            <a:r>
              <a:rPr dirty="0" sz="1100" spc="-5">
                <a:latin typeface="Arial"/>
                <a:cs typeface="Arial"/>
              </a:rPr>
              <a:t>Finally, in the case of Lewis-type modern-sector enlargement growth, absolute incomes  rise and absolute poverty is reduced, but the Lorenz curves will always cross, indicating  that we cannot make any unambiguous statement about changes in relative inequality: It  may improve or worsen. Fields shows that if, in fact, this style of growth experience is  predominant, inequality is likely first to worsen in the early stages of development and  then to improve. The crossing of the Lorenz curves is demonstrated in Figure</a:t>
            </a:r>
            <a:r>
              <a:rPr dirty="0" sz="1100" spc="140">
                <a:latin typeface="Arial"/>
                <a:cs typeface="Arial"/>
              </a:rPr>
              <a:t> </a:t>
            </a:r>
            <a:r>
              <a:rPr dirty="0" sz="1100" spc="-5">
                <a:latin typeface="Arial"/>
                <a:cs typeface="Arial"/>
              </a:rPr>
              <a:t>5.9.</a:t>
            </a:r>
            <a:endParaRPr sz="1100">
              <a:latin typeface="Arial"/>
              <a:cs typeface="Arial"/>
            </a:endParaRPr>
          </a:p>
        </p:txBody>
      </p:sp>
      <p:sp>
        <p:nvSpPr>
          <p:cNvPr id="7" name="object 7"/>
          <p:cNvSpPr/>
          <p:nvPr/>
        </p:nvSpPr>
        <p:spPr>
          <a:xfrm>
            <a:off x="2247900" y="3879341"/>
            <a:ext cx="3676650" cy="2667000"/>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082802" y="6688835"/>
            <a:ext cx="5924550" cy="2261616"/>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60</a:t>
            </a:r>
            <a:endParaRPr sz="1100">
              <a:latin typeface="Carlito"/>
              <a:cs typeface="Carlito"/>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536257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These three typologies offer different predictions about what will happen to inequality in the  course of economic growth. With modern-sector enrichment, inequality would rise steadily, while  under traditional-sector enrichment, inequality would fall steadily. Under modern-sector  enlargement, inequality would first rise and then</a:t>
            </a:r>
            <a:r>
              <a:rPr dirty="0" sz="1100" spc="25">
                <a:latin typeface="Arial"/>
                <a:cs typeface="Arial"/>
              </a:rPr>
              <a:t> </a:t>
            </a:r>
            <a:r>
              <a:rPr dirty="0" sz="1100" spc="-5">
                <a:latin typeface="Arial"/>
                <a:cs typeface="Arial"/>
              </a:rPr>
              <a:t>fall.</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These observations tell us that we have to qualify our conclusion that a rise in inequality is  inherently bad. In some cases, inequality </a:t>
            </a:r>
            <a:r>
              <a:rPr dirty="0" sz="1100">
                <a:latin typeface="Arial"/>
                <a:cs typeface="Arial"/>
              </a:rPr>
              <a:t>may </a:t>
            </a:r>
            <a:r>
              <a:rPr dirty="0" sz="1100" spc="-5">
                <a:latin typeface="Arial"/>
                <a:cs typeface="Arial"/>
              </a:rPr>
              <a:t>increase on a temporary </a:t>
            </a:r>
            <a:r>
              <a:rPr dirty="0" sz="1100">
                <a:latin typeface="Arial"/>
                <a:cs typeface="Arial"/>
              </a:rPr>
              <a:t>basis </a:t>
            </a:r>
            <a:r>
              <a:rPr dirty="0" sz="1100" spc="-5">
                <a:latin typeface="Arial"/>
                <a:cs typeface="Arial"/>
              </a:rPr>
              <a:t>due to causes that  will eventually make everyone better off and ultimately </a:t>
            </a:r>
            <a:r>
              <a:rPr dirty="0" sz="1100">
                <a:latin typeface="Arial"/>
                <a:cs typeface="Arial"/>
              </a:rPr>
              <a:t>lower </a:t>
            </a:r>
            <a:r>
              <a:rPr dirty="0" sz="1100" spc="-5">
                <a:latin typeface="Arial"/>
                <a:cs typeface="Arial"/>
              </a:rPr>
              <a:t>inequality. However, with modern-  sector enrichment growth, the increase in inequality is not later reversed, and the poor do not  escape their poverty.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KUZNETS’S INVERTED U</a:t>
            </a:r>
            <a:r>
              <a:rPr dirty="0" sz="1100" spc="5" b="1">
                <a:latin typeface="Arial"/>
                <a:cs typeface="Arial"/>
              </a:rPr>
              <a:t> </a:t>
            </a:r>
            <a:r>
              <a:rPr dirty="0" sz="1100" spc="-5" b="1">
                <a:latin typeface="Arial"/>
                <a:cs typeface="Arial"/>
              </a:rPr>
              <a:t>HYPOTHESIS</a:t>
            </a:r>
            <a:endParaRPr sz="1100">
              <a:latin typeface="Arial"/>
              <a:cs typeface="Arial"/>
            </a:endParaRPr>
          </a:p>
          <a:p>
            <a:pPr>
              <a:lnSpc>
                <a:spcPct val="100000"/>
              </a:lnSpc>
              <a:spcBef>
                <a:spcPts val="25"/>
              </a:spcBef>
            </a:pPr>
            <a:endParaRPr sz="1200">
              <a:latin typeface="Arial"/>
              <a:cs typeface="Arial"/>
            </a:endParaRPr>
          </a:p>
          <a:p>
            <a:pPr algn="just" marL="12700" marR="6350">
              <a:lnSpc>
                <a:spcPts val="1270"/>
              </a:lnSpc>
            </a:pPr>
            <a:r>
              <a:rPr dirty="0" sz="1100" spc="-5">
                <a:latin typeface="Arial"/>
                <a:cs typeface="Arial"/>
              </a:rPr>
              <a:t>A graph reflecting the relationship between a country’s income per capita and its equality of  income distribution.</a:t>
            </a:r>
            <a:endParaRPr sz="1100">
              <a:latin typeface="Arial"/>
              <a:cs typeface="Arial"/>
            </a:endParaRPr>
          </a:p>
          <a:p>
            <a:pPr algn="just" marL="12700">
              <a:lnSpc>
                <a:spcPts val="1195"/>
              </a:lnSpc>
            </a:pPr>
            <a:r>
              <a:rPr dirty="0" sz="1100" spc="-5">
                <a:latin typeface="Arial"/>
                <a:cs typeface="Arial"/>
              </a:rPr>
              <a:t>Kuznets</a:t>
            </a:r>
            <a:r>
              <a:rPr dirty="0" sz="1100" spc="35">
                <a:latin typeface="Arial"/>
                <a:cs typeface="Arial"/>
              </a:rPr>
              <a:t> </a:t>
            </a:r>
            <a:r>
              <a:rPr dirty="0" sz="1100" spc="-5">
                <a:latin typeface="Arial"/>
                <a:cs typeface="Arial"/>
              </a:rPr>
              <a:t>suggested</a:t>
            </a:r>
            <a:r>
              <a:rPr dirty="0" sz="1100" spc="35">
                <a:latin typeface="Arial"/>
                <a:cs typeface="Arial"/>
              </a:rPr>
              <a:t> </a:t>
            </a:r>
            <a:r>
              <a:rPr dirty="0" sz="1100" spc="-5">
                <a:latin typeface="Arial"/>
                <a:cs typeface="Arial"/>
              </a:rPr>
              <a:t>that</a:t>
            </a:r>
            <a:r>
              <a:rPr dirty="0" sz="1100" spc="35">
                <a:latin typeface="Arial"/>
                <a:cs typeface="Arial"/>
              </a:rPr>
              <a:t> </a:t>
            </a:r>
            <a:r>
              <a:rPr dirty="0" sz="1100" spc="-5">
                <a:latin typeface="Arial"/>
                <a:cs typeface="Arial"/>
              </a:rPr>
              <a:t>in</a:t>
            </a:r>
            <a:r>
              <a:rPr dirty="0" sz="1100" spc="40">
                <a:latin typeface="Arial"/>
                <a:cs typeface="Arial"/>
              </a:rPr>
              <a:t> </a:t>
            </a:r>
            <a:r>
              <a:rPr dirty="0" sz="1100" spc="-5">
                <a:latin typeface="Arial"/>
                <a:cs typeface="Arial"/>
              </a:rPr>
              <a:t>the</a:t>
            </a:r>
            <a:r>
              <a:rPr dirty="0" sz="1100" spc="30">
                <a:latin typeface="Arial"/>
                <a:cs typeface="Arial"/>
              </a:rPr>
              <a:t> </a:t>
            </a:r>
            <a:r>
              <a:rPr dirty="0" sz="1100" spc="-5">
                <a:latin typeface="Arial"/>
                <a:cs typeface="Arial"/>
              </a:rPr>
              <a:t>early</a:t>
            </a:r>
            <a:r>
              <a:rPr dirty="0" sz="1100" spc="35">
                <a:latin typeface="Arial"/>
                <a:cs typeface="Arial"/>
              </a:rPr>
              <a:t> </a:t>
            </a:r>
            <a:r>
              <a:rPr dirty="0" sz="1100" spc="-5">
                <a:latin typeface="Arial"/>
                <a:cs typeface="Arial"/>
              </a:rPr>
              <a:t>stages</a:t>
            </a:r>
            <a:r>
              <a:rPr dirty="0" sz="1100" spc="40">
                <a:latin typeface="Arial"/>
                <a:cs typeface="Arial"/>
              </a:rPr>
              <a:t> </a:t>
            </a:r>
            <a:r>
              <a:rPr dirty="0" sz="1100" spc="-5">
                <a:latin typeface="Arial"/>
                <a:cs typeface="Arial"/>
              </a:rPr>
              <a:t>of</a:t>
            </a:r>
            <a:endParaRPr sz="1100">
              <a:latin typeface="Arial"/>
              <a:cs typeface="Arial"/>
            </a:endParaRPr>
          </a:p>
          <a:p>
            <a:pPr algn="just" marL="12700" marR="2595880">
              <a:lnSpc>
                <a:spcPct val="95900"/>
              </a:lnSpc>
              <a:spcBef>
                <a:spcPts val="25"/>
              </a:spcBef>
            </a:pPr>
            <a:r>
              <a:rPr dirty="0" sz="1100" spc="-5">
                <a:latin typeface="Arial"/>
                <a:cs typeface="Arial"/>
              </a:rPr>
              <a:t>economic growth, the distribution of income will tend  to worsen; only at later stages it will improve. This  observation came to be characterized by the  “inverted-U” Kuznets curve because a longitudinal  (time-series) plot of changes in the distribution of  income as measured, for example, by </a:t>
            </a:r>
            <a:r>
              <a:rPr dirty="0" sz="1100">
                <a:latin typeface="Arial"/>
                <a:cs typeface="Arial"/>
              </a:rPr>
              <a:t>the </a:t>
            </a:r>
            <a:r>
              <a:rPr dirty="0" sz="1100" spc="-5">
                <a:latin typeface="Arial"/>
                <a:cs typeface="Arial"/>
              </a:rPr>
              <a:t>Gini  coefficient seemed, </a:t>
            </a:r>
            <a:r>
              <a:rPr dirty="0" sz="1100">
                <a:latin typeface="Arial"/>
                <a:cs typeface="Arial"/>
              </a:rPr>
              <a:t>when </a:t>
            </a:r>
            <a:r>
              <a:rPr dirty="0" sz="1100" spc="-5">
                <a:latin typeface="Arial"/>
                <a:cs typeface="Arial"/>
              </a:rPr>
              <a:t>per capita GNI expanded,  to trace out an inverted U-shaped curve in some of  the cases Kuznets studied, as illustrated in Fig</a:t>
            </a:r>
            <a:r>
              <a:rPr dirty="0" sz="1100" spc="75">
                <a:latin typeface="Arial"/>
                <a:cs typeface="Arial"/>
              </a:rPr>
              <a:t> </a:t>
            </a:r>
            <a:r>
              <a:rPr dirty="0" sz="1100" spc="-5">
                <a:latin typeface="Arial"/>
                <a:cs typeface="Arial"/>
              </a:rPr>
              <a:t>5.10.</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EVIDENCE ON THE INVERTED-U</a:t>
            </a:r>
            <a:r>
              <a:rPr dirty="0" sz="1100" spc="20" b="1">
                <a:latin typeface="Arial"/>
                <a:cs typeface="Arial"/>
              </a:rPr>
              <a:t> </a:t>
            </a:r>
            <a:r>
              <a:rPr dirty="0" sz="1100" spc="-5" b="1">
                <a:latin typeface="Arial"/>
                <a:cs typeface="Arial"/>
              </a:rPr>
              <a:t>HYPOTHESIS</a:t>
            </a:r>
            <a:endParaRPr sz="1100">
              <a:latin typeface="Arial"/>
              <a:cs typeface="Arial"/>
            </a:endParaRPr>
          </a:p>
          <a:p>
            <a:pPr>
              <a:lnSpc>
                <a:spcPct val="100000"/>
              </a:lnSpc>
            </a:pPr>
            <a:endParaRPr sz="1150">
              <a:latin typeface="Arial"/>
              <a:cs typeface="Arial"/>
            </a:endParaRPr>
          </a:p>
          <a:p>
            <a:pPr algn="just" marL="12700">
              <a:lnSpc>
                <a:spcPts val="1295"/>
              </a:lnSpc>
            </a:pPr>
            <a:r>
              <a:rPr dirty="0" sz="1100" spc="-5">
                <a:latin typeface="Arial"/>
                <a:cs typeface="Arial"/>
              </a:rPr>
              <a:t>Let</a:t>
            </a:r>
            <a:r>
              <a:rPr dirty="0" sz="1100" spc="60">
                <a:latin typeface="Arial"/>
                <a:cs typeface="Arial"/>
              </a:rPr>
              <a:t> </a:t>
            </a:r>
            <a:r>
              <a:rPr dirty="0" sz="1100" spc="-5">
                <a:latin typeface="Arial"/>
                <a:cs typeface="Arial"/>
              </a:rPr>
              <a:t>us</a:t>
            </a:r>
            <a:r>
              <a:rPr dirty="0" sz="1100" spc="60">
                <a:latin typeface="Arial"/>
                <a:cs typeface="Arial"/>
              </a:rPr>
              <a:t> </a:t>
            </a:r>
            <a:r>
              <a:rPr dirty="0" sz="1100" spc="-5">
                <a:latin typeface="Arial"/>
                <a:cs typeface="Arial"/>
              </a:rPr>
              <a:t>look</a:t>
            </a:r>
            <a:r>
              <a:rPr dirty="0" sz="1100" spc="55">
                <a:latin typeface="Arial"/>
                <a:cs typeface="Arial"/>
              </a:rPr>
              <a:t> </a:t>
            </a:r>
            <a:r>
              <a:rPr dirty="0" sz="1100" spc="-5">
                <a:latin typeface="Arial"/>
                <a:cs typeface="Arial"/>
              </a:rPr>
              <a:t>at</a:t>
            </a:r>
            <a:r>
              <a:rPr dirty="0" sz="1100" spc="60">
                <a:latin typeface="Arial"/>
                <a:cs typeface="Arial"/>
              </a:rPr>
              <a:t> </a:t>
            </a:r>
            <a:r>
              <a:rPr dirty="0" sz="1100" spc="-5">
                <a:latin typeface="Arial"/>
                <a:cs typeface="Arial"/>
              </a:rPr>
              <a:t>data</a:t>
            </a:r>
            <a:r>
              <a:rPr dirty="0" sz="1100" spc="65">
                <a:latin typeface="Arial"/>
                <a:cs typeface="Arial"/>
              </a:rPr>
              <a:t> </a:t>
            </a:r>
            <a:r>
              <a:rPr dirty="0" sz="1100" spc="-5">
                <a:latin typeface="Arial"/>
                <a:cs typeface="Arial"/>
              </a:rPr>
              <a:t>collected</a:t>
            </a:r>
            <a:r>
              <a:rPr dirty="0" sz="1100" spc="60">
                <a:latin typeface="Arial"/>
                <a:cs typeface="Arial"/>
              </a:rPr>
              <a:t> </a:t>
            </a:r>
            <a:r>
              <a:rPr dirty="0" sz="1100" spc="-5">
                <a:latin typeface="Arial"/>
                <a:cs typeface="Arial"/>
              </a:rPr>
              <a:t>from</a:t>
            </a:r>
            <a:r>
              <a:rPr dirty="0" sz="1100" spc="60">
                <a:latin typeface="Arial"/>
                <a:cs typeface="Arial"/>
              </a:rPr>
              <a:t> </a:t>
            </a:r>
            <a:r>
              <a:rPr dirty="0" sz="1100" spc="-5">
                <a:latin typeface="Arial"/>
                <a:cs typeface="Arial"/>
              </a:rPr>
              <a:t>16</a:t>
            </a:r>
            <a:r>
              <a:rPr dirty="0" sz="1100" spc="60">
                <a:latin typeface="Arial"/>
                <a:cs typeface="Arial"/>
              </a:rPr>
              <a:t> </a:t>
            </a:r>
            <a:r>
              <a:rPr dirty="0" sz="1100" spc="-5">
                <a:latin typeface="Arial"/>
                <a:cs typeface="Arial"/>
              </a:rPr>
              <a:t>countries</a:t>
            </a:r>
            <a:r>
              <a:rPr dirty="0" sz="1100" spc="55">
                <a:latin typeface="Arial"/>
                <a:cs typeface="Arial"/>
              </a:rPr>
              <a:t> </a:t>
            </a:r>
            <a:r>
              <a:rPr dirty="0" sz="1100" spc="-5">
                <a:latin typeface="Arial"/>
                <a:cs typeface="Arial"/>
              </a:rPr>
              <a:t>on</a:t>
            </a:r>
            <a:r>
              <a:rPr dirty="0" sz="1100" spc="65">
                <a:latin typeface="Arial"/>
                <a:cs typeface="Arial"/>
              </a:rPr>
              <a:t> </a:t>
            </a:r>
            <a:r>
              <a:rPr dirty="0" sz="1100" spc="-5">
                <a:latin typeface="Arial"/>
                <a:cs typeface="Arial"/>
              </a:rPr>
              <a:t>the</a:t>
            </a:r>
            <a:endParaRPr sz="1100">
              <a:latin typeface="Arial"/>
              <a:cs typeface="Arial"/>
            </a:endParaRPr>
          </a:p>
          <a:p>
            <a:pPr algn="just" marL="12700" marR="5080">
              <a:lnSpc>
                <a:spcPct val="95800"/>
              </a:lnSpc>
              <a:spcBef>
                <a:spcPts val="25"/>
              </a:spcBef>
            </a:pPr>
            <a:r>
              <a:rPr dirty="0" sz="1100" spc="-5">
                <a:latin typeface="Arial"/>
                <a:cs typeface="Arial"/>
              </a:rPr>
              <a:t>percentage shares in total national income going to different percentile groups (see Table 5.3).  Though methods of collection, degree of coverage, and specific definitions of personal income  may vary </a:t>
            </a:r>
            <a:r>
              <a:rPr dirty="0" sz="1100">
                <a:latin typeface="Arial"/>
                <a:cs typeface="Arial"/>
              </a:rPr>
              <a:t>from </a:t>
            </a:r>
            <a:r>
              <a:rPr dirty="0" sz="1100" spc="-5">
                <a:latin typeface="Arial"/>
                <a:cs typeface="Arial"/>
              </a:rPr>
              <a:t>country to country, the figures recorded in Table 5.3 give a first approximation of  the magnitude of income inequality in developing</a:t>
            </a:r>
            <a:r>
              <a:rPr dirty="0" sz="1100" spc="40">
                <a:latin typeface="Arial"/>
                <a:cs typeface="Arial"/>
              </a:rPr>
              <a:t> </a:t>
            </a:r>
            <a:r>
              <a:rPr dirty="0" sz="1100" spc="-5">
                <a:latin typeface="Arial"/>
                <a:cs typeface="Arial"/>
              </a:rPr>
              <a:t>countries.</a:t>
            </a:r>
            <a:endParaRPr sz="1100">
              <a:latin typeface="Arial"/>
              <a:cs typeface="Arial"/>
            </a:endParaRPr>
          </a:p>
        </p:txBody>
      </p:sp>
      <p:sp>
        <p:nvSpPr>
          <p:cNvPr id="7" name="object 7"/>
          <p:cNvSpPr/>
          <p:nvPr/>
        </p:nvSpPr>
        <p:spPr>
          <a:xfrm>
            <a:off x="4381500" y="3306317"/>
            <a:ext cx="2547366" cy="2122643"/>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191005" y="6451853"/>
            <a:ext cx="5391150" cy="2577846"/>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61</a:t>
            </a:r>
            <a:endParaRPr sz="1100">
              <a:latin typeface="Carlito"/>
              <a:cs typeface="Carlito"/>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40487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Consider now the relationship, if any, between levels of per capita income and degree of  inequality. Are higher incomes associated with greater or lesser inequality, or can </a:t>
            </a:r>
            <a:r>
              <a:rPr dirty="0" sz="1100">
                <a:latin typeface="Arial"/>
                <a:cs typeface="Arial"/>
              </a:rPr>
              <a:t>no </a:t>
            </a:r>
            <a:r>
              <a:rPr dirty="0" sz="1100" spc="-5">
                <a:latin typeface="Arial"/>
                <a:cs typeface="Arial"/>
              </a:rPr>
              <a:t>definitive  statement be made? Table 5.4 provides data on income distribution in relation to per capita GNI  for a sampling of countries, arranged from lowest to highest in terms of per capita income. What  clearly emerges from Table 5.4 is that per capita incomes are not necessarily related to  inequality.</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Gary Fields and George Jakubson examined </a:t>
            </a:r>
            <a:r>
              <a:rPr dirty="0" sz="1100">
                <a:latin typeface="Arial"/>
                <a:cs typeface="Arial"/>
              </a:rPr>
              <a:t>this </a:t>
            </a:r>
            <a:r>
              <a:rPr dirty="0" sz="1100" spc="-5">
                <a:latin typeface="Arial"/>
                <a:cs typeface="Arial"/>
              </a:rPr>
              <a:t>question. Figure 5.11 on page 228, plots a  combination of data from the 35 countries in Fields and Jakubson’s data set, where reliable  estimates of the Gini coefficient have been available for various developing countries at different  points in time. The inverted-U relationship, tracing the triangles, is a computer-generated  parabola that best fits the data under standard statistical</a:t>
            </a:r>
            <a:r>
              <a:rPr dirty="0" sz="1100" spc="50">
                <a:latin typeface="Arial"/>
                <a:cs typeface="Arial"/>
              </a:rPr>
              <a:t> </a:t>
            </a:r>
            <a:r>
              <a:rPr dirty="0" sz="1100" spc="-5">
                <a:latin typeface="Arial"/>
                <a:cs typeface="Arial"/>
              </a:rPr>
              <a:t>criteria.</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So the question is what happens over time? In Figure 5.12 selected countries from the data in  Figure 5.11 have been isolated. As can be seen, the data from Brazil, which have the label 1 in  the diagram, do plainly show an inverted-U pattern. But when these separate experiences are  merged into one picture, the eyes (and the computer) misleadingly trace an inverted U in the  data taken as a whole. This reinforces the great importance of understanding what gives rise to  the statistical patterns in the data rather than taking them at face</a:t>
            </a:r>
            <a:r>
              <a:rPr dirty="0" sz="1100" spc="80">
                <a:latin typeface="Arial"/>
                <a:cs typeface="Arial"/>
              </a:rPr>
              <a:t> </a:t>
            </a:r>
            <a:r>
              <a:rPr dirty="0" sz="1100" spc="-5">
                <a:latin typeface="Arial"/>
                <a:cs typeface="Arial"/>
              </a:rPr>
              <a:t>value.</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As a result, the dominating influence of the “Latin America effect” has been strongly supported.  In fact, there is no particular tendency for inequality to change in the process of economic  development. Inequality seems to be a rather stable part of a country’s socioeconomic makeup  but inequality can be gradually reduced through well-implemented policies to promote pro-poor  growth over</a:t>
            </a:r>
            <a:r>
              <a:rPr dirty="0" sz="1100" spc="5">
                <a:latin typeface="Arial"/>
                <a:cs typeface="Arial"/>
              </a:rPr>
              <a:t> </a:t>
            </a:r>
            <a:r>
              <a:rPr dirty="0" sz="1100" spc="-5">
                <a:latin typeface="Arial"/>
                <a:cs typeface="Arial"/>
              </a:rPr>
              <a:t>time.</a:t>
            </a:r>
            <a:endParaRPr sz="1100">
              <a:latin typeface="Arial"/>
              <a:cs typeface="Arial"/>
            </a:endParaRPr>
          </a:p>
        </p:txBody>
      </p:sp>
      <p:sp>
        <p:nvSpPr>
          <p:cNvPr id="7" name="object 7"/>
          <p:cNvSpPr/>
          <p:nvPr/>
        </p:nvSpPr>
        <p:spPr>
          <a:xfrm>
            <a:off x="824483" y="5213603"/>
            <a:ext cx="6111068" cy="2697821"/>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62</a:t>
            </a:r>
            <a:endParaRPr sz="1100">
              <a:latin typeface="Carlito"/>
              <a:cs typeface="Carlito"/>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12090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09</a:t>
            </a:r>
            <a:endParaRPr sz="1100">
              <a:latin typeface="Arial"/>
              <a:cs typeface="Arial"/>
            </a:endParaRPr>
          </a:p>
          <a:p>
            <a:pPr marL="12700" marR="537210" indent="530225">
              <a:lnSpc>
                <a:spcPct val="191400"/>
              </a:lnSpc>
              <a:spcBef>
                <a:spcPts val="15"/>
              </a:spcBef>
            </a:pPr>
            <a:r>
              <a:rPr dirty="0" sz="1100" spc="-5" b="1">
                <a:latin typeface="Arial"/>
                <a:cs typeface="Arial"/>
              </a:rPr>
              <a:t>POVERTY, INEQUALITY AND ECONOMIC </a:t>
            </a:r>
            <a:r>
              <a:rPr dirty="0" sz="1100" b="1">
                <a:latin typeface="Arial"/>
                <a:cs typeface="Arial"/>
              </a:rPr>
              <a:t>DEVELOPMENT </a:t>
            </a:r>
            <a:r>
              <a:rPr dirty="0" sz="1100" spc="-5" b="1">
                <a:latin typeface="Arial"/>
                <a:cs typeface="Arial"/>
              </a:rPr>
              <a:t>(CONTINUED2)  GROWTH, POVERTY AND</a:t>
            </a:r>
            <a:r>
              <a:rPr dirty="0" sz="1100" spc="15" b="1">
                <a:latin typeface="Arial"/>
                <a:cs typeface="Arial"/>
              </a:rPr>
              <a:t> </a:t>
            </a:r>
            <a:r>
              <a:rPr dirty="0" sz="1100" spc="-10" b="1">
                <a:latin typeface="Arial"/>
                <a:cs typeface="Arial"/>
              </a:rPr>
              <a:t>INEQUALITY</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pPr>
            <a:r>
              <a:rPr dirty="0" sz="1100" spc="-5">
                <a:latin typeface="Arial"/>
                <a:cs typeface="Arial"/>
              </a:rPr>
              <a:t>Let us look now briefly at the relationship, if any, between economic growth and inequality. It is  not just the rate but also the character of economic growth </a:t>
            </a:r>
            <a:r>
              <a:rPr dirty="0" sz="1100">
                <a:latin typeface="Arial"/>
                <a:cs typeface="Arial"/>
              </a:rPr>
              <a:t>that </a:t>
            </a:r>
            <a:r>
              <a:rPr dirty="0" sz="1100" spc="-5">
                <a:latin typeface="Arial"/>
                <a:cs typeface="Arial"/>
              </a:rPr>
              <a:t>determines the degree to which  that growth is or is not reflected in improved living standards for the poor. Clearly, it is not  necessary for inequality to increase for higher growth to be</a:t>
            </a:r>
            <a:r>
              <a:rPr dirty="0" sz="1100" spc="65">
                <a:latin typeface="Arial"/>
                <a:cs typeface="Arial"/>
              </a:rPr>
              <a:t> </a:t>
            </a:r>
            <a:r>
              <a:rPr dirty="0" sz="1100" spc="-5">
                <a:latin typeface="Arial"/>
                <a:cs typeface="Arial"/>
              </a:rPr>
              <a:t>sustained.</a:t>
            </a:r>
            <a:endParaRPr sz="1100">
              <a:latin typeface="Arial"/>
              <a:cs typeface="Arial"/>
            </a:endParaRPr>
          </a:p>
          <a:p>
            <a:pPr>
              <a:lnSpc>
                <a:spcPct val="100000"/>
              </a:lnSpc>
              <a:spcBef>
                <a:spcPts val="30"/>
              </a:spcBef>
            </a:pPr>
            <a:endParaRPr sz="1100">
              <a:latin typeface="Arial"/>
              <a:cs typeface="Arial"/>
            </a:endParaRPr>
          </a:p>
          <a:p>
            <a:pPr algn="just" marL="12700" marR="6985">
              <a:lnSpc>
                <a:spcPts val="1270"/>
              </a:lnSpc>
              <a:spcBef>
                <a:spcPts val="5"/>
              </a:spcBef>
            </a:pPr>
            <a:r>
              <a:rPr dirty="0" sz="1100" spc="-5">
                <a:latin typeface="Arial"/>
                <a:cs typeface="Arial"/>
              </a:rPr>
              <a:t>The distributive implications of economic growth as reflected in such factors as participation in  the growth process and asset</a:t>
            </a:r>
            <a:r>
              <a:rPr dirty="0" sz="1100" spc="15">
                <a:latin typeface="Arial"/>
                <a:cs typeface="Arial"/>
              </a:rPr>
              <a:t> </a:t>
            </a:r>
            <a:r>
              <a:rPr dirty="0" sz="1100" spc="-5">
                <a:latin typeface="Arial"/>
                <a:cs typeface="Arial"/>
              </a:rPr>
              <a:t>ownership.</a:t>
            </a:r>
            <a:endParaRPr sz="1100">
              <a:latin typeface="Arial"/>
              <a:cs typeface="Arial"/>
            </a:endParaRPr>
          </a:p>
        </p:txBody>
      </p:sp>
      <p:sp>
        <p:nvSpPr>
          <p:cNvPr id="7" name="object 7"/>
          <p:cNvSpPr txBox="1"/>
          <p:nvPr/>
        </p:nvSpPr>
        <p:spPr>
          <a:xfrm>
            <a:off x="901700" y="6215884"/>
            <a:ext cx="5970270" cy="147701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ABSOLUTE POVERTY: </a:t>
            </a:r>
            <a:r>
              <a:rPr dirty="0" sz="1100" spc="-10" b="1">
                <a:latin typeface="Arial"/>
                <a:cs typeface="Arial"/>
              </a:rPr>
              <a:t>EXTENT </a:t>
            </a:r>
            <a:r>
              <a:rPr dirty="0" sz="1100" spc="-5" b="1">
                <a:latin typeface="Arial"/>
                <a:cs typeface="Arial"/>
              </a:rPr>
              <a:t>AND</a:t>
            </a:r>
            <a:r>
              <a:rPr dirty="0" sz="1100" spc="25" b="1">
                <a:latin typeface="Arial"/>
                <a:cs typeface="Arial"/>
              </a:rPr>
              <a:t> </a:t>
            </a:r>
            <a:r>
              <a:rPr dirty="0" sz="1100" spc="-5" b="1">
                <a:latin typeface="Arial"/>
                <a:cs typeface="Arial"/>
              </a:rPr>
              <a:t>MAGNITUDE</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It is extremely difficult to arrive at a tight </a:t>
            </a:r>
            <a:r>
              <a:rPr dirty="0" sz="1100">
                <a:latin typeface="Arial"/>
                <a:cs typeface="Arial"/>
              </a:rPr>
              <a:t>estimate </a:t>
            </a:r>
            <a:r>
              <a:rPr dirty="0" sz="1100" spc="-5">
                <a:latin typeface="Arial"/>
                <a:cs typeface="Arial"/>
              </a:rPr>
              <a:t>of the extent of global poverty at any point in  time. Major World Bank reports issued within a couple of years of each other have provided  estimates of the dollar-a-day headcount that differ by tens of millions of people. This reflects the  difficulty of the task. Another difficulty is determining the most appropriate cutoff income for  extreme poverty. The $1-a-day line was first set in 1987 dollars, and for years the standard  was$1.08 in 1993 U.S. purchasing power parity. In 2008, the equivalent line was reset at </a:t>
            </a:r>
            <a:r>
              <a:rPr dirty="0" sz="1100">
                <a:latin typeface="Arial"/>
                <a:cs typeface="Arial"/>
              </a:rPr>
              <a:t>$1.25  </a:t>
            </a:r>
            <a:r>
              <a:rPr dirty="0" sz="1100" spc="-5">
                <a:latin typeface="Arial"/>
                <a:cs typeface="Arial"/>
              </a:rPr>
              <a:t>at 2005 U.S. purchasing</a:t>
            </a:r>
            <a:r>
              <a:rPr dirty="0" sz="1100" spc="10">
                <a:latin typeface="Arial"/>
                <a:cs typeface="Arial"/>
              </a:rPr>
              <a:t> </a:t>
            </a:r>
            <a:r>
              <a:rPr dirty="0" sz="1100" spc="-5">
                <a:latin typeface="Arial"/>
                <a:cs typeface="Arial"/>
              </a:rPr>
              <a:t>power.</a:t>
            </a:r>
            <a:endParaRPr sz="1100">
              <a:latin typeface="Arial"/>
              <a:cs typeface="Arial"/>
            </a:endParaRPr>
          </a:p>
        </p:txBody>
      </p:sp>
      <p:sp>
        <p:nvSpPr>
          <p:cNvPr id="8" name="object 8"/>
          <p:cNvSpPr/>
          <p:nvPr/>
        </p:nvSpPr>
        <p:spPr>
          <a:xfrm>
            <a:off x="1389888" y="3148583"/>
            <a:ext cx="4991862" cy="2909288"/>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63</a:t>
            </a:r>
            <a:endParaRPr sz="1100">
              <a:latin typeface="Carlito"/>
              <a:cs typeface="Carlito"/>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116566"/>
            <a:ext cx="5970270" cy="675640"/>
          </a:xfrm>
          <a:prstGeom prst="rect">
            <a:avLst/>
          </a:prstGeom>
        </p:spPr>
        <p:txBody>
          <a:bodyPr wrap="square" lIns="0" tIns="12065" rIns="0" bIns="0" rtlCol="0" vert="horz">
            <a:spAutoFit/>
          </a:bodyPr>
          <a:lstStyle/>
          <a:p>
            <a:pPr algn="just" marL="12700">
              <a:lnSpc>
                <a:spcPts val="1295"/>
              </a:lnSpc>
              <a:spcBef>
                <a:spcPts val="95"/>
              </a:spcBef>
            </a:pPr>
            <a:r>
              <a:rPr dirty="0" sz="1100" spc="-5">
                <a:latin typeface="Arial"/>
                <a:cs typeface="Arial"/>
              </a:rPr>
              <a:t>The</a:t>
            </a:r>
            <a:r>
              <a:rPr dirty="0" sz="1100" spc="160">
                <a:latin typeface="Arial"/>
                <a:cs typeface="Arial"/>
              </a:rPr>
              <a:t> </a:t>
            </a:r>
            <a:r>
              <a:rPr dirty="0" sz="1100" spc="-5">
                <a:latin typeface="Arial"/>
                <a:cs typeface="Arial"/>
              </a:rPr>
              <a:t>World</a:t>
            </a:r>
            <a:r>
              <a:rPr dirty="0" sz="1100" spc="165">
                <a:latin typeface="Arial"/>
                <a:cs typeface="Arial"/>
              </a:rPr>
              <a:t> </a:t>
            </a:r>
            <a:r>
              <a:rPr dirty="0" sz="1100" spc="-5">
                <a:latin typeface="Arial"/>
                <a:cs typeface="Arial"/>
              </a:rPr>
              <a:t>Bank’s</a:t>
            </a:r>
            <a:r>
              <a:rPr dirty="0" sz="1100" spc="160">
                <a:latin typeface="Arial"/>
                <a:cs typeface="Arial"/>
              </a:rPr>
              <a:t> </a:t>
            </a:r>
            <a:r>
              <a:rPr dirty="0" sz="1100" spc="-5">
                <a:latin typeface="Arial"/>
                <a:cs typeface="Arial"/>
              </a:rPr>
              <a:t>current</a:t>
            </a:r>
            <a:r>
              <a:rPr dirty="0" sz="1100" spc="165">
                <a:latin typeface="Arial"/>
                <a:cs typeface="Arial"/>
              </a:rPr>
              <a:t> </a:t>
            </a:r>
            <a:r>
              <a:rPr dirty="0" sz="1100" spc="-5">
                <a:latin typeface="Arial"/>
                <a:cs typeface="Arial"/>
              </a:rPr>
              <a:t>estimates</a:t>
            </a:r>
            <a:r>
              <a:rPr dirty="0" sz="1100" spc="165">
                <a:latin typeface="Arial"/>
                <a:cs typeface="Arial"/>
              </a:rPr>
              <a:t> </a:t>
            </a:r>
            <a:r>
              <a:rPr dirty="0" sz="1100" spc="-5">
                <a:latin typeface="Arial"/>
                <a:cs typeface="Arial"/>
              </a:rPr>
              <a:t>of</a:t>
            </a:r>
            <a:r>
              <a:rPr dirty="0" sz="1100" spc="160">
                <a:latin typeface="Arial"/>
                <a:cs typeface="Arial"/>
              </a:rPr>
              <a:t> </a:t>
            </a:r>
            <a:r>
              <a:rPr dirty="0" sz="1100" spc="-5">
                <a:latin typeface="Arial"/>
                <a:cs typeface="Arial"/>
              </a:rPr>
              <a:t>the</a:t>
            </a:r>
            <a:r>
              <a:rPr dirty="0" sz="1100" spc="165">
                <a:latin typeface="Arial"/>
                <a:cs typeface="Arial"/>
              </a:rPr>
              <a:t> </a:t>
            </a:r>
            <a:r>
              <a:rPr dirty="0" sz="1100" spc="-5">
                <a:latin typeface="Arial"/>
                <a:cs typeface="Arial"/>
              </a:rPr>
              <a:t>trends</a:t>
            </a:r>
            <a:r>
              <a:rPr dirty="0" sz="1100" spc="165">
                <a:latin typeface="Arial"/>
                <a:cs typeface="Arial"/>
              </a:rPr>
              <a:t> </a:t>
            </a:r>
            <a:r>
              <a:rPr dirty="0" sz="1100" spc="-5">
                <a:latin typeface="Arial"/>
                <a:cs typeface="Arial"/>
              </a:rPr>
              <a:t>of</a:t>
            </a:r>
            <a:r>
              <a:rPr dirty="0" sz="1100" spc="160">
                <a:latin typeface="Arial"/>
                <a:cs typeface="Arial"/>
              </a:rPr>
              <a:t> </a:t>
            </a:r>
            <a:r>
              <a:rPr dirty="0" sz="1100" spc="-5">
                <a:latin typeface="Arial"/>
                <a:cs typeface="Arial"/>
              </a:rPr>
              <a:t>poverty</a:t>
            </a:r>
            <a:r>
              <a:rPr dirty="0" sz="1100" spc="165">
                <a:latin typeface="Arial"/>
                <a:cs typeface="Arial"/>
              </a:rPr>
              <a:t> </a:t>
            </a:r>
            <a:r>
              <a:rPr dirty="0" sz="1100" spc="-5">
                <a:latin typeface="Arial"/>
                <a:cs typeface="Arial"/>
              </a:rPr>
              <a:t>reduction</a:t>
            </a:r>
            <a:r>
              <a:rPr dirty="0" sz="1100" spc="165">
                <a:latin typeface="Arial"/>
                <a:cs typeface="Arial"/>
              </a:rPr>
              <a:t> </a:t>
            </a:r>
            <a:r>
              <a:rPr dirty="0" sz="1100" spc="-5">
                <a:latin typeface="Arial"/>
                <a:cs typeface="Arial"/>
              </a:rPr>
              <a:t>are</a:t>
            </a:r>
            <a:r>
              <a:rPr dirty="0" sz="1100" spc="160">
                <a:latin typeface="Arial"/>
                <a:cs typeface="Arial"/>
              </a:rPr>
              <a:t> </a:t>
            </a:r>
            <a:r>
              <a:rPr dirty="0" sz="1100" spc="-5">
                <a:latin typeface="Arial"/>
                <a:cs typeface="Arial"/>
              </a:rPr>
              <a:t>reported</a:t>
            </a:r>
            <a:r>
              <a:rPr dirty="0" sz="1100" spc="165">
                <a:latin typeface="Arial"/>
                <a:cs typeface="Arial"/>
              </a:rPr>
              <a:t> </a:t>
            </a:r>
            <a:r>
              <a:rPr dirty="0" sz="1100" spc="-5">
                <a:latin typeface="Arial"/>
                <a:cs typeface="Arial"/>
              </a:rPr>
              <a:t>in</a:t>
            </a:r>
            <a:r>
              <a:rPr dirty="0" sz="1100" spc="165">
                <a:latin typeface="Arial"/>
                <a:cs typeface="Arial"/>
              </a:rPr>
              <a:t> </a:t>
            </a:r>
            <a:r>
              <a:rPr dirty="0" sz="1100" spc="-5">
                <a:latin typeface="Arial"/>
                <a:cs typeface="Arial"/>
              </a:rPr>
              <a:t>Figure</a:t>
            </a:r>
            <a:endParaRPr sz="1100">
              <a:latin typeface="Arial"/>
              <a:cs typeface="Arial"/>
            </a:endParaRPr>
          </a:p>
          <a:p>
            <a:pPr algn="just" marL="12700" marR="5080">
              <a:lnSpc>
                <a:spcPts val="1270"/>
              </a:lnSpc>
              <a:spcBef>
                <a:spcPts val="60"/>
              </a:spcBef>
            </a:pPr>
            <a:r>
              <a:rPr dirty="0" sz="1100" spc="-5">
                <a:latin typeface="Arial"/>
                <a:cs typeface="Arial"/>
              </a:rPr>
              <a:t>5.14. There has been very substantial progress in reducing the still enormous numbers of  people living in extreme poverty at $1.25 per day. The number living on less than $2 per </a:t>
            </a:r>
            <a:r>
              <a:rPr dirty="0" sz="1100">
                <a:latin typeface="Arial"/>
                <a:cs typeface="Arial"/>
              </a:rPr>
              <a:t>day  </a:t>
            </a:r>
            <a:r>
              <a:rPr dirty="0" sz="1100" spc="-5">
                <a:latin typeface="Arial"/>
                <a:cs typeface="Arial"/>
              </a:rPr>
              <a:t>has remained relatively</a:t>
            </a:r>
            <a:r>
              <a:rPr dirty="0" sz="1100" spc="10">
                <a:latin typeface="Arial"/>
                <a:cs typeface="Arial"/>
              </a:rPr>
              <a:t> </a:t>
            </a:r>
            <a:r>
              <a:rPr dirty="0" sz="1100" spc="-5">
                <a:latin typeface="Arial"/>
                <a:cs typeface="Arial"/>
              </a:rPr>
              <a:t>stable.</a:t>
            </a:r>
            <a:endParaRPr sz="1100">
              <a:latin typeface="Arial"/>
              <a:cs typeface="Arial"/>
            </a:endParaRPr>
          </a:p>
        </p:txBody>
      </p:sp>
      <p:sp>
        <p:nvSpPr>
          <p:cNvPr id="7" name="object 7"/>
          <p:cNvSpPr/>
          <p:nvPr/>
        </p:nvSpPr>
        <p:spPr>
          <a:xfrm>
            <a:off x="1143000" y="1368647"/>
            <a:ext cx="5527548" cy="2463444"/>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542288" y="4975859"/>
            <a:ext cx="4630702" cy="3807714"/>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64</a:t>
            </a:r>
            <a:endParaRPr sz="1100">
              <a:latin typeface="Carlito"/>
              <a:cs typeface="Carlito"/>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7274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incidence of extreme poverty is very uneven around the developing world. Household  survey–based estimates are regarded as the most accurate ways to estimate poverty incidence.  Table 5.5 provides some survey-based poverty estimates by region at the $1.25 and $2 poverty  lines.</a:t>
            </a:r>
            <a:r>
              <a:rPr dirty="0" sz="1100" spc="50">
                <a:latin typeface="Arial"/>
                <a:cs typeface="Arial"/>
              </a:rPr>
              <a:t> </a:t>
            </a:r>
            <a:r>
              <a:rPr dirty="0" sz="1100" spc="-5">
                <a:latin typeface="Arial"/>
                <a:cs typeface="Arial"/>
              </a:rPr>
              <a:t>As</a:t>
            </a:r>
            <a:r>
              <a:rPr dirty="0" sz="1100" spc="50">
                <a:latin typeface="Arial"/>
                <a:cs typeface="Arial"/>
              </a:rPr>
              <a:t> </a:t>
            </a:r>
            <a:r>
              <a:rPr dirty="0" sz="1100" spc="-5">
                <a:latin typeface="Arial"/>
                <a:cs typeface="Arial"/>
              </a:rPr>
              <a:t>can</a:t>
            </a:r>
            <a:r>
              <a:rPr dirty="0" sz="1100" spc="50">
                <a:latin typeface="Arial"/>
                <a:cs typeface="Arial"/>
              </a:rPr>
              <a:t> </a:t>
            </a:r>
            <a:r>
              <a:rPr dirty="0" sz="1100" spc="-5">
                <a:latin typeface="Arial"/>
                <a:cs typeface="Arial"/>
              </a:rPr>
              <a:t>be</a:t>
            </a:r>
            <a:r>
              <a:rPr dirty="0" sz="1100" spc="50">
                <a:latin typeface="Arial"/>
                <a:cs typeface="Arial"/>
              </a:rPr>
              <a:t> </a:t>
            </a:r>
            <a:r>
              <a:rPr dirty="0" sz="1100" spc="-5">
                <a:latin typeface="Arial"/>
                <a:cs typeface="Arial"/>
              </a:rPr>
              <a:t>seen,</a:t>
            </a:r>
            <a:r>
              <a:rPr dirty="0" sz="1100" spc="55">
                <a:latin typeface="Arial"/>
                <a:cs typeface="Arial"/>
              </a:rPr>
              <a:t> </a:t>
            </a:r>
            <a:r>
              <a:rPr dirty="0" sz="1100" spc="-5">
                <a:latin typeface="Arial"/>
                <a:cs typeface="Arial"/>
              </a:rPr>
              <a:t>poverty</a:t>
            </a:r>
            <a:r>
              <a:rPr dirty="0" sz="1100" spc="50">
                <a:latin typeface="Arial"/>
                <a:cs typeface="Arial"/>
              </a:rPr>
              <a:t> </a:t>
            </a:r>
            <a:r>
              <a:rPr dirty="0" sz="1100" spc="-5">
                <a:latin typeface="Arial"/>
                <a:cs typeface="Arial"/>
              </a:rPr>
              <a:t>incidence</a:t>
            </a:r>
            <a:r>
              <a:rPr dirty="0" sz="1100" spc="50">
                <a:latin typeface="Arial"/>
                <a:cs typeface="Arial"/>
              </a:rPr>
              <a:t> </a:t>
            </a:r>
            <a:r>
              <a:rPr dirty="0" sz="1100" spc="-5">
                <a:latin typeface="Arial"/>
                <a:cs typeface="Arial"/>
              </a:rPr>
              <a:t>is</a:t>
            </a:r>
            <a:r>
              <a:rPr dirty="0" sz="1100" spc="50">
                <a:latin typeface="Arial"/>
                <a:cs typeface="Arial"/>
              </a:rPr>
              <a:t> </a:t>
            </a:r>
            <a:r>
              <a:rPr dirty="0" sz="1100" spc="-5">
                <a:latin typeface="Arial"/>
                <a:cs typeface="Arial"/>
              </a:rPr>
              <a:t>very</a:t>
            </a:r>
            <a:r>
              <a:rPr dirty="0" sz="1100" spc="55">
                <a:latin typeface="Arial"/>
                <a:cs typeface="Arial"/>
              </a:rPr>
              <a:t> </a:t>
            </a:r>
            <a:r>
              <a:rPr dirty="0" sz="1100" spc="-5">
                <a:latin typeface="Arial"/>
                <a:cs typeface="Arial"/>
              </a:rPr>
              <a:t>high</a:t>
            </a:r>
            <a:r>
              <a:rPr dirty="0" sz="1100" spc="50">
                <a:latin typeface="Arial"/>
                <a:cs typeface="Arial"/>
              </a:rPr>
              <a:t> </a:t>
            </a:r>
            <a:r>
              <a:rPr dirty="0" sz="1100" spc="-5">
                <a:latin typeface="Arial"/>
                <a:cs typeface="Arial"/>
              </a:rPr>
              <a:t>in</a:t>
            </a:r>
            <a:r>
              <a:rPr dirty="0" sz="1100" spc="50">
                <a:latin typeface="Arial"/>
                <a:cs typeface="Arial"/>
              </a:rPr>
              <a:t> </a:t>
            </a:r>
            <a:r>
              <a:rPr dirty="0" sz="1100">
                <a:latin typeface="Arial"/>
                <a:cs typeface="Arial"/>
              </a:rPr>
              <a:t>both</a:t>
            </a:r>
            <a:r>
              <a:rPr dirty="0" sz="1100" spc="50">
                <a:latin typeface="Arial"/>
                <a:cs typeface="Arial"/>
              </a:rPr>
              <a:t> </a:t>
            </a:r>
            <a:r>
              <a:rPr dirty="0" sz="1100" spc="-5">
                <a:latin typeface="Arial"/>
                <a:cs typeface="Arial"/>
              </a:rPr>
              <a:t>South</a:t>
            </a:r>
            <a:r>
              <a:rPr dirty="0" sz="1100" spc="55">
                <a:latin typeface="Arial"/>
                <a:cs typeface="Arial"/>
              </a:rPr>
              <a:t> </a:t>
            </a:r>
            <a:r>
              <a:rPr dirty="0" sz="1100" spc="-5">
                <a:latin typeface="Arial"/>
                <a:cs typeface="Arial"/>
              </a:rPr>
              <a:t>Asia,</a:t>
            </a:r>
            <a:r>
              <a:rPr dirty="0" sz="1100" spc="50">
                <a:latin typeface="Arial"/>
                <a:cs typeface="Arial"/>
              </a:rPr>
              <a:t> </a:t>
            </a:r>
            <a:r>
              <a:rPr dirty="0" sz="1100" spc="-5">
                <a:latin typeface="Arial"/>
                <a:cs typeface="Arial"/>
              </a:rPr>
              <a:t>with</a:t>
            </a:r>
            <a:r>
              <a:rPr dirty="0" sz="1100" spc="50">
                <a:latin typeface="Arial"/>
                <a:cs typeface="Arial"/>
              </a:rPr>
              <a:t> </a:t>
            </a:r>
            <a:r>
              <a:rPr dirty="0" sz="1100" spc="-5">
                <a:latin typeface="Arial"/>
                <a:cs typeface="Arial"/>
              </a:rPr>
              <a:t>about</a:t>
            </a:r>
            <a:r>
              <a:rPr dirty="0" sz="1100" spc="50">
                <a:latin typeface="Arial"/>
                <a:cs typeface="Arial"/>
              </a:rPr>
              <a:t> </a:t>
            </a:r>
            <a:r>
              <a:rPr dirty="0" sz="1100" spc="-5">
                <a:latin typeface="Arial"/>
                <a:cs typeface="Arial"/>
              </a:rPr>
              <a:t>40%</a:t>
            </a:r>
            <a:r>
              <a:rPr dirty="0" sz="1100" spc="55">
                <a:latin typeface="Arial"/>
                <a:cs typeface="Arial"/>
              </a:rPr>
              <a:t> </a:t>
            </a:r>
            <a:r>
              <a:rPr dirty="0" sz="1100" spc="-5">
                <a:latin typeface="Arial"/>
                <a:cs typeface="Arial"/>
              </a:rPr>
              <a:t>below</a:t>
            </a:r>
            <a:endParaRPr sz="1100">
              <a:latin typeface="Arial"/>
              <a:cs typeface="Arial"/>
            </a:endParaRPr>
          </a:p>
          <a:p>
            <a:pPr algn="just" marL="12700" marR="5080">
              <a:lnSpc>
                <a:spcPct val="95800"/>
              </a:lnSpc>
              <a:spcBef>
                <a:spcPts val="5"/>
              </a:spcBef>
            </a:pPr>
            <a:r>
              <a:rPr dirty="0" sz="1100" spc="-5">
                <a:latin typeface="Arial"/>
                <a:cs typeface="Arial"/>
              </a:rPr>
              <a:t>$1.25per day, and in sub-Saharan Africa, with 51% below. But poverty severity is far higher in  sub-Saharan Africa, with a squared poverty </a:t>
            </a:r>
            <a:r>
              <a:rPr dirty="0" sz="1100">
                <a:latin typeface="Arial"/>
                <a:cs typeface="Arial"/>
              </a:rPr>
              <a:t>gap </a:t>
            </a:r>
            <a:r>
              <a:rPr dirty="0" sz="1100" spc="-5">
                <a:latin typeface="Arial"/>
                <a:cs typeface="Arial"/>
              </a:rPr>
              <a:t>index P2 (in percentage terms) </a:t>
            </a:r>
            <a:r>
              <a:rPr dirty="0" sz="1100">
                <a:latin typeface="Arial"/>
                <a:cs typeface="Arial"/>
              </a:rPr>
              <a:t>at </a:t>
            </a:r>
            <a:r>
              <a:rPr dirty="0" sz="1100" spc="-5">
                <a:latin typeface="Arial"/>
                <a:cs typeface="Arial"/>
              </a:rPr>
              <a:t>11.05, far  above that of South Asia at 3.64. Table 5.6 provides estimates for some specific countries in  Africa, Asia, and Latin America at the $1.25and $2 poverty lines. It can be seen that about 44%  of India’s 2004 rural population lived below the $1.25-a-day poverty line, while almost 80% </a:t>
            </a:r>
            <a:r>
              <a:rPr dirty="0" sz="1100">
                <a:latin typeface="Arial"/>
                <a:cs typeface="Arial"/>
              </a:rPr>
              <a:t>lived  </a:t>
            </a:r>
            <a:r>
              <a:rPr dirty="0" sz="1100" spc="-5">
                <a:latin typeface="Arial"/>
                <a:cs typeface="Arial"/>
              </a:rPr>
              <a:t>on</a:t>
            </a:r>
            <a:r>
              <a:rPr dirty="0" sz="1100" spc="130">
                <a:latin typeface="Arial"/>
                <a:cs typeface="Arial"/>
              </a:rPr>
              <a:t> </a:t>
            </a:r>
            <a:r>
              <a:rPr dirty="0" sz="1100" spc="-5">
                <a:latin typeface="Arial"/>
                <a:cs typeface="Arial"/>
              </a:rPr>
              <a:t>less</a:t>
            </a:r>
            <a:r>
              <a:rPr dirty="0" sz="1100" spc="130">
                <a:latin typeface="Arial"/>
                <a:cs typeface="Arial"/>
              </a:rPr>
              <a:t> </a:t>
            </a:r>
            <a:r>
              <a:rPr dirty="0" sz="1100" spc="-5">
                <a:latin typeface="Arial"/>
                <a:cs typeface="Arial"/>
              </a:rPr>
              <a:t>than</a:t>
            </a:r>
            <a:r>
              <a:rPr dirty="0" sz="1100" spc="130">
                <a:latin typeface="Arial"/>
                <a:cs typeface="Arial"/>
              </a:rPr>
              <a:t> </a:t>
            </a:r>
            <a:r>
              <a:rPr dirty="0" sz="1100" spc="-5">
                <a:latin typeface="Arial"/>
                <a:cs typeface="Arial"/>
              </a:rPr>
              <a:t>$2</a:t>
            </a:r>
            <a:r>
              <a:rPr dirty="0" sz="1100" spc="130">
                <a:latin typeface="Arial"/>
                <a:cs typeface="Arial"/>
              </a:rPr>
              <a:t> </a:t>
            </a:r>
            <a:r>
              <a:rPr dirty="0" sz="1100" spc="-5">
                <a:latin typeface="Arial"/>
                <a:cs typeface="Arial"/>
              </a:rPr>
              <a:t>per</a:t>
            </a:r>
            <a:r>
              <a:rPr dirty="0" sz="1100" spc="135">
                <a:latin typeface="Arial"/>
                <a:cs typeface="Arial"/>
              </a:rPr>
              <a:t> </a:t>
            </a:r>
            <a:r>
              <a:rPr dirty="0" sz="1100" spc="-5">
                <a:latin typeface="Arial"/>
                <a:cs typeface="Arial"/>
              </a:rPr>
              <a:t>day.</a:t>
            </a:r>
            <a:r>
              <a:rPr dirty="0" sz="1100" spc="130">
                <a:latin typeface="Arial"/>
                <a:cs typeface="Arial"/>
              </a:rPr>
              <a:t> </a:t>
            </a:r>
            <a:r>
              <a:rPr dirty="0" sz="1100" spc="-5">
                <a:latin typeface="Arial"/>
                <a:cs typeface="Arial"/>
              </a:rPr>
              <a:t>In</a:t>
            </a:r>
            <a:r>
              <a:rPr dirty="0" sz="1100" spc="130">
                <a:latin typeface="Arial"/>
                <a:cs typeface="Arial"/>
              </a:rPr>
              <a:t> </a:t>
            </a:r>
            <a:r>
              <a:rPr dirty="0" sz="1100" spc="-5">
                <a:latin typeface="Arial"/>
                <a:cs typeface="Arial"/>
              </a:rPr>
              <a:t>contrast,</a:t>
            </a:r>
            <a:r>
              <a:rPr dirty="0" sz="1100" spc="130">
                <a:latin typeface="Arial"/>
                <a:cs typeface="Arial"/>
              </a:rPr>
              <a:t> </a:t>
            </a:r>
            <a:r>
              <a:rPr dirty="0" sz="1100" spc="-5">
                <a:latin typeface="Arial"/>
                <a:cs typeface="Arial"/>
              </a:rPr>
              <a:t>less</a:t>
            </a:r>
            <a:r>
              <a:rPr dirty="0" sz="1100" spc="130">
                <a:latin typeface="Arial"/>
                <a:cs typeface="Arial"/>
              </a:rPr>
              <a:t> </a:t>
            </a:r>
            <a:r>
              <a:rPr dirty="0" sz="1100" spc="-5">
                <a:latin typeface="Arial"/>
                <a:cs typeface="Arial"/>
              </a:rPr>
              <a:t>than</a:t>
            </a:r>
            <a:r>
              <a:rPr dirty="0" sz="1100" spc="130">
                <a:latin typeface="Arial"/>
                <a:cs typeface="Arial"/>
              </a:rPr>
              <a:t> </a:t>
            </a:r>
            <a:r>
              <a:rPr dirty="0" sz="1100" spc="-5">
                <a:latin typeface="Arial"/>
                <a:cs typeface="Arial"/>
              </a:rPr>
              <a:t>36%</a:t>
            </a:r>
            <a:r>
              <a:rPr dirty="0" sz="1100" spc="130">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its</a:t>
            </a:r>
            <a:r>
              <a:rPr dirty="0" sz="1100" spc="125">
                <a:latin typeface="Arial"/>
                <a:cs typeface="Arial"/>
              </a:rPr>
              <a:t> </a:t>
            </a:r>
            <a:r>
              <a:rPr dirty="0" sz="1100" spc="-5">
                <a:latin typeface="Arial"/>
                <a:cs typeface="Arial"/>
              </a:rPr>
              <a:t>urban</a:t>
            </a:r>
            <a:r>
              <a:rPr dirty="0" sz="1100" spc="130">
                <a:latin typeface="Arial"/>
                <a:cs typeface="Arial"/>
              </a:rPr>
              <a:t> </a:t>
            </a:r>
            <a:r>
              <a:rPr dirty="0" sz="1100" spc="-5">
                <a:latin typeface="Arial"/>
                <a:cs typeface="Arial"/>
              </a:rPr>
              <a:t>population</a:t>
            </a:r>
            <a:r>
              <a:rPr dirty="0" sz="1100" spc="135">
                <a:latin typeface="Arial"/>
                <a:cs typeface="Arial"/>
              </a:rPr>
              <a:t> </a:t>
            </a:r>
            <a:r>
              <a:rPr dirty="0" sz="1100" spc="-5">
                <a:latin typeface="Arial"/>
                <a:cs typeface="Arial"/>
              </a:rPr>
              <a:t>lived</a:t>
            </a:r>
            <a:r>
              <a:rPr dirty="0" sz="1100" spc="130">
                <a:latin typeface="Arial"/>
                <a:cs typeface="Arial"/>
              </a:rPr>
              <a:t> </a:t>
            </a:r>
            <a:r>
              <a:rPr dirty="0" sz="1100" spc="-5">
                <a:latin typeface="Arial"/>
                <a:cs typeface="Arial"/>
              </a:rPr>
              <a:t>on</a:t>
            </a:r>
            <a:r>
              <a:rPr dirty="0" sz="1100" spc="130">
                <a:latin typeface="Arial"/>
                <a:cs typeface="Arial"/>
              </a:rPr>
              <a:t> </a:t>
            </a:r>
            <a:r>
              <a:rPr dirty="0" sz="1100" spc="-5">
                <a:latin typeface="Arial"/>
                <a:cs typeface="Arial"/>
              </a:rPr>
              <a:t>less</a:t>
            </a:r>
            <a:r>
              <a:rPr dirty="0" sz="1100" spc="130">
                <a:latin typeface="Arial"/>
                <a:cs typeface="Arial"/>
              </a:rPr>
              <a:t> </a:t>
            </a:r>
            <a:r>
              <a:rPr dirty="0" sz="1100" spc="-5">
                <a:latin typeface="Arial"/>
                <a:cs typeface="Arial"/>
              </a:rPr>
              <a:t>than</a:t>
            </a:r>
            <a:endParaRPr sz="1100">
              <a:latin typeface="Arial"/>
              <a:cs typeface="Arial"/>
            </a:endParaRPr>
          </a:p>
          <a:p>
            <a:pPr algn="just" marL="12700" marR="5080">
              <a:lnSpc>
                <a:spcPts val="1270"/>
              </a:lnSpc>
              <a:spcBef>
                <a:spcPts val="30"/>
              </a:spcBef>
            </a:pPr>
            <a:r>
              <a:rPr dirty="0" sz="1100" spc="-5">
                <a:latin typeface="Arial"/>
                <a:cs typeface="Arial"/>
              </a:rPr>
              <a:t>$1.25 per day, although about 66% still lived on </a:t>
            </a:r>
            <a:r>
              <a:rPr dirty="0" sz="1100">
                <a:latin typeface="Arial"/>
                <a:cs typeface="Arial"/>
              </a:rPr>
              <a:t>less </a:t>
            </a:r>
            <a:r>
              <a:rPr dirty="0" sz="1100" spc="-5">
                <a:latin typeface="Arial"/>
                <a:cs typeface="Arial"/>
              </a:rPr>
              <a:t>than $2 per day. Research suggests that  approximately one-third of all people who are poor at any one time </a:t>
            </a:r>
            <a:r>
              <a:rPr dirty="0" sz="1100">
                <a:latin typeface="Arial"/>
                <a:cs typeface="Arial"/>
              </a:rPr>
              <a:t>are </a:t>
            </a:r>
            <a:r>
              <a:rPr dirty="0" sz="1100" spc="-5">
                <a:latin typeface="Arial"/>
                <a:cs typeface="Arial"/>
              </a:rPr>
              <a:t>chronically (always)  poor.</a:t>
            </a:r>
            <a:endParaRPr sz="1100">
              <a:latin typeface="Arial"/>
              <a:cs typeface="Arial"/>
            </a:endParaRPr>
          </a:p>
          <a:p>
            <a:pPr>
              <a:lnSpc>
                <a:spcPct val="100000"/>
              </a:lnSpc>
              <a:spcBef>
                <a:spcPts val="40"/>
              </a:spcBef>
            </a:pPr>
            <a:endParaRPr sz="1050">
              <a:latin typeface="Arial"/>
              <a:cs typeface="Arial"/>
            </a:endParaRPr>
          </a:p>
          <a:p>
            <a:pPr algn="just" marL="12700" marR="5715">
              <a:lnSpc>
                <a:spcPts val="1270"/>
              </a:lnSpc>
            </a:pPr>
            <a:r>
              <a:rPr dirty="0" sz="1100" spc="-5">
                <a:latin typeface="Arial"/>
                <a:cs typeface="Arial"/>
              </a:rPr>
              <a:t>Problems of the poorest of the poor pose particular challenges. Ultra-poverty differs from  conventional poverty in terms of depth (degree of deprivation), length (duration of time), and  breadth (the number of dimensions, such as illiteracy and malnutrition). The mutual  reinforcement among the different dimensions of poverty can potentially result in multiple  mutually reinforcing poverty</a:t>
            </a:r>
            <a:r>
              <a:rPr dirty="0" sz="1100" spc="10">
                <a:latin typeface="Arial"/>
                <a:cs typeface="Arial"/>
              </a:rPr>
              <a:t> </a:t>
            </a:r>
            <a:r>
              <a:rPr dirty="0" sz="1100" spc="-5">
                <a:latin typeface="Arial"/>
                <a:cs typeface="Arial"/>
              </a:rPr>
              <a:t>traps.</a:t>
            </a:r>
            <a:endParaRPr sz="1100">
              <a:latin typeface="Arial"/>
              <a:cs typeface="Arial"/>
            </a:endParaRPr>
          </a:p>
          <a:p>
            <a:pPr>
              <a:lnSpc>
                <a:spcPct val="100000"/>
              </a:lnSpc>
              <a:spcBef>
                <a:spcPts val="30"/>
              </a:spcBef>
            </a:pPr>
            <a:endParaRPr sz="1050">
              <a:latin typeface="Arial"/>
              <a:cs typeface="Arial"/>
            </a:endParaRPr>
          </a:p>
          <a:p>
            <a:pPr algn="just" marL="12700" marR="5080">
              <a:lnSpc>
                <a:spcPts val="1270"/>
              </a:lnSpc>
            </a:pPr>
            <a:r>
              <a:rPr dirty="0" sz="1100" spc="-5">
                <a:latin typeface="Arial"/>
                <a:cs typeface="Arial"/>
              </a:rPr>
              <a:t>The prospect for ending poverty depends critically on two factors: first, the rate of economic  growth—provided it is undertaken in a shared and sustainable way—and second, the level of  resources devoted to poverty programs and the quality of those</a:t>
            </a:r>
            <a:r>
              <a:rPr dirty="0" sz="1100" spc="70">
                <a:latin typeface="Arial"/>
                <a:cs typeface="Arial"/>
              </a:rPr>
              <a:t> </a:t>
            </a:r>
            <a:r>
              <a:rPr dirty="0" sz="1100" spc="-5">
                <a:latin typeface="Arial"/>
                <a:cs typeface="Arial"/>
              </a:rPr>
              <a:t>programs.</a:t>
            </a:r>
            <a:endParaRPr sz="1100">
              <a:latin typeface="Arial"/>
              <a:cs typeface="Arial"/>
            </a:endParaRPr>
          </a:p>
        </p:txBody>
      </p:sp>
      <p:sp>
        <p:nvSpPr>
          <p:cNvPr id="7" name="object 7"/>
          <p:cNvSpPr txBox="1"/>
          <p:nvPr/>
        </p:nvSpPr>
        <p:spPr>
          <a:xfrm>
            <a:off x="901700" y="6733256"/>
            <a:ext cx="5970270" cy="147764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GROWTH AND</a:t>
            </a:r>
            <a:r>
              <a:rPr dirty="0" sz="1100" b="1">
                <a:latin typeface="Arial"/>
                <a:cs typeface="Arial"/>
              </a:rPr>
              <a:t> </a:t>
            </a:r>
            <a:r>
              <a:rPr dirty="0" sz="1100" spc="-5" b="1">
                <a:latin typeface="Arial"/>
                <a:cs typeface="Arial"/>
              </a:rPr>
              <a:t>POVERTY</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Are the reduction of poverty </a:t>
            </a:r>
            <a:r>
              <a:rPr dirty="0" sz="1100">
                <a:latin typeface="Arial"/>
                <a:cs typeface="Arial"/>
              </a:rPr>
              <a:t>and </a:t>
            </a:r>
            <a:r>
              <a:rPr dirty="0" sz="1100" spc="-5">
                <a:latin typeface="Arial"/>
                <a:cs typeface="Arial"/>
              </a:rPr>
              <a:t>the acceleration of growth in conflict? Or are they  complementary? Traditionally, a body of opinion held that rapid growth is bad for the poor  because they would be bypassed and marginalized by the structural changes of modern growth.  Beyond this, there had </a:t>
            </a:r>
            <a:r>
              <a:rPr dirty="0" sz="1100">
                <a:latin typeface="Arial"/>
                <a:cs typeface="Arial"/>
              </a:rPr>
              <a:t>been </a:t>
            </a:r>
            <a:r>
              <a:rPr dirty="0" sz="1100" spc="-5">
                <a:latin typeface="Arial"/>
                <a:cs typeface="Arial"/>
              </a:rPr>
              <a:t>considerable concern in policy circles that the public expenditures  required for the reduction of poverty would entail a reduction in the rate of growth. The concerns  that concentrated efforts to lower poverty would slow the rate of growth paralleled the  arguments that countries with lower inequality would experience slower</a:t>
            </a:r>
            <a:r>
              <a:rPr dirty="0" sz="1100" spc="75">
                <a:latin typeface="Arial"/>
                <a:cs typeface="Arial"/>
              </a:rPr>
              <a:t> </a:t>
            </a:r>
            <a:r>
              <a:rPr dirty="0" sz="1100" spc="-5">
                <a:latin typeface="Arial"/>
                <a:cs typeface="Arial"/>
              </a:rPr>
              <a:t>growth.</a:t>
            </a:r>
            <a:endParaRPr sz="1100">
              <a:latin typeface="Arial"/>
              <a:cs typeface="Arial"/>
            </a:endParaRPr>
          </a:p>
        </p:txBody>
      </p:sp>
      <p:sp>
        <p:nvSpPr>
          <p:cNvPr id="8" name="object 8"/>
          <p:cNvSpPr/>
          <p:nvPr/>
        </p:nvSpPr>
        <p:spPr>
          <a:xfrm>
            <a:off x="1504950" y="4772405"/>
            <a:ext cx="4760214" cy="198272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65</a:t>
            </a:r>
            <a:endParaRPr sz="1100">
              <a:latin typeface="Carlito"/>
              <a:cs typeface="Carlito"/>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1855470" cy="3084830"/>
          </a:xfrm>
          <a:prstGeom prst="rect">
            <a:avLst/>
          </a:prstGeom>
        </p:spPr>
        <p:txBody>
          <a:bodyPr wrap="square" lIns="0" tIns="19050" rIns="0" bIns="0" rtlCol="0" vert="horz">
            <a:spAutoFit/>
          </a:bodyPr>
          <a:lstStyle/>
          <a:p>
            <a:pPr algn="just" marL="12700" marR="5080">
              <a:lnSpc>
                <a:spcPct val="95800"/>
              </a:lnSpc>
              <a:spcBef>
                <a:spcPts val="150"/>
              </a:spcBef>
              <a:tabLst>
                <a:tab pos="1282065" algn="l"/>
              </a:tabLst>
            </a:pPr>
            <a:r>
              <a:rPr dirty="0" sz="1100" spc="-5">
                <a:latin typeface="Arial"/>
                <a:cs typeface="Arial"/>
              </a:rPr>
              <a:t>Certainly, the relationship  between economic growth  and progress among the  poor does not by itself  indicate causality. Some of  the effect probably runs from  </a:t>
            </a:r>
            <a:r>
              <a:rPr dirty="0" sz="1100" spc="-5">
                <a:latin typeface="Arial"/>
                <a:cs typeface="Arial"/>
              </a:rPr>
              <a:t>improved</a:t>
            </a:r>
            <a:r>
              <a:rPr dirty="0" sz="1100">
                <a:latin typeface="Arial"/>
                <a:cs typeface="Arial"/>
              </a:rPr>
              <a:t>	</a:t>
            </a:r>
            <a:r>
              <a:rPr dirty="0" sz="1100" spc="-5">
                <a:latin typeface="Arial"/>
                <a:cs typeface="Arial"/>
              </a:rPr>
              <a:t>incomes,  </a:t>
            </a:r>
            <a:r>
              <a:rPr dirty="0" sz="1100" spc="-5">
                <a:latin typeface="Arial"/>
                <a:cs typeface="Arial"/>
              </a:rPr>
              <a:t>education, and health among  the poor to faster overall  growth (as suggested by  some of the arguments listed  previously). Moreover, </a:t>
            </a:r>
            <a:r>
              <a:rPr dirty="0" sz="1100">
                <a:latin typeface="Arial"/>
                <a:cs typeface="Arial"/>
              </a:rPr>
              <a:t>as </a:t>
            </a:r>
            <a:r>
              <a:rPr dirty="0" sz="1100" spc="-5">
                <a:latin typeface="Arial"/>
                <a:cs typeface="Arial"/>
              </a:rPr>
              <a:t>we  have noted, poverty  reduction is possible without  rapid growth. But whatever  the causality, it is clear that  growth and poverty reduction  are entirely compatible  objectives.</a:t>
            </a:r>
            <a:endParaRPr sz="1100">
              <a:latin typeface="Arial"/>
              <a:cs typeface="Arial"/>
            </a:endParaRPr>
          </a:p>
        </p:txBody>
      </p:sp>
      <p:sp>
        <p:nvSpPr>
          <p:cNvPr id="7" name="object 7"/>
          <p:cNvSpPr txBox="1"/>
          <p:nvPr/>
        </p:nvSpPr>
        <p:spPr>
          <a:xfrm>
            <a:off x="901700" y="5390600"/>
            <a:ext cx="5969635" cy="213487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ECONOMIC CHARACTERISTICS OF HIGH-POVERTY</a:t>
            </a:r>
            <a:r>
              <a:rPr dirty="0" sz="1100" spc="30" b="1">
                <a:latin typeface="Arial"/>
                <a:cs typeface="Arial"/>
              </a:rPr>
              <a:t> </a:t>
            </a:r>
            <a:r>
              <a:rPr dirty="0" sz="1100" spc="-5" b="1">
                <a:latin typeface="Arial"/>
                <a:cs typeface="Arial"/>
              </a:rPr>
              <a:t>GROUPS</a:t>
            </a:r>
            <a:endParaRPr sz="1100">
              <a:latin typeface="Arial"/>
              <a:cs typeface="Arial"/>
            </a:endParaRPr>
          </a:p>
          <a:p>
            <a:pPr>
              <a:lnSpc>
                <a:spcPct val="100000"/>
              </a:lnSpc>
              <a:spcBef>
                <a:spcPts val="50"/>
              </a:spcBef>
            </a:pPr>
            <a:endParaRPr sz="1000">
              <a:latin typeface="Arial"/>
              <a:cs typeface="Arial"/>
            </a:endParaRPr>
          </a:p>
          <a:p>
            <a:pPr algn="just" marL="12700">
              <a:lnSpc>
                <a:spcPct val="100000"/>
              </a:lnSpc>
            </a:pPr>
            <a:r>
              <a:rPr dirty="0" sz="1100" spc="-5">
                <a:latin typeface="Arial"/>
                <a:cs typeface="Arial"/>
              </a:rPr>
              <a:t>High poverty groups</a:t>
            </a:r>
            <a:r>
              <a:rPr dirty="0" sz="1100" spc="10">
                <a:latin typeface="Arial"/>
                <a:cs typeface="Arial"/>
              </a:rPr>
              <a:t> </a:t>
            </a:r>
            <a:r>
              <a:rPr dirty="0" sz="1100" spc="-5">
                <a:latin typeface="Arial"/>
                <a:cs typeface="Arial"/>
              </a:rPr>
              <a:t>include: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1- RURAL</a:t>
            </a:r>
            <a:r>
              <a:rPr dirty="0" sz="1100" b="1">
                <a:latin typeface="Arial"/>
                <a:cs typeface="Arial"/>
              </a:rPr>
              <a:t> </a:t>
            </a:r>
            <a:r>
              <a:rPr dirty="0" sz="1100" spc="-5" b="1">
                <a:latin typeface="Arial"/>
                <a:cs typeface="Arial"/>
              </a:rPr>
              <a:t>POVERTY</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Perhaps the most valid generalizations about the poor are that they are disproportionately  located in rural areas, that they are primarily engaged in agricultural and associated activities,  that they are more likely to be women and children than adult males, and that they are often  concentrated among minority ethnic groups and indigenous peoples. On the average, we may  conclude that in Africa and Asia, about 80% of all target poverty groups are located in the rural  areas, as are about 50% in Latin America. Some data for specific countries are provided in  Table 5.7.</a:t>
            </a:r>
            <a:endParaRPr sz="1100">
              <a:latin typeface="Arial"/>
              <a:cs typeface="Arial"/>
            </a:endParaRPr>
          </a:p>
        </p:txBody>
      </p:sp>
      <p:sp>
        <p:nvSpPr>
          <p:cNvPr id="8" name="object 8"/>
          <p:cNvSpPr/>
          <p:nvPr/>
        </p:nvSpPr>
        <p:spPr>
          <a:xfrm>
            <a:off x="2860548" y="981455"/>
            <a:ext cx="4018026" cy="407060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66</a:t>
            </a:r>
            <a:endParaRPr sz="1100">
              <a:latin typeface="Carlito"/>
              <a:cs typeface="Carlito"/>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309613"/>
            <a:ext cx="5969000" cy="356616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We need only point out here that in view of the disproportionate number of the very poor </a:t>
            </a:r>
            <a:r>
              <a:rPr dirty="0" sz="1100">
                <a:latin typeface="Arial"/>
                <a:cs typeface="Arial"/>
              </a:rPr>
              <a:t>who  </a:t>
            </a:r>
            <a:r>
              <a:rPr dirty="0" sz="1100" spc="-5">
                <a:latin typeface="Arial"/>
                <a:cs typeface="Arial"/>
              </a:rPr>
              <a:t>resides in rural areas, any policy designed to alleviate poverty must necessarily be directed to a  large extent toward rural development in general and the agricultural sector in</a:t>
            </a:r>
            <a:r>
              <a:rPr dirty="0" sz="1100" spc="150">
                <a:latin typeface="Arial"/>
                <a:cs typeface="Arial"/>
              </a:rPr>
              <a:t> </a:t>
            </a:r>
            <a:r>
              <a:rPr dirty="0" sz="1100" spc="-5">
                <a:latin typeface="Arial"/>
                <a:cs typeface="Arial"/>
              </a:rPr>
              <a:t>particular.</a:t>
            </a:r>
            <a:endParaRPr sz="1100">
              <a:latin typeface="Arial"/>
              <a:cs typeface="Arial"/>
            </a:endParaRPr>
          </a:p>
          <a:p>
            <a:pPr>
              <a:lnSpc>
                <a:spcPct val="100000"/>
              </a:lnSpc>
              <a:spcBef>
                <a:spcPts val="25"/>
              </a:spcBef>
            </a:pPr>
            <a:endParaRPr sz="1000">
              <a:latin typeface="Arial"/>
              <a:cs typeface="Arial"/>
            </a:endParaRPr>
          </a:p>
          <a:p>
            <a:pPr algn="just" marL="175260" indent="-163195">
              <a:lnSpc>
                <a:spcPct val="100000"/>
              </a:lnSpc>
              <a:buAutoNum type="arabicPlain" startAt="2"/>
              <a:tabLst>
                <a:tab pos="175895" algn="l"/>
              </a:tabLst>
            </a:pPr>
            <a:r>
              <a:rPr dirty="0" sz="1100" spc="-5" b="1">
                <a:latin typeface="Arial"/>
                <a:cs typeface="Arial"/>
              </a:rPr>
              <a:t>WOMEN AND</a:t>
            </a:r>
            <a:r>
              <a:rPr dirty="0" sz="1100" spc="5" b="1">
                <a:latin typeface="Arial"/>
                <a:cs typeface="Arial"/>
              </a:rPr>
              <a:t> </a:t>
            </a:r>
            <a:r>
              <a:rPr dirty="0" sz="1100" spc="-5" b="1">
                <a:latin typeface="Arial"/>
                <a:cs typeface="Arial"/>
              </a:rPr>
              <a:t>POVERTY</a:t>
            </a:r>
            <a:endParaRPr sz="1100">
              <a:latin typeface="Arial"/>
              <a:cs typeface="Arial"/>
            </a:endParaRPr>
          </a:p>
          <a:p>
            <a:pPr>
              <a:lnSpc>
                <a:spcPct val="100000"/>
              </a:lnSpc>
              <a:spcBef>
                <a:spcPts val="45"/>
              </a:spcBef>
              <a:buFont typeface="Arial"/>
              <a:buAutoNum type="arabicPlain" startAt="2"/>
            </a:pPr>
            <a:endParaRPr sz="1050">
              <a:latin typeface="Arial"/>
              <a:cs typeface="Arial"/>
            </a:endParaRPr>
          </a:p>
          <a:p>
            <a:pPr algn="just" marL="12700" marR="5080">
              <a:lnSpc>
                <a:spcPct val="95900"/>
              </a:lnSpc>
              <a:spcBef>
                <a:spcPts val="5"/>
              </a:spcBef>
            </a:pPr>
            <a:r>
              <a:rPr dirty="0" sz="1100" spc="-5">
                <a:latin typeface="Arial"/>
                <a:cs typeface="Arial"/>
              </a:rPr>
              <a:t>Women </a:t>
            </a:r>
            <a:r>
              <a:rPr dirty="0" sz="1100">
                <a:latin typeface="Arial"/>
                <a:cs typeface="Arial"/>
              </a:rPr>
              <a:t>make </a:t>
            </a:r>
            <a:r>
              <a:rPr dirty="0" sz="1100" spc="-5">
                <a:latin typeface="Arial"/>
                <a:cs typeface="Arial"/>
              </a:rPr>
              <a:t>up a substantial majority of the worlds poor. If we compared the lives of the  inhabitants of the poorest communities throughout the developing world, we would discover that  virtually everywhere, women and children experience the harshest deprivation. They are more  likely to be poor and malnourished and less likely to receive medical services, clean water,  sanitation, and other benefits. The prevalence of female-headed households, the lower earning  capacity of women, </a:t>
            </a:r>
            <a:r>
              <a:rPr dirty="0" sz="1100">
                <a:latin typeface="Arial"/>
                <a:cs typeface="Arial"/>
              </a:rPr>
              <a:t>and </a:t>
            </a:r>
            <a:r>
              <a:rPr dirty="0" sz="1100" spc="-5">
                <a:latin typeface="Arial"/>
                <a:cs typeface="Arial"/>
              </a:rPr>
              <a:t>their limited control over their spouses ‘income all contribute to this  disturbing phenomenon. In addition, women </a:t>
            </a:r>
            <a:r>
              <a:rPr dirty="0" sz="1100">
                <a:latin typeface="Arial"/>
                <a:cs typeface="Arial"/>
              </a:rPr>
              <a:t>have </a:t>
            </a:r>
            <a:r>
              <a:rPr dirty="0" sz="1100" spc="-5">
                <a:latin typeface="Arial"/>
                <a:cs typeface="Arial"/>
              </a:rPr>
              <a:t>less access to education, formal-sector  employment, social security, and government employment programs. These facts combine to  ensure that poor women’s financial resources are meager and unstable relative to</a:t>
            </a:r>
            <a:r>
              <a:rPr dirty="0" sz="1100" spc="135">
                <a:latin typeface="Arial"/>
                <a:cs typeface="Arial"/>
              </a:rPr>
              <a:t> </a:t>
            </a:r>
            <a:r>
              <a:rPr dirty="0" sz="1100" spc="-5">
                <a:latin typeface="Arial"/>
                <a:cs typeface="Arial"/>
              </a:rPr>
              <a:t>men’s.</a:t>
            </a:r>
            <a:endParaRPr sz="1100">
              <a:latin typeface="Arial"/>
              <a:cs typeface="Arial"/>
            </a:endParaRPr>
          </a:p>
          <a:p>
            <a:pPr>
              <a:lnSpc>
                <a:spcPct val="100000"/>
              </a:lnSpc>
            </a:pPr>
            <a:endParaRPr sz="1050">
              <a:latin typeface="Arial"/>
              <a:cs typeface="Arial"/>
            </a:endParaRPr>
          </a:p>
          <a:p>
            <a:pPr algn="just" marL="175260" indent="-163195">
              <a:lnSpc>
                <a:spcPct val="100000"/>
              </a:lnSpc>
              <a:spcBef>
                <a:spcPts val="5"/>
              </a:spcBef>
              <a:buAutoNum type="arabicPlain" startAt="3"/>
              <a:tabLst>
                <a:tab pos="175895" algn="l"/>
              </a:tabLst>
            </a:pPr>
            <a:r>
              <a:rPr dirty="0" sz="1100" spc="-5" b="1">
                <a:latin typeface="Arial"/>
                <a:cs typeface="Arial"/>
              </a:rPr>
              <a:t>ETHNIC MINORITIES, INDIGENOUS </a:t>
            </a:r>
            <a:r>
              <a:rPr dirty="0" sz="1100" b="1">
                <a:latin typeface="Arial"/>
                <a:cs typeface="Arial"/>
              </a:rPr>
              <a:t>POPULATIONS, </a:t>
            </a:r>
            <a:r>
              <a:rPr dirty="0" sz="1100" spc="-5" b="1">
                <a:latin typeface="Arial"/>
                <a:cs typeface="Arial"/>
              </a:rPr>
              <a:t>AND</a:t>
            </a:r>
            <a:r>
              <a:rPr dirty="0" sz="1100" spc="25" b="1">
                <a:latin typeface="Arial"/>
                <a:cs typeface="Arial"/>
              </a:rPr>
              <a:t> </a:t>
            </a:r>
            <a:r>
              <a:rPr dirty="0" sz="1100" spc="-5" b="1">
                <a:latin typeface="Arial"/>
                <a:cs typeface="Arial"/>
              </a:rPr>
              <a:t>POVERTY</a:t>
            </a:r>
            <a:endParaRPr sz="1100">
              <a:latin typeface="Arial"/>
              <a:cs typeface="Arial"/>
            </a:endParaRPr>
          </a:p>
          <a:p>
            <a:pPr>
              <a:lnSpc>
                <a:spcPct val="100000"/>
              </a:lnSpc>
              <a:spcBef>
                <a:spcPts val="20"/>
              </a:spcBef>
            </a:pPr>
            <a:endParaRPr sz="1100">
              <a:latin typeface="Arial"/>
              <a:cs typeface="Arial"/>
            </a:endParaRPr>
          </a:p>
          <a:p>
            <a:pPr algn="just" marL="12700" marR="5080">
              <a:lnSpc>
                <a:spcPts val="1270"/>
              </a:lnSpc>
              <a:spcBef>
                <a:spcPts val="5"/>
              </a:spcBef>
            </a:pPr>
            <a:r>
              <a:rPr dirty="0" sz="1100" spc="-5">
                <a:latin typeface="Arial"/>
                <a:cs typeface="Arial"/>
              </a:rPr>
              <a:t>A final generalization about the incidence of poverty in the developing world is that it falls  especially heavily on minority ethnic groups and indigenous</a:t>
            </a:r>
            <a:r>
              <a:rPr dirty="0" sz="1100" spc="40">
                <a:latin typeface="Arial"/>
                <a:cs typeface="Arial"/>
              </a:rPr>
              <a:t> </a:t>
            </a:r>
            <a:r>
              <a:rPr dirty="0" sz="1100" spc="-5">
                <a:latin typeface="Arial"/>
                <a:cs typeface="Arial"/>
              </a:rPr>
              <a:t>populations.</a:t>
            </a:r>
            <a:endParaRPr sz="1100">
              <a:latin typeface="Arial"/>
              <a:cs typeface="Arial"/>
            </a:endParaRPr>
          </a:p>
          <a:p>
            <a:pPr algn="just" marL="12700" marR="6350">
              <a:lnSpc>
                <a:spcPts val="1260"/>
              </a:lnSpc>
            </a:pPr>
            <a:r>
              <a:rPr dirty="0" sz="1100" spc="-5">
                <a:latin typeface="Arial"/>
                <a:cs typeface="Arial"/>
              </a:rPr>
              <a:t>Although detailed data on the relative poverty of minority ethnic and indigenous peoples is  difficult to obtain (for political reasons, few countries wish to highlight these</a:t>
            </a:r>
            <a:r>
              <a:rPr dirty="0" sz="1100" spc="125">
                <a:latin typeface="Arial"/>
                <a:cs typeface="Arial"/>
              </a:rPr>
              <a:t> </a:t>
            </a:r>
            <a:r>
              <a:rPr dirty="0" sz="1100" spc="-5">
                <a:latin typeface="Arial"/>
                <a:cs typeface="Arial"/>
              </a:rPr>
              <a:t>problems),</a:t>
            </a:r>
            <a:endParaRPr sz="1100">
              <a:latin typeface="Arial"/>
              <a:cs typeface="Arial"/>
            </a:endParaRPr>
          </a:p>
        </p:txBody>
      </p:sp>
      <p:sp>
        <p:nvSpPr>
          <p:cNvPr id="7" name="object 7"/>
          <p:cNvSpPr txBox="1"/>
          <p:nvPr/>
        </p:nvSpPr>
        <p:spPr>
          <a:xfrm>
            <a:off x="901700" y="8254968"/>
            <a:ext cx="5971540" cy="6756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Researchers have compiled data on the poverty of indigenous people in Latin America. The  results clearly demonstrate that a majority of indigenous groups live in extreme </a:t>
            </a:r>
            <a:r>
              <a:rPr dirty="0" sz="1100">
                <a:latin typeface="Arial"/>
                <a:cs typeface="Arial"/>
              </a:rPr>
              <a:t>poverty </a:t>
            </a:r>
            <a:r>
              <a:rPr dirty="0" sz="1100" spc="-5">
                <a:latin typeface="Arial"/>
                <a:cs typeface="Arial"/>
              </a:rPr>
              <a:t>and that  being indigenous greatly increases the chances that an individual will be malnourished, illiterate,  in poor health, and</a:t>
            </a:r>
            <a:r>
              <a:rPr dirty="0" sz="1100" spc="10">
                <a:latin typeface="Arial"/>
                <a:cs typeface="Arial"/>
              </a:rPr>
              <a:t> </a:t>
            </a:r>
            <a:r>
              <a:rPr dirty="0" sz="1100" spc="-5">
                <a:latin typeface="Arial"/>
                <a:cs typeface="Arial"/>
              </a:rPr>
              <a:t>unemployed.</a:t>
            </a:r>
            <a:endParaRPr sz="1100">
              <a:latin typeface="Arial"/>
              <a:cs typeface="Arial"/>
            </a:endParaRPr>
          </a:p>
        </p:txBody>
      </p:sp>
      <p:sp>
        <p:nvSpPr>
          <p:cNvPr id="8" name="object 8"/>
          <p:cNvSpPr/>
          <p:nvPr/>
        </p:nvSpPr>
        <p:spPr>
          <a:xfrm>
            <a:off x="1943100" y="6972300"/>
            <a:ext cx="3659124" cy="1143000"/>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1828800" y="914400"/>
            <a:ext cx="4095750" cy="2253996"/>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67</a:t>
            </a:r>
            <a:endParaRPr sz="1100">
              <a:latin typeface="Carlito"/>
              <a:cs typeface="Carlito"/>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270" cy="7940675"/>
          </a:xfrm>
          <a:prstGeom prst="rect">
            <a:avLst/>
          </a:prstGeom>
        </p:spPr>
        <p:txBody>
          <a:bodyPr wrap="square" lIns="0" tIns="12065" rIns="0" bIns="0" rtlCol="0" vert="horz">
            <a:spAutoFit/>
          </a:bodyPr>
          <a:lstStyle/>
          <a:p>
            <a:pPr marL="175260" indent="-163195">
              <a:lnSpc>
                <a:spcPct val="100000"/>
              </a:lnSpc>
              <a:spcBef>
                <a:spcPts val="95"/>
              </a:spcBef>
              <a:buAutoNum type="arabicPlain" startAt="4"/>
              <a:tabLst>
                <a:tab pos="175895" algn="l"/>
              </a:tabLst>
            </a:pPr>
            <a:r>
              <a:rPr dirty="0" sz="1100" spc="-5" b="1">
                <a:latin typeface="Arial"/>
                <a:cs typeface="Arial"/>
              </a:rPr>
              <a:t>POOR COUNTRIES</a:t>
            </a:r>
            <a:endParaRPr sz="1100">
              <a:latin typeface="Arial"/>
              <a:cs typeface="Arial"/>
            </a:endParaRPr>
          </a:p>
          <a:p>
            <a:pPr>
              <a:lnSpc>
                <a:spcPct val="100000"/>
              </a:lnSpc>
              <a:spcBef>
                <a:spcPts val="55"/>
              </a:spcBef>
              <a:buFont typeface="Arial"/>
              <a:buAutoNum type="arabicPlain" startAt="4"/>
            </a:pPr>
            <a:endParaRPr sz="1050">
              <a:latin typeface="Arial"/>
              <a:cs typeface="Arial"/>
            </a:endParaRPr>
          </a:p>
          <a:p>
            <a:pPr algn="just" marL="12700" marR="5080">
              <a:lnSpc>
                <a:spcPct val="95800"/>
              </a:lnSpc>
            </a:pPr>
            <a:r>
              <a:rPr dirty="0" sz="1100" spc="-5">
                <a:latin typeface="Arial"/>
                <a:cs typeface="Arial"/>
              </a:rPr>
              <a:t>Finally, it should be noted that the poor come from poor countries. Although this may seem like  a trivial observation, it is actually a useful note of optimism. The negative relationship between  poverty and per capita income suggests that if higher incomes can be achieved, poverty will be  reduced, if only because of the greater resources that countries will have available to tackle  poverty problems and the growth of civil society and the voluntary</a:t>
            </a:r>
            <a:r>
              <a:rPr dirty="0" sz="1100" spc="85">
                <a:latin typeface="Arial"/>
                <a:cs typeface="Arial"/>
              </a:rPr>
              <a:t> </a:t>
            </a:r>
            <a:r>
              <a:rPr dirty="0" sz="1100" spc="-5">
                <a:latin typeface="Arial"/>
                <a:cs typeface="Arial"/>
              </a:rPr>
              <a:t>sector.</a:t>
            </a:r>
            <a:endParaRPr sz="1100">
              <a:latin typeface="Arial"/>
              <a:cs typeface="Arial"/>
            </a:endParaRPr>
          </a:p>
          <a:p>
            <a:pPr>
              <a:lnSpc>
                <a:spcPct val="100000"/>
              </a:lnSpc>
              <a:spcBef>
                <a:spcPts val="45"/>
              </a:spcBef>
            </a:pPr>
            <a:endParaRPr sz="1100">
              <a:latin typeface="Arial"/>
              <a:cs typeface="Arial"/>
            </a:endParaRPr>
          </a:p>
          <a:p>
            <a:pPr marL="12700" marR="5715">
              <a:lnSpc>
                <a:spcPts val="1260"/>
              </a:lnSpc>
              <a:tabLst>
                <a:tab pos="697865" algn="l"/>
                <a:tab pos="1490345" algn="l"/>
                <a:tab pos="1864360" algn="l"/>
                <a:tab pos="2587625" algn="l"/>
                <a:tab pos="3599179" algn="l"/>
                <a:tab pos="4066540" algn="l"/>
                <a:tab pos="4944745" algn="l"/>
                <a:tab pos="5520690" algn="l"/>
              </a:tabLst>
            </a:pPr>
            <a:r>
              <a:rPr dirty="0" sz="1100" spc="-5" b="1">
                <a:latin typeface="Arial"/>
                <a:cs typeface="Arial"/>
              </a:rPr>
              <a:t>POLICY</a:t>
            </a:r>
            <a:r>
              <a:rPr dirty="0" sz="1100" spc="-5" b="1">
                <a:latin typeface="Arial"/>
                <a:cs typeface="Arial"/>
              </a:rPr>
              <a:t>	</a:t>
            </a:r>
            <a:r>
              <a:rPr dirty="0" sz="1100" spc="-5" b="1">
                <a:latin typeface="Arial"/>
                <a:cs typeface="Arial"/>
              </a:rPr>
              <a:t>OPTIONS</a:t>
            </a:r>
            <a:r>
              <a:rPr dirty="0" sz="1100" spc="-5" b="1">
                <a:latin typeface="Arial"/>
                <a:cs typeface="Arial"/>
              </a:rPr>
              <a:t>	</a:t>
            </a:r>
            <a:r>
              <a:rPr dirty="0" sz="1100" spc="-5" b="1">
                <a:latin typeface="Arial"/>
                <a:cs typeface="Arial"/>
              </a:rPr>
              <a:t>ON</a:t>
            </a:r>
            <a:r>
              <a:rPr dirty="0" sz="1100" spc="-5" b="1">
                <a:latin typeface="Arial"/>
                <a:cs typeface="Arial"/>
              </a:rPr>
              <a:t>	</a:t>
            </a:r>
            <a:r>
              <a:rPr dirty="0" sz="1100" b="1">
                <a:latin typeface="Arial"/>
                <a:cs typeface="Arial"/>
              </a:rPr>
              <a:t>I</a:t>
            </a:r>
            <a:r>
              <a:rPr dirty="0" sz="1100" spc="-10" b="1">
                <a:latin typeface="Arial"/>
                <a:cs typeface="Arial"/>
              </a:rPr>
              <a:t>N</a:t>
            </a:r>
            <a:r>
              <a:rPr dirty="0" sz="1100" b="1">
                <a:latin typeface="Arial"/>
                <a:cs typeface="Arial"/>
              </a:rPr>
              <a:t>C</a:t>
            </a:r>
            <a:r>
              <a:rPr dirty="0" sz="1100" spc="-10" b="1">
                <a:latin typeface="Arial"/>
                <a:cs typeface="Arial"/>
              </a:rPr>
              <a:t>O</a:t>
            </a:r>
            <a:r>
              <a:rPr dirty="0" sz="1100" spc="-5" b="1">
                <a:latin typeface="Arial"/>
                <a:cs typeface="Arial"/>
              </a:rPr>
              <a:t>ME</a:t>
            </a:r>
            <a:r>
              <a:rPr dirty="0" sz="1100" b="1">
                <a:latin typeface="Arial"/>
                <a:cs typeface="Arial"/>
              </a:rPr>
              <a:t>	</a:t>
            </a:r>
            <a:r>
              <a:rPr dirty="0" sz="1100" spc="-5" b="1">
                <a:latin typeface="Arial"/>
                <a:cs typeface="Arial"/>
              </a:rPr>
              <a:t>IN</a:t>
            </a:r>
            <a:r>
              <a:rPr dirty="0" sz="1100" b="1">
                <a:latin typeface="Arial"/>
                <a:cs typeface="Arial"/>
              </a:rPr>
              <a:t>E</a:t>
            </a:r>
            <a:r>
              <a:rPr dirty="0" sz="1100" spc="-10" b="1">
                <a:latin typeface="Arial"/>
                <a:cs typeface="Arial"/>
              </a:rPr>
              <a:t>Q</a:t>
            </a:r>
            <a:r>
              <a:rPr dirty="0" sz="1100" spc="-5" b="1">
                <a:latin typeface="Arial"/>
                <a:cs typeface="Arial"/>
              </a:rPr>
              <a:t>UALI</a:t>
            </a:r>
            <a:r>
              <a:rPr dirty="0" sz="1100" b="1">
                <a:latin typeface="Arial"/>
                <a:cs typeface="Arial"/>
              </a:rPr>
              <a:t>T</a:t>
            </a:r>
            <a:r>
              <a:rPr dirty="0" sz="1100" spc="-5" b="1">
                <a:latin typeface="Arial"/>
                <a:cs typeface="Arial"/>
              </a:rPr>
              <a:t>Y</a:t>
            </a:r>
            <a:r>
              <a:rPr dirty="0" sz="1100" b="1">
                <a:latin typeface="Arial"/>
                <a:cs typeface="Arial"/>
              </a:rPr>
              <a:t>	</a:t>
            </a:r>
            <a:r>
              <a:rPr dirty="0" sz="1100" spc="-5" b="1">
                <a:latin typeface="Arial"/>
                <a:cs typeface="Arial"/>
              </a:rPr>
              <a:t>AND</a:t>
            </a:r>
            <a:r>
              <a:rPr dirty="0" sz="1100" b="1">
                <a:latin typeface="Arial"/>
                <a:cs typeface="Arial"/>
              </a:rPr>
              <a:t>	</a:t>
            </a:r>
            <a:r>
              <a:rPr dirty="0" sz="1100" spc="-5" b="1">
                <a:latin typeface="Arial"/>
                <a:cs typeface="Arial"/>
              </a:rPr>
              <a:t>PO</a:t>
            </a:r>
            <a:r>
              <a:rPr dirty="0" sz="1100" b="1">
                <a:latin typeface="Arial"/>
                <a:cs typeface="Arial"/>
              </a:rPr>
              <a:t>V</a:t>
            </a:r>
            <a:r>
              <a:rPr dirty="0" sz="1100" spc="-10" b="1">
                <a:latin typeface="Arial"/>
                <a:cs typeface="Arial"/>
              </a:rPr>
              <a:t>E</a:t>
            </a:r>
            <a:r>
              <a:rPr dirty="0" sz="1100" spc="-5" b="1">
                <a:latin typeface="Arial"/>
                <a:cs typeface="Arial"/>
              </a:rPr>
              <a:t>RTY:</a:t>
            </a:r>
            <a:r>
              <a:rPr dirty="0" sz="1100" b="1">
                <a:latin typeface="Arial"/>
                <a:cs typeface="Arial"/>
              </a:rPr>
              <a:t>	</a:t>
            </a:r>
            <a:r>
              <a:rPr dirty="0" sz="1100" b="1">
                <a:latin typeface="Arial"/>
                <a:cs typeface="Arial"/>
              </a:rPr>
              <a:t>S</a:t>
            </a:r>
            <a:r>
              <a:rPr dirty="0" sz="1100" spc="-10" b="1">
                <a:latin typeface="Arial"/>
                <a:cs typeface="Arial"/>
              </a:rPr>
              <a:t>O</a:t>
            </a:r>
            <a:r>
              <a:rPr dirty="0" sz="1100" spc="-5" b="1">
                <a:latin typeface="Arial"/>
                <a:cs typeface="Arial"/>
              </a:rPr>
              <a:t>ME</a:t>
            </a:r>
            <a:r>
              <a:rPr dirty="0" sz="1100" b="1">
                <a:latin typeface="Arial"/>
                <a:cs typeface="Arial"/>
              </a:rPr>
              <a:t>	</a:t>
            </a:r>
            <a:r>
              <a:rPr dirty="0" sz="1100" b="1">
                <a:latin typeface="Arial"/>
                <a:cs typeface="Arial"/>
              </a:rPr>
              <a:t>B</a:t>
            </a:r>
            <a:r>
              <a:rPr dirty="0" sz="1100" spc="-10" b="1">
                <a:latin typeface="Arial"/>
                <a:cs typeface="Arial"/>
              </a:rPr>
              <a:t>A</a:t>
            </a:r>
            <a:r>
              <a:rPr dirty="0" sz="1100" b="1">
                <a:latin typeface="Arial"/>
                <a:cs typeface="Arial"/>
              </a:rPr>
              <a:t>S</a:t>
            </a:r>
            <a:r>
              <a:rPr dirty="0" sz="1100" spc="-5" b="1">
                <a:latin typeface="Arial"/>
                <a:cs typeface="Arial"/>
              </a:rPr>
              <a:t>I</a:t>
            </a:r>
            <a:r>
              <a:rPr dirty="0" sz="1100" spc="-5" b="1">
                <a:latin typeface="Arial"/>
                <a:cs typeface="Arial"/>
              </a:rPr>
              <a:t>C  </a:t>
            </a:r>
            <a:r>
              <a:rPr dirty="0" sz="1100" spc="-5" b="1">
                <a:latin typeface="Arial"/>
                <a:cs typeface="Arial"/>
              </a:rPr>
              <a:t>CONSIDERATIONS</a:t>
            </a:r>
            <a:endParaRPr sz="1100">
              <a:latin typeface="Arial"/>
              <a:cs typeface="Arial"/>
            </a:endParaRPr>
          </a:p>
          <a:p>
            <a:pPr>
              <a:lnSpc>
                <a:spcPct val="100000"/>
              </a:lnSpc>
              <a:spcBef>
                <a:spcPts val="30"/>
              </a:spcBef>
            </a:pPr>
            <a:endParaRPr sz="1000">
              <a:latin typeface="Arial"/>
              <a:cs typeface="Arial"/>
            </a:endParaRPr>
          </a:p>
          <a:p>
            <a:pPr marL="12700">
              <a:lnSpc>
                <a:spcPts val="1290"/>
              </a:lnSpc>
            </a:pPr>
            <a:r>
              <a:rPr dirty="0" sz="1100" spc="-5" b="1">
                <a:latin typeface="Arial"/>
                <a:cs typeface="Arial"/>
              </a:rPr>
              <a:t>AREAS OF</a:t>
            </a:r>
            <a:r>
              <a:rPr dirty="0" sz="1100" spc="5" b="1">
                <a:latin typeface="Arial"/>
                <a:cs typeface="Arial"/>
              </a:rPr>
              <a:t> </a:t>
            </a:r>
            <a:r>
              <a:rPr dirty="0" sz="1100" spc="-5" b="1">
                <a:latin typeface="Arial"/>
                <a:cs typeface="Arial"/>
              </a:rPr>
              <a:t>INTERVENTION</a:t>
            </a:r>
            <a:endParaRPr sz="1100">
              <a:latin typeface="Arial"/>
              <a:cs typeface="Arial"/>
            </a:endParaRPr>
          </a:p>
          <a:p>
            <a:pPr algn="just" marL="12700" marR="6985">
              <a:lnSpc>
                <a:spcPct val="95700"/>
              </a:lnSpc>
              <a:spcBef>
                <a:spcPts val="25"/>
              </a:spcBef>
            </a:pPr>
            <a:r>
              <a:rPr dirty="0" sz="1100" spc="-5">
                <a:latin typeface="Arial"/>
                <a:cs typeface="Arial"/>
              </a:rPr>
              <a:t>Developing countries that aim to reduce poverty and excessive inequalities in their distribution  of income </a:t>
            </a:r>
            <a:r>
              <a:rPr dirty="0" sz="1100">
                <a:latin typeface="Arial"/>
                <a:cs typeface="Arial"/>
              </a:rPr>
              <a:t>need </a:t>
            </a:r>
            <a:r>
              <a:rPr dirty="0" sz="1100" spc="-5">
                <a:latin typeface="Arial"/>
                <a:cs typeface="Arial"/>
              </a:rPr>
              <a:t>to know how best </a:t>
            </a:r>
            <a:r>
              <a:rPr dirty="0" sz="1100">
                <a:latin typeface="Arial"/>
                <a:cs typeface="Arial"/>
              </a:rPr>
              <a:t>to </a:t>
            </a:r>
            <a:r>
              <a:rPr dirty="0" sz="1100" spc="-5">
                <a:latin typeface="Arial"/>
                <a:cs typeface="Arial"/>
              </a:rPr>
              <a:t>achieve their aim. We have identified four broad areas of  possible government policy intervention</a:t>
            </a:r>
            <a:r>
              <a:rPr dirty="0" sz="1100" spc="15">
                <a:latin typeface="Arial"/>
                <a:cs typeface="Arial"/>
              </a:rPr>
              <a:t> </a:t>
            </a:r>
            <a:r>
              <a:rPr dirty="0" sz="1100" spc="-5">
                <a:latin typeface="Arial"/>
                <a:cs typeface="Arial"/>
              </a:rPr>
              <a:t>i.e.</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Altering the functional</a:t>
            </a:r>
            <a:r>
              <a:rPr dirty="0" sz="1100" spc="5">
                <a:latin typeface="Arial"/>
                <a:cs typeface="Arial"/>
              </a:rPr>
              <a:t> </a:t>
            </a:r>
            <a:r>
              <a:rPr dirty="0" sz="1100" spc="-5">
                <a:latin typeface="Arial"/>
                <a:cs typeface="Arial"/>
              </a:rPr>
              <a:t>distribution</a:t>
            </a:r>
            <a:endParaRPr sz="1100">
              <a:latin typeface="Arial"/>
              <a:cs typeface="Arial"/>
            </a:endParaRPr>
          </a:p>
          <a:p>
            <a:pPr lvl="1" marL="469900" indent="-229235">
              <a:lnSpc>
                <a:spcPct val="100000"/>
              </a:lnSpc>
              <a:spcBef>
                <a:spcPts val="20"/>
              </a:spcBef>
              <a:buFont typeface="Symbol"/>
              <a:buChar char=""/>
              <a:tabLst>
                <a:tab pos="469265" algn="l"/>
                <a:tab pos="470534" algn="l"/>
              </a:tabLst>
            </a:pPr>
            <a:r>
              <a:rPr dirty="0" sz="1100" spc="-5">
                <a:latin typeface="Arial"/>
                <a:cs typeface="Arial"/>
              </a:rPr>
              <a:t>Mitigating the size</a:t>
            </a:r>
            <a:r>
              <a:rPr dirty="0" sz="1100" spc="10">
                <a:latin typeface="Arial"/>
                <a:cs typeface="Arial"/>
              </a:rPr>
              <a:t> </a:t>
            </a:r>
            <a:r>
              <a:rPr dirty="0" sz="1100" spc="-5">
                <a:latin typeface="Arial"/>
                <a:cs typeface="Arial"/>
              </a:rPr>
              <a:t>distribution</a:t>
            </a:r>
            <a:endParaRPr sz="1100">
              <a:latin typeface="Arial"/>
              <a:cs typeface="Arial"/>
            </a:endParaRPr>
          </a:p>
          <a:p>
            <a:pPr lvl="1" marL="469900" indent="-229235">
              <a:lnSpc>
                <a:spcPct val="100000"/>
              </a:lnSpc>
              <a:spcBef>
                <a:spcPts val="25"/>
              </a:spcBef>
              <a:buFont typeface="Symbol"/>
              <a:buChar char=""/>
              <a:tabLst>
                <a:tab pos="469265" algn="l"/>
                <a:tab pos="470534" algn="l"/>
              </a:tabLst>
            </a:pPr>
            <a:r>
              <a:rPr dirty="0" sz="1100" spc="-5">
                <a:latin typeface="Arial"/>
                <a:cs typeface="Arial"/>
              </a:rPr>
              <a:t>Moderating (reducing) the size distribution at upper</a:t>
            </a:r>
            <a:r>
              <a:rPr dirty="0" sz="1100" spc="40">
                <a:latin typeface="Arial"/>
                <a:cs typeface="Arial"/>
              </a:rPr>
              <a:t> </a:t>
            </a:r>
            <a:r>
              <a:rPr dirty="0" sz="1100" spc="-5">
                <a:latin typeface="Arial"/>
                <a:cs typeface="Arial"/>
              </a:rPr>
              <a:t>levels</a:t>
            </a:r>
            <a:endParaRPr sz="1100">
              <a:latin typeface="Arial"/>
              <a:cs typeface="Arial"/>
            </a:endParaRPr>
          </a:p>
          <a:p>
            <a:pPr lvl="1" marL="469900" indent="-229235">
              <a:lnSpc>
                <a:spcPct val="100000"/>
              </a:lnSpc>
              <a:spcBef>
                <a:spcPts val="15"/>
              </a:spcBef>
              <a:buFont typeface="Symbol"/>
              <a:buChar char=""/>
              <a:tabLst>
                <a:tab pos="469265" algn="l"/>
                <a:tab pos="470534" algn="l"/>
              </a:tabLst>
            </a:pPr>
            <a:r>
              <a:rPr dirty="0" sz="1100" spc="-5">
                <a:latin typeface="Arial"/>
                <a:cs typeface="Arial"/>
              </a:rPr>
              <a:t>Moderating (increasing) the size distribution at lower</a:t>
            </a:r>
            <a:r>
              <a:rPr dirty="0" sz="1100" spc="35">
                <a:latin typeface="Arial"/>
                <a:cs typeface="Arial"/>
              </a:rPr>
              <a:t> </a:t>
            </a:r>
            <a:r>
              <a:rPr dirty="0" sz="1100" spc="-5">
                <a:latin typeface="Arial"/>
                <a:cs typeface="Arial"/>
              </a:rPr>
              <a:t>levels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POLICY</a:t>
            </a:r>
            <a:r>
              <a:rPr dirty="0" sz="1100" b="1">
                <a:latin typeface="Arial"/>
                <a:cs typeface="Arial"/>
              </a:rPr>
              <a:t> </a:t>
            </a:r>
            <a:r>
              <a:rPr dirty="0" sz="1100" spc="-5" b="1">
                <a:latin typeface="Arial"/>
                <a:cs typeface="Arial"/>
              </a:rPr>
              <a:t>OPTIONS</a:t>
            </a:r>
            <a:endParaRPr sz="1100">
              <a:latin typeface="Arial"/>
              <a:cs typeface="Arial"/>
            </a:endParaRPr>
          </a:p>
          <a:p>
            <a:pPr>
              <a:lnSpc>
                <a:spcPct val="100000"/>
              </a:lnSpc>
              <a:spcBef>
                <a:spcPts val="25"/>
              </a:spcBef>
            </a:pPr>
            <a:endParaRPr sz="1100">
              <a:latin typeface="Arial"/>
              <a:cs typeface="Arial"/>
            </a:endParaRPr>
          </a:p>
          <a:p>
            <a:pPr marL="12700" marR="5080">
              <a:lnSpc>
                <a:spcPts val="1270"/>
              </a:lnSpc>
            </a:pPr>
            <a:r>
              <a:rPr dirty="0" sz="1100" spc="-5" b="1">
                <a:latin typeface="Arial"/>
                <a:cs typeface="Arial"/>
              </a:rPr>
              <a:t>ALTERING THE FUNCTIONAL DISTRIBUTION OF INCOME THROUGH RELATIVE FACTOR  PRICES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Altering the functional distribution is a traditional economic approach. It is argued that as a result  of institutional constraints and faulty government policies, the relative price of labor in the  formal, modern, urban sector is higher than what would be determined by the free interplay of  the forces of supply and</a:t>
            </a:r>
            <a:r>
              <a:rPr dirty="0" sz="1100" spc="15">
                <a:latin typeface="Arial"/>
                <a:cs typeface="Arial"/>
              </a:rPr>
              <a:t> </a:t>
            </a:r>
            <a:r>
              <a:rPr dirty="0" sz="1100" spc="-5">
                <a:latin typeface="Arial"/>
                <a:cs typeface="Arial"/>
              </a:rPr>
              <a:t>demand.</a:t>
            </a:r>
            <a:endParaRPr sz="1100">
              <a:latin typeface="Arial"/>
              <a:cs typeface="Arial"/>
            </a:endParaRPr>
          </a:p>
          <a:p>
            <a:pPr algn="just" marL="12700" marR="5080">
              <a:lnSpc>
                <a:spcPct val="95800"/>
              </a:lnSpc>
              <a:spcBef>
                <a:spcPts val="5"/>
              </a:spcBef>
            </a:pPr>
            <a:r>
              <a:rPr dirty="0" sz="1100" spc="-5">
                <a:latin typeface="Arial"/>
                <a:cs typeface="Arial"/>
              </a:rPr>
              <a:t>Because factor prices are assumed to function as the ultimate signals and incentives in any  economy, correcting these prices (i.e., lowering the relative price of labor and raising the relative  price of capital) would not in general only increase productivity and efficiency but also reduce  inequality by providing more wage-paying jobs for currently unemployed or underemployed  unskilled and semiskilled workers. It would also lower the artificially high incomes of owners of  capital.</a:t>
            </a:r>
            <a:endParaRPr sz="1100">
              <a:latin typeface="Arial"/>
              <a:cs typeface="Arial"/>
            </a:endParaRPr>
          </a:p>
          <a:p>
            <a:pPr algn="just" marL="12700" marR="5715">
              <a:lnSpc>
                <a:spcPts val="1270"/>
              </a:lnSpc>
              <a:spcBef>
                <a:spcPts val="30"/>
              </a:spcBef>
            </a:pPr>
            <a:r>
              <a:rPr dirty="0" sz="1100" spc="-5">
                <a:latin typeface="Arial"/>
                <a:cs typeface="Arial"/>
              </a:rPr>
              <a:t>We </a:t>
            </a:r>
            <a:r>
              <a:rPr dirty="0" sz="1100">
                <a:latin typeface="Arial"/>
                <a:cs typeface="Arial"/>
              </a:rPr>
              <a:t>may </a:t>
            </a:r>
            <a:r>
              <a:rPr dirty="0" sz="1100" spc="-5">
                <a:latin typeface="Arial"/>
                <a:cs typeface="Arial"/>
              </a:rPr>
              <a:t>conclude that there is much merit to </a:t>
            </a:r>
            <a:r>
              <a:rPr dirty="0" sz="1100">
                <a:latin typeface="Arial"/>
                <a:cs typeface="Arial"/>
              </a:rPr>
              <a:t>the </a:t>
            </a:r>
            <a:r>
              <a:rPr dirty="0" sz="1100" spc="-5">
                <a:latin typeface="Arial"/>
                <a:cs typeface="Arial"/>
              </a:rPr>
              <a:t>traditional factor-price distortion argument and  that correcting prices should contribute to a reduction in poverty and an improved distribution of  income.</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MODIFYING THE SIZE DISTRIBUTION THROUGH INCREASING ASSETS OF THE</a:t>
            </a:r>
            <a:r>
              <a:rPr dirty="0" sz="1100" spc="35" b="1">
                <a:latin typeface="Arial"/>
                <a:cs typeface="Arial"/>
              </a:rPr>
              <a:t> </a:t>
            </a:r>
            <a:r>
              <a:rPr dirty="0" sz="1100" spc="-10" b="1">
                <a:latin typeface="Arial"/>
                <a:cs typeface="Arial"/>
              </a:rPr>
              <a:t>POOR</a:t>
            </a:r>
            <a:endParaRPr sz="1100">
              <a:latin typeface="Arial"/>
              <a:cs typeface="Arial"/>
            </a:endParaRPr>
          </a:p>
          <a:p>
            <a:pPr>
              <a:lnSpc>
                <a:spcPct val="100000"/>
              </a:lnSpc>
              <a:spcBef>
                <a:spcPts val="50"/>
              </a:spcBef>
            </a:pPr>
            <a:endParaRPr sz="1050">
              <a:latin typeface="Arial"/>
              <a:cs typeface="Arial"/>
            </a:endParaRPr>
          </a:p>
          <a:p>
            <a:pPr marL="12700" marR="5080">
              <a:lnSpc>
                <a:spcPct val="95800"/>
              </a:lnSpc>
            </a:pPr>
            <a:r>
              <a:rPr dirty="0" sz="1100" spc="-5">
                <a:latin typeface="Arial"/>
                <a:cs typeface="Arial"/>
              </a:rPr>
              <a:t>Given correct resource prices and utilization levels for each type of productive factor (labor,  land, and capital), we can arrive at estimates for the </a:t>
            </a:r>
            <a:r>
              <a:rPr dirty="0" sz="1100">
                <a:latin typeface="Arial"/>
                <a:cs typeface="Arial"/>
              </a:rPr>
              <a:t>total </a:t>
            </a:r>
            <a:r>
              <a:rPr dirty="0" sz="1100" spc="-5">
                <a:latin typeface="Arial"/>
                <a:cs typeface="Arial"/>
              </a:rPr>
              <a:t>earnings of each asset. But to  translate this functional income </a:t>
            </a:r>
            <a:r>
              <a:rPr dirty="0" sz="1100">
                <a:latin typeface="Arial"/>
                <a:cs typeface="Arial"/>
              </a:rPr>
              <a:t>into </a:t>
            </a:r>
            <a:r>
              <a:rPr dirty="0" sz="1100" spc="-5">
                <a:latin typeface="Arial"/>
                <a:cs typeface="Arial"/>
              </a:rPr>
              <a:t>personal income, we need to know the distribution and  ownership concentration of these assets among and within various segments of the population.  It follows that the second and perhaps more important line of policy to reduce poverty and  inequality is to focus directly on reducing the concentrated control of assets, the unequal  distribution of power, and the unequal access to educational and income-earning opportunities  that</a:t>
            </a:r>
            <a:r>
              <a:rPr dirty="0" sz="1100" spc="165">
                <a:latin typeface="Arial"/>
                <a:cs typeface="Arial"/>
              </a:rPr>
              <a:t> </a:t>
            </a:r>
            <a:r>
              <a:rPr dirty="0" sz="1100" spc="-5">
                <a:latin typeface="Arial"/>
                <a:cs typeface="Arial"/>
              </a:rPr>
              <a:t>characterize</a:t>
            </a:r>
            <a:r>
              <a:rPr dirty="0" sz="1100" spc="165">
                <a:latin typeface="Arial"/>
                <a:cs typeface="Arial"/>
              </a:rPr>
              <a:t> </a:t>
            </a:r>
            <a:r>
              <a:rPr dirty="0" sz="1100" spc="-5">
                <a:latin typeface="Arial"/>
                <a:cs typeface="Arial"/>
              </a:rPr>
              <a:t>many</a:t>
            </a:r>
            <a:r>
              <a:rPr dirty="0" sz="1100" spc="170">
                <a:latin typeface="Arial"/>
                <a:cs typeface="Arial"/>
              </a:rPr>
              <a:t> </a:t>
            </a:r>
            <a:r>
              <a:rPr dirty="0" sz="1100" spc="-5">
                <a:latin typeface="Arial"/>
                <a:cs typeface="Arial"/>
              </a:rPr>
              <a:t>developing</a:t>
            </a:r>
            <a:r>
              <a:rPr dirty="0" sz="1100" spc="170">
                <a:latin typeface="Arial"/>
                <a:cs typeface="Arial"/>
              </a:rPr>
              <a:t> </a:t>
            </a:r>
            <a:r>
              <a:rPr dirty="0" sz="1100" spc="-5">
                <a:latin typeface="Arial"/>
                <a:cs typeface="Arial"/>
              </a:rPr>
              <a:t>countries.</a:t>
            </a:r>
            <a:r>
              <a:rPr dirty="0" sz="1100" spc="165">
                <a:latin typeface="Arial"/>
                <a:cs typeface="Arial"/>
              </a:rPr>
              <a:t> </a:t>
            </a:r>
            <a:r>
              <a:rPr dirty="0" sz="1100" spc="-5">
                <a:latin typeface="Arial"/>
                <a:cs typeface="Arial"/>
              </a:rPr>
              <a:t>A</a:t>
            </a:r>
            <a:r>
              <a:rPr dirty="0" sz="1100" spc="155">
                <a:latin typeface="Arial"/>
                <a:cs typeface="Arial"/>
              </a:rPr>
              <a:t> </a:t>
            </a:r>
            <a:r>
              <a:rPr dirty="0" sz="1100" spc="-5">
                <a:latin typeface="Arial"/>
                <a:cs typeface="Arial"/>
              </a:rPr>
              <a:t>classic</a:t>
            </a:r>
            <a:r>
              <a:rPr dirty="0" sz="1100" spc="165">
                <a:latin typeface="Arial"/>
                <a:cs typeface="Arial"/>
              </a:rPr>
              <a:t> </a:t>
            </a:r>
            <a:r>
              <a:rPr dirty="0" sz="1100" spc="-5">
                <a:latin typeface="Arial"/>
                <a:cs typeface="Arial"/>
              </a:rPr>
              <a:t>case</a:t>
            </a:r>
            <a:r>
              <a:rPr dirty="0" sz="1100" spc="170">
                <a:latin typeface="Arial"/>
                <a:cs typeface="Arial"/>
              </a:rPr>
              <a:t> </a:t>
            </a:r>
            <a:r>
              <a:rPr dirty="0" sz="1100" spc="-5">
                <a:latin typeface="Arial"/>
                <a:cs typeface="Arial"/>
              </a:rPr>
              <a:t>of</a:t>
            </a:r>
            <a:r>
              <a:rPr dirty="0" sz="1100" spc="165">
                <a:latin typeface="Arial"/>
                <a:cs typeface="Arial"/>
              </a:rPr>
              <a:t> </a:t>
            </a:r>
            <a:r>
              <a:rPr dirty="0" sz="1100" spc="-5">
                <a:latin typeface="Arial"/>
                <a:cs typeface="Arial"/>
              </a:rPr>
              <a:t>such</a:t>
            </a:r>
            <a:r>
              <a:rPr dirty="0" sz="1100" spc="165">
                <a:latin typeface="Arial"/>
                <a:cs typeface="Arial"/>
              </a:rPr>
              <a:t> </a:t>
            </a:r>
            <a:r>
              <a:rPr dirty="0" sz="1100" spc="-5">
                <a:latin typeface="Arial"/>
                <a:cs typeface="Arial"/>
              </a:rPr>
              <a:t>redistribution</a:t>
            </a:r>
            <a:r>
              <a:rPr dirty="0" sz="1100" spc="160">
                <a:latin typeface="Arial"/>
                <a:cs typeface="Arial"/>
              </a:rPr>
              <a:t> </a:t>
            </a:r>
            <a:r>
              <a:rPr dirty="0" sz="1100" spc="-5">
                <a:latin typeface="Arial"/>
                <a:cs typeface="Arial"/>
              </a:rPr>
              <a:t>policies</a:t>
            </a:r>
            <a:r>
              <a:rPr dirty="0" sz="1100" spc="170">
                <a:latin typeface="Arial"/>
                <a:cs typeface="Arial"/>
              </a:rPr>
              <a:t> </a:t>
            </a:r>
            <a:r>
              <a:rPr dirty="0" sz="1100" spc="-5">
                <a:latin typeface="Arial"/>
                <a:cs typeface="Arial"/>
              </a:rPr>
              <a:t>as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68</a:t>
            </a:r>
            <a:endParaRPr sz="1100">
              <a:latin typeface="Carlito"/>
              <a:cs typeface="Carlito"/>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58" y="891794"/>
            <a:ext cx="5969635" cy="8141334"/>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they relate to the rural poor, who comprise 70% to 80% of the target poverty group, is land  reform.</a:t>
            </a:r>
            <a:endParaRPr sz="1100">
              <a:latin typeface="Arial"/>
              <a:cs typeface="Arial"/>
            </a:endParaRPr>
          </a:p>
          <a:p>
            <a:pPr algn="just" marL="469900" marR="5715" indent="-228600">
              <a:lnSpc>
                <a:spcPct val="95700"/>
              </a:lnSpc>
              <a:spcBef>
                <a:spcPts val="45"/>
              </a:spcBef>
              <a:buFont typeface="Symbol"/>
              <a:buChar char=""/>
              <a:tabLst>
                <a:tab pos="470534" algn="l"/>
              </a:tabLst>
            </a:pPr>
            <a:r>
              <a:rPr dirty="0" sz="1100" spc="-5" b="1">
                <a:latin typeface="Arial"/>
                <a:cs typeface="Arial"/>
              </a:rPr>
              <a:t>Asset ownership: </a:t>
            </a:r>
            <a:r>
              <a:rPr dirty="0" sz="1100" spc="-5">
                <a:latin typeface="Arial"/>
                <a:cs typeface="Arial"/>
              </a:rPr>
              <a:t>The ownership of land, physical capital (factories, buildings,  machinery, etc.), human capital, and financial resources that generate income for  owners.</a:t>
            </a:r>
            <a:endParaRPr sz="1100">
              <a:latin typeface="Arial"/>
              <a:cs typeface="Arial"/>
            </a:endParaRPr>
          </a:p>
          <a:p>
            <a:pPr algn="just" marL="469900" marR="6985" indent="-228600">
              <a:lnSpc>
                <a:spcPct val="95700"/>
              </a:lnSpc>
              <a:spcBef>
                <a:spcPts val="75"/>
              </a:spcBef>
              <a:buFont typeface="Symbol"/>
              <a:buChar char=""/>
              <a:tabLst>
                <a:tab pos="470534" algn="l"/>
              </a:tabLst>
            </a:pPr>
            <a:r>
              <a:rPr dirty="0" sz="1100" spc="-5" b="1">
                <a:latin typeface="Arial"/>
                <a:cs typeface="Arial"/>
              </a:rPr>
              <a:t>Redistribution policies: </a:t>
            </a:r>
            <a:r>
              <a:rPr dirty="0" sz="1100" spc="-5">
                <a:latin typeface="Arial"/>
                <a:cs typeface="Arial"/>
              </a:rPr>
              <a:t>Policies geared to reducing income inequality and </a:t>
            </a:r>
            <a:r>
              <a:rPr dirty="0" sz="1100">
                <a:latin typeface="Arial"/>
                <a:cs typeface="Arial"/>
              </a:rPr>
              <a:t>expanding  </a:t>
            </a:r>
            <a:r>
              <a:rPr dirty="0" sz="1100" spc="-5">
                <a:latin typeface="Arial"/>
                <a:cs typeface="Arial"/>
              </a:rPr>
              <a:t>economic opportunities in order to promote development, including income tax policies,  rural development policies, and publicly financed</a:t>
            </a:r>
            <a:r>
              <a:rPr dirty="0" sz="1100" spc="30">
                <a:latin typeface="Arial"/>
                <a:cs typeface="Arial"/>
              </a:rPr>
              <a:t> </a:t>
            </a:r>
            <a:r>
              <a:rPr dirty="0" sz="1100" spc="-5">
                <a:latin typeface="Arial"/>
                <a:cs typeface="Arial"/>
              </a:rPr>
              <a:t>services.</a:t>
            </a:r>
            <a:endParaRPr sz="1100">
              <a:latin typeface="Arial"/>
              <a:cs typeface="Arial"/>
            </a:endParaRPr>
          </a:p>
          <a:p>
            <a:pPr algn="just" marL="469900" marR="5715" indent="-228600">
              <a:lnSpc>
                <a:spcPct val="95700"/>
              </a:lnSpc>
              <a:spcBef>
                <a:spcPts val="80"/>
              </a:spcBef>
              <a:buFont typeface="Symbol"/>
              <a:buChar char=""/>
              <a:tabLst>
                <a:tab pos="470534" algn="l"/>
              </a:tabLst>
            </a:pPr>
            <a:r>
              <a:rPr dirty="0" sz="1100" spc="-5" b="1">
                <a:latin typeface="Arial"/>
                <a:cs typeface="Arial"/>
              </a:rPr>
              <a:t>Land reform: </a:t>
            </a:r>
            <a:r>
              <a:rPr dirty="0" sz="1100" spc="-5">
                <a:latin typeface="Arial"/>
                <a:cs typeface="Arial"/>
              </a:rPr>
              <a:t>A deliberate attempt to reorganize and transform existing agrarian  systems with the intention of improving the distribution of agricultural incomes and thus  fostering rural</a:t>
            </a:r>
            <a:r>
              <a:rPr dirty="0" sz="1100">
                <a:latin typeface="Arial"/>
                <a:cs typeface="Arial"/>
              </a:rPr>
              <a:t> </a:t>
            </a:r>
            <a:r>
              <a:rPr dirty="0" sz="1100" spc="-5">
                <a:latin typeface="Arial"/>
                <a:cs typeface="Arial"/>
              </a:rPr>
              <a:t>development.</a:t>
            </a:r>
            <a:endParaRPr sz="1100">
              <a:latin typeface="Arial"/>
              <a:cs typeface="Arial"/>
            </a:endParaRPr>
          </a:p>
          <a:p>
            <a:pPr>
              <a:lnSpc>
                <a:spcPct val="100000"/>
              </a:lnSpc>
              <a:spcBef>
                <a:spcPts val="10"/>
              </a:spcBef>
              <a:buFont typeface="Symbol"/>
              <a:buChar char=""/>
            </a:pPr>
            <a:endParaRPr sz="1050">
              <a:latin typeface="Arial"/>
              <a:cs typeface="Arial"/>
            </a:endParaRPr>
          </a:p>
          <a:p>
            <a:pPr marL="12700">
              <a:lnSpc>
                <a:spcPct val="100000"/>
              </a:lnSpc>
            </a:pPr>
            <a:r>
              <a:rPr dirty="0" sz="1100" spc="-5" b="1">
                <a:latin typeface="Arial"/>
                <a:cs typeface="Arial"/>
              </a:rPr>
              <a:t>PROGRESSIVE INCOME AND WEALTH</a:t>
            </a:r>
            <a:r>
              <a:rPr dirty="0" sz="1100" spc="15" b="1">
                <a:latin typeface="Arial"/>
                <a:cs typeface="Arial"/>
              </a:rPr>
              <a:t> </a:t>
            </a:r>
            <a:r>
              <a:rPr dirty="0" sz="1100" spc="-5" b="1">
                <a:latin typeface="Arial"/>
                <a:cs typeface="Arial"/>
              </a:rPr>
              <a:t>TAXES</a:t>
            </a:r>
            <a:endParaRPr sz="1100">
              <a:latin typeface="Arial"/>
              <a:cs typeface="Arial"/>
            </a:endParaRPr>
          </a:p>
          <a:p>
            <a:pPr>
              <a:lnSpc>
                <a:spcPct val="100000"/>
              </a:lnSpc>
              <a:spcBef>
                <a:spcPts val="15"/>
              </a:spcBef>
            </a:pPr>
            <a:endParaRPr sz="1100">
              <a:latin typeface="Arial"/>
              <a:cs typeface="Arial"/>
            </a:endParaRPr>
          </a:p>
          <a:p>
            <a:pPr algn="just" marL="12700" marR="5715">
              <a:lnSpc>
                <a:spcPts val="1270"/>
              </a:lnSpc>
              <a:spcBef>
                <a:spcPts val="5"/>
              </a:spcBef>
            </a:pPr>
            <a:r>
              <a:rPr dirty="0" sz="1100" spc="-5">
                <a:latin typeface="Arial"/>
                <a:cs typeface="Arial"/>
              </a:rPr>
              <a:t>Any national policy attempting to improve the living standards of the bottom 40% must secure  sufficient financial resources to transform paper plans into program realities. The major source  of such development finance is the direct and progressive taxation of both income and</a:t>
            </a:r>
            <a:r>
              <a:rPr dirty="0" sz="1100" spc="215">
                <a:latin typeface="Arial"/>
                <a:cs typeface="Arial"/>
              </a:rPr>
              <a:t> </a:t>
            </a:r>
            <a:r>
              <a:rPr dirty="0" sz="1100" spc="-5">
                <a:latin typeface="Arial"/>
                <a:cs typeface="Arial"/>
              </a:rPr>
              <a:t>wealth.</a:t>
            </a:r>
            <a:endParaRPr sz="1100">
              <a:latin typeface="Arial"/>
              <a:cs typeface="Arial"/>
            </a:endParaRPr>
          </a:p>
          <a:p>
            <a:pPr>
              <a:lnSpc>
                <a:spcPct val="100000"/>
              </a:lnSpc>
              <a:spcBef>
                <a:spcPts val="40"/>
              </a:spcBef>
            </a:pPr>
            <a:endParaRPr sz="1050">
              <a:latin typeface="Arial"/>
              <a:cs typeface="Arial"/>
            </a:endParaRPr>
          </a:p>
          <a:p>
            <a:pPr marL="469900" indent="-229235">
              <a:lnSpc>
                <a:spcPct val="100000"/>
              </a:lnSpc>
              <a:buFont typeface="Symbol"/>
              <a:buChar char=""/>
              <a:tabLst>
                <a:tab pos="469265" algn="l"/>
                <a:tab pos="470534" algn="l"/>
              </a:tabLst>
            </a:pPr>
            <a:r>
              <a:rPr dirty="0" sz="1100" spc="-5" b="1">
                <a:latin typeface="Arial"/>
                <a:cs typeface="Arial"/>
              </a:rPr>
              <a:t>Progressive income tax</a:t>
            </a:r>
            <a:r>
              <a:rPr dirty="0" sz="1100" spc="-5">
                <a:latin typeface="Arial"/>
                <a:cs typeface="Arial"/>
              </a:rPr>
              <a:t>: A tax whose rate increases with increasing personal</a:t>
            </a:r>
            <a:r>
              <a:rPr dirty="0" sz="1100" spc="200">
                <a:latin typeface="Arial"/>
                <a:cs typeface="Arial"/>
              </a:rPr>
              <a:t> </a:t>
            </a:r>
            <a:r>
              <a:rPr dirty="0" sz="1100" spc="-5">
                <a:latin typeface="Arial"/>
                <a:cs typeface="Arial"/>
              </a:rPr>
              <a:t>incomes.</a:t>
            </a:r>
            <a:endParaRPr sz="1100">
              <a:latin typeface="Arial"/>
              <a:cs typeface="Arial"/>
            </a:endParaRPr>
          </a:p>
          <a:p>
            <a:pPr marL="469900" marR="6350" indent="-228600">
              <a:lnSpc>
                <a:spcPts val="1260"/>
              </a:lnSpc>
              <a:spcBef>
                <a:spcPts val="110"/>
              </a:spcBef>
              <a:buFont typeface="Symbol"/>
              <a:buChar char=""/>
              <a:tabLst>
                <a:tab pos="469265" algn="l"/>
                <a:tab pos="470534" algn="l"/>
              </a:tabLst>
            </a:pPr>
            <a:r>
              <a:rPr dirty="0" sz="1100" spc="-5" b="1">
                <a:latin typeface="Arial"/>
                <a:cs typeface="Arial"/>
              </a:rPr>
              <a:t>Regressive tax: </a:t>
            </a:r>
            <a:r>
              <a:rPr dirty="0" sz="1100" spc="-5">
                <a:latin typeface="Arial"/>
                <a:cs typeface="Arial"/>
              </a:rPr>
              <a:t>A tax structure in which the ratio of taxes to income tends to decrease  as income</a:t>
            </a:r>
            <a:r>
              <a:rPr dirty="0" sz="1100">
                <a:latin typeface="Arial"/>
                <a:cs typeface="Arial"/>
              </a:rPr>
              <a:t> </a:t>
            </a:r>
            <a:r>
              <a:rPr dirty="0" sz="1100" spc="-5">
                <a:latin typeface="Arial"/>
                <a:cs typeface="Arial"/>
              </a:rPr>
              <a:t>increases.</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b="1">
                <a:latin typeface="Arial"/>
                <a:cs typeface="Arial"/>
              </a:rPr>
              <a:t>Indirect taxes: </a:t>
            </a:r>
            <a:r>
              <a:rPr dirty="0" sz="1100" spc="-5">
                <a:latin typeface="Arial"/>
                <a:cs typeface="Arial"/>
              </a:rPr>
              <a:t>Taxes levied on goods ultimately purchased by consumers; including  customs duties (tariffs), excise duties, sales taxes, and export</a:t>
            </a:r>
            <a:r>
              <a:rPr dirty="0" sz="1100" spc="55">
                <a:latin typeface="Arial"/>
                <a:cs typeface="Arial"/>
              </a:rPr>
              <a:t> </a:t>
            </a:r>
            <a:r>
              <a:rPr dirty="0" sz="1100" spc="-5">
                <a:latin typeface="Arial"/>
                <a:cs typeface="Arial"/>
              </a:rPr>
              <a:t>duties.</a:t>
            </a:r>
            <a:endParaRPr sz="1100">
              <a:latin typeface="Arial"/>
              <a:cs typeface="Arial"/>
            </a:endParaRPr>
          </a:p>
          <a:p>
            <a:pPr>
              <a:lnSpc>
                <a:spcPct val="100000"/>
              </a:lnSpc>
              <a:buFont typeface="Symbol"/>
              <a:buChar char=""/>
            </a:pPr>
            <a:endParaRPr sz="1100">
              <a:latin typeface="Arial"/>
              <a:cs typeface="Arial"/>
            </a:endParaRPr>
          </a:p>
          <a:p>
            <a:pPr marL="12700" marR="6350">
              <a:lnSpc>
                <a:spcPts val="1270"/>
              </a:lnSpc>
              <a:spcBef>
                <a:spcPts val="5"/>
              </a:spcBef>
            </a:pPr>
            <a:r>
              <a:rPr dirty="0" sz="1100" spc="-10" b="1">
                <a:latin typeface="Arial"/>
                <a:cs typeface="Arial"/>
              </a:rPr>
              <a:t>DIRECT </a:t>
            </a:r>
            <a:r>
              <a:rPr dirty="0" sz="1100" spc="-5" b="1">
                <a:latin typeface="Arial"/>
                <a:cs typeface="Arial"/>
              </a:rPr>
              <a:t>TRANSFER PAYMENTS AND THE PUBLIC PROVISION OF </a:t>
            </a:r>
            <a:r>
              <a:rPr dirty="0" sz="1100" spc="-10" b="1">
                <a:latin typeface="Arial"/>
                <a:cs typeface="Arial"/>
              </a:rPr>
              <a:t>GOODS </a:t>
            </a:r>
            <a:r>
              <a:rPr dirty="0" sz="1100" spc="-5" b="1">
                <a:latin typeface="Arial"/>
                <a:cs typeface="Arial"/>
              </a:rPr>
              <a:t>AND  SERVICES</a:t>
            </a:r>
            <a:endParaRPr sz="1100">
              <a:latin typeface="Arial"/>
              <a:cs typeface="Arial"/>
            </a:endParaRPr>
          </a:p>
          <a:p>
            <a:pPr>
              <a:lnSpc>
                <a:spcPct val="100000"/>
              </a:lnSpc>
              <a:spcBef>
                <a:spcPts val="5"/>
              </a:spcBef>
            </a:pPr>
            <a:endParaRPr sz="1050">
              <a:latin typeface="Arial"/>
              <a:cs typeface="Arial"/>
            </a:endParaRPr>
          </a:p>
          <a:p>
            <a:pPr algn="just" marL="12700" marR="5080">
              <a:lnSpc>
                <a:spcPct val="95800"/>
              </a:lnSpc>
              <a:spcBef>
                <a:spcPts val="5"/>
              </a:spcBef>
            </a:pPr>
            <a:r>
              <a:rPr dirty="0" sz="1100" spc="-5">
                <a:latin typeface="Arial"/>
                <a:cs typeface="Arial"/>
              </a:rPr>
              <a:t>The direct provision of tax-financed public consumption goods and services to the very poor is  another potentially important instrument of a comprehensive policy designed to eradicate  poverty. Examples include public health projects in rural villages and urban fringe areas, school  lunches and preschool nutritional supplementation programs, and the provision of clean water  and electrification to remote rural areas. Direct money transfers and subsidized food programs  for the urban and rural poor, as well as direct government policies to keep the prices of essential  food stuffs low; represent additional forms of public consumption</a:t>
            </a:r>
            <a:r>
              <a:rPr dirty="0" sz="1100" spc="70">
                <a:latin typeface="Arial"/>
                <a:cs typeface="Arial"/>
              </a:rPr>
              <a:t> </a:t>
            </a:r>
            <a:r>
              <a:rPr dirty="0" sz="1100" spc="-5">
                <a:latin typeface="Arial"/>
                <a:cs typeface="Arial"/>
              </a:rPr>
              <a:t>subsidies.</a:t>
            </a:r>
            <a:endParaRPr sz="1100">
              <a:latin typeface="Arial"/>
              <a:cs typeface="Arial"/>
            </a:endParaRPr>
          </a:p>
          <a:p>
            <a:pPr>
              <a:lnSpc>
                <a:spcPct val="100000"/>
              </a:lnSpc>
            </a:pPr>
            <a:endParaRPr sz="1200">
              <a:latin typeface="Arial"/>
              <a:cs typeface="Arial"/>
            </a:endParaRPr>
          </a:p>
          <a:p>
            <a:pPr algn="just" marL="469900" marR="7620" indent="-228600">
              <a:lnSpc>
                <a:spcPts val="1260"/>
              </a:lnSpc>
              <a:buFont typeface="Symbol"/>
              <a:buChar char=""/>
              <a:tabLst>
                <a:tab pos="469900" algn="l"/>
              </a:tabLst>
            </a:pPr>
            <a:r>
              <a:rPr dirty="0" sz="1100" spc="-5" b="1">
                <a:latin typeface="Arial"/>
                <a:cs typeface="Arial"/>
              </a:rPr>
              <a:t>Public consumption: </a:t>
            </a:r>
            <a:r>
              <a:rPr dirty="0" sz="1100" spc="-5">
                <a:latin typeface="Arial"/>
                <a:cs typeface="Arial"/>
              </a:rPr>
              <a:t>All current expenditures for purchases of goods and services </a:t>
            </a:r>
            <a:r>
              <a:rPr dirty="0" sz="1100">
                <a:latin typeface="Arial"/>
                <a:cs typeface="Arial"/>
              </a:rPr>
              <a:t>by  </a:t>
            </a:r>
            <a:r>
              <a:rPr dirty="0" sz="1100" spc="-5">
                <a:latin typeface="Arial"/>
                <a:cs typeface="Arial"/>
              </a:rPr>
              <a:t>all levels of government, including capital expenditures on national defense and</a:t>
            </a:r>
            <a:r>
              <a:rPr dirty="0" sz="1100" spc="240">
                <a:latin typeface="Arial"/>
                <a:cs typeface="Arial"/>
              </a:rPr>
              <a:t> </a:t>
            </a:r>
            <a:r>
              <a:rPr dirty="0" sz="1100" spc="-5">
                <a:latin typeface="Arial"/>
                <a:cs typeface="Arial"/>
              </a:rPr>
              <a:t>security.</a:t>
            </a:r>
            <a:endParaRPr sz="1100">
              <a:latin typeface="Arial"/>
              <a:cs typeface="Arial"/>
            </a:endParaRPr>
          </a:p>
          <a:p>
            <a:pPr algn="just" marL="469900" marR="5715" indent="-228600">
              <a:lnSpc>
                <a:spcPct val="95700"/>
              </a:lnSpc>
              <a:spcBef>
                <a:spcPts val="50"/>
              </a:spcBef>
              <a:buFont typeface="Symbol"/>
              <a:buChar char=""/>
              <a:tabLst>
                <a:tab pos="469900" algn="l"/>
              </a:tabLst>
            </a:pPr>
            <a:r>
              <a:rPr dirty="0" sz="1100" spc="-5" b="1">
                <a:latin typeface="Arial"/>
                <a:cs typeface="Arial"/>
              </a:rPr>
              <a:t>Subsidy: </a:t>
            </a:r>
            <a:r>
              <a:rPr dirty="0" sz="1100" spc="-5">
                <a:latin typeface="Arial"/>
                <a:cs typeface="Arial"/>
              </a:rPr>
              <a:t>A payment </a:t>
            </a:r>
            <a:r>
              <a:rPr dirty="0" sz="1100">
                <a:latin typeface="Arial"/>
                <a:cs typeface="Arial"/>
              </a:rPr>
              <a:t>by </a:t>
            </a:r>
            <a:r>
              <a:rPr dirty="0" sz="1100" spc="-5">
                <a:latin typeface="Arial"/>
                <a:cs typeface="Arial"/>
              </a:rPr>
              <a:t>the government to producers or distributors in an industry </a:t>
            </a:r>
            <a:r>
              <a:rPr dirty="0" sz="1100">
                <a:latin typeface="Arial"/>
                <a:cs typeface="Arial"/>
              </a:rPr>
              <a:t>to  </a:t>
            </a:r>
            <a:r>
              <a:rPr dirty="0" sz="1100" spc="-5">
                <a:latin typeface="Arial"/>
                <a:cs typeface="Arial"/>
              </a:rPr>
              <a:t>prevent the decline of that industry, to reduce the prices of its products, or to encourage  hiring.</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5" b="1">
                <a:latin typeface="Arial"/>
                <a:cs typeface="Arial"/>
              </a:rPr>
              <a:t>WORKFARE PROGRAM</a:t>
            </a:r>
            <a:endParaRPr sz="1100">
              <a:latin typeface="Arial"/>
              <a:cs typeface="Arial"/>
            </a:endParaRPr>
          </a:p>
          <a:p>
            <a:pPr>
              <a:lnSpc>
                <a:spcPct val="100000"/>
              </a:lnSpc>
              <a:spcBef>
                <a:spcPts val="20"/>
              </a:spcBef>
            </a:pPr>
            <a:endParaRPr sz="1100">
              <a:latin typeface="Arial"/>
              <a:cs typeface="Arial"/>
            </a:endParaRPr>
          </a:p>
          <a:p>
            <a:pPr algn="just" marL="12700" marR="6350">
              <a:lnSpc>
                <a:spcPts val="1270"/>
              </a:lnSpc>
              <a:spcBef>
                <a:spcPts val="5"/>
              </a:spcBef>
            </a:pPr>
            <a:r>
              <a:rPr dirty="0" sz="1100" spc="-5">
                <a:latin typeface="Arial"/>
                <a:cs typeface="Arial"/>
              </a:rPr>
              <a:t>A poverty alleviation program that requires program beneficiaries to work in exchange for  benefits, as in a food for-work</a:t>
            </a:r>
            <a:r>
              <a:rPr dirty="0" sz="1100" spc="20">
                <a:latin typeface="Arial"/>
                <a:cs typeface="Arial"/>
              </a:rPr>
              <a:t> </a:t>
            </a:r>
            <a:r>
              <a:rPr dirty="0" sz="1100" spc="-5">
                <a:latin typeface="Arial"/>
                <a:cs typeface="Arial"/>
              </a:rPr>
              <a:t>program.</a:t>
            </a:r>
            <a:endParaRPr sz="1100">
              <a:latin typeface="Arial"/>
              <a:cs typeface="Arial"/>
            </a:endParaRPr>
          </a:p>
          <a:p>
            <a:pPr algn="just" marL="12700" marR="5080">
              <a:lnSpc>
                <a:spcPts val="1260"/>
              </a:lnSpc>
            </a:pPr>
            <a:r>
              <a:rPr dirty="0" sz="1100" spc="-5">
                <a:latin typeface="Arial"/>
                <a:cs typeface="Arial"/>
              </a:rPr>
              <a:t>In sum, we can say that workfare, such as the Food for Work Program, represents a better  policy than welfare or direct handouts when the following criteria are</a:t>
            </a:r>
            <a:r>
              <a:rPr dirty="0" sz="1100" spc="75">
                <a:latin typeface="Arial"/>
                <a:cs typeface="Arial"/>
              </a:rPr>
              <a:t> </a:t>
            </a:r>
            <a:r>
              <a:rPr dirty="0" sz="1100" spc="-5">
                <a:latin typeface="Arial"/>
                <a:cs typeface="Arial"/>
              </a:rPr>
              <a:t>met:</a:t>
            </a:r>
            <a:endParaRPr sz="1100">
              <a:latin typeface="Arial"/>
              <a:cs typeface="Arial"/>
            </a:endParaRPr>
          </a:p>
          <a:p>
            <a:pPr>
              <a:lnSpc>
                <a:spcPct val="100000"/>
              </a:lnSpc>
              <a:spcBef>
                <a:spcPts val="20"/>
              </a:spcBef>
            </a:pPr>
            <a:endParaRPr sz="1100">
              <a:latin typeface="Arial"/>
              <a:cs typeface="Arial"/>
            </a:endParaRPr>
          </a:p>
          <a:p>
            <a:pPr algn="just" marL="469900" marR="5715" indent="-229235">
              <a:lnSpc>
                <a:spcPts val="1260"/>
              </a:lnSpc>
              <a:spcBef>
                <a:spcPts val="5"/>
              </a:spcBef>
              <a:buFont typeface="Carlito"/>
              <a:buChar char="•"/>
              <a:tabLst>
                <a:tab pos="470534" algn="l"/>
              </a:tabLst>
            </a:pPr>
            <a:r>
              <a:rPr dirty="0" sz="1100" spc="-5">
                <a:latin typeface="Arial"/>
                <a:cs typeface="Arial"/>
              </a:rPr>
              <a:t>The program does not reduce or seriously undermine incentives for the poor to acquire  human capital and other</a:t>
            </a:r>
            <a:r>
              <a:rPr dirty="0" sz="1100" spc="10">
                <a:latin typeface="Arial"/>
                <a:cs typeface="Arial"/>
              </a:rPr>
              <a:t> </a:t>
            </a:r>
            <a:r>
              <a:rPr dirty="0" sz="1100" spc="-5">
                <a:latin typeface="Arial"/>
                <a:cs typeface="Arial"/>
              </a:rPr>
              <a:t>assets.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69</a:t>
            </a:r>
            <a:endParaRPr sz="1100">
              <a:latin typeface="Carlito"/>
              <a:cs typeface="Carlito"/>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47" y="894080"/>
            <a:ext cx="5970270" cy="4387215"/>
          </a:xfrm>
          <a:prstGeom prst="rect">
            <a:avLst/>
          </a:prstGeom>
        </p:spPr>
        <p:txBody>
          <a:bodyPr wrap="square" lIns="0" tIns="12065" rIns="0" bIns="0" rtlCol="0" vert="horz">
            <a:spAutoFit/>
          </a:bodyPr>
          <a:lstStyle/>
          <a:p>
            <a:pPr marL="469265" indent="-229235">
              <a:lnSpc>
                <a:spcPts val="1300"/>
              </a:lnSpc>
              <a:spcBef>
                <a:spcPts val="95"/>
              </a:spcBef>
              <a:buFont typeface="Carlito"/>
              <a:buChar char="•"/>
              <a:tabLst>
                <a:tab pos="469265" algn="l"/>
                <a:tab pos="469900" algn="l"/>
              </a:tabLst>
            </a:pPr>
            <a:r>
              <a:rPr dirty="0" sz="1100" spc="-5">
                <a:latin typeface="Arial"/>
                <a:cs typeface="Arial"/>
              </a:rPr>
              <a:t>There are greater net benefits of the work output of the</a:t>
            </a:r>
            <a:r>
              <a:rPr dirty="0" sz="1100" spc="65">
                <a:latin typeface="Arial"/>
                <a:cs typeface="Arial"/>
              </a:rPr>
              <a:t> </a:t>
            </a:r>
            <a:r>
              <a:rPr dirty="0" sz="1100" spc="-5">
                <a:latin typeface="Arial"/>
                <a:cs typeface="Arial"/>
              </a:rPr>
              <a:t>program.</a:t>
            </a:r>
            <a:endParaRPr sz="1100">
              <a:latin typeface="Arial"/>
              <a:cs typeface="Arial"/>
            </a:endParaRPr>
          </a:p>
          <a:p>
            <a:pPr marL="469265" indent="-229235">
              <a:lnSpc>
                <a:spcPts val="1280"/>
              </a:lnSpc>
              <a:buFont typeface="Carlito"/>
              <a:buChar char="•"/>
              <a:tabLst>
                <a:tab pos="469265" algn="l"/>
                <a:tab pos="469900" algn="l"/>
              </a:tabLst>
            </a:pPr>
            <a:r>
              <a:rPr dirty="0" sz="1100" spc="-5">
                <a:latin typeface="Arial"/>
                <a:cs typeface="Arial"/>
              </a:rPr>
              <a:t>It is harder to screen the poor without the workfare</a:t>
            </a:r>
            <a:r>
              <a:rPr dirty="0" sz="1100" spc="60">
                <a:latin typeface="Arial"/>
                <a:cs typeface="Arial"/>
              </a:rPr>
              <a:t> </a:t>
            </a:r>
            <a:r>
              <a:rPr dirty="0" sz="1100" spc="-5">
                <a:latin typeface="Arial"/>
                <a:cs typeface="Arial"/>
              </a:rPr>
              <a:t>requirement.</a:t>
            </a:r>
            <a:endParaRPr sz="1100">
              <a:latin typeface="Arial"/>
              <a:cs typeface="Arial"/>
            </a:endParaRPr>
          </a:p>
          <a:p>
            <a:pPr marL="469265" marR="7620" indent="-229235">
              <a:lnSpc>
                <a:spcPts val="1260"/>
              </a:lnSpc>
              <a:spcBef>
                <a:spcPts val="75"/>
              </a:spcBef>
              <a:buFont typeface="Carlito"/>
              <a:buChar char="•"/>
              <a:tabLst>
                <a:tab pos="469265" algn="l"/>
                <a:tab pos="469900" algn="l"/>
              </a:tabLst>
            </a:pPr>
            <a:r>
              <a:rPr dirty="0" sz="1100" spc="-5">
                <a:latin typeface="Arial"/>
                <a:cs typeface="Arial"/>
              </a:rPr>
              <a:t>There is lower opportunity cost of time for </a:t>
            </a:r>
            <a:r>
              <a:rPr dirty="0" sz="1100">
                <a:latin typeface="Arial"/>
                <a:cs typeface="Arial"/>
              </a:rPr>
              <a:t>poor </a:t>
            </a:r>
            <a:r>
              <a:rPr dirty="0" sz="1100" spc="-5">
                <a:latin typeface="Arial"/>
                <a:cs typeface="Arial"/>
              </a:rPr>
              <a:t>workers (so the economy loses little  output when they join the workfare</a:t>
            </a:r>
            <a:r>
              <a:rPr dirty="0" sz="1100" spc="25">
                <a:latin typeface="Arial"/>
                <a:cs typeface="Arial"/>
              </a:rPr>
              <a:t> </a:t>
            </a:r>
            <a:r>
              <a:rPr dirty="0" sz="1100" spc="-5">
                <a:latin typeface="Arial"/>
                <a:cs typeface="Arial"/>
              </a:rPr>
              <a:t>program).</a:t>
            </a:r>
            <a:endParaRPr sz="1100">
              <a:latin typeface="Arial"/>
              <a:cs typeface="Arial"/>
            </a:endParaRPr>
          </a:p>
          <a:p>
            <a:pPr marL="469265" marR="6350" indent="-229235">
              <a:lnSpc>
                <a:spcPts val="1260"/>
              </a:lnSpc>
              <a:spcBef>
                <a:spcPts val="25"/>
              </a:spcBef>
              <a:buFont typeface="Carlito"/>
              <a:buChar char="•"/>
              <a:tabLst>
                <a:tab pos="469265" algn="l"/>
                <a:tab pos="469900" algn="l"/>
              </a:tabLst>
            </a:pPr>
            <a:r>
              <a:rPr dirty="0" sz="1100" spc="-5">
                <a:latin typeface="Arial"/>
                <a:cs typeface="Arial"/>
              </a:rPr>
              <a:t>There is higher opportunity cost of time for non poor workers (so they won’t avail  themselves of the</a:t>
            </a:r>
            <a:r>
              <a:rPr dirty="0" sz="1100" spc="10">
                <a:latin typeface="Arial"/>
                <a:cs typeface="Arial"/>
              </a:rPr>
              <a:t> </a:t>
            </a:r>
            <a:r>
              <a:rPr dirty="0" sz="1100" spc="-5">
                <a:latin typeface="Arial"/>
                <a:cs typeface="Arial"/>
              </a:rPr>
              <a:t>benefits).</a:t>
            </a:r>
            <a:endParaRPr sz="1100">
              <a:latin typeface="Arial"/>
              <a:cs typeface="Arial"/>
            </a:endParaRPr>
          </a:p>
          <a:p>
            <a:pPr marL="469265" marR="6350" indent="-229235">
              <a:lnSpc>
                <a:spcPts val="1270"/>
              </a:lnSpc>
              <a:spcBef>
                <a:spcPts val="15"/>
              </a:spcBef>
              <a:buFont typeface="Carlito"/>
              <a:buChar char="•"/>
              <a:tabLst>
                <a:tab pos="469265" algn="l"/>
                <a:tab pos="469900" algn="l"/>
              </a:tabLst>
            </a:pPr>
            <a:r>
              <a:rPr dirty="0" sz="1100" spc="-5">
                <a:latin typeface="Arial"/>
                <a:cs typeface="Arial"/>
              </a:rPr>
              <a:t>The fraction of the population living in poverty is smaller (so the extra costs of a  universal welfare scheme would be</a:t>
            </a:r>
            <a:r>
              <a:rPr dirty="0" sz="1100" spc="20">
                <a:latin typeface="Arial"/>
                <a:cs typeface="Arial"/>
              </a:rPr>
              <a:t> </a:t>
            </a:r>
            <a:r>
              <a:rPr dirty="0" sz="1100" spc="-5">
                <a:latin typeface="Arial"/>
                <a:cs typeface="Arial"/>
              </a:rPr>
              <a:t>high).</a:t>
            </a:r>
            <a:endParaRPr sz="1100">
              <a:latin typeface="Arial"/>
              <a:cs typeface="Arial"/>
            </a:endParaRPr>
          </a:p>
          <a:p>
            <a:pPr marL="469900" marR="5080" indent="-229235">
              <a:lnSpc>
                <a:spcPts val="1260"/>
              </a:lnSpc>
              <a:spcBef>
                <a:spcPts val="20"/>
              </a:spcBef>
              <a:buFont typeface="Carlito"/>
              <a:buChar char="•"/>
              <a:tabLst>
                <a:tab pos="469265" algn="l"/>
                <a:tab pos="470534" algn="l"/>
              </a:tabLst>
            </a:pPr>
            <a:r>
              <a:rPr dirty="0" sz="1100" spc="-5">
                <a:latin typeface="Arial"/>
                <a:cs typeface="Arial"/>
              </a:rPr>
              <a:t>There is less social stigma attached to participating in a workfare program, so that the  poor</a:t>
            </a:r>
            <a:r>
              <a:rPr dirty="0" sz="1100" spc="35">
                <a:latin typeface="Arial"/>
                <a:cs typeface="Arial"/>
              </a:rPr>
              <a:t> </a:t>
            </a:r>
            <a:r>
              <a:rPr dirty="0" sz="1100" spc="-5">
                <a:latin typeface="Arial"/>
                <a:cs typeface="Arial"/>
              </a:rPr>
              <a:t>do</a:t>
            </a:r>
            <a:r>
              <a:rPr dirty="0" sz="1100" spc="40">
                <a:latin typeface="Arial"/>
                <a:cs typeface="Arial"/>
              </a:rPr>
              <a:t> </a:t>
            </a:r>
            <a:r>
              <a:rPr dirty="0" sz="1100" spc="-5">
                <a:latin typeface="Arial"/>
                <a:cs typeface="Arial"/>
              </a:rPr>
              <a:t>not</a:t>
            </a:r>
            <a:r>
              <a:rPr dirty="0" sz="1100" spc="25">
                <a:latin typeface="Arial"/>
                <a:cs typeface="Arial"/>
              </a:rPr>
              <a:t> </a:t>
            </a:r>
            <a:r>
              <a:rPr dirty="0" sz="1100" spc="-5">
                <a:latin typeface="Arial"/>
                <a:cs typeface="Arial"/>
              </a:rPr>
              <a:t>suffer</a:t>
            </a:r>
            <a:r>
              <a:rPr dirty="0" sz="1100" spc="35">
                <a:latin typeface="Arial"/>
                <a:cs typeface="Arial"/>
              </a:rPr>
              <a:t> </a:t>
            </a:r>
            <a:r>
              <a:rPr dirty="0" sz="1100" spc="-5">
                <a:latin typeface="Arial"/>
                <a:cs typeface="Arial"/>
              </a:rPr>
              <a:t>undue</a:t>
            </a:r>
            <a:r>
              <a:rPr dirty="0" sz="1100" spc="30">
                <a:latin typeface="Arial"/>
                <a:cs typeface="Arial"/>
              </a:rPr>
              <a:t> </a:t>
            </a:r>
            <a:r>
              <a:rPr dirty="0" sz="1100" spc="-5">
                <a:latin typeface="Arial"/>
                <a:cs typeface="Arial"/>
              </a:rPr>
              <a:t>humiliation</a:t>
            </a:r>
            <a:r>
              <a:rPr dirty="0" sz="1100" spc="25">
                <a:latin typeface="Arial"/>
                <a:cs typeface="Arial"/>
              </a:rPr>
              <a:t> </a:t>
            </a:r>
            <a:r>
              <a:rPr dirty="0" sz="1100" spc="-5">
                <a:latin typeface="Arial"/>
                <a:cs typeface="Arial"/>
              </a:rPr>
              <a:t>or</a:t>
            </a:r>
            <a:r>
              <a:rPr dirty="0" sz="1100" spc="40">
                <a:latin typeface="Arial"/>
                <a:cs typeface="Arial"/>
              </a:rPr>
              <a:t> </a:t>
            </a:r>
            <a:r>
              <a:rPr dirty="0" sz="1100" spc="-5">
                <a:latin typeface="Arial"/>
                <a:cs typeface="Arial"/>
              </a:rPr>
              <a:t>even</a:t>
            </a:r>
            <a:r>
              <a:rPr dirty="0" sz="1100" spc="35">
                <a:latin typeface="Arial"/>
                <a:cs typeface="Arial"/>
              </a:rPr>
              <a:t> </a:t>
            </a:r>
            <a:r>
              <a:rPr dirty="0" sz="1100" spc="-5">
                <a:latin typeface="Arial"/>
                <a:cs typeface="Arial"/>
              </a:rPr>
              <a:t>be</a:t>
            </a:r>
            <a:r>
              <a:rPr dirty="0" sz="1100" spc="30">
                <a:latin typeface="Arial"/>
                <a:cs typeface="Arial"/>
              </a:rPr>
              <a:t> </a:t>
            </a:r>
            <a:r>
              <a:rPr dirty="0" sz="1100" spc="-5">
                <a:latin typeface="Arial"/>
                <a:cs typeface="Arial"/>
              </a:rPr>
              <a:t>deterred</a:t>
            </a:r>
            <a:r>
              <a:rPr dirty="0" sz="1100" spc="35">
                <a:latin typeface="Arial"/>
                <a:cs typeface="Arial"/>
              </a:rPr>
              <a:t> </a:t>
            </a:r>
            <a:r>
              <a:rPr dirty="0" sz="1100" spc="-5">
                <a:latin typeface="Arial"/>
                <a:cs typeface="Arial"/>
              </a:rPr>
              <a:t>from</a:t>
            </a:r>
            <a:r>
              <a:rPr dirty="0" sz="1100" spc="35">
                <a:latin typeface="Arial"/>
                <a:cs typeface="Arial"/>
              </a:rPr>
              <a:t> </a:t>
            </a:r>
            <a:r>
              <a:rPr dirty="0" sz="1100" spc="-5">
                <a:latin typeface="Arial"/>
                <a:cs typeface="Arial"/>
              </a:rPr>
              <a:t>seeking</a:t>
            </a:r>
            <a:r>
              <a:rPr dirty="0" sz="1100" spc="3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help</a:t>
            </a:r>
            <a:r>
              <a:rPr dirty="0" sz="1100" spc="35">
                <a:latin typeface="Arial"/>
                <a:cs typeface="Arial"/>
              </a:rPr>
              <a:t> </a:t>
            </a:r>
            <a:r>
              <a:rPr dirty="0" sz="1100" spc="-5">
                <a:latin typeface="Arial"/>
                <a:cs typeface="Arial"/>
              </a:rPr>
              <a:t>that</a:t>
            </a:r>
            <a:r>
              <a:rPr dirty="0" sz="1100" spc="25">
                <a:latin typeface="Arial"/>
                <a:cs typeface="Arial"/>
              </a:rPr>
              <a:t> </a:t>
            </a:r>
            <a:r>
              <a:rPr dirty="0" sz="1100" spc="-5">
                <a:latin typeface="Arial"/>
                <a:cs typeface="Arial"/>
              </a:rPr>
              <a:t>their</a:t>
            </a:r>
            <a:endParaRPr sz="1100">
              <a:latin typeface="Arial"/>
              <a:cs typeface="Arial"/>
            </a:endParaRPr>
          </a:p>
          <a:p>
            <a:pPr marL="469900">
              <a:lnSpc>
                <a:spcPts val="1205"/>
              </a:lnSpc>
            </a:pPr>
            <a:r>
              <a:rPr dirty="0" sz="1100" spc="-5">
                <a:latin typeface="Arial"/>
                <a:cs typeface="Arial"/>
              </a:rPr>
              <a:t>families</a:t>
            </a:r>
            <a:r>
              <a:rPr dirty="0" sz="1100" spc="25">
                <a:latin typeface="Arial"/>
                <a:cs typeface="Arial"/>
              </a:rPr>
              <a:t> </a:t>
            </a:r>
            <a:r>
              <a:rPr dirty="0" sz="1100" spc="-5">
                <a:latin typeface="Arial"/>
                <a:cs typeface="Arial"/>
              </a:rPr>
              <a:t>need</a:t>
            </a:r>
            <a:r>
              <a:rPr dirty="0" sz="1100" spc="30">
                <a:latin typeface="Arial"/>
                <a:cs typeface="Arial"/>
              </a:rPr>
              <a:t> </a:t>
            </a:r>
            <a:r>
              <a:rPr dirty="0" sz="1100" spc="-5">
                <a:latin typeface="Arial"/>
                <a:cs typeface="Arial"/>
              </a:rPr>
              <a:t>(otherwise,</a:t>
            </a:r>
            <a:r>
              <a:rPr dirty="0" sz="1100" spc="30">
                <a:latin typeface="Arial"/>
                <a:cs typeface="Arial"/>
              </a:rPr>
              <a:t> </a:t>
            </a:r>
            <a:r>
              <a:rPr dirty="0" sz="1100" spc="-5">
                <a:latin typeface="Arial"/>
                <a:cs typeface="Arial"/>
              </a:rPr>
              <a:t>a</a:t>
            </a:r>
            <a:r>
              <a:rPr dirty="0" sz="1100" spc="30">
                <a:latin typeface="Arial"/>
                <a:cs typeface="Arial"/>
              </a:rPr>
              <a:t> </a:t>
            </a:r>
            <a:r>
              <a:rPr dirty="0" sz="1100" spc="-5">
                <a:latin typeface="Arial"/>
                <a:cs typeface="Arial"/>
              </a:rPr>
              <a:t>discreet</a:t>
            </a:r>
            <a:r>
              <a:rPr dirty="0" sz="1100" spc="25">
                <a:latin typeface="Arial"/>
                <a:cs typeface="Arial"/>
              </a:rPr>
              <a:t> </a:t>
            </a:r>
            <a:r>
              <a:rPr dirty="0" sz="1100" spc="-5">
                <a:latin typeface="Arial"/>
                <a:cs typeface="Arial"/>
              </a:rPr>
              <a:t>welfare</a:t>
            </a:r>
            <a:r>
              <a:rPr dirty="0" sz="1100" spc="30">
                <a:latin typeface="Arial"/>
                <a:cs typeface="Arial"/>
              </a:rPr>
              <a:t> </a:t>
            </a:r>
            <a:r>
              <a:rPr dirty="0" sz="1100" spc="-5">
                <a:latin typeface="Arial"/>
                <a:cs typeface="Arial"/>
              </a:rPr>
              <a:t>transfer</a:t>
            </a:r>
            <a:r>
              <a:rPr dirty="0" sz="1100" spc="30">
                <a:latin typeface="Arial"/>
                <a:cs typeface="Arial"/>
              </a:rPr>
              <a:t> </a:t>
            </a:r>
            <a:r>
              <a:rPr dirty="0" sz="1100" spc="-5">
                <a:latin typeface="Arial"/>
                <a:cs typeface="Arial"/>
              </a:rPr>
              <a:t>may</a:t>
            </a:r>
            <a:r>
              <a:rPr dirty="0" sz="1100" spc="30">
                <a:latin typeface="Arial"/>
                <a:cs typeface="Arial"/>
              </a:rPr>
              <a:t> </a:t>
            </a:r>
            <a:r>
              <a:rPr dirty="0" sz="1100" spc="-5">
                <a:latin typeface="Arial"/>
                <a:cs typeface="Arial"/>
              </a:rPr>
              <a:t>be</a:t>
            </a:r>
            <a:r>
              <a:rPr dirty="0" sz="1100" spc="30">
                <a:latin typeface="Arial"/>
                <a:cs typeface="Arial"/>
              </a:rPr>
              <a:t> </a:t>
            </a:r>
            <a:r>
              <a:rPr dirty="0" sz="1100" spc="-5">
                <a:latin typeface="Arial"/>
                <a:cs typeface="Arial"/>
              </a:rPr>
              <a:t>preferable</a:t>
            </a:r>
            <a:r>
              <a:rPr dirty="0" sz="1100" spc="30">
                <a:latin typeface="Arial"/>
                <a:cs typeface="Arial"/>
              </a:rPr>
              <a:t> </a:t>
            </a:r>
            <a:r>
              <a:rPr dirty="0" sz="1100" spc="-5">
                <a:latin typeface="Arial"/>
                <a:cs typeface="Arial"/>
              </a:rPr>
              <a:t>to</a:t>
            </a:r>
            <a:r>
              <a:rPr dirty="0" sz="1100" spc="25">
                <a:latin typeface="Arial"/>
                <a:cs typeface="Arial"/>
              </a:rPr>
              <a:t> </a:t>
            </a:r>
            <a:r>
              <a:rPr dirty="0" sz="1100" spc="-5">
                <a:latin typeface="Arial"/>
                <a:cs typeface="Arial"/>
              </a:rPr>
              <a:t>a</a:t>
            </a:r>
            <a:r>
              <a:rPr dirty="0" sz="1100" spc="30">
                <a:latin typeface="Arial"/>
                <a:cs typeface="Arial"/>
              </a:rPr>
              <a:t> </a:t>
            </a:r>
            <a:r>
              <a:rPr dirty="0" sz="1100" spc="-5">
                <a:latin typeface="Arial"/>
                <a:cs typeface="Arial"/>
              </a:rPr>
              <a:t>highly</a:t>
            </a:r>
            <a:r>
              <a:rPr dirty="0" sz="1100" spc="30">
                <a:latin typeface="Arial"/>
                <a:cs typeface="Arial"/>
              </a:rPr>
              <a:t> </a:t>
            </a:r>
            <a:r>
              <a:rPr dirty="0" sz="1100" spc="-5">
                <a:latin typeface="Arial"/>
                <a:cs typeface="Arial"/>
              </a:rPr>
              <a:t>visible</a:t>
            </a:r>
            <a:endParaRPr sz="1100">
              <a:latin typeface="Arial"/>
              <a:cs typeface="Arial"/>
            </a:endParaRPr>
          </a:p>
          <a:p>
            <a:pPr marL="469900">
              <a:lnSpc>
                <a:spcPts val="1295"/>
              </a:lnSpc>
            </a:pPr>
            <a:r>
              <a:rPr dirty="0" sz="1100" spc="-5">
                <a:latin typeface="Arial"/>
                <a:cs typeface="Arial"/>
              </a:rPr>
              <a:t>workfare scheme).</a:t>
            </a:r>
            <a:endParaRPr sz="1100">
              <a:latin typeface="Arial"/>
              <a:cs typeface="Arial"/>
            </a:endParaRPr>
          </a:p>
          <a:p>
            <a:pPr>
              <a:lnSpc>
                <a:spcPct val="100000"/>
              </a:lnSpc>
            </a:pPr>
            <a:endParaRPr sz="1050">
              <a:latin typeface="Arial"/>
              <a:cs typeface="Arial"/>
            </a:endParaRPr>
          </a:p>
          <a:p>
            <a:pPr algn="just" marL="12700">
              <a:lnSpc>
                <a:spcPct val="100000"/>
              </a:lnSpc>
              <a:spcBef>
                <a:spcPts val="5"/>
              </a:spcBef>
            </a:pPr>
            <a:r>
              <a:rPr dirty="0" sz="1100" spc="-5" b="1">
                <a:latin typeface="Arial"/>
                <a:cs typeface="Arial"/>
              </a:rPr>
              <a:t>SUMMARY AND CONCLUSIONS: THE NEED FOR A PACKAGE OF</a:t>
            </a:r>
            <a:r>
              <a:rPr dirty="0" sz="1100" spc="45" b="1">
                <a:latin typeface="Arial"/>
                <a:cs typeface="Arial"/>
              </a:rPr>
              <a:t> </a:t>
            </a:r>
            <a:r>
              <a:rPr dirty="0" sz="1100" spc="-5" b="1">
                <a:latin typeface="Arial"/>
                <a:cs typeface="Arial"/>
              </a:rPr>
              <a:t>POLICIES</a:t>
            </a:r>
            <a:endParaRPr sz="1100">
              <a:latin typeface="Arial"/>
              <a:cs typeface="Arial"/>
            </a:endParaRPr>
          </a:p>
          <a:p>
            <a:pPr>
              <a:lnSpc>
                <a:spcPct val="100000"/>
              </a:lnSpc>
              <a:spcBef>
                <a:spcPts val="50"/>
              </a:spcBef>
            </a:pPr>
            <a:endParaRPr sz="1050">
              <a:latin typeface="Arial"/>
              <a:cs typeface="Arial"/>
            </a:endParaRPr>
          </a:p>
          <a:p>
            <a:pPr algn="just" marL="12700" marR="6985">
              <a:lnSpc>
                <a:spcPct val="95700"/>
              </a:lnSpc>
              <a:spcBef>
                <a:spcPts val="5"/>
              </a:spcBef>
            </a:pPr>
            <a:r>
              <a:rPr dirty="0" sz="1100" spc="-5">
                <a:latin typeface="Arial"/>
                <a:cs typeface="Arial"/>
              </a:rPr>
              <a:t>To summarize our discussion of alternative policy approaches to the problems of poverty and  inequality in development, the need is not for one or two isolated policies but for a “package” of  complementary and supportive policies, including the following four basic</a:t>
            </a:r>
            <a:r>
              <a:rPr dirty="0" sz="1100" spc="85">
                <a:latin typeface="Arial"/>
                <a:cs typeface="Arial"/>
              </a:rPr>
              <a:t> </a:t>
            </a:r>
            <a:r>
              <a:rPr dirty="0" sz="1100" spc="-5">
                <a:latin typeface="Arial"/>
                <a:cs typeface="Arial"/>
              </a:rPr>
              <a:t>elements.</a:t>
            </a:r>
            <a:endParaRPr sz="1100">
              <a:latin typeface="Arial"/>
              <a:cs typeface="Arial"/>
            </a:endParaRPr>
          </a:p>
          <a:p>
            <a:pPr>
              <a:lnSpc>
                <a:spcPct val="100000"/>
              </a:lnSpc>
              <a:spcBef>
                <a:spcPts val="20"/>
              </a:spcBef>
            </a:pPr>
            <a:endParaRPr sz="1050">
              <a:latin typeface="Arial"/>
              <a:cs typeface="Arial"/>
            </a:endParaRPr>
          </a:p>
          <a:p>
            <a:pPr marL="469900" indent="-229870">
              <a:lnSpc>
                <a:spcPts val="1300"/>
              </a:lnSpc>
              <a:buFont typeface="Carlito"/>
              <a:buChar char="•"/>
              <a:tabLst>
                <a:tab pos="469265" algn="l"/>
                <a:tab pos="470534" algn="l"/>
              </a:tabLst>
            </a:pPr>
            <a:r>
              <a:rPr dirty="0" sz="1100" spc="-5">
                <a:latin typeface="Arial"/>
                <a:cs typeface="Arial"/>
              </a:rPr>
              <a:t>A policy or set of policies designed to correct factor price</a:t>
            </a:r>
            <a:r>
              <a:rPr dirty="0" sz="1100" spc="185">
                <a:latin typeface="Arial"/>
                <a:cs typeface="Arial"/>
              </a:rPr>
              <a:t> </a:t>
            </a:r>
            <a:r>
              <a:rPr dirty="0" sz="1100" spc="-5">
                <a:latin typeface="Arial"/>
                <a:cs typeface="Arial"/>
              </a:rPr>
              <a:t>distortions.</a:t>
            </a:r>
            <a:endParaRPr sz="1100">
              <a:latin typeface="Arial"/>
              <a:cs typeface="Arial"/>
            </a:endParaRPr>
          </a:p>
          <a:p>
            <a:pPr marL="469900" marR="7620" indent="-229235">
              <a:lnSpc>
                <a:spcPts val="1270"/>
              </a:lnSpc>
              <a:spcBef>
                <a:spcPts val="65"/>
              </a:spcBef>
              <a:buFont typeface="Carlito"/>
              <a:buChar char="•"/>
              <a:tabLst>
                <a:tab pos="469265" algn="l"/>
                <a:tab pos="470534" algn="l"/>
              </a:tabLst>
            </a:pPr>
            <a:r>
              <a:rPr dirty="0" sz="1100" spc="-5">
                <a:latin typeface="Arial"/>
                <a:cs typeface="Arial"/>
              </a:rPr>
              <a:t>A policy or set of policies designed to change the distribution of assets, power, and  access to education and associated employment</a:t>
            </a:r>
            <a:r>
              <a:rPr dirty="0" sz="1100" spc="30">
                <a:latin typeface="Arial"/>
                <a:cs typeface="Arial"/>
              </a:rPr>
              <a:t> </a:t>
            </a:r>
            <a:r>
              <a:rPr dirty="0" sz="1100" spc="-5">
                <a:latin typeface="Arial"/>
                <a:cs typeface="Arial"/>
              </a:rPr>
              <a:t>opportunities.</a:t>
            </a:r>
            <a:endParaRPr sz="1100">
              <a:latin typeface="Arial"/>
              <a:cs typeface="Arial"/>
            </a:endParaRPr>
          </a:p>
          <a:p>
            <a:pPr marL="469900" marR="6350" indent="-229235">
              <a:lnSpc>
                <a:spcPts val="1260"/>
              </a:lnSpc>
              <a:spcBef>
                <a:spcPts val="15"/>
              </a:spcBef>
              <a:buFont typeface="Carlito"/>
              <a:buChar char="•"/>
              <a:tabLst>
                <a:tab pos="469265" algn="l"/>
                <a:tab pos="470534" algn="l"/>
              </a:tabLst>
            </a:pPr>
            <a:r>
              <a:rPr dirty="0" sz="1100" spc="-5">
                <a:latin typeface="Arial"/>
                <a:cs typeface="Arial"/>
              </a:rPr>
              <a:t>A policy or set of policies designed to modify the size distribution of income at the upper  levels</a:t>
            </a:r>
            <a:r>
              <a:rPr dirty="0" sz="1100" spc="150">
                <a:latin typeface="Arial"/>
                <a:cs typeface="Arial"/>
              </a:rPr>
              <a:t> </a:t>
            </a:r>
            <a:r>
              <a:rPr dirty="0" sz="1100" spc="-5">
                <a:latin typeface="Arial"/>
                <a:cs typeface="Arial"/>
              </a:rPr>
              <a:t>through</a:t>
            </a:r>
            <a:r>
              <a:rPr dirty="0" sz="1100" spc="155">
                <a:latin typeface="Arial"/>
                <a:cs typeface="Arial"/>
              </a:rPr>
              <a:t> </a:t>
            </a:r>
            <a:r>
              <a:rPr dirty="0" sz="1100" spc="-5">
                <a:latin typeface="Arial"/>
                <a:cs typeface="Arial"/>
              </a:rPr>
              <a:t>the</a:t>
            </a:r>
            <a:r>
              <a:rPr dirty="0" sz="1100" spc="155">
                <a:latin typeface="Arial"/>
                <a:cs typeface="Arial"/>
              </a:rPr>
              <a:t> </a:t>
            </a:r>
            <a:r>
              <a:rPr dirty="0" sz="1100" spc="-5">
                <a:latin typeface="Arial"/>
                <a:cs typeface="Arial"/>
              </a:rPr>
              <a:t>enforcement</a:t>
            </a:r>
            <a:r>
              <a:rPr dirty="0" sz="1100" spc="155">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legislated</a:t>
            </a:r>
            <a:r>
              <a:rPr dirty="0" sz="1100" spc="155">
                <a:latin typeface="Arial"/>
                <a:cs typeface="Arial"/>
              </a:rPr>
              <a:t> </a:t>
            </a:r>
            <a:r>
              <a:rPr dirty="0" sz="1100" spc="-5">
                <a:latin typeface="Arial"/>
                <a:cs typeface="Arial"/>
              </a:rPr>
              <a:t>progressive</a:t>
            </a:r>
            <a:r>
              <a:rPr dirty="0" sz="1100" spc="155">
                <a:latin typeface="Arial"/>
                <a:cs typeface="Arial"/>
              </a:rPr>
              <a:t> </a:t>
            </a:r>
            <a:r>
              <a:rPr dirty="0" sz="1100" spc="-5">
                <a:latin typeface="Arial"/>
                <a:cs typeface="Arial"/>
              </a:rPr>
              <a:t>taxation</a:t>
            </a:r>
            <a:r>
              <a:rPr dirty="0" sz="1100" spc="150">
                <a:latin typeface="Arial"/>
                <a:cs typeface="Arial"/>
              </a:rPr>
              <a:t> </a:t>
            </a:r>
            <a:r>
              <a:rPr dirty="0" sz="1100" spc="-5">
                <a:latin typeface="Arial"/>
                <a:cs typeface="Arial"/>
              </a:rPr>
              <a:t>and</a:t>
            </a:r>
            <a:r>
              <a:rPr dirty="0" sz="1100" spc="155">
                <a:latin typeface="Arial"/>
                <a:cs typeface="Arial"/>
              </a:rPr>
              <a:t> </a:t>
            </a:r>
            <a:r>
              <a:rPr dirty="0" sz="1100" spc="-5">
                <a:latin typeface="Arial"/>
                <a:cs typeface="Arial"/>
              </a:rPr>
              <a:t>directed</a:t>
            </a:r>
            <a:r>
              <a:rPr dirty="0" sz="1100" spc="150">
                <a:latin typeface="Arial"/>
                <a:cs typeface="Arial"/>
              </a:rPr>
              <a:t> </a:t>
            </a:r>
            <a:r>
              <a:rPr dirty="0" sz="1100" spc="-5">
                <a:latin typeface="Arial"/>
                <a:cs typeface="Arial"/>
              </a:rPr>
              <a:t>transfer</a:t>
            </a:r>
            <a:endParaRPr sz="1100">
              <a:latin typeface="Arial"/>
              <a:cs typeface="Arial"/>
            </a:endParaRPr>
          </a:p>
          <a:p>
            <a:pPr marL="469900">
              <a:lnSpc>
                <a:spcPts val="1215"/>
              </a:lnSpc>
            </a:pPr>
            <a:r>
              <a:rPr dirty="0" sz="1100" spc="-5">
                <a:latin typeface="Arial"/>
                <a:cs typeface="Arial"/>
              </a:rPr>
              <a:t>payments.</a:t>
            </a:r>
            <a:endParaRPr sz="1100">
              <a:latin typeface="Arial"/>
              <a:cs typeface="Arial"/>
            </a:endParaRPr>
          </a:p>
          <a:p>
            <a:pPr marL="469900" marR="7620" indent="-229235">
              <a:lnSpc>
                <a:spcPts val="1260"/>
              </a:lnSpc>
              <a:spcBef>
                <a:spcPts val="75"/>
              </a:spcBef>
              <a:buFont typeface="Carlito"/>
              <a:buChar char="•"/>
              <a:tabLst>
                <a:tab pos="469265" algn="l"/>
                <a:tab pos="470534" algn="l"/>
              </a:tabLst>
            </a:pPr>
            <a:r>
              <a:rPr dirty="0" sz="1100" spc="-5">
                <a:latin typeface="Arial"/>
                <a:cs typeface="Arial"/>
              </a:rPr>
              <a:t>A policy or set of policies designed to build capabilities and human and social capital of  the poor.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70</a:t>
            </a:r>
            <a:endParaRPr sz="1100">
              <a:latin typeface="Carlito"/>
              <a:cs typeface="Carlito"/>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49300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10</a:t>
            </a:r>
            <a:endParaRPr sz="1100">
              <a:latin typeface="Arial"/>
              <a:cs typeface="Arial"/>
            </a:endParaRPr>
          </a:p>
          <a:p>
            <a:pPr>
              <a:lnSpc>
                <a:spcPct val="100000"/>
              </a:lnSpc>
              <a:spcBef>
                <a:spcPts val="45"/>
              </a:spcBef>
            </a:pPr>
            <a:endParaRPr sz="1100">
              <a:latin typeface="Arial"/>
              <a:cs typeface="Arial"/>
            </a:endParaRPr>
          </a:p>
          <a:p>
            <a:pPr marL="2208530" marR="90170" indent="-2112010">
              <a:lnSpc>
                <a:spcPts val="1260"/>
              </a:lnSpc>
            </a:pPr>
            <a:r>
              <a:rPr dirty="0" sz="1100" spc="-5" b="1">
                <a:latin typeface="Arial"/>
                <a:cs typeface="Arial"/>
              </a:rPr>
              <a:t>POPULATION GROWTH AND ECONOMIC DEVELOPMENT: CAUSES, CONSEQUENCES  AND</a:t>
            </a:r>
            <a:r>
              <a:rPr dirty="0" sz="1100" b="1">
                <a:latin typeface="Arial"/>
                <a:cs typeface="Arial"/>
              </a:rPr>
              <a:t> </a:t>
            </a:r>
            <a:r>
              <a:rPr dirty="0" sz="1100" spc="-5" b="1">
                <a:latin typeface="Arial"/>
                <a:cs typeface="Arial"/>
              </a:rPr>
              <a:t>CONTROVERSIES</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THE BASIC ISSUE: POPULATION GROWTH AND THE QUALITY OF</a:t>
            </a:r>
            <a:r>
              <a:rPr dirty="0" sz="1100" spc="55" b="1">
                <a:latin typeface="Arial"/>
                <a:cs typeface="Arial"/>
              </a:rPr>
              <a:t> </a:t>
            </a:r>
            <a:r>
              <a:rPr dirty="0" sz="1100" spc="-5" b="1">
                <a:latin typeface="Arial"/>
                <a:cs typeface="Arial"/>
              </a:rPr>
              <a:t>LIFE</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In 2009, the world’s population was estimated to be 6.8 billion people. Projections by the United  Nations placed the figure at more than 9.2 billion by the year 2050 (another widely cited  projection is higher, at 9.5 billion). The overwhelming majority of that population will inhabit the  developing world. What will be the economic and social implications for development if such  projections are realized? Is this scenario inevitable, or will it depends on the success or failure  of development efforts? Finally, even more significant, is rapid population growth per se </a:t>
            </a:r>
            <a:r>
              <a:rPr dirty="0" sz="1100">
                <a:latin typeface="Arial"/>
                <a:cs typeface="Arial"/>
              </a:rPr>
              <a:t>as  </a:t>
            </a:r>
            <a:r>
              <a:rPr dirty="0" sz="1100" spc="-5">
                <a:latin typeface="Arial"/>
                <a:cs typeface="Arial"/>
              </a:rPr>
              <a:t>serious a problem as many people believe, or is it a manifestation of more fundamental  problems of underdevelopment and the unequal utilization of global resources between rich and  poor nations, as others</a:t>
            </a:r>
            <a:r>
              <a:rPr dirty="0" sz="1100" spc="15">
                <a:latin typeface="Arial"/>
                <a:cs typeface="Arial"/>
              </a:rPr>
              <a:t> </a:t>
            </a:r>
            <a:r>
              <a:rPr dirty="0" sz="1100" spc="-5">
                <a:latin typeface="Arial"/>
                <a:cs typeface="Arial"/>
              </a:rPr>
              <a:t>argue?</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SIX MAJOR</a:t>
            </a:r>
            <a:r>
              <a:rPr dirty="0" sz="1100" b="1">
                <a:latin typeface="Arial"/>
                <a:cs typeface="Arial"/>
              </a:rPr>
              <a:t> </a:t>
            </a:r>
            <a:r>
              <a:rPr dirty="0" sz="1100" spc="-5" b="1">
                <a:latin typeface="Arial"/>
                <a:cs typeface="Arial"/>
              </a:rPr>
              <a:t>ISSUES</a:t>
            </a:r>
            <a:endParaRPr sz="1100">
              <a:latin typeface="Arial"/>
              <a:cs typeface="Arial"/>
            </a:endParaRPr>
          </a:p>
          <a:p>
            <a:pPr>
              <a:lnSpc>
                <a:spcPct val="100000"/>
              </a:lnSpc>
              <a:spcBef>
                <a:spcPts val="55"/>
              </a:spcBef>
            </a:pPr>
            <a:endParaRPr sz="1250">
              <a:latin typeface="Arial"/>
              <a:cs typeface="Arial"/>
            </a:endParaRPr>
          </a:p>
          <a:p>
            <a:pPr marL="469900" marR="8255" indent="-229235">
              <a:lnSpc>
                <a:spcPts val="1260"/>
              </a:lnSpc>
              <a:buFont typeface="Symbol"/>
              <a:buChar char=""/>
              <a:tabLst>
                <a:tab pos="469265" algn="l"/>
                <a:tab pos="470534" algn="l"/>
              </a:tabLst>
            </a:pPr>
            <a:r>
              <a:rPr dirty="0" sz="1100" spc="-5">
                <a:latin typeface="Arial"/>
                <a:cs typeface="Arial"/>
              </a:rPr>
              <a:t>Will developing countries be able to improve levels of living given anticipated population  growth?</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How will developing countries deal with the vast increases in their labor</a:t>
            </a:r>
            <a:r>
              <a:rPr dirty="0" sz="1100" spc="114">
                <a:latin typeface="Arial"/>
                <a:cs typeface="Arial"/>
              </a:rPr>
              <a:t> </a:t>
            </a:r>
            <a:r>
              <a:rPr dirty="0" sz="1100" spc="-5">
                <a:latin typeface="Arial"/>
                <a:cs typeface="Arial"/>
              </a:rPr>
              <a:t>forces?</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How will higher population growth rates affect</a:t>
            </a:r>
            <a:r>
              <a:rPr dirty="0" sz="1100" spc="35">
                <a:latin typeface="Arial"/>
                <a:cs typeface="Arial"/>
              </a:rPr>
              <a:t> </a:t>
            </a:r>
            <a:r>
              <a:rPr dirty="0" sz="1100" spc="-5">
                <a:latin typeface="Arial"/>
                <a:cs typeface="Arial"/>
              </a:rPr>
              <a:t>poverty?</a:t>
            </a:r>
            <a:endParaRPr sz="1100">
              <a:latin typeface="Arial"/>
              <a:cs typeface="Arial"/>
            </a:endParaRPr>
          </a:p>
          <a:p>
            <a:pPr marL="469900" marR="6985" indent="-228600">
              <a:lnSpc>
                <a:spcPts val="1260"/>
              </a:lnSpc>
              <a:spcBef>
                <a:spcPts val="110"/>
              </a:spcBef>
              <a:buFont typeface="Symbol"/>
              <a:buChar char=""/>
              <a:tabLst>
                <a:tab pos="469265" algn="l"/>
                <a:tab pos="470534" algn="l"/>
              </a:tabLst>
            </a:pPr>
            <a:r>
              <a:rPr dirty="0" sz="1100" spc="-5">
                <a:latin typeface="Arial"/>
                <a:cs typeface="Arial"/>
              </a:rPr>
              <a:t>Will developing countries be able to extend the coverage and improve the quality of  health care and education in the face of rapid population</a:t>
            </a:r>
            <a:r>
              <a:rPr dirty="0" sz="1100" spc="60">
                <a:latin typeface="Arial"/>
                <a:cs typeface="Arial"/>
              </a:rPr>
              <a:t> </a:t>
            </a:r>
            <a:r>
              <a:rPr dirty="0" sz="1100" spc="-5">
                <a:latin typeface="Arial"/>
                <a:cs typeface="Arial"/>
              </a:rPr>
              <a:t>growth?</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Is there a relationship between poverty and family</a:t>
            </a:r>
            <a:r>
              <a:rPr dirty="0" sz="1100" spc="45">
                <a:latin typeface="Arial"/>
                <a:cs typeface="Arial"/>
              </a:rPr>
              <a:t> </a:t>
            </a:r>
            <a:r>
              <a:rPr dirty="0" sz="1100" spc="-5">
                <a:latin typeface="Arial"/>
                <a:cs typeface="Arial"/>
              </a:rPr>
              <a:t>size?</a:t>
            </a:r>
            <a:endParaRPr sz="1100">
              <a:latin typeface="Arial"/>
              <a:cs typeface="Arial"/>
            </a:endParaRPr>
          </a:p>
          <a:p>
            <a:pPr marL="469900" marR="8255" indent="-228600">
              <a:lnSpc>
                <a:spcPts val="1260"/>
              </a:lnSpc>
              <a:spcBef>
                <a:spcPts val="110"/>
              </a:spcBef>
              <a:buFont typeface="Symbol"/>
              <a:buChar char=""/>
              <a:tabLst>
                <a:tab pos="469265" algn="l"/>
                <a:tab pos="470534" algn="l"/>
              </a:tabLst>
            </a:pPr>
            <a:r>
              <a:rPr dirty="0" sz="1100" spc="-5">
                <a:latin typeface="Arial"/>
                <a:cs typeface="Arial"/>
              </a:rPr>
              <a:t>How does affluence in the developed world affect the ability of developing countries to  provide for their</a:t>
            </a:r>
            <a:r>
              <a:rPr dirty="0" sz="1100" spc="5">
                <a:latin typeface="Arial"/>
                <a:cs typeface="Arial"/>
              </a:rPr>
              <a:t> </a:t>
            </a:r>
            <a:r>
              <a:rPr dirty="0" sz="1100" spc="-5">
                <a:latin typeface="Arial"/>
                <a:cs typeface="Arial"/>
              </a:rPr>
              <a:t>people?</a:t>
            </a:r>
            <a:endParaRPr sz="1100">
              <a:latin typeface="Arial"/>
              <a:cs typeface="Arial"/>
            </a:endParaRPr>
          </a:p>
          <a:p>
            <a:pPr marL="12700" marR="2092960">
              <a:lnSpc>
                <a:spcPts val="2530"/>
              </a:lnSpc>
              <a:spcBef>
                <a:spcPts val="265"/>
              </a:spcBef>
            </a:pPr>
            <a:r>
              <a:rPr dirty="0" sz="1100" spc="-5" b="1">
                <a:latin typeface="Arial"/>
                <a:cs typeface="Arial"/>
              </a:rPr>
              <a:t>POPULATION GROWTH: </a:t>
            </a:r>
            <a:r>
              <a:rPr dirty="0" sz="1100" spc="-10" b="1">
                <a:latin typeface="Arial"/>
                <a:cs typeface="Arial"/>
              </a:rPr>
              <a:t>PAST, </a:t>
            </a:r>
            <a:r>
              <a:rPr dirty="0" sz="1100" spc="-5" b="1">
                <a:latin typeface="Arial"/>
                <a:cs typeface="Arial"/>
              </a:rPr>
              <a:t>PRESENT, AND FUTURE  WORLD POPULATION GROWTH THROUGHOUT</a:t>
            </a:r>
            <a:r>
              <a:rPr dirty="0" sz="1100" spc="80" b="1">
                <a:latin typeface="Arial"/>
                <a:cs typeface="Arial"/>
              </a:rPr>
              <a:t> </a:t>
            </a:r>
            <a:r>
              <a:rPr dirty="0" sz="1100" spc="-5" b="1">
                <a:latin typeface="Arial"/>
                <a:cs typeface="Arial"/>
              </a:rPr>
              <a:t>HISTORY</a:t>
            </a:r>
            <a:endParaRPr sz="1100">
              <a:latin typeface="Arial"/>
              <a:cs typeface="Arial"/>
            </a:endParaRPr>
          </a:p>
          <a:p>
            <a:pPr algn="just" marL="12700" marR="5080">
              <a:lnSpc>
                <a:spcPct val="95800"/>
              </a:lnSpc>
              <a:spcBef>
                <a:spcPts val="969"/>
              </a:spcBef>
            </a:pPr>
            <a:r>
              <a:rPr dirty="0" sz="1100" spc="-5">
                <a:latin typeface="Arial"/>
                <a:cs typeface="Arial"/>
              </a:rPr>
              <a:t>When people first started to cultivate food through agriculture some 12,000 years ago, the  estimated world population was no more than 5 million (see Table 6.1). Two thousand years  ago, world population had grown to nearly 250 million, less than a fifth of the population of  China today. From year 1 on our calendar to the beginning of the Industrial Revolution around  1750, it tripled to 728 million people, less than three-quarters of the total number living in India  today. During the next 200 years (1750–1950), an additional 1.7 billion people were added to  the planet’s numbers. But in just four decades thereafter (1950–1990), the earth’s human  population more than doubled again, bringing the total figure to around 5.3 billion. The world  entered the twenty first century with over 6 billion people. Figure 6.1 shows how rapidly total  population grew after </a:t>
            </a:r>
            <a:r>
              <a:rPr dirty="0" sz="1100">
                <a:latin typeface="Arial"/>
                <a:cs typeface="Arial"/>
              </a:rPr>
              <a:t>1950 </a:t>
            </a:r>
            <a:r>
              <a:rPr dirty="0" sz="1100" spc="-5">
                <a:latin typeface="Arial"/>
                <a:cs typeface="Arial"/>
              </a:rPr>
              <a:t>in comparison with the two centuries before that. It vividly portrays  the magnitude of population growth, most of </a:t>
            </a:r>
            <a:r>
              <a:rPr dirty="0" sz="1100">
                <a:latin typeface="Arial"/>
                <a:cs typeface="Arial"/>
              </a:rPr>
              <a:t>which </a:t>
            </a:r>
            <a:r>
              <a:rPr dirty="0" sz="1100" spc="-5">
                <a:latin typeface="Arial"/>
                <a:cs typeface="Arial"/>
              </a:rPr>
              <a:t>has been in developing countries, both as a  percentage of the total and in terms of absolute numbers. Finally, it provides projections to  2050, when world population is expected to reach 9.2</a:t>
            </a:r>
            <a:r>
              <a:rPr dirty="0" sz="1100" spc="50">
                <a:latin typeface="Arial"/>
                <a:cs typeface="Arial"/>
              </a:rPr>
              <a:t> </a:t>
            </a:r>
            <a:r>
              <a:rPr dirty="0" sz="1100" spc="-5">
                <a:latin typeface="Arial"/>
                <a:cs typeface="Arial"/>
              </a:rPr>
              <a:t>billion.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71</a:t>
            </a:r>
            <a:endParaRPr sz="1100">
              <a:latin typeface="Carlito"/>
              <a:cs typeface="Carlito"/>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586225"/>
            <a:ext cx="596963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The</a:t>
            </a:r>
            <a:r>
              <a:rPr dirty="0" sz="1100" spc="70">
                <a:latin typeface="Arial"/>
                <a:cs typeface="Arial"/>
              </a:rPr>
              <a:t> </a:t>
            </a:r>
            <a:r>
              <a:rPr dirty="0" sz="1100" spc="-5">
                <a:latin typeface="Arial"/>
                <a:cs typeface="Arial"/>
              </a:rPr>
              <a:t>relationship</a:t>
            </a:r>
            <a:r>
              <a:rPr dirty="0" sz="1100" spc="75">
                <a:latin typeface="Arial"/>
                <a:cs typeface="Arial"/>
              </a:rPr>
              <a:t> </a:t>
            </a:r>
            <a:r>
              <a:rPr dirty="0" sz="1100" spc="-5">
                <a:latin typeface="Arial"/>
                <a:cs typeface="Arial"/>
              </a:rPr>
              <a:t>between</a:t>
            </a:r>
            <a:r>
              <a:rPr dirty="0" sz="1100" spc="75">
                <a:latin typeface="Arial"/>
                <a:cs typeface="Arial"/>
              </a:rPr>
              <a:t> </a:t>
            </a:r>
            <a:r>
              <a:rPr dirty="0" sz="1100" spc="-5">
                <a:latin typeface="Arial"/>
                <a:cs typeface="Arial"/>
              </a:rPr>
              <a:t>annual</a:t>
            </a:r>
            <a:r>
              <a:rPr dirty="0" sz="1100" spc="70">
                <a:latin typeface="Arial"/>
                <a:cs typeface="Arial"/>
              </a:rPr>
              <a:t> </a:t>
            </a:r>
            <a:r>
              <a:rPr dirty="0" sz="1100" spc="-5">
                <a:latin typeface="Arial"/>
                <a:cs typeface="Arial"/>
              </a:rPr>
              <a:t>percentage</a:t>
            </a:r>
            <a:r>
              <a:rPr dirty="0" sz="1100" spc="75">
                <a:latin typeface="Arial"/>
                <a:cs typeface="Arial"/>
              </a:rPr>
              <a:t> </a:t>
            </a:r>
            <a:r>
              <a:rPr dirty="0" sz="1100" spc="-5">
                <a:latin typeface="Arial"/>
                <a:cs typeface="Arial"/>
              </a:rPr>
              <a:t>increases</a:t>
            </a:r>
            <a:r>
              <a:rPr dirty="0" sz="1100" spc="75">
                <a:latin typeface="Arial"/>
                <a:cs typeface="Arial"/>
              </a:rPr>
              <a:t> </a:t>
            </a:r>
            <a:r>
              <a:rPr dirty="0" sz="1100" spc="-5">
                <a:latin typeface="Arial"/>
                <a:cs typeface="Arial"/>
              </a:rPr>
              <a:t>and</a:t>
            </a:r>
            <a:r>
              <a:rPr dirty="0" sz="1100" spc="55">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time</a:t>
            </a:r>
            <a:r>
              <a:rPr dirty="0" sz="1100" spc="70">
                <a:latin typeface="Arial"/>
                <a:cs typeface="Arial"/>
              </a:rPr>
              <a:t> </a:t>
            </a:r>
            <a:r>
              <a:rPr dirty="0" sz="1100" spc="-5">
                <a:latin typeface="Arial"/>
                <a:cs typeface="Arial"/>
              </a:rPr>
              <a:t>it</a:t>
            </a:r>
            <a:r>
              <a:rPr dirty="0" sz="1100" spc="75">
                <a:latin typeface="Arial"/>
                <a:cs typeface="Arial"/>
              </a:rPr>
              <a:t> </a:t>
            </a:r>
            <a:r>
              <a:rPr dirty="0" sz="1100" spc="-5">
                <a:latin typeface="Arial"/>
                <a:cs typeface="Arial"/>
              </a:rPr>
              <a:t>takes</a:t>
            </a:r>
            <a:r>
              <a:rPr dirty="0" sz="1100" spc="75">
                <a:latin typeface="Arial"/>
                <a:cs typeface="Arial"/>
              </a:rPr>
              <a:t> </a:t>
            </a:r>
            <a:r>
              <a:rPr dirty="0" sz="1100" spc="-5">
                <a:latin typeface="Arial"/>
                <a:cs typeface="Arial"/>
              </a:rPr>
              <a:t>for</a:t>
            </a:r>
            <a:r>
              <a:rPr dirty="0" sz="1100" spc="65">
                <a:latin typeface="Arial"/>
                <a:cs typeface="Arial"/>
              </a:rPr>
              <a:t> </a:t>
            </a:r>
            <a:r>
              <a:rPr dirty="0" sz="1100" spc="-5">
                <a:latin typeface="Arial"/>
                <a:cs typeface="Arial"/>
              </a:rPr>
              <a:t>a</a:t>
            </a:r>
            <a:r>
              <a:rPr dirty="0" sz="1100" spc="75">
                <a:latin typeface="Arial"/>
                <a:cs typeface="Arial"/>
              </a:rPr>
              <a:t> </a:t>
            </a:r>
            <a:r>
              <a:rPr dirty="0" sz="1100" spc="-5">
                <a:latin typeface="Arial"/>
                <a:cs typeface="Arial"/>
              </a:rPr>
              <a:t>population</a:t>
            </a:r>
            <a:r>
              <a:rPr dirty="0" sz="1100" spc="75">
                <a:latin typeface="Arial"/>
                <a:cs typeface="Arial"/>
              </a:rPr>
              <a:t> </a:t>
            </a:r>
            <a:r>
              <a:rPr dirty="0" sz="1100" spc="-5">
                <a:latin typeface="Arial"/>
                <a:cs typeface="Arial"/>
              </a:rPr>
              <a:t>to</a:t>
            </a:r>
            <a:endParaRPr sz="1100">
              <a:latin typeface="Arial"/>
              <a:cs typeface="Arial"/>
            </a:endParaRPr>
          </a:p>
        </p:txBody>
      </p:sp>
      <p:sp>
        <p:nvSpPr>
          <p:cNvPr id="7" name="object 7"/>
          <p:cNvSpPr txBox="1"/>
          <p:nvPr/>
        </p:nvSpPr>
        <p:spPr>
          <a:xfrm>
            <a:off x="901700" y="7233923"/>
            <a:ext cx="5969635" cy="179958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double in size, or doubling time, is shown in the rightmost column of Table 6.2. We see that  before 1650, it took nearly 36,000 years, or about 1,400 generations, for the world population to  double. Today it would </a:t>
            </a:r>
            <a:r>
              <a:rPr dirty="0" sz="1100">
                <a:latin typeface="Arial"/>
                <a:cs typeface="Arial"/>
              </a:rPr>
              <a:t>take </a:t>
            </a:r>
            <a:r>
              <a:rPr dirty="0" sz="1100" spc="-5">
                <a:latin typeface="Arial"/>
                <a:cs typeface="Arial"/>
              </a:rPr>
              <a:t>about 58 years, or two generations, for world population to double  at current growth rates. Moreover, whereas it took 1,750 years to add 480 million people to the  world’s population between year 1 and the onset of the Industrial Revolution, this same number  of people is today being added in less than seven</a:t>
            </a:r>
            <a:r>
              <a:rPr dirty="0" sz="1100" spc="50">
                <a:latin typeface="Arial"/>
                <a:cs typeface="Arial"/>
              </a:rPr>
              <a:t> </a:t>
            </a:r>
            <a:r>
              <a:rPr dirty="0" sz="1100" spc="-5">
                <a:latin typeface="Arial"/>
                <a:cs typeface="Arial"/>
              </a:rPr>
              <a:t>years.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reason for the sudden change in overall population trends is that for almost all of recorded  history, the rate of population change, whether up or down, had been strongly influenced by the  combined effects of famine, disease, malnutrition, plague, and war—conditions that resulted in  high</a:t>
            </a:r>
            <a:r>
              <a:rPr dirty="0" sz="1100" spc="195">
                <a:latin typeface="Arial"/>
                <a:cs typeface="Arial"/>
              </a:rPr>
              <a:t> </a:t>
            </a:r>
            <a:r>
              <a:rPr dirty="0" sz="1100" spc="-5">
                <a:latin typeface="Arial"/>
                <a:cs typeface="Arial"/>
              </a:rPr>
              <a:t>and</a:t>
            </a:r>
            <a:r>
              <a:rPr dirty="0" sz="1100" spc="195">
                <a:latin typeface="Arial"/>
                <a:cs typeface="Arial"/>
              </a:rPr>
              <a:t> </a:t>
            </a:r>
            <a:r>
              <a:rPr dirty="0" sz="1100" spc="-5">
                <a:latin typeface="Arial"/>
                <a:cs typeface="Arial"/>
              </a:rPr>
              <a:t>fluctuating</a:t>
            </a:r>
            <a:r>
              <a:rPr dirty="0" sz="1100" spc="200">
                <a:latin typeface="Arial"/>
                <a:cs typeface="Arial"/>
              </a:rPr>
              <a:t> </a:t>
            </a:r>
            <a:r>
              <a:rPr dirty="0" sz="1100" spc="-5">
                <a:latin typeface="Arial"/>
                <a:cs typeface="Arial"/>
              </a:rPr>
              <a:t>death</a:t>
            </a:r>
            <a:r>
              <a:rPr dirty="0" sz="1100" spc="195">
                <a:latin typeface="Arial"/>
                <a:cs typeface="Arial"/>
              </a:rPr>
              <a:t> </a:t>
            </a:r>
            <a:r>
              <a:rPr dirty="0" sz="1100" spc="-5">
                <a:latin typeface="Arial"/>
                <a:cs typeface="Arial"/>
              </a:rPr>
              <a:t>rates.</a:t>
            </a:r>
            <a:r>
              <a:rPr dirty="0" sz="1100" spc="200">
                <a:latin typeface="Arial"/>
                <a:cs typeface="Arial"/>
              </a:rPr>
              <a:t> </a:t>
            </a:r>
            <a:r>
              <a:rPr dirty="0" sz="1100" spc="-5">
                <a:latin typeface="Arial"/>
                <a:cs typeface="Arial"/>
              </a:rPr>
              <a:t>In</a:t>
            </a:r>
            <a:r>
              <a:rPr dirty="0" sz="1100" spc="195">
                <a:latin typeface="Arial"/>
                <a:cs typeface="Arial"/>
              </a:rPr>
              <a:t> </a:t>
            </a:r>
            <a:r>
              <a:rPr dirty="0" sz="1100" spc="-5">
                <a:latin typeface="Arial"/>
                <a:cs typeface="Arial"/>
              </a:rPr>
              <a:t>the</a:t>
            </a:r>
            <a:r>
              <a:rPr dirty="0" sz="1100" spc="200">
                <a:latin typeface="Arial"/>
                <a:cs typeface="Arial"/>
              </a:rPr>
              <a:t> </a:t>
            </a:r>
            <a:r>
              <a:rPr dirty="0" sz="1100" spc="-5">
                <a:latin typeface="Arial"/>
                <a:cs typeface="Arial"/>
              </a:rPr>
              <a:t>twentieth</a:t>
            </a:r>
            <a:r>
              <a:rPr dirty="0" sz="1100" spc="195">
                <a:latin typeface="Arial"/>
                <a:cs typeface="Arial"/>
              </a:rPr>
              <a:t> </a:t>
            </a:r>
            <a:r>
              <a:rPr dirty="0" sz="1100" spc="-5">
                <a:latin typeface="Arial"/>
                <a:cs typeface="Arial"/>
              </a:rPr>
              <a:t>century,</a:t>
            </a:r>
            <a:r>
              <a:rPr dirty="0" sz="1100" spc="200">
                <a:latin typeface="Arial"/>
                <a:cs typeface="Arial"/>
              </a:rPr>
              <a:t> </a:t>
            </a:r>
            <a:r>
              <a:rPr dirty="0" sz="1100" spc="-5">
                <a:latin typeface="Arial"/>
                <a:cs typeface="Arial"/>
              </a:rPr>
              <a:t>such</a:t>
            </a:r>
            <a:r>
              <a:rPr dirty="0" sz="1100" spc="195">
                <a:latin typeface="Arial"/>
                <a:cs typeface="Arial"/>
              </a:rPr>
              <a:t> </a:t>
            </a:r>
            <a:r>
              <a:rPr dirty="0" sz="1100" spc="-5">
                <a:latin typeface="Arial"/>
                <a:cs typeface="Arial"/>
              </a:rPr>
              <a:t>conditions</a:t>
            </a:r>
            <a:r>
              <a:rPr dirty="0" sz="1100" spc="200">
                <a:latin typeface="Arial"/>
                <a:cs typeface="Arial"/>
              </a:rPr>
              <a:t> </a:t>
            </a:r>
            <a:r>
              <a:rPr dirty="0" sz="1100" spc="-5">
                <a:latin typeface="Arial"/>
                <a:cs typeface="Arial"/>
              </a:rPr>
              <a:t>came</a:t>
            </a:r>
            <a:r>
              <a:rPr dirty="0" sz="1100" spc="190">
                <a:latin typeface="Arial"/>
                <a:cs typeface="Arial"/>
              </a:rPr>
              <a:t> </a:t>
            </a:r>
            <a:r>
              <a:rPr dirty="0" sz="1100" spc="-5">
                <a:latin typeface="Arial"/>
                <a:cs typeface="Arial"/>
              </a:rPr>
              <a:t>increasingly</a:t>
            </a:r>
            <a:endParaRPr sz="1100">
              <a:latin typeface="Arial"/>
              <a:cs typeface="Arial"/>
            </a:endParaRPr>
          </a:p>
        </p:txBody>
      </p:sp>
      <p:sp>
        <p:nvSpPr>
          <p:cNvPr id="8" name="object 8"/>
          <p:cNvSpPr/>
          <p:nvPr/>
        </p:nvSpPr>
        <p:spPr>
          <a:xfrm>
            <a:off x="913638" y="893063"/>
            <a:ext cx="5945123" cy="2551176"/>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1533905" y="3788664"/>
            <a:ext cx="4705350" cy="3467100"/>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72</a:t>
            </a:r>
            <a:endParaRPr sz="1100">
              <a:latin typeface="Carlito"/>
              <a:cs typeface="Carlito"/>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1540" cy="3099435"/>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under technological and economic control. As a result, human mortality (the death rate) is now  lower than at any other point in human existence. It is this decline in mortality resulting from  rapid technological advances in modern medicine and the spread of modern sanitation  measures throughout the world, particularly within the past half century, which has resulted in  the unprecedented increases in world population growth, especially in developing countries. In  short, population growth today is primarily the result of a rapid transition from a </a:t>
            </a:r>
            <a:r>
              <a:rPr dirty="0" sz="1100">
                <a:latin typeface="Arial"/>
                <a:cs typeface="Arial"/>
              </a:rPr>
              <a:t>long </a:t>
            </a:r>
            <a:r>
              <a:rPr dirty="0" sz="1100" spc="-5">
                <a:latin typeface="Arial"/>
                <a:cs typeface="Arial"/>
              </a:rPr>
              <a:t>historical  era characterized by high birth and death rates to one in which death rates have fallen sharply  but birth rates, especially in developing countries, have fallen more slowly from their historically  high levels.</a:t>
            </a:r>
            <a:endParaRPr sz="1100">
              <a:latin typeface="Arial"/>
              <a:cs typeface="Arial"/>
            </a:endParaRPr>
          </a:p>
          <a:p>
            <a:pPr marL="12700" marR="2886075">
              <a:lnSpc>
                <a:spcPct val="191800"/>
              </a:lnSpc>
            </a:pPr>
            <a:r>
              <a:rPr dirty="0" sz="1100" spc="-5" b="1">
                <a:latin typeface="Arial"/>
                <a:cs typeface="Arial"/>
              </a:rPr>
              <a:t>STRUCTURE OF THE WORLD’S POPULATION  GEOGRAPHIC REGION</a:t>
            </a:r>
            <a:endParaRPr sz="1100">
              <a:latin typeface="Arial"/>
              <a:cs typeface="Arial"/>
            </a:endParaRPr>
          </a:p>
          <a:p>
            <a:pPr>
              <a:lnSpc>
                <a:spcPct val="100000"/>
              </a:lnSpc>
              <a:spcBef>
                <a:spcPts val="55"/>
              </a:spcBef>
            </a:pPr>
            <a:endParaRPr sz="1150">
              <a:latin typeface="Arial"/>
              <a:cs typeface="Arial"/>
            </a:endParaRPr>
          </a:p>
          <a:p>
            <a:pPr algn="just" marL="12700" marR="6985">
              <a:lnSpc>
                <a:spcPct val="95800"/>
              </a:lnSpc>
            </a:pPr>
            <a:r>
              <a:rPr dirty="0" sz="1100" spc="-5">
                <a:latin typeface="Arial"/>
                <a:cs typeface="Arial"/>
              </a:rPr>
              <a:t>More than three-quarters of the world’s people live in developing countries; fewer than one  person in four lives in an economically developed nation. Figure 6.2 shows the regional  distribution of the world’s population as it existed in 2010 and as it is projected for 2050.World  population distribution is put into dramatic perspective by the map in Figure 6.3. Each box  represents 1 million</a:t>
            </a:r>
            <a:r>
              <a:rPr dirty="0" sz="1100" spc="5">
                <a:latin typeface="Arial"/>
                <a:cs typeface="Arial"/>
              </a:rPr>
              <a:t> </a:t>
            </a:r>
            <a:r>
              <a:rPr dirty="0" sz="1100" spc="-5">
                <a:latin typeface="Arial"/>
                <a:cs typeface="Arial"/>
              </a:rPr>
              <a:t>inhabitants.</a:t>
            </a:r>
            <a:endParaRPr sz="1100">
              <a:latin typeface="Arial"/>
              <a:cs typeface="Arial"/>
            </a:endParaRPr>
          </a:p>
        </p:txBody>
      </p:sp>
      <p:sp>
        <p:nvSpPr>
          <p:cNvPr id="7" name="object 7"/>
          <p:cNvSpPr/>
          <p:nvPr/>
        </p:nvSpPr>
        <p:spPr>
          <a:xfrm>
            <a:off x="1638300" y="4239767"/>
            <a:ext cx="4686300" cy="241935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73</a:t>
            </a:r>
            <a:endParaRPr sz="1100">
              <a:latin typeface="Carlito"/>
              <a:cs typeface="Carlito"/>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2539365" cy="19304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FERTILITY AND MORTALITY</a:t>
            </a:r>
            <a:r>
              <a:rPr dirty="0" sz="1100" spc="25" b="1">
                <a:latin typeface="Arial"/>
                <a:cs typeface="Arial"/>
              </a:rPr>
              <a:t> </a:t>
            </a:r>
            <a:r>
              <a:rPr dirty="0" sz="1100" spc="-5" b="1">
                <a:latin typeface="Arial"/>
                <a:cs typeface="Arial"/>
              </a:rPr>
              <a:t>TRENDS</a:t>
            </a:r>
            <a:endParaRPr sz="1100">
              <a:latin typeface="Arial"/>
              <a:cs typeface="Arial"/>
            </a:endParaRPr>
          </a:p>
        </p:txBody>
      </p:sp>
      <p:sp>
        <p:nvSpPr>
          <p:cNvPr id="7" name="object 7"/>
          <p:cNvSpPr txBox="1"/>
          <p:nvPr/>
        </p:nvSpPr>
        <p:spPr>
          <a:xfrm>
            <a:off x="1130293" y="4195069"/>
            <a:ext cx="5740400" cy="2048510"/>
          </a:xfrm>
          <a:prstGeom prst="rect">
            <a:avLst/>
          </a:prstGeom>
        </p:spPr>
        <p:txBody>
          <a:bodyPr wrap="square" lIns="0" tIns="34925" rIns="0" bIns="0" rtlCol="0" vert="horz">
            <a:spAutoFit/>
          </a:bodyPr>
          <a:lstStyle/>
          <a:p>
            <a:pPr marL="241300" marR="5080" indent="-229235">
              <a:lnSpc>
                <a:spcPts val="1280"/>
              </a:lnSpc>
              <a:spcBef>
                <a:spcPts val="275"/>
              </a:spcBef>
              <a:buSzPct val="91666"/>
              <a:buFont typeface="Symbol"/>
              <a:buChar char=""/>
              <a:tabLst>
                <a:tab pos="240665" algn="l"/>
                <a:tab pos="241300" algn="l"/>
              </a:tabLst>
            </a:pPr>
            <a:r>
              <a:rPr dirty="0" sz="1200" spc="-5" b="1">
                <a:latin typeface="Arial"/>
                <a:cs typeface="Arial"/>
              </a:rPr>
              <a:t>Rate of population increase: </a:t>
            </a:r>
            <a:r>
              <a:rPr dirty="0" sz="1100" spc="-5">
                <a:latin typeface="Arial"/>
                <a:cs typeface="Arial"/>
              </a:rPr>
              <a:t>The growth rate of a population, calculated as the  natural increase after adjusting for immigration and</a:t>
            </a:r>
            <a:r>
              <a:rPr dirty="0" sz="1100" spc="45">
                <a:latin typeface="Arial"/>
                <a:cs typeface="Arial"/>
              </a:rPr>
              <a:t> </a:t>
            </a:r>
            <a:r>
              <a:rPr dirty="0" sz="1100" spc="-5">
                <a:latin typeface="Arial"/>
                <a:cs typeface="Arial"/>
              </a:rPr>
              <a:t>emigration.</a:t>
            </a:r>
            <a:endParaRPr sz="1100">
              <a:latin typeface="Arial"/>
              <a:cs typeface="Arial"/>
            </a:endParaRPr>
          </a:p>
          <a:p>
            <a:pPr marL="241300" marR="5080" indent="-228600">
              <a:lnSpc>
                <a:spcPts val="1280"/>
              </a:lnSpc>
              <a:spcBef>
                <a:spcPts val="85"/>
              </a:spcBef>
              <a:buSzPct val="91666"/>
              <a:buFont typeface="Symbol"/>
              <a:buChar char=""/>
              <a:tabLst>
                <a:tab pos="240665" algn="l"/>
                <a:tab pos="241300" algn="l"/>
              </a:tabLst>
            </a:pPr>
            <a:r>
              <a:rPr dirty="0" sz="1200" spc="-5" b="1">
                <a:latin typeface="Arial"/>
                <a:cs typeface="Arial"/>
              </a:rPr>
              <a:t>Natural increase: </a:t>
            </a:r>
            <a:r>
              <a:rPr dirty="0" sz="1100">
                <a:latin typeface="Arial"/>
                <a:cs typeface="Arial"/>
              </a:rPr>
              <a:t>The </a:t>
            </a:r>
            <a:r>
              <a:rPr dirty="0" sz="1100" spc="-5">
                <a:latin typeface="Arial"/>
                <a:cs typeface="Arial"/>
              </a:rPr>
              <a:t>difference between </a:t>
            </a:r>
            <a:r>
              <a:rPr dirty="0" sz="1100">
                <a:latin typeface="Arial"/>
                <a:cs typeface="Arial"/>
              </a:rPr>
              <a:t>the </a:t>
            </a:r>
            <a:r>
              <a:rPr dirty="0" sz="1100" spc="-5">
                <a:latin typeface="Arial"/>
                <a:cs typeface="Arial"/>
              </a:rPr>
              <a:t>birth rate and the death rate of a given  population.</a:t>
            </a:r>
            <a:endParaRPr sz="1100">
              <a:latin typeface="Arial"/>
              <a:cs typeface="Arial"/>
            </a:endParaRPr>
          </a:p>
          <a:p>
            <a:pPr marL="241300" marR="5715" indent="-228600">
              <a:lnSpc>
                <a:spcPts val="1280"/>
              </a:lnSpc>
              <a:spcBef>
                <a:spcPts val="80"/>
              </a:spcBef>
              <a:buSzPct val="91666"/>
              <a:buFont typeface="Symbol"/>
              <a:buChar char=""/>
              <a:tabLst>
                <a:tab pos="240665" algn="l"/>
                <a:tab pos="241300" algn="l"/>
              </a:tabLst>
            </a:pPr>
            <a:r>
              <a:rPr dirty="0" sz="1200" spc="-5" b="1">
                <a:latin typeface="Arial"/>
                <a:cs typeface="Arial"/>
              </a:rPr>
              <a:t>Net </a:t>
            </a:r>
            <a:r>
              <a:rPr dirty="0" sz="1200" b="1">
                <a:latin typeface="Arial"/>
                <a:cs typeface="Arial"/>
              </a:rPr>
              <a:t>international </a:t>
            </a:r>
            <a:r>
              <a:rPr dirty="0" sz="1200" spc="-5" b="1">
                <a:latin typeface="Arial"/>
                <a:cs typeface="Arial"/>
              </a:rPr>
              <a:t>migration</a:t>
            </a:r>
            <a:r>
              <a:rPr dirty="0" sz="1100" spc="-5">
                <a:latin typeface="Arial"/>
                <a:cs typeface="Arial"/>
              </a:rPr>
              <a:t>: The excess of persons migrating into a country over  those who emigrate from that</a:t>
            </a:r>
            <a:r>
              <a:rPr dirty="0" sz="1100" spc="20">
                <a:latin typeface="Arial"/>
                <a:cs typeface="Arial"/>
              </a:rPr>
              <a:t> </a:t>
            </a:r>
            <a:r>
              <a:rPr dirty="0" sz="1100" spc="-5">
                <a:latin typeface="Arial"/>
                <a:cs typeface="Arial"/>
              </a:rPr>
              <a:t>country.</a:t>
            </a:r>
            <a:endParaRPr sz="1100">
              <a:latin typeface="Arial"/>
              <a:cs typeface="Arial"/>
            </a:endParaRPr>
          </a:p>
          <a:p>
            <a:pPr marL="241300" marR="6350" indent="-228600">
              <a:lnSpc>
                <a:spcPts val="1280"/>
              </a:lnSpc>
              <a:spcBef>
                <a:spcPts val="85"/>
              </a:spcBef>
              <a:buSzPct val="91666"/>
              <a:buFont typeface="Symbol"/>
              <a:buChar char=""/>
              <a:tabLst>
                <a:tab pos="240665" algn="l"/>
                <a:tab pos="241300" algn="l"/>
              </a:tabLst>
            </a:pPr>
            <a:r>
              <a:rPr dirty="0" sz="1200" spc="-5" b="1">
                <a:latin typeface="Arial"/>
                <a:cs typeface="Arial"/>
              </a:rPr>
              <a:t>Crude birth rate: </a:t>
            </a:r>
            <a:r>
              <a:rPr dirty="0" sz="1100" spc="-5">
                <a:latin typeface="Arial"/>
                <a:cs typeface="Arial"/>
              </a:rPr>
              <a:t>The number of children born alive each year per 1,000 population  (often shortened to</a:t>
            </a:r>
            <a:r>
              <a:rPr dirty="0" sz="1100" spc="10">
                <a:latin typeface="Arial"/>
                <a:cs typeface="Arial"/>
              </a:rPr>
              <a:t> </a:t>
            </a:r>
            <a:r>
              <a:rPr dirty="0" sz="1100" spc="-5">
                <a:latin typeface="Arial"/>
                <a:cs typeface="Arial"/>
              </a:rPr>
              <a:t>birthrate).</a:t>
            </a:r>
            <a:endParaRPr sz="1100">
              <a:latin typeface="Arial"/>
              <a:cs typeface="Arial"/>
            </a:endParaRPr>
          </a:p>
          <a:p>
            <a:pPr marL="241300" indent="-228600">
              <a:lnSpc>
                <a:spcPts val="1320"/>
              </a:lnSpc>
              <a:buSzPct val="91666"/>
              <a:buFont typeface="Symbol"/>
              <a:buChar char=""/>
              <a:tabLst>
                <a:tab pos="240665" algn="l"/>
                <a:tab pos="241300" algn="l"/>
              </a:tabLst>
            </a:pPr>
            <a:r>
              <a:rPr dirty="0" sz="1200" spc="-5" b="1">
                <a:latin typeface="Arial"/>
                <a:cs typeface="Arial"/>
              </a:rPr>
              <a:t>Death rate</a:t>
            </a:r>
            <a:r>
              <a:rPr dirty="0" sz="1100" spc="-5">
                <a:latin typeface="Arial"/>
                <a:cs typeface="Arial"/>
              </a:rPr>
              <a:t>: The number of deaths each year per</a:t>
            </a:r>
            <a:r>
              <a:rPr dirty="0" sz="1100" spc="50">
                <a:latin typeface="Arial"/>
                <a:cs typeface="Arial"/>
              </a:rPr>
              <a:t> </a:t>
            </a:r>
            <a:r>
              <a:rPr dirty="0" sz="1100" spc="-5">
                <a:latin typeface="Arial"/>
                <a:cs typeface="Arial"/>
              </a:rPr>
              <a:t>1,000population.</a:t>
            </a:r>
            <a:endParaRPr sz="1100">
              <a:latin typeface="Arial"/>
              <a:cs typeface="Arial"/>
            </a:endParaRPr>
          </a:p>
          <a:p>
            <a:pPr algn="just" marL="241300" marR="5080" indent="-228600">
              <a:lnSpc>
                <a:spcPct val="95900"/>
              </a:lnSpc>
              <a:spcBef>
                <a:spcPts val="30"/>
              </a:spcBef>
              <a:buSzPct val="91666"/>
              <a:buFont typeface="Symbol"/>
              <a:buChar char=""/>
              <a:tabLst>
                <a:tab pos="241300" algn="l"/>
              </a:tabLst>
            </a:pPr>
            <a:r>
              <a:rPr dirty="0" sz="1200" b="1">
                <a:latin typeface="Arial"/>
                <a:cs typeface="Arial"/>
              </a:rPr>
              <a:t>Total fertility </a:t>
            </a:r>
            <a:r>
              <a:rPr dirty="0" sz="1200" spc="-5" b="1">
                <a:latin typeface="Arial"/>
                <a:cs typeface="Arial"/>
              </a:rPr>
              <a:t>rate </a:t>
            </a:r>
            <a:r>
              <a:rPr dirty="0" sz="1200" b="1">
                <a:latin typeface="Arial"/>
                <a:cs typeface="Arial"/>
              </a:rPr>
              <a:t>(TFR): </a:t>
            </a:r>
            <a:r>
              <a:rPr dirty="0" sz="1100" spc="-5">
                <a:latin typeface="Arial"/>
                <a:cs typeface="Arial"/>
              </a:rPr>
              <a:t>The number of children that would be born to a woman if  she were to live to the end of her childbearing years and bear children in accordance  with the prevailing age specific fertility</a:t>
            </a:r>
            <a:r>
              <a:rPr dirty="0" sz="1100" spc="30">
                <a:latin typeface="Arial"/>
                <a:cs typeface="Arial"/>
              </a:rPr>
              <a:t> </a:t>
            </a:r>
            <a:r>
              <a:rPr dirty="0" sz="1100" spc="-5">
                <a:latin typeface="Arial"/>
                <a:cs typeface="Arial"/>
              </a:rPr>
              <a:t>rates.</a:t>
            </a:r>
            <a:endParaRPr sz="1100">
              <a:latin typeface="Arial"/>
              <a:cs typeface="Arial"/>
            </a:endParaRPr>
          </a:p>
        </p:txBody>
      </p:sp>
      <p:sp>
        <p:nvSpPr>
          <p:cNvPr id="8" name="object 8"/>
          <p:cNvSpPr txBox="1"/>
          <p:nvPr/>
        </p:nvSpPr>
        <p:spPr>
          <a:xfrm>
            <a:off x="901695" y="8608559"/>
            <a:ext cx="5969635" cy="51435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Table 6.3 lists seven countries that experienced significant fertility declines between 1970 and  2009. Nevertheless, the total fertility rate (TFR)—(the average number of children a woman  would have assuming that current age-specific birth rates remain constant throughout</a:t>
            </a:r>
            <a:r>
              <a:rPr dirty="0" sz="1100" spc="15">
                <a:latin typeface="Arial"/>
                <a:cs typeface="Arial"/>
              </a:rPr>
              <a:t> </a:t>
            </a:r>
            <a:r>
              <a:rPr dirty="0" sz="1100" spc="-5">
                <a:latin typeface="Arial"/>
                <a:cs typeface="Arial"/>
              </a:rPr>
              <a:t>her</a:t>
            </a:r>
            <a:endParaRPr sz="1100">
              <a:latin typeface="Arial"/>
              <a:cs typeface="Arial"/>
            </a:endParaRPr>
          </a:p>
        </p:txBody>
      </p:sp>
      <p:sp>
        <p:nvSpPr>
          <p:cNvPr id="9" name="object 9"/>
          <p:cNvSpPr/>
          <p:nvPr/>
        </p:nvSpPr>
        <p:spPr>
          <a:xfrm>
            <a:off x="1447800" y="1109564"/>
            <a:ext cx="4838700" cy="2948085"/>
          </a:xfrm>
          <a:prstGeom prst="rect">
            <a:avLst/>
          </a:prstGeom>
          <a:blipFill>
            <a:blip r:embed="rId2" cstate="print"/>
            <a:stretch>
              <a:fillRect/>
            </a:stretch>
          </a:blipFill>
        </p:spPr>
        <p:txBody>
          <a:bodyPr wrap="square" lIns="0" tIns="0" rIns="0" bIns="0" rtlCol="0"/>
          <a:lstStyle/>
          <a:p/>
        </p:txBody>
      </p:sp>
      <p:sp>
        <p:nvSpPr>
          <p:cNvPr id="10" name="object 10"/>
          <p:cNvSpPr/>
          <p:nvPr/>
        </p:nvSpPr>
        <p:spPr>
          <a:xfrm>
            <a:off x="1352550" y="6466332"/>
            <a:ext cx="5067300" cy="2000250"/>
          </a:xfrm>
          <a:prstGeom prst="rect">
            <a:avLst/>
          </a:prstGeom>
          <a:blipFill>
            <a:blip r:embed="rId3" cstate="print"/>
            <a:stretch>
              <a:fillRect/>
            </a:stretch>
          </a:blipFill>
        </p:spPr>
        <p:txBody>
          <a:bodyPr wrap="square" lIns="0" tIns="0" rIns="0" bIns="0" rtlCol="0"/>
          <a:lstStyle/>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2" name="object 12"/>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74</a:t>
            </a:r>
            <a:endParaRPr sz="1100">
              <a:latin typeface="Carlito"/>
              <a:cs typeface="Carlito"/>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6" y="891794"/>
            <a:ext cx="5969635" cy="6034405"/>
          </a:xfrm>
          <a:prstGeom prst="rect">
            <a:avLst/>
          </a:prstGeom>
        </p:spPr>
        <p:txBody>
          <a:bodyPr wrap="square" lIns="0" tIns="22860" rIns="0" bIns="0" rtlCol="0" vert="horz">
            <a:spAutoFit/>
          </a:bodyPr>
          <a:lstStyle/>
          <a:p>
            <a:pPr marL="12700" marR="5715">
              <a:lnSpc>
                <a:spcPts val="1270"/>
              </a:lnSpc>
              <a:spcBef>
                <a:spcPts val="180"/>
              </a:spcBef>
            </a:pPr>
            <a:r>
              <a:rPr dirty="0" sz="1100" spc="-5">
                <a:latin typeface="Arial"/>
                <a:cs typeface="Arial"/>
              </a:rPr>
              <a:t>childbearing years (15 </a:t>
            </a:r>
            <a:r>
              <a:rPr dirty="0" sz="1100">
                <a:latin typeface="Arial"/>
                <a:cs typeface="Arial"/>
              </a:rPr>
              <a:t>to </a:t>
            </a:r>
            <a:r>
              <a:rPr dirty="0" sz="1100" spc="-5">
                <a:latin typeface="Arial"/>
                <a:cs typeface="Arial"/>
              </a:rPr>
              <a:t>49 years of age)—remains very high in sub-Saharan Africa (5.3) and  western Asia</a:t>
            </a:r>
            <a:r>
              <a:rPr dirty="0" sz="1100">
                <a:latin typeface="Arial"/>
                <a:cs typeface="Arial"/>
              </a:rPr>
              <a:t> </a:t>
            </a:r>
            <a:r>
              <a:rPr dirty="0" sz="1100" spc="-5">
                <a:latin typeface="Arial"/>
                <a:cs typeface="Arial"/>
              </a:rPr>
              <a:t>(3.1).</a:t>
            </a:r>
            <a:endParaRPr sz="1100">
              <a:latin typeface="Arial"/>
              <a:cs typeface="Arial"/>
            </a:endParaRPr>
          </a:p>
          <a:p>
            <a:pPr marL="469900" marR="6350" indent="-229235">
              <a:lnSpc>
                <a:spcPts val="1280"/>
              </a:lnSpc>
              <a:spcBef>
                <a:spcPts val="80"/>
              </a:spcBef>
              <a:buSzPct val="91666"/>
              <a:buFont typeface="Symbol"/>
              <a:buChar char=""/>
              <a:tabLst>
                <a:tab pos="469265" algn="l"/>
                <a:tab pos="469900" algn="l"/>
              </a:tabLst>
            </a:pPr>
            <a:r>
              <a:rPr dirty="0" sz="1200" b="1">
                <a:latin typeface="Arial"/>
                <a:cs typeface="Arial"/>
              </a:rPr>
              <a:t>Life </a:t>
            </a:r>
            <a:r>
              <a:rPr dirty="0" sz="1200" spc="-5" b="1">
                <a:latin typeface="Arial"/>
                <a:cs typeface="Arial"/>
              </a:rPr>
              <a:t>expectancy at </a:t>
            </a:r>
            <a:r>
              <a:rPr dirty="0" sz="1200" b="1">
                <a:latin typeface="Arial"/>
                <a:cs typeface="Arial"/>
              </a:rPr>
              <a:t>birth: </a:t>
            </a:r>
            <a:r>
              <a:rPr dirty="0" sz="1100" spc="-5">
                <a:latin typeface="Arial"/>
                <a:cs typeface="Arial"/>
              </a:rPr>
              <a:t>The number of years a newborn child would live if subject  to the mortality risks prevailing for the population at the time of the child’s</a:t>
            </a:r>
            <a:r>
              <a:rPr dirty="0" sz="1100" spc="135">
                <a:latin typeface="Arial"/>
                <a:cs typeface="Arial"/>
              </a:rPr>
              <a:t> </a:t>
            </a:r>
            <a:r>
              <a:rPr dirty="0" sz="1100" spc="-5">
                <a:latin typeface="Arial"/>
                <a:cs typeface="Arial"/>
              </a:rPr>
              <a:t>birth.</a:t>
            </a:r>
            <a:endParaRPr sz="1100">
              <a:latin typeface="Arial"/>
              <a:cs typeface="Arial"/>
            </a:endParaRPr>
          </a:p>
          <a:p>
            <a:pPr marL="469900" marR="6350" indent="-228600">
              <a:lnSpc>
                <a:spcPts val="1280"/>
              </a:lnSpc>
              <a:spcBef>
                <a:spcPts val="80"/>
              </a:spcBef>
              <a:buSzPct val="91666"/>
              <a:buFont typeface="Symbol"/>
              <a:buChar char=""/>
              <a:tabLst>
                <a:tab pos="469265" algn="l"/>
                <a:tab pos="469900" algn="l"/>
              </a:tabLst>
            </a:pPr>
            <a:r>
              <a:rPr dirty="0" sz="1200" b="1">
                <a:latin typeface="Arial"/>
                <a:cs typeface="Arial"/>
              </a:rPr>
              <a:t>Under-5 mortality </a:t>
            </a:r>
            <a:r>
              <a:rPr dirty="0" sz="1200" spc="-5" b="1">
                <a:latin typeface="Arial"/>
                <a:cs typeface="Arial"/>
              </a:rPr>
              <a:t>rate: </a:t>
            </a:r>
            <a:r>
              <a:rPr dirty="0" sz="1100" spc="-5">
                <a:latin typeface="Arial"/>
                <a:cs typeface="Arial"/>
              </a:rPr>
              <a:t>Deaths among children between birth and 5 years of age </a:t>
            </a:r>
            <a:r>
              <a:rPr dirty="0" sz="1100">
                <a:latin typeface="Arial"/>
                <a:cs typeface="Arial"/>
              </a:rPr>
              <a:t>per  </a:t>
            </a:r>
            <a:r>
              <a:rPr dirty="0" sz="1100" spc="-5">
                <a:latin typeface="Arial"/>
                <a:cs typeface="Arial"/>
              </a:rPr>
              <a:t>1,000 live</a:t>
            </a:r>
            <a:r>
              <a:rPr dirty="0" sz="1100">
                <a:latin typeface="Arial"/>
                <a:cs typeface="Arial"/>
              </a:rPr>
              <a:t> </a:t>
            </a:r>
            <a:r>
              <a:rPr dirty="0" sz="1100" spc="-5">
                <a:latin typeface="Arial"/>
                <a:cs typeface="Arial"/>
              </a:rPr>
              <a:t>births.</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AGE STRUCTURE AND DEPENDENCY</a:t>
            </a:r>
            <a:r>
              <a:rPr dirty="0" sz="1100" spc="10" b="1">
                <a:latin typeface="Arial"/>
                <a:cs typeface="Arial"/>
              </a:rPr>
              <a:t> </a:t>
            </a:r>
            <a:r>
              <a:rPr dirty="0" sz="1100" spc="-10" b="1">
                <a:latin typeface="Arial"/>
                <a:cs typeface="Arial"/>
              </a:rPr>
              <a:t>BURDENS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Population is relatively youthful in the developing world. Children under the age of 15 constitute  more than 30% of the total population of developing countries but just 17% of developed  nations. In fact, at least 10 developing nations have over </a:t>
            </a:r>
            <a:r>
              <a:rPr dirty="0" sz="1100">
                <a:latin typeface="Arial"/>
                <a:cs typeface="Arial"/>
              </a:rPr>
              <a:t>44% </a:t>
            </a:r>
            <a:r>
              <a:rPr dirty="0" sz="1100" spc="-5">
                <a:latin typeface="Arial"/>
                <a:cs typeface="Arial"/>
              </a:rPr>
              <a:t>of their population under the age  of 15; as of 2009, 43% of Ethiopia’s population, 45% of Nigeria’s, and 38% of Pakistan’s was  under 15; for both India and Mexico, the comparable figure is</a:t>
            </a:r>
            <a:r>
              <a:rPr dirty="0" sz="1100" spc="65">
                <a:latin typeface="Arial"/>
                <a:cs typeface="Arial"/>
              </a:rPr>
              <a:t> </a:t>
            </a:r>
            <a:r>
              <a:rPr dirty="0" sz="1100" spc="-5">
                <a:latin typeface="Arial"/>
                <a:cs typeface="Arial"/>
              </a:rPr>
              <a:t>32%.</a:t>
            </a:r>
            <a:endParaRPr sz="1100">
              <a:latin typeface="Arial"/>
              <a:cs typeface="Arial"/>
            </a:endParaRPr>
          </a:p>
          <a:p>
            <a:pPr algn="just" marL="12700" marR="6350">
              <a:lnSpc>
                <a:spcPts val="1270"/>
              </a:lnSpc>
              <a:spcBef>
                <a:spcPts val="30"/>
              </a:spcBef>
            </a:pPr>
            <a:r>
              <a:rPr dirty="0" sz="1100" spc="-5" b="1">
                <a:latin typeface="Arial"/>
                <a:cs typeface="Arial"/>
              </a:rPr>
              <a:t>Youth dependency ratio: </a:t>
            </a:r>
            <a:r>
              <a:rPr dirty="0" sz="1100" spc="-5">
                <a:latin typeface="Arial"/>
                <a:cs typeface="Arial"/>
              </a:rPr>
              <a:t>The proportion of young people under age 15 to the working  population aged 16 to 64 in a</a:t>
            </a:r>
            <a:r>
              <a:rPr dirty="0" sz="1100" spc="25">
                <a:latin typeface="Arial"/>
                <a:cs typeface="Arial"/>
              </a:rPr>
              <a:t> </a:t>
            </a:r>
            <a:r>
              <a:rPr dirty="0" sz="1100" spc="-5">
                <a:latin typeface="Arial"/>
                <a:cs typeface="Arial"/>
              </a:rPr>
              <a:t>country.</a:t>
            </a:r>
            <a:endParaRPr sz="1100">
              <a:latin typeface="Arial"/>
              <a:cs typeface="Arial"/>
            </a:endParaRPr>
          </a:p>
          <a:p>
            <a:pPr>
              <a:lnSpc>
                <a:spcPct val="100000"/>
              </a:lnSpc>
              <a:spcBef>
                <a:spcPts val="25"/>
              </a:spcBef>
            </a:pPr>
            <a:endParaRPr sz="1000">
              <a:latin typeface="Arial"/>
              <a:cs typeface="Arial"/>
            </a:endParaRPr>
          </a:p>
          <a:p>
            <a:pPr algn="just" marL="12700">
              <a:lnSpc>
                <a:spcPct val="100000"/>
              </a:lnSpc>
            </a:pPr>
            <a:r>
              <a:rPr dirty="0" sz="1100" spc="-5" b="1">
                <a:latin typeface="Arial"/>
                <a:cs typeface="Arial"/>
              </a:rPr>
              <a:t>THE HIDDEN MOMENTUM OF POPULATION</a:t>
            </a:r>
            <a:r>
              <a:rPr dirty="0" sz="1100" spc="15" b="1">
                <a:latin typeface="Arial"/>
                <a:cs typeface="Arial"/>
              </a:rPr>
              <a:t> </a:t>
            </a:r>
            <a:r>
              <a:rPr dirty="0" sz="1100" spc="-5" b="1">
                <a:latin typeface="Arial"/>
                <a:cs typeface="Arial"/>
              </a:rPr>
              <a:t>GROWTH</a:t>
            </a:r>
            <a:endParaRPr sz="1100">
              <a:latin typeface="Arial"/>
              <a:cs typeface="Arial"/>
            </a:endParaRPr>
          </a:p>
          <a:p>
            <a:pPr>
              <a:lnSpc>
                <a:spcPct val="100000"/>
              </a:lnSpc>
              <a:spcBef>
                <a:spcPts val="50"/>
              </a:spcBef>
            </a:pPr>
            <a:endParaRPr sz="1050">
              <a:latin typeface="Arial"/>
              <a:cs typeface="Arial"/>
            </a:endParaRPr>
          </a:p>
          <a:p>
            <a:pPr algn="just" marL="469265" marR="6350" indent="-228600">
              <a:lnSpc>
                <a:spcPct val="95900"/>
              </a:lnSpc>
              <a:spcBef>
                <a:spcPts val="5"/>
              </a:spcBef>
              <a:buSzPct val="91666"/>
              <a:buFont typeface="Symbol"/>
              <a:buChar char=""/>
              <a:tabLst>
                <a:tab pos="469900" algn="l"/>
              </a:tabLst>
            </a:pPr>
            <a:r>
              <a:rPr dirty="0" sz="1200" spc="-5" b="1">
                <a:latin typeface="Arial"/>
                <a:cs typeface="Arial"/>
              </a:rPr>
              <a:t>Hidden momentum of population growth: </a:t>
            </a:r>
            <a:r>
              <a:rPr dirty="0" sz="1100" spc="-5">
                <a:latin typeface="Arial"/>
                <a:cs typeface="Arial"/>
              </a:rPr>
              <a:t>The phenomenon whereby population  continues to increase even after a </a:t>
            </a:r>
            <a:r>
              <a:rPr dirty="0" sz="1100">
                <a:latin typeface="Arial"/>
                <a:cs typeface="Arial"/>
              </a:rPr>
              <a:t>fall </a:t>
            </a:r>
            <a:r>
              <a:rPr dirty="0" sz="1100" spc="-5">
                <a:latin typeface="Arial"/>
                <a:cs typeface="Arial"/>
              </a:rPr>
              <a:t>in birth rates because the large existing youthful  population expands the population’s base of potential</a:t>
            </a:r>
            <a:r>
              <a:rPr dirty="0" sz="1100" spc="40">
                <a:latin typeface="Arial"/>
                <a:cs typeface="Arial"/>
              </a:rPr>
              <a:t> </a:t>
            </a:r>
            <a:r>
              <a:rPr dirty="0" sz="1100" spc="-5">
                <a:latin typeface="Arial"/>
                <a:cs typeface="Arial"/>
              </a:rPr>
              <a:t>parents.</a:t>
            </a:r>
            <a:endParaRPr sz="1100">
              <a:latin typeface="Arial"/>
              <a:cs typeface="Arial"/>
            </a:endParaRPr>
          </a:p>
          <a:p>
            <a:pPr>
              <a:lnSpc>
                <a:spcPct val="100000"/>
              </a:lnSpc>
              <a:spcBef>
                <a:spcPts val="50"/>
              </a:spcBef>
              <a:buFont typeface="Symbol"/>
              <a:buChar char=""/>
            </a:pPr>
            <a:endParaRPr sz="1050">
              <a:latin typeface="Arial"/>
              <a:cs typeface="Arial"/>
            </a:endParaRPr>
          </a:p>
          <a:p>
            <a:pPr algn="just" marL="12700" marR="5080">
              <a:lnSpc>
                <a:spcPct val="95900"/>
              </a:lnSpc>
            </a:pPr>
            <a:r>
              <a:rPr dirty="0" sz="1100" spc="-5">
                <a:latin typeface="Arial"/>
                <a:cs typeface="Arial"/>
              </a:rPr>
              <a:t>Perhaps the least understood aspect of population growth is its tendency to continue even after  birth rates have declined substantially. Population growth </a:t>
            </a:r>
            <a:r>
              <a:rPr dirty="0" sz="1100">
                <a:latin typeface="Arial"/>
                <a:cs typeface="Arial"/>
              </a:rPr>
              <a:t>has </a:t>
            </a:r>
            <a:r>
              <a:rPr dirty="0" sz="1100" spc="-5">
                <a:latin typeface="Arial"/>
                <a:cs typeface="Arial"/>
              </a:rPr>
              <a:t>a built-in tendency to continue, a  powerful momentum </a:t>
            </a:r>
            <a:r>
              <a:rPr dirty="0" sz="1100">
                <a:latin typeface="Arial"/>
                <a:cs typeface="Arial"/>
              </a:rPr>
              <a:t>that, </a:t>
            </a:r>
            <a:r>
              <a:rPr dirty="0" sz="1100" spc="-5">
                <a:latin typeface="Arial"/>
                <a:cs typeface="Arial"/>
              </a:rPr>
              <a:t>like a speeding automobile when the brakes are applied, tends to  keep going for sometime before coming to a stop. In the case of population growth, this  momentum can persist for decades after birth rates drop. There are two basic reasons for this.  First, high birth rates cannot be altered substantially overnight. The second and less obvious  reason for the hidden momentum of population growth relates to the age structure of </a:t>
            </a:r>
            <a:r>
              <a:rPr dirty="0" sz="1100">
                <a:latin typeface="Arial"/>
                <a:cs typeface="Arial"/>
              </a:rPr>
              <a:t>many  </a:t>
            </a:r>
            <a:r>
              <a:rPr dirty="0" sz="1100" spc="-5">
                <a:latin typeface="Arial"/>
                <a:cs typeface="Arial"/>
              </a:rPr>
              <a:t>developing countries’ populations. Figure 6.4 illustrates the great difference between age  structures in less developed and more developed countries by means of two population  pyramids for</a:t>
            </a:r>
            <a:r>
              <a:rPr dirty="0" sz="1100">
                <a:latin typeface="Arial"/>
                <a:cs typeface="Arial"/>
              </a:rPr>
              <a:t> </a:t>
            </a:r>
            <a:r>
              <a:rPr dirty="0" sz="1100" spc="-5">
                <a:latin typeface="Arial"/>
                <a:cs typeface="Arial"/>
              </a:rPr>
              <a:t>2010.</a:t>
            </a:r>
            <a:endParaRPr sz="1100">
              <a:latin typeface="Arial"/>
              <a:cs typeface="Arial"/>
            </a:endParaRPr>
          </a:p>
          <a:p>
            <a:pPr>
              <a:lnSpc>
                <a:spcPct val="100000"/>
              </a:lnSpc>
              <a:spcBef>
                <a:spcPts val="55"/>
              </a:spcBef>
            </a:pPr>
            <a:endParaRPr sz="1050">
              <a:latin typeface="Arial"/>
              <a:cs typeface="Arial"/>
            </a:endParaRPr>
          </a:p>
          <a:p>
            <a:pPr algn="just" marL="469265" marR="5715" indent="-228600">
              <a:lnSpc>
                <a:spcPct val="95900"/>
              </a:lnSpc>
              <a:buSzPct val="91666"/>
              <a:buFont typeface="Symbol"/>
              <a:buChar char=""/>
              <a:tabLst>
                <a:tab pos="469900" algn="l"/>
              </a:tabLst>
            </a:pPr>
            <a:r>
              <a:rPr dirty="0" sz="1200" b="1">
                <a:latin typeface="Arial"/>
                <a:cs typeface="Arial"/>
              </a:rPr>
              <a:t>Population </a:t>
            </a:r>
            <a:r>
              <a:rPr dirty="0" sz="1200" spc="-5" b="1">
                <a:latin typeface="Arial"/>
                <a:cs typeface="Arial"/>
              </a:rPr>
              <a:t>pyramid: </a:t>
            </a:r>
            <a:r>
              <a:rPr dirty="0" sz="1100" spc="-5">
                <a:latin typeface="Arial"/>
                <a:cs typeface="Arial"/>
              </a:rPr>
              <a:t>A graphic depiction of the structure of the population, with age  cohorts plotted on the vertical axis and either population shares or numbers of males  and females in each cohort on the horizontal</a:t>
            </a:r>
            <a:r>
              <a:rPr dirty="0" sz="1100" spc="40">
                <a:latin typeface="Arial"/>
                <a:cs typeface="Arial"/>
              </a:rPr>
              <a:t> </a:t>
            </a:r>
            <a:r>
              <a:rPr dirty="0" sz="1100" spc="-5">
                <a:latin typeface="Arial"/>
                <a:cs typeface="Arial"/>
              </a:rPr>
              <a:t>axis.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75</a:t>
            </a:r>
            <a:endParaRPr sz="1100">
              <a:latin typeface="Carlito"/>
              <a:cs typeface="Carlito"/>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9" y="5405123"/>
            <a:ext cx="5970905" cy="374078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DEMOGRAPHIC</a:t>
            </a:r>
            <a:r>
              <a:rPr dirty="0" sz="1100" spc="5" b="1">
                <a:latin typeface="Arial"/>
                <a:cs typeface="Arial"/>
              </a:rPr>
              <a:t> </a:t>
            </a:r>
            <a:r>
              <a:rPr dirty="0" sz="1100" spc="-5" b="1">
                <a:latin typeface="Arial"/>
                <a:cs typeface="Arial"/>
              </a:rPr>
              <a:t>TRANSITION</a:t>
            </a:r>
            <a:endParaRPr sz="1100">
              <a:latin typeface="Arial"/>
              <a:cs typeface="Arial"/>
            </a:endParaRPr>
          </a:p>
          <a:p>
            <a:pPr>
              <a:lnSpc>
                <a:spcPct val="100000"/>
              </a:lnSpc>
              <a:spcBef>
                <a:spcPts val="50"/>
              </a:spcBef>
            </a:pPr>
            <a:endParaRPr sz="1050">
              <a:latin typeface="Arial"/>
              <a:cs typeface="Arial"/>
            </a:endParaRPr>
          </a:p>
          <a:p>
            <a:pPr algn="just" marL="469900" marR="5080" indent="-229235">
              <a:lnSpc>
                <a:spcPct val="95900"/>
              </a:lnSpc>
              <a:buSzPct val="91666"/>
              <a:buFont typeface="Symbol"/>
              <a:buChar char=""/>
              <a:tabLst>
                <a:tab pos="469900" algn="l"/>
              </a:tabLst>
            </a:pPr>
            <a:r>
              <a:rPr dirty="0" sz="1200" spc="-5" b="1">
                <a:latin typeface="Arial"/>
                <a:cs typeface="Arial"/>
              </a:rPr>
              <a:t>Demographic transition</a:t>
            </a:r>
            <a:r>
              <a:rPr dirty="0" sz="1100" spc="-5">
                <a:latin typeface="Arial"/>
                <a:cs typeface="Arial"/>
              </a:rPr>
              <a:t>: The phasing-out process of population growth rates from a  virtually stagnant growth stage characterized by high birth rates and death rates through  a rapid-growth stage with high birth rates and low death rates to a stable, low growth  stage in which both birth and death rates are</a:t>
            </a:r>
            <a:r>
              <a:rPr dirty="0" sz="1100" spc="40">
                <a:latin typeface="Arial"/>
                <a:cs typeface="Arial"/>
              </a:rPr>
              <a:t> </a:t>
            </a:r>
            <a:r>
              <a:rPr dirty="0" sz="1100" spc="-5">
                <a:latin typeface="Arial"/>
                <a:cs typeface="Arial"/>
              </a:rPr>
              <a:t>low.</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demographic transition attempts to explain why all contemporary developed nations have  more or less passed through the same three stages of modern population history. Before their  economic modernization, these countries for centuries had stable or very slow-growing  populations as a result of a combination of high birth rates and almost equally high death rates.  This was stage 1. Stage 2 began when modernization, associated with better public health  methods, healthier diets, higher incomes, and other improvements, led to a marked reduction in  mortality that gradually raised life expectancy from under40 years to over 60 years. However,  the decline in death rates was not immediately accompanied by a decline in fertility. As a result,  the growing divergence between high birth rates and falling death rates led to sharp increases in  population growth compared to past</a:t>
            </a:r>
            <a:r>
              <a:rPr dirty="0" sz="1100" spc="15">
                <a:latin typeface="Arial"/>
                <a:cs typeface="Arial"/>
              </a:rPr>
              <a:t> </a:t>
            </a:r>
            <a:r>
              <a:rPr dirty="0" sz="1100" spc="-5">
                <a:latin typeface="Arial"/>
                <a:cs typeface="Arial"/>
              </a:rPr>
              <a:t>centuries.</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Stage 2 thus marks the beginning of the demographic transition (the transition from stable or  slow-growing populations first to rapidly increasing numbers </a:t>
            </a:r>
            <a:r>
              <a:rPr dirty="0" sz="1100">
                <a:latin typeface="Arial"/>
                <a:cs typeface="Arial"/>
              </a:rPr>
              <a:t>and </a:t>
            </a:r>
            <a:r>
              <a:rPr dirty="0" sz="1100" spc="-5">
                <a:latin typeface="Arial"/>
                <a:cs typeface="Arial"/>
              </a:rPr>
              <a:t>then to declining rates). Finally,  stage 3was entered when the forces and influences of modernization and development caused  the beginning of a decline in fertility; eventually, falling birth rates converged with lower death  rates, leaving little or no population</a:t>
            </a:r>
            <a:r>
              <a:rPr dirty="0" sz="1100" spc="20">
                <a:latin typeface="Arial"/>
                <a:cs typeface="Arial"/>
              </a:rPr>
              <a:t> </a:t>
            </a:r>
            <a:r>
              <a:rPr dirty="0" sz="1100" spc="-5">
                <a:latin typeface="Arial"/>
                <a:cs typeface="Arial"/>
              </a:rPr>
              <a:t>growth.</a:t>
            </a:r>
            <a:endParaRPr sz="1100">
              <a:latin typeface="Arial"/>
              <a:cs typeface="Arial"/>
            </a:endParaRPr>
          </a:p>
        </p:txBody>
      </p:sp>
      <p:sp>
        <p:nvSpPr>
          <p:cNvPr id="7" name="object 7"/>
          <p:cNvSpPr/>
          <p:nvPr/>
        </p:nvSpPr>
        <p:spPr>
          <a:xfrm>
            <a:off x="914400" y="971550"/>
            <a:ext cx="5943600" cy="4120663"/>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76</a:t>
            </a:r>
            <a:endParaRPr sz="1100">
              <a:latin typeface="Carlito"/>
              <a:cs typeface="Carlito"/>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710174"/>
            <a:ext cx="5968365" cy="513715"/>
          </a:xfrm>
          <a:prstGeom prst="rect">
            <a:avLst/>
          </a:prstGeom>
        </p:spPr>
        <p:txBody>
          <a:bodyPr wrap="square" lIns="0" tIns="19685" rIns="0" bIns="0" rtlCol="0" vert="horz">
            <a:spAutoFit/>
          </a:bodyPr>
          <a:lstStyle/>
          <a:p>
            <a:pPr marL="12700" marR="5080">
              <a:lnSpc>
                <a:spcPct val="95700"/>
              </a:lnSpc>
              <a:spcBef>
                <a:spcPts val="155"/>
              </a:spcBef>
            </a:pPr>
            <a:r>
              <a:rPr dirty="0" sz="1100" spc="-5">
                <a:latin typeface="Arial"/>
                <a:cs typeface="Arial"/>
              </a:rPr>
              <a:t>Figure 6.5 depicts the three historical stages of the demographic transition in Western Europe.  Figure 6.6 shows the population histories of contemporary developing countries, which contrast  with those of Western Europe and fall into two</a:t>
            </a:r>
            <a:r>
              <a:rPr dirty="0" sz="1100" spc="45">
                <a:latin typeface="Arial"/>
                <a:cs typeface="Arial"/>
              </a:rPr>
              <a:t> </a:t>
            </a:r>
            <a:r>
              <a:rPr dirty="0" sz="1100" spc="-5">
                <a:latin typeface="Arial"/>
                <a:cs typeface="Arial"/>
              </a:rPr>
              <a:t>patterns.</a:t>
            </a:r>
            <a:endParaRPr sz="1100">
              <a:latin typeface="Arial"/>
              <a:cs typeface="Arial"/>
            </a:endParaRPr>
          </a:p>
        </p:txBody>
      </p:sp>
      <p:sp>
        <p:nvSpPr>
          <p:cNvPr id="7" name="object 7"/>
          <p:cNvSpPr/>
          <p:nvPr/>
        </p:nvSpPr>
        <p:spPr>
          <a:xfrm>
            <a:off x="912113" y="1075182"/>
            <a:ext cx="5948172" cy="3657599"/>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957072" y="5279135"/>
            <a:ext cx="5786628" cy="3162300"/>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77</a:t>
            </a:r>
            <a:endParaRPr sz="1100">
              <a:latin typeface="Carlito"/>
              <a:cs typeface="Carlito"/>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61886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11</a:t>
            </a:r>
            <a:endParaRPr sz="1100">
              <a:latin typeface="Arial"/>
              <a:cs typeface="Arial"/>
            </a:endParaRPr>
          </a:p>
          <a:p>
            <a:pPr>
              <a:lnSpc>
                <a:spcPct val="100000"/>
              </a:lnSpc>
              <a:spcBef>
                <a:spcPts val="45"/>
              </a:spcBef>
            </a:pPr>
            <a:endParaRPr sz="1100">
              <a:latin typeface="Arial"/>
              <a:cs typeface="Arial"/>
            </a:endParaRPr>
          </a:p>
          <a:p>
            <a:pPr marL="1687830" marR="89535" indent="-1591310">
              <a:lnSpc>
                <a:spcPts val="1260"/>
              </a:lnSpc>
            </a:pPr>
            <a:r>
              <a:rPr dirty="0" sz="1100" spc="-5" b="1">
                <a:latin typeface="Arial"/>
                <a:cs typeface="Arial"/>
              </a:rPr>
              <a:t>POPULATION GROWTH AND ECONOMIC DEVELOPMENT: CAUSES, CONSEQUENCES  AND CONTROVERSIES</a:t>
            </a:r>
            <a:r>
              <a:rPr dirty="0" sz="1100" spc="5" b="1">
                <a:latin typeface="Arial"/>
                <a:cs typeface="Arial"/>
              </a:rPr>
              <a:t> </a:t>
            </a:r>
            <a:r>
              <a:rPr dirty="0" sz="1100" spc="-10" b="1">
                <a:latin typeface="Arial"/>
                <a:cs typeface="Arial"/>
              </a:rPr>
              <a:t>(CONTINUED1)</a:t>
            </a:r>
            <a:endParaRPr sz="1100">
              <a:latin typeface="Arial"/>
              <a:cs typeface="Arial"/>
            </a:endParaRPr>
          </a:p>
          <a:p>
            <a:pPr>
              <a:lnSpc>
                <a:spcPct val="100000"/>
              </a:lnSpc>
              <a:spcBef>
                <a:spcPts val="30"/>
              </a:spcBef>
            </a:pPr>
            <a:endParaRPr sz="1000">
              <a:latin typeface="Arial"/>
              <a:cs typeface="Arial"/>
            </a:endParaRPr>
          </a:p>
          <a:p>
            <a:pPr algn="just" marL="12700">
              <a:lnSpc>
                <a:spcPct val="100000"/>
              </a:lnSpc>
            </a:pPr>
            <a:r>
              <a:rPr dirty="0" sz="1100" spc="-5" b="1">
                <a:latin typeface="Arial"/>
                <a:cs typeface="Arial"/>
              </a:rPr>
              <a:t>THE DEMOGRAPHIC TRANSITION</a:t>
            </a:r>
            <a:r>
              <a:rPr dirty="0" sz="1100" spc="15" b="1">
                <a:latin typeface="Arial"/>
                <a:cs typeface="Arial"/>
              </a:rPr>
              <a:t> </a:t>
            </a:r>
            <a:r>
              <a:rPr dirty="0" sz="1100" spc="-5" b="1">
                <a:latin typeface="Arial"/>
                <a:cs typeface="Arial"/>
              </a:rPr>
              <a:t>MODEL</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phasing-out process of population growth rates from a virtually stagnant growth stage  characterized by high birth rates and death rates through a rapid-growth stage with high birth  rates and low death rates to a stable, low growth stage in which both birth and death rates are  low.</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STAGES OF DEMOGRAPHIC</a:t>
            </a:r>
            <a:r>
              <a:rPr dirty="0" sz="1100" spc="10" b="1">
                <a:latin typeface="Arial"/>
                <a:cs typeface="Arial"/>
              </a:rPr>
              <a:t> </a:t>
            </a:r>
            <a:r>
              <a:rPr dirty="0" sz="1100" spc="-5" b="1">
                <a:latin typeface="Arial"/>
                <a:cs typeface="Arial"/>
              </a:rPr>
              <a:t>TRANSITION</a:t>
            </a:r>
            <a:endParaRPr sz="1100">
              <a:latin typeface="Arial"/>
              <a:cs typeface="Arial"/>
            </a:endParaRPr>
          </a:p>
          <a:p>
            <a:pPr>
              <a:lnSpc>
                <a:spcPct val="100000"/>
              </a:lnSpc>
              <a:spcBef>
                <a:spcPts val="20"/>
              </a:spcBef>
            </a:pPr>
            <a:endParaRPr sz="1200">
              <a:latin typeface="Arial"/>
              <a:cs typeface="Arial"/>
            </a:endParaRPr>
          </a:p>
          <a:p>
            <a:pPr marL="469900" indent="-229235">
              <a:lnSpc>
                <a:spcPts val="1290"/>
              </a:lnSpc>
              <a:buFont typeface="Symbol"/>
              <a:buChar char=""/>
              <a:tabLst>
                <a:tab pos="469265" algn="l"/>
                <a:tab pos="469900" algn="l"/>
              </a:tabLst>
            </a:pPr>
            <a:r>
              <a:rPr dirty="0" sz="1100" spc="-5" b="1">
                <a:latin typeface="Arial"/>
                <a:cs typeface="Arial"/>
              </a:rPr>
              <a:t>Stage I: </a:t>
            </a:r>
            <a:r>
              <a:rPr dirty="0" sz="1100" spc="-5">
                <a:latin typeface="Arial"/>
                <a:cs typeface="Arial"/>
              </a:rPr>
              <a:t>High Stationary</a:t>
            </a:r>
            <a:r>
              <a:rPr dirty="0" sz="1100" spc="15">
                <a:latin typeface="Arial"/>
                <a:cs typeface="Arial"/>
              </a:rPr>
              <a:t> </a:t>
            </a:r>
            <a:r>
              <a:rPr dirty="0" sz="1100" spc="-5">
                <a:latin typeface="Arial"/>
                <a:cs typeface="Arial"/>
              </a:rPr>
              <a:t>Stage:</a:t>
            </a:r>
            <a:endParaRPr sz="1100">
              <a:latin typeface="Arial"/>
              <a:cs typeface="Arial"/>
            </a:endParaRPr>
          </a:p>
          <a:p>
            <a:pPr lvl="1" marL="927100" indent="-229235">
              <a:lnSpc>
                <a:spcPts val="1290"/>
              </a:lnSpc>
              <a:buFont typeface="Courier New"/>
              <a:buChar char="o"/>
              <a:tabLst>
                <a:tab pos="926465" algn="l"/>
                <a:tab pos="927735" algn="l"/>
              </a:tabLst>
            </a:pPr>
            <a:r>
              <a:rPr dirty="0" sz="1100" spc="-5">
                <a:latin typeface="Arial"/>
                <a:cs typeface="Arial"/>
              </a:rPr>
              <a:t>High birthrates and death</a:t>
            </a:r>
            <a:r>
              <a:rPr dirty="0" sz="1100" spc="15">
                <a:latin typeface="Arial"/>
                <a:cs typeface="Arial"/>
              </a:rPr>
              <a:t> </a:t>
            </a:r>
            <a:r>
              <a:rPr dirty="0" sz="1100" spc="-5">
                <a:latin typeface="Arial"/>
                <a:cs typeface="Arial"/>
              </a:rPr>
              <a:t>rates</a:t>
            </a:r>
            <a:endParaRPr sz="1100">
              <a:latin typeface="Arial"/>
              <a:cs typeface="Arial"/>
            </a:endParaRPr>
          </a:p>
          <a:p>
            <a:pPr marL="469900" indent="-229235">
              <a:lnSpc>
                <a:spcPts val="1290"/>
              </a:lnSpc>
              <a:spcBef>
                <a:spcPts val="25"/>
              </a:spcBef>
              <a:buFont typeface="Symbol"/>
              <a:buChar char=""/>
              <a:tabLst>
                <a:tab pos="469265" algn="l"/>
                <a:tab pos="469900" algn="l"/>
              </a:tabLst>
            </a:pPr>
            <a:r>
              <a:rPr dirty="0" sz="1100" spc="-5" b="1">
                <a:latin typeface="Arial"/>
                <a:cs typeface="Arial"/>
              </a:rPr>
              <a:t>Stage II: </a:t>
            </a:r>
            <a:r>
              <a:rPr dirty="0" sz="1100" spc="-5">
                <a:latin typeface="Arial"/>
                <a:cs typeface="Arial"/>
              </a:rPr>
              <a:t>Early Expanding</a:t>
            </a:r>
            <a:r>
              <a:rPr dirty="0" sz="1100" spc="15">
                <a:latin typeface="Arial"/>
                <a:cs typeface="Arial"/>
              </a:rPr>
              <a:t> </a:t>
            </a:r>
            <a:r>
              <a:rPr dirty="0" sz="1100" spc="-5">
                <a:latin typeface="Arial"/>
                <a:cs typeface="Arial"/>
              </a:rPr>
              <a:t>Stage:</a:t>
            </a:r>
            <a:endParaRPr sz="1100">
              <a:latin typeface="Arial"/>
              <a:cs typeface="Arial"/>
            </a:endParaRPr>
          </a:p>
          <a:p>
            <a:pPr lvl="1" marL="927100" indent="-229235">
              <a:lnSpc>
                <a:spcPts val="1290"/>
              </a:lnSpc>
              <a:buFont typeface="Courier New"/>
              <a:buChar char="o"/>
              <a:tabLst>
                <a:tab pos="926465" algn="l"/>
                <a:tab pos="927735" algn="l"/>
              </a:tabLst>
            </a:pPr>
            <a:r>
              <a:rPr dirty="0" sz="1100" spc="-5">
                <a:latin typeface="Arial"/>
                <a:cs typeface="Arial"/>
              </a:rPr>
              <a:t>Continued high birthrates, declining death</a:t>
            </a:r>
            <a:r>
              <a:rPr dirty="0" sz="1100" spc="20">
                <a:latin typeface="Arial"/>
                <a:cs typeface="Arial"/>
              </a:rPr>
              <a:t> </a:t>
            </a:r>
            <a:r>
              <a:rPr dirty="0" sz="1100" spc="-5">
                <a:latin typeface="Arial"/>
                <a:cs typeface="Arial"/>
              </a:rPr>
              <a:t>rates</a:t>
            </a:r>
            <a:endParaRPr sz="1100">
              <a:latin typeface="Arial"/>
              <a:cs typeface="Arial"/>
            </a:endParaRPr>
          </a:p>
          <a:p>
            <a:pPr marL="469900" indent="-228600">
              <a:lnSpc>
                <a:spcPts val="1290"/>
              </a:lnSpc>
              <a:spcBef>
                <a:spcPts val="20"/>
              </a:spcBef>
              <a:buFont typeface="Symbol"/>
              <a:buChar char=""/>
              <a:tabLst>
                <a:tab pos="469265" algn="l"/>
                <a:tab pos="469900" algn="l"/>
              </a:tabLst>
            </a:pPr>
            <a:r>
              <a:rPr dirty="0" sz="1100" spc="-5" b="1">
                <a:latin typeface="Arial"/>
                <a:cs typeface="Arial"/>
              </a:rPr>
              <a:t>Stage III: </a:t>
            </a:r>
            <a:r>
              <a:rPr dirty="0" sz="1100" spc="-5">
                <a:latin typeface="Arial"/>
                <a:cs typeface="Arial"/>
              </a:rPr>
              <a:t>Late Expanding</a:t>
            </a:r>
            <a:r>
              <a:rPr dirty="0" sz="1100" spc="15">
                <a:latin typeface="Arial"/>
                <a:cs typeface="Arial"/>
              </a:rPr>
              <a:t> </a:t>
            </a:r>
            <a:r>
              <a:rPr dirty="0" sz="1100" spc="-5">
                <a:latin typeface="Arial"/>
                <a:cs typeface="Arial"/>
              </a:rPr>
              <a:t>Stage</a:t>
            </a:r>
            <a:endParaRPr sz="1100">
              <a:latin typeface="Arial"/>
              <a:cs typeface="Arial"/>
            </a:endParaRPr>
          </a:p>
          <a:p>
            <a:pPr lvl="1" marL="927100" indent="-229235">
              <a:lnSpc>
                <a:spcPts val="1290"/>
              </a:lnSpc>
              <a:buFont typeface="Courier New"/>
              <a:buChar char="o"/>
              <a:tabLst>
                <a:tab pos="926465" algn="l"/>
                <a:tab pos="927735" algn="l"/>
              </a:tabLst>
            </a:pPr>
            <a:r>
              <a:rPr dirty="0" sz="1100" spc="-5">
                <a:latin typeface="Arial"/>
                <a:cs typeface="Arial"/>
              </a:rPr>
              <a:t>Falling birthrates and death</a:t>
            </a:r>
            <a:r>
              <a:rPr dirty="0" sz="1100" spc="15">
                <a:latin typeface="Arial"/>
                <a:cs typeface="Arial"/>
              </a:rPr>
              <a:t> </a:t>
            </a:r>
            <a:r>
              <a:rPr dirty="0" sz="1100" spc="-5">
                <a:latin typeface="Arial"/>
                <a:cs typeface="Arial"/>
              </a:rPr>
              <a:t>rates</a:t>
            </a:r>
            <a:endParaRPr sz="1100">
              <a:latin typeface="Arial"/>
              <a:cs typeface="Arial"/>
            </a:endParaRPr>
          </a:p>
          <a:p>
            <a:pPr marL="469900" indent="-228600">
              <a:lnSpc>
                <a:spcPts val="1290"/>
              </a:lnSpc>
              <a:spcBef>
                <a:spcPts val="25"/>
              </a:spcBef>
              <a:buFont typeface="Symbol"/>
              <a:buChar char=""/>
              <a:tabLst>
                <a:tab pos="469265" algn="l"/>
                <a:tab pos="469900" algn="l"/>
              </a:tabLst>
            </a:pPr>
            <a:r>
              <a:rPr dirty="0" sz="1100" spc="-5" b="1">
                <a:latin typeface="Arial"/>
                <a:cs typeface="Arial"/>
              </a:rPr>
              <a:t>Stage IV: </a:t>
            </a:r>
            <a:r>
              <a:rPr dirty="0" sz="1100" spc="-5">
                <a:latin typeface="Arial"/>
                <a:cs typeface="Arial"/>
              </a:rPr>
              <a:t>Low Stationary</a:t>
            </a:r>
            <a:r>
              <a:rPr dirty="0" sz="1100" spc="15">
                <a:latin typeface="Arial"/>
                <a:cs typeface="Arial"/>
              </a:rPr>
              <a:t> </a:t>
            </a:r>
            <a:r>
              <a:rPr dirty="0" sz="1100" spc="-5">
                <a:latin typeface="Arial"/>
                <a:cs typeface="Arial"/>
              </a:rPr>
              <a:t>Stage:</a:t>
            </a:r>
            <a:endParaRPr sz="1100">
              <a:latin typeface="Arial"/>
              <a:cs typeface="Arial"/>
            </a:endParaRPr>
          </a:p>
          <a:p>
            <a:pPr lvl="1" marL="927100" indent="-229235">
              <a:lnSpc>
                <a:spcPts val="1290"/>
              </a:lnSpc>
              <a:buFont typeface="Courier New"/>
              <a:buChar char="o"/>
              <a:tabLst>
                <a:tab pos="926465" algn="l"/>
                <a:tab pos="927735" algn="l"/>
              </a:tabLst>
            </a:pPr>
            <a:r>
              <a:rPr dirty="0" sz="1100" spc="-5">
                <a:latin typeface="Arial"/>
                <a:cs typeface="Arial"/>
              </a:rPr>
              <a:t>Low birth rates and Low death rates, eventually</a:t>
            </a:r>
            <a:r>
              <a:rPr dirty="0" sz="1100" spc="50">
                <a:latin typeface="Arial"/>
                <a:cs typeface="Arial"/>
              </a:rPr>
              <a:t> </a:t>
            </a:r>
            <a:r>
              <a:rPr dirty="0" sz="1100" spc="-5">
                <a:latin typeface="Arial"/>
                <a:cs typeface="Arial"/>
              </a:rPr>
              <a:t>stabilizing.</a:t>
            </a:r>
            <a:endParaRPr sz="1100">
              <a:latin typeface="Arial"/>
              <a:cs typeface="Arial"/>
            </a:endParaRPr>
          </a:p>
        </p:txBody>
      </p:sp>
      <p:sp>
        <p:nvSpPr>
          <p:cNvPr id="7" name="object 7"/>
          <p:cNvSpPr txBox="1"/>
          <p:nvPr/>
        </p:nvSpPr>
        <p:spPr>
          <a:xfrm>
            <a:off x="901706" y="7691070"/>
            <a:ext cx="58420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Figure 6.5 depicts the three historical stages of the demographic transition in Western</a:t>
            </a:r>
            <a:r>
              <a:rPr dirty="0" sz="1100" spc="250">
                <a:latin typeface="Arial"/>
                <a:cs typeface="Arial"/>
              </a:rPr>
              <a:t> </a:t>
            </a:r>
            <a:r>
              <a:rPr dirty="0" sz="1100" spc="-5">
                <a:latin typeface="Arial"/>
                <a:cs typeface="Arial"/>
              </a:rPr>
              <a:t>Europe.</a:t>
            </a:r>
            <a:endParaRPr sz="1100">
              <a:latin typeface="Arial"/>
              <a:cs typeface="Arial"/>
            </a:endParaRPr>
          </a:p>
        </p:txBody>
      </p:sp>
      <p:sp>
        <p:nvSpPr>
          <p:cNvPr id="8" name="object 8"/>
          <p:cNvSpPr/>
          <p:nvPr/>
        </p:nvSpPr>
        <p:spPr>
          <a:xfrm>
            <a:off x="1390650" y="4705350"/>
            <a:ext cx="5105400" cy="297180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78</a:t>
            </a:r>
            <a:endParaRPr sz="1100">
              <a:latin typeface="Carlito"/>
              <a:cs typeface="Carlito"/>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4606544"/>
            <a:ext cx="5969635" cy="4119879"/>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Figure 6.6 shows the population histories of contemporary developing countries, which contrast  with those of Western Europe and fall into two</a:t>
            </a:r>
            <a:r>
              <a:rPr dirty="0" sz="1100" spc="45">
                <a:latin typeface="Arial"/>
                <a:cs typeface="Arial"/>
              </a:rPr>
              <a:t> </a:t>
            </a:r>
            <a:r>
              <a:rPr dirty="0" sz="1100" spc="-5">
                <a:latin typeface="Arial"/>
                <a:cs typeface="Arial"/>
              </a:rPr>
              <a:t>patterns</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CRITICISM OF THE DEMOGRAPHIC TRANSITION</a:t>
            </a:r>
            <a:r>
              <a:rPr dirty="0" sz="1100" spc="20" b="1">
                <a:latin typeface="Arial"/>
                <a:cs typeface="Arial"/>
              </a:rPr>
              <a:t> </a:t>
            </a:r>
            <a:r>
              <a:rPr dirty="0" sz="1100" spc="-5" b="1">
                <a:latin typeface="Arial"/>
                <a:cs typeface="Arial"/>
              </a:rPr>
              <a:t>MODEL</a:t>
            </a:r>
            <a:endParaRPr sz="1100">
              <a:latin typeface="Arial"/>
              <a:cs typeface="Arial"/>
            </a:endParaRPr>
          </a:p>
          <a:p>
            <a:pPr>
              <a:lnSpc>
                <a:spcPct val="100000"/>
              </a:lnSpc>
              <a:spcBef>
                <a:spcPts val="20"/>
              </a:spcBef>
            </a:pPr>
            <a:endParaRPr sz="11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Over-generalization of the industrialized European</a:t>
            </a:r>
            <a:r>
              <a:rPr dirty="0" sz="1100" spc="30">
                <a:latin typeface="Arial"/>
                <a:cs typeface="Arial"/>
              </a:rPr>
              <a:t> </a:t>
            </a:r>
            <a:r>
              <a:rPr dirty="0" sz="1100" spc="-5">
                <a:latin typeface="Arial"/>
                <a:cs typeface="Arial"/>
              </a:rPr>
              <a:t>experience.</a:t>
            </a:r>
            <a:endParaRPr sz="1100">
              <a:latin typeface="Arial"/>
              <a:cs typeface="Arial"/>
            </a:endParaRPr>
          </a:p>
          <a:p>
            <a:pPr algn="just" marL="469900" indent="-229235">
              <a:lnSpc>
                <a:spcPct val="100000"/>
              </a:lnSpc>
              <a:spcBef>
                <a:spcPts val="15"/>
              </a:spcBef>
              <a:buFont typeface="Symbol"/>
              <a:buChar char=""/>
              <a:tabLst>
                <a:tab pos="470534" algn="l"/>
              </a:tabLst>
            </a:pPr>
            <a:r>
              <a:rPr dirty="0" sz="1100" spc="-5">
                <a:latin typeface="Arial"/>
                <a:cs typeface="Arial"/>
              </a:rPr>
              <a:t>Too rigid in assuming all countries proceed from stage</a:t>
            </a:r>
            <a:r>
              <a:rPr dirty="0" sz="1100" spc="45">
                <a:latin typeface="Arial"/>
                <a:cs typeface="Arial"/>
              </a:rPr>
              <a:t> </a:t>
            </a:r>
            <a:r>
              <a:rPr dirty="0" sz="1100" spc="-5">
                <a:latin typeface="Arial"/>
                <a:cs typeface="Arial"/>
              </a:rPr>
              <a:t>1-4.</a:t>
            </a:r>
            <a:endParaRPr sz="1100">
              <a:latin typeface="Arial"/>
              <a:cs typeface="Arial"/>
            </a:endParaRPr>
          </a:p>
          <a:p>
            <a:pPr algn="just" marL="469900" marR="6350" indent="-228600">
              <a:lnSpc>
                <a:spcPts val="1270"/>
              </a:lnSpc>
              <a:spcBef>
                <a:spcPts val="105"/>
              </a:spcBef>
              <a:buFont typeface="Symbol"/>
              <a:buChar char=""/>
              <a:tabLst>
                <a:tab pos="470534" algn="l"/>
              </a:tabLst>
            </a:pPr>
            <a:r>
              <a:rPr dirty="0" sz="1100" spc="-5">
                <a:latin typeface="Arial"/>
                <a:cs typeface="Arial"/>
              </a:rPr>
              <a:t>It takes into account only birth and mortality rates and ignores variables and exceptions  like War,</a:t>
            </a:r>
            <a:r>
              <a:rPr dirty="0" sz="1100">
                <a:latin typeface="Arial"/>
                <a:cs typeface="Arial"/>
              </a:rPr>
              <a:t> </a:t>
            </a:r>
            <a:r>
              <a:rPr dirty="0" sz="1100" spc="-5">
                <a:latin typeface="Arial"/>
                <a:cs typeface="Arial"/>
              </a:rPr>
              <a:t>Famines).</a:t>
            </a:r>
            <a:endParaRPr sz="1100">
              <a:latin typeface="Arial"/>
              <a:cs typeface="Arial"/>
            </a:endParaRPr>
          </a:p>
          <a:p>
            <a:pPr algn="just" marL="469900" marR="5080" indent="-228600">
              <a:lnSpc>
                <a:spcPct val="95700"/>
              </a:lnSpc>
              <a:spcBef>
                <a:spcPts val="35"/>
              </a:spcBef>
              <a:buFont typeface="Symbol"/>
              <a:buChar char=""/>
              <a:tabLst>
                <a:tab pos="470534" algn="l"/>
              </a:tabLst>
            </a:pPr>
            <a:r>
              <a:rPr dirty="0" sz="1100" spc="-5">
                <a:latin typeface="Arial"/>
                <a:cs typeface="Arial"/>
              </a:rPr>
              <a:t>The model assumes that reductions in fertility are a function of increased wealth and  industrialization– other factors such as the status of women and other social  development are</a:t>
            </a:r>
            <a:r>
              <a:rPr dirty="0" sz="1100">
                <a:latin typeface="Arial"/>
                <a:cs typeface="Arial"/>
              </a:rPr>
              <a:t> </a:t>
            </a:r>
            <a:r>
              <a:rPr dirty="0" sz="1100" spc="-5">
                <a:latin typeface="Arial"/>
                <a:cs typeface="Arial"/>
              </a:rPr>
              <a:t>ignored.</a:t>
            </a:r>
            <a:endParaRPr sz="1100">
              <a:latin typeface="Arial"/>
              <a:cs typeface="Arial"/>
            </a:endParaRPr>
          </a:p>
          <a:p>
            <a:pPr>
              <a:lnSpc>
                <a:spcPct val="100000"/>
              </a:lnSpc>
              <a:spcBef>
                <a:spcPts val="10"/>
              </a:spcBef>
              <a:buFont typeface="Symbol"/>
              <a:buChar char=""/>
            </a:pPr>
            <a:endParaRPr sz="1050">
              <a:latin typeface="Arial"/>
              <a:cs typeface="Arial"/>
            </a:endParaRPr>
          </a:p>
          <a:p>
            <a:pPr marL="12700">
              <a:lnSpc>
                <a:spcPct val="100000"/>
              </a:lnSpc>
            </a:pPr>
            <a:r>
              <a:rPr dirty="0" sz="1100" spc="-5" b="1">
                <a:latin typeface="Arial"/>
                <a:cs typeface="Arial"/>
              </a:rPr>
              <a:t>THE MALTHUSIAN</a:t>
            </a:r>
            <a:r>
              <a:rPr dirty="0" sz="1100" b="1">
                <a:latin typeface="Arial"/>
                <a:cs typeface="Arial"/>
              </a:rPr>
              <a:t> </a:t>
            </a:r>
            <a:r>
              <a:rPr dirty="0" sz="1100" spc="-5" b="1">
                <a:latin typeface="Arial"/>
                <a:cs typeface="Arial"/>
              </a:rPr>
              <a:t>MODEL</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THE </a:t>
            </a:r>
            <a:r>
              <a:rPr dirty="0" sz="1100" b="1">
                <a:latin typeface="Arial"/>
                <a:cs typeface="Arial"/>
              </a:rPr>
              <a:t>CAUSES </a:t>
            </a:r>
            <a:r>
              <a:rPr dirty="0" sz="1100" spc="-5" b="1">
                <a:latin typeface="Arial"/>
                <a:cs typeface="Arial"/>
              </a:rPr>
              <a:t>OF </a:t>
            </a:r>
            <a:r>
              <a:rPr dirty="0" sz="1100" b="1">
                <a:latin typeface="Arial"/>
                <a:cs typeface="Arial"/>
              </a:rPr>
              <a:t>HIGH </a:t>
            </a:r>
            <a:r>
              <a:rPr dirty="0" sz="1100" spc="-5" b="1">
                <a:latin typeface="Arial"/>
                <a:cs typeface="Arial"/>
              </a:rPr>
              <a:t>FERTILITY IN DEVELOPING</a:t>
            </a:r>
            <a:r>
              <a:rPr dirty="0" sz="1100" spc="20"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15"/>
              </a:spcBef>
            </a:pPr>
            <a:endParaRPr sz="11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The Malthusian</a:t>
            </a:r>
            <a:r>
              <a:rPr dirty="0" sz="1100" spc="-25">
                <a:latin typeface="Arial"/>
                <a:cs typeface="Arial"/>
              </a:rPr>
              <a:t> </a:t>
            </a:r>
            <a:r>
              <a:rPr dirty="0" sz="1100" spc="-5">
                <a:latin typeface="Arial"/>
                <a:cs typeface="Arial"/>
              </a:rPr>
              <a:t>Model</a:t>
            </a:r>
            <a:endParaRPr sz="1100">
              <a:latin typeface="Arial"/>
              <a:cs typeface="Arial"/>
            </a:endParaRPr>
          </a:p>
          <a:p>
            <a:pPr algn="just" marL="469900" indent="-229235">
              <a:lnSpc>
                <a:spcPct val="100000"/>
              </a:lnSpc>
              <a:spcBef>
                <a:spcPts val="15"/>
              </a:spcBef>
              <a:buFont typeface="Symbol"/>
              <a:buChar char=""/>
              <a:tabLst>
                <a:tab pos="470534" algn="l"/>
              </a:tabLst>
            </a:pPr>
            <a:r>
              <a:rPr dirty="0" sz="1100" spc="-5">
                <a:latin typeface="Arial"/>
                <a:cs typeface="Arial"/>
              </a:rPr>
              <a:t>The Household</a:t>
            </a:r>
            <a:r>
              <a:rPr dirty="0" sz="1100" spc="-30">
                <a:latin typeface="Arial"/>
                <a:cs typeface="Arial"/>
              </a:rPr>
              <a:t> </a:t>
            </a:r>
            <a:r>
              <a:rPr dirty="0" sz="1100" spc="-5">
                <a:latin typeface="Arial"/>
                <a:cs typeface="Arial"/>
              </a:rPr>
              <a:t>Model</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THE MALTHUSIAN POPULATION</a:t>
            </a:r>
            <a:r>
              <a:rPr dirty="0" sz="1100" spc="15" b="1">
                <a:latin typeface="Arial"/>
                <a:cs typeface="Arial"/>
              </a:rPr>
              <a:t> </a:t>
            </a:r>
            <a:r>
              <a:rPr dirty="0" sz="1100" spc="-5" b="1">
                <a:latin typeface="Arial"/>
                <a:cs typeface="Arial"/>
              </a:rPr>
              <a:t>TRAP</a:t>
            </a:r>
            <a:endParaRPr sz="1100">
              <a:latin typeface="Arial"/>
              <a:cs typeface="Arial"/>
            </a:endParaRPr>
          </a:p>
          <a:p>
            <a:pPr>
              <a:lnSpc>
                <a:spcPct val="100000"/>
              </a:lnSpc>
              <a:spcBef>
                <a:spcPts val="25"/>
              </a:spcBef>
            </a:pPr>
            <a:endParaRPr sz="1200">
              <a:latin typeface="Arial"/>
              <a:cs typeface="Arial"/>
            </a:endParaRPr>
          </a:p>
          <a:p>
            <a:pPr algn="just" marL="12700" marR="6985">
              <a:lnSpc>
                <a:spcPts val="1270"/>
              </a:lnSpc>
            </a:pPr>
            <a:r>
              <a:rPr dirty="0" sz="1100" spc="-5">
                <a:latin typeface="Arial"/>
                <a:cs typeface="Arial"/>
              </a:rPr>
              <a:t>The threshold population level anticipated by Thomas Malthus (1766–1834) at which population  increase was bound to stop because life sustaining resources, which increase at an arithmetic  rate, would be insufficient to support human population, which increases at a geometric</a:t>
            </a:r>
            <a:r>
              <a:rPr dirty="0" sz="1100" spc="190">
                <a:latin typeface="Arial"/>
                <a:cs typeface="Arial"/>
              </a:rPr>
              <a:t> </a:t>
            </a:r>
            <a:r>
              <a:rPr dirty="0" sz="1100" spc="-5">
                <a:latin typeface="Arial"/>
                <a:cs typeface="Arial"/>
              </a:rPr>
              <a:t>rate.</a:t>
            </a:r>
            <a:endParaRPr sz="1100">
              <a:latin typeface="Arial"/>
              <a:cs typeface="Arial"/>
            </a:endParaRPr>
          </a:p>
        </p:txBody>
      </p:sp>
      <p:sp>
        <p:nvSpPr>
          <p:cNvPr id="7" name="object 7"/>
          <p:cNvSpPr/>
          <p:nvPr/>
        </p:nvSpPr>
        <p:spPr>
          <a:xfrm>
            <a:off x="838200" y="971550"/>
            <a:ext cx="5772150" cy="365760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79</a:t>
            </a:r>
            <a:endParaRPr sz="1100">
              <a:latin typeface="Carlito"/>
              <a:cs typeface="Carlito"/>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892556"/>
            <a:ext cx="5969635" cy="376364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MALTHUSIAN POPULATION TRAP</a:t>
            </a:r>
            <a:r>
              <a:rPr dirty="0" sz="1100" spc="20" b="1">
                <a:latin typeface="Arial"/>
                <a:cs typeface="Arial"/>
              </a:rPr>
              <a:t> </a:t>
            </a:r>
            <a:r>
              <a:rPr dirty="0" sz="1100" spc="-5" b="1">
                <a:latin typeface="Arial"/>
                <a:cs typeface="Arial"/>
              </a:rPr>
              <a:t>THEORY</a:t>
            </a:r>
            <a:endParaRPr sz="1100">
              <a:latin typeface="Arial"/>
              <a:cs typeface="Arial"/>
            </a:endParaRPr>
          </a:p>
          <a:p>
            <a:pPr>
              <a:lnSpc>
                <a:spcPct val="100000"/>
              </a:lnSpc>
              <a:spcBef>
                <a:spcPts val="35"/>
              </a:spcBef>
            </a:pPr>
            <a:endParaRPr sz="1100">
              <a:latin typeface="Arial"/>
              <a:cs typeface="Arial"/>
            </a:endParaRPr>
          </a:p>
          <a:p>
            <a:pPr algn="just" marL="12700" marR="5715">
              <a:lnSpc>
                <a:spcPts val="1260"/>
              </a:lnSpc>
            </a:pPr>
            <a:r>
              <a:rPr dirty="0" sz="1100" spc="-5">
                <a:latin typeface="Arial"/>
                <a:cs typeface="Arial"/>
              </a:rPr>
              <a:t>In 1798 Thomas Malthus published his views on the effect of population on food supply. His  theory has two basic</a:t>
            </a:r>
            <a:r>
              <a:rPr dirty="0" sz="1100" spc="15">
                <a:latin typeface="Arial"/>
                <a:cs typeface="Arial"/>
              </a:rPr>
              <a:t> </a:t>
            </a:r>
            <a:r>
              <a:rPr dirty="0" sz="1100" spc="-5">
                <a:latin typeface="Arial"/>
                <a:cs typeface="Arial"/>
              </a:rPr>
              <a:t>principles:</a:t>
            </a:r>
            <a:endParaRPr sz="1100">
              <a:latin typeface="Arial"/>
              <a:cs typeface="Arial"/>
            </a:endParaRPr>
          </a:p>
          <a:p>
            <a:pPr>
              <a:lnSpc>
                <a:spcPct val="100000"/>
              </a:lnSpc>
              <a:spcBef>
                <a:spcPts val="50"/>
              </a:spcBef>
            </a:pPr>
            <a:endParaRPr sz="105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Population grows at a geometric rate i.e. 1, 2, 4, 16, 32,</a:t>
            </a:r>
            <a:r>
              <a:rPr dirty="0" sz="1100" spc="75">
                <a:latin typeface="Arial"/>
                <a:cs typeface="Arial"/>
              </a:rPr>
              <a:t> </a:t>
            </a:r>
            <a:r>
              <a:rPr dirty="0" sz="1100" spc="-5">
                <a:latin typeface="Arial"/>
                <a:cs typeface="Arial"/>
              </a:rPr>
              <a:t>etc.</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Food production increases at an arithmetic rate i.e. 1, 2, 3, 4,</a:t>
            </a:r>
            <a:r>
              <a:rPr dirty="0" sz="1100" spc="80">
                <a:latin typeface="Arial"/>
                <a:cs typeface="Arial"/>
              </a:rPr>
              <a:t> </a:t>
            </a:r>
            <a:r>
              <a:rPr dirty="0" sz="1100" spc="-5">
                <a:latin typeface="Arial"/>
                <a:cs typeface="Arial"/>
              </a:rPr>
              <a:t>etc.</a:t>
            </a:r>
            <a:endParaRPr sz="1100">
              <a:latin typeface="Arial"/>
              <a:cs typeface="Arial"/>
            </a:endParaRPr>
          </a:p>
          <a:p>
            <a:pPr>
              <a:lnSpc>
                <a:spcPct val="100000"/>
              </a:lnSpc>
              <a:spcBef>
                <a:spcPts val="20"/>
              </a:spcBef>
              <a:buFont typeface="Symbol"/>
              <a:buChar char=""/>
            </a:pPr>
            <a:endParaRPr sz="1100">
              <a:latin typeface="Arial"/>
              <a:cs typeface="Arial"/>
            </a:endParaRPr>
          </a:p>
          <a:p>
            <a:pPr algn="just" marL="12700" marR="5080">
              <a:lnSpc>
                <a:spcPts val="1270"/>
              </a:lnSpc>
              <a:spcBef>
                <a:spcPts val="5"/>
              </a:spcBef>
            </a:pPr>
            <a:r>
              <a:rPr dirty="0" sz="1100" spc="-5">
                <a:latin typeface="Arial"/>
                <a:cs typeface="Arial"/>
              </a:rPr>
              <a:t>The consequence of these two principles is that eventually, population will exceed the capacity  of agriculture to support the new population numbers. Population would rise until a limit to  growth was reached. Further growth would be limited</a:t>
            </a:r>
            <a:r>
              <a:rPr dirty="0" sz="1100" spc="45">
                <a:latin typeface="Arial"/>
                <a:cs typeface="Arial"/>
              </a:rPr>
              <a:t> </a:t>
            </a:r>
            <a:r>
              <a:rPr dirty="0" sz="1100" spc="-5">
                <a:latin typeface="Arial"/>
                <a:cs typeface="Arial"/>
              </a:rPr>
              <a:t>when:</a:t>
            </a:r>
            <a:endParaRPr sz="1100">
              <a:latin typeface="Arial"/>
              <a:cs typeface="Arial"/>
            </a:endParaRPr>
          </a:p>
          <a:p>
            <a:pPr>
              <a:lnSpc>
                <a:spcPct val="100000"/>
              </a:lnSpc>
            </a:pPr>
            <a:endParaRPr sz="1150">
              <a:latin typeface="Arial"/>
              <a:cs typeface="Arial"/>
            </a:endParaRPr>
          </a:p>
          <a:p>
            <a:pPr marL="469900" marR="5715" indent="-228600">
              <a:lnSpc>
                <a:spcPts val="1270"/>
              </a:lnSpc>
              <a:buFont typeface="Symbol"/>
              <a:buChar char=""/>
              <a:tabLst>
                <a:tab pos="469265" algn="l"/>
                <a:tab pos="470534" algn="l"/>
              </a:tabLst>
            </a:pPr>
            <a:r>
              <a:rPr dirty="0" sz="1100" spc="-5">
                <a:latin typeface="Arial"/>
                <a:cs typeface="Arial"/>
              </a:rPr>
              <a:t>Preventive checks - postponement of marriage (lowering of fertility rate), increased cost  of food</a:t>
            </a:r>
            <a:r>
              <a:rPr dirty="0" sz="1100">
                <a:latin typeface="Arial"/>
                <a:cs typeface="Arial"/>
              </a:rPr>
              <a:t> </a:t>
            </a:r>
            <a:r>
              <a:rPr dirty="0" sz="1100" spc="-5">
                <a:latin typeface="Arial"/>
                <a:cs typeface="Arial"/>
              </a:rPr>
              <a:t>etc.</a:t>
            </a:r>
            <a:endParaRPr sz="1100">
              <a:latin typeface="Arial"/>
              <a:cs typeface="Arial"/>
            </a:endParaRPr>
          </a:p>
          <a:p>
            <a:pPr marL="469900" indent="-229235">
              <a:lnSpc>
                <a:spcPts val="1300"/>
              </a:lnSpc>
              <a:buFont typeface="Symbol"/>
              <a:buChar char=""/>
              <a:tabLst>
                <a:tab pos="469265" algn="l"/>
                <a:tab pos="470534" algn="l"/>
              </a:tabLst>
            </a:pPr>
            <a:r>
              <a:rPr dirty="0" sz="1100" spc="-5">
                <a:latin typeface="Arial"/>
                <a:cs typeface="Arial"/>
              </a:rPr>
              <a:t>Positive checks - famine, war, disease, would increase the death</a:t>
            </a:r>
            <a:r>
              <a:rPr dirty="0" sz="1100" spc="70">
                <a:latin typeface="Arial"/>
                <a:cs typeface="Arial"/>
              </a:rPr>
              <a:t> </a:t>
            </a:r>
            <a:r>
              <a:rPr dirty="0" sz="1100" spc="-5">
                <a:latin typeface="Arial"/>
                <a:cs typeface="Arial"/>
              </a:rPr>
              <a:t>rate.</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Malthusian ideas are often supported by Western governments because it highlights the  problem of too many mouths to feed, rather than the uneven distribution of resources, because  these preventive checks differed across the globe, each society faced its own equilibrium  population.</a:t>
            </a:r>
            <a:endParaRPr sz="1100">
              <a:latin typeface="Arial"/>
              <a:cs typeface="Arial"/>
            </a:endParaRPr>
          </a:p>
          <a:p>
            <a:pPr algn="just" marL="12700">
              <a:lnSpc>
                <a:spcPts val="1195"/>
              </a:lnSpc>
            </a:pPr>
            <a:r>
              <a:rPr dirty="0" sz="1100" spc="-5">
                <a:latin typeface="Arial"/>
                <a:cs typeface="Arial"/>
              </a:rPr>
              <a:t>In</a:t>
            </a:r>
            <a:r>
              <a:rPr dirty="0" sz="1100" spc="65">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long</a:t>
            </a:r>
            <a:r>
              <a:rPr dirty="0" sz="1100" spc="60">
                <a:latin typeface="Arial"/>
                <a:cs typeface="Arial"/>
              </a:rPr>
              <a:t> </a:t>
            </a:r>
            <a:r>
              <a:rPr dirty="0" sz="1100" spc="-5">
                <a:latin typeface="Arial"/>
                <a:cs typeface="Arial"/>
              </a:rPr>
              <a:t>run,</a:t>
            </a:r>
            <a:r>
              <a:rPr dirty="0" sz="1100" spc="70">
                <a:latin typeface="Arial"/>
                <a:cs typeface="Arial"/>
              </a:rPr>
              <a:t> </a:t>
            </a:r>
            <a:r>
              <a:rPr dirty="0" sz="1100" spc="-5">
                <a:latin typeface="Arial"/>
                <a:cs typeface="Arial"/>
              </a:rPr>
              <a:t>he</a:t>
            </a:r>
            <a:r>
              <a:rPr dirty="0" sz="1100" spc="60">
                <a:latin typeface="Arial"/>
                <a:cs typeface="Arial"/>
              </a:rPr>
              <a:t> </a:t>
            </a:r>
            <a:r>
              <a:rPr dirty="0" sz="1100" spc="-5">
                <a:latin typeface="Arial"/>
                <a:cs typeface="Arial"/>
              </a:rPr>
              <a:t>predicted</a:t>
            </a:r>
            <a:r>
              <a:rPr dirty="0" sz="1100" spc="65">
                <a:latin typeface="Arial"/>
                <a:cs typeface="Arial"/>
              </a:rPr>
              <a:t> </a:t>
            </a:r>
            <a:r>
              <a:rPr dirty="0" sz="1100" spc="-5">
                <a:latin typeface="Arial"/>
                <a:cs typeface="Arial"/>
              </a:rPr>
              <a:t>that</a:t>
            </a:r>
            <a:r>
              <a:rPr dirty="0" sz="1100" spc="60">
                <a:latin typeface="Arial"/>
                <a:cs typeface="Arial"/>
              </a:rPr>
              <a:t> </a:t>
            </a:r>
            <a:r>
              <a:rPr dirty="0" sz="1100" spc="-5">
                <a:latin typeface="Arial"/>
                <a:cs typeface="Arial"/>
              </a:rPr>
              <a:t>economies</a:t>
            </a:r>
            <a:r>
              <a:rPr dirty="0" sz="1100" spc="65">
                <a:latin typeface="Arial"/>
                <a:cs typeface="Arial"/>
              </a:rPr>
              <a:t> </a:t>
            </a:r>
            <a:r>
              <a:rPr dirty="0" sz="1100" spc="-5">
                <a:latin typeface="Arial"/>
                <a:cs typeface="Arial"/>
              </a:rPr>
              <a:t>would</a:t>
            </a:r>
            <a:r>
              <a:rPr dirty="0" sz="1100" spc="65">
                <a:latin typeface="Arial"/>
                <a:cs typeface="Arial"/>
              </a:rPr>
              <a:t> </a:t>
            </a:r>
            <a:r>
              <a:rPr dirty="0" sz="1100" spc="-5">
                <a:latin typeface="Arial"/>
                <a:cs typeface="Arial"/>
              </a:rPr>
              <a:t>converge</a:t>
            </a:r>
            <a:r>
              <a:rPr dirty="0" sz="1100" spc="65">
                <a:latin typeface="Arial"/>
                <a:cs typeface="Arial"/>
              </a:rPr>
              <a:t> </a:t>
            </a:r>
            <a:r>
              <a:rPr dirty="0" sz="1100" spc="-5">
                <a:latin typeface="Arial"/>
                <a:cs typeface="Arial"/>
              </a:rPr>
              <a:t>to</a:t>
            </a:r>
            <a:r>
              <a:rPr dirty="0" sz="1100" spc="70">
                <a:latin typeface="Arial"/>
                <a:cs typeface="Arial"/>
              </a:rPr>
              <a:t> </a:t>
            </a:r>
            <a:r>
              <a:rPr dirty="0" sz="1100" spc="-5">
                <a:latin typeface="Arial"/>
                <a:cs typeface="Arial"/>
              </a:rPr>
              <a:t>their</a:t>
            </a:r>
            <a:r>
              <a:rPr dirty="0" sz="1100" spc="70">
                <a:latin typeface="Arial"/>
                <a:cs typeface="Arial"/>
              </a:rPr>
              <a:t> </a:t>
            </a:r>
            <a:r>
              <a:rPr dirty="0" sz="1100" spc="-5">
                <a:latin typeface="Arial"/>
                <a:cs typeface="Arial"/>
              </a:rPr>
              <a:t>subsistence</a:t>
            </a:r>
            <a:r>
              <a:rPr dirty="0" sz="1100" spc="65">
                <a:latin typeface="Arial"/>
                <a:cs typeface="Arial"/>
              </a:rPr>
              <a:t> </a:t>
            </a:r>
            <a:r>
              <a:rPr dirty="0" sz="1100" spc="-5">
                <a:latin typeface="Arial"/>
                <a:cs typeface="Arial"/>
              </a:rPr>
              <a:t>wage</a:t>
            </a:r>
            <a:endParaRPr sz="1100">
              <a:latin typeface="Arial"/>
              <a:cs typeface="Arial"/>
            </a:endParaRPr>
          </a:p>
          <a:p>
            <a:pPr algn="just" marL="12700" marR="5080">
              <a:lnSpc>
                <a:spcPts val="1260"/>
              </a:lnSpc>
              <a:spcBef>
                <a:spcPts val="65"/>
              </a:spcBef>
            </a:pPr>
            <a:r>
              <a:rPr dirty="0" sz="1100" spc="-5">
                <a:latin typeface="Arial"/>
                <a:cs typeface="Arial"/>
              </a:rPr>
              <a:t>whenever </a:t>
            </a:r>
            <a:r>
              <a:rPr dirty="0" sz="1100">
                <a:latin typeface="Arial"/>
                <a:cs typeface="Arial"/>
              </a:rPr>
              <a:t>the </a:t>
            </a:r>
            <a:r>
              <a:rPr dirty="0" sz="1100" spc="-5">
                <a:latin typeface="Arial"/>
                <a:cs typeface="Arial"/>
              </a:rPr>
              <a:t>rate of total income growth is greater than the rate of population growth, income  per capita is</a:t>
            </a:r>
            <a:r>
              <a:rPr dirty="0" sz="1100" spc="5">
                <a:latin typeface="Arial"/>
                <a:cs typeface="Arial"/>
              </a:rPr>
              <a:t> </a:t>
            </a:r>
            <a:r>
              <a:rPr dirty="0" sz="1100" spc="-5">
                <a:latin typeface="Arial"/>
                <a:cs typeface="Arial"/>
              </a:rPr>
              <a:t>rising.</a:t>
            </a:r>
            <a:endParaRPr sz="1100">
              <a:latin typeface="Arial"/>
              <a:cs typeface="Arial"/>
            </a:endParaRPr>
          </a:p>
        </p:txBody>
      </p:sp>
      <p:sp>
        <p:nvSpPr>
          <p:cNvPr id="7" name="object 7"/>
          <p:cNvSpPr/>
          <p:nvPr/>
        </p:nvSpPr>
        <p:spPr>
          <a:xfrm>
            <a:off x="1143000" y="4800600"/>
            <a:ext cx="5295900" cy="320002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80</a:t>
            </a:r>
            <a:endParaRPr sz="1100">
              <a:latin typeface="Carlito"/>
              <a:cs typeface="Carlito"/>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40591" y="892556"/>
            <a:ext cx="5928995" cy="102425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CRITICISMS OF THE MALTHUSIAN</a:t>
            </a:r>
            <a:r>
              <a:rPr dirty="0" sz="1100" spc="20" b="1">
                <a:latin typeface="Arial"/>
                <a:cs typeface="Arial"/>
              </a:rPr>
              <a:t> </a:t>
            </a:r>
            <a:r>
              <a:rPr dirty="0" sz="1100" spc="-5" b="1">
                <a:latin typeface="Arial"/>
                <a:cs typeface="Arial"/>
              </a:rPr>
              <a:t>MODEL</a:t>
            </a:r>
            <a:endParaRPr sz="1100">
              <a:latin typeface="Arial"/>
              <a:cs typeface="Arial"/>
            </a:endParaRPr>
          </a:p>
          <a:p>
            <a:pPr>
              <a:lnSpc>
                <a:spcPct val="100000"/>
              </a:lnSpc>
              <a:spcBef>
                <a:spcPts val="20"/>
              </a:spcBef>
            </a:pPr>
            <a:endParaRPr sz="1100">
              <a:latin typeface="Arial"/>
              <a:cs typeface="Arial"/>
            </a:endParaRPr>
          </a:p>
          <a:p>
            <a:pPr marL="430530" indent="-229235">
              <a:lnSpc>
                <a:spcPct val="100000"/>
              </a:lnSpc>
              <a:buFont typeface="Symbol"/>
              <a:buChar char=""/>
              <a:tabLst>
                <a:tab pos="430530" algn="l"/>
                <a:tab pos="431165" algn="l"/>
              </a:tabLst>
            </a:pPr>
            <a:r>
              <a:rPr dirty="0" sz="1100" spc="-5">
                <a:latin typeface="Arial"/>
                <a:cs typeface="Arial"/>
              </a:rPr>
              <a:t>Impact of technological progress (Malthus assumes limited supply of</a:t>
            </a:r>
            <a:r>
              <a:rPr dirty="0" sz="1100" spc="75">
                <a:latin typeface="Arial"/>
                <a:cs typeface="Arial"/>
              </a:rPr>
              <a:t> </a:t>
            </a:r>
            <a:r>
              <a:rPr dirty="0" sz="1100" spc="-5">
                <a:latin typeface="Arial"/>
                <a:cs typeface="Arial"/>
              </a:rPr>
              <a:t>land).</a:t>
            </a:r>
            <a:endParaRPr sz="1100">
              <a:latin typeface="Arial"/>
              <a:cs typeface="Arial"/>
            </a:endParaRPr>
          </a:p>
          <a:p>
            <a:pPr marL="430530" marR="5080" indent="-228600">
              <a:lnSpc>
                <a:spcPts val="1260"/>
              </a:lnSpc>
              <a:spcBef>
                <a:spcPts val="110"/>
              </a:spcBef>
              <a:buFont typeface="Symbol"/>
              <a:buChar char=""/>
              <a:tabLst>
                <a:tab pos="430530" algn="l"/>
                <a:tab pos="431165" algn="l"/>
              </a:tabLst>
            </a:pPr>
            <a:r>
              <a:rPr dirty="0" sz="1100" spc="-5">
                <a:latin typeface="Arial"/>
                <a:cs typeface="Arial"/>
              </a:rPr>
              <a:t>Currently </a:t>
            </a:r>
            <a:r>
              <a:rPr dirty="0" sz="1100">
                <a:latin typeface="Arial"/>
                <a:cs typeface="Arial"/>
              </a:rPr>
              <a:t>no </a:t>
            </a:r>
            <a:r>
              <a:rPr dirty="0" sz="1100" spc="-5">
                <a:latin typeface="Arial"/>
                <a:cs typeface="Arial"/>
              </a:rPr>
              <a:t>positive correlation between population growth and levels of per capita  income in the</a:t>
            </a:r>
            <a:r>
              <a:rPr dirty="0" sz="1100" spc="5">
                <a:latin typeface="Arial"/>
                <a:cs typeface="Arial"/>
              </a:rPr>
              <a:t> </a:t>
            </a:r>
            <a:r>
              <a:rPr dirty="0" sz="1100" spc="-5">
                <a:latin typeface="Arial"/>
                <a:cs typeface="Arial"/>
              </a:rPr>
              <a:t>data.</a:t>
            </a:r>
            <a:endParaRPr sz="1100">
              <a:latin typeface="Arial"/>
              <a:cs typeface="Arial"/>
            </a:endParaRPr>
          </a:p>
          <a:p>
            <a:pPr marL="430530" indent="-229235">
              <a:lnSpc>
                <a:spcPts val="1310"/>
              </a:lnSpc>
              <a:buFont typeface="Symbol"/>
              <a:buChar char=""/>
              <a:tabLst>
                <a:tab pos="430530" algn="l"/>
                <a:tab pos="431165" algn="l"/>
              </a:tabLst>
            </a:pPr>
            <a:r>
              <a:rPr dirty="0" sz="1100" spc="-5">
                <a:latin typeface="Arial"/>
                <a:cs typeface="Arial"/>
              </a:rPr>
              <a:t>Microeconomics of family size; individual and not aggregate</a:t>
            </a:r>
            <a:r>
              <a:rPr dirty="0" sz="1100" spc="60">
                <a:latin typeface="Arial"/>
                <a:cs typeface="Arial"/>
              </a:rPr>
              <a:t> </a:t>
            </a:r>
            <a:r>
              <a:rPr dirty="0" sz="1100" spc="-5">
                <a:latin typeface="Arial"/>
                <a:cs typeface="Arial"/>
              </a:rPr>
              <a:t>variables.</a:t>
            </a:r>
            <a:endParaRPr sz="1100">
              <a:latin typeface="Arial"/>
              <a:cs typeface="Arial"/>
            </a:endParaRPr>
          </a:p>
        </p:txBody>
      </p:sp>
      <p:sp>
        <p:nvSpPr>
          <p:cNvPr id="7" name="object 7"/>
          <p:cNvSpPr txBox="1"/>
          <p:nvPr/>
        </p:nvSpPr>
        <p:spPr>
          <a:xfrm>
            <a:off x="901686" y="5389856"/>
            <a:ext cx="5969635" cy="308419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MICROECONOMIC HOUSEHOLD THEORY OF</a:t>
            </a:r>
            <a:r>
              <a:rPr dirty="0" sz="1100" spc="20" b="1">
                <a:latin typeface="Arial"/>
                <a:cs typeface="Arial"/>
              </a:rPr>
              <a:t> </a:t>
            </a:r>
            <a:r>
              <a:rPr dirty="0" sz="1100" b="1">
                <a:latin typeface="Arial"/>
                <a:cs typeface="Arial"/>
              </a:rPr>
              <a:t>FERTILITY</a:t>
            </a:r>
            <a:endParaRPr sz="1100">
              <a:latin typeface="Arial"/>
              <a:cs typeface="Arial"/>
            </a:endParaRPr>
          </a:p>
          <a:p>
            <a:pPr>
              <a:lnSpc>
                <a:spcPct val="100000"/>
              </a:lnSpc>
              <a:spcBef>
                <a:spcPts val="30"/>
              </a:spcBef>
            </a:pPr>
            <a:endParaRPr sz="1100">
              <a:latin typeface="Arial"/>
              <a:cs typeface="Arial"/>
            </a:endParaRPr>
          </a:p>
          <a:p>
            <a:pPr marL="2434590" marR="240665" indent="-2185670">
              <a:lnSpc>
                <a:spcPts val="1270"/>
              </a:lnSpc>
              <a:spcBef>
                <a:spcPts val="5"/>
              </a:spcBef>
            </a:pPr>
            <a:r>
              <a:rPr dirty="0" sz="1100" spc="-5" b="1" i="1">
                <a:latin typeface="Arial"/>
                <a:cs typeface="Arial"/>
              </a:rPr>
              <a:t>"The theory that family formation has costs and benefits that determine the size of  </a:t>
            </a:r>
            <a:r>
              <a:rPr dirty="0" sz="1100" spc="-5" b="1" i="1">
                <a:latin typeface="Arial"/>
                <a:cs typeface="Arial"/>
              </a:rPr>
              <a:t>families formed"</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The conventional theory of consumer behavior assumes that an individual with a </a:t>
            </a:r>
            <a:r>
              <a:rPr dirty="0" sz="1100">
                <a:latin typeface="Arial"/>
                <a:cs typeface="Arial"/>
              </a:rPr>
              <a:t>given </a:t>
            </a:r>
            <a:r>
              <a:rPr dirty="0" sz="1100" spc="-5">
                <a:latin typeface="Arial"/>
                <a:cs typeface="Arial"/>
              </a:rPr>
              <a:t>set of  tastes or preferences for a range of goods (a “utility function”) tries to maximize the satisfaction  derived from consuming these goods subject to his or her own income constraint and the  relative prices of all goods. In the application of this theory to fertility analysis, children are  considered as a special kind of consumption (and in developing countries, particularly low  income countries, investment) good so that fertility becomes a rational economic response to  the consumer’s (family’s) demand for children relative to other</a:t>
            </a:r>
            <a:r>
              <a:rPr dirty="0" sz="1100" spc="65">
                <a:latin typeface="Arial"/>
                <a:cs typeface="Arial"/>
              </a:rPr>
              <a:t> </a:t>
            </a:r>
            <a:r>
              <a:rPr dirty="0" sz="1100" spc="-5">
                <a:latin typeface="Arial"/>
                <a:cs typeface="Arial"/>
              </a:rPr>
              <a:t>goods.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usual income and substitution effects are assumed to apply. That is, if other factors are  held constant, the desired number of children can be expected to vary directly with household  income (this direct relationship may not hold for poor societies; it depends on the strength of  demand for children relative to other consumer goods and to the sources of increased income,  such as female employment), inversely with </a:t>
            </a:r>
            <a:r>
              <a:rPr dirty="0" sz="1100">
                <a:latin typeface="Arial"/>
                <a:cs typeface="Arial"/>
              </a:rPr>
              <a:t>the </a:t>
            </a:r>
            <a:r>
              <a:rPr dirty="0" sz="1100" spc="-5">
                <a:latin typeface="Arial"/>
                <a:cs typeface="Arial"/>
              </a:rPr>
              <a:t>price (cost) of children, and inversely with </a:t>
            </a:r>
            <a:r>
              <a:rPr dirty="0" sz="1100">
                <a:latin typeface="Arial"/>
                <a:cs typeface="Arial"/>
              </a:rPr>
              <a:t>the  </a:t>
            </a:r>
            <a:r>
              <a:rPr dirty="0" sz="1100" spc="-5">
                <a:latin typeface="Arial"/>
                <a:cs typeface="Arial"/>
              </a:rPr>
              <a:t>strength of tastes for other goods relative to</a:t>
            </a:r>
            <a:r>
              <a:rPr dirty="0" sz="1100" spc="40">
                <a:latin typeface="Arial"/>
                <a:cs typeface="Arial"/>
              </a:rPr>
              <a:t> </a:t>
            </a:r>
            <a:r>
              <a:rPr dirty="0" sz="1100" spc="-5">
                <a:latin typeface="Arial"/>
                <a:cs typeface="Arial"/>
              </a:rPr>
              <a:t>children.</a:t>
            </a:r>
            <a:endParaRPr sz="1100">
              <a:latin typeface="Arial"/>
              <a:cs typeface="Arial"/>
            </a:endParaRPr>
          </a:p>
        </p:txBody>
      </p:sp>
      <p:sp>
        <p:nvSpPr>
          <p:cNvPr id="8" name="object 8"/>
          <p:cNvSpPr/>
          <p:nvPr/>
        </p:nvSpPr>
        <p:spPr>
          <a:xfrm>
            <a:off x="1085850" y="2031492"/>
            <a:ext cx="5515356" cy="320989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81</a:t>
            </a:r>
            <a:endParaRPr sz="1100">
              <a:latin typeface="Carlito"/>
              <a:cs typeface="Carlito"/>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403161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Mathematically, these relationships can be expressed as</a:t>
            </a:r>
            <a:r>
              <a:rPr dirty="0" sz="1100" spc="130">
                <a:latin typeface="Arial"/>
                <a:cs typeface="Arial"/>
              </a:rPr>
              <a:t> </a:t>
            </a:r>
            <a:r>
              <a:rPr dirty="0" sz="1100" spc="-5">
                <a:latin typeface="Arial"/>
                <a:cs typeface="Arial"/>
              </a:rPr>
              <a:t>follows:</a:t>
            </a:r>
            <a:endParaRPr sz="1100">
              <a:latin typeface="Arial"/>
              <a:cs typeface="Arial"/>
            </a:endParaRPr>
          </a:p>
        </p:txBody>
      </p:sp>
      <p:sp>
        <p:nvSpPr>
          <p:cNvPr id="7" name="object 7"/>
          <p:cNvSpPr txBox="1"/>
          <p:nvPr/>
        </p:nvSpPr>
        <p:spPr>
          <a:xfrm>
            <a:off x="901700" y="1213356"/>
            <a:ext cx="47625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Where,</a:t>
            </a:r>
            <a:endParaRPr sz="1100">
              <a:latin typeface="Arial"/>
              <a:cs typeface="Arial"/>
            </a:endParaRPr>
          </a:p>
        </p:txBody>
      </p:sp>
      <p:sp>
        <p:nvSpPr>
          <p:cNvPr id="8" name="object 8"/>
          <p:cNvSpPr txBox="1"/>
          <p:nvPr/>
        </p:nvSpPr>
        <p:spPr>
          <a:xfrm>
            <a:off x="1104893" y="1122679"/>
            <a:ext cx="4347845" cy="1294765"/>
          </a:xfrm>
          <a:prstGeom prst="rect">
            <a:avLst/>
          </a:prstGeom>
        </p:spPr>
        <p:txBody>
          <a:bodyPr wrap="square" lIns="0" tIns="13970" rIns="0" bIns="0" rtlCol="0" vert="horz">
            <a:spAutoFit/>
          </a:bodyPr>
          <a:lstStyle/>
          <a:p>
            <a:pPr marL="1319530">
              <a:lnSpc>
                <a:spcPct val="100000"/>
              </a:lnSpc>
              <a:spcBef>
                <a:spcPts val="110"/>
              </a:spcBef>
              <a:tabLst>
                <a:tab pos="1898650" algn="l"/>
                <a:tab pos="4212590" algn="l"/>
              </a:tabLst>
            </a:pPr>
            <a:r>
              <a:rPr dirty="0" sz="1300" spc="5" i="1">
                <a:latin typeface="Times New Roman"/>
                <a:cs typeface="Times New Roman"/>
              </a:rPr>
              <a:t>C</a:t>
            </a:r>
            <a:r>
              <a:rPr dirty="0" sz="1300" spc="130" i="1">
                <a:latin typeface="Times New Roman"/>
                <a:cs typeface="Times New Roman"/>
              </a:rPr>
              <a:t> </a:t>
            </a:r>
            <a:r>
              <a:rPr dirty="0" sz="750" spc="5" i="1">
                <a:latin typeface="Times New Roman"/>
                <a:cs typeface="Times New Roman"/>
              </a:rPr>
              <a:t>d   </a:t>
            </a:r>
            <a:r>
              <a:rPr dirty="0" sz="750" spc="90" i="1">
                <a:latin typeface="Times New Roman"/>
                <a:cs typeface="Times New Roman"/>
              </a:rPr>
              <a:t> </a:t>
            </a:r>
            <a:r>
              <a:rPr dirty="0" sz="1300" spc="5">
                <a:latin typeface="Symbol"/>
                <a:cs typeface="Symbol"/>
              </a:rPr>
              <a:t></a:t>
            </a:r>
            <a:r>
              <a:rPr dirty="0" sz="1300" spc="5">
                <a:latin typeface="Times New Roman"/>
                <a:cs typeface="Times New Roman"/>
              </a:rPr>
              <a:t>	</a:t>
            </a:r>
            <a:r>
              <a:rPr dirty="0" sz="1300" i="1">
                <a:latin typeface="Times New Roman"/>
                <a:cs typeface="Times New Roman"/>
              </a:rPr>
              <a:t>f  </a:t>
            </a:r>
            <a:r>
              <a:rPr dirty="0" sz="1300">
                <a:latin typeface="Times New Roman"/>
                <a:cs typeface="Times New Roman"/>
              </a:rPr>
              <a:t>( </a:t>
            </a:r>
            <a:r>
              <a:rPr dirty="0" sz="1300" spc="5" i="1">
                <a:latin typeface="Times New Roman"/>
                <a:cs typeface="Times New Roman"/>
              </a:rPr>
              <a:t>Y  </a:t>
            </a:r>
            <a:r>
              <a:rPr dirty="0" sz="1300">
                <a:latin typeface="Times New Roman"/>
                <a:cs typeface="Times New Roman"/>
              </a:rPr>
              <a:t>,  </a:t>
            </a:r>
            <a:r>
              <a:rPr dirty="0" sz="1300" spc="5" i="1">
                <a:latin typeface="Times New Roman"/>
                <a:cs typeface="Times New Roman"/>
              </a:rPr>
              <a:t>P </a:t>
            </a:r>
            <a:r>
              <a:rPr dirty="0" sz="750" spc="5" i="1">
                <a:latin typeface="Times New Roman"/>
                <a:cs typeface="Times New Roman"/>
              </a:rPr>
              <a:t>c </a:t>
            </a:r>
            <a:r>
              <a:rPr dirty="0" sz="1300">
                <a:latin typeface="Times New Roman"/>
                <a:cs typeface="Times New Roman"/>
              </a:rPr>
              <a:t>,  </a:t>
            </a:r>
            <a:r>
              <a:rPr dirty="0" sz="1300" spc="5" i="1">
                <a:latin typeface="Times New Roman"/>
                <a:cs typeface="Times New Roman"/>
              </a:rPr>
              <a:t>P </a:t>
            </a:r>
            <a:r>
              <a:rPr dirty="0" sz="750" spc="5" i="1">
                <a:latin typeface="Times New Roman"/>
                <a:cs typeface="Times New Roman"/>
              </a:rPr>
              <a:t>x </a:t>
            </a:r>
            <a:r>
              <a:rPr dirty="0" sz="1300">
                <a:latin typeface="Times New Roman"/>
                <a:cs typeface="Times New Roman"/>
              </a:rPr>
              <a:t>, </a:t>
            </a:r>
            <a:r>
              <a:rPr dirty="0" sz="1300" i="1">
                <a:latin typeface="Times New Roman"/>
                <a:cs typeface="Times New Roman"/>
              </a:rPr>
              <a:t>t </a:t>
            </a:r>
            <a:r>
              <a:rPr dirty="0" sz="750" spc="5" i="1">
                <a:latin typeface="Times New Roman"/>
                <a:cs typeface="Times New Roman"/>
              </a:rPr>
              <a:t>x </a:t>
            </a:r>
            <a:r>
              <a:rPr dirty="0" sz="1300">
                <a:latin typeface="Times New Roman"/>
                <a:cs typeface="Times New Roman"/>
              </a:rPr>
              <a:t>),   </a:t>
            </a:r>
            <a:r>
              <a:rPr dirty="0" sz="1300" spc="5" i="1">
                <a:latin typeface="Times New Roman"/>
                <a:cs typeface="Times New Roman"/>
              </a:rPr>
              <a:t>x   </a:t>
            </a:r>
            <a:r>
              <a:rPr dirty="0" sz="1300" spc="5">
                <a:latin typeface="Symbol"/>
                <a:cs typeface="Symbol"/>
              </a:rPr>
              <a:t></a:t>
            </a:r>
            <a:r>
              <a:rPr dirty="0" sz="1300" spc="-70">
                <a:latin typeface="Times New Roman"/>
                <a:cs typeface="Times New Roman"/>
              </a:rPr>
              <a:t> </a:t>
            </a:r>
            <a:r>
              <a:rPr dirty="0" sz="1300" spc="5">
                <a:latin typeface="Times New Roman"/>
                <a:cs typeface="Times New Roman"/>
              </a:rPr>
              <a:t>1</a:t>
            </a:r>
            <a:r>
              <a:rPr dirty="0" sz="1300" spc="-180">
                <a:latin typeface="Times New Roman"/>
                <a:cs typeface="Times New Roman"/>
              </a:rPr>
              <a:t> </a:t>
            </a:r>
            <a:r>
              <a:rPr dirty="0" sz="1300">
                <a:latin typeface="Times New Roman"/>
                <a:cs typeface="Times New Roman"/>
              </a:rPr>
              <a:t>,...,	</a:t>
            </a:r>
            <a:r>
              <a:rPr dirty="0" sz="1300" spc="5" i="1">
                <a:latin typeface="Times New Roman"/>
                <a:cs typeface="Times New Roman"/>
              </a:rPr>
              <a:t>n</a:t>
            </a:r>
            <a:endParaRPr sz="1300">
              <a:latin typeface="Times New Roman"/>
              <a:cs typeface="Times New Roman"/>
            </a:endParaRPr>
          </a:p>
          <a:p>
            <a:pPr>
              <a:lnSpc>
                <a:spcPct val="100000"/>
              </a:lnSpc>
              <a:spcBef>
                <a:spcPts val="20"/>
              </a:spcBef>
            </a:pPr>
            <a:endParaRPr sz="1500">
              <a:latin typeface="Times New Roman"/>
              <a:cs typeface="Times New Roman"/>
            </a:endParaRPr>
          </a:p>
          <a:p>
            <a:pPr marL="266700" indent="-229235">
              <a:lnSpc>
                <a:spcPct val="100000"/>
              </a:lnSpc>
              <a:buFont typeface="Symbol"/>
              <a:buChar char=""/>
              <a:tabLst>
                <a:tab pos="266065" algn="l"/>
                <a:tab pos="267335" algn="l"/>
              </a:tabLst>
            </a:pPr>
            <a:r>
              <a:rPr dirty="0" sz="1100" spc="-5">
                <a:latin typeface="Arial"/>
                <a:cs typeface="Arial"/>
              </a:rPr>
              <a:t>C</a:t>
            </a:r>
            <a:r>
              <a:rPr dirty="0" baseline="-11904" sz="1050" spc="-7">
                <a:latin typeface="Arial"/>
                <a:cs typeface="Arial"/>
              </a:rPr>
              <a:t>d </a:t>
            </a:r>
            <a:r>
              <a:rPr dirty="0" sz="1100" spc="-5">
                <a:latin typeface="Arial"/>
                <a:cs typeface="Arial"/>
              </a:rPr>
              <a:t>is the demand for surviving</a:t>
            </a:r>
            <a:r>
              <a:rPr dirty="0" sz="1100" spc="-55">
                <a:latin typeface="Arial"/>
                <a:cs typeface="Arial"/>
              </a:rPr>
              <a:t> </a:t>
            </a:r>
            <a:r>
              <a:rPr dirty="0" sz="1100" spc="-5">
                <a:latin typeface="Arial"/>
                <a:cs typeface="Arial"/>
              </a:rPr>
              <a:t>children</a:t>
            </a:r>
            <a:endParaRPr sz="1100">
              <a:latin typeface="Arial"/>
              <a:cs typeface="Arial"/>
            </a:endParaRPr>
          </a:p>
          <a:p>
            <a:pPr marL="266700" indent="-229235">
              <a:lnSpc>
                <a:spcPct val="100000"/>
              </a:lnSpc>
              <a:spcBef>
                <a:spcPts val="20"/>
              </a:spcBef>
              <a:buFont typeface="Symbol"/>
              <a:buChar char=""/>
              <a:tabLst>
                <a:tab pos="266065" algn="l"/>
                <a:tab pos="267335" algn="l"/>
              </a:tabLst>
            </a:pPr>
            <a:r>
              <a:rPr dirty="0" sz="1100" spc="-5">
                <a:latin typeface="Arial"/>
                <a:cs typeface="Arial"/>
              </a:rPr>
              <a:t>Y is the level of household</a:t>
            </a:r>
            <a:r>
              <a:rPr dirty="0" sz="1100" spc="25">
                <a:latin typeface="Arial"/>
                <a:cs typeface="Arial"/>
              </a:rPr>
              <a:t> </a:t>
            </a:r>
            <a:r>
              <a:rPr dirty="0" sz="1100" spc="-5">
                <a:latin typeface="Arial"/>
                <a:cs typeface="Arial"/>
              </a:rPr>
              <a:t>income</a:t>
            </a:r>
            <a:endParaRPr sz="1100">
              <a:latin typeface="Arial"/>
              <a:cs typeface="Arial"/>
            </a:endParaRPr>
          </a:p>
          <a:p>
            <a:pPr marL="266700" indent="-229235">
              <a:lnSpc>
                <a:spcPct val="100000"/>
              </a:lnSpc>
              <a:spcBef>
                <a:spcPts val="20"/>
              </a:spcBef>
              <a:buFont typeface="Symbol"/>
              <a:buChar char=""/>
              <a:tabLst>
                <a:tab pos="266065" algn="l"/>
                <a:tab pos="267335" algn="l"/>
              </a:tabLst>
            </a:pPr>
            <a:r>
              <a:rPr dirty="0" sz="1100" spc="-5">
                <a:latin typeface="Arial"/>
                <a:cs typeface="Arial"/>
              </a:rPr>
              <a:t>P</a:t>
            </a:r>
            <a:r>
              <a:rPr dirty="0" baseline="-11904" sz="1050" spc="-7">
                <a:latin typeface="Arial"/>
                <a:cs typeface="Arial"/>
              </a:rPr>
              <a:t>c </a:t>
            </a:r>
            <a:r>
              <a:rPr dirty="0" sz="1100" spc="-5">
                <a:latin typeface="Arial"/>
                <a:cs typeface="Arial"/>
              </a:rPr>
              <a:t>is the “net” price of</a:t>
            </a:r>
            <a:r>
              <a:rPr dirty="0" sz="1100" spc="-55">
                <a:latin typeface="Arial"/>
                <a:cs typeface="Arial"/>
              </a:rPr>
              <a:t> </a:t>
            </a:r>
            <a:r>
              <a:rPr dirty="0" sz="1100" spc="-5">
                <a:latin typeface="Arial"/>
                <a:cs typeface="Arial"/>
              </a:rPr>
              <a:t>children</a:t>
            </a:r>
            <a:endParaRPr sz="1100">
              <a:latin typeface="Arial"/>
              <a:cs typeface="Arial"/>
            </a:endParaRPr>
          </a:p>
          <a:p>
            <a:pPr marL="266700" indent="-229235">
              <a:lnSpc>
                <a:spcPct val="100000"/>
              </a:lnSpc>
              <a:spcBef>
                <a:spcPts val="20"/>
              </a:spcBef>
              <a:buFont typeface="Symbol"/>
              <a:buChar char=""/>
              <a:tabLst>
                <a:tab pos="266065" algn="l"/>
                <a:tab pos="267335" algn="l"/>
              </a:tabLst>
            </a:pPr>
            <a:r>
              <a:rPr dirty="0" sz="1100">
                <a:latin typeface="Arial"/>
                <a:cs typeface="Arial"/>
              </a:rPr>
              <a:t>P</a:t>
            </a:r>
            <a:r>
              <a:rPr dirty="0" baseline="-11904" sz="1050">
                <a:latin typeface="Arial"/>
                <a:cs typeface="Arial"/>
              </a:rPr>
              <a:t>x </a:t>
            </a:r>
            <a:r>
              <a:rPr dirty="0" sz="1100" spc="-5">
                <a:latin typeface="Arial"/>
                <a:cs typeface="Arial"/>
              </a:rPr>
              <a:t>is price of all other</a:t>
            </a:r>
            <a:r>
              <a:rPr dirty="0" sz="1100" spc="-85">
                <a:latin typeface="Arial"/>
                <a:cs typeface="Arial"/>
              </a:rPr>
              <a:t> </a:t>
            </a:r>
            <a:r>
              <a:rPr dirty="0" sz="1100" spc="-5">
                <a:latin typeface="Arial"/>
                <a:cs typeface="Arial"/>
              </a:rPr>
              <a:t>goods</a:t>
            </a:r>
            <a:endParaRPr sz="1100">
              <a:latin typeface="Arial"/>
              <a:cs typeface="Arial"/>
            </a:endParaRPr>
          </a:p>
          <a:p>
            <a:pPr marL="266700" indent="-229235">
              <a:lnSpc>
                <a:spcPct val="100000"/>
              </a:lnSpc>
              <a:spcBef>
                <a:spcPts val="20"/>
              </a:spcBef>
              <a:buFont typeface="Symbol"/>
              <a:buChar char=""/>
              <a:tabLst>
                <a:tab pos="266065" algn="l"/>
                <a:tab pos="267335" algn="l"/>
              </a:tabLst>
            </a:pPr>
            <a:r>
              <a:rPr dirty="0" sz="1100">
                <a:latin typeface="Arial"/>
                <a:cs typeface="Arial"/>
              </a:rPr>
              <a:t>t</a:t>
            </a:r>
            <a:r>
              <a:rPr dirty="0" baseline="-11904" sz="1050">
                <a:latin typeface="Arial"/>
                <a:cs typeface="Arial"/>
              </a:rPr>
              <a:t>x </a:t>
            </a:r>
            <a:r>
              <a:rPr dirty="0" sz="1100" spc="-5">
                <a:latin typeface="Arial"/>
                <a:cs typeface="Arial"/>
              </a:rPr>
              <a:t>is the tastes for goods relative to</a:t>
            </a:r>
            <a:r>
              <a:rPr dirty="0" sz="1100" spc="-60">
                <a:latin typeface="Arial"/>
                <a:cs typeface="Arial"/>
              </a:rPr>
              <a:t> </a:t>
            </a:r>
            <a:r>
              <a:rPr dirty="0" sz="1100" spc="-5">
                <a:latin typeface="Arial"/>
                <a:cs typeface="Arial"/>
              </a:rPr>
              <a:t>children</a:t>
            </a:r>
            <a:endParaRPr sz="1100">
              <a:latin typeface="Arial"/>
              <a:cs typeface="Arial"/>
            </a:endParaRPr>
          </a:p>
        </p:txBody>
      </p:sp>
      <p:sp>
        <p:nvSpPr>
          <p:cNvPr id="9" name="object 9"/>
          <p:cNvSpPr txBox="1"/>
          <p:nvPr/>
        </p:nvSpPr>
        <p:spPr>
          <a:xfrm>
            <a:off x="2044690" y="2555228"/>
            <a:ext cx="4827270" cy="1506220"/>
          </a:xfrm>
          <a:prstGeom prst="rect">
            <a:avLst/>
          </a:prstGeom>
        </p:spPr>
        <p:txBody>
          <a:bodyPr wrap="square" lIns="0" tIns="12065" rIns="0" bIns="0" rtlCol="0" vert="horz">
            <a:spAutoFit/>
          </a:bodyPr>
          <a:lstStyle/>
          <a:p>
            <a:pPr marL="241300" indent="-229235">
              <a:lnSpc>
                <a:spcPct val="100000"/>
              </a:lnSpc>
              <a:spcBef>
                <a:spcPts val="95"/>
              </a:spcBef>
              <a:buFont typeface="Symbol"/>
              <a:buChar char=""/>
              <a:tabLst>
                <a:tab pos="240665" algn="l"/>
                <a:tab pos="241935" algn="l"/>
              </a:tabLst>
            </a:pPr>
            <a:r>
              <a:rPr dirty="0" sz="1100" spc="-5">
                <a:latin typeface="Arial"/>
                <a:cs typeface="Arial"/>
              </a:rPr>
              <a:t>The higher the household income, the greater the demand for</a:t>
            </a:r>
            <a:r>
              <a:rPr dirty="0" sz="1100" spc="125">
                <a:latin typeface="Arial"/>
                <a:cs typeface="Arial"/>
              </a:rPr>
              <a:t> </a:t>
            </a:r>
            <a:r>
              <a:rPr dirty="0" sz="1100" spc="-5">
                <a:latin typeface="Arial"/>
                <a:cs typeface="Arial"/>
              </a:rPr>
              <a:t>children.</a:t>
            </a:r>
            <a:endParaRPr sz="1100">
              <a:latin typeface="Arial"/>
              <a:cs typeface="Arial"/>
            </a:endParaRPr>
          </a:p>
          <a:p>
            <a:pPr>
              <a:lnSpc>
                <a:spcPct val="100000"/>
              </a:lnSpc>
              <a:spcBef>
                <a:spcPts val="20"/>
              </a:spcBef>
              <a:buFont typeface="Symbol"/>
              <a:buChar char=""/>
            </a:pPr>
            <a:endParaRPr sz="1100">
              <a:latin typeface="Arial"/>
              <a:cs typeface="Arial"/>
            </a:endParaRPr>
          </a:p>
          <a:p>
            <a:pPr marL="241300" indent="-229235">
              <a:lnSpc>
                <a:spcPct val="100000"/>
              </a:lnSpc>
              <a:buFont typeface="Symbol"/>
              <a:buChar char=""/>
              <a:tabLst>
                <a:tab pos="240665" algn="l"/>
                <a:tab pos="241935" algn="l"/>
              </a:tabLst>
            </a:pPr>
            <a:r>
              <a:rPr dirty="0" sz="1100" spc="-5">
                <a:latin typeface="Arial"/>
                <a:cs typeface="Arial"/>
              </a:rPr>
              <a:t>The higher the net price of children, the lower the quantity</a:t>
            </a:r>
            <a:r>
              <a:rPr dirty="0" sz="1100" spc="120">
                <a:latin typeface="Arial"/>
                <a:cs typeface="Arial"/>
              </a:rPr>
              <a:t> </a:t>
            </a:r>
            <a:r>
              <a:rPr dirty="0" sz="1100" spc="-5">
                <a:latin typeface="Arial"/>
                <a:cs typeface="Arial"/>
              </a:rPr>
              <a:t>demanded.</a:t>
            </a:r>
            <a:endParaRPr sz="1100">
              <a:latin typeface="Arial"/>
              <a:cs typeface="Arial"/>
            </a:endParaRPr>
          </a:p>
          <a:p>
            <a:pPr>
              <a:lnSpc>
                <a:spcPct val="100000"/>
              </a:lnSpc>
              <a:spcBef>
                <a:spcPts val="55"/>
              </a:spcBef>
              <a:buFont typeface="Symbol"/>
              <a:buChar char=""/>
            </a:pPr>
            <a:endParaRPr sz="1150">
              <a:latin typeface="Arial"/>
              <a:cs typeface="Arial"/>
            </a:endParaRPr>
          </a:p>
          <a:p>
            <a:pPr marL="240665" marR="6350" indent="-228600">
              <a:lnSpc>
                <a:spcPts val="1260"/>
              </a:lnSpc>
              <a:buFont typeface="Symbol"/>
              <a:buChar char=""/>
              <a:tabLst>
                <a:tab pos="240665" algn="l"/>
                <a:tab pos="241935" algn="l"/>
              </a:tabLst>
            </a:pPr>
            <a:r>
              <a:rPr dirty="0" sz="1100" spc="-5">
                <a:latin typeface="Arial"/>
                <a:cs typeface="Arial"/>
              </a:rPr>
              <a:t>The higher the prices of all other goods relative to children, the greater  the quantity of children</a:t>
            </a:r>
            <a:r>
              <a:rPr dirty="0" sz="1100" spc="15">
                <a:latin typeface="Arial"/>
                <a:cs typeface="Arial"/>
              </a:rPr>
              <a:t> </a:t>
            </a:r>
            <a:r>
              <a:rPr dirty="0" sz="1100" spc="-5">
                <a:latin typeface="Arial"/>
                <a:cs typeface="Arial"/>
              </a:rPr>
              <a:t>demanded.</a:t>
            </a:r>
            <a:endParaRPr sz="1100">
              <a:latin typeface="Arial"/>
              <a:cs typeface="Arial"/>
            </a:endParaRPr>
          </a:p>
          <a:p>
            <a:pPr>
              <a:lnSpc>
                <a:spcPct val="100000"/>
              </a:lnSpc>
              <a:spcBef>
                <a:spcPts val="25"/>
              </a:spcBef>
              <a:buFont typeface="Symbol"/>
              <a:buChar char=""/>
            </a:pPr>
            <a:endParaRPr sz="1150">
              <a:latin typeface="Arial"/>
              <a:cs typeface="Arial"/>
            </a:endParaRPr>
          </a:p>
          <a:p>
            <a:pPr marL="240665" marR="5080" indent="-228600">
              <a:lnSpc>
                <a:spcPts val="1260"/>
              </a:lnSpc>
              <a:buFont typeface="Symbol"/>
              <a:buChar char=""/>
              <a:tabLst>
                <a:tab pos="240665" algn="l"/>
                <a:tab pos="241935" algn="l"/>
              </a:tabLst>
            </a:pPr>
            <a:r>
              <a:rPr dirty="0" sz="1100" spc="-5">
                <a:latin typeface="Arial"/>
                <a:cs typeface="Arial"/>
              </a:rPr>
              <a:t>The greater the strength of tastes for goods relative to children, the fewer  children demanded.</a:t>
            </a:r>
            <a:endParaRPr sz="1100">
              <a:latin typeface="Arial"/>
              <a:cs typeface="Arial"/>
            </a:endParaRPr>
          </a:p>
        </p:txBody>
      </p:sp>
      <p:sp>
        <p:nvSpPr>
          <p:cNvPr id="10" name="object 10"/>
          <p:cNvSpPr txBox="1"/>
          <p:nvPr/>
        </p:nvSpPr>
        <p:spPr>
          <a:xfrm>
            <a:off x="901679" y="4349688"/>
            <a:ext cx="5970270" cy="437007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Figure 6.9 provides a simplified diagrammatic presentation of the </a:t>
            </a:r>
            <a:r>
              <a:rPr dirty="0" sz="1100" spc="-5" b="1">
                <a:latin typeface="Arial"/>
                <a:cs typeface="Arial"/>
              </a:rPr>
              <a:t>microeconomic theory </a:t>
            </a:r>
            <a:r>
              <a:rPr dirty="0" sz="1100" b="1">
                <a:latin typeface="Arial"/>
                <a:cs typeface="Arial"/>
              </a:rPr>
              <a:t>of  </a:t>
            </a:r>
            <a:r>
              <a:rPr dirty="0" sz="1100" spc="-5" b="1">
                <a:latin typeface="Arial"/>
                <a:cs typeface="Arial"/>
              </a:rPr>
              <a:t>fertility</a:t>
            </a:r>
            <a:r>
              <a:rPr dirty="0" sz="1100" spc="-5">
                <a:latin typeface="Arial"/>
                <a:cs typeface="Arial"/>
              </a:rPr>
              <a:t>. </a:t>
            </a:r>
            <a:r>
              <a:rPr dirty="0" sz="1100">
                <a:latin typeface="Arial"/>
                <a:cs typeface="Arial"/>
              </a:rPr>
              <a:t>The </a:t>
            </a:r>
            <a:r>
              <a:rPr dirty="0" sz="1100" spc="-5">
                <a:latin typeface="Arial"/>
                <a:cs typeface="Arial"/>
              </a:rPr>
              <a:t>number of desired (surviving) children, Cd, is measured along the horizontal axis,  and the total quantity of goods consumed by the parents, Gp, is measured on the vertical</a:t>
            </a:r>
            <a:r>
              <a:rPr dirty="0" sz="1100" spc="250">
                <a:latin typeface="Arial"/>
                <a:cs typeface="Arial"/>
              </a:rPr>
              <a:t> </a:t>
            </a:r>
            <a:r>
              <a:rPr dirty="0" sz="1100" spc="-5">
                <a:latin typeface="Arial"/>
                <a:cs typeface="Arial"/>
              </a:rPr>
              <a:t>axis.</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pPr>
            <a:r>
              <a:rPr dirty="0" sz="1100" spc="-5">
                <a:latin typeface="Arial"/>
                <a:cs typeface="Arial"/>
              </a:rPr>
              <a:t>In Figure 6.9, only four indifference curves, I1 to I4, are shown; in theory, there is an infinite set  of such curves, filling the whole quadrant and covering all possible commodity-child  combinations. The household’s ability to “purchase” alternative combinations of goods and  children is shown by the budget constraint line, ab. Thus all combinations on or below line ab  (within the triangular area 0ab) are financially attainable by the household on the basis of its  perceived income prospects and the relative prices of children and goods, as represented by  the slope of the ab budget constraint. The steeper the slope of the budget line, the higher the  price of children relative to</a:t>
            </a:r>
            <a:r>
              <a:rPr dirty="0" sz="1100" spc="20">
                <a:latin typeface="Arial"/>
                <a:cs typeface="Arial"/>
              </a:rPr>
              <a:t> </a:t>
            </a:r>
            <a:r>
              <a:rPr dirty="0" sz="1100" spc="-5">
                <a:latin typeface="Arial"/>
                <a:cs typeface="Arial"/>
              </a:rPr>
              <a:t>goods.</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According to the demand-based theory of fertility, the household chooses from among all  attainable combinations the one combination of goods and children that maximizes family  satisfaction on the basis of its subjectively determined preferences. Diagrammatically, this  optimal combination is represented by point f, </a:t>
            </a:r>
            <a:r>
              <a:rPr dirty="0" sz="1100">
                <a:latin typeface="Arial"/>
                <a:cs typeface="Arial"/>
              </a:rPr>
              <a:t>the </a:t>
            </a:r>
            <a:r>
              <a:rPr dirty="0" sz="1100" spc="-5">
                <a:latin typeface="Arial"/>
                <a:cs typeface="Arial"/>
              </a:rPr>
              <a:t>tangency point between the budget constraint,  ab, and indifference curve I2. Therefore, C3 children and G2 goods will be</a:t>
            </a:r>
            <a:r>
              <a:rPr dirty="0" sz="1100" spc="130">
                <a:latin typeface="Arial"/>
                <a:cs typeface="Arial"/>
              </a:rPr>
              <a:t> </a:t>
            </a:r>
            <a:r>
              <a:rPr dirty="0" sz="1100" spc="-5">
                <a:latin typeface="Arial"/>
                <a:cs typeface="Arial"/>
              </a:rPr>
              <a:t>demanded.</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 rise in family income, represented in Figure 6.9 by the parallel outward shift of the budget line  from ab to a b, enables the household to attain a higher level of satisfaction (point h on curve I4)  by consuming more </a:t>
            </a:r>
            <a:r>
              <a:rPr dirty="0" sz="1100">
                <a:latin typeface="Arial"/>
                <a:cs typeface="Arial"/>
              </a:rPr>
              <a:t>of </a:t>
            </a:r>
            <a:r>
              <a:rPr dirty="0" sz="1100" spc="-5">
                <a:latin typeface="Arial"/>
                <a:cs typeface="Arial"/>
              </a:rPr>
              <a:t>both commodities and children—that is, if children, like most  commodities, are assumed to be normal goods (demand for them rises with income), </a:t>
            </a:r>
            <a:r>
              <a:rPr dirty="0" sz="1100">
                <a:latin typeface="Arial"/>
                <a:cs typeface="Arial"/>
              </a:rPr>
              <a:t>an  </a:t>
            </a:r>
            <a:r>
              <a:rPr dirty="0" sz="1100" spc="-5">
                <a:latin typeface="Arial"/>
                <a:cs typeface="Arial"/>
              </a:rPr>
              <a:t>important if in low income countries where children are often in demand primarily as a source of  future financial security. Note that as income rises, parents may spend more on each child,  preferring a smaller number of children, each of higher “quality,” for example, healthier and  better educated.</a:t>
            </a:r>
            <a:endParaRPr sz="1100">
              <a:latin typeface="Arial"/>
              <a:cs typeface="Arial"/>
            </a:endParaRPr>
          </a:p>
        </p:txBody>
      </p:sp>
      <p:sp>
        <p:nvSpPr>
          <p:cNvPr id="11" name="object 11"/>
          <p:cNvSpPr/>
          <p:nvPr/>
        </p:nvSpPr>
        <p:spPr>
          <a:xfrm>
            <a:off x="1325117" y="2746248"/>
            <a:ext cx="247015" cy="0"/>
          </a:xfrm>
          <a:custGeom>
            <a:avLst/>
            <a:gdLst/>
            <a:ahLst/>
            <a:cxnLst/>
            <a:rect l="l" t="t" r="r" b="b"/>
            <a:pathLst>
              <a:path w="247015" h="0">
                <a:moveTo>
                  <a:pt x="0" y="0"/>
                </a:moveTo>
                <a:lnTo>
                  <a:pt x="246888" y="0"/>
                </a:lnTo>
              </a:path>
            </a:pathLst>
          </a:custGeom>
          <a:ln w="6337">
            <a:solidFill>
              <a:srgbClr val="000000"/>
            </a:solidFill>
          </a:ln>
        </p:spPr>
        <p:txBody>
          <a:bodyPr wrap="square" lIns="0" tIns="0" rIns="0" bIns="0" rtlCol="0"/>
          <a:lstStyle/>
          <a:p/>
        </p:txBody>
      </p:sp>
      <p:sp>
        <p:nvSpPr>
          <p:cNvPr id="12" name="object 12"/>
          <p:cNvSpPr txBox="1"/>
          <p:nvPr/>
        </p:nvSpPr>
        <p:spPr>
          <a:xfrm>
            <a:off x="1295405" y="2523137"/>
            <a:ext cx="549275" cy="208915"/>
          </a:xfrm>
          <a:prstGeom prst="rect">
            <a:avLst/>
          </a:prstGeom>
        </p:spPr>
        <p:txBody>
          <a:bodyPr wrap="square" lIns="0" tIns="12700" rIns="0" bIns="0" rtlCol="0" vert="horz">
            <a:spAutoFit/>
          </a:bodyPr>
          <a:lstStyle/>
          <a:p>
            <a:pPr marL="38100">
              <a:lnSpc>
                <a:spcPct val="100000"/>
              </a:lnSpc>
              <a:spcBef>
                <a:spcPts val="100"/>
              </a:spcBef>
            </a:pPr>
            <a:r>
              <a:rPr dirty="0" sz="1200" spc="-5">
                <a:latin typeface="Symbol"/>
                <a:cs typeface="Symbol"/>
              </a:rPr>
              <a:t></a:t>
            </a:r>
            <a:r>
              <a:rPr dirty="0" sz="1200" spc="-5" i="1">
                <a:latin typeface="Times New Roman"/>
                <a:cs typeface="Times New Roman"/>
              </a:rPr>
              <a:t>C</a:t>
            </a:r>
            <a:r>
              <a:rPr dirty="0" sz="700" spc="-5" i="1">
                <a:latin typeface="Times New Roman"/>
                <a:cs typeface="Times New Roman"/>
              </a:rPr>
              <a:t>d </a:t>
            </a:r>
            <a:r>
              <a:rPr dirty="0" baseline="-34722" sz="1800">
                <a:latin typeface="Symbol"/>
                <a:cs typeface="Symbol"/>
              </a:rPr>
              <a:t></a:t>
            </a:r>
            <a:r>
              <a:rPr dirty="0" baseline="-34722" sz="1800" spc="-240">
                <a:latin typeface="Times New Roman"/>
                <a:cs typeface="Times New Roman"/>
              </a:rPr>
              <a:t> </a:t>
            </a:r>
            <a:r>
              <a:rPr dirty="0" baseline="-34722" sz="1800">
                <a:latin typeface="Times New Roman"/>
                <a:cs typeface="Times New Roman"/>
              </a:rPr>
              <a:t>0</a:t>
            </a:r>
            <a:endParaRPr baseline="-34722" sz="1800">
              <a:latin typeface="Times New Roman"/>
              <a:cs typeface="Times New Roman"/>
            </a:endParaRPr>
          </a:p>
        </p:txBody>
      </p:sp>
      <p:sp>
        <p:nvSpPr>
          <p:cNvPr id="13" name="object 13"/>
          <p:cNvSpPr txBox="1"/>
          <p:nvPr/>
        </p:nvSpPr>
        <p:spPr>
          <a:xfrm>
            <a:off x="1348239" y="2738021"/>
            <a:ext cx="184150" cy="208915"/>
          </a:xfrm>
          <a:prstGeom prst="rect">
            <a:avLst/>
          </a:prstGeom>
        </p:spPr>
        <p:txBody>
          <a:bodyPr wrap="square" lIns="0" tIns="12700" rIns="0" bIns="0" rtlCol="0" vert="horz">
            <a:spAutoFit/>
          </a:bodyPr>
          <a:lstStyle/>
          <a:p>
            <a:pPr marL="12700">
              <a:lnSpc>
                <a:spcPct val="100000"/>
              </a:lnSpc>
              <a:spcBef>
                <a:spcPts val="100"/>
              </a:spcBef>
            </a:pPr>
            <a:r>
              <a:rPr dirty="0" sz="1200" spc="-15">
                <a:latin typeface="Symbol"/>
                <a:cs typeface="Symbol"/>
              </a:rPr>
              <a:t></a:t>
            </a:r>
            <a:r>
              <a:rPr dirty="0" sz="1200" spc="-5" i="1">
                <a:latin typeface="Times New Roman"/>
                <a:cs typeface="Times New Roman"/>
              </a:rPr>
              <a:t>Y</a:t>
            </a:r>
            <a:endParaRPr sz="1200">
              <a:latin typeface="Times New Roman"/>
              <a:cs typeface="Times New Roman"/>
            </a:endParaRPr>
          </a:p>
        </p:txBody>
      </p:sp>
      <p:sp>
        <p:nvSpPr>
          <p:cNvPr id="14" name="object 14"/>
          <p:cNvSpPr/>
          <p:nvPr/>
        </p:nvSpPr>
        <p:spPr>
          <a:xfrm>
            <a:off x="1325117" y="3438905"/>
            <a:ext cx="247015" cy="0"/>
          </a:xfrm>
          <a:custGeom>
            <a:avLst/>
            <a:gdLst/>
            <a:ahLst/>
            <a:cxnLst/>
            <a:rect l="l" t="t" r="r" b="b"/>
            <a:pathLst>
              <a:path w="247015" h="0">
                <a:moveTo>
                  <a:pt x="0" y="0"/>
                </a:moveTo>
                <a:lnTo>
                  <a:pt x="246888" y="0"/>
                </a:lnTo>
              </a:path>
            </a:pathLst>
          </a:custGeom>
          <a:ln w="6337">
            <a:solidFill>
              <a:srgbClr val="000000"/>
            </a:solidFill>
          </a:ln>
        </p:spPr>
        <p:txBody>
          <a:bodyPr wrap="square" lIns="0" tIns="0" rIns="0" bIns="0" rtlCol="0"/>
          <a:lstStyle/>
          <a:p/>
        </p:txBody>
      </p:sp>
      <p:sp>
        <p:nvSpPr>
          <p:cNvPr id="15" name="object 15"/>
          <p:cNvSpPr txBox="1"/>
          <p:nvPr/>
        </p:nvSpPr>
        <p:spPr>
          <a:xfrm>
            <a:off x="1295389" y="3215795"/>
            <a:ext cx="549275" cy="208915"/>
          </a:xfrm>
          <a:prstGeom prst="rect">
            <a:avLst/>
          </a:prstGeom>
        </p:spPr>
        <p:txBody>
          <a:bodyPr wrap="square" lIns="0" tIns="12700" rIns="0" bIns="0" rtlCol="0" vert="horz">
            <a:spAutoFit/>
          </a:bodyPr>
          <a:lstStyle/>
          <a:p>
            <a:pPr marL="38100">
              <a:lnSpc>
                <a:spcPct val="100000"/>
              </a:lnSpc>
              <a:spcBef>
                <a:spcPts val="100"/>
              </a:spcBef>
            </a:pPr>
            <a:r>
              <a:rPr dirty="0" sz="1200" spc="-5">
                <a:latin typeface="Symbol"/>
                <a:cs typeface="Symbol"/>
              </a:rPr>
              <a:t></a:t>
            </a:r>
            <a:r>
              <a:rPr dirty="0" sz="1200" spc="-5" i="1">
                <a:latin typeface="Times New Roman"/>
                <a:cs typeface="Times New Roman"/>
              </a:rPr>
              <a:t>C</a:t>
            </a:r>
            <a:r>
              <a:rPr dirty="0" sz="700" spc="-5" i="1">
                <a:latin typeface="Times New Roman"/>
                <a:cs typeface="Times New Roman"/>
              </a:rPr>
              <a:t>d </a:t>
            </a:r>
            <a:r>
              <a:rPr dirty="0" baseline="-34722" sz="1800">
                <a:latin typeface="Symbol"/>
                <a:cs typeface="Symbol"/>
              </a:rPr>
              <a:t></a:t>
            </a:r>
            <a:r>
              <a:rPr dirty="0" baseline="-34722" sz="1800" spc="-240">
                <a:latin typeface="Times New Roman"/>
                <a:cs typeface="Times New Roman"/>
              </a:rPr>
              <a:t> </a:t>
            </a:r>
            <a:r>
              <a:rPr dirty="0" baseline="-34722" sz="1800">
                <a:latin typeface="Times New Roman"/>
                <a:cs typeface="Times New Roman"/>
              </a:rPr>
              <a:t>0</a:t>
            </a:r>
            <a:endParaRPr baseline="-34722" sz="1800">
              <a:latin typeface="Times New Roman"/>
              <a:cs typeface="Times New Roman"/>
            </a:endParaRPr>
          </a:p>
        </p:txBody>
      </p:sp>
      <p:sp>
        <p:nvSpPr>
          <p:cNvPr id="16" name="object 16"/>
          <p:cNvSpPr txBox="1"/>
          <p:nvPr/>
        </p:nvSpPr>
        <p:spPr>
          <a:xfrm>
            <a:off x="1331464" y="3430680"/>
            <a:ext cx="231775" cy="208915"/>
          </a:xfrm>
          <a:prstGeom prst="rect">
            <a:avLst/>
          </a:prstGeom>
        </p:spPr>
        <p:txBody>
          <a:bodyPr wrap="square" lIns="0" tIns="12700" rIns="0" bIns="0" rtlCol="0" vert="horz">
            <a:spAutoFit/>
          </a:bodyPr>
          <a:lstStyle/>
          <a:p>
            <a:pPr marL="12700">
              <a:lnSpc>
                <a:spcPct val="100000"/>
              </a:lnSpc>
              <a:spcBef>
                <a:spcPts val="100"/>
              </a:spcBef>
            </a:pPr>
            <a:r>
              <a:rPr dirty="0" sz="1200" spc="-15">
                <a:latin typeface="Symbol"/>
                <a:cs typeface="Symbol"/>
              </a:rPr>
              <a:t></a:t>
            </a:r>
            <a:r>
              <a:rPr dirty="0" sz="1200" spc="-5" i="1">
                <a:latin typeface="Times New Roman"/>
                <a:cs typeface="Times New Roman"/>
              </a:rPr>
              <a:t>P</a:t>
            </a:r>
            <a:r>
              <a:rPr dirty="0" sz="700" i="1">
                <a:latin typeface="Times New Roman"/>
                <a:cs typeface="Times New Roman"/>
              </a:rPr>
              <a:t>x</a:t>
            </a:r>
            <a:endParaRPr sz="700">
              <a:latin typeface="Times New Roman"/>
              <a:cs typeface="Times New Roman"/>
            </a:endParaRPr>
          </a:p>
        </p:txBody>
      </p:sp>
      <p:sp>
        <p:nvSpPr>
          <p:cNvPr id="17" name="object 17"/>
          <p:cNvSpPr/>
          <p:nvPr/>
        </p:nvSpPr>
        <p:spPr>
          <a:xfrm>
            <a:off x="1334261" y="3078479"/>
            <a:ext cx="247015" cy="0"/>
          </a:xfrm>
          <a:custGeom>
            <a:avLst/>
            <a:gdLst/>
            <a:ahLst/>
            <a:cxnLst/>
            <a:rect l="l" t="t" r="r" b="b"/>
            <a:pathLst>
              <a:path w="247015" h="0">
                <a:moveTo>
                  <a:pt x="0" y="0"/>
                </a:moveTo>
                <a:lnTo>
                  <a:pt x="246888" y="0"/>
                </a:lnTo>
              </a:path>
            </a:pathLst>
          </a:custGeom>
          <a:ln w="6337">
            <a:solidFill>
              <a:srgbClr val="000000"/>
            </a:solidFill>
          </a:ln>
        </p:spPr>
        <p:txBody>
          <a:bodyPr wrap="square" lIns="0" tIns="0" rIns="0" bIns="0" rtlCol="0"/>
          <a:lstStyle/>
          <a:p/>
        </p:txBody>
      </p:sp>
      <p:sp>
        <p:nvSpPr>
          <p:cNvPr id="18" name="object 18"/>
          <p:cNvSpPr txBox="1"/>
          <p:nvPr/>
        </p:nvSpPr>
        <p:spPr>
          <a:xfrm>
            <a:off x="1304535" y="2855369"/>
            <a:ext cx="546100" cy="208915"/>
          </a:xfrm>
          <a:prstGeom prst="rect">
            <a:avLst/>
          </a:prstGeom>
        </p:spPr>
        <p:txBody>
          <a:bodyPr wrap="square" lIns="0" tIns="12700" rIns="0" bIns="0" rtlCol="0" vert="horz">
            <a:spAutoFit/>
          </a:bodyPr>
          <a:lstStyle/>
          <a:p>
            <a:pPr marL="38100">
              <a:lnSpc>
                <a:spcPct val="100000"/>
              </a:lnSpc>
              <a:spcBef>
                <a:spcPts val="100"/>
              </a:spcBef>
            </a:pPr>
            <a:r>
              <a:rPr dirty="0" sz="1200" spc="-5">
                <a:latin typeface="Symbol"/>
                <a:cs typeface="Symbol"/>
              </a:rPr>
              <a:t></a:t>
            </a:r>
            <a:r>
              <a:rPr dirty="0" sz="1200" spc="-5" i="1">
                <a:latin typeface="Times New Roman"/>
                <a:cs typeface="Times New Roman"/>
              </a:rPr>
              <a:t>C</a:t>
            </a:r>
            <a:r>
              <a:rPr dirty="0" sz="700" spc="-5" i="1">
                <a:latin typeface="Times New Roman"/>
                <a:cs typeface="Times New Roman"/>
              </a:rPr>
              <a:t>d </a:t>
            </a:r>
            <a:r>
              <a:rPr dirty="0" baseline="-34722" sz="1800">
                <a:latin typeface="Symbol"/>
                <a:cs typeface="Symbol"/>
              </a:rPr>
              <a:t></a:t>
            </a:r>
            <a:r>
              <a:rPr dirty="0" baseline="-34722" sz="1800" spc="-22">
                <a:latin typeface="Times New Roman"/>
                <a:cs typeface="Times New Roman"/>
              </a:rPr>
              <a:t> </a:t>
            </a:r>
            <a:r>
              <a:rPr dirty="0" baseline="-34722" sz="1800">
                <a:latin typeface="Times New Roman"/>
                <a:cs typeface="Times New Roman"/>
              </a:rPr>
              <a:t>0</a:t>
            </a:r>
            <a:endParaRPr baseline="-34722" sz="1800">
              <a:latin typeface="Times New Roman"/>
              <a:cs typeface="Times New Roman"/>
            </a:endParaRPr>
          </a:p>
        </p:txBody>
      </p:sp>
      <p:sp>
        <p:nvSpPr>
          <p:cNvPr id="19" name="object 19"/>
          <p:cNvSpPr txBox="1"/>
          <p:nvPr/>
        </p:nvSpPr>
        <p:spPr>
          <a:xfrm>
            <a:off x="1340610" y="3070254"/>
            <a:ext cx="231775" cy="208915"/>
          </a:xfrm>
          <a:prstGeom prst="rect">
            <a:avLst/>
          </a:prstGeom>
        </p:spPr>
        <p:txBody>
          <a:bodyPr wrap="square" lIns="0" tIns="12700" rIns="0" bIns="0" rtlCol="0" vert="horz">
            <a:spAutoFit/>
          </a:bodyPr>
          <a:lstStyle/>
          <a:p>
            <a:pPr marL="12700">
              <a:lnSpc>
                <a:spcPct val="100000"/>
              </a:lnSpc>
              <a:spcBef>
                <a:spcPts val="100"/>
              </a:spcBef>
            </a:pPr>
            <a:r>
              <a:rPr dirty="0" sz="1200" spc="-15">
                <a:latin typeface="Symbol"/>
                <a:cs typeface="Symbol"/>
              </a:rPr>
              <a:t></a:t>
            </a:r>
            <a:r>
              <a:rPr dirty="0" sz="1200" spc="-5" i="1">
                <a:latin typeface="Times New Roman"/>
                <a:cs typeface="Times New Roman"/>
              </a:rPr>
              <a:t>P</a:t>
            </a:r>
            <a:r>
              <a:rPr dirty="0" sz="700" i="1">
                <a:latin typeface="Times New Roman"/>
                <a:cs typeface="Times New Roman"/>
              </a:rPr>
              <a:t>c</a:t>
            </a:r>
            <a:endParaRPr sz="700">
              <a:latin typeface="Times New Roman"/>
              <a:cs typeface="Times New Roman"/>
            </a:endParaRPr>
          </a:p>
        </p:txBody>
      </p:sp>
      <p:sp>
        <p:nvSpPr>
          <p:cNvPr id="20" name="object 20"/>
          <p:cNvSpPr/>
          <p:nvPr/>
        </p:nvSpPr>
        <p:spPr>
          <a:xfrm>
            <a:off x="1325117" y="3899153"/>
            <a:ext cx="247015" cy="0"/>
          </a:xfrm>
          <a:custGeom>
            <a:avLst/>
            <a:gdLst/>
            <a:ahLst/>
            <a:cxnLst/>
            <a:rect l="l" t="t" r="r" b="b"/>
            <a:pathLst>
              <a:path w="247015" h="0">
                <a:moveTo>
                  <a:pt x="0" y="0"/>
                </a:moveTo>
                <a:lnTo>
                  <a:pt x="246888" y="0"/>
                </a:lnTo>
              </a:path>
            </a:pathLst>
          </a:custGeom>
          <a:ln w="6337">
            <a:solidFill>
              <a:srgbClr val="000000"/>
            </a:solidFill>
          </a:ln>
        </p:spPr>
        <p:txBody>
          <a:bodyPr wrap="square" lIns="0" tIns="0" rIns="0" bIns="0" rtlCol="0"/>
          <a:lstStyle/>
          <a:p/>
        </p:txBody>
      </p:sp>
      <p:sp>
        <p:nvSpPr>
          <p:cNvPr id="21" name="object 21"/>
          <p:cNvSpPr txBox="1"/>
          <p:nvPr/>
        </p:nvSpPr>
        <p:spPr>
          <a:xfrm>
            <a:off x="1295406" y="3676043"/>
            <a:ext cx="546100" cy="208915"/>
          </a:xfrm>
          <a:prstGeom prst="rect">
            <a:avLst/>
          </a:prstGeom>
        </p:spPr>
        <p:txBody>
          <a:bodyPr wrap="square" lIns="0" tIns="12700" rIns="0" bIns="0" rtlCol="0" vert="horz">
            <a:spAutoFit/>
          </a:bodyPr>
          <a:lstStyle/>
          <a:p>
            <a:pPr marL="38100">
              <a:lnSpc>
                <a:spcPct val="100000"/>
              </a:lnSpc>
              <a:spcBef>
                <a:spcPts val="100"/>
              </a:spcBef>
            </a:pPr>
            <a:r>
              <a:rPr dirty="0" sz="1200" spc="-5">
                <a:latin typeface="Symbol"/>
                <a:cs typeface="Symbol"/>
              </a:rPr>
              <a:t></a:t>
            </a:r>
            <a:r>
              <a:rPr dirty="0" sz="1200" spc="-5" i="1">
                <a:latin typeface="Times New Roman"/>
                <a:cs typeface="Times New Roman"/>
              </a:rPr>
              <a:t>C</a:t>
            </a:r>
            <a:r>
              <a:rPr dirty="0" sz="700" spc="-5" i="1">
                <a:latin typeface="Times New Roman"/>
                <a:cs typeface="Times New Roman"/>
              </a:rPr>
              <a:t>d </a:t>
            </a:r>
            <a:r>
              <a:rPr dirty="0" baseline="-34722" sz="1800">
                <a:latin typeface="Symbol"/>
                <a:cs typeface="Symbol"/>
              </a:rPr>
              <a:t></a:t>
            </a:r>
            <a:r>
              <a:rPr dirty="0" baseline="-34722" sz="1800" spc="-22">
                <a:latin typeface="Times New Roman"/>
                <a:cs typeface="Times New Roman"/>
              </a:rPr>
              <a:t> </a:t>
            </a:r>
            <a:r>
              <a:rPr dirty="0" baseline="-34722" sz="1800">
                <a:latin typeface="Times New Roman"/>
                <a:cs typeface="Times New Roman"/>
              </a:rPr>
              <a:t>0</a:t>
            </a:r>
            <a:endParaRPr baseline="-34722" sz="1800">
              <a:latin typeface="Times New Roman"/>
              <a:cs typeface="Times New Roman"/>
            </a:endParaRPr>
          </a:p>
        </p:txBody>
      </p:sp>
      <p:sp>
        <p:nvSpPr>
          <p:cNvPr id="23" name="object 23"/>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24" name="object 24"/>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82</a:t>
            </a:r>
            <a:endParaRPr sz="1100">
              <a:latin typeface="Carlito"/>
              <a:cs typeface="Carlito"/>
            </a:endParaRPr>
          </a:p>
        </p:txBody>
      </p:sp>
      <p:sp>
        <p:nvSpPr>
          <p:cNvPr id="22" name="object 22"/>
          <p:cNvSpPr txBox="1"/>
          <p:nvPr/>
        </p:nvSpPr>
        <p:spPr>
          <a:xfrm>
            <a:off x="1356613" y="3890928"/>
            <a:ext cx="181610" cy="208915"/>
          </a:xfrm>
          <a:prstGeom prst="rect">
            <a:avLst/>
          </a:prstGeom>
        </p:spPr>
        <p:txBody>
          <a:bodyPr wrap="square" lIns="0" tIns="12700" rIns="0" bIns="0" rtlCol="0" vert="horz">
            <a:spAutoFit/>
          </a:bodyPr>
          <a:lstStyle/>
          <a:p>
            <a:pPr marL="12700">
              <a:lnSpc>
                <a:spcPct val="100000"/>
              </a:lnSpc>
              <a:spcBef>
                <a:spcPts val="100"/>
              </a:spcBef>
            </a:pPr>
            <a:r>
              <a:rPr dirty="0" sz="1200" spc="-15">
                <a:latin typeface="Symbol"/>
                <a:cs typeface="Symbol"/>
              </a:rPr>
              <a:t></a:t>
            </a:r>
            <a:r>
              <a:rPr dirty="0" sz="1200" i="1">
                <a:latin typeface="Times New Roman"/>
                <a:cs typeface="Times New Roman"/>
              </a:rPr>
              <a:t>t</a:t>
            </a:r>
            <a:r>
              <a:rPr dirty="0" sz="700" i="1">
                <a:latin typeface="Times New Roman"/>
                <a:cs typeface="Times New Roman"/>
              </a:rPr>
              <a:t>x</a:t>
            </a:r>
            <a:endParaRPr sz="700">
              <a:latin typeface="Times New Roman"/>
              <a:cs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5292344"/>
            <a:ext cx="5969635" cy="212090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Similarly, an increase in the price (opportunity cost) of children relative to other goods will cause  households to substitute commodities for children. Other factors (namely, income </a:t>
            </a:r>
            <a:r>
              <a:rPr dirty="0" sz="1100">
                <a:latin typeface="Arial"/>
                <a:cs typeface="Arial"/>
              </a:rPr>
              <a:t>and </a:t>
            </a:r>
            <a:r>
              <a:rPr dirty="0" sz="1100" spc="-5">
                <a:latin typeface="Arial"/>
                <a:cs typeface="Arial"/>
              </a:rPr>
              <a:t>tastes)  being constant, a rise in the relative price of children causes the household utility-maximizing  consumption combination to occur on a lower indifference curve, as shown by the movement </a:t>
            </a:r>
            <a:r>
              <a:rPr dirty="0" sz="1100">
                <a:latin typeface="Arial"/>
                <a:cs typeface="Arial"/>
              </a:rPr>
              <a:t>of  </a:t>
            </a:r>
            <a:r>
              <a:rPr dirty="0" sz="1100" spc="-5">
                <a:latin typeface="Arial"/>
                <a:cs typeface="Arial"/>
              </a:rPr>
              <a:t>the equilibrium point from f to e </a:t>
            </a:r>
            <a:r>
              <a:rPr dirty="0" sz="1100">
                <a:latin typeface="Arial"/>
                <a:cs typeface="Arial"/>
              </a:rPr>
              <a:t>when </a:t>
            </a:r>
            <a:r>
              <a:rPr dirty="0" sz="1100" spc="-5">
                <a:latin typeface="Arial"/>
                <a:cs typeface="Arial"/>
              </a:rPr>
              <a:t>the budget line rotates around point a to</a:t>
            </a:r>
            <a:r>
              <a:rPr dirty="0" sz="1100" spc="114">
                <a:latin typeface="Arial"/>
                <a:cs typeface="Arial"/>
              </a:rPr>
              <a:t> </a:t>
            </a:r>
            <a:r>
              <a:rPr dirty="0" sz="1100" spc="-5">
                <a:latin typeface="Arial"/>
                <a:cs typeface="Arial"/>
              </a:rPr>
              <a:t>ab.</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Note, finally, that if there is a simultaneous increase in household income and net child price as  a result of, say, expanding female employment opportunities and a rise in wages coupled with a  tax on children beyond a certain number per family, there will be both an outward shift and  downward rotation of the budget constraint line of Figure 6.9 to, say, dashed line cd. The result  is a new utility-maximizing combination that includes fewer children per family. This is just one  example of how the economic theory of fertility can shed light on the relationship between  economic development and population growth as well as suggest possible lines of</a:t>
            </a:r>
            <a:r>
              <a:rPr dirty="0" sz="1100" spc="145">
                <a:latin typeface="Arial"/>
                <a:cs typeface="Arial"/>
              </a:rPr>
              <a:t> </a:t>
            </a:r>
            <a:r>
              <a:rPr dirty="0" sz="1100" spc="-5">
                <a:latin typeface="Arial"/>
                <a:cs typeface="Arial"/>
              </a:rPr>
              <a:t>policy.</a:t>
            </a:r>
            <a:endParaRPr sz="1100">
              <a:latin typeface="Arial"/>
              <a:cs typeface="Arial"/>
            </a:endParaRPr>
          </a:p>
        </p:txBody>
      </p:sp>
      <p:sp>
        <p:nvSpPr>
          <p:cNvPr id="7" name="object 7"/>
          <p:cNvSpPr/>
          <p:nvPr/>
        </p:nvSpPr>
        <p:spPr>
          <a:xfrm>
            <a:off x="1714500" y="800100"/>
            <a:ext cx="4410456" cy="4438488"/>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83</a:t>
            </a:r>
            <a:endParaRPr sz="1100">
              <a:latin typeface="Carlito"/>
              <a:cs typeface="Carlito"/>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2292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12</a:t>
            </a:r>
            <a:endParaRPr sz="1100">
              <a:latin typeface="Arial"/>
              <a:cs typeface="Arial"/>
            </a:endParaRPr>
          </a:p>
          <a:p>
            <a:pPr>
              <a:lnSpc>
                <a:spcPct val="100000"/>
              </a:lnSpc>
              <a:spcBef>
                <a:spcPts val="35"/>
              </a:spcBef>
            </a:pPr>
            <a:endParaRPr sz="1200">
              <a:latin typeface="Arial"/>
              <a:cs typeface="Arial"/>
            </a:endParaRPr>
          </a:p>
          <a:p>
            <a:pPr marL="1687830" marR="89535" indent="-1591310">
              <a:lnSpc>
                <a:spcPts val="1270"/>
              </a:lnSpc>
              <a:spcBef>
                <a:spcPts val="5"/>
              </a:spcBef>
            </a:pPr>
            <a:r>
              <a:rPr dirty="0" sz="1100" spc="-5" b="1">
                <a:latin typeface="Arial"/>
                <a:cs typeface="Arial"/>
              </a:rPr>
              <a:t>POPULATION GROWTH AND ECONOMIC DEVELOPMENT: CAUSES, CONSEQUENCES  AND CONTROVERSIES</a:t>
            </a:r>
            <a:r>
              <a:rPr dirty="0" sz="1100" spc="5" b="1">
                <a:latin typeface="Arial"/>
                <a:cs typeface="Arial"/>
              </a:rPr>
              <a:t> </a:t>
            </a:r>
            <a:r>
              <a:rPr dirty="0" sz="1100" spc="-10" b="1">
                <a:latin typeface="Arial"/>
                <a:cs typeface="Arial"/>
              </a:rPr>
              <a:t>(CONTINUED2)</a:t>
            </a:r>
            <a:endParaRPr sz="1100">
              <a:latin typeface="Arial"/>
              <a:cs typeface="Arial"/>
            </a:endParaRPr>
          </a:p>
          <a:p>
            <a:pPr>
              <a:lnSpc>
                <a:spcPct val="100000"/>
              </a:lnSpc>
              <a:spcBef>
                <a:spcPts val="15"/>
              </a:spcBef>
            </a:pPr>
            <a:endParaRPr sz="1100">
              <a:latin typeface="Arial"/>
              <a:cs typeface="Arial"/>
            </a:endParaRPr>
          </a:p>
          <a:p>
            <a:pPr algn="just" marL="12700">
              <a:lnSpc>
                <a:spcPct val="100000"/>
              </a:lnSpc>
            </a:pPr>
            <a:r>
              <a:rPr dirty="0" sz="1100" spc="-5" b="1">
                <a:latin typeface="Arial"/>
                <a:cs typeface="Arial"/>
              </a:rPr>
              <a:t>THE DEMAND FOR CHILDREN </a:t>
            </a:r>
            <a:r>
              <a:rPr dirty="0" sz="1100" b="1">
                <a:latin typeface="Arial"/>
                <a:cs typeface="Arial"/>
              </a:rPr>
              <a:t>IN </a:t>
            </a:r>
            <a:r>
              <a:rPr dirty="0" sz="1100" spc="-5" b="1">
                <a:latin typeface="Arial"/>
                <a:cs typeface="Arial"/>
              </a:rPr>
              <a:t>DEVELOPING</a:t>
            </a:r>
            <a:r>
              <a:rPr dirty="0" sz="1100" spc="30"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900"/>
              </a:lnSpc>
            </a:pPr>
            <a:r>
              <a:rPr dirty="0" sz="1100" spc="-5">
                <a:latin typeface="Arial"/>
                <a:cs typeface="Arial"/>
              </a:rPr>
              <a:t>The economic theory of fertility assumes that the household demand for children is determined  by family preferences for a certain number of surviving (usually male) children (i.e., in regions of  high mortality, parents may produce more children than they actually desire in the expectation  that some will not survive), by the price or “opportunity cost” of rearing these children, and by  levels of family income. Children in poor societies are seen partly as economic investment  goods in that there is an expected return in the form of both child labor and the provision of  financial support for parents in old age. However, in </a:t>
            </a:r>
            <a:r>
              <a:rPr dirty="0" sz="1100">
                <a:latin typeface="Arial"/>
                <a:cs typeface="Arial"/>
              </a:rPr>
              <a:t>many </a:t>
            </a:r>
            <a:r>
              <a:rPr dirty="0" sz="1100" spc="-5">
                <a:latin typeface="Arial"/>
                <a:cs typeface="Arial"/>
              </a:rPr>
              <a:t>developing countries, there is a  strong intrinsic psychological and cultural determinant of family size, so the first two or three  children should be viewed as “consumer” goods for which demand </a:t>
            </a:r>
            <a:r>
              <a:rPr dirty="0" sz="1100">
                <a:latin typeface="Arial"/>
                <a:cs typeface="Arial"/>
              </a:rPr>
              <a:t>may </a:t>
            </a:r>
            <a:r>
              <a:rPr dirty="0" sz="1100" spc="-5">
                <a:latin typeface="Arial"/>
                <a:cs typeface="Arial"/>
              </a:rPr>
              <a:t>not be very responsive  to relative price</a:t>
            </a:r>
            <a:r>
              <a:rPr dirty="0" sz="1100" spc="5">
                <a:latin typeface="Arial"/>
                <a:cs typeface="Arial"/>
              </a:rPr>
              <a:t> </a:t>
            </a:r>
            <a:r>
              <a:rPr dirty="0" sz="1100" spc="-5">
                <a:latin typeface="Arial"/>
                <a:cs typeface="Arial"/>
              </a:rPr>
              <a:t>changes.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The choice mechanism in the economic theory of fertility as applied to developing countries is  assumed, therefore, to exist primarily with regard to the additional (“marginal”) children who are  considered as investments. In deciding whether or not to have additional children, parents are  assumed to weigh private economic benefits against private costs, where the principal benefits  are the expected income from child labor, usually on the farm, and eventual financial support for  elderly parents. Balanced against these benefits are the two principal elements </a:t>
            </a:r>
            <a:r>
              <a:rPr dirty="0" sz="1100">
                <a:latin typeface="Arial"/>
                <a:cs typeface="Arial"/>
              </a:rPr>
              <a:t>of </a:t>
            </a:r>
            <a:r>
              <a:rPr dirty="0" sz="1100" spc="-5">
                <a:latin typeface="Arial"/>
                <a:cs typeface="Arial"/>
              </a:rPr>
              <a:t>cost: the  opportunity cost of the mother’s time (the income she could earn if she were not at home caring  for her children) and the cost of educating children—the financial trade-off between having  fewer “high quality,” high-cost, educated children with high-income-earning potential versus  more “low-quality,” low-cost, uneducated children with much lower earning</a:t>
            </a:r>
            <a:r>
              <a:rPr dirty="0" sz="1100" spc="105">
                <a:latin typeface="Arial"/>
                <a:cs typeface="Arial"/>
              </a:rPr>
              <a:t> </a:t>
            </a:r>
            <a:r>
              <a:rPr dirty="0" sz="1100" spc="-5">
                <a:latin typeface="Arial"/>
                <a:cs typeface="Arial"/>
              </a:rPr>
              <a:t>prospects.</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900"/>
              </a:lnSpc>
            </a:pPr>
            <a:r>
              <a:rPr dirty="0" sz="1100" spc="-5">
                <a:latin typeface="Arial"/>
                <a:cs typeface="Arial"/>
              </a:rPr>
              <a:t>Using the same thought processes as in the traditional theory of consumer behavior, the theory  of family fertility concludes that when the price or cost of children rises as a result of, say,  increased educational and employment opportunities for women or a rise in school fees or the  establishment of minimum-age child labor laws or the provision of publicly financed old-age  social security schemes, parents will demand fewer additional children, substituting, perhaps,  quality for quantity or a mother’s employment income for </a:t>
            </a:r>
            <a:r>
              <a:rPr dirty="0" sz="1100">
                <a:latin typeface="Arial"/>
                <a:cs typeface="Arial"/>
              </a:rPr>
              <a:t>her </a:t>
            </a:r>
            <a:r>
              <a:rPr dirty="0" sz="1100" spc="-5">
                <a:latin typeface="Arial"/>
                <a:cs typeface="Arial"/>
              </a:rPr>
              <a:t>child-rearing activities. It follows  that one way to induce families to desire fewer children is to raise the price of child rearing by,  say, providing greater educational opportunities and a wider range of higher-paying jobs for  young women.</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SOME EMPIRICAL</a:t>
            </a:r>
            <a:r>
              <a:rPr dirty="0" sz="1100" b="1">
                <a:latin typeface="Arial"/>
                <a:cs typeface="Arial"/>
              </a:rPr>
              <a:t> </a:t>
            </a:r>
            <a:r>
              <a:rPr dirty="0" sz="1100" spc="-5" b="1">
                <a:latin typeface="Arial"/>
                <a:cs typeface="Arial"/>
              </a:rPr>
              <a:t>EVIDENCE</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900"/>
              </a:lnSpc>
            </a:pPr>
            <a:r>
              <a:rPr dirty="0" sz="1100" spc="-5">
                <a:latin typeface="Arial"/>
                <a:cs typeface="Arial"/>
              </a:rPr>
              <a:t>Statistical studies in a broad spectrum of developing countries have provided support for the  economic theory of fertility. For example; it has been found that high female employment  opportunities outside the home and greater female school attendance, especially at the primary  and secondary levels, are associated with significantly lower levels of fertility. As women  become better educated, they tend to earn a larger share of household income and to produce  fewer children. Moreover, these studies have confirmed the strong association between  declines in child mortality and the subsequent decline in fertility. Assuming that households  desire a target number of surviving children, increased female education and higher levels of  income</a:t>
            </a:r>
            <a:r>
              <a:rPr dirty="0" sz="1100" spc="140">
                <a:latin typeface="Arial"/>
                <a:cs typeface="Arial"/>
              </a:rPr>
              <a:t> </a:t>
            </a:r>
            <a:r>
              <a:rPr dirty="0" sz="1100" spc="-5">
                <a:latin typeface="Arial"/>
                <a:cs typeface="Arial"/>
              </a:rPr>
              <a:t>can</a:t>
            </a:r>
            <a:r>
              <a:rPr dirty="0" sz="1100" spc="140">
                <a:latin typeface="Arial"/>
                <a:cs typeface="Arial"/>
              </a:rPr>
              <a:t> </a:t>
            </a:r>
            <a:r>
              <a:rPr dirty="0" sz="1100" spc="-5">
                <a:latin typeface="Arial"/>
                <a:cs typeface="Arial"/>
              </a:rPr>
              <a:t>decrease</a:t>
            </a:r>
            <a:r>
              <a:rPr dirty="0" sz="1100" spc="145">
                <a:latin typeface="Arial"/>
                <a:cs typeface="Arial"/>
              </a:rPr>
              <a:t> </a:t>
            </a:r>
            <a:r>
              <a:rPr dirty="0" sz="1100" spc="-5">
                <a:latin typeface="Arial"/>
                <a:cs typeface="Arial"/>
              </a:rPr>
              <a:t>child</a:t>
            </a:r>
            <a:r>
              <a:rPr dirty="0" sz="1100" spc="140">
                <a:latin typeface="Arial"/>
                <a:cs typeface="Arial"/>
              </a:rPr>
              <a:t> </a:t>
            </a:r>
            <a:r>
              <a:rPr dirty="0" sz="1100" spc="-5">
                <a:latin typeface="Arial"/>
                <a:cs typeface="Arial"/>
              </a:rPr>
              <a:t>mortality</a:t>
            </a:r>
            <a:r>
              <a:rPr dirty="0" sz="1100" spc="145">
                <a:latin typeface="Arial"/>
                <a:cs typeface="Arial"/>
              </a:rPr>
              <a:t> </a:t>
            </a:r>
            <a:r>
              <a:rPr dirty="0" sz="1100" spc="-5">
                <a:latin typeface="Arial"/>
                <a:cs typeface="Arial"/>
              </a:rPr>
              <a:t>and</a:t>
            </a:r>
            <a:r>
              <a:rPr dirty="0" sz="1100" spc="140">
                <a:latin typeface="Arial"/>
                <a:cs typeface="Arial"/>
              </a:rPr>
              <a:t> </a:t>
            </a:r>
            <a:r>
              <a:rPr dirty="0" sz="1100" spc="-5">
                <a:latin typeface="Arial"/>
                <a:cs typeface="Arial"/>
              </a:rPr>
              <a:t>therefore</a:t>
            </a:r>
            <a:r>
              <a:rPr dirty="0" sz="1100" spc="145">
                <a:latin typeface="Arial"/>
                <a:cs typeface="Arial"/>
              </a:rPr>
              <a:t> </a:t>
            </a:r>
            <a:r>
              <a:rPr dirty="0" sz="1100" spc="-5">
                <a:latin typeface="Arial"/>
                <a:cs typeface="Arial"/>
              </a:rPr>
              <a:t>increase</a:t>
            </a:r>
            <a:r>
              <a:rPr dirty="0" sz="1100" spc="140">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chances</a:t>
            </a:r>
            <a:r>
              <a:rPr dirty="0" sz="1100" spc="140">
                <a:latin typeface="Arial"/>
                <a:cs typeface="Arial"/>
              </a:rPr>
              <a:t> </a:t>
            </a:r>
            <a:r>
              <a:rPr dirty="0" sz="1100" spc="-5">
                <a:latin typeface="Arial"/>
                <a:cs typeface="Arial"/>
              </a:rPr>
              <a:t>that</a:t>
            </a:r>
            <a:r>
              <a:rPr dirty="0" sz="1100" spc="140">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firstborn</a:t>
            </a:r>
            <a:r>
              <a:rPr dirty="0" sz="1100" spc="140">
                <a:latin typeface="Arial"/>
                <a:cs typeface="Arial"/>
              </a:rPr>
              <a:t> </a:t>
            </a:r>
            <a:r>
              <a:rPr dirty="0" sz="1100" spc="-5">
                <a:latin typeface="Arial"/>
                <a:cs typeface="Arial"/>
              </a:rPr>
              <a:t>will</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84</a:t>
            </a:r>
            <a:endParaRPr sz="1100">
              <a:latin typeface="Carlito"/>
              <a:cs typeface="Carlito"/>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816610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survive. As a result, fewer births may be necessary to attain the same number of surviving  children. This fact alone underlines the importance of educating women and improving public  health and child nutrition programs in reducing fertility</a:t>
            </a:r>
            <a:r>
              <a:rPr dirty="0" sz="1100" spc="45">
                <a:latin typeface="Arial"/>
                <a:cs typeface="Arial"/>
              </a:rPr>
              <a:t> </a:t>
            </a:r>
            <a:r>
              <a:rPr dirty="0" sz="1100" spc="-5">
                <a:latin typeface="Arial"/>
                <a:cs typeface="Arial"/>
              </a:rPr>
              <a:t>levels.</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IMPLICATIONS FOR DEVELOPMENT AND</a:t>
            </a:r>
            <a:r>
              <a:rPr dirty="0" sz="1100" spc="15" b="1">
                <a:latin typeface="Arial"/>
                <a:cs typeface="Arial"/>
              </a:rPr>
              <a:t> </a:t>
            </a:r>
            <a:r>
              <a:rPr dirty="0" sz="1100" b="1">
                <a:latin typeface="Arial"/>
                <a:cs typeface="Arial"/>
              </a:rPr>
              <a:t>FERTILITY</a:t>
            </a:r>
            <a:endParaRPr sz="1100">
              <a:latin typeface="Arial"/>
              <a:cs typeface="Arial"/>
            </a:endParaRPr>
          </a:p>
          <a:p>
            <a:pPr>
              <a:lnSpc>
                <a:spcPct val="100000"/>
              </a:lnSpc>
              <a:spcBef>
                <a:spcPts val="25"/>
              </a:spcBef>
            </a:pPr>
            <a:endParaRPr sz="1200">
              <a:latin typeface="Arial"/>
              <a:cs typeface="Arial"/>
            </a:endParaRPr>
          </a:p>
          <a:p>
            <a:pPr algn="just" marL="12700" marR="5080">
              <a:lnSpc>
                <a:spcPts val="1270"/>
              </a:lnSpc>
            </a:pPr>
            <a:r>
              <a:rPr dirty="0" sz="1100" spc="-5">
                <a:latin typeface="Arial"/>
                <a:cs typeface="Arial"/>
              </a:rPr>
              <a:t>All of the foregoing can be summarized by saying that the effect of social and economic  progress in lowering fertility in developing countries will be the greatest when the majority of the  population and especially the very </a:t>
            </a:r>
            <a:r>
              <a:rPr dirty="0" sz="1100">
                <a:latin typeface="Arial"/>
                <a:cs typeface="Arial"/>
              </a:rPr>
              <a:t>poor </a:t>
            </a:r>
            <a:r>
              <a:rPr dirty="0" sz="1100" spc="-5">
                <a:latin typeface="Arial"/>
                <a:cs typeface="Arial"/>
              </a:rPr>
              <a:t>share in its benefits. Specifically, birth rates among the  very poor are likely to fall where the following socioeconomic changes come to</a:t>
            </a:r>
            <a:r>
              <a:rPr dirty="0" sz="1100" spc="125">
                <a:latin typeface="Arial"/>
                <a:cs typeface="Arial"/>
              </a:rPr>
              <a:t> </a:t>
            </a:r>
            <a:r>
              <a:rPr dirty="0" sz="1100" spc="-5">
                <a:latin typeface="Arial"/>
                <a:cs typeface="Arial"/>
              </a:rPr>
              <a:t>pass:</a:t>
            </a:r>
            <a:endParaRPr sz="1100">
              <a:latin typeface="Arial"/>
              <a:cs typeface="Arial"/>
            </a:endParaRPr>
          </a:p>
          <a:p>
            <a:pPr>
              <a:lnSpc>
                <a:spcPct val="100000"/>
              </a:lnSpc>
              <a:spcBef>
                <a:spcPts val="35"/>
              </a:spcBef>
            </a:pPr>
            <a:endParaRPr sz="1050">
              <a:latin typeface="Arial"/>
              <a:cs typeface="Arial"/>
            </a:endParaRPr>
          </a:p>
          <a:p>
            <a:pPr algn="just" marL="469900" marR="7620" indent="-228600">
              <a:lnSpc>
                <a:spcPts val="1270"/>
              </a:lnSpc>
              <a:buFont typeface="Arial"/>
              <a:buAutoNum type="arabicPeriod"/>
              <a:tabLst>
                <a:tab pos="469900" algn="l"/>
              </a:tabLst>
            </a:pPr>
            <a:r>
              <a:rPr dirty="0" sz="1100" spc="-5">
                <a:latin typeface="Arial"/>
                <a:cs typeface="Arial"/>
              </a:rPr>
              <a:t>An increase in the education of women and a consequent change in their role and  status.</a:t>
            </a:r>
            <a:endParaRPr sz="1100">
              <a:latin typeface="Arial"/>
              <a:cs typeface="Arial"/>
            </a:endParaRPr>
          </a:p>
          <a:p>
            <a:pPr algn="just" marL="469900" indent="-228600">
              <a:lnSpc>
                <a:spcPts val="1200"/>
              </a:lnSpc>
              <a:buFont typeface="Arial"/>
              <a:buAutoNum type="arabicPeriod"/>
              <a:tabLst>
                <a:tab pos="469900" algn="l"/>
              </a:tabLst>
            </a:pPr>
            <a:r>
              <a:rPr dirty="0" sz="1100" spc="-5">
                <a:latin typeface="Arial"/>
                <a:cs typeface="Arial"/>
              </a:rPr>
              <a:t>An</a:t>
            </a:r>
            <a:r>
              <a:rPr dirty="0" sz="1100" spc="90">
                <a:latin typeface="Arial"/>
                <a:cs typeface="Arial"/>
              </a:rPr>
              <a:t> </a:t>
            </a:r>
            <a:r>
              <a:rPr dirty="0" sz="1100" spc="-5">
                <a:latin typeface="Arial"/>
                <a:cs typeface="Arial"/>
              </a:rPr>
              <a:t>increase</a:t>
            </a:r>
            <a:r>
              <a:rPr dirty="0" sz="1100" spc="85">
                <a:latin typeface="Arial"/>
                <a:cs typeface="Arial"/>
              </a:rPr>
              <a:t> </a:t>
            </a:r>
            <a:r>
              <a:rPr dirty="0" sz="1100" spc="-5">
                <a:latin typeface="Arial"/>
                <a:cs typeface="Arial"/>
              </a:rPr>
              <a:t>in</a:t>
            </a:r>
            <a:r>
              <a:rPr dirty="0" sz="1100" spc="95">
                <a:latin typeface="Arial"/>
                <a:cs typeface="Arial"/>
              </a:rPr>
              <a:t> </a:t>
            </a:r>
            <a:r>
              <a:rPr dirty="0" sz="1100" spc="-5">
                <a:latin typeface="Arial"/>
                <a:cs typeface="Arial"/>
              </a:rPr>
              <a:t>female</a:t>
            </a:r>
            <a:r>
              <a:rPr dirty="0" sz="1100" spc="95">
                <a:latin typeface="Arial"/>
                <a:cs typeface="Arial"/>
              </a:rPr>
              <a:t> </a:t>
            </a:r>
            <a:r>
              <a:rPr dirty="0" sz="1100" spc="-5">
                <a:latin typeface="Arial"/>
                <a:cs typeface="Arial"/>
              </a:rPr>
              <a:t>nonagricultural</a:t>
            </a:r>
            <a:r>
              <a:rPr dirty="0" sz="1100" spc="95">
                <a:latin typeface="Arial"/>
                <a:cs typeface="Arial"/>
              </a:rPr>
              <a:t> </a:t>
            </a:r>
            <a:r>
              <a:rPr dirty="0" sz="1100" spc="-5">
                <a:latin typeface="Arial"/>
                <a:cs typeface="Arial"/>
              </a:rPr>
              <a:t>wage</a:t>
            </a:r>
            <a:r>
              <a:rPr dirty="0" sz="1100" spc="90">
                <a:latin typeface="Arial"/>
                <a:cs typeface="Arial"/>
              </a:rPr>
              <a:t> </a:t>
            </a:r>
            <a:r>
              <a:rPr dirty="0" sz="1100" spc="-5">
                <a:latin typeface="Arial"/>
                <a:cs typeface="Arial"/>
              </a:rPr>
              <a:t>employment</a:t>
            </a:r>
            <a:r>
              <a:rPr dirty="0" sz="1100" spc="95">
                <a:latin typeface="Arial"/>
                <a:cs typeface="Arial"/>
              </a:rPr>
              <a:t> </a:t>
            </a:r>
            <a:r>
              <a:rPr dirty="0" sz="1100" spc="-5">
                <a:latin typeface="Arial"/>
                <a:cs typeface="Arial"/>
              </a:rPr>
              <a:t>opportunities,</a:t>
            </a:r>
            <a:r>
              <a:rPr dirty="0" sz="1100" spc="80">
                <a:latin typeface="Arial"/>
                <a:cs typeface="Arial"/>
              </a:rPr>
              <a:t> </a:t>
            </a:r>
            <a:r>
              <a:rPr dirty="0" sz="1100" spc="-5">
                <a:latin typeface="Arial"/>
                <a:cs typeface="Arial"/>
              </a:rPr>
              <a:t>which</a:t>
            </a:r>
            <a:r>
              <a:rPr dirty="0" sz="1100" spc="95">
                <a:latin typeface="Arial"/>
                <a:cs typeface="Arial"/>
              </a:rPr>
              <a:t> </a:t>
            </a:r>
            <a:r>
              <a:rPr dirty="0" sz="1100" spc="-5">
                <a:latin typeface="Arial"/>
                <a:cs typeface="Arial"/>
              </a:rPr>
              <a:t>raises</a:t>
            </a:r>
            <a:r>
              <a:rPr dirty="0" sz="1100" spc="90">
                <a:latin typeface="Arial"/>
                <a:cs typeface="Arial"/>
              </a:rPr>
              <a:t> </a:t>
            </a:r>
            <a:r>
              <a:rPr dirty="0" sz="1100" spc="-5">
                <a:latin typeface="Arial"/>
                <a:cs typeface="Arial"/>
              </a:rPr>
              <a:t>the</a:t>
            </a:r>
            <a:endParaRPr sz="1100">
              <a:latin typeface="Arial"/>
              <a:cs typeface="Arial"/>
            </a:endParaRPr>
          </a:p>
          <a:p>
            <a:pPr algn="just" marL="469900">
              <a:lnSpc>
                <a:spcPts val="1265"/>
              </a:lnSpc>
            </a:pPr>
            <a:r>
              <a:rPr dirty="0" sz="1100" spc="-5">
                <a:latin typeface="Arial"/>
                <a:cs typeface="Arial"/>
              </a:rPr>
              <a:t>price or cost of their traditional child-rearing</a:t>
            </a:r>
            <a:r>
              <a:rPr dirty="0" sz="1100" spc="35">
                <a:latin typeface="Arial"/>
                <a:cs typeface="Arial"/>
              </a:rPr>
              <a:t> </a:t>
            </a:r>
            <a:r>
              <a:rPr dirty="0" sz="1100" spc="-5">
                <a:latin typeface="Arial"/>
                <a:cs typeface="Arial"/>
              </a:rPr>
              <a:t>activities.</a:t>
            </a:r>
            <a:endParaRPr sz="1100">
              <a:latin typeface="Arial"/>
              <a:cs typeface="Arial"/>
            </a:endParaRPr>
          </a:p>
          <a:p>
            <a:pPr algn="just" marL="469900" marR="7620" indent="-228600">
              <a:lnSpc>
                <a:spcPts val="1270"/>
              </a:lnSpc>
              <a:spcBef>
                <a:spcPts val="55"/>
              </a:spcBef>
              <a:buFont typeface="Arial"/>
              <a:buAutoNum type="arabicPeriod" startAt="3"/>
              <a:tabLst>
                <a:tab pos="469900" algn="l"/>
              </a:tabLst>
            </a:pPr>
            <a:r>
              <a:rPr dirty="0" sz="1100" spc="-5">
                <a:latin typeface="Arial"/>
                <a:cs typeface="Arial"/>
              </a:rPr>
              <a:t>A rise in family income levels through the increased direct employment </a:t>
            </a:r>
            <a:r>
              <a:rPr dirty="0" sz="1100">
                <a:latin typeface="Arial"/>
                <a:cs typeface="Arial"/>
              </a:rPr>
              <a:t>and </a:t>
            </a:r>
            <a:r>
              <a:rPr dirty="0" sz="1100" spc="-5">
                <a:latin typeface="Arial"/>
                <a:cs typeface="Arial"/>
              </a:rPr>
              <a:t>earnings of a  husband and wife or through the redistribution of income and assets from rich to</a:t>
            </a:r>
            <a:r>
              <a:rPr dirty="0" sz="1100" spc="180">
                <a:latin typeface="Arial"/>
                <a:cs typeface="Arial"/>
              </a:rPr>
              <a:t> </a:t>
            </a:r>
            <a:r>
              <a:rPr dirty="0" sz="1100" spc="-5">
                <a:latin typeface="Arial"/>
                <a:cs typeface="Arial"/>
              </a:rPr>
              <a:t>poor.</a:t>
            </a:r>
            <a:endParaRPr sz="1100">
              <a:latin typeface="Arial"/>
              <a:cs typeface="Arial"/>
            </a:endParaRPr>
          </a:p>
          <a:p>
            <a:pPr algn="just" marL="469900" indent="-228600">
              <a:lnSpc>
                <a:spcPts val="1200"/>
              </a:lnSpc>
              <a:buFont typeface="Arial"/>
              <a:buAutoNum type="arabicPeriod" startAt="3"/>
              <a:tabLst>
                <a:tab pos="469900" algn="l"/>
              </a:tabLst>
            </a:pPr>
            <a:r>
              <a:rPr dirty="0" sz="1100" spc="-5">
                <a:latin typeface="Arial"/>
                <a:cs typeface="Arial"/>
              </a:rPr>
              <a:t>A reduction in infant mortality through expanded public health programs and</a:t>
            </a:r>
            <a:r>
              <a:rPr dirty="0" sz="1100" spc="35">
                <a:latin typeface="Arial"/>
                <a:cs typeface="Arial"/>
              </a:rPr>
              <a:t> </a:t>
            </a:r>
            <a:r>
              <a:rPr dirty="0" sz="1100" spc="-5">
                <a:latin typeface="Arial"/>
                <a:cs typeface="Arial"/>
              </a:rPr>
              <a:t>better</a:t>
            </a:r>
            <a:endParaRPr sz="1100">
              <a:latin typeface="Arial"/>
              <a:cs typeface="Arial"/>
            </a:endParaRPr>
          </a:p>
          <a:p>
            <a:pPr algn="just" marL="469900">
              <a:lnSpc>
                <a:spcPts val="1265"/>
              </a:lnSpc>
            </a:pPr>
            <a:r>
              <a:rPr dirty="0" sz="1100" spc="-5">
                <a:latin typeface="Arial"/>
                <a:cs typeface="Arial"/>
              </a:rPr>
              <a:t>nutritional status for both mother and child and better medical</a:t>
            </a:r>
            <a:r>
              <a:rPr dirty="0" sz="1100" spc="60">
                <a:latin typeface="Arial"/>
                <a:cs typeface="Arial"/>
              </a:rPr>
              <a:t> </a:t>
            </a:r>
            <a:r>
              <a:rPr dirty="0" sz="1100" spc="-5">
                <a:latin typeface="Arial"/>
                <a:cs typeface="Arial"/>
              </a:rPr>
              <a:t>care.</a:t>
            </a:r>
            <a:endParaRPr sz="1100">
              <a:latin typeface="Arial"/>
              <a:cs typeface="Arial"/>
            </a:endParaRPr>
          </a:p>
          <a:p>
            <a:pPr algn="just" marL="469900" marR="5715" indent="-228600">
              <a:lnSpc>
                <a:spcPct val="95700"/>
              </a:lnSpc>
              <a:spcBef>
                <a:spcPts val="30"/>
              </a:spcBef>
              <a:buFont typeface="Arial"/>
              <a:buAutoNum type="arabicPeriod" startAt="5"/>
              <a:tabLst>
                <a:tab pos="469900" algn="l"/>
              </a:tabLst>
            </a:pPr>
            <a:r>
              <a:rPr dirty="0" sz="1100" spc="-5">
                <a:latin typeface="Arial"/>
                <a:cs typeface="Arial"/>
              </a:rPr>
              <a:t>The development of old-age and other social security systems outside the extended  family network to lessen the economic dependence of parents, especially women, on  their offspring.</a:t>
            </a:r>
            <a:endParaRPr sz="1100">
              <a:latin typeface="Arial"/>
              <a:cs typeface="Arial"/>
            </a:endParaRPr>
          </a:p>
          <a:p>
            <a:pPr algn="just" marL="469900" marR="5080" indent="-228600">
              <a:lnSpc>
                <a:spcPts val="1270"/>
              </a:lnSpc>
              <a:spcBef>
                <a:spcPts val="30"/>
              </a:spcBef>
              <a:buFont typeface="Arial"/>
              <a:buAutoNum type="arabicPeriod" startAt="5"/>
              <a:tabLst>
                <a:tab pos="469900" algn="l"/>
              </a:tabLst>
            </a:pPr>
            <a:r>
              <a:rPr dirty="0" sz="1100" spc="-5">
                <a:latin typeface="Arial"/>
                <a:cs typeface="Arial"/>
              </a:rPr>
              <a:t>Expanded schooling opportunities so that parents can better substitute child “quality” for  large numbers of</a:t>
            </a:r>
            <a:r>
              <a:rPr dirty="0" sz="1100" spc="5">
                <a:latin typeface="Arial"/>
                <a:cs typeface="Arial"/>
              </a:rPr>
              <a:t> </a:t>
            </a:r>
            <a:r>
              <a:rPr dirty="0" sz="1100" spc="-5">
                <a:latin typeface="Arial"/>
                <a:cs typeface="Arial"/>
              </a:rPr>
              <a:t>children.</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THE CONSEQUENCES OF HIGH FERTILITY: SOME CONFLICTING</a:t>
            </a:r>
            <a:r>
              <a:rPr dirty="0" sz="1100" spc="60" b="1">
                <a:latin typeface="Arial"/>
                <a:cs typeface="Arial"/>
              </a:rPr>
              <a:t> </a:t>
            </a:r>
            <a:r>
              <a:rPr dirty="0" sz="1100" spc="-5" b="1">
                <a:latin typeface="Arial"/>
                <a:cs typeface="Arial"/>
              </a:rPr>
              <a:t>PERSPECTIVES</a:t>
            </a:r>
            <a:endParaRPr sz="1100">
              <a:latin typeface="Arial"/>
              <a:cs typeface="Arial"/>
            </a:endParaRPr>
          </a:p>
          <a:p>
            <a:pPr>
              <a:lnSpc>
                <a:spcPct val="100000"/>
              </a:lnSpc>
              <a:spcBef>
                <a:spcPts val="55"/>
              </a:spcBef>
            </a:pPr>
            <a:endParaRPr sz="1100">
              <a:latin typeface="Arial"/>
              <a:cs typeface="Arial"/>
            </a:endParaRPr>
          </a:p>
          <a:p>
            <a:pPr marL="12700">
              <a:lnSpc>
                <a:spcPts val="1290"/>
              </a:lnSpc>
            </a:pPr>
            <a:r>
              <a:rPr dirty="0" sz="1100" spc="-5" b="1">
                <a:latin typeface="Arial"/>
                <a:cs typeface="Arial"/>
              </a:rPr>
              <a:t>Conflicting Perspectives</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Population Growth is a real</a:t>
            </a:r>
            <a:r>
              <a:rPr dirty="0" sz="1100" spc="15">
                <a:latin typeface="Arial"/>
                <a:cs typeface="Arial"/>
              </a:rPr>
              <a:t> </a:t>
            </a:r>
            <a:r>
              <a:rPr dirty="0" sz="1100" spc="-5">
                <a:latin typeface="Arial"/>
                <a:cs typeface="Arial"/>
              </a:rPr>
              <a:t>problem</a:t>
            </a:r>
            <a:endParaRPr sz="11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Population Growth is not a real</a:t>
            </a:r>
            <a:r>
              <a:rPr dirty="0" sz="1100" spc="20">
                <a:latin typeface="Arial"/>
                <a:cs typeface="Arial"/>
              </a:rPr>
              <a:t> </a:t>
            </a:r>
            <a:r>
              <a:rPr dirty="0" sz="1100" spc="-5">
                <a:latin typeface="Arial"/>
                <a:cs typeface="Arial"/>
              </a:rPr>
              <a:t>problem</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a:tabLst>
                <a:tab pos="175895" algn="l"/>
              </a:tabLst>
            </a:pPr>
            <a:r>
              <a:rPr dirty="0" sz="1100" spc="-5" b="1">
                <a:latin typeface="Arial"/>
                <a:cs typeface="Arial"/>
              </a:rPr>
              <a:t>IT’S NOT A REAL</a:t>
            </a:r>
            <a:r>
              <a:rPr dirty="0" sz="1100" spc="20" b="1">
                <a:latin typeface="Arial"/>
                <a:cs typeface="Arial"/>
              </a:rPr>
              <a:t> </a:t>
            </a:r>
            <a:r>
              <a:rPr dirty="0" sz="1100" spc="-5" b="1">
                <a:latin typeface="Arial"/>
                <a:cs typeface="Arial"/>
              </a:rPr>
              <a:t>PROBLEM</a:t>
            </a:r>
            <a:endParaRPr sz="1100">
              <a:latin typeface="Arial"/>
              <a:cs typeface="Arial"/>
            </a:endParaRPr>
          </a:p>
          <a:p>
            <a:pPr>
              <a:lnSpc>
                <a:spcPct val="100000"/>
              </a:lnSpc>
              <a:spcBef>
                <a:spcPts val="20"/>
              </a:spcBef>
              <a:buFont typeface="Arial"/>
              <a:buAutoNum type="arabicPlain"/>
            </a:pPr>
            <a:endParaRPr sz="1200">
              <a:latin typeface="Arial"/>
              <a:cs typeface="Arial"/>
            </a:endParaRPr>
          </a:p>
          <a:p>
            <a:pPr marL="12700" marR="7620">
              <a:lnSpc>
                <a:spcPts val="1270"/>
              </a:lnSpc>
            </a:pPr>
            <a:r>
              <a:rPr dirty="0" sz="1100" spc="-5">
                <a:latin typeface="Arial"/>
                <a:cs typeface="Arial"/>
              </a:rPr>
              <a:t>We can identify three general lines of argument on the part of people who assert that population  growth is not a cause for</a:t>
            </a:r>
            <a:r>
              <a:rPr dirty="0" sz="1100" spc="20">
                <a:latin typeface="Arial"/>
                <a:cs typeface="Arial"/>
              </a:rPr>
              <a:t> </a:t>
            </a:r>
            <a:r>
              <a:rPr dirty="0" sz="1100" spc="-5">
                <a:latin typeface="Arial"/>
                <a:cs typeface="Arial"/>
              </a:rPr>
              <a:t>concern:</a:t>
            </a:r>
            <a:endParaRPr sz="1100">
              <a:latin typeface="Arial"/>
              <a:cs typeface="Arial"/>
            </a:endParaRPr>
          </a:p>
          <a:p>
            <a:pPr lvl="1" marL="469900" indent="-229235">
              <a:lnSpc>
                <a:spcPts val="1305"/>
              </a:lnSpc>
              <a:buFont typeface="Symbol"/>
              <a:buChar char=""/>
              <a:tabLst>
                <a:tab pos="469265" algn="l"/>
                <a:tab pos="470534" algn="l"/>
              </a:tabLst>
            </a:pPr>
            <a:r>
              <a:rPr dirty="0" sz="1100" spc="-5">
                <a:latin typeface="Arial"/>
                <a:cs typeface="Arial"/>
              </a:rPr>
              <a:t>The problem is not population growth but other</a:t>
            </a:r>
            <a:r>
              <a:rPr dirty="0" sz="1100" spc="40">
                <a:latin typeface="Arial"/>
                <a:cs typeface="Arial"/>
              </a:rPr>
              <a:t> </a:t>
            </a:r>
            <a:r>
              <a:rPr dirty="0" sz="1100" spc="-5">
                <a:latin typeface="Arial"/>
                <a:cs typeface="Arial"/>
              </a:rPr>
              <a:t>issues.</a:t>
            </a:r>
            <a:endParaRPr sz="1100">
              <a:latin typeface="Arial"/>
              <a:cs typeface="Arial"/>
            </a:endParaRPr>
          </a:p>
          <a:p>
            <a:pPr lvl="1" marL="469900" marR="6985" indent="-228600">
              <a:lnSpc>
                <a:spcPts val="1260"/>
              </a:lnSpc>
              <a:spcBef>
                <a:spcPts val="110"/>
              </a:spcBef>
              <a:buFont typeface="Symbol"/>
              <a:buChar char=""/>
              <a:tabLst>
                <a:tab pos="469265" algn="l"/>
                <a:tab pos="470534" algn="l"/>
              </a:tabLst>
            </a:pPr>
            <a:r>
              <a:rPr dirty="0" sz="1100" spc="-5">
                <a:latin typeface="Arial"/>
                <a:cs typeface="Arial"/>
              </a:rPr>
              <a:t>Population growth is a false issue deliberately created by dominant rich country  agencies and institutions to keep developing countries in their dependent</a:t>
            </a:r>
            <a:r>
              <a:rPr dirty="0" sz="1100" spc="130">
                <a:latin typeface="Arial"/>
                <a:cs typeface="Arial"/>
              </a:rPr>
              <a:t> </a:t>
            </a:r>
            <a:r>
              <a:rPr dirty="0" sz="1100" spc="-5">
                <a:latin typeface="Arial"/>
                <a:cs typeface="Arial"/>
              </a:rPr>
              <a:t>condition.</a:t>
            </a:r>
            <a:endParaRPr sz="1100">
              <a:latin typeface="Arial"/>
              <a:cs typeface="Arial"/>
            </a:endParaRPr>
          </a:p>
          <a:p>
            <a:pPr lvl="1" marL="469900" indent="-229235">
              <a:lnSpc>
                <a:spcPts val="1310"/>
              </a:lnSpc>
              <a:buFont typeface="Symbol"/>
              <a:buChar char=""/>
              <a:tabLst>
                <a:tab pos="469265" algn="l"/>
                <a:tab pos="470534" algn="l"/>
              </a:tabLst>
            </a:pPr>
            <a:r>
              <a:rPr dirty="0" sz="1100" spc="-5">
                <a:latin typeface="Arial"/>
                <a:cs typeface="Arial"/>
              </a:rPr>
              <a:t>For many developing countries and regions, population growth is in fact</a:t>
            </a:r>
            <a:r>
              <a:rPr dirty="0" sz="1100" spc="215">
                <a:latin typeface="Arial"/>
                <a:cs typeface="Arial"/>
              </a:rPr>
              <a:t> </a:t>
            </a:r>
            <a:r>
              <a:rPr dirty="0" sz="1100" spc="-5">
                <a:latin typeface="Arial"/>
                <a:cs typeface="Arial"/>
              </a:rPr>
              <a:t>desirable.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OTHER ISSUES</a:t>
            </a:r>
            <a:endParaRPr sz="1100">
              <a:latin typeface="Arial"/>
              <a:cs typeface="Arial"/>
            </a:endParaRPr>
          </a:p>
          <a:p>
            <a:pPr>
              <a:lnSpc>
                <a:spcPct val="100000"/>
              </a:lnSpc>
              <a:spcBef>
                <a:spcPts val="20"/>
              </a:spcBef>
            </a:pPr>
            <a:endParaRPr sz="1200">
              <a:latin typeface="Arial"/>
              <a:cs typeface="Arial"/>
            </a:endParaRPr>
          </a:p>
          <a:p>
            <a:pPr marL="12700" marR="5715">
              <a:lnSpc>
                <a:spcPts val="1270"/>
              </a:lnSpc>
              <a:spcBef>
                <a:spcPts val="5"/>
              </a:spcBef>
            </a:pPr>
            <a:r>
              <a:rPr dirty="0" sz="1100" spc="-5">
                <a:latin typeface="Arial"/>
                <a:cs typeface="Arial"/>
              </a:rPr>
              <a:t>Many observers from </a:t>
            </a:r>
            <a:r>
              <a:rPr dirty="0" sz="1100">
                <a:latin typeface="Arial"/>
                <a:cs typeface="Arial"/>
              </a:rPr>
              <a:t>both </a:t>
            </a:r>
            <a:r>
              <a:rPr dirty="0" sz="1100" spc="-5">
                <a:latin typeface="Arial"/>
                <a:cs typeface="Arial"/>
              </a:rPr>
              <a:t>rich and poor nations argue that the real problem is not population  growth per se but one or all of the following four</a:t>
            </a:r>
            <a:r>
              <a:rPr dirty="0" sz="1100" spc="55">
                <a:latin typeface="Arial"/>
                <a:cs typeface="Arial"/>
              </a:rPr>
              <a:t> </a:t>
            </a:r>
            <a:r>
              <a:rPr dirty="0" sz="1100" spc="-5">
                <a:latin typeface="Arial"/>
                <a:cs typeface="Arial"/>
              </a:rPr>
              <a:t>issues.</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UNDERDEVELOPMENT</a:t>
            </a:r>
            <a:endParaRPr sz="1100">
              <a:latin typeface="Arial"/>
              <a:cs typeface="Arial"/>
            </a:endParaRPr>
          </a:p>
          <a:p>
            <a:pPr>
              <a:lnSpc>
                <a:spcPct val="100000"/>
              </a:lnSpc>
              <a:spcBef>
                <a:spcPts val="25"/>
              </a:spcBef>
            </a:pPr>
            <a:endParaRPr sz="1200">
              <a:latin typeface="Arial"/>
              <a:cs typeface="Arial"/>
            </a:endParaRPr>
          </a:p>
          <a:p>
            <a:pPr algn="just" marL="12700" marR="6985">
              <a:lnSpc>
                <a:spcPts val="1270"/>
              </a:lnSpc>
            </a:pPr>
            <a:r>
              <a:rPr dirty="0" sz="1100" spc="-5">
                <a:latin typeface="Arial"/>
                <a:cs typeface="Arial"/>
              </a:rPr>
              <a:t>If correct strategies are pursued and lead to higher levels of living, greater self-esteem, and  expanded freedom, population will take care of </a:t>
            </a:r>
            <a:r>
              <a:rPr dirty="0" sz="1100">
                <a:latin typeface="Arial"/>
                <a:cs typeface="Arial"/>
              </a:rPr>
              <a:t>itself. </a:t>
            </a:r>
            <a:r>
              <a:rPr dirty="0" sz="1100" spc="-5">
                <a:latin typeface="Arial"/>
                <a:cs typeface="Arial"/>
              </a:rPr>
              <a:t>Eventually, it will disappear as a problem,  as</a:t>
            </a:r>
            <a:r>
              <a:rPr dirty="0" sz="1100" spc="260">
                <a:latin typeface="Arial"/>
                <a:cs typeface="Arial"/>
              </a:rPr>
              <a:t> </a:t>
            </a:r>
            <a:r>
              <a:rPr dirty="0" sz="1100" spc="-5">
                <a:latin typeface="Arial"/>
                <a:cs typeface="Arial"/>
              </a:rPr>
              <a:t>it</a:t>
            </a:r>
            <a:r>
              <a:rPr dirty="0" sz="1100" spc="265">
                <a:latin typeface="Arial"/>
                <a:cs typeface="Arial"/>
              </a:rPr>
              <a:t> </a:t>
            </a:r>
            <a:r>
              <a:rPr dirty="0" sz="1100" spc="-5">
                <a:latin typeface="Arial"/>
                <a:cs typeface="Arial"/>
              </a:rPr>
              <a:t>has</a:t>
            </a:r>
            <a:r>
              <a:rPr dirty="0" sz="1100" spc="265">
                <a:latin typeface="Arial"/>
                <a:cs typeface="Arial"/>
              </a:rPr>
              <a:t> </a:t>
            </a:r>
            <a:r>
              <a:rPr dirty="0" sz="1100" spc="-5">
                <a:latin typeface="Arial"/>
                <a:cs typeface="Arial"/>
              </a:rPr>
              <a:t>in</a:t>
            </a:r>
            <a:r>
              <a:rPr dirty="0" sz="1100" spc="260">
                <a:latin typeface="Arial"/>
                <a:cs typeface="Arial"/>
              </a:rPr>
              <a:t> </a:t>
            </a:r>
            <a:r>
              <a:rPr dirty="0" sz="1100" spc="-5">
                <a:latin typeface="Arial"/>
                <a:cs typeface="Arial"/>
              </a:rPr>
              <a:t>all</a:t>
            </a:r>
            <a:r>
              <a:rPr dirty="0" sz="1100" spc="265">
                <a:latin typeface="Arial"/>
                <a:cs typeface="Arial"/>
              </a:rPr>
              <a:t> </a:t>
            </a:r>
            <a:r>
              <a:rPr dirty="0" sz="1100" spc="-5">
                <a:latin typeface="Arial"/>
                <a:cs typeface="Arial"/>
              </a:rPr>
              <a:t>of</a:t>
            </a:r>
            <a:r>
              <a:rPr dirty="0" sz="1100" spc="260">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present</a:t>
            </a:r>
            <a:r>
              <a:rPr dirty="0" sz="1100" spc="265">
                <a:latin typeface="Arial"/>
                <a:cs typeface="Arial"/>
              </a:rPr>
              <a:t> </a:t>
            </a:r>
            <a:r>
              <a:rPr dirty="0" sz="1100" spc="-5">
                <a:latin typeface="Arial"/>
                <a:cs typeface="Arial"/>
              </a:rPr>
              <a:t>economically</a:t>
            </a:r>
            <a:r>
              <a:rPr dirty="0" sz="1100" spc="265">
                <a:latin typeface="Arial"/>
                <a:cs typeface="Arial"/>
              </a:rPr>
              <a:t> </a:t>
            </a:r>
            <a:r>
              <a:rPr dirty="0" sz="1100" spc="-5">
                <a:latin typeface="Arial"/>
                <a:cs typeface="Arial"/>
              </a:rPr>
              <a:t>advanced</a:t>
            </a:r>
            <a:r>
              <a:rPr dirty="0" sz="1100" spc="265">
                <a:latin typeface="Arial"/>
                <a:cs typeface="Arial"/>
              </a:rPr>
              <a:t> </a:t>
            </a:r>
            <a:r>
              <a:rPr dirty="0" sz="1100" spc="-5">
                <a:latin typeface="Arial"/>
                <a:cs typeface="Arial"/>
              </a:rPr>
              <a:t>nations.</a:t>
            </a:r>
            <a:r>
              <a:rPr dirty="0" sz="1100" spc="265">
                <a:latin typeface="Arial"/>
                <a:cs typeface="Arial"/>
              </a:rPr>
              <a:t> </a:t>
            </a:r>
            <a:r>
              <a:rPr dirty="0" sz="1100" spc="-5">
                <a:latin typeface="Arial"/>
                <a:cs typeface="Arial"/>
              </a:rPr>
              <a:t>According</a:t>
            </a:r>
            <a:r>
              <a:rPr dirty="0" sz="1100" spc="265">
                <a:latin typeface="Arial"/>
                <a:cs typeface="Arial"/>
              </a:rPr>
              <a:t> </a:t>
            </a:r>
            <a:r>
              <a:rPr dirty="0" sz="1100" spc="-5">
                <a:latin typeface="Arial"/>
                <a:cs typeface="Arial"/>
              </a:rPr>
              <a:t>to</a:t>
            </a:r>
            <a:r>
              <a:rPr dirty="0" sz="1100" spc="265">
                <a:latin typeface="Arial"/>
                <a:cs typeface="Arial"/>
              </a:rPr>
              <a:t> </a:t>
            </a:r>
            <a:r>
              <a:rPr dirty="0" sz="1100" spc="-5">
                <a:latin typeface="Arial"/>
                <a:cs typeface="Arial"/>
              </a:rPr>
              <a:t>this</a:t>
            </a:r>
            <a:r>
              <a:rPr dirty="0" sz="1100" spc="265">
                <a:latin typeface="Arial"/>
                <a:cs typeface="Arial"/>
              </a:rPr>
              <a:t> </a:t>
            </a:r>
            <a:r>
              <a:rPr dirty="0" sz="1100" spc="-5">
                <a:latin typeface="Arial"/>
                <a:cs typeface="Arial"/>
              </a:rPr>
              <a:t>argument,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85</a:t>
            </a:r>
            <a:endParaRPr sz="1100">
              <a:latin typeface="Carlito"/>
              <a:cs typeface="Carlito"/>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12292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underdevelopment is the real problem, and development should be the only goal. With it will  come economic progress and social mechanisms that will more or less automatically regulate  population growth and distribution. As long as people in developing countries remain  impoverished, uneducated, and unhealthy and the social safety net remains weak, the large  family will constitute the only real source of social security (i.e., parents will continue to be  denied the freedom to choose a small family if they so desire). Some proponents of the  underdevelopment argument then conclude that birth control programs will surely fail, as they  have in the past, when there is no motivation on the part of poor families to limit their</a:t>
            </a:r>
            <a:r>
              <a:rPr dirty="0" sz="1100" spc="204">
                <a:latin typeface="Arial"/>
                <a:cs typeface="Arial"/>
              </a:rPr>
              <a:t> </a:t>
            </a:r>
            <a:r>
              <a:rPr dirty="0" sz="1100" spc="-5">
                <a:latin typeface="Arial"/>
                <a:cs typeface="Arial"/>
              </a:rPr>
              <a:t>size.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10" b="1">
                <a:latin typeface="Arial"/>
                <a:cs typeface="Arial"/>
              </a:rPr>
              <a:t>WORLD </a:t>
            </a:r>
            <a:r>
              <a:rPr dirty="0" sz="1100" spc="-5" b="1">
                <a:latin typeface="Arial"/>
                <a:cs typeface="Arial"/>
              </a:rPr>
              <a:t>RESOURCE DEPLETION AND ENVIRONMENTAL</a:t>
            </a:r>
            <a:r>
              <a:rPr dirty="0" sz="1100" spc="35" b="1">
                <a:latin typeface="Arial"/>
                <a:cs typeface="Arial"/>
              </a:rPr>
              <a:t> </a:t>
            </a:r>
            <a:r>
              <a:rPr dirty="0" sz="1100" spc="-5" b="1">
                <a:latin typeface="Arial"/>
                <a:cs typeface="Arial"/>
              </a:rPr>
              <a:t>DESTRUCTION</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Population can only be an economic problem in relation to the availability and utilization of  scarce natural and material resources. The fact is that developed countries, with less than one-  quarter of the world’s population, consume almost 80% of the world’s resources. In terms of the  depletion of the world’s limited resources, therefore, the addition of another child in the  developed countries is as significant as the </a:t>
            </a:r>
            <a:r>
              <a:rPr dirty="0" sz="1100">
                <a:latin typeface="Arial"/>
                <a:cs typeface="Arial"/>
              </a:rPr>
              <a:t>birth </a:t>
            </a:r>
            <a:r>
              <a:rPr dirty="0" sz="1100" spc="-5">
                <a:latin typeface="Arial"/>
                <a:cs typeface="Arial"/>
              </a:rPr>
              <a:t>of many times as many additional children in  the underdeveloped countries. According to this argument, developed nations should curtail  their excessively high consumption standards instead of asking less developed nations to  restrict their population growth. The latter’s high fertility is really due to their low levels of living,  which are in turn largely the result of the over consumption of the world’s scarce resources by  rich nations. This combination of rising affluence and extravagant consumption habits in rich  countries and among rich people in poor countries, and not population growth, should be the  major world</a:t>
            </a:r>
            <a:r>
              <a:rPr dirty="0" sz="1100">
                <a:latin typeface="Arial"/>
                <a:cs typeface="Arial"/>
              </a:rPr>
              <a:t> </a:t>
            </a:r>
            <a:r>
              <a:rPr dirty="0" sz="1100" spc="-5">
                <a:latin typeface="Arial"/>
                <a:cs typeface="Arial"/>
              </a:rPr>
              <a:t>concern.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POPULATION</a:t>
            </a:r>
            <a:r>
              <a:rPr dirty="0" sz="1100" b="1">
                <a:latin typeface="Arial"/>
                <a:cs typeface="Arial"/>
              </a:rPr>
              <a:t> </a:t>
            </a:r>
            <a:r>
              <a:rPr dirty="0" sz="1100" spc="-5" b="1">
                <a:latin typeface="Arial"/>
                <a:cs typeface="Arial"/>
              </a:rPr>
              <a:t>DISTRIBUTION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According to this third argument, it is not the number of people per se that is causing population  problems but their distribution in space. Many regions of the world (e.g., parts of sub-Saharan  Africa) and many regions within countries (e.g., the northeastern and Amazon regions of Brazil)  are viewed as under populated in terms of available or potential resources. Others simply have  too many people concentrated in too small an area (e.g., central Java or most urban  concentrations). Governments should therefore strive not to moderate the rate of population  growth but rather to bring about a more natural spatial distribution of the population in terms of  available land and other productive</a:t>
            </a:r>
            <a:r>
              <a:rPr dirty="0" sz="1100" spc="15">
                <a:latin typeface="Arial"/>
                <a:cs typeface="Arial"/>
              </a:rPr>
              <a:t> </a:t>
            </a:r>
            <a:r>
              <a:rPr dirty="0" sz="1100" spc="-5">
                <a:latin typeface="Arial"/>
                <a:cs typeface="Arial"/>
              </a:rPr>
              <a:t>resources.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SUBORDINATION OF</a:t>
            </a:r>
            <a:r>
              <a:rPr dirty="0" sz="1100" spc="10" b="1">
                <a:latin typeface="Arial"/>
                <a:cs typeface="Arial"/>
              </a:rPr>
              <a:t> </a:t>
            </a:r>
            <a:r>
              <a:rPr dirty="0" sz="1100" spc="-5" b="1">
                <a:latin typeface="Arial"/>
                <a:cs typeface="Arial"/>
              </a:rPr>
              <a:t>WOMEN</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Perhaps </a:t>
            </a:r>
            <a:r>
              <a:rPr dirty="0" sz="1100">
                <a:latin typeface="Arial"/>
                <a:cs typeface="Arial"/>
              </a:rPr>
              <a:t>most </a:t>
            </a:r>
            <a:r>
              <a:rPr dirty="0" sz="1100" spc="-5">
                <a:latin typeface="Arial"/>
                <a:cs typeface="Arial"/>
              </a:rPr>
              <a:t>important, as noted previously, women often </a:t>
            </a:r>
            <a:r>
              <a:rPr dirty="0" sz="1100">
                <a:latin typeface="Arial"/>
                <a:cs typeface="Arial"/>
              </a:rPr>
              <a:t>bear </a:t>
            </a:r>
            <a:r>
              <a:rPr dirty="0" sz="1100" spc="-5">
                <a:latin typeface="Arial"/>
                <a:cs typeface="Arial"/>
              </a:rPr>
              <a:t>the disproportionate burdens of  poverty, </a:t>
            </a:r>
            <a:r>
              <a:rPr dirty="0" sz="1100">
                <a:latin typeface="Arial"/>
                <a:cs typeface="Arial"/>
              </a:rPr>
              <a:t>poor </a:t>
            </a:r>
            <a:r>
              <a:rPr dirty="0" sz="1100" spc="-5">
                <a:latin typeface="Arial"/>
                <a:cs typeface="Arial"/>
              </a:rPr>
              <a:t>education, and limited social mobility. In many cases, their inferior roles, low  status, and restricted access to birth control are manifested in their high fertility. According to  this argument, population growth is a natural outcome of women’s lack of economic opportunity.  If women’s health, education, and economic well-being are improved </a:t>
            </a:r>
            <a:r>
              <a:rPr dirty="0" sz="1100">
                <a:latin typeface="Arial"/>
                <a:cs typeface="Arial"/>
              </a:rPr>
              <a:t>along </a:t>
            </a:r>
            <a:r>
              <a:rPr dirty="0" sz="1100" spc="-5">
                <a:latin typeface="Arial"/>
                <a:cs typeface="Arial"/>
              </a:rPr>
              <a:t>with their role and  status in both the family and the community, this empowerment of women will inevitably lead to  smaller families and lower population</a:t>
            </a:r>
            <a:r>
              <a:rPr dirty="0" sz="1100" spc="20">
                <a:latin typeface="Arial"/>
                <a:cs typeface="Arial"/>
              </a:rPr>
              <a:t> </a:t>
            </a:r>
            <a:r>
              <a:rPr dirty="0" sz="1100" spc="-5">
                <a:latin typeface="Arial"/>
                <a:cs typeface="Arial"/>
              </a:rPr>
              <a:t>growth.</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IT’S A DELIBERATELY CONTRIVED </a:t>
            </a:r>
            <a:r>
              <a:rPr dirty="0" sz="1100" spc="-10" b="1">
                <a:latin typeface="Arial"/>
                <a:cs typeface="Arial"/>
              </a:rPr>
              <a:t>FALSE</a:t>
            </a:r>
            <a:r>
              <a:rPr dirty="0" sz="1100" spc="20" b="1">
                <a:latin typeface="Arial"/>
                <a:cs typeface="Arial"/>
              </a:rPr>
              <a:t> </a:t>
            </a:r>
            <a:r>
              <a:rPr dirty="0" sz="1100" spc="-5" b="1">
                <a:latin typeface="Arial"/>
                <a:cs typeface="Arial"/>
              </a:rPr>
              <a:t>ISSUE</a:t>
            </a:r>
            <a:endParaRPr sz="1100">
              <a:latin typeface="Arial"/>
              <a:cs typeface="Arial"/>
            </a:endParaRPr>
          </a:p>
          <a:p>
            <a:pPr>
              <a:lnSpc>
                <a:spcPct val="100000"/>
              </a:lnSpc>
              <a:spcBef>
                <a:spcPts val="25"/>
              </a:spcBef>
            </a:pPr>
            <a:endParaRPr sz="1200">
              <a:latin typeface="Arial"/>
              <a:cs typeface="Arial"/>
            </a:endParaRPr>
          </a:p>
          <a:p>
            <a:pPr algn="just" marL="12700" marR="7620">
              <a:lnSpc>
                <a:spcPts val="1270"/>
              </a:lnSpc>
            </a:pPr>
            <a:r>
              <a:rPr dirty="0" sz="1100" spc="-5">
                <a:latin typeface="Arial"/>
                <a:cs typeface="Arial"/>
              </a:rPr>
              <a:t>A radical neo-Marxist version of this argument </a:t>
            </a:r>
            <a:r>
              <a:rPr dirty="0" sz="1100">
                <a:latin typeface="Arial"/>
                <a:cs typeface="Arial"/>
              </a:rPr>
              <a:t>views </a:t>
            </a:r>
            <a:r>
              <a:rPr dirty="0" sz="1100" spc="-5">
                <a:latin typeface="Arial"/>
                <a:cs typeface="Arial"/>
              </a:rPr>
              <a:t>population control efforts by rich countries  and their allied international agencies as racist or genocidal attempts to reduce the relative or  absolute</a:t>
            </a:r>
            <a:r>
              <a:rPr dirty="0" sz="1100" spc="95">
                <a:latin typeface="Arial"/>
                <a:cs typeface="Arial"/>
              </a:rPr>
              <a:t> </a:t>
            </a:r>
            <a:r>
              <a:rPr dirty="0" sz="1100" spc="-5">
                <a:latin typeface="Arial"/>
                <a:cs typeface="Arial"/>
              </a:rPr>
              <a:t>size</a:t>
            </a:r>
            <a:r>
              <a:rPr dirty="0" sz="1100" spc="100">
                <a:latin typeface="Arial"/>
                <a:cs typeface="Arial"/>
              </a:rPr>
              <a:t> </a:t>
            </a:r>
            <a:r>
              <a:rPr dirty="0" sz="1100" spc="-5">
                <a:latin typeface="Arial"/>
                <a:cs typeface="Arial"/>
              </a:rPr>
              <a:t>of</a:t>
            </a:r>
            <a:r>
              <a:rPr dirty="0" sz="1100" spc="95">
                <a:latin typeface="Arial"/>
                <a:cs typeface="Arial"/>
              </a:rPr>
              <a:t> </a:t>
            </a:r>
            <a:r>
              <a:rPr dirty="0" sz="1100" spc="-5">
                <a:latin typeface="Arial"/>
                <a:cs typeface="Arial"/>
              </a:rPr>
              <a:t>the</a:t>
            </a:r>
            <a:r>
              <a:rPr dirty="0" sz="1100" spc="100">
                <a:latin typeface="Arial"/>
                <a:cs typeface="Arial"/>
              </a:rPr>
              <a:t> </a:t>
            </a:r>
            <a:r>
              <a:rPr dirty="0" sz="1100" spc="-5">
                <a:latin typeface="Arial"/>
                <a:cs typeface="Arial"/>
              </a:rPr>
              <a:t>poor,</a:t>
            </a:r>
            <a:r>
              <a:rPr dirty="0" sz="1100" spc="95">
                <a:latin typeface="Arial"/>
                <a:cs typeface="Arial"/>
              </a:rPr>
              <a:t> </a:t>
            </a:r>
            <a:r>
              <a:rPr dirty="0" sz="1100" spc="-5">
                <a:latin typeface="Arial"/>
                <a:cs typeface="Arial"/>
              </a:rPr>
              <a:t>largely</a:t>
            </a:r>
            <a:r>
              <a:rPr dirty="0" sz="1100" spc="100">
                <a:latin typeface="Arial"/>
                <a:cs typeface="Arial"/>
              </a:rPr>
              <a:t> </a:t>
            </a:r>
            <a:r>
              <a:rPr dirty="0" sz="1100" spc="-5">
                <a:latin typeface="Arial"/>
                <a:cs typeface="Arial"/>
              </a:rPr>
              <a:t>nonwhite</a:t>
            </a:r>
            <a:r>
              <a:rPr dirty="0" sz="1100" spc="100">
                <a:latin typeface="Arial"/>
                <a:cs typeface="Arial"/>
              </a:rPr>
              <a:t> </a:t>
            </a:r>
            <a:r>
              <a:rPr dirty="0" sz="1100" spc="-5">
                <a:latin typeface="Arial"/>
                <a:cs typeface="Arial"/>
              </a:rPr>
              <a:t>populations</a:t>
            </a:r>
            <a:r>
              <a:rPr dirty="0" sz="1100" spc="95">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the</a:t>
            </a:r>
            <a:r>
              <a:rPr dirty="0" sz="1100" spc="95">
                <a:latin typeface="Arial"/>
                <a:cs typeface="Arial"/>
              </a:rPr>
              <a:t> </a:t>
            </a:r>
            <a:r>
              <a:rPr dirty="0" sz="1100" spc="-5">
                <a:latin typeface="Arial"/>
                <a:cs typeface="Arial"/>
              </a:rPr>
              <a:t>world</a:t>
            </a:r>
            <a:r>
              <a:rPr dirty="0" sz="1100" spc="100">
                <a:latin typeface="Arial"/>
                <a:cs typeface="Arial"/>
              </a:rPr>
              <a:t> </a:t>
            </a:r>
            <a:r>
              <a:rPr dirty="0" sz="1100" spc="-5">
                <a:latin typeface="Arial"/>
                <a:cs typeface="Arial"/>
              </a:rPr>
              <a:t>who</a:t>
            </a:r>
            <a:r>
              <a:rPr dirty="0" sz="1100" spc="95">
                <a:latin typeface="Arial"/>
                <a:cs typeface="Arial"/>
              </a:rPr>
              <a:t> </a:t>
            </a:r>
            <a:r>
              <a:rPr dirty="0" sz="1100" spc="-5">
                <a:latin typeface="Arial"/>
                <a:cs typeface="Arial"/>
              </a:rPr>
              <a:t>may</a:t>
            </a:r>
            <a:r>
              <a:rPr dirty="0" sz="1100" spc="100">
                <a:latin typeface="Arial"/>
                <a:cs typeface="Arial"/>
              </a:rPr>
              <a:t> </a:t>
            </a:r>
            <a:r>
              <a:rPr dirty="0" sz="1100" spc="-5">
                <a:latin typeface="Arial"/>
                <a:cs typeface="Arial"/>
              </a:rPr>
              <a:t>someday</a:t>
            </a:r>
            <a:r>
              <a:rPr dirty="0" sz="1100" spc="100">
                <a:latin typeface="Arial"/>
                <a:cs typeface="Arial"/>
              </a:rPr>
              <a:t> </a:t>
            </a:r>
            <a:r>
              <a:rPr dirty="0" sz="1100" spc="-5">
                <a:latin typeface="Arial"/>
                <a:cs typeface="Arial"/>
              </a:rPr>
              <a:t>pose</a:t>
            </a:r>
            <a:r>
              <a:rPr dirty="0" sz="1100" spc="95">
                <a:latin typeface="Arial"/>
                <a:cs typeface="Arial"/>
              </a:rPr>
              <a:t> </a:t>
            </a:r>
            <a:r>
              <a:rPr dirty="0" sz="1100" spc="-5">
                <a:latin typeface="Arial"/>
                <a:cs typeface="Arial"/>
              </a:rPr>
              <a:t>a</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86</a:t>
            </a:r>
            <a:endParaRPr sz="1100">
              <a:latin typeface="Carlito"/>
              <a:cs typeface="Carlito"/>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serious threat to the welfare of the rich, predominantly </a:t>
            </a:r>
            <a:r>
              <a:rPr dirty="0" sz="1100">
                <a:latin typeface="Arial"/>
                <a:cs typeface="Arial"/>
              </a:rPr>
              <a:t>white </a:t>
            </a:r>
            <a:r>
              <a:rPr dirty="0" sz="1100" spc="-5">
                <a:latin typeface="Arial"/>
                <a:cs typeface="Arial"/>
              </a:rPr>
              <a:t>societies. Worldwide birth control  campaigns are seen as manifestations of the fears of the developed world in the face of a  possible radical challenge to the international order by the people who are its first</a:t>
            </a:r>
            <a:r>
              <a:rPr dirty="0" sz="1100" spc="165">
                <a:latin typeface="Arial"/>
                <a:cs typeface="Arial"/>
              </a:rPr>
              <a:t> </a:t>
            </a:r>
            <a:r>
              <a:rPr dirty="0" sz="1100" spc="-5">
                <a:latin typeface="Arial"/>
                <a:cs typeface="Arial"/>
              </a:rPr>
              <a:t>victims.</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IT’S A DESIRABLE</a:t>
            </a:r>
            <a:r>
              <a:rPr dirty="0" sz="1100" spc="15" b="1">
                <a:latin typeface="Arial"/>
                <a:cs typeface="Arial"/>
              </a:rPr>
              <a:t> </a:t>
            </a:r>
            <a:r>
              <a:rPr dirty="0" sz="1100" spc="-5" b="1">
                <a:latin typeface="Arial"/>
                <a:cs typeface="Arial"/>
              </a:rPr>
              <a:t>PHENOMENON</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A more conventional economic argument is that of population growth as an essential ingredient  to stimulate economic development. Larger populations provide the needed consumer demand  to generate favorable economies of scale in production, to lower production costs, and to  provide a sufficient and low-cost labor supply to achieve higher output levels. Population  “revisionist economists of the neoclassical counterrevolution school argue, for example, that  free markets will always adjust to any scarcities created by population pressures. Such  scarcities will drive up prices and signal the need for new cost-saving production technologies.  In the end, free markets and human ingenuity (Julian Simon’s “genius” as the “ultimate  resource”) will solve any and all problems </a:t>
            </a:r>
            <a:r>
              <a:rPr dirty="0" sz="1100">
                <a:latin typeface="Arial"/>
                <a:cs typeface="Arial"/>
              </a:rPr>
              <a:t>arising </a:t>
            </a:r>
            <a:r>
              <a:rPr dirty="0" sz="1100" spc="-5">
                <a:latin typeface="Arial"/>
                <a:cs typeface="Arial"/>
              </a:rPr>
              <a:t>from population growth. This revisionist  viewpoint was clearly in contrast with the traditional “orthodox” argument that rapid population  growth had serious economic consequences that, if left uncorrected, would slow economic  development.</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Three other non economic arguments, each found to some degree in a wide range of  developing countries, complete the “population growth is desirable” viewpoint. First, many  countries claim a need for population growth to protect currently under populated border regions  against the expansionist intentions of neighboring nations. Second, there are many ethnic,  racial, and religious groups in less developed countries whose attitudes favoring large </a:t>
            </a:r>
            <a:r>
              <a:rPr dirty="0" sz="1100">
                <a:latin typeface="Arial"/>
                <a:cs typeface="Arial"/>
              </a:rPr>
              <a:t>family  </a:t>
            </a:r>
            <a:r>
              <a:rPr dirty="0" sz="1100" spc="-5">
                <a:latin typeface="Arial"/>
                <a:cs typeface="Arial"/>
              </a:rPr>
              <a:t>size have to be protected for both moral and political reasons. Finally, military and political  power is often seen as dependent on a large and youthful</a:t>
            </a:r>
            <a:r>
              <a:rPr dirty="0" sz="1100" spc="65">
                <a:latin typeface="Arial"/>
                <a:cs typeface="Arial"/>
              </a:rPr>
              <a:t> </a:t>
            </a:r>
            <a:r>
              <a:rPr dirty="0" sz="1100" spc="-5">
                <a:latin typeface="Arial"/>
                <a:cs typeface="Arial"/>
              </a:rPr>
              <a:t>population.</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Many of </a:t>
            </a:r>
            <a:r>
              <a:rPr dirty="0" sz="1100">
                <a:latin typeface="Arial"/>
                <a:cs typeface="Arial"/>
              </a:rPr>
              <a:t>these </a:t>
            </a:r>
            <a:r>
              <a:rPr dirty="0" sz="1100" spc="-5">
                <a:latin typeface="Arial"/>
                <a:cs typeface="Arial"/>
              </a:rPr>
              <a:t>arguments have certain realism about them—if not in fact, then at least in the  perceptions of vocal and influential individuals in both the developed and developing worlds.  The important point is that they represent a considerable range of opinions and viewpoints and  therefore need to be seriously weighed against the counterarguments of theorists who believe  that rapid population growth is indeed a real and important problem for underdeveloped  countries. Let us now look at some of these</a:t>
            </a:r>
            <a:r>
              <a:rPr dirty="0" sz="1100" spc="50">
                <a:latin typeface="Arial"/>
                <a:cs typeface="Arial"/>
              </a:rPr>
              <a:t> </a:t>
            </a:r>
            <a:r>
              <a:rPr dirty="0" sz="1100" spc="-5">
                <a:latin typeface="Arial"/>
                <a:cs typeface="Arial"/>
              </a:rPr>
              <a:t>counterarguments.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2- IT IS A REAL</a:t>
            </a:r>
            <a:r>
              <a:rPr dirty="0" sz="1100" spc="15" b="1">
                <a:latin typeface="Arial"/>
                <a:cs typeface="Arial"/>
              </a:rPr>
              <a:t> </a:t>
            </a:r>
            <a:r>
              <a:rPr dirty="0" sz="1100" spc="-5" b="1">
                <a:latin typeface="Arial"/>
                <a:cs typeface="Arial"/>
              </a:rPr>
              <a:t>PROBLEM</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700"/>
              </a:lnSpc>
            </a:pPr>
            <a:r>
              <a:rPr dirty="0" sz="1100" spc="-5">
                <a:latin typeface="Arial"/>
                <a:cs typeface="Arial"/>
              </a:rPr>
              <a:t>Positions supporting the need to </a:t>
            </a:r>
            <a:r>
              <a:rPr dirty="0" sz="1100">
                <a:latin typeface="Arial"/>
                <a:cs typeface="Arial"/>
              </a:rPr>
              <a:t>curtail </a:t>
            </a:r>
            <a:r>
              <a:rPr dirty="0" sz="1100" spc="-5">
                <a:latin typeface="Arial"/>
                <a:cs typeface="Arial"/>
              </a:rPr>
              <a:t>population growth because of the negative economic,  social, and environmental consequences are typically based on one of the following three  arguments.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THE EXTREMIST ARGUMENT: POPULATION AND GLOBAL</a:t>
            </a:r>
            <a:r>
              <a:rPr dirty="0" sz="1100" spc="25" b="1">
                <a:latin typeface="Arial"/>
                <a:cs typeface="Arial"/>
              </a:rPr>
              <a:t> </a:t>
            </a:r>
            <a:r>
              <a:rPr dirty="0" sz="1100" spc="-5" b="1">
                <a:latin typeface="Arial"/>
                <a:cs typeface="Arial"/>
              </a:rPr>
              <a:t>CRISIS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The extreme version of the population-as-problem position attempts to attribute almost all of </a:t>
            </a:r>
            <a:r>
              <a:rPr dirty="0" sz="1100">
                <a:latin typeface="Arial"/>
                <a:cs typeface="Arial"/>
              </a:rPr>
              <a:t>the  </a:t>
            </a:r>
            <a:r>
              <a:rPr dirty="0" sz="1100" spc="-5">
                <a:latin typeface="Arial"/>
                <a:cs typeface="Arial"/>
              </a:rPr>
              <a:t>world’s economic and social evils to excessive population growth. Unrestrained population  increase is seen as the major crisis facing humankind today. It is regarded as the principal  cause of poverty, low </a:t>
            </a:r>
            <a:r>
              <a:rPr dirty="0" sz="1100">
                <a:latin typeface="Arial"/>
                <a:cs typeface="Arial"/>
              </a:rPr>
              <a:t>levels </a:t>
            </a:r>
            <a:r>
              <a:rPr dirty="0" sz="1100" spc="-5">
                <a:latin typeface="Arial"/>
                <a:cs typeface="Arial"/>
              </a:rPr>
              <a:t>of </a:t>
            </a:r>
            <a:r>
              <a:rPr dirty="0" sz="1100">
                <a:latin typeface="Arial"/>
                <a:cs typeface="Arial"/>
              </a:rPr>
              <a:t>living, </a:t>
            </a:r>
            <a:r>
              <a:rPr dirty="0" sz="1100" spc="-5">
                <a:latin typeface="Arial"/>
                <a:cs typeface="Arial"/>
              </a:rPr>
              <a:t>malnutrition, ill health, environmental degradation, and a  wide array of other social problems. Value-laden and incendiary terms such as “population  bomb” and “population explosion” are tossed around. Indeed, dire predictions of world food  catastrophes and ecological disaster are often attributed almost entirely to the growth in  population numbers. Such an extreme position leads some of its advocates to assert</a:t>
            </a:r>
            <a:r>
              <a:rPr dirty="0" sz="1100" spc="195">
                <a:latin typeface="Arial"/>
                <a:cs typeface="Arial"/>
              </a:rPr>
              <a:t> </a:t>
            </a:r>
            <a:r>
              <a:rPr dirty="0" sz="1100" spc="-5">
                <a:latin typeface="Arial"/>
                <a:cs typeface="Arial"/>
              </a:rPr>
              <a:t>that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87</a:t>
            </a:r>
            <a:endParaRPr sz="1100">
              <a:latin typeface="Carlito"/>
              <a:cs typeface="Carlito"/>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78700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“world” (i.e., developing country) population stabilization or even decline is the most urgent  contemporary task </a:t>
            </a:r>
            <a:r>
              <a:rPr dirty="0" sz="1100">
                <a:latin typeface="Arial"/>
                <a:cs typeface="Arial"/>
              </a:rPr>
              <a:t>even </a:t>
            </a:r>
            <a:r>
              <a:rPr dirty="0" sz="1100" spc="-5">
                <a:latin typeface="Arial"/>
                <a:cs typeface="Arial"/>
              </a:rPr>
              <a:t>if it requires severe and coercive measures such as compulsory  sterilization to control family size in some of the most populated developing countries, such as  India and</a:t>
            </a:r>
            <a:r>
              <a:rPr dirty="0" sz="1100">
                <a:latin typeface="Arial"/>
                <a:cs typeface="Arial"/>
              </a:rPr>
              <a:t> </a:t>
            </a:r>
            <a:r>
              <a:rPr dirty="0" sz="1100" spc="-5">
                <a:latin typeface="Arial"/>
                <a:cs typeface="Arial"/>
              </a:rPr>
              <a:t>Bangladesh.</a:t>
            </a:r>
            <a:endParaRPr sz="1100">
              <a:latin typeface="Arial"/>
              <a:cs typeface="Arial"/>
            </a:endParaRPr>
          </a:p>
          <a:p>
            <a:pPr>
              <a:lnSpc>
                <a:spcPct val="100000"/>
              </a:lnSpc>
              <a:spcBef>
                <a:spcPts val="40"/>
              </a:spcBef>
            </a:pPr>
            <a:endParaRPr sz="1100">
              <a:latin typeface="Arial"/>
              <a:cs typeface="Arial"/>
            </a:endParaRPr>
          </a:p>
          <a:p>
            <a:pPr marL="12700" marR="6350">
              <a:lnSpc>
                <a:spcPts val="1270"/>
              </a:lnSpc>
            </a:pPr>
            <a:r>
              <a:rPr dirty="0" sz="1100" spc="-5" b="1">
                <a:latin typeface="Arial"/>
                <a:cs typeface="Arial"/>
              </a:rPr>
              <a:t>THE THEORETICAL ARGUMENT: POPULATION-POVERTY CYCLES AND THE NEED FOR  FAMILY-PLANNING PROGRAMS</a:t>
            </a:r>
            <a:endParaRPr sz="1100">
              <a:latin typeface="Arial"/>
              <a:cs typeface="Arial"/>
            </a:endParaRPr>
          </a:p>
          <a:p>
            <a:pPr>
              <a:lnSpc>
                <a:spcPct val="100000"/>
              </a:lnSpc>
              <a:spcBef>
                <a:spcPts val="50"/>
              </a:spcBef>
            </a:pPr>
            <a:endParaRPr sz="1150">
              <a:latin typeface="Arial"/>
              <a:cs typeface="Arial"/>
            </a:endParaRPr>
          </a:p>
          <a:p>
            <a:pPr algn="just" marL="12700" marR="6350">
              <a:lnSpc>
                <a:spcPts val="1270"/>
              </a:lnSpc>
            </a:pPr>
            <a:r>
              <a:rPr dirty="0" sz="1100" spc="-5" b="1" i="1">
                <a:latin typeface="Arial"/>
                <a:cs typeface="Arial"/>
              </a:rPr>
              <a:t>"Population-poverty cycle: </a:t>
            </a:r>
            <a:r>
              <a:rPr dirty="0" sz="1100" spc="-5" i="1">
                <a:latin typeface="Arial"/>
                <a:cs typeface="Arial"/>
              </a:rPr>
              <a:t>A theory to explain how poverty and high population growth  </a:t>
            </a:r>
            <a:r>
              <a:rPr dirty="0" sz="1100" spc="-5" i="1">
                <a:latin typeface="Arial"/>
                <a:cs typeface="Arial"/>
              </a:rPr>
              <a:t>become reinforcing."</a:t>
            </a:r>
            <a:endParaRPr sz="1100">
              <a:latin typeface="Arial"/>
              <a:cs typeface="Arial"/>
            </a:endParaRPr>
          </a:p>
          <a:p>
            <a:pPr>
              <a:lnSpc>
                <a:spcPct val="100000"/>
              </a:lnSpc>
              <a:spcBef>
                <a:spcPts val="10"/>
              </a:spcBef>
            </a:pPr>
            <a:endParaRPr sz="1050">
              <a:latin typeface="Arial"/>
              <a:cs typeface="Arial"/>
            </a:endParaRPr>
          </a:p>
          <a:p>
            <a:pPr algn="just" marL="12700" marR="5715">
              <a:lnSpc>
                <a:spcPct val="95800"/>
              </a:lnSpc>
            </a:pPr>
            <a:r>
              <a:rPr dirty="0" sz="1100" spc="-5">
                <a:latin typeface="Arial"/>
                <a:cs typeface="Arial"/>
              </a:rPr>
              <a:t>The population-poverty cycle theory is the </a:t>
            </a:r>
            <a:r>
              <a:rPr dirty="0" sz="1100">
                <a:latin typeface="Arial"/>
                <a:cs typeface="Arial"/>
              </a:rPr>
              <a:t>main </a:t>
            </a:r>
            <a:r>
              <a:rPr dirty="0" sz="1100" spc="-5">
                <a:latin typeface="Arial"/>
                <a:cs typeface="Arial"/>
              </a:rPr>
              <a:t>argument advanced by economists who hold  that too rapid population growth </a:t>
            </a:r>
            <a:r>
              <a:rPr dirty="0" sz="1100">
                <a:latin typeface="Arial"/>
                <a:cs typeface="Arial"/>
              </a:rPr>
              <a:t>yields </a:t>
            </a:r>
            <a:r>
              <a:rPr dirty="0" sz="1100" spc="-5">
                <a:latin typeface="Arial"/>
                <a:cs typeface="Arial"/>
              </a:rPr>
              <a:t>negative economic consequences and thus should be a  real concern for developing countries. Advocates start from the basic proposition that population  growth intensifies and exacerbates the economic, social, and psychological problems  associated with the condition of underdevelopment. Population growth is believed to retard the  prospects for a better </a:t>
            </a:r>
            <a:r>
              <a:rPr dirty="0" sz="1100">
                <a:latin typeface="Arial"/>
                <a:cs typeface="Arial"/>
              </a:rPr>
              <a:t>life </a:t>
            </a:r>
            <a:r>
              <a:rPr dirty="0" sz="1100" spc="-5">
                <a:latin typeface="Arial"/>
                <a:cs typeface="Arial"/>
              </a:rPr>
              <a:t>for the already born </a:t>
            </a:r>
            <a:r>
              <a:rPr dirty="0" sz="1100">
                <a:latin typeface="Arial"/>
                <a:cs typeface="Arial"/>
              </a:rPr>
              <a:t>by </a:t>
            </a:r>
            <a:r>
              <a:rPr dirty="0" sz="1100" spc="-5">
                <a:latin typeface="Arial"/>
                <a:cs typeface="Arial"/>
              </a:rPr>
              <a:t>reducing savings rates at the household and  national levels. It also severely draws down limited government revenues simply to provide </a:t>
            </a:r>
            <a:r>
              <a:rPr dirty="0" sz="1100">
                <a:latin typeface="Arial"/>
                <a:cs typeface="Arial"/>
              </a:rPr>
              <a:t>the  </a:t>
            </a:r>
            <a:r>
              <a:rPr dirty="0" sz="1100" spc="-5">
                <a:latin typeface="Arial"/>
                <a:cs typeface="Arial"/>
              </a:rPr>
              <a:t>most rudimentary economic, health, and social services to the additional people. This in turn  further reduces the prospects for any improvement in </a:t>
            </a:r>
            <a:r>
              <a:rPr dirty="0" sz="1100">
                <a:latin typeface="Arial"/>
                <a:cs typeface="Arial"/>
              </a:rPr>
              <a:t>the </a:t>
            </a:r>
            <a:r>
              <a:rPr dirty="0" sz="1100" spc="-5">
                <a:latin typeface="Arial"/>
                <a:cs typeface="Arial"/>
              </a:rPr>
              <a:t>levels </a:t>
            </a:r>
            <a:r>
              <a:rPr dirty="0" sz="1100">
                <a:latin typeface="Arial"/>
                <a:cs typeface="Arial"/>
              </a:rPr>
              <a:t>of </a:t>
            </a:r>
            <a:r>
              <a:rPr dirty="0" sz="1100" spc="-5">
                <a:latin typeface="Arial"/>
                <a:cs typeface="Arial"/>
              </a:rPr>
              <a:t>living of </a:t>
            </a:r>
            <a:r>
              <a:rPr dirty="0" sz="1100">
                <a:latin typeface="Arial"/>
                <a:cs typeface="Arial"/>
              </a:rPr>
              <a:t>the </a:t>
            </a:r>
            <a:r>
              <a:rPr dirty="0" sz="1100" spc="-5">
                <a:latin typeface="Arial"/>
                <a:cs typeface="Arial"/>
              </a:rPr>
              <a:t>existing  generation and helps transmit poverty to future generations of low-income</a:t>
            </a:r>
            <a:r>
              <a:rPr dirty="0" sz="1100" spc="100">
                <a:latin typeface="Arial"/>
                <a:cs typeface="Arial"/>
              </a:rPr>
              <a:t> </a:t>
            </a:r>
            <a:r>
              <a:rPr dirty="0" sz="1100" spc="-5">
                <a:latin typeface="Arial"/>
                <a:cs typeface="Arial"/>
              </a:rPr>
              <a:t>families.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basic model that economists use to demonstrate these adverse consequences of rapid  population growth is a simplification of the standard Solow type neoclassical growth equation.  Using the standard production function, </a:t>
            </a:r>
            <a:r>
              <a:rPr dirty="0" sz="1100" spc="-5" i="1">
                <a:latin typeface="Arial"/>
                <a:cs typeface="Arial"/>
              </a:rPr>
              <a:t>Y f(K, L, R, T</a:t>
            </a:r>
            <a:r>
              <a:rPr dirty="0" sz="1100" spc="-5">
                <a:latin typeface="Arial"/>
                <a:cs typeface="Arial"/>
              </a:rPr>
              <a:t>)—that is, output is a function of capital,  labor, resources, and technology— and holding the resource base fixed, we can derive </a:t>
            </a:r>
            <a:r>
              <a:rPr dirty="0" sz="1100">
                <a:latin typeface="Arial"/>
                <a:cs typeface="Arial"/>
              </a:rPr>
              <a:t>the  </a:t>
            </a:r>
            <a:r>
              <a:rPr dirty="0" sz="1100" spc="-5">
                <a:latin typeface="Arial"/>
                <a:cs typeface="Arial"/>
              </a:rPr>
              <a:t>result that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i="1">
                <a:latin typeface="Arial"/>
                <a:cs typeface="Arial"/>
              </a:rPr>
              <a:t>y - l = a(k - l) +</a:t>
            </a:r>
            <a:r>
              <a:rPr dirty="0" sz="1100" spc="30" i="1">
                <a:latin typeface="Arial"/>
                <a:cs typeface="Arial"/>
              </a:rPr>
              <a:t> </a:t>
            </a:r>
            <a:r>
              <a:rPr dirty="0" sz="1100" spc="-5" i="1">
                <a:latin typeface="Arial"/>
                <a:cs typeface="Arial"/>
              </a:rPr>
              <a:t>t</a:t>
            </a:r>
            <a:endParaRPr sz="1100">
              <a:latin typeface="Arial"/>
              <a:cs typeface="Arial"/>
            </a:endParaRPr>
          </a:p>
          <a:p>
            <a:pPr>
              <a:lnSpc>
                <a:spcPct val="100000"/>
              </a:lnSpc>
            </a:pPr>
            <a:endParaRPr sz="1100">
              <a:latin typeface="Arial"/>
              <a:cs typeface="Arial"/>
            </a:endParaRPr>
          </a:p>
          <a:p>
            <a:pPr algn="just" marL="12700" marR="6350">
              <a:lnSpc>
                <a:spcPct val="95700"/>
              </a:lnSpc>
            </a:pPr>
            <a:r>
              <a:rPr dirty="0" sz="1100" spc="-5">
                <a:latin typeface="Arial"/>
                <a:cs typeface="Arial"/>
              </a:rPr>
              <a:t>Where y rate of GNI growth, l = rate of labor force (population) growth, k rate of growth of the  capital stock, α capital elasticity of output (usually found to be constant), and t the effect of  technological change (the Solow residual in empirical studies of sources of economic</a:t>
            </a:r>
            <a:r>
              <a:rPr dirty="0" sz="1100" spc="180">
                <a:latin typeface="Arial"/>
                <a:cs typeface="Arial"/>
              </a:rPr>
              <a:t> </a:t>
            </a:r>
            <a:r>
              <a:rPr dirty="0" sz="1100" spc="-5">
                <a:latin typeface="Arial"/>
                <a:cs typeface="Arial"/>
              </a:rPr>
              <a:t>growth.</a:t>
            </a:r>
            <a:endParaRPr sz="1100">
              <a:latin typeface="Arial"/>
              <a:cs typeface="Arial"/>
            </a:endParaRPr>
          </a:p>
          <a:p>
            <a:pPr>
              <a:lnSpc>
                <a:spcPct val="100000"/>
              </a:lnSpc>
              <a:spcBef>
                <a:spcPts val="35"/>
              </a:spcBef>
            </a:pPr>
            <a:endParaRPr sz="1100">
              <a:latin typeface="Arial"/>
              <a:cs typeface="Arial"/>
            </a:endParaRPr>
          </a:p>
          <a:p>
            <a:pPr marL="12700" marR="7620">
              <a:lnSpc>
                <a:spcPts val="1270"/>
              </a:lnSpc>
              <a:tabLst>
                <a:tab pos="695960" algn="l"/>
                <a:tab pos="1659889" algn="l"/>
                <a:tab pos="2799715" algn="l"/>
                <a:tab pos="3469004" algn="l"/>
                <a:tab pos="4378325" algn="l"/>
                <a:tab pos="5760720" algn="l"/>
              </a:tabLst>
            </a:pPr>
            <a:r>
              <a:rPr dirty="0" sz="1100" spc="-10" b="1">
                <a:latin typeface="Arial"/>
                <a:cs typeface="Arial"/>
              </a:rPr>
              <a:t>OTH</a:t>
            </a:r>
            <a:r>
              <a:rPr dirty="0" sz="1100" b="1">
                <a:latin typeface="Arial"/>
                <a:cs typeface="Arial"/>
              </a:rPr>
              <a:t>E</a:t>
            </a:r>
            <a:r>
              <a:rPr dirty="0" sz="1100" spc="-5" b="1">
                <a:latin typeface="Arial"/>
                <a:cs typeface="Arial"/>
              </a:rPr>
              <a:t>R</a:t>
            </a:r>
            <a:r>
              <a:rPr dirty="0" sz="1100" b="1">
                <a:latin typeface="Arial"/>
                <a:cs typeface="Arial"/>
              </a:rPr>
              <a:t>	</a:t>
            </a:r>
            <a:r>
              <a:rPr dirty="0" sz="1100" b="1">
                <a:latin typeface="Arial"/>
                <a:cs typeface="Arial"/>
              </a:rPr>
              <a:t>E</a:t>
            </a:r>
            <a:r>
              <a:rPr dirty="0" sz="1100" spc="-10" b="1">
                <a:latin typeface="Arial"/>
                <a:cs typeface="Arial"/>
              </a:rPr>
              <a:t>MPIR</a:t>
            </a:r>
            <a:r>
              <a:rPr dirty="0" sz="1100" b="1">
                <a:latin typeface="Arial"/>
                <a:cs typeface="Arial"/>
              </a:rPr>
              <a:t>I</a:t>
            </a:r>
            <a:r>
              <a:rPr dirty="0" sz="1100" spc="-10" b="1">
                <a:latin typeface="Arial"/>
                <a:cs typeface="Arial"/>
              </a:rPr>
              <a:t>CA</a:t>
            </a:r>
            <a:r>
              <a:rPr dirty="0" sz="1100" spc="-5" b="1">
                <a:latin typeface="Arial"/>
                <a:cs typeface="Arial"/>
              </a:rPr>
              <a:t>L</a:t>
            </a:r>
            <a:r>
              <a:rPr dirty="0" sz="1100" b="1">
                <a:latin typeface="Arial"/>
                <a:cs typeface="Arial"/>
              </a:rPr>
              <a:t>	</a:t>
            </a:r>
            <a:r>
              <a:rPr dirty="0" sz="1100" spc="-10" b="1">
                <a:latin typeface="Arial"/>
                <a:cs typeface="Arial"/>
              </a:rPr>
              <a:t>ARGUMENTS</a:t>
            </a:r>
            <a:r>
              <a:rPr dirty="0" sz="1100" spc="-5" b="1">
                <a:latin typeface="Arial"/>
                <a:cs typeface="Arial"/>
              </a:rPr>
              <a:t>:</a:t>
            </a:r>
            <a:r>
              <a:rPr dirty="0" sz="1100" b="1">
                <a:latin typeface="Arial"/>
                <a:cs typeface="Arial"/>
              </a:rPr>
              <a:t>	</a:t>
            </a:r>
            <a:r>
              <a:rPr dirty="0" sz="1100" b="1">
                <a:latin typeface="Arial"/>
                <a:cs typeface="Arial"/>
              </a:rPr>
              <a:t>S</a:t>
            </a:r>
            <a:r>
              <a:rPr dirty="0" sz="1100" spc="-10" b="1">
                <a:latin typeface="Arial"/>
                <a:cs typeface="Arial"/>
              </a:rPr>
              <a:t>EVE</a:t>
            </a:r>
            <a:r>
              <a:rPr dirty="0" sz="1100" spc="-5" b="1">
                <a:latin typeface="Arial"/>
                <a:cs typeface="Arial"/>
              </a:rPr>
              <a:t>N</a:t>
            </a:r>
            <a:r>
              <a:rPr dirty="0" sz="1100" b="1">
                <a:latin typeface="Arial"/>
                <a:cs typeface="Arial"/>
              </a:rPr>
              <a:t>	</a:t>
            </a:r>
            <a:r>
              <a:rPr dirty="0" sz="1100" spc="-10" b="1">
                <a:latin typeface="Arial"/>
                <a:cs typeface="Arial"/>
              </a:rPr>
              <a:t>N</a:t>
            </a:r>
            <a:r>
              <a:rPr dirty="0" sz="1100" b="1">
                <a:latin typeface="Arial"/>
                <a:cs typeface="Arial"/>
              </a:rPr>
              <a:t>E</a:t>
            </a:r>
            <a:r>
              <a:rPr dirty="0" sz="1100" spc="-10" b="1">
                <a:latin typeface="Arial"/>
                <a:cs typeface="Arial"/>
              </a:rPr>
              <a:t>GATIV</a:t>
            </a:r>
            <a:r>
              <a:rPr dirty="0" sz="1100" spc="-5" b="1">
                <a:latin typeface="Arial"/>
                <a:cs typeface="Arial"/>
              </a:rPr>
              <a:t>E</a:t>
            </a:r>
            <a:r>
              <a:rPr dirty="0" sz="1100" b="1">
                <a:latin typeface="Arial"/>
                <a:cs typeface="Arial"/>
              </a:rPr>
              <a:t>	</a:t>
            </a:r>
            <a:r>
              <a:rPr dirty="0" sz="1100" spc="-10" b="1">
                <a:latin typeface="Arial"/>
                <a:cs typeface="Arial"/>
              </a:rPr>
              <a:t>CONS</a:t>
            </a:r>
            <a:r>
              <a:rPr dirty="0" sz="1100" b="1">
                <a:latin typeface="Arial"/>
                <a:cs typeface="Arial"/>
              </a:rPr>
              <a:t>E</a:t>
            </a:r>
            <a:r>
              <a:rPr dirty="0" sz="1100" spc="-10" b="1">
                <a:latin typeface="Arial"/>
                <a:cs typeface="Arial"/>
              </a:rPr>
              <a:t>Q</a:t>
            </a:r>
            <a:r>
              <a:rPr dirty="0" sz="1100" spc="-10" b="1">
                <a:latin typeface="Arial"/>
                <a:cs typeface="Arial"/>
              </a:rPr>
              <a:t>UENC</a:t>
            </a:r>
            <a:r>
              <a:rPr dirty="0" sz="1100" b="1">
                <a:latin typeface="Arial"/>
                <a:cs typeface="Arial"/>
              </a:rPr>
              <a:t>E</a:t>
            </a:r>
            <a:r>
              <a:rPr dirty="0" sz="1100" spc="-5" b="1">
                <a:latin typeface="Arial"/>
                <a:cs typeface="Arial"/>
              </a:rPr>
              <a:t>S</a:t>
            </a:r>
            <a:r>
              <a:rPr dirty="0" sz="1100" b="1">
                <a:latin typeface="Arial"/>
                <a:cs typeface="Arial"/>
              </a:rPr>
              <a:t>	</a:t>
            </a:r>
            <a:r>
              <a:rPr dirty="0" sz="1100" spc="-10" b="1">
                <a:latin typeface="Arial"/>
                <a:cs typeface="Arial"/>
              </a:rPr>
              <a:t>OF  </a:t>
            </a:r>
            <a:r>
              <a:rPr dirty="0" sz="1100" spc="-5" b="1">
                <a:latin typeface="Arial"/>
                <a:cs typeface="Arial"/>
              </a:rPr>
              <a:t>POPULATION</a:t>
            </a:r>
            <a:r>
              <a:rPr dirty="0" sz="1100" b="1">
                <a:latin typeface="Arial"/>
                <a:cs typeface="Arial"/>
              </a:rPr>
              <a:t> </a:t>
            </a:r>
            <a:r>
              <a:rPr dirty="0" sz="1100" spc="-5" b="1">
                <a:latin typeface="Arial"/>
                <a:cs typeface="Arial"/>
              </a:rPr>
              <a:t>GROWTH</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pPr>
            <a:r>
              <a:rPr dirty="0" sz="1100" spc="-5">
                <a:latin typeface="Arial"/>
                <a:cs typeface="Arial"/>
              </a:rPr>
              <a:t>According to the latest empirical research, the potential negative consequences of population  growth for economic development can be divided </a:t>
            </a:r>
            <a:r>
              <a:rPr dirty="0" sz="1100">
                <a:latin typeface="Arial"/>
                <a:cs typeface="Arial"/>
              </a:rPr>
              <a:t>into </a:t>
            </a:r>
            <a:r>
              <a:rPr dirty="0" sz="1100" spc="-5">
                <a:latin typeface="Arial"/>
                <a:cs typeface="Arial"/>
              </a:rPr>
              <a:t>seven categories: its impact on economic  growth, poverty and inequality, education, health, food, the environment, and international  migration.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ECONOMIC GROWTH</a:t>
            </a:r>
            <a:endParaRPr sz="1100">
              <a:latin typeface="Arial"/>
              <a:cs typeface="Arial"/>
            </a:endParaRPr>
          </a:p>
          <a:p>
            <a:pPr>
              <a:lnSpc>
                <a:spcPct val="100000"/>
              </a:lnSpc>
              <a:spcBef>
                <a:spcPts val="15"/>
              </a:spcBef>
            </a:pPr>
            <a:endParaRPr sz="1200">
              <a:latin typeface="Arial"/>
              <a:cs typeface="Arial"/>
            </a:endParaRPr>
          </a:p>
          <a:p>
            <a:pPr algn="just" marL="12700" marR="6350">
              <a:lnSpc>
                <a:spcPts val="1270"/>
              </a:lnSpc>
            </a:pPr>
            <a:r>
              <a:rPr dirty="0" sz="1100" spc="-5">
                <a:latin typeface="Arial"/>
                <a:cs typeface="Arial"/>
              </a:rPr>
              <a:t>Evidence shows that although it is not the culprit behind economic stagnation, rapid population  growth lowers per capita income growth in most developing countries, especially those that are  already </a:t>
            </a:r>
            <a:r>
              <a:rPr dirty="0" sz="1100">
                <a:latin typeface="Arial"/>
                <a:cs typeface="Arial"/>
              </a:rPr>
              <a:t>poor, </a:t>
            </a:r>
            <a:r>
              <a:rPr dirty="0" sz="1100" spc="-5">
                <a:latin typeface="Arial"/>
                <a:cs typeface="Arial"/>
              </a:rPr>
              <a:t>dependent on agriculture, and experiencing pressures on land and natural  resources.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88</a:t>
            </a:r>
            <a:endParaRPr sz="1100">
              <a:latin typeface="Carlito"/>
              <a:cs typeface="Carlito"/>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2810" cy="766953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POVERTY AND</a:t>
            </a:r>
            <a:r>
              <a:rPr dirty="0" sz="1100" spc="5" b="1">
                <a:latin typeface="Arial"/>
                <a:cs typeface="Arial"/>
              </a:rPr>
              <a:t> </a:t>
            </a:r>
            <a:r>
              <a:rPr dirty="0" sz="1100" spc="-5" b="1">
                <a:latin typeface="Arial"/>
                <a:cs typeface="Arial"/>
              </a:rPr>
              <a:t>INEQUALITY</a:t>
            </a:r>
            <a:endParaRPr sz="1100">
              <a:latin typeface="Arial"/>
              <a:cs typeface="Arial"/>
            </a:endParaRPr>
          </a:p>
          <a:p>
            <a:pPr>
              <a:lnSpc>
                <a:spcPct val="100000"/>
              </a:lnSpc>
              <a:spcBef>
                <a:spcPts val="55"/>
              </a:spcBef>
            </a:pPr>
            <a:endParaRPr sz="1150">
              <a:latin typeface="Arial"/>
              <a:cs typeface="Arial"/>
            </a:endParaRPr>
          </a:p>
          <a:p>
            <a:pPr algn="just" marL="12700" marR="7620">
              <a:lnSpc>
                <a:spcPct val="95800"/>
              </a:lnSpc>
            </a:pPr>
            <a:r>
              <a:rPr dirty="0" sz="1100" spc="-5">
                <a:latin typeface="Arial"/>
                <a:cs typeface="Arial"/>
              </a:rPr>
              <a:t>Even though aggregate statistical correlations between measures of poverty </a:t>
            </a:r>
            <a:r>
              <a:rPr dirty="0" sz="1100">
                <a:latin typeface="Arial"/>
                <a:cs typeface="Arial"/>
              </a:rPr>
              <a:t>and </a:t>
            </a:r>
            <a:r>
              <a:rPr dirty="0" sz="1100" spc="-5">
                <a:latin typeface="Arial"/>
                <a:cs typeface="Arial"/>
              </a:rPr>
              <a:t>population  growth at the national level are often inconclusive, at the household level the evidence is strong  and compelling. The negative consequences of rapid population growth fall most heavily on the  poor because they are the ones who are made landless, suffer first from cuts in government  health and education programs, and bear the brunt of environmental damage. Poor women  once again bear the greatest burden of government austerity programs, and another vicious  circle ensues. To the extent that large families perpetuate poverty, they also exacerbate  inequality.</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EDUCATION</a:t>
            </a:r>
            <a:endParaRPr sz="1100">
              <a:latin typeface="Arial"/>
              <a:cs typeface="Arial"/>
            </a:endParaRPr>
          </a:p>
          <a:p>
            <a:pPr>
              <a:lnSpc>
                <a:spcPct val="100000"/>
              </a:lnSpc>
              <a:spcBef>
                <a:spcPts val="50"/>
              </a:spcBef>
            </a:pPr>
            <a:endParaRPr sz="1150">
              <a:latin typeface="Arial"/>
              <a:cs typeface="Arial"/>
            </a:endParaRPr>
          </a:p>
          <a:p>
            <a:pPr algn="just" marL="12700" marR="8255">
              <a:lnSpc>
                <a:spcPct val="95800"/>
              </a:lnSpc>
            </a:pPr>
            <a:r>
              <a:rPr dirty="0" sz="1100" spc="-5">
                <a:latin typeface="Arial"/>
                <a:cs typeface="Arial"/>
              </a:rPr>
              <a:t>Although the data are sometimes ambiguous on this point, it is generally agreed that large  family size and low incomes restrict the opportunities of parents to educate all their children. At  the national level, rapid population growth causes educational expenditures to be spread more  thinly, lowering quality for the sake of quantity. This in turn feeds back on economic growth  because the stock of human capital is reduced by rapid population</a:t>
            </a:r>
            <a:r>
              <a:rPr dirty="0" sz="1100" spc="60">
                <a:latin typeface="Arial"/>
                <a:cs typeface="Arial"/>
              </a:rPr>
              <a:t> </a:t>
            </a:r>
            <a:r>
              <a:rPr dirty="0" sz="1100" spc="-5">
                <a:latin typeface="Arial"/>
                <a:cs typeface="Arial"/>
              </a:rPr>
              <a:t>growth.</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HEALTH</a:t>
            </a:r>
            <a:endParaRPr sz="1100">
              <a:latin typeface="Arial"/>
              <a:cs typeface="Arial"/>
            </a:endParaRPr>
          </a:p>
          <a:p>
            <a:pPr>
              <a:lnSpc>
                <a:spcPct val="100000"/>
              </a:lnSpc>
              <a:spcBef>
                <a:spcPts val="50"/>
              </a:spcBef>
            </a:pPr>
            <a:endParaRPr sz="1150">
              <a:latin typeface="Arial"/>
              <a:cs typeface="Arial"/>
            </a:endParaRPr>
          </a:p>
          <a:p>
            <a:pPr algn="just" marL="12700" marR="8255">
              <a:lnSpc>
                <a:spcPct val="95700"/>
              </a:lnSpc>
            </a:pPr>
            <a:r>
              <a:rPr dirty="0" sz="1100" spc="-5">
                <a:latin typeface="Arial"/>
                <a:cs typeface="Arial"/>
              </a:rPr>
              <a:t>High fertility harms the health of mothers and children. It increases the health risks of  pregnancy, and closely spaced births have been shown to reduce birth weight and increase  child mortality</a:t>
            </a:r>
            <a:r>
              <a:rPr dirty="0" sz="1100">
                <a:latin typeface="Arial"/>
                <a:cs typeface="Arial"/>
              </a:rPr>
              <a:t> </a:t>
            </a:r>
            <a:r>
              <a:rPr dirty="0" sz="1100" spc="-5">
                <a:latin typeface="Arial"/>
                <a:cs typeface="Arial"/>
              </a:rPr>
              <a:t>rates.</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FOOD</a:t>
            </a:r>
            <a:endParaRPr sz="1100">
              <a:latin typeface="Arial"/>
              <a:cs typeface="Arial"/>
            </a:endParaRPr>
          </a:p>
          <a:p>
            <a:pPr>
              <a:lnSpc>
                <a:spcPct val="100000"/>
              </a:lnSpc>
              <a:spcBef>
                <a:spcPts val="50"/>
              </a:spcBef>
            </a:pPr>
            <a:endParaRPr sz="1150">
              <a:latin typeface="Arial"/>
              <a:cs typeface="Arial"/>
            </a:endParaRPr>
          </a:p>
          <a:p>
            <a:pPr algn="just" marL="12700" marR="7620">
              <a:lnSpc>
                <a:spcPct val="95800"/>
              </a:lnSpc>
            </a:pPr>
            <a:r>
              <a:rPr dirty="0" sz="1100" spc="-5">
                <a:latin typeface="Arial"/>
                <a:cs typeface="Arial"/>
              </a:rPr>
              <a:t>Feeding the world’s population is made more difficult by rapid population growth—a large  fraction of developing country food requirements are the result of population increases. New  technologies of production must be introduced more rapidly, as the best lands have already  been cultivated. International food relief programs become </a:t>
            </a:r>
            <a:r>
              <a:rPr dirty="0" sz="1100">
                <a:latin typeface="Arial"/>
                <a:cs typeface="Arial"/>
              </a:rPr>
              <a:t>more</a:t>
            </a:r>
            <a:r>
              <a:rPr dirty="0" sz="1100" spc="65">
                <a:latin typeface="Arial"/>
                <a:cs typeface="Arial"/>
              </a:rPr>
              <a:t> </a:t>
            </a:r>
            <a:r>
              <a:rPr dirty="0" sz="1100" spc="-5">
                <a:latin typeface="Arial"/>
                <a:cs typeface="Arial"/>
              </a:rPr>
              <a:t>widespread.</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ENVIRONMENT</a:t>
            </a:r>
            <a:endParaRPr sz="1100">
              <a:latin typeface="Arial"/>
              <a:cs typeface="Arial"/>
            </a:endParaRPr>
          </a:p>
          <a:p>
            <a:pPr>
              <a:lnSpc>
                <a:spcPct val="100000"/>
              </a:lnSpc>
            </a:pPr>
            <a:endParaRPr sz="1200">
              <a:latin typeface="Arial"/>
              <a:cs typeface="Arial"/>
            </a:endParaRPr>
          </a:p>
          <a:p>
            <a:pPr algn="just" marL="12700" marR="8890">
              <a:lnSpc>
                <a:spcPct val="95700"/>
              </a:lnSpc>
            </a:pPr>
            <a:r>
              <a:rPr dirty="0" sz="1100" spc="-5">
                <a:latin typeface="Arial"/>
                <a:cs typeface="Arial"/>
              </a:rPr>
              <a:t>Rapid population growth contributes to environmental degradation in the form of forest  encroachment, deforestation, fuel wood depletion, soil erosion, declining fish and animal stocks,  inadequate and unsafe water, air pollution, and urban</a:t>
            </a:r>
            <a:r>
              <a:rPr dirty="0" sz="1100" spc="35">
                <a:latin typeface="Arial"/>
                <a:cs typeface="Arial"/>
              </a:rPr>
              <a:t> </a:t>
            </a:r>
            <a:r>
              <a:rPr dirty="0" sz="1100" spc="-5">
                <a:latin typeface="Arial"/>
                <a:cs typeface="Arial"/>
              </a:rPr>
              <a:t>congestion.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INTERNATIONAL</a:t>
            </a:r>
            <a:r>
              <a:rPr dirty="0" sz="1100" b="1">
                <a:latin typeface="Arial"/>
                <a:cs typeface="Arial"/>
              </a:rPr>
              <a:t> </a:t>
            </a:r>
            <a:r>
              <a:rPr dirty="0" sz="1100" spc="-5" b="1">
                <a:latin typeface="Arial"/>
                <a:cs typeface="Arial"/>
              </a:rPr>
              <a:t>MIGRATION</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Many observers consider the increase in international migration, both legal and illegal, to be one  of the major consequences of developing countries’ population growth. Though </a:t>
            </a:r>
            <a:r>
              <a:rPr dirty="0" sz="1100">
                <a:latin typeface="Arial"/>
                <a:cs typeface="Arial"/>
              </a:rPr>
              <a:t>many </a:t>
            </a:r>
            <a:r>
              <a:rPr dirty="0" sz="1100" spc="-5">
                <a:latin typeface="Arial"/>
                <a:cs typeface="Arial"/>
              </a:rPr>
              <a:t>factors  spur migration, an excess of job seekers (caused by rapid population growth) over job  opportunities is surely one of them. However, unlike the first six consequences listed here,  some of the economic and social costs of international migration fall on recipient countries,  increasingly in the developed world. It is not surprising, therefore, that this issue has recently  taken on political importance in North America and</a:t>
            </a:r>
            <a:r>
              <a:rPr dirty="0" sz="1100" spc="40">
                <a:latin typeface="Arial"/>
                <a:cs typeface="Arial"/>
              </a:rPr>
              <a:t> </a:t>
            </a:r>
            <a:r>
              <a:rPr dirty="0" sz="1100" spc="-5">
                <a:latin typeface="Arial"/>
                <a:cs typeface="Arial"/>
              </a:rPr>
              <a:t>Europe.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89</a:t>
            </a:r>
            <a:endParaRPr sz="1100">
              <a:latin typeface="Carlito"/>
              <a:cs typeface="Carlito"/>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891794"/>
            <a:ext cx="5970270" cy="8160384"/>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13</a:t>
            </a:r>
            <a:endParaRPr sz="1100">
              <a:latin typeface="Arial"/>
              <a:cs typeface="Arial"/>
            </a:endParaRPr>
          </a:p>
          <a:p>
            <a:pPr>
              <a:lnSpc>
                <a:spcPct val="100000"/>
              </a:lnSpc>
              <a:spcBef>
                <a:spcPts val="45"/>
              </a:spcBef>
            </a:pPr>
            <a:endParaRPr sz="1100">
              <a:latin typeface="Arial"/>
              <a:cs typeface="Arial"/>
            </a:endParaRPr>
          </a:p>
          <a:p>
            <a:pPr marL="1687830" marR="90170" indent="-1591310">
              <a:lnSpc>
                <a:spcPts val="1260"/>
              </a:lnSpc>
            </a:pPr>
            <a:r>
              <a:rPr dirty="0" sz="1100" spc="-5" b="1">
                <a:latin typeface="Arial"/>
                <a:cs typeface="Arial"/>
              </a:rPr>
              <a:t>POPULATION GROWTH AND ECONOMIC DEVELOPMENT: CAUSES, CONSEQUENCES  AND CONTROVERSIES</a:t>
            </a:r>
            <a:r>
              <a:rPr dirty="0" sz="1100" spc="5" b="1">
                <a:latin typeface="Arial"/>
                <a:cs typeface="Arial"/>
              </a:rPr>
              <a:t> </a:t>
            </a:r>
            <a:r>
              <a:rPr dirty="0" sz="1100" spc="-10" b="1">
                <a:latin typeface="Arial"/>
                <a:cs typeface="Arial"/>
              </a:rPr>
              <a:t>(CONTINUED3)</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10" b="1">
                <a:latin typeface="Arial"/>
                <a:cs typeface="Arial"/>
              </a:rPr>
              <a:t>GOALS </a:t>
            </a:r>
            <a:r>
              <a:rPr dirty="0" sz="1100" b="1">
                <a:latin typeface="Arial"/>
                <a:cs typeface="Arial"/>
              </a:rPr>
              <a:t>AND </a:t>
            </a:r>
            <a:r>
              <a:rPr dirty="0" sz="1100" spc="-5" b="1">
                <a:latin typeface="Arial"/>
                <a:cs typeface="Arial"/>
              </a:rPr>
              <a:t>OBJECTIVES: TOWARD A</a:t>
            </a:r>
            <a:r>
              <a:rPr dirty="0" sz="1100" spc="15" b="1">
                <a:latin typeface="Arial"/>
                <a:cs typeface="Arial"/>
              </a:rPr>
              <a:t> </a:t>
            </a:r>
            <a:r>
              <a:rPr dirty="0" sz="1100" spc="-10" b="1">
                <a:latin typeface="Arial"/>
                <a:cs typeface="Arial"/>
              </a:rPr>
              <a:t>CONSENSUS</a:t>
            </a:r>
            <a:endParaRPr sz="1100">
              <a:latin typeface="Arial"/>
              <a:cs typeface="Arial"/>
            </a:endParaRPr>
          </a:p>
          <a:p>
            <a:pPr>
              <a:lnSpc>
                <a:spcPct val="100000"/>
              </a:lnSpc>
              <a:spcBef>
                <a:spcPts val="25"/>
              </a:spcBef>
            </a:pPr>
            <a:endParaRPr sz="1100">
              <a:latin typeface="Arial"/>
              <a:cs typeface="Arial"/>
            </a:endParaRPr>
          </a:p>
          <a:p>
            <a:pPr marL="12700" marR="334010">
              <a:lnSpc>
                <a:spcPts val="1270"/>
              </a:lnSpc>
            </a:pPr>
            <a:r>
              <a:rPr dirty="0" sz="1100" spc="-5">
                <a:latin typeface="Arial"/>
                <a:cs typeface="Arial"/>
              </a:rPr>
              <a:t>The following three propositions constitute the essential components of this intermediate or  consensus</a:t>
            </a:r>
            <a:r>
              <a:rPr dirty="0" sz="1100" spc="-10">
                <a:latin typeface="Arial"/>
                <a:cs typeface="Arial"/>
              </a:rPr>
              <a:t> </a:t>
            </a:r>
            <a:r>
              <a:rPr dirty="0" sz="1100" spc="-5">
                <a:latin typeface="Arial"/>
                <a:cs typeface="Arial"/>
              </a:rPr>
              <a:t>opinion.</a:t>
            </a:r>
            <a:endParaRPr sz="1100">
              <a:latin typeface="Arial"/>
              <a:cs typeface="Arial"/>
            </a:endParaRPr>
          </a:p>
          <a:p>
            <a:pPr>
              <a:lnSpc>
                <a:spcPct val="100000"/>
              </a:lnSpc>
              <a:spcBef>
                <a:spcPts val="15"/>
              </a:spcBef>
            </a:pPr>
            <a:endParaRPr sz="1050">
              <a:latin typeface="Arial"/>
              <a:cs typeface="Arial"/>
            </a:endParaRPr>
          </a:p>
          <a:p>
            <a:pPr algn="just" marL="469900" marR="5080" indent="-228600">
              <a:lnSpc>
                <a:spcPct val="95800"/>
              </a:lnSpc>
              <a:spcBef>
                <a:spcPts val="5"/>
              </a:spcBef>
              <a:buFont typeface="Arial"/>
              <a:buAutoNum type="arabicPeriod"/>
              <a:tabLst>
                <a:tab pos="470534" algn="l"/>
              </a:tabLst>
            </a:pPr>
            <a:r>
              <a:rPr dirty="0" sz="1100" spc="-5">
                <a:latin typeface="Arial"/>
                <a:cs typeface="Arial"/>
              </a:rPr>
              <a:t>Population growth is not the primary cause of low levels of living, extreme inequalities, or  the limited freedom of choice that characterize much of the developing world. The  fundamental causes of these problems must be sought, rather, in the plight of poor  families, especially women, and the failure of other aspects of domestic and international  development policy.</a:t>
            </a:r>
            <a:endParaRPr sz="1100">
              <a:latin typeface="Arial"/>
              <a:cs typeface="Arial"/>
            </a:endParaRPr>
          </a:p>
          <a:p>
            <a:pPr>
              <a:lnSpc>
                <a:spcPct val="100000"/>
              </a:lnSpc>
              <a:spcBef>
                <a:spcPts val="20"/>
              </a:spcBef>
              <a:buFont typeface="Arial"/>
              <a:buAutoNum type="arabicPeriod"/>
            </a:pPr>
            <a:endParaRPr sz="1250">
              <a:latin typeface="Arial"/>
              <a:cs typeface="Arial"/>
            </a:endParaRPr>
          </a:p>
          <a:p>
            <a:pPr algn="just" marL="469900" marR="7620" indent="-228600">
              <a:lnSpc>
                <a:spcPct val="95800"/>
              </a:lnSpc>
              <a:buFont typeface="Arial"/>
              <a:buAutoNum type="arabicPeriod"/>
              <a:tabLst>
                <a:tab pos="470534" algn="l"/>
              </a:tabLst>
            </a:pPr>
            <a:r>
              <a:rPr dirty="0" sz="1100" spc="-5">
                <a:latin typeface="Arial"/>
                <a:cs typeface="Arial"/>
              </a:rPr>
              <a:t>The problem of population is not simply one </a:t>
            </a:r>
            <a:r>
              <a:rPr dirty="0" sz="1100">
                <a:latin typeface="Arial"/>
                <a:cs typeface="Arial"/>
              </a:rPr>
              <a:t>of </a:t>
            </a:r>
            <a:r>
              <a:rPr dirty="0" sz="1100" spc="-5">
                <a:latin typeface="Arial"/>
                <a:cs typeface="Arial"/>
              </a:rPr>
              <a:t>numbers </a:t>
            </a:r>
            <a:r>
              <a:rPr dirty="0" sz="1100">
                <a:latin typeface="Arial"/>
                <a:cs typeface="Arial"/>
              </a:rPr>
              <a:t>but </a:t>
            </a:r>
            <a:r>
              <a:rPr dirty="0" sz="1100" spc="-5">
                <a:latin typeface="Arial"/>
                <a:cs typeface="Arial"/>
              </a:rPr>
              <a:t>involves </a:t>
            </a:r>
            <a:r>
              <a:rPr dirty="0" sz="1100">
                <a:latin typeface="Arial"/>
                <a:cs typeface="Arial"/>
              </a:rPr>
              <a:t>the </a:t>
            </a:r>
            <a:r>
              <a:rPr dirty="0" sz="1100" spc="-5">
                <a:latin typeface="Arial"/>
                <a:cs typeface="Arial"/>
              </a:rPr>
              <a:t>quality of life  and material well-being. Thus developing country population size must be viewed in  conjunction with developed-country affluence in relation to the quantity, distribution, and  utilization of world resources, not just in relation to developing countries’ indigenous  resources.</a:t>
            </a:r>
            <a:endParaRPr sz="1100">
              <a:latin typeface="Arial"/>
              <a:cs typeface="Arial"/>
            </a:endParaRPr>
          </a:p>
          <a:p>
            <a:pPr>
              <a:lnSpc>
                <a:spcPct val="100000"/>
              </a:lnSpc>
              <a:spcBef>
                <a:spcPts val="15"/>
              </a:spcBef>
              <a:buFont typeface="Arial"/>
              <a:buAutoNum type="arabicPeriod"/>
            </a:pPr>
            <a:endParaRPr sz="1250">
              <a:latin typeface="Arial"/>
              <a:cs typeface="Arial"/>
            </a:endParaRPr>
          </a:p>
          <a:p>
            <a:pPr algn="just" marL="469900" marR="6350" indent="-228600">
              <a:lnSpc>
                <a:spcPct val="95800"/>
              </a:lnSpc>
              <a:buFont typeface="Arial"/>
              <a:buAutoNum type="arabicPeriod"/>
              <a:tabLst>
                <a:tab pos="469900" algn="l"/>
              </a:tabLst>
            </a:pPr>
            <a:r>
              <a:rPr dirty="0" sz="1100" spc="-5">
                <a:latin typeface="Arial"/>
                <a:cs typeface="Arial"/>
              </a:rPr>
              <a:t>Rapid population growth does serve to intensify problems of underdevelopment and  make prospects for development that much </a:t>
            </a:r>
            <a:r>
              <a:rPr dirty="0" sz="1100">
                <a:latin typeface="Arial"/>
                <a:cs typeface="Arial"/>
              </a:rPr>
              <a:t>more </a:t>
            </a:r>
            <a:r>
              <a:rPr dirty="0" sz="1100" spc="-5">
                <a:latin typeface="Arial"/>
                <a:cs typeface="Arial"/>
              </a:rPr>
              <a:t>remote. As noted, the momentum of  growth means that, barring catastrophe, the population of developing countries will  increase dramatically over the coming decades, no matter what fertility control measures  are adopted now. It follows that high population growth rates, though not the principal  cause of underdevelopment, are nevertheless important contributing factors in specific  countries and regions of the</a:t>
            </a:r>
            <a:r>
              <a:rPr dirty="0" sz="1100" spc="15">
                <a:latin typeface="Arial"/>
                <a:cs typeface="Arial"/>
              </a:rPr>
              <a:t> </a:t>
            </a:r>
            <a:r>
              <a:rPr dirty="0" sz="1100" spc="-5">
                <a:latin typeface="Arial"/>
                <a:cs typeface="Arial"/>
              </a:rPr>
              <a:t>world.</a:t>
            </a:r>
            <a:endParaRPr sz="1100">
              <a:latin typeface="Arial"/>
              <a:cs typeface="Arial"/>
            </a:endParaRPr>
          </a:p>
          <a:p>
            <a:pPr>
              <a:lnSpc>
                <a:spcPct val="100000"/>
              </a:lnSpc>
              <a:spcBef>
                <a:spcPts val="5"/>
              </a:spcBef>
            </a:pPr>
            <a:endParaRPr sz="1100">
              <a:latin typeface="Arial"/>
              <a:cs typeface="Arial"/>
            </a:endParaRPr>
          </a:p>
          <a:p>
            <a:pPr marL="12700" marR="189230">
              <a:lnSpc>
                <a:spcPct val="95700"/>
              </a:lnSpc>
            </a:pPr>
            <a:r>
              <a:rPr dirty="0" sz="1100" spc="-5">
                <a:latin typeface="Arial"/>
                <a:cs typeface="Arial"/>
              </a:rPr>
              <a:t>In view of these three propositions, we </a:t>
            </a:r>
            <a:r>
              <a:rPr dirty="0" sz="1100">
                <a:latin typeface="Arial"/>
                <a:cs typeface="Arial"/>
              </a:rPr>
              <a:t>may </a:t>
            </a:r>
            <a:r>
              <a:rPr dirty="0" sz="1100" spc="-5">
                <a:latin typeface="Arial"/>
                <a:cs typeface="Arial"/>
              </a:rPr>
              <a:t>conclude that the following three policy goals and  objectives might be included in any realistic approach to the issue of population growth in  developing countries.</a:t>
            </a:r>
            <a:endParaRPr sz="1100">
              <a:latin typeface="Arial"/>
              <a:cs typeface="Arial"/>
            </a:endParaRPr>
          </a:p>
          <a:p>
            <a:pPr>
              <a:lnSpc>
                <a:spcPct val="100000"/>
              </a:lnSpc>
            </a:pPr>
            <a:endParaRPr sz="1100">
              <a:latin typeface="Arial"/>
              <a:cs typeface="Arial"/>
            </a:endParaRPr>
          </a:p>
          <a:p>
            <a:pPr algn="just" marL="469265" marR="5715" indent="-228600">
              <a:lnSpc>
                <a:spcPct val="95800"/>
              </a:lnSpc>
              <a:buFont typeface="Arial"/>
              <a:buAutoNum type="arabicPeriod"/>
              <a:tabLst>
                <a:tab pos="469900" algn="l"/>
              </a:tabLst>
            </a:pPr>
            <a:r>
              <a:rPr dirty="0" sz="1100" spc="-5">
                <a:latin typeface="Arial"/>
                <a:cs typeface="Arial"/>
              </a:rPr>
              <a:t>In countries or regions where population size, distribution, and growth are viewed as an  existing or potential problem, the primary objective of </a:t>
            </a:r>
            <a:r>
              <a:rPr dirty="0" sz="1100">
                <a:latin typeface="Arial"/>
                <a:cs typeface="Arial"/>
              </a:rPr>
              <a:t>any </a:t>
            </a:r>
            <a:r>
              <a:rPr dirty="0" sz="1100" spc="-5">
                <a:latin typeface="Arial"/>
                <a:cs typeface="Arial"/>
              </a:rPr>
              <a:t>strategy to </a:t>
            </a:r>
            <a:r>
              <a:rPr dirty="0" sz="1100">
                <a:latin typeface="Arial"/>
                <a:cs typeface="Arial"/>
              </a:rPr>
              <a:t>limit </a:t>
            </a:r>
            <a:r>
              <a:rPr dirty="0" sz="1100" spc="-5">
                <a:latin typeface="Arial"/>
                <a:cs typeface="Arial"/>
              </a:rPr>
              <a:t>further growth  must deal not only with the population variable per se but also with the underlying social  and economic conditions of underdevelopment. Problems such as absolute poverty,  gross inequality, widespread unemployment (especially among women), limited female  access to education, malnutrition, and poor health facilities must be given high priority.  Their amelioration is both a necessary concomitant of development </a:t>
            </a:r>
            <a:r>
              <a:rPr dirty="0" sz="1100">
                <a:latin typeface="Arial"/>
                <a:cs typeface="Arial"/>
              </a:rPr>
              <a:t>and </a:t>
            </a:r>
            <a:r>
              <a:rPr dirty="0" sz="1100" spc="-5">
                <a:latin typeface="Arial"/>
                <a:cs typeface="Arial"/>
              </a:rPr>
              <a:t>a fundamental  motivational basis for the expanded freedom of the individual to choose an optimal—and  in many cases, smaller—family</a:t>
            </a:r>
            <a:r>
              <a:rPr dirty="0" sz="1100" spc="5">
                <a:latin typeface="Arial"/>
                <a:cs typeface="Arial"/>
              </a:rPr>
              <a:t> </a:t>
            </a:r>
            <a:r>
              <a:rPr dirty="0" sz="1100" spc="-5">
                <a:latin typeface="Arial"/>
                <a:cs typeface="Arial"/>
              </a:rPr>
              <a:t>size.</a:t>
            </a:r>
            <a:endParaRPr sz="1100">
              <a:latin typeface="Arial"/>
              <a:cs typeface="Arial"/>
            </a:endParaRPr>
          </a:p>
          <a:p>
            <a:pPr>
              <a:lnSpc>
                <a:spcPct val="100000"/>
              </a:lnSpc>
              <a:spcBef>
                <a:spcPts val="25"/>
              </a:spcBef>
              <a:buFont typeface="Arial"/>
              <a:buAutoNum type="arabicPeriod"/>
            </a:pPr>
            <a:endParaRPr sz="1250">
              <a:latin typeface="Arial"/>
              <a:cs typeface="Arial"/>
            </a:endParaRPr>
          </a:p>
          <a:p>
            <a:pPr algn="just" marL="469265" marR="5080" indent="-228600">
              <a:lnSpc>
                <a:spcPct val="95700"/>
              </a:lnSpc>
              <a:buFont typeface="Arial"/>
              <a:buAutoNum type="arabicPeriod"/>
              <a:tabLst>
                <a:tab pos="469900" algn="l"/>
              </a:tabLst>
            </a:pPr>
            <a:r>
              <a:rPr dirty="0" sz="1100" spc="-5">
                <a:latin typeface="Arial"/>
                <a:cs typeface="Arial"/>
              </a:rPr>
              <a:t>To bring about smaller families through development-induced motivations, family-  planning programs providing both the education and the technological means to regulate  fertility for people who wish to regulate it should be</a:t>
            </a:r>
            <a:r>
              <a:rPr dirty="0" sz="1100" spc="60">
                <a:latin typeface="Arial"/>
                <a:cs typeface="Arial"/>
              </a:rPr>
              <a:t> </a:t>
            </a:r>
            <a:r>
              <a:rPr dirty="0" sz="1100" spc="-5">
                <a:latin typeface="Arial"/>
                <a:cs typeface="Arial"/>
              </a:rPr>
              <a:t>established.</a:t>
            </a:r>
            <a:endParaRPr sz="1100">
              <a:latin typeface="Arial"/>
              <a:cs typeface="Arial"/>
            </a:endParaRPr>
          </a:p>
          <a:p>
            <a:pPr>
              <a:lnSpc>
                <a:spcPct val="100000"/>
              </a:lnSpc>
              <a:buFont typeface="Arial"/>
              <a:buAutoNum type="arabicPeriod"/>
            </a:pPr>
            <a:endParaRPr sz="1300">
              <a:latin typeface="Arial"/>
              <a:cs typeface="Arial"/>
            </a:endParaRPr>
          </a:p>
          <a:p>
            <a:pPr algn="just" marL="469265" marR="6350" indent="-228600">
              <a:lnSpc>
                <a:spcPts val="1260"/>
              </a:lnSpc>
              <a:buFont typeface="Arial"/>
              <a:buAutoNum type="arabicPeriod"/>
              <a:tabLst>
                <a:tab pos="469900" algn="l"/>
              </a:tabLst>
            </a:pPr>
            <a:r>
              <a:rPr dirty="0" sz="1100" spc="-5">
                <a:latin typeface="Arial"/>
                <a:cs typeface="Arial"/>
              </a:rPr>
              <a:t>Developed countries should help developing countries achieve their lowered fertility and  mortality objectives not only </a:t>
            </a:r>
            <a:r>
              <a:rPr dirty="0" sz="1100">
                <a:latin typeface="Arial"/>
                <a:cs typeface="Arial"/>
              </a:rPr>
              <a:t>by </a:t>
            </a:r>
            <a:r>
              <a:rPr dirty="0" sz="1100" spc="-5">
                <a:latin typeface="Arial"/>
                <a:cs typeface="Arial"/>
              </a:rPr>
              <a:t>providing contraceptives and funding</a:t>
            </a:r>
            <a:r>
              <a:rPr dirty="0" sz="1100" spc="85">
                <a:latin typeface="Arial"/>
                <a:cs typeface="Arial"/>
              </a:rPr>
              <a:t> </a:t>
            </a:r>
            <a:r>
              <a:rPr dirty="0" sz="1100" spc="-5">
                <a:latin typeface="Arial"/>
                <a:cs typeface="Arial"/>
              </a:rPr>
              <a:t>family-planning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90</a:t>
            </a:r>
            <a:endParaRPr sz="1100">
              <a:latin typeface="Carlito"/>
              <a:cs typeface="Carlito"/>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4" y="891794"/>
            <a:ext cx="5970270" cy="8101965"/>
          </a:xfrm>
          <a:prstGeom prst="rect">
            <a:avLst/>
          </a:prstGeom>
        </p:spPr>
        <p:txBody>
          <a:bodyPr wrap="square" lIns="0" tIns="19050" rIns="0" bIns="0" rtlCol="0" vert="horz">
            <a:spAutoFit/>
          </a:bodyPr>
          <a:lstStyle/>
          <a:p>
            <a:pPr algn="just" marL="469900" marR="5715">
              <a:lnSpc>
                <a:spcPct val="95800"/>
              </a:lnSpc>
              <a:spcBef>
                <a:spcPts val="150"/>
              </a:spcBef>
            </a:pPr>
            <a:r>
              <a:rPr dirty="0" sz="1100" spc="-5">
                <a:latin typeface="Arial"/>
                <a:cs typeface="Arial"/>
              </a:rPr>
              <a:t>clinics but, even more important, by curtailing their own excessive depletion of  nonrenewable world resources through programs designed to cut back on the  unnecessary consumption of products that intensively use such resources; by making  genuine commitments to eradicating poverty, illiteracy, disease, and malnutrition in  developing countries as well as their own; and by recognizing in both their rhetoric and  their international economic and social dealings that development is the real issue, not  simply population</a:t>
            </a:r>
            <a:r>
              <a:rPr dirty="0" sz="1100" spc="5">
                <a:latin typeface="Arial"/>
                <a:cs typeface="Arial"/>
              </a:rPr>
              <a:t> </a:t>
            </a:r>
            <a:r>
              <a:rPr dirty="0" sz="1100" spc="-5">
                <a:latin typeface="Arial"/>
                <a:cs typeface="Arial"/>
              </a:rPr>
              <a:t>control.</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SOME POLICY</a:t>
            </a:r>
            <a:r>
              <a:rPr dirty="0" sz="1100" b="1">
                <a:latin typeface="Arial"/>
                <a:cs typeface="Arial"/>
              </a:rPr>
              <a:t> APPROACHES</a:t>
            </a:r>
            <a:endParaRPr sz="1100">
              <a:latin typeface="Arial"/>
              <a:cs typeface="Arial"/>
            </a:endParaRPr>
          </a:p>
          <a:p>
            <a:pPr>
              <a:lnSpc>
                <a:spcPct val="100000"/>
              </a:lnSpc>
              <a:spcBef>
                <a:spcPts val="15"/>
              </a:spcBef>
            </a:pPr>
            <a:endParaRPr sz="1100">
              <a:latin typeface="Arial"/>
              <a:cs typeface="Arial"/>
            </a:endParaRPr>
          </a:p>
          <a:p>
            <a:pPr marL="12700" marR="360045">
              <a:lnSpc>
                <a:spcPts val="1270"/>
              </a:lnSpc>
            </a:pPr>
            <a:r>
              <a:rPr dirty="0" sz="1100" spc="-5">
                <a:latin typeface="Arial"/>
                <a:cs typeface="Arial"/>
              </a:rPr>
              <a:t>Three areas of policy can have important direct and indirect influences on the well-being of  present and future world</a:t>
            </a:r>
            <a:r>
              <a:rPr dirty="0" sz="1100" spc="10">
                <a:latin typeface="Arial"/>
                <a:cs typeface="Arial"/>
              </a:rPr>
              <a:t> </a:t>
            </a:r>
            <a:r>
              <a:rPr dirty="0" sz="1100" spc="-5">
                <a:latin typeface="Arial"/>
                <a:cs typeface="Arial"/>
              </a:rPr>
              <a:t>populations:</a:t>
            </a:r>
            <a:endParaRPr sz="1100">
              <a:latin typeface="Arial"/>
              <a:cs typeface="Arial"/>
            </a:endParaRPr>
          </a:p>
          <a:p>
            <a:pPr>
              <a:lnSpc>
                <a:spcPct val="100000"/>
              </a:lnSpc>
            </a:pPr>
            <a:endParaRPr sz="1100">
              <a:latin typeface="Arial"/>
              <a:cs typeface="Arial"/>
            </a:endParaRPr>
          </a:p>
          <a:p>
            <a:pPr marL="469900" marR="5080" indent="-228600">
              <a:lnSpc>
                <a:spcPts val="1260"/>
              </a:lnSpc>
              <a:spcBef>
                <a:spcPts val="5"/>
              </a:spcBef>
              <a:buFont typeface="Arial"/>
              <a:buAutoNum type="arabicPeriod"/>
              <a:tabLst>
                <a:tab pos="469900" algn="l"/>
              </a:tabLst>
            </a:pPr>
            <a:r>
              <a:rPr dirty="0" sz="1100" spc="-5">
                <a:latin typeface="Arial"/>
                <a:cs typeface="Arial"/>
              </a:rPr>
              <a:t>General and specific policies that developing country governments can initiate to  influence and perhaps even control their population growth and</a:t>
            </a:r>
            <a:r>
              <a:rPr dirty="0" sz="1100" spc="80">
                <a:latin typeface="Arial"/>
                <a:cs typeface="Arial"/>
              </a:rPr>
              <a:t> </a:t>
            </a:r>
            <a:r>
              <a:rPr dirty="0" sz="1100" spc="-5">
                <a:latin typeface="Arial"/>
                <a:cs typeface="Arial"/>
              </a:rPr>
              <a:t>distribution</a:t>
            </a:r>
            <a:endParaRPr sz="1100">
              <a:latin typeface="Arial"/>
              <a:cs typeface="Arial"/>
            </a:endParaRPr>
          </a:p>
          <a:p>
            <a:pPr marL="469900" indent="-228600">
              <a:lnSpc>
                <a:spcPts val="1205"/>
              </a:lnSpc>
              <a:buFont typeface="Arial"/>
              <a:buAutoNum type="arabicPeriod"/>
              <a:tabLst>
                <a:tab pos="469900" algn="l"/>
              </a:tabLst>
            </a:pPr>
            <a:r>
              <a:rPr dirty="0" sz="1100" spc="-5">
                <a:latin typeface="Arial"/>
                <a:cs typeface="Arial"/>
              </a:rPr>
              <a:t>General and specific policies that developed-country governments can initiate</a:t>
            </a:r>
            <a:r>
              <a:rPr dirty="0" sz="1100" spc="-25">
                <a:latin typeface="Arial"/>
                <a:cs typeface="Arial"/>
              </a:rPr>
              <a:t> </a:t>
            </a:r>
            <a:r>
              <a:rPr dirty="0" sz="1100" spc="-5">
                <a:latin typeface="Arial"/>
                <a:cs typeface="Arial"/>
              </a:rPr>
              <a:t>in their</a:t>
            </a:r>
            <a:endParaRPr sz="1100">
              <a:latin typeface="Arial"/>
              <a:cs typeface="Arial"/>
            </a:endParaRPr>
          </a:p>
          <a:p>
            <a:pPr marL="469900" marR="8890">
              <a:lnSpc>
                <a:spcPts val="1270"/>
              </a:lnSpc>
              <a:spcBef>
                <a:spcPts val="55"/>
              </a:spcBef>
            </a:pPr>
            <a:r>
              <a:rPr dirty="0" sz="1100" spc="-5">
                <a:latin typeface="Arial"/>
                <a:cs typeface="Arial"/>
              </a:rPr>
              <a:t>own countries to lessen their disproportionate consumption of limited world resources  and promote a more equitable distribution of the benefits of global economic</a:t>
            </a:r>
            <a:r>
              <a:rPr dirty="0" sz="1100" spc="175">
                <a:latin typeface="Arial"/>
                <a:cs typeface="Arial"/>
              </a:rPr>
              <a:t> </a:t>
            </a:r>
            <a:r>
              <a:rPr dirty="0" sz="1100" spc="-5">
                <a:latin typeface="Arial"/>
                <a:cs typeface="Arial"/>
              </a:rPr>
              <a:t>progress</a:t>
            </a:r>
            <a:endParaRPr sz="1100">
              <a:latin typeface="Arial"/>
              <a:cs typeface="Arial"/>
            </a:endParaRPr>
          </a:p>
          <a:p>
            <a:pPr marL="469900" marR="8255" indent="-228600">
              <a:lnSpc>
                <a:spcPts val="1260"/>
              </a:lnSpc>
              <a:buFont typeface="Arial"/>
              <a:buAutoNum type="arabicPeriod" startAt="3"/>
              <a:tabLst>
                <a:tab pos="469900" algn="l"/>
              </a:tabLst>
            </a:pPr>
            <a:r>
              <a:rPr dirty="0" sz="1100" spc="-5">
                <a:latin typeface="Arial"/>
                <a:cs typeface="Arial"/>
              </a:rPr>
              <a:t>General and specific policies that developed-country governments and international  assistance</a:t>
            </a:r>
            <a:r>
              <a:rPr dirty="0" sz="1100" spc="190">
                <a:latin typeface="Arial"/>
                <a:cs typeface="Arial"/>
              </a:rPr>
              <a:t> </a:t>
            </a:r>
            <a:r>
              <a:rPr dirty="0" sz="1100" spc="-5">
                <a:latin typeface="Arial"/>
                <a:cs typeface="Arial"/>
              </a:rPr>
              <a:t>agencies</a:t>
            </a:r>
            <a:r>
              <a:rPr dirty="0" sz="1100" spc="195">
                <a:latin typeface="Arial"/>
                <a:cs typeface="Arial"/>
              </a:rPr>
              <a:t> </a:t>
            </a:r>
            <a:r>
              <a:rPr dirty="0" sz="1100" spc="-5">
                <a:latin typeface="Arial"/>
                <a:cs typeface="Arial"/>
              </a:rPr>
              <a:t>can</a:t>
            </a:r>
            <a:r>
              <a:rPr dirty="0" sz="1100" spc="200">
                <a:latin typeface="Arial"/>
                <a:cs typeface="Arial"/>
              </a:rPr>
              <a:t> </a:t>
            </a:r>
            <a:r>
              <a:rPr dirty="0" sz="1100" spc="-5">
                <a:latin typeface="Arial"/>
                <a:cs typeface="Arial"/>
              </a:rPr>
              <a:t>initiate</a:t>
            </a:r>
            <a:r>
              <a:rPr dirty="0" sz="1100" spc="200">
                <a:latin typeface="Arial"/>
                <a:cs typeface="Arial"/>
              </a:rPr>
              <a:t> </a:t>
            </a:r>
            <a:r>
              <a:rPr dirty="0" sz="1100" spc="-5">
                <a:latin typeface="Arial"/>
                <a:cs typeface="Arial"/>
              </a:rPr>
              <a:t>to</a:t>
            </a:r>
            <a:r>
              <a:rPr dirty="0" sz="1100" spc="195">
                <a:latin typeface="Arial"/>
                <a:cs typeface="Arial"/>
              </a:rPr>
              <a:t> </a:t>
            </a:r>
            <a:r>
              <a:rPr dirty="0" sz="1100" spc="-5">
                <a:latin typeface="Arial"/>
                <a:cs typeface="Arial"/>
              </a:rPr>
              <a:t>help</a:t>
            </a:r>
            <a:r>
              <a:rPr dirty="0" sz="1100" spc="200">
                <a:latin typeface="Arial"/>
                <a:cs typeface="Arial"/>
              </a:rPr>
              <a:t> </a:t>
            </a:r>
            <a:r>
              <a:rPr dirty="0" sz="1100" spc="-5">
                <a:latin typeface="Arial"/>
                <a:cs typeface="Arial"/>
              </a:rPr>
              <a:t>developing</a:t>
            </a:r>
            <a:r>
              <a:rPr dirty="0" sz="1100" spc="195">
                <a:latin typeface="Arial"/>
                <a:cs typeface="Arial"/>
              </a:rPr>
              <a:t> </a:t>
            </a:r>
            <a:r>
              <a:rPr dirty="0" sz="1100" spc="-5">
                <a:latin typeface="Arial"/>
                <a:cs typeface="Arial"/>
              </a:rPr>
              <a:t>countries</a:t>
            </a:r>
            <a:r>
              <a:rPr dirty="0" sz="1100" spc="200">
                <a:latin typeface="Arial"/>
                <a:cs typeface="Arial"/>
              </a:rPr>
              <a:t> </a:t>
            </a:r>
            <a:r>
              <a:rPr dirty="0" sz="1100" spc="-5">
                <a:latin typeface="Arial"/>
                <a:cs typeface="Arial"/>
              </a:rPr>
              <a:t>achieve</a:t>
            </a:r>
            <a:r>
              <a:rPr dirty="0" sz="1100" spc="195">
                <a:latin typeface="Arial"/>
                <a:cs typeface="Arial"/>
              </a:rPr>
              <a:t> </a:t>
            </a:r>
            <a:r>
              <a:rPr dirty="0" sz="1100" spc="-5">
                <a:latin typeface="Arial"/>
                <a:cs typeface="Arial"/>
              </a:rPr>
              <a:t>their</a:t>
            </a:r>
            <a:r>
              <a:rPr dirty="0" sz="1100" spc="200">
                <a:latin typeface="Arial"/>
                <a:cs typeface="Arial"/>
              </a:rPr>
              <a:t> </a:t>
            </a:r>
            <a:r>
              <a:rPr dirty="0" sz="1100" spc="-5">
                <a:latin typeface="Arial"/>
                <a:cs typeface="Arial"/>
              </a:rPr>
              <a:t>population</a:t>
            </a:r>
            <a:endParaRPr sz="1100">
              <a:latin typeface="Arial"/>
              <a:cs typeface="Arial"/>
            </a:endParaRPr>
          </a:p>
          <a:p>
            <a:pPr marL="469900">
              <a:lnSpc>
                <a:spcPts val="1235"/>
              </a:lnSpc>
            </a:pPr>
            <a:r>
              <a:rPr dirty="0" sz="1100" spc="-5">
                <a:latin typeface="Arial"/>
                <a:cs typeface="Arial"/>
              </a:rPr>
              <a:t>objectives.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10" b="1">
                <a:latin typeface="Arial"/>
                <a:cs typeface="Arial"/>
              </a:rPr>
              <a:t>WHAT </a:t>
            </a:r>
            <a:r>
              <a:rPr dirty="0" sz="1100" spc="-5" b="1">
                <a:latin typeface="Arial"/>
                <a:cs typeface="Arial"/>
              </a:rPr>
              <a:t>DEVELOPING COUNTRIES CAN</a:t>
            </a:r>
            <a:r>
              <a:rPr dirty="0" sz="1100" spc="20" b="1">
                <a:latin typeface="Arial"/>
                <a:cs typeface="Arial"/>
              </a:rPr>
              <a:t> </a:t>
            </a:r>
            <a:r>
              <a:rPr dirty="0" sz="1100" spc="-10" b="1">
                <a:latin typeface="Arial"/>
                <a:cs typeface="Arial"/>
              </a:rPr>
              <a:t>DO?</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Earlier discussions have led to </a:t>
            </a:r>
            <a:r>
              <a:rPr dirty="0" sz="1100">
                <a:latin typeface="Arial"/>
                <a:cs typeface="Arial"/>
              </a:rPr>
              <a:t>the </a:t>
            </a:r>
            <a:r>
              <a:rPr dirty="0" sz="1100" spc="-5">
                <a:latin typeface="Arial"/>
                <a:cs typeface="Arial"/>
              </a:rPr>
              <a:t>conclusion that the principal variables influencing the  demand for children at the family level are the ones most closely associated with the concept of  development. Thus certain development policies are particularly crucial in the transition from a  high-growth to a low-growth</a:t>
            </a:r>
            <a:r>
              <a:rPr dirty="0" sz="1100" spc="15">
                <a:latin typeface="Arial"/>
                <a:cs typeface="Arial"/>
              </a:rPr>
              <a:t> </a:t>
            </a:r>
            <a:r>
              <a:rPr dirty="0" sz="1100" spc="-5">
                <a:latin typeface="Arial"/>
                <a:cs typeface="Arial"/>
              </a:rPr>
              <a:t>population.</a:t>
            </a:r>
            <a:endParaRPr sz="1100">
              <a:latin typeface="Arial"/>
              <a:cs typeface="Arial"/>
            </a:endParaRPr>
          </a:p>
          <a:p>
            <a:pPr>
              <a:lnSpc>
                <a:spcPct val="100000"/>
              </a:lnSpc>
              <a:spcBef>
                <a:spcPts val="40"/>
              </a:spcBef>
            </a:pPr>
            <a:endParaRPr sz="1100">
              <a:latin typeface="Arial"/>
              <a:cs typeface="Arial"/>
            </a:endParaRPr>
          </a:p>
          <a:p>
            <a:pPr marL="12700" marR="102870">
              <a:lnSpc>
                <a:spcPts val="1260"/>
              </a:lnSpc>
            </a:pPr>
            <a:r>
              <a:rPr dirty="0" sz="1100" spc="-5">
                <a:latin typeface="Arial"/>
                <a:cs typeface="Arial"/>
              </a:rPr>
              <a:t>There are five specific policies that developing country governments </a:t>
            </a:r>
            <a:r>
              <a:rPr dirty="0" sz="1100">
                <a:latin typeface="Arial"/>
                <a:cs typeface="Arial"/>
              </a:rPr>
              <a:t>might </a:t>
            </a:r>
            <a:r>
              <a:rPr dirty="0" sz="1100" spc="-5">
                <a:latin typeface="Arial"/>
                <a:cs typeface="Arial"/>
              </a:rPr>
              <a:t>try to adopt to lower  birth rates in the short</a:t>
            </a:r>
            <a:r>
              <a:rPr dirty="0" sz="1100" spc="10">
                <a:latin typeface="Arial"/>
                <a:cs typeface="Arial"/>
              </a:rPr>
              <a:t> </a:t>
            </a:r>
            <a:r>
              <a:rPr dirty="0" sz="1100" spc="-5">
                <a:latin typeface="Arial"/>
                <a:cs typeface="Arial"/>
              </a:rPr>
              <a:t>run.</a:t>
            </a:r>
            <a:endParaRPr sz="1100">
              <a:latin typeface="Arial"/>
              <a:cs typeface="Arial"/>
            </a:endParaRPr>
          </a:p>
          <a:p>
            <a:pPr>
              <a:lnSpc>
                <a:spcPct val="100000"/>
              </a:lnSpc>
              <a:spcBef>
                <a:spcPts val="25"/>
              </a:spcBef>
            </a:pPr>
            <a:endParaRPr sz="1150">
              <a:latin typeface="Arial"/>
              <a:cs typeface="Arial"/>
            </a:endParaRPr>
          </a:p>
          <a:p>
            <a:pPr algn="just" marL="469265" marR="5715" indent="-228600">
              <a:lnSpc>
                <a:spcPts val="1260"/>
              </a:lnSpc>
              <a:buFont typeface="Symbol"/>
              <a:buChar char=""/>
              <a:tabLst>
                <a:tab pos="469900" algn="l"/>
              </a:tabLst>
            </a:pPr>
            <a:r>
              <a:rPr dirty="0" sz="1100" spc="-5" b="1">
                <a:latin typeface="Arial"/>
                <a:cs typeface="Arial"/>
              </a:rPr>
              <a:t>First, </a:t>
            </a:r>
            <a:r>
              <a:rPr dirty="0" sz="1100" spc="-5">
                <a:latin typeface="Arial"/>
                <a:cs typeface="Arial"/>
              </a:rPr>
              <a:t>they can try to persuade people to have smaller families through the media and  the educational process, both formal (school system) and informal (adult</a:t>
            </a:r>
            <a:r>
              <a:rPr dirty="0" sz="1100" spc="140">
                <a:latin typeface="Arial"/>
                <a:cs typeface="Arial"/>
              </a:rPr>
              <a:t> </a:t>
            </a:r>
            <a:r>
              <a:rPr dirty="0" sz="1100" spc="-5">
                <a:latin typeface="Arial"/>
                <a:cs typeface="Arial"/>
              </a:rPr>
              <a:t>education).</a:t>
            </a:r>
            <a:endParaRPr sz="1100">
              <a:latin typeface="Arial"/>
              <a:cs typeface="Arial"/>
            </a:endParaRPr>
          </a:p>
          <a:p>
            <a:pPr algn="just" marL="469265" marR="5715" indent="-229235">
              <a:lnSpc>
                <a:spcPct val="95800"/>
              </a:lnSpc>
              <a:spcBef>
                <a:spcPts val="50"/>
              </a:spcBef>
              <a:buFont typeface="Symbol"/>
              <a:buChar char=""/>
              <a:tabLst>
                <a:tab pos="469900" algn="l"/>
              </a:tabLst>
            </a:pPr>
            <a:r>
              <a:rPr dirty="0" sz="1100" spc="-5" b="1">
                <a:latin typeface="Arial"/>
                <a:cs typeface="Arial"/>
              </a:rPr>
              <a:t>Second, </a:t>
            </a:r>
            <a:r>
              <a:rPr dirty="0" sz="1100" spc="-5">
                <a:latin typeface="Arial"/>
                <a:cs typeface="Arial"/>
              </a:rPr>
              <a:t>they can enhance family-planning programs to provide health and  contraceptive services to encourage the desired behavior. Such publicly sponsored or  officially supported programs now exist in most developing countries. Today only a few  countries do not have such publicly sponsored or officially endorsed family-planning  programs.</a:t>
            </a:r>
            <a:endParaRPr sz="1100">
              <a:latin typeface="Arial"/>
              <a:cs typeface="Arial"/>
            </a:endParaRPr>
          </a:p>
          <a:p>
            <a:pPr algn="just" marL="469265" marR="5715" indent="-228600">
              <a:lnSpc>
                <a:spcPct val="95800"/>
              </a:lnSpc>
              <a:spcBef>
                <a:spcPts val="80"/>
              </a:spcBef>
              <a:buFont typeface="Symbol"/>
              <a:buChar char=""/>
              <a:tabLst>
                <a:tab pos="469900" algn="l"/>
              </a:tabLst>
            </a:pPr>
            <a:r>
              <a:rPr dirty="0" sz="1100" spc="-5" b="1">
                <a:latin typeface="Arial"/>
                <a:cs typeface="Arial"/>
              </a:rPr>
              <a:t>Third, </a:t>
            </a:r>
            <a:r>
              <a:rPr dirty="0" sz="1100" spc="-5">
                <a:latin typeface="Arial"/>
                <a:cs typeface="Arial"/>
              </a:rPr>
              <a:t>they can deliberately manipulate economic incentives and disincentives for  having children—for example, through the elimination or reduction of maternity leaves  and benefits, the reduction or elimination of financial incentives, or the imposition of  financial penalties for having children beyond a certain number; the establishment of old-  age social security provisions and minimum-age child labor laws; the raising of school  fees and the elimination of heavy public subsidies for higher education; and the  subsidization of smaller families through direct money</a:t>
            </a:r>
            <a:r>
              <a:rPr dirty="0" sz="1100" spc="40">
                <a:latin typeface="Arial"/>
                <a:cs typeface="Arial"/>
              </a:rPr>
              <a:t> </a:t>
            </a:r>
            <a:r>
              <a:rPr dirty="0" sz="1100" spc="-5">
                <a:latin typeface="Arial"/>
                <a:cs typeface="Arial"/>
              </a:rPr>
              <a:t>payments.</a:t>
            </a:r>
            <a:endParaRPr sz="1100">
              <a:latin typeface="Arial"/>
              <a:cs typeface="Arial"/>
            </a:endParaRPr>
          </a:p>
          <a:p>
            <a:pPr algn="just" marL="469265" marR="6350" indent="-228600">
              <a:lnSpc>
                <a:spcPct val="95600"/>
              </a:lnSpc>
              <a:spcBef>
                <a:spcPts val="80"/>
              </a:spcBef>
              <a:buFont typeface="Symbol"/>
              <a:buChar char=""/>
              <a:tabLst>
                <a:tab pos="469900" algn="l"/>
              </a:tabLst>
            </a:pPr>
            <a:r>
              <a:rPr dirty="0" sz="1100" spc="-5" b="1">
                <a:latin typeface="Arial"/>
                <a:cs typeface="Arial"/>
              </a:rPr>
              <a:t>Fourth, </a:t>
            </a:r>
            <a:r>
              <a:rPr dirty="0" sz="1100" spc="-5">
                <a:latin typeface="Arial"/>
                <a:cs typeface="Arial"/>
              </a:rPr>
              <a:t>governments can attempt to coerce people into having smaller families through  the power of state legislation and penalties. For obvious reasons, few governments  would attempt to engage in such coercion; not only is it </a:t>
            </a:r>
            <a:r>
              <a:rPr dirty="0" sz="1100">
                <a:latin typeface="Arial"/>
                <a:cs typeface="Arial"/>
              </a:rPr>
              <a:t>often </a:t>
            </a:r>
            <a:r>
              <a:rPr dirty="0" sz="1100" spc="-5">
                <a:latin typeface="Arial"/>
                <a:cs typeface="Arial"/>
              </a:rPr>
              <a:t>morally repugnant and  politically unacceptable, but it is also almost always extremely difficult to</a:t>
            </a:r>
            <a:r>
              <a:rPr dirty="0" sz="1100" spc="150">
                <a:latin typeface="Arial"/>
                <a:cs typeface="Arial"/>
              </a:rPr>
              <a:t> </a:t>
            </a:r>
            <a:r>
              <a:rPr dirty="0" sz="1100" spc="-5">
                <a:latin typeface="Arial"/>
                <a:cs typeface="Arial"/>
              </a:rPr>
              <a:t>administer.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91</a:t>
            </a:r>
            <a:endParaRPr sz="1100">
              <a:latin typeface="Carlito"/>
              <a:cs typeface="Carlito"/>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12792" y="901699"/>
            <a:ext cx="6148705" cy="8122920"/>
          </a:xfrm>
          <a:prstGeom prst="rect">
            <a:avLst/>
          </a:prstGeom>
        </p:spPr>
        <p:txBody>
          <a:bodyPr wrap="square" lIns="0" tIns="19685" rIns="0" bIns="0" rtlCol="0" vert="horz">
            <a:spAutoFit/>
          </a:bodyPr>
          <a:lstStyle/>
          <a:p>
            <a:pPr algn="just" marL="558800" marR="96520" indent="-228600">
              <a:lnSpc>
                <a:spcPct val="95700"/>
              </a:lnSpc>
              <a:spcBef>
                <a:spcPts val="155"/>
              </a:spcBef>
              <a:buFont typeface="Symbol"/>
              <a:buChar char=""/>
              <a:tabLst>
                <a:tab pos="558800" algn="l"/>
              </a:tabLst>
            </a:pPr>
            <a:r>
              <a:rPr dirty="0" sz="1100" spc="-5" b="1">
                <a:latin typeface="Arial"/>
                <a:cs typeface="Arial"/>
              </a:rPr>
              <a:t>Finally, </a:t>
            </a:r>
            <a:r>
              <a:rPr dirty="0" sz="1100" spc="-5">
                <a:latin typeface="Arial"/>
                <a:cs typeface="Arial"/>
              </a:rPr>
              <a:t>no policy measures will be successful in controlling fertility unless efforts are  made to </a:t>
            </a:r>
            <a:r>
              <a:rPr dirty="0" sz="1100">
                <a:latin typeface="Arial"/>
                <a:cs typeface="Arial"/>
              </a:rPr>
              <a:t>raise </a:t>
            </a:r>
            <a:r>
              <a:rPr dirty="0" sz="1100" spc="-5">
                <a:latin typeface="Arial"/>
                <a:cs typeface="Arial"/>
              </a:rPr>
              <a:t>the social and economic status of women and hence create conditions  favorable to delayed marriage and lower marital</a:t>
            </a:r>
            <a:r>
              <a:rPr dirty="0" sz="1100" spc="40">
                <a:latin typeface="Arial"/>
                <a:cs typeface="Arial"/>
              </a:rPr>
              <a:t> </a:t>
            </a:r>
            <a:r>
              <a:rPr dirty="0" sz="1100" spc="-5">
                <a:latin typeface="Arial"/>
                <a:cs typeface="Arial"/>
              </a:rPr>
              <a:t>fertility.</a:t>
            </a:r>
            <a:endParaRPr sz="1100">
              <a:latin typeface="Arial"/>
              <a:cs typeface="Arial"/>
            </a:endParaRPr>
          </a:p>
          <a:p>
            <a:pPr>
              <a:lnSpc>
                <a:spcPct val="100000"/>
              </a:lnSpc>
              <a:spcBef>
                <a:spcPts val="10"/>
              </a:spcBef>
            </a:pPr>
            <a:endParaRPr sz="1050">
              <a:latin typeface="Arial"/>
              <a:cs typeface="Arial"/>
            </a:endParaRPr>
          </a:p>
          <a:p>
            <a:pPr marL="101600">
              <a:lnSpc>
                <a:spcPct val="100000"/>
              </a:lnSpc>
            </a:pPr>
            <a:r>
              <a:rPr dirty="0" sz="1100" spc="-5" b="1">
                <a:latin typeface="Arial"/>
                <a:cs typeface="Arial"/>
              </a:rPr>
              <a:t>REPRODUCTIVE CHOICE:</a:t>
            </a:r>
            <a:endParaRPr sz="1100">
              <a:latin typeface="Arial"/>
              <a:cs typeface="Arial"/>
            </a:endParaRPr>
          </a:p>
          <a:p>
            <a:pPr>
              <a:lnSpc>
                <a:spcPct val="100000"/>
              </a:lnSpc>
              <a:spcBef>
                <a:spcPts val="40"/>
              </a:spcBef>
            </a:pPr>
            <a:endParaRPr sz="1300">
              <a:latin typeface="Arial"/>
              <a:cs typeface="Arial"/>
            </a:endParaRPr>
          </a:p>
          <a:p>
            <a:pPr algn="just" marL="101600" marR="95250">
              <a:lnSpc>
                <a:spcPct val="95700"/>
              </a:lnSpc>
              <a:spcBef>
                <a:spcPts val="5"/>
              </a:spcBef>
            </a:pPr>
            <a:r>
              <a:rPr dirty="0" sz="1100" spc="-5">
                <a:latin typeface="Arial"/>
                <a:cs typeface="Arial"/>
              </a:rPr>
              <a:t>The concept that women should be able to determine on an equal status with their husbands  and for themselves </a:t>
            </a:r>
            <a:r>
              <a:rPr dirty="0" sz="1100">
                <a:latin typeface="Arial"/>
                <a:cs typeface="Arial"/>
              </a:rPr>
              <a:t>how </a:t>
            </a:r>
            <a:r>
              <a:rPr dirty="0" sz="1100" spc="-5">
                <a:latin typeface="Arial"/>
                <a:cs typeface="Arial"/>
              </a:rPr>
              <a:t>many children they want and </a:t>
            </a:r>
            <a:r>
              <a:rPr dirty="0" sz="1100">
                <a:latin typeface="Arial"/>
                <a:cs typeface="Arial"/>
              </a:rPr>
              <a:t>what </a:t>
            </a:r>
            <a:r>
              <a:rPr dirty="0" sz="1100" spc="-5">
                <a:latin typeface="Arial"/>
                <a:cs typeface="Arial"/>
              </a:rPr>
              <a:t>methods to use to achieve their  desired family</a:t>
            </a:r>
            <a:r>
              <a:rPr dirty="0" sz="1100">
                <a:latin typeface="Arial"/>
                <a:cs typeface="Arial"/>
              </a:rPr>
              <a:t> </a:t>
            </a:r>
            <a:r>
              <a:rPr dirty="0" sz="1100" spc="-5">
                <a:latin typeface="Arial"/>
                <a:cs typeface="Arial"/>
              </a:rPr>
              <a:t>size.</a:t>
            </a:r>
            <a:endParaRPr sz="1100">
              <a:latin typeface="Arial"/>
              <a:cs typeface="Arial"/>
            </a:endParaRPr>
          </a:p>
          <a:p>
            <a:pPr>
              <a:lnSpc>
                <a:spcPct val="100000"/>
              </a:lnSpc>
              <a:spcBef>
                <a:spcPts val="25"/>
              </a:spcBef>
            </a:pPr>
            <a:endParaRPr sz="1200">
              <a:latin typeface="Arial"/>
              <a:cs typeface="Arial"/>
            </a:endParaRPr>
          </a:p>
          <a:p>
            <a:pPr marL="101600">
              <a:lnSpc>
                <a:spcPct val="100000"/>
              </a:lnSpc>
              <a:spcBef>
                <a:spcPts val="5"/>
              </a:spcBef>
            </a:pPr>
            <a:r>
              <a:rPr dirty="0" sz="1100" spc="-5" b="1">
                <a:latin typeface="Arial"/>
                <a:cs typeface="Arial"/>
              </a:rPr>
              <a:t>WHAT THE DEVELOPED COUNTRIES CAN</a:t>
            </a:r>
            <a:r>
              <a:rPr dirty="0" sz="1100" spc="20" b="1">
                <a:latin typeface="Arial"/>
                <a:cs typeface="Arial"/>
              </a:rPr>
              <a:t> </a:t>
            </a:r>
            <a:r>
              <a:rPr dirty="0" sz="1100" spc="-5" b="1">
                <a:latin typeface="Arial"/>
                <a:cs typeface="Arial"/>
              </a:rPr>
              <a:t>DO?</a:t>
            </a:r>
            <a:endParaRPr sz="1100">
              <a:latin typeface="Arial"/>
              <a:cs typeface="Arial"/>
            </a:endParaRPr>
          </a:p>
          <a:p>
            <a:pPr>
              <a:lnSpc>
                <a:spcPct val="100000"/>
              </a:lnSpc>
              <a:spcBef>
                <a:spcPts val="45"/>
              </a:spcBef>
            </a:pPr>
            <a:endParaRPr sz="1050">
              <a:latin typeface="Arial"/>
              <a:cs typeface="Arial"/>
            </a:endParaRPr>
          </a:p>
          <a:p>
            <a:pPr algn="just" marL="101600" marR="93980">
              <a:lnSpc>
                <a:spcPct val="95900"/>
              </a:lnSpc>
            </a:pPr>
            <a:r>
              <a:rPr dirty="0" sz="1100" spc="-5">
                <a:latin typeface="Arial"/>
                <a:cs typeface="Arial"/>
              </a:rPr>
              <a:t>When we view the problems of population from the perspective of global resources and the  environment, as we should, the question of the relationship between population size and  distribution and the depletion of many nonrenewable resources in developed and  underdeveloped countries assumes major importance. In a world where 4.5% of the population,  located in one country, the United States, accounts for over one-fifth annual world total energy  use, we are clearly not dealing only or even </a:t>
            </a:r>
            <a:r>
              <a:rPr dirty="0" sz="1100">
                <a:latin typeface="Arial"/>
                <a:cs typeface="Arial"/>
              </a:rPr>
              <a:t>primarily </a:t>
            </a:r>
            <a:r>
              <a:rPr dirty="0" sz="1100" spc="-5">
                <a:latin typeface="Arial"/>
                <a:cs typeface="Arial"/>
              </a:rPr>
              <a:t>with a problem </a:t>
            </a:r>
            <a:r>
              <a:rPr dirty="0" sz="1100">
                <a:latin typeface="Arial"/>
                <a:cs typeface="Arial"/>
              </a:rPr>
              <a:t>of </a:t>
            </a:r>
            <a:r>
              <a:rPr dirty="0" sz="1100" spc="-5">
                <a:latin typeface="Arial"/>
                <a:cs typeface="Arial"/>
              </a:rPr>
              <a:t>numbers. We must also  be concerned with the impact of rising affluence and the very unequal worldwide distribution of  incomes on the depletion of many nonrenewable resources such as petroleum, certain basic  metals, and other raw materials essential for economic</a:t>
            </a:r>
            <a:r>
              <a:rPr dirty="0" sz="1100" spc="50">
                <a:latin typeface="Arial"/>
                <a:cs typeface="Arial"/>
              </a:rPr>
              <a:t> </a:t>
            </a:r>
            <a:r>
              <a:rPr dirty="0" sz="1100" spc="-5">
                <a:latin typeface="Arial"/>
                <a:cs typeface="Arial"/>
              </a:rPr>
              <a:t>growth.</a:t>
            </a:r>
            <a:endParaRPr sz="1100">
              <a:latin typeface="Arial"/>
              <a:cs typeface="Arial"/>
            </a:endParaRPr>
          </a:p>
          <a:p>
            <a:pPr>
              <a:lnSpc>
                <a:spcPct val="100000"/>
              </a:lnSpc>
              <a:spcBef>
                <a:spcPts val="25"/>
              </a:spcBef>
            </a:pPr>
            <a:endParaRPr sz="1100">
              <a:latin typeface="Arial"/>
              <a:cs typeface="Arial"/>
            </a:endParaRPr>
          </a:p>
          <a:p>
            <a:pPr algn="just" marL="101600" marR="93980">
              <a:lnSpc>
                <a:spcPts val="1270"/>
              </a:lnSpc>
            </a:pPr>
            <a:r>
              <a:rPr dirty="0" sz="1100" spc="-5">
                <a:latin typeface="Arial"/>
                <a:cs typeface="Arial"/>
              </a:rPr>
              <a:t>The use of fossil fuel energy to power private automobiles, operate home and office air  conditioners, activate electric toothbrushes, and so on in the developed nations is by far the  major contributor of carbon dioxide (CO</a:t>
            </a:r>
            <a:r>
              <a:rPr dirty="0" baseline="-11904" sz="1050" spc="-7">
                <a:latin typeface="Arial"/>
                <a:cs typeface="Arial"/>
              </a:rPr>
              <a:t>2</a:t>
            </a:r>
            <a:r>
              <a:rPr dirty="0" sz="1100" spc="-5">
                <a:latin typeface="Arial"/>
                <a:cs typeface="Arial"/>
              </a:rPr>
              <a:t>) gases into the atmosphere and to the phenomenon of  greenhouse global warming. It also means that there is potentially that much less to fertilize  small family farms in </a:t>
            </a:r>
            <a:r>
              <a:rPr dirty="0" sz="1100">
                <a:latin typeface="Arial"/>
                <a:cs typeface="Arial"/>
              </a:rPr>
              <a:t>the </a:t>
            </a:r>
            <a:r>
              <a:rPr dirty="0" sz="1100" spc="-5">
                <a:latin typeface="Arial"/>
                <a:cs typeface="Arial"/>
              </a:rPr>
              <a:t>less developed nations. Alternatively, it means that poor families will  have to pay more to obtain these valuable resource</a:t>
            </a:r>
            <a:r>
              <a:rPr dirty="0" sz="1100" spc="55">
                <a:latin typeface="Arial"/>
                <a:cs typeface="Arial"/>
              </a:rPr>
              <a:t> </a:t>
            </a:r>
            <a:r>
              <a:rPr dirty="0" sz="1100" spc="-5">
                <a:latin typeface="Arial"/>
                <a:cs typeface="Arial"/>
              </a:rPr>
              <a:t>inputs.</a:t>
            </a:r>
            <a:endParaRPr sz="1100">
              <a:latin typeface="Arial"/>
              <a:cs typeface="Arial"/>
            </a:endParaRPr>
          </a:p>
          <a:p>
            <a:pPr>
              <a:lnSpc>
                <a:spcPct val="100000"/>
              </a:lnSpc>
            </a:pPr>
            <a:endParaRPr sz="1050">
              <a:latin typeface="Arial"/>
              <a:cs typeface="Arial"/>
            </a:endParaRPr>
          </a:p>
          <a:p>
            <a:pPr algn="just" marL="101600" marR="94615">
              <a:lnSpc>
                <a:spcPct val="95800"/>
              </a:lnSpc>
            </a:pPr>
            <a:r>
              <a:rPr dirty="0" sz="1100" spc="-5">
                <a:latin typeface="Arial"/>
                <a:cs typeface="Arial"/>
              </a:rPr>
              <a:t>In addition to simplifying lifestyles and consumption habits, one other positive (if unlikely),  internal policy that rich nations could adopt to mitigate current world population problems </a:t>
            </a:r>
            <a:r>
              <a:rPr dirty="0" sz="1100">
                <a:latin typeface="Arial"/>
                <a:cs typeface="Arial"/>
              </a:rPr>
              <a:t>would  </a:t>
            </a:r>
            <a:r>
              <a:rPr dirty="0" sz="1100" spc="-5">
                <a:latin typeface="Arial"/>
                <a:cs typeface="Arial"/>
              </a:rPr>
              <a:t>be to liberalize the legal conditions for the international immigration of poor, unskilled workers  and their families from Africa, Asia, and Latin America to North America, Europe, Japan, and  Australia. The international migration of peasants from Europe to North America, Australia, and  New Zealand in the nineteenth and early twentieth century's was a major factor in moderating  the problems of underdevelopment and population pressure in European countries. No such  safety valve or outlet exists today for developing</a:t>
            </a:r>
            <a:r>
              <a:rPr dirty="0" sz="1100" spc="50">
                <a:latin typeface="Arial"/>
                <a:cs typeface="Arial"/>
              </a:rPr>
              <a:t> </a:t>
            </a:r>
            <a:r>
              <a:rPr dirty="0" sz="1100" spc="-5">
                <a:latin typeface="Arial"/>
                <a:cs typeface="Arial"/>
              </a:rPr>
              <a:t>countries.</a:t>
            </a:r>
            <a:endParaRPr sz="1100">
              <a:latin typeface="Arial"/>
              <a:cs typeface="Arial"/>
            </a:endParaRPr>
          </a:p>
          <a:p>
            <a:pPr>
              <a:lnSpc>
                <a:spcPct val="100000"/>
              </a:lnSpc>
            </a:pPr>
            <a:endParaRPr sz="1100">
              <a:latin typeface="Arial"/>
              <a:cs typeface="Arial"/>
            </a:endParaRPr>
          </a:p>
          <a:p>
            <a:pPr algn="just" marL="101600" marR="93980">
              <a:lnSpc>
                <a:spcPct val="95800"/>
              </a:lnSpc>
            </a:pPr>
            <a:r>
              <a:rPr dirty="0" sz="1100" spc="-5">
                <a:latin typeface="Arial"/>
                <a:cs typeface="Arial"/>
              </a:rPr>
              <a:t>In fact, what few outlets existed has over the </a:t>
            </a:r>
            <a:r>
              <a:rPr dirty="0" sz="1100">
                <a:latin typeface="Arial"/>
                <a:cs typeface="Arial"/>
              </a:rPr>
              <a:t>past </a:t>
            </a:r>
            <a:r>
              <a:rPr dirty="0" sz="1100" spc="-5">
                <a:latin typeface="Arial"/>
                <a:cs typeface="Arial"/>
              </a:rPr>
              <a:t>two decades been progressively closed. </a:t>
            </a:r>
            <a:r>
              <a:rPr dirty="0" sz="1100" spc="-10">
                <a:latin typeface="Arial"/>
                <a:cs typeface="Arial"/>
              </a:rPr>
              <a:t>Yet  </a:t>
            </a:r>
            <a:r>
              <a:rPr dirty="0" sz="1100" spc="-5">
                <a:latin typeface="Arial"/>
                <a:cs typeface="Arial"/>
              </a:rPr>
              <a:t>clearly, many under populated regions of the world and many labor-scarce societies could  benefit economically from international migration, and the benefits to developing countries  would be enormous. For example, the United Nations has estimated that legal barriers to  international migration from the developing to the developed world cost developing nations at  least $250 billion a</a:t>
            </a:r>
            <a:r>
              <a:rPr dirty="0" sz="1100" spc="10">
                <a:latin typeface="Arial"/>
                <a:cs typeface="Arial"/>
              </a:rPr>
              <a:t> </a:t>
            </a:r>
            <a:r>
              <a:rPr dirty="0" sz="1100" spc="-5">
                <a:latin typeface="Arial"/>
                <a:cs typeface="Arial"/>
              </a:rPr>
              <a:t>year.</a:t>
            </a:r>
            <a:endParaRPr sz="1100">
              <a:latin typeface="Arial"/>
              <a:cs typeface="Arial"/>
            </a:endParaRPr>
          </a:p>
          <a:p>
            <a:pPr>
              <a:lnSpc>
                <a:spcPct val="100000"/>
              </a:lnSpc>
              <a:spcBef>
                <a:spcPts val="35"/>
              </a:spcBef>
            </a:pPr>
            <a:endParaRPr sz="1100">
              <a:latin typeface="Arial"/>
              <a:cs typeface="Arial"/>
            </a:endParaRPr>
          </a:p>
          <a:p>
            <a:pPr marL="101600" marR="95885">
              <a:lnSpc>
                <a:spcPts val="1270"/>
              </a:lnSpc>
            </a:pPr>
            <a:r>
              <a:rPr dirty="0" sz="1100" spc="-5" b="1">
                <a:latin typeface="Arial"/>
                <a:cs typeface="Arial"/>
              </a:rPr>
              <a:t>HOW DEVELOPED COUNTRIES </a:t>
            </a:r>
            <a:r>
              <a:rPr dirty="0" sz="1100" b="1">
                <a:latin typeface="Arial"/>
                <a:cs typeface="Arial"/>
              </a:rPr>
              <a:t>CAN </a:t>
            </a:r>
            <a:r>
              <a:rPr dirty="0" sz="1100" spc="-5" b="1">
                <a:latin typeface="Arial"/>
                <a:cs typeface="Arial"/>
              </a:rPr>
              <a:t>HELP DEVELOPING COUNTRIES </a:t>
            </a:r>
            <a:r>
              <a:rPr dirty="0" sz="1100" b="1">
                <a:latin typeface="Arial"/>
                <a:cs typeface="Arial"/>
              </a:rPr>
              <a:t>WITH </a:t>
            </a:r>
            <a:r>
              <a:rPr dirty="0" sz="1100" spc="-5" b="1">
                <a:latin typeface="Arial"/>
                <a:cs typeface="Arial"/>
              </a:rPr>
              <a:t>THEIR  POPULATION PROGRAMS</a:t>
            </a:r>
            <a:endParaRPr sz="1100">
              <a:latin typeface="Arial"/>
              <a:cs typeface="Arial"/>
            </a:endParaRPr>
          </a:p>
          <a:p>
            <a:pPr>
              <a:lnSpc>
                <a:spcPct val="100000"/>
              </a:lnSpc>
              <a:spcBef>
                <a:spcPts val="50"/>
              </a:spcBef>
            </a:pPr>
            <a:endParaRPr sz="1050">
              <a:latin typeface="Arial"/>
              <a:cs typeface="Arial"/>
            </a:endParaRPr>
          </a:p>
          <a:p>
            <a:pPr algn="just" marL="101600" marR="96520">
              <a:lnSpc>
                <a:spcPts val="1260"/>
              </a:lnSpc>
            </a:pPr>
            <a:r>
              <a:rPr dirty="0" sz="1100" spc="-5">
                <a:latin typeface="Arial"/>
                <a:cs typeface="Arial"/>
              </a:rPr>
              <a:t>There are a number of ways in which the governments of rich countries and multilateral donor  agencies can help the governments of developing countries achieve their population policy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92</a:t>
            </a:r>
            <a:endParaRPr sz="1100">
              <a:latin typeface="Carlito"/>
              <a:cs typeface="Carlito"/>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8098155"/>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objectives sooner. The most important of these concerns the willingness of rich countries to be  of genuine assistance to poor countries in their development efforts, particularly in sub-Saharan  Africa.</a:t>
            </a:r>
            <a:endParaRPr sz="1100">
              <a:latin typeface="Arial"/>
              <a:cs typeface="Arial"/>
            </a:endParaRPr>
          </a:p>
          <a:p>
            <a:pPr marL="469900" indent="-229235">
              <a:lnSpc>
                <a:spcPts val="1295"/>
              </a:lnSpc>
              <a:buFont typeface="Symbol"/>
              <a:buChar char=""/>
              <a:tabLst>
                <a:tab pos="469265" algn="l"/>
                <a:tab pos="470534" algn="l"/>
              </a:tabLst>
            </a:pPr>
            <a:r>
              <a:rPr dirty="0" sz="1100" spc="-5">
                <a:latin typeface="Arial"/>
                <a:cs typeface="Arial"/>
              </a:rPr>
              <a:t>Address resources use</a:t>
            </a:r>
            <a:r>
              <a:rPr dirty="0" sz="1100" spc="5">
                <a:latin typeface="Arial"/>
                <a:cs typeface="Arial"/>
              </a:rPr>
              <a:t> </a:t>
            </a:r>
            <a:r>
              <a:rPr dirty="0" sz="1100" spc="-5">
                <a:latin typeface="Arial"/>
                <a:cs typeface="Arial"/>
              </a:rPr>
              <a:t>inequities</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Soft migration</a:t>
            </a:r>
            <a:r>
              <a:rPr dirty="0" sz="1100">
                <a:latin typeface="Arial"/>
                <a:cs typeface="Arial"/>
              </a:rPr>
              <a:t> </a:t>
            </a:r>
            <a:r>
              <a:rPr dirty="0" sz="1100" spc="-5">
                <a:latin typeface="Arial"/>
                <a:cs typeface="Arial"/>
              </a:rPr>
              <a:t>policies</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Technology of fertility</a:t>
            </a:r>
            <a:r>
              <a:rPr dirty="0" sz="1100" spc="10">
                <a:latin typeface="Arial"/>
                <a:cs typeface="Arial"/>
              </a:rPr>
              <a:t> </a:t>
            </a:r>
            <a:r>
              <a:rPr dirty="0" sz="1100" spc="-5">
                <a:latin typeface="Arial"/>
                <a:cs typeface="Arial"/>
              </a:rPr>
              <a:t>control</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Financial assistance for family planning</a:t>
            </a:r>
            <a:r>
              <a:rPr dirty="0" sz="1100" spc="15">
                <a:latin typeface="Arial"/>
                <a:cs typeface="Arial"/>
              </a:rPr>
              <a:t> </a:t>
            </a:r>
            <a:r>
              <a:rPr dirty="0" sz="1100" spc="-5">
                <a:latin typeface="Arial"/>
                <a:cs typeface="Arial"/>
              </a:rPr>
              <a:t>programs</a:t>
            </a:r>
            <a:endParaRPr sz="1100">
              <a:latin typeface="Arial"/>
              <a:cs typeface="Arial"/>
            </a:endParaRPr>
          </a:p>
          <a:p>
            <a:pPr>
              <a:lnSpc>
                <a:spcPct val="100000"/>
              </a:lnSpc>
              <a:spcBef>
                <a:spcPts val="55"/>
              </a:spcBef>
              <a:buFont typeface="Symbol"/>
              <a:buChar char=""/>
            </a:pPr>
            <a:endParaRPr sz="1050">
              <a:latin typeface="Arial"/>
              <a:cs typeface="Arial"/>
            </a:endParaRPr>
          </a:p>
          <a:p>
            <a:pPr algn="just" marL="12700" marR="5080">
              <a:lnSpc>
                <a:spcPct val="95800"/>
              </a:lnSpc>
            </a:pPr>
            <a:r>
              <a:rPr dirty="0" sz="1100" spc="-5">
                <a:latin typeface="Arial"/>
                <a:cs typeface="Arial"/>
              </a:rPr>
              <a:t>We conclude with a note of optimism. Fertility rates in many of the poorest countries, such as  Bangladesh and most of the countries in sub-Saharan Africa, have experienced an impressive  decline. Population experts have lowered their estimates of world population growth for coming  decades. In no small part, this decline is the result of more widespread availability of </a:t>
            </a:r>
            <a:r>
              <a:rPr dirty="0" sz="1100">
                <a:latin typeface="Arial"/>
                <a:cs typeface="Arial"/>
              </a:rPr>
              <a:t>family  </a:t>
            </a:r>
            <a:r>
              <a:rPr dirty="0" sz="1100" spc="-5">
                <a:latin typeface="Arial"/>
                <a:cs typeface="Arial"/>
              </a:rPr>
              <a:t>planning. This change helps set the stage for an opportunity for successful development efforts  in the coming years, but developed countries need to do their part in providing expanded  development assistance, especially efforts focused on the need and opportunity to greatly  reduce the incidence of poverty, </a:t>
            </a:r>
            <a:r>
              <a:rPr dirty="0" sz="1100">
                <a:latin typeface="Arial"/>
                <a:cs typeface="Arial"/>
              </a:rPr>
              <a:t>which </a:t>
            </a:r>
            <a:r>
              <a:rPr dirty="0" sz="1100" spc="-5">
                <a:latin typeface="Arial"/>
                <a:cs typeface="Arial"/>
              </a:rPr>
              <a:t>remains the biggest cause of high rates of</a:t>
            </a:r>
            <a:r>
              <a:rPr dirty="0" sz="1100" spc="150">
                <a:latin typeface="Arial"/>
                <a:cs typeface="Arial"/>
              </a:rPr>
              <a:t> </a:t>
            </a:r>
            <a:r>
              <a:rPr dirty="0" sz="1100" spc="-5">
                <a:latin typeface="Arial"/>
                <a:cs typeface="Arial"/>
              </a:rPr>
              <a:t>fertility.</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10" b="1">
                <a:latin typeface="Arial"/>
                <a:cs typeface="Arial"/>
              </a:rPr>
              <a:t>CASE </a:t>
            </a:r>
            <a:r>
              <a:rPr dirty="0" sz="1100" spc="-5" b="1">
                <a:latin typeface="Arial"/>
                <a:cs typeface="Arial"/>
              </a:rPr>
              <a:t>STUDY - POPULATION, POVERTY, AND DEVELOPMENT: CHINA AND</a:t>
            </a:r>
            <a:r>
              <a:rPr dirty="0" sz="1100" spc="55" b="1">
                <a:latin typeface="Arial"/>
                <a:cs typeface="Arial"/>
              </a:rPr>
              <a:t> </a:t>
            </a:r>
            <a:r>
              <a:rPr dirty="0" sz="1100" spc="-10" b="1">
                <a:latin typeface="Arial"/>
                <a:cs typeface="Arial"/>
              </a:rPr>
              <a:t>INDIA</a:t>
            </a:r>
            <a:endParaRPr sz="1100">
              <a:latin typeface="Arial"/>
              <a:cs typeface="Arial"/>
            </a:endParaRPr>
          </a:p>
          <a:p>
            <a:pPr>
              <a:lnSpc>
                <a:spcPct val="100000"/>
              </a:lnSpc>
              <a:spcBef>
                <a:spcPts val="50"/>
              </a:spcBef>
            </a:pPr>
            <a:endParaRPr sz="1250">
              <a:latin typeface="Arial"/>
              <a:cs typeface="Arial"/>
            </a:endParaRPr>
          </a:p>
          <a:p>
            <a:pPr marL="469900" marR="6350" indent="-228600">
              <a:lnSpc>
                <a:spcPts val="1260"/>
              </a:lnSpc>
              <a:buFont typeface="Symbol"/>
              <a:buChar char=""/>
              <a:tabLst>
                <a:tab pos="469265" algn="l"/>
                <a:tab pos="470534" algn="l"/>
              </a:tabLst>
            </a:pPr>
            <a:r>
              <a:rPr dirty="0" sz="1100" spc="-5">
                <a:latin typeface="Arial"/>
                <a:cs typeface="Arial"/>
              </a:rPr>
              <a:t>Two of the world’s fastest growing economies, China and India, also happen to be the  world’s two most populous</a:t>
            </a:r>
            <a:r>
              <a:rPr dirty="0" sz="1100" spc="15">
                <a:latin typeface="Arial"/>
                <a:cs typeface="Arial"/>
              </a:rPr>
              <a:t> </a:t>
            </a:r>
            <a:r>
              <a:rPr dirty="0" sz="1100" spc="-5">
                <a:latin typeface="Arial"/>
                <a:cs typeface="Arial"/>
              </a:rPr>
              <a:t>nations.</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In 2010, India’s population was nearly 1.2 billion one-child policy in</a:t>
            </a:r>
            <a:r>
              <a:rPr dirty="0" sz="1100" spc="85">
                <a:latin typeface="Arial"/>
                <a:cs typeface="Arial"/>
              </a:rPr>
              <a:t> </a:t>
            </a:r>
            <a:r>
              <a:rPr dirty="0" sz="1100" spc="-5">
                <a:latin typeface="Arial"/>
                <a:cs typeface="Arial"/>
              </a:rPr>
              <a:t>China.</a:t>
            </a:r>
            <a:endParaRPr sz="1100">
              <a:latin typeface="Arial"/>
              <a:cs typeface="Arial"/>
            </a:endParaRPr>
          </a:p>
          <a:p>
            <a:pPr marL="469900" marR="5080" indent="-228600">
              <a:lnSpc>
                <a:spcPts val="1260"/>
              </a:lnSpc>
              <a:spcBef>
                <a:spcPts val="110"/>
              </a:spcBef>
              <a:buFont typeface="Symbol"/>
              <a:buChar char=""/>
              <a:tabLst>
                <a:tab pos="469265" algn="l"/>
                <a:tab pos="470534" algn="l"/>
              </a:tabLst>
            </a:pPr>
            <a:r>
              <a:rPr dirty="0" sz="1100" spc="-5">
                <a:latin typeface="Arial"/>
                <a:cs typeface="Arial"/>
              </a:rPr>
              <a:t>Women’s empowerment and education in some parts of India, such as the state of  Kerala.</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spcBef>
                <a:spcPts val="5"/>
              </a:spcBef>
            </a:pPr>
            <a:r>
              <a:rPr dirty="0" sz="1100" spc="-5" b="1">
                <a:latin typeface="Arial"/>
                <a:cs typeface="Arial"/>
              </a:rPr>
              <a:t>OBJECTIVE</a:t>
            </a:r>
            <a:endParaRPr sz="1100">
              <a:latin typeface="Arial"/>
              <a:cs typeface="Arial"/>
            </a:endParaRPr>
          </a:p>
          <a:p>
            <a:pPr>
              <a:lnSpc>
                <a:spcPct val="100000"/>
              </a:lnSpc>
              <a:spcBef>
                <a:spcPts val="20"/>
              </a:spcBef>
            </a:pPr>
            <a:endParaRPr sz="1200">
              <a:latin typeface="Arial"/>
              <a:cs typeface="Arial"/>
            </a:endParaRPr>
          </a:p>
          <a:p>
            <a:pPr marL="12700" marR="638175">
              <a:lnSpc>
                <a:spcPts val="1270"/>
              </a:lnSpc>
            </a:pPr>
            <a:r>
              <a:rPr dirty="0" sz="1100" spc="-5">
                <a:latin typeface="Arial"/>
                <a:cs typeface="Arial"/>
              </a:rPr>
              <a:t>What can we learn about population and development from </a:t>
            </a:r>
            <a:r>
              <a:rPr dirty="0" sz="1100">
                <a:latin typeface="Arial"/>
                <a:cs typeface="Arial"/>
              </a:rPr>
              <a:t>the </a:t>
            </a:r>
            <a:r>
              <a:rPr dirty="0" sz="1100" spc="-5">
                <a:latin typeface="Arial"/>
                <a:cs typeface="Arial"/>
              </a:rPr>
              <a:t>world’s most populous  countries?</a:t>
            </a:r>
            <a:endParaRPr sz="1100">
              <a:latin typeface="Arial"/>
              <a:cs typeface="Arial"/>
            </a:endParaRPr>
          </a:p>
          <a:p>
            <a:pPr>
              <a:lnSpc>
                <a:spcPct val="100000"/>
              </a:lnSpc>
              <a:spcBef>
                <a:spcPts val="15"/>
              </a:spcBef>
            </a:pPr>
            <a:endParaRPr sz="1150">
              <a:latin typeface="Arial"/>
              <a:cs typeface="Arial"/>
            </a:endParaRPr>
          </a:p>
          <a:p>
            <a:pPr algn="just" marL="469900" marR="6350" indent="-228600">
              <a:lnSpc>
                <a:spcPts val="1260"/>
              </a:lnSpc>
              <a:spcBef>
                <a:spcPts val="5"/>
              </a:spcBef>
              <a:buFont typeface="Symbol"/>
              <a:buChar char=""/>
              <a:tabLst>
                <a:tab pos="470534" algn="l"/>
              </a:tabLst>
            </a:pPr>
            <a:r>
              <a:rPr dirty="0" sz="1100" spc="-5">
                <a:latin typeface="Arial"/>
                <a:cs typeface="Arial"/>
              </a:rPr>
              <a:t>India, which had well under two-thirds of China’s population half a century ago, is  projected to surpass China’s population by 200 million people by</a:t>
            </a:r>
            <a:r>
              <a:rPr dirty="0" sz="1100" spc="70">
                <a:latin typeface="Arial"/>
                <a:cs typeface="Arial"/>
              </a:rPr>
              <a:t> </a:t>
            </a:r>
            <a:r>
              <a:rPr dirty="0" sz="1100" spc="-5">
                <a:latin typeface="Arial"/>
                <a:cs typeface="Arial"/>
              </a:rPr>
              <a:t>2050.</a:t>
            </a:r>
            <a:endParaRPr sz="1100">
              <a:latin typeface="Arial"/>
              <a:cs typeface="Arial"/>
            </a:endParaRPr>
          </a:p>
          <a:p>
            <a:pPr algn="just" marL="469900" marR="6985" indent="-228600">
              <a:lnSpc>
                <a:spcPct val="95700"/>
              </a:lnSpc>
              <a:spcBef>
                <a:spcPts val="45"/>
              </a:spcBef>
              <a:buFont typeface="Symbol"/>
              <a:buChar char=""/>
              <a:tabLst>
                <a:tab pos="470534" algn="l"/>
              </a:tabLst>
            </a:pPr>
            <a:r>
              <a:rPr dirty="0" sz="1100" spc="-5">
                <a:latin typeface="Arial"/>
                <a:cs typeface="Arial"/>
              </a:rPr>
              <a:t>Amartya </a:t>
            </a:r>
            <a:r>
              <a:rPr dirty="0" sz="1100">
                <a:latin typeface="Arial"/>
                <a:cs typeface="Arial"/>
              </a:rPr>
              <a:t>Sen’s </a:t>
            </a:r>
            <a:r>
              <a:rPr dirty="0" sz="1100" spc="-5">
                <a:latin typeface="Arial"/>
                <a:cs typeface="Arial"/>
              </a:rPr>
              <a:t>view </a:t>
            </a:r>
            <a:r>
              <a:rPr dirty="0" sz="1100">
                <a:latin typeface="Arial"/>
                <a:cs typeface="Arial"/>
              </a:rPr>
              <a:t>that </a:t>
            </a:r>
            <a:r>
              <a:rPr dirty="0" sz="1100" spc="-5">
                <a:latin typeface="Arial"/>
                <a:cs typeface="Arial"/>
              </a:rPr>
              <a:t>development is freedom, the greater opportunities available to  young women when fertility is reduced or delayed is itself a key indicator of development  success and population policy can help realize these</a:t>
            </a:r>
            <a:r>
              <a:rPr dirty="0" sz="1100" spc="30">
                <a:latin typeface="Arial"/>
                <a:cs typeface="Arial"/>
              </a:rPr>
              <a:t> </a:t>
            </a:r>
            <a:r>
              <a:rPr dirty="0" sz="1100" spc="-5">
                <a:latin typeface="Arial"/>
                <a:cs typeface="Arial"/>
              </a:rPr>
              <a:t>goals.</a:t>
            </a:r>
            <a:endParaRPr sz="1100">
              <a:latin typeface="Arial"/>
              <a:cs typeface="Arial"/>
            </a:endParaRPr>
          </a:p>
          <a:p>
            <a:pPr>
              <a:lnSpc>
                <a:spcPct val="100000"/>
              </a:lnSpc>
              <a:spcBef>
                <a:spcPts val="10"/>
              </a:spcBef>
              <a:buFont typeface="Symbol"/>
              <a:buChar char=""/>
            </a:pPr>
            <a:endParaRPr sz="1050">
              <a:latin typeface="Arial"/>
              <a:cs typeface="Arial"/>
            </a:endParaRPr>
          </a:p>
          <a:p>
            <a:pPr marL="12700">
              <a:lnSpc>
                <a:spcPct val="100000"/>
              </a:lnSpc>
            </a:pPr>
            <a:r>
              <a:rPr dirty="0" sz="1100" spc="-5" b="1">
                <a:latin typeface="Arial"/>
                <a:cs typeface="Arial"/>
              </a:rPr>
              <a:t>POPULATION POLICY IN</a:t>
            </a:r>
            <a:r>
              <a:rPr dirty="0" sz="1100" spc="5" b="1">
                <a:latin typeface="Arial"/>
                <a:cs typeface="Arial"/>
              </a:rPr>
              <a:t> </a:t>
            </a:r>
            <a:r>
              <a:rPr dirty="0" sz="1100" spc="-5" b="1">
                <a:latin typeface="Arial"/>
                <a:cs typeface="Arial"/>
              </a:rPr>
              <a:t>CHINA</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After the Communist takeover in</a:t>
            </a:r>
            <a:r>
              <a:rPr dirty="0" sz="1100" spc="20">
                <a:latin typeface="Arial"/>
                <a:cs typeface="Arial"/>
              </a:rPr>
              <a:t> </a:t>
            </a:r>
            <a:r>
              <a:rPr dirty="0" sz="1100" spc="-5">
                <a:latin typeface="Arial"/>
                <a:cs typeface="Arial"/>
              </a:rPr>
              <a:t>1949.</a:t>
            </a:r>
            <a:endParaRPr sz="1100">
              <a:latin typeface="Arial"/>
              <a:cs typeface="Arial"/>
            </a:endParaRPr>
          </a:p>
          <a:p>
            <a:pPr marL="469900" marR="6350" indent="-228600">
              <a:lnSpc>
                <a:spcPts val="1260"/>
              </a:lnSpc>
              <a:spcBef>
                <a:spcPts val="110"/>
              </a:spcBef>
              <a:buFont typeface="Symbol"/>
              <a:buChar char=""/>
              <a:tabLst>
                <a:tab pos="469265" algn="l"/>
                <a:tab pos="470534" algn="l"/>
              </a:tabLst>
            </a:pPr>
            <a:r>
              <a:rPr dirty="0" sz="1100" spc="-5">
                <a:latin typeface="Arial"/>
                <a:cs typeface="Arial"/>
              </a:rPr>
              <a:t>Chinese leaders led by Mao Zedong believed that a larger population would mean a  more powerful</a:t>
            </a:r>
            <a:r>
              <a:rPr dirty="0" sz="1100">
                <a:latin typeface="Arial"/>
                <a:cs typeface="Arial"/>
              </a:rPr>
              <a:t> </a:t>
            </a:r>
            <a:r>
              <a:rPr dirty="0" sz="1100" spc="-5">
                <a:latin typeface="Arial"/>
                <a:cs typeface="Arial"/>
              </a:rPr>
              <a:t>country.</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Mao “60% right” used to send advocates of population control to</a:t>
            </a:r>
            <a:r>
              <a:rPr dirty="0" sz="1100" spc="75">
                <a:latin typeface="Arial"/>
                <a:cs typeface="Arial"/>
              </a:rPr>
              <a:t> </a:t>
            </a:r>
            <a:r>
              <a:rPr dirty="0" sz="1100" spc="-5">
                <a:latin typeface="Arial"/>
                <a:cs typeface="Arial"/>
              </a:rPr>
              <a:t>jail.</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In late 1950s due to famine, these policies got</a:t>
            </a:r>
            <a:r>
              <a:rPr dirty="0" sz="1100" spc="50">
                <a:latin typeface="Arial"/>
                <a:cs typeface="Arial"/>
              </a:rPr>
              <a:t> </a:t>
            </a:r>
            <a:r>
              <a:rPr dirty="0" sz="1100" spc="-5">
                <a:latin typeface="Arial"/>
                <a:cs typeface="Arial"/>
              </a:rPr>
              <a:t>moderated.</a:t>
            </a:r>
            <a:endParaRPr sz="1100">
              <a:latin typeface="Arial"/>
              <a:cs typeface="Arial"/>
            </a:endParaRPr>
          </a:p>
          <a:p>
            <a:pPr marL="469900" marR="5080" indent="-228600">
              <a:lnSpc>
                <a:spcPts val="1260"/>
              </a:lnSpc>
              <a:spcBef>
                <a:spcPts val="110"/>
              </a:spcBef>
              <a:buFont typeface="Symbol"/>
              <a:buChar char=""/>
              <a:tabLst>
                <a:tab pos="469265" algn="l"/>
                <a:tab pos="470534" algn="l"/>
              </a:tabLst>
            </a:pPr>
            <a:r>
              <a:rPr dirty="0" sz="1100" spc="-5">
                <a:latin typeface="Arial"/>
                <a:cs typeface="Arial"/>
              </a:rPr>
              <a:t>By the mid-1990s, China’s fertility rate reached 1.9 births per woman, </a:t>
            </a:r>
            <a:r>
              <a:rPr dirty="0" sz="1100">
                <a:latin typeface="Arial"/>
                <a:cs typeface="Arial"/>
              </a:rPr>
              <a:t>and </a:t>
            </a:r>
            <a:r>
              <a:rPr dirty="0" sz="1100" spc="-5">
                <a:latin typeface="Arial"/>
                <a:cs typeface="Arial"/>
              </a:rPr>
              <a:t>it fell further to  1.6 by</a:t>
            </a:r>
            <a:r>
              <a:rPr dirty="0" sz="1100">
                <a:latin typeface="Arial"/>
                <a:cs typeface="Arial"/>
              </a:rPr>
              <a:t> </a:t>
            </a:r>
            <a:r>
              <a:rPr dirty="0" sz="1100" spc="-5">
                <a:latin typeface="Arial"/>
                <a:cs typeface="Arial"/>
              </a:rPr>
              <a:t>2009.</a:t>
            </a:r>
            <a:endParaRPr sz="1100">
              <a:latin typeface="Arial"/>
              <a:cs typeface="Arial"/>
            </a:endParaRPr>
          </a:p>
          <a:p>
            <a:pPr marL="469900" marR="5715" indent="-228600">
              <a:lnSpc>
                <a:spcPts val="1260"/>
              </a:lnSpc>
              <a:spcBef>
                <a:spcPts val="80"/>
              </a:spcBef>
              <a:buFont typeface="Symbol"/>
              <a:buChar char=""/>
              <a:tabLst>
                <a:tab pos="469265" algn="l"/>
                <a:tab pos="470534" algn="l"/>
              </a:tabLst>
            </a:pPr>
            <a:r>
              <a:rPr dirty="0" sz="1100" spc="-5">
                <a:latin typeface="Arial"/>
                <a:cs typeface="Arial"/>
              </a:rPr>
              <a:t>This rate is below replacement level and consistent with a slow long-term decline in  population growth.</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a:latin typeface="Arial"/>
                <a:cs typeface="Arial"/>
              </a:rPr>
              <a:t>Because of population momentum, China’s population has continued to grow as larger,  younger cohorts replace smaller, older</a:t>
            </a:r>
            <a:r>
              <a:rPr dirty="0" sz="1100" spc="15">
                <a:latin typeface="Arial"/>
                <a:cs typeface="Arial"/>
              </a:rPr>
              <a:t> </a:t>
            </a:r>
            <a:r>
              <a:rPr dirty="0" sz="1100" spc="-5">
                <a:latin typeface="Arial"/>
                <a:cs typeface="Arial"/>
              </a:rPr>
              <a:t>ones.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93</a:t>
            </a:r>
            <a:endParaRPr sz="1100">
              <a:latin typeface="Carlito"/>
              <a:cs typeface="Carlito"/>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70270" cy="4875530"/>
          </a:xfrm>
          <a:prstGeom prst="rect">
            <a:avLst/>
          </a:prstGeom>
        </p:spPr>
        <p:txBody>
          <a:bodyPr wrap="square" lIns="0" tIns="12065" rIns="0" bIns="0" rtlCol="0" vert="horz">
            <a:spAutoFit/>
          </a:bodyPr>
          <a:lstStyle/>
          <a:p>
            <a:pPr marL="469900" indent="-229235">
              <a:lnSpc>
                <a:spcPct val="100000"/>
              </a:lnSpc>
              <a:spcBef>
                <a:spcPts val="95"/>
              </a:spcBef>
              <a:buFont typeface="Symbol"/>
              <a:buChar char=""/>
              <a:tabLst>
                <a:tab pos="469265" algn="l"/>
                <a:tab pos="470534" algn="l"/>
              </a:tabLst>
            </a:pPr>
            <a:r>
              <a:rPr dirty="0" sz="1100" spc="-5">
                <a:latin typeface="Arial"/>
                <a:cs typeface="Arial"/>
              </a:rPr>
              <a:t>Social imbalance with more boys and less</a:t>
            </a:r>
            <a:r>
              <a:rPr dirty="0" sz="1100" spc="35">
                <a:latin typeface="Arial"/>
                <a:cs typeface="Arial"/>
              </a:rPr>
              <a:t> </a:t>
            </a:r>
            <a:r>
              <a:rPr dirty="0" sz="1100" spc="-5">
                <a:latin typeface="Arial"/>
                <a:cs typeface="Arial"/>
              </a:rPr>
              <a:t>girls.</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POPULATION POLICY IN</a:t>
            </a:r>
            <a:r>
              <a:rPr dirty="0" sz="1100" spc="5" b="1">
                <a:latin typeface="Arial"/>
                <a:cs typeface="Arial"/>
              </a:rPr>
              <a:t> </a:t>
            </a:r>
            <a:r>
              <a:rPr dirty="0" sz="1100" spc="-5" b="1">
                <a:latin typeface="Arial"/>
                <a:cs typeface="Arial"/>
              </a:rPr>
              <a:t>INDIA</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In 1949, India became the first country to implement a national family-planning</a:t>
            </a:r>
            <a:r>
              <a:rPr dirty="0" sz="1100" spc="200">
                <a:latin typeface="Arial"/>
                <a:cs typeface="Arial"/>
              </a:rPr>
              <a:t> </a:t>
            </a:r>
            <a:r>
              <a:rPr dirty="0" sz="1100" spc="-5">
                <a:latin typeface="Arial"/>
                <a:cs typeface="Arial"/>
              </a:rPr>
              <a:t>program.</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It has proved to be relatively</a:t>
            </a:r>
            <a:r>
              <a:rPr dirty="0" sz="1100" spc="25">
                <a:latin typeface="Arial"/>
                <a:cs typeface="Arial"/>
              </a:rPr>
              <a:t> </a:t>
            </a:r>
            <a:r>
              <a:rPr dirty="0" sz="1100" spc="-5">
                <a:latin typeface="Arial"/>
                <a:cs typeface="Arial"/>
              </a:rPr>
              <a:t>ineffective.</a:t>
            </a:r>
            <a:endParaRPr sz="1100">
              <a:latin typeface="Arial"/>
              <a:cs typeface="Arial"/>
            </a:endParaRPr>
          </a:p>
          <a:p>
            <a:pPr marL="469900" marR="6350" indent="-228600">
              <a:lnSpc>
                <a:spcPts val="1260"/>
              </a:lnSpc>
              <a:spcBef>
                <a:spcPts val="110"/>
              </a:spcBef>
              <a:buFont typeface="Symbol"/>
              <a:buChar char=""/>
              <a:tabLst>
                <a:tab pos="469265" algn="l"/>
                <a:tab pos="470534" algn="l"/>
              </a:tabLst>
            </a:pPr>
            <a:r>
              <a:rPr dirty="0" sz="1100" spc="-5">
                <a:latin typeface="Arial"/>
                <a:cs typeface="Arial"/>
              </a:rPr>
              <a:t>By the early 1970s, observers were becoming increasingly alarmed by </a:t>
            </a:r>
            <a:r>
              <a:rPr dirty="0" sz="1100">
                <a:latin typeface="Arial"/>
                <a:cs typeface="Arial"/>
              </a:rPr>
              <a:t>the </a:t>
            </a:r>
            <a:r>
              <a:rPr dirty="0" sz="1100" spc="-5">
                <a:latin typeface="Arial"/>
                <a:cs typeface="Arial"/>
              </a:rPr>
              <a:t>very high rate  of population growth in</a:t>
            </a:r>
            <a:r>
              <a:rPr dirty="0" sz="1100" spc="15">
                <a:latin typeface="Arial"/>
                <a:cs typeface="Arial"/>
              </a:rPr>
              <a:t> </a:t>
            </a:r>
            <a:r>
              <a:rPr dirty="0" sz="1100" spc="-5">
                <a:latin typeface="Arial"/>
                <a:cs typeface="Arial"/>
              </a:rPr>
              <a:t>India.</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Indira Gandhi tried to implement drastic population control in</a:t>
            </a:r>
            <a:r>
              <a:rPr dirty="0" sz="1100" spc="70">
                <a:latin typeface="Arial"/>
                <a:cs typeface="Arial"/>
              </a:rPr>
              <a:t> </a:t>
            </a:r>
            <a:r>
              <a:rPr dirty="0" sz="1100" spc="-5">
                <a:latin typeface="Arial"/>
                <a:cs typeface="Arial"/>
              </a:rPr>
              <a:t>1975–1977.</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Forced sterilization.</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Coercive birth control</a:t>
            </a:r>
            <a:r>
              <a:rPr dirty="0" sz="1100" spc="10">
                <a:latin typeface="Arial"/>
                <a:cs typeface="Arial"/>
              </a:rPr>
              <a:t> </a:t>
            </a:r>
            <a:r>
              <a:rPr dirty="0" sz="1100" spc="-5">
                <a:latin typeface="Arial"/>
                <a:cs typeface="Arial"/>
              </a:rPr>
              <a:t>policies.</a:t>
            </a:r>
            <a:endParaRPr sz="1100">
              <a:latin typeface="Arial"/>
              <a:cs typeface="Arial"/>
            </a:endParaRPr>
          </a:p>
          <a:p>
            <a:pPr algn="just" marL="469900" marR="7620" indent="-228600">
              <a:lnSpc>
                <a:spcPts val="1260"/>
              </a:lnSpc>
              <a:spcBef>
                <a:spcPts val="114"/>
              </a:spcBef>
              <a:buFont typeface="Symbol"/>
              <a:buChar char=""/>
              <a:tabLst>
                <a:tab pos="470534" algn="l"/>
              </a:tabLst>
            </a:pPr>
            <a:r>
              <a:rPr dirty="0" sz="1100" spc="-5">
                <a:latin typeface="Arial"/>
                <a:cs typeface="Arial"/>
              </a:rPr>
              <a:t>As fertility has fallen, a preference for boys </a:t>
            </a:r>
            <a:r>
              <a:rPr dirty="0" sz="1100">
                <a:latin typeface="Arial"/>
                <a:cs typeface="Arial"/>
              </a:rPr>
              <a:t>over </a:t>
            </a:r>
            <a:r>
              <a:rPr dirty="0" sz="1100" spc="-5">
                <a:latin typeface="Arial"/>
                <a:cs typeface="Arial"/>
              </a:rPr>
              <a:t>girls has developed, particularly in the  “Hindi belt” in northern India. The result is a “missing women” problem parallel to</a:t>
            </a:r>
            <a:r>
              <a:rPr dirty="0" sz="1100" spc="254">
                <a:latin typeface="Arial"/>
                <a:cs typeface="Arial"/>
              </a:rPr>
              <a:t> </a:t>
            </a:r>
            <a:r>
              <a:rPr dirty="0" sz="1100" spc="-5">
                <a:latin typeface="Arial"/>
                <a:cs typeface="Arial"/>
              </a:rPr>
              <a:t>China’s</a:t>
            </a:r>
            <a:endParaRPr sz="1100">
              <a:latin typeface="Arial"/>
              <a:cs typeface="Arial"/>
            </a:endParaRPr>
          </a:p>
          <a:p>
            <a:pPr algn="just" marL="469900" marR="5715" indent="-228600">
              <a:lnSpc>
                <a:spcPct val="95700"/>
              </a:lnSpc>
              <a:spcBef>
                <a:spcPts val="50"/>
              </a:spcBef>
              <a:buFont typeface="Symbol"/>
              <a:buChar char=""/>
              <a:tabLst>
                <a:tab pos="470534" algn="l"/>
              </a:tabLst>
            </a:pPr>
            <a:r>
              <a:rPr dirty="0" sz="1100" spc="-5">
                <a:latin typeface="Arial"/>
                <a:cs typeface="Arial"/>
              </a:rPr>
              <a:t>Stronger male bias is actually found in the better-off states of India, and researchers  Jean Drèze, Anne-Catherine Guio, and Mamta Murthi found that “female disadvantage  in child survival is significantly lower in districts with higher poverty</a:t>
            </a:r>
            <a:r>
              <a:rPr dirty="0" sz="1100" spc="95">
                <a:latin typeface="Arial"/>
                <a:cs typeface="Arial"/>
              </a:rPr>
              <a:t> </a:t>
            </a:r>
            <a:r>
              <a:rPr dirty="0" sz="1100" spc="-5">
                <a:latin typeface="Arial"/>
                <a:cs typeface="Arial"/>
              </a:rPr>
              <a:t>levels.”</a:t>
            </a:r>
            <a:endParaRPr sz="1100">
              <a:latin typeface="Arial"/>
              <a:cs typeface="Arial"/>
            </a:endParaRPr>
          </a:p>
          <a:p>
            <a:pPr algn="just" marL="469900" marR="5080" indent="-228600">
              <a:lnSpc>
                <a:spcPts val="1270"/>
              </a:lnSpc>
              <a:spcBef>
                <a:spcPts val="100"/>
              </a:spcBef>
              <a:buFont typeface="Symbol"/>
              <a:buChar char=""/>
              <a:tabLst>
                <a:tab pos="470534" algn="l"/>
              </a:tabLst>
            </a:pPr>
            <a:r>
              <a:rPr dirty="0" sz="1100" spc="-5">
                <a:latin typeface="Arial"/>
                <a:cs typeface="Arial"/>
              </a:rPr>
              <a:t>The ratio of males to females in India as a whole reached 108 to 100, one of the highest  in the</a:t>
            </a:r>
            <a:r>
              <a:rPr dirty="0" sz="1100">
                <a:latin typeface="Arial"/>
                <a:cs typeface="Arial"/>
              </a:rPr>
              <a:t> </a:t>
            </a:r>
            <a:r>
              <a:rPr dirty="0" sz="1100" spc="-5">
                <a:latin typeface="Arial"/>
                <a:cs typeface="Arial"/>
              </a:rPr>
              <a:t>world.</a:t>
            </a:r>
            <a:endParaRPr sz="1100">
              <a:latin typeface="Arial"/>
              <a:cs typeface="Arial"/>
            </a:endParaRPr>
          </a:p>
          <a:p>
            <a:pPr>
              <a:lnSpc>
                <a:spcPct val="100000"/>
              </a:lnSpc>
              <a:spcBef>
                <a:spcPts val="45"/>
              </a:spcBef>
              <a:buFont typeface="Symbol"/>
              <a:buChar char=""/>
            </a:pPr>
            <a:endParaRPr sz="1150">
              <a:latin typeface="Arial"/>
              <a:cs typeface="Arial"/>
            </a:endParaRPr>
          </a:p>
          <a:p>
            <a:pPr marL="12700">
              <a:lnSpc>
                <a:spcPct val="100000"/>
              </a:lnSpc>
            </a:pPr>
            <a:r>
              <a:rPr dirty="0" sz="1100" spc="-5" b="1">
                <a:latin typeface="Arial"/>
                <a:cs typeface="Arial"/>
              </a:rPr>
              <a:t>KERALA</a:t>
            </a:r>
            <a:r>
              <a:rPr dirty="0" sz="1100" spc="-10" b="1">
                <a:latin typeface="Arial"/>
                <a:cs typeface="Arial"/>
              </a:rPr>
              <a:t> </a:t>
            </a:r>
            <a:r>
              <a:rPr dirty="0" sz="1100" spc="-5" b="1">
                <a:latin typeface="Arial"/>
                <a:cs typeface="Arial"/>
              </a:rPr>
              <a:t>SUCCESS</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In Mid-1990s, Kerala’s fertility rate had fallen to just 1.7 births per</a:t>
            </a:r>
            <a:r>
              <a:rPr dirty="0" sz="1100" spc="105">
                <a:latin typeface="Arial"/>
                <a:cs typeface="Arial"/>
              </a:rPr>
              <a:t> </a:t>
            </a:r>
            <a:r>
              <a:rPr dirty="0" sz="1100" spc="-5">
                <a:latin typeface="Arial"/>
                <a:cs typeface="Arial"/>
              </a:rPr>
              <a:t>woman.</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This was without</a:t>
            </a:r>
            <a:r>
              <a:rPr dirty="0" sz="1100" spc="5">
                <a:latin typeface="Arial"/>
                <a:cs typeface="Arial"/>
              </a:rPr>
              <a:t> </a:t>
            </a:r>
            <a:r>
              <a:rPr dirty="0" sz="1100" spc="-5">
                <a:latin typeface="Arial"/>
                <a:cs typeface="Arial"/>
              </a:rPr>
              <a:t>coercion.</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power of TV in India played an important role in</a:t>
            </a:r>
            <a:r>
              <a:rPr dirty="0" sz="1100" spc="55">
                <a:latin typeface="Arial"/>
                <a:cs typeface="Arial"/>
              </a:rPr>
              <a:t> </a:t>
            </a:r>
            <a:r>
              <a:rPr dirty="0" sz="1100" spc="-5">
                <a:latin typeface="Arial"/>
                <a:cs typeface="Arial"/>
              </a:rPr>
              <a:t>it.</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More than 85% of women in Kerala are</a:t>
            </a:r>
            <a:r>
              <a:rPr dirty="0" sz="1100" spc="35">
                <a:latin typeface="Arial"/>
                <a:cs typeface="Arial"/>
              </a:rPr>
              <a:t> </a:t>
            </a:r>
            <a:r>
              <a:rPr dirty="0" sz="1100" spc="-5">
                <a:latin typeface="Arial"/>
                <a:cs typeface="Arial"/>
              </a:rPr>
              <a:t>literate.</a:t>
            </a:r>
            <a:endParaRPr sz="1100">
              <a:latin typeface="Arial"/>
              <a:cs typeface="Arial"/>
            </a:endParaRPr>
          </a:p>
          <a:p>
            <a:pPr algn="just" marL="469900" marR="6350" indent="-228600">
              <a:lnSpc>
                <a:spcPct val="95800"/>
              </a:lnSpc>
              <a:spcBef>
                <a:spcPts val="75"/>
              </a:spcBef>
              <a:buFont typeface="Symbol"/>
              <a:buChar char=""/>
              <a:tabLst>
                <a:tab pos="470534" algn="l"/>
              </a:tabLst>
            </a:pPr>
            <a:r>
              <a:rPr dirty="0" sz="1100" spc="-5">
                <a:latin typeface="Arial"/>
                <a:cs typeface="Arial"/>
              </a:rPr>
              <a:t>The success of Kerala suggests that fertility reduction may depend not on rapid  economic growth or </a:t>
            </a:r>
            <a:r>
              <a:rPr dirty="0" sz="1100">
                <a:latin typeface="Arial"/>
                <a:cs typeface="Arial"/>
              </a:rPr>
              <a:t>even, </a:t>
            </a:r>
            <a:r>
              <a:rPr dirty="0" sz="1100" spc="-5">
                <a:latin typeface="Arial"/>
                <a:cs typeface="Arial"/>
              </a:rPr>
              <a:t>in its absence, on draconian governmental policies but rather  on grassroots human development emphasizing women’s empowerment, in which civil  society plays a leading</a:t>
            </a:r>
            <a:r>
              <a:rPr dirty="0" sz="1100" spc="10">
                <a:latin typeface="Arial"/>
                <a:cs typeface="Arial"/>
              </a:rPr>
              <a:t> </a:t>
            </a:r>
            <a:r>
              <a:rPr dirty="0" sz="1100" spc="-5">
                <a:latin typeface="Arial"/>
                <a:cs typeface="Arial"/>
              </a:rPr>
              <a:t>role.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94</a:t>
            </a:r>
            <a:endParaRPr sz="1100">
              <a:latin typeface="Carlito"/>
              <a:cs typeface="Carlito"/>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10768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14</a:t>
            </a:r>
            <a:endParaRPr sz="1100">
              <a:latin typeface="Arial"/>
              <a:cs typeface="Arial"/>
            </a:endParaRPr>
          </a:p>
          <a:p>
            <a:pPr marL="12700" marR="421640" indent="414020">
              <a:lnSpc>
                <a:spcPct val="200500"/>
              </a:lnSpc>
              <a:spcBef>
                <a:spcPts val="5"/>
              </a:spcBef>
            </a:pPr>
            <a:r>
              <a:rPr dirty="0" sz="1100" spc="-10" b="1">
                <a:latin typeface="Arial"/>
                <a:cs typeface="Arial"/>
              </a:rPr>
              <a:t>HUMAN </a:t>
            </a:r>
            <a:r>
              <a:rPr dirty="0" sz="1100" spc="-5" b="1">
                <a:latin typeface="Arial"/>
                <a:cs typeface="Arial"/>
              </a:rPr>
              <a:t>CAPITAL: EDUCATION AND HEALTH IN ECONOMIC DEVELOPMENT  </a:t>
            </a:r>
            <a:r>
              <a:rPr dirty="0" sz="1100" spc="-10" b="1">
                <a:latin typeface="Arial"/>
                <a:cs typeface="Arial"/>
              </a:rPr>
              <a:t>HUMAN</a:t>
            </a:r>
            <a:r>
              <a:rPr dirty="0" sz="1100" b="1">
                <a:latin typeface="Arial"/>
                <a:cs typeface="Arial"/>
              </a:rPr>
              <a:t> </a:t>
            </a:r>
            <a:r>
              <a:rPr dirty="0" sz="1100" spc="-5" b="1">
                <a:latin typeface="Arial"/>
                <a:cs typeface="Arial"/>
              </a:rPr>
              <a:t>CAPITAL</a:t>
            </a:r>
            <a:endParaRPr sz="1100">
              <a:latin typeface="Arial"/>
              <a:cs typeface="Arial"/>
            </a:endParaRPr>
          </a:p>
          <a:p>
            <a:pPr>
              <a:lnSpc>
                <a:spcPct val="100000"/>
              </a:lnSpc>
              <a:spcBef>
                <a:spcPts val="20"/>
              </a:spcBef>
            </a:pPr>
            <a:endParaRPr sz="1100">
              <a:latin typeface="Arial"/>
              <a:cs typeface="Arial"/>
            </a:endParaRPr>
          </a:p>
          <a:p>
            <a:pPr algn="just" marL="12700" marR="6350">
              <a:lnSpc>
                <a:spcPts val="1270"/>
              </a:lnSpc>
            </a:pPr>
            <a:r>
              <a:rPr dirty="0" sz="1100" spc="-5">
                <a:latin typeface="Arial"/>
                <a:cs typeface="Arial"/>
              </a:rPr>
              <a:t>Productive investments embodied in human persons, including skills, abilities, ideals, health,  and locations, often resulting from expenditures on education, on-the-job training programs, and  medical care.</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a:latin typeface="Arial"/>
                <a:cs typeface="Arial"/>
              </a:rPr>
              <a:t>THE CENTRAL ROLES OF EDUCATION AND</a:t>
            </a:r>
            <a:r>
              <a:rPr dirty="0" sz="1100" spc="30" b="1">
                <a:latin typeface="Arial"/>
                <a:cs typeface="Arial"/>
              </a:rPr>
              <a:t> </a:t>
            </a:r>
            <a:r>
              <a:rPr dirty="0" sz="1100" spc="-10" b="1">
                <a:latin typeface="Arial"/>
                <a:cs typeface="Arial"/>
              </a:rPr>
              <a:t>HEALTH</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900"/>
              </a:lnSpc>
              <a:spcBef>
                <a:spcPts val="5"/>
              </a:spcBef>
            </a:pPr>
            <a:r>
              <a:rPr dirty="0" sz="1100" spc="-5">
                <a:latin typeface="Arial"/>
                <a:cs typeface="Arial"/>
              </a:rPr>
              <a:t>Education and health are basic </a:t>
            </a:r>
            <a:r>
              <a:rPr dirty="0" sz="1100" spc="-5" i="1">
                <a:latin typeface="Arial"/>
                <a:cs typeface="Arial"/>
              </a:rPr>
              <a:t>objectives of development; </a:t>
            </a:r>
            <a:r>
              <a:rPr dirty="0" sz="1100" spc="-5">
                <a:latin typeface="Arial"/>
                <a:cs typeface="Arial"/>
              </a:rPr>
              <a:t>they are important ends in  themselves. Health is </a:t>
            </a:r>
            <a:r>
              <a:rPr dirty="0" sz="1100" spc="-5" b="1">
                <a:latin typeface="Arial"/>
                <a:cs typeface="Arial"/>
              </a:rPr>
              <a:t>central to well-being</a:t>
            </a:r>
            <a:r>
              <a:rPr dirty="0" sz="1100" spc="-5">
                <a:latin typeface="Arial"/>
                <a:cs typeface="Arial"/>
              </a:rPr>
              <a:t>, and education is essential for a satisfying and  rewarding life; both are fundamental to the broader notion of expanded human capabilities that  lie at the heart of the meaning of development. At the same time, education plays a key role in  the ability of a </a:t>
            </a:r>
            <a:r>
              <a:rPr dirty="0" sz="1100" spc="-5" b="1">
                <a:latin typeface="Arial"/>
                <a:cs typeface="Arial"/>
              </a:rPr>
              <a:t>developing country to absorb modern </a:t>
            </a:r>
            <a:r>
              <a:rPr dirty="0" sz="1100" b="1">
                <a:latin typeface="Arial"/>
                <a:cs typeface="Arial"/>
              </a:rPr>
              <a:t>technology </a:t>
            </a:r>
            <a:r>
              <a:rPr dirty="0" sz="1100">
                <a:latin typeface="Arial"/>
                <a:cs typeface="Arial"/>
              </a:rPr>
              <a:t>and </a:t>
            </a:r>
            <a:r>
              <a:rPr dirty="0" sz="1100" spc="-5">
                <a:latin typeface="Arial"/>
                <a:cs typeface="Arial"/>
              </a:rPr>
              <a:t>to develop the capacity  for self-sustaining growth and development. </a:t>
            </a:r>
            <a:r>
              <a:rPr dirty="0" sz="1100">
                <a:latin typeface="Arial"/>
                <a:cs typeface="Arial"/>
              </a:rPr>
              <a:t>Moreover, </a:t>
            </a:r>
            <a:r>
              <a:rPr dirty="0" sz="1100" spc="-5">
                <a:latin typeface="Arial"/>
                <a:cs typeface="Arial"/>
              </a:rPr>
              <a:t>health is a prerequisite for increases in  </a:t>
            </a:r>
            <a:r>
              <a:rPr dirty="0" sz="1100" spc="-5" b="1">
                <a:latin typeface="Arial"/>
                <a:cs typeface="Arial"/>
              </a:rPr>
              <a:t>productivity, and successful </a:t>
            </a:r>
            <a:r>
              <a:rPr dirty="0" sz="1100" spc="-5">
                <a:latin typeface="Arial"/>
                <a:cs typeface="Arial"/>
              </a:rPr>
              <a:t>education relies on adequate health as well. Thus both health  and education can also be seen as </a:t>
            </a:r>
            <a:r>
              <a:rPr dirty="0" sz="1100" spc="-5" b="1">
                <a:latin typeface="Arial"/>
                <a:cs typeface="Arial"/>
              </a:rPr>
              <a:t>vital </a:t>
            </a:r>
            <a:r>
              <a:rPr dirty="0" sz="1100" spc="-5" b="1" i="1">
                <a:latin typeface="Arial"/>
                <a:cs typeface="Arial"/>
              </a:rPr>
              <a:t>components of growth and development</a:t>
            </a:r>
            <a:r>
              <a:rPr dirty="0" sz="1100" spc="-5">
                <a:latin typeface="Arial"/>
                <a:cs typeface="Arial"/>
              </a:rPr>
              <a:t>—as inputs  to the aggregate production function. Their dual role as both inputs and outputs gives health and  education their </a:t>
            </a:r>
            <a:r>
              <a:rPr dirty="0" sz="1100" spc="-5" b="1">
                <a:latin typeface="Arial"/>
                <a:cs typeface="Arial"/>
              </a:rPr>
              <a:t>central importance in economic</a:t>
            </a:r>
            <a:r>
              <a:rPr dirty="0" sz="1100" spc="40" b="1">
                <a:latin typeface="Arial"/>
                <a:cs typeface="Arial"/>
              </a:rPr>
              <a:t> </a:t>
            </a:r>
            <a:r>
              <a:rPr dirty="0" sz="1100" spc="-5" b="1">
                <a:latin typeface="Arial"/>
                <a:cs typeface="Arial"/>
              </a:rPr>
              <a:t>development</a:t>
            </a:r>
            <a:r>
              <a:rPr dirty="0" sz="1100" spc="-5">
                <a:latin typeface="Arial"/>
                <a:cs typeface="Arial"/>
              </a:rPr>
              <a:t>.</a:t>
            </a:r>
            <a:endParaRPr sz="1100">
              <a:latin typeface="Arial"/>
              <a:cs typeface="Arial"/>
            </a:endParaRPr>
          </a:p>
          <a:p>
            <a:pPr>
              <a:lnSpc>
                <a:spcPct val="100000"/>
              </a:lnSpc>
            </a:pPr>
            <a:endParaRPr sz="1050">
              <a:latin typeface="Arial"/>
              <a:cs typeface="Arial"/>
            </a:endParaRPr>
          </a:p>
          <a:p>
            <a:pPr algn="just" marL="12700">
              <a:lnSpc>
                <a:spcPct val="100000"/>
              </a:lnSpc>
            </a:pPr>
            <a:r>
              <a:rPr dirty="0" sz="1100" spc="-5" b="1" i="1">
                <a:latin typeface="Arial"/>
                <a:cs typeface="Arial"/>
              </a:rPr>
              <a:t>Literacy </a:t>
            </a:r>
            <a:r>
              <a:rPr dirty="0" sz="1100" spc="-5" i="1">
                <a:latin typeface="Arial"/>
                <a:cs typeface="Arial"/>
              </a:rPr>
              <a:t>The ability to read and</a:t>
            </a:r>
            <a:r>
              <a:rPr dirty="0" sz="1100" spc="15" i="1">
                <a:latin typeface="Arial"/>
                <a:cs typeface="Arial"/>
              </a:rPr>
              <a:t> </a:t>
            </a:r>
            <a:r>
              <a:rPr dirty="0" sz="1100" spc="-5" i="1">
                <a:latin typeface="Arial"/>
                <a:cs typeface="Arial"/>
              </a:rPr>
              <a:t>write.</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In this chapter, we examine the roles of education and health in economic development. These  two </a:t>
            </a:r>
            <a:r>
              <a:rPr dirty="0" sz="1100" spc="-5" b="1">
                <a:latin typeface="Arial"/>
                <a:cs typeface="Arial"/>
              </a:rPr>
              <a:t>human capital </a:t>
            </a:r>
            <a:r>
              <a:rPr dirty="0" sz="1100" spc="-5">
                <a:latin typeface="Arial"/>
                <a:cs typeface="Arial"/>
              </a:rPr>
              <a:t>issues are treated together because of their close relationship. Our look at  the connections between health and education include similar analytical treatment, because  both are forms of human capital; the dual impacts of effects of health spending on the  effectiveness of the educational system and vice versa; and the fundamental fact that when we  speak of investing in a person’s health and investing in a person’s education, we are after all  talking about the same person. We then consider the relationships between income on the one  hand and health and education on the other. Despite their close relationship, you will see that  higher household income is no guarantee of improved health and education: Human capital  must be given direct attention in its own right, even in economies that are growing rapidly.  Finally, we take a close look at educational and health systems in developing countries, to  identify the sources of the severe inequalities and inefficiencies that continue to plague them.  The evidence reveals that investments in human capital have to be undertaken with both equity  and efficiency for them </a:t>
            </a:r>
            <a:r>
              <a:rPr dirty="0" sz="1100">
                <a:latin typeface="Arial"/>
                <a:cs typeface="Arial"/>
              </a:rPr>
              <a:t>to </a:t>
            </a:r>
            <a:r>
              <a:rPr dirty="0" sz="1100" spc="-5">
                <a:latin typeface="Arial"/>
                <a:cs typeface="Arial"/>
              </a:rPr>
              <a:t>have their potential positive effects on</a:t>
            </a:r>
            <a:r>
              <a:rPr dirty="0" sz="1100" spc="75">
                <a:latin typeface="Arial"/>
                <a:cs typeface="Arial"/>
              </a:rPr>
              <a:t> </a:t>
            </a:r>
            <a:r>
              <a:rPr dirty="0" sz="1100" spc="-5">
                <a:latin typeface="Arial"/>
                <a:cs typeface="Arial"/>
              </a:rPr>
              <a:t>incomes.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EDUCATION AND HEALTH AS JOINT INVESTMENTS FOR</a:t>
            </a:r>
            <a:r>
              <a:rPr dirty="0" sz="1100" spc="5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5"/>
              </a:spcBef>
            </a:pPr>
            <a:endParaRPr sz="1050">
              <a:latin typeface="Arial"/>
              <a:cs typeface="Arial"/>
            </a:endParaRPr>
          </a:p>
          <a:p>
            <a:pPr algn="just" marL="12700" marR="7620">
              <a:lnSpc>
                <a:spcPct val="95800"/>
              </a:lnSpc>
            </a:pPr>
            <a:r>
              <a:rPr dirty="0" sz="1100" spc="-5">
                <a:latin typeface="Arial"/>
                <a:cs typeface="Arial"/>
              </a:rPr>
              <a:t>Health and education are closely related in economic development. On </a:t>
            </a:r>
            <a:r>
              <a:rPr dirty="0" sz="1100">
                <a:latin typeface="Arial"/>
                <a:cs typeface="Arial"/>
              </a:rPr>
              <a:t>one </a:t>
            </a:r>
            <a:r>
              <a:rPr dirty="0" sz="1100" spc="-5">
                <a:latin typeface="Arial"/>
                <a:cs typeface="Arial"/>
              </a:rPr>
              <a:t>hand, greater health  capital may improve </a:t>
            </a:r>
            <a:r>
              <a:rPr dirty="0" sz="1100">
                <a:latin typeface="Arial"/>
                <a:cs typeface="Arial"/>
              </a:rPr>
              <a:t>the </a:t>
            </a:r>
            <a:r>
              <a:rPr dirty="0" sz="1100" spc="-5">
                <a:latin typeface="Arial"/>
                <a:cs typeface="Arial"/>
              </a:rPr>
              <a:t>return to investments in education, in part because health is an  important factor in school attendance and in the formal learning process of a child. A longer life  raises the return to investments in education; better health at any point during working life </a:t>
            </a:r>
            <a:r>
              <a:rPr dirty="0" sz="1100">
                <a:latin typeface="Arial"/>
                <a:cs typeface="Arial"/>
              </a:rPr>
              <a:t>may  </a:t>
            </a:r>
            <a:r>
              <a:rPr dirty="0" sz="1100" spc="-5">
                <a:latin typeface="Arial"/>
                <a:cs typeface="Arial"/>
              </a:rPr>
              <a:t>in effect lower the rate of depreciation of education capital. On the other hand, greater education  capital may improve the return to investments in health, because many health programs rely on  basic skills often learned at school, including personal hygiene and sanitation, not to mention  basic</a:t>
            </a:r>
            <a:r>
              <a:rPr dirty="0" sz="1100" spc="110">
                <a:latin typeface="Arial"/>
                <a:cs typeface="Arial"/>
              </a:rPr>
              <a:t> </a:t>
            </a:r>
            <a:r>
              <a:rPr dirty="0" sz="1100" spc="-5">
                <a:latin typeface="Arial"/>
                <a:cs typeface="Arial"/>
              </a:rPr>
              <a:t>literacy</a:t>
            </a:r>
            <a:r>
              <a:rPr dirty="0" sz="1100" spc="120">
                <a:latin typeface="Arial"/>
                <a:cs typeface="Arial"/>
              </a:rPr>
              <a:t> </a:t>
            </a:r>
            <a:r>
              <a:rPr dirty="0" sz="1100" spc="-5">
                <a:latin typeface="Arial"/>
                <a:cs typeface="Arial"/>
              </a:rPr>
              <a:t>and</a:t>
            </a:r>
            <a:r>
              <a:rPr dirty="0" sz="1100" spc="120">
                <a:latin typeface="Arial"/>
                <a:cs typeface="Arial"/>
              </a:rPr>
              <a:t> </a:t>
            </a:r>
            <a:r>
              <a:rPr dirty="0" sz="1100" spc="-5">
                <a:latin typeface="Arial"/>
                <a:cs typeface="Arial"/>
              </a:rPr>
              <a:t>numeracy;</a:t>
            </a:r>
            <a:r>
              <a:rPr dirty="0" sz="1100" spc="120">
                <a:latin typeface="Arial"/>
                <a:cs typeface="Arial"/>
              </a:rPr>
              <a:t> </a:t>
            </a:r>
            <a:r>
              <a:rPr dirty="0" sz="1100" spc="-5">
                <a:latin typeface="Arial"/>
                <a:cs typeface="Arial"/>
              </a:rPr>
              <a:t>education</a:t>
            </a:r>
            <a:r>
              <a:rPr dirty="0" sz="1100" spc="120">
                <a:latin typeface="Arial"/>
                <a:cs typeface="Arial"/>
              </a:rPr>
              <a:t> </a:t>
            </a:r>
            <a:r>
              <a:rPr dirty="0" sz="1100" spc="-5">
                <a:latin typeface="Arial"/>
                <a:cs typeface="Arial"/>
              </a:rPr>
              <a:t>is</a:t>
            </a:r>
            <a:r>
              <a:rPr dirty="0" sz="1100" spc="120">
                <a:latin typeface="Arial"/>
                <a:cs typeface="Arial"/>
              </a:rPr>
              <a:t> </a:t>
            </a:r>
            <a:r>
              <a:rPr dirty="0" sz="1100" spc="-5">
                <a:latin typeface="Arial"/>
                <a:cs typeface="Arial"/>
              </a:rPr>
              <a:t>also</a:t>
            </a:r>
            <a:r>
              <a:rPr dirty="0" sz="1100" spc="114">
                <a:latin typeface="Arial"/>
                <a:cs typeface="Arial"/>
              </a:rPr>
              <a:t> </a:t>
            </a:r>
            <a:r>
              <a:rPr dirty="0" sz="1100" spc="-5">
                <a:latin typeface="Arial"/>
                <a:cs typeface="Arial"/>
              </a:rPr>
              <a:t>needed</a:t>
            </a:r>
            <a:r>
              <a:rPr dirty="0" sz="1100" spc="114">
                <a:latin typeface="Arial"/>
                <a:cs typeface="Arial"/>
              </a:rPr>
              <a:t> </a:t>
            </a:r>
            <a:r>
              <a:rPr dirty="0" sz="1100" spc="-5">
                <a:latin typeface="Arial"/>
                <a:cs typeface="Arial"/>
              </a:rPr>
              <a:t>for</a:t>
            </a:r>
            <a:r>
              <a:rPr dirty="0" sz="1100" spc="125">
                <a:latin typeface="Arial"/>
                <a:cs typeface="Arial"/>
              </a:rPr>
              <a:t> </a:t>
            </a:r>
            <a:r>
              <a:rPr dirty="0" sz="1100" spc="-5">
                <a:latin typeface="Arial"/>
                <a:cs typeface="Arial"/>
              </a:rPr>
              <a:t>the</a:t>
            </a:r>
            <a:r>
              <a:rPr dirty="0" sz="1100" spc="120">
                <a:latin typeface="Arial"/>
                <a:cs typeface="Arial"/>
              </a:rPr>
              <a:t> </a:t>
            </a:r>
            <a:r>
              <a:rPr dirty="0" sz="1100" spc="-5">
                <a:latin typeface="Arial"/>
                <a:cs typeface="Arial"/>
              </a:rPr>
              <a:t>formation</a:t>
            </a:r>
            <a:r>
              <a:rPr dirty="0" sz="1100" spc="114">
                <a:latin typeface="Arial"/>
                <a:cs typeface="Arial"/>
              </a:rPr>
              <a:t> </a:t>
            </a:r>
            <a:r>
              <a:rPr dirty="0" sz="1100" spc="-5">
                <a:latin typeface="Arial"/>
                <a:cs typeface="Arial"/>
              </a:rPr>
              <a:t>and</a:t>
            </a:r>
            <a:r>
              <a:rPr dirty="0" sz="1100" spc="120">
                <a:latin typeface="Arial"/>
                <a:cs typeface="Arial"/>
              </a:rPr>
              <a:t> </a:t>
            </a:r>
            <a:r>
              <a:rPr dirty="0" sz="1100" spc="-5">
                <a:latin typeface="Arial"/>
                <a:cs typeface="Arial"/>
              </a:rPr>
              <a:t>training</a:t>
            </a:r>
            <a:r>
              <a:rPr dirty="0" sz="1100" spc="114">
                <a:latin typeface="Arial"/>
                <a:cs typeface="Arial"/>
              </a:rPr>
              <a:t> </a:t>
            </a:r>
            <a:r>
              <a:rPr dirty="0" sz="1100" spc="-5">
                <a:latin typeface="Arial"/>
                <a:cs typeface="Arial"/>
              </a:rPr>
              <a:t>of</a:t>
            </a:r>
            <a:r>
              <a:rPr dirty="0" sz="1100" spc="120">
                <a:latin typeface="Arial"/>
                <a:cs typeface="Arial"/>
              </a:rPr>
              <a:t> </a:t>
            </a:r>
            <a:r>
              <a:rPr dirty="0" sz="1100" spc="-5">
                <a:latin typeface="Arial"/>
                <a:cs typeface="Arial"/>
              </a:rPr>
              <a:t>health</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95</a:t>
            </a:r>
            <a:endParaRPr sz="1100">
              <a:latin typeface="Carlito"/>
              <a:cs typeface="Carlito"/>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675640"/>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personnel. Finally, an improvement </a:t>
            </a:r>
            <a:r>
              <a:rPr dirty="0" sz="1100">
                <a:latin typeface="Arial"/>
                <a:cs typeface="Arial"/>
              </a:rPr>
              <a:t>in </a:t>
            </a:r>
            <a:r>
              <a:rPr dirty="0" sz="1100" spc="-5">
                <a:latin typeface="Arial"/>
                <a:cs typeface="Arial"/>
              </a:rPr>
              <a:t>productive </a:t>
            </a:r>
            <a:r>
              <a:rPr dirty="0" sz="1100">
                <a:latin typeface="Arial"/>
                <a:cs typeface="Arial"/>
              </a:rPr>
              <a:t>efficiency </a:t>
            </a:r>
            <a:r>
              <a:rPr dirty="0" sz="1100" spc="-5">
                <a:latin typeface="Arial"/>
                <a:cs typeface="Arial"/>
              </a:rPr>
              <a:t>from investments in education raises  the return on a lifesaving investment in</a:t>
            </a:r>
            <a:r>
              <a:rPr dirty="0" sz="1100" spc="35">
                <a:latin typeface="Arial"/>
                <a:cs typeface="Arial"/>
              </a:rPr>
              <a:t> </a:t>
            </a:r>
            <a:r>
              <a:rPr dirty="0" sz="1100" spc="-5">
                <a:latin typeface="Arial"/>
                <a:cs typeface="Arial"/>
              </a:rPr>
              <a:t>health.</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i="1">
                <a:latin typeface="Arial"/>
                <a:cs typeface="Arial"/>
              </a:rPr>
              <a:t>Box 8.2 summarizes the linkages between investments in health and</a:t>
            </a:r>
            <a:r>
              <a:rPr dirty="0" sz="1100" spc="100" b="1" i="1">
                <a:latin typeface="Arial"/>
                <a:cs typeface="Arial"/>
              </a:rPr>
              <a:t> </a:t>
            </a:r>
            <a:r>
              <a:rPr dirty="0" sz="1100" spc="-5" b="1" i="1">
                <a:latin typeface="Arial"/>
                <a:cs typeface="Arial"/>
              </a:rPr>
              <a:t>education.</a:t>
            </a:r>
            <a:endParaRPr sz="1100">
              <a:latin typeface="Arial"/>
              <a:cs typeface="Arial"/>
            </a:endParaRPr>
          </a:p>
        </p:txBody>
      </p:sp>
      <p:sp>
        <p:nvSpPr>
          <p:cNvPr id="7" name="object 7"/>
          <p:cNvSpPr txBox="1"/>
          <p:nvPr/>
        </p:nvSpPr>
        <p:spPr>
          <a:xfrm>
            <a:off x="901700" y="4898384"/>
            <a:ext cx="5970270" cy="4062729"/>
          </a:xfrm>
          <a:prstGeom prst="rect">
            <a:avLst/>
          </a:prstGeom>
        </p:spPr>
        <p:txBody>
          <a:bodyPr wrap="square" lIns="0" tIns="22860" rIns="0" bIns="0" rtlCol="0" vert="horz">
            <a:spAutoFit/>
          </a:bodyPr>
          <a:lstStyle/>
          <a:p>
            <a:pPr algn="just" marL="12700" marR="7620">
              <a:lnSpc>
                <a:spcPts val="1270"/>
              </a:lnSpc>
              <a:spcBef>
                <a:spcPts val="180"/>
              </a:spcBef>
            </a:pPr>
            <a:r>
              <a:rPr dirty="0" sz="1100" spc="-5" b="1">
                <a:latin typeface="Arial"/>
                <a:cs typeface="Arial"/>
              </a:rPr>
              <a:t>IMPROVING HEALTH AND EDUCATION: WHY INCREASING INCOMES IS NOT  SUFFICIENT</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pPr>
            <a:r>
              <a:rPr dirty="0" sz="1100" spc="-5">
                <a:latin typeface="Arial"/>
                <a:cs typeface="Arial"/>
              </a:rPr>
              <a:t>Health and education levels are much higher in high-income countries. There are good reasons  to believe that the causality runs in both directions: With higher income, people and  governments can afford to spend more on education and health, and with greater health and  education, higher productivity and incomes </a:t>
            </a:r>
            <a:r>
              <a:rPr dirty="0" sz="1100">
                <a:latin typeface="Arial"/>
                <a:cs typeface="Arial"/>
              </a:rPr>
              <a:t>are </a:t>
            </a:r>
            <a:r>
              <a:rPr dirty="0" sz="1100" spc="-5">
                <a:latin typeface="Arial"/>
                <a:cs typeface="Arial"/>
              </a:rPr>
              <a:t>possible. Because of these relationships,  development policy needs to focus on income, health, and education simultaneously. People  will spend more on human capital when income is higher. But the evidence shows clearly that  even if we were able to raise incomes without a large improvement in health and education, we  could not count on that income increase being used to adequately invest in children’s education  and health. The market will not solve this problem automatically, and in many cases, household  consumption choices themselves may lead to a surprisingly small link between income and  nutrition, especially for</a:t>
            </a:r>
            <a:r>
              <a:rPr dirty="0" sz="1100" spc="10">
                <a:latin typeface="Arial"/>
                <a:cs typeface="Arial"/>
              </a:rPr>
              <a:t> </a:t>
            </a:r>
            <a:r>
              <a:rPr dirty="0" sz="1100" spc="-5">
                <a:latin typeface="Arial"/>
                <a:cs typeface="Arial"/>
              </a:rPr>
              <a:t>children.</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There is considerable evidence that the better the education of the mother, the better the health  of her children. Usually, formal education is needed in complementary relationship with ongoing  access to current information. Paul Glewwe found in an analysis of data from Morocco that a  mother’s basic health knowledge had a positive effect on her children’s health. Several  mechanisms were possible, such as that “formal education directly teaches health knowledge to  future mothers; literacy and numeracy skills acquired in school assist future mothers in  diagnosing and treating child health problems; and exposure to modern society from formal  schooling makes women more receptive to modern medical treatments.” But, Glewwe  concludes, “Mother’s health knowledge alone appears to be the crucial skill for raising child  health.</a:t>
            </a:r>
            <a:endParaRPr sz="1100">
              <a:latin typeface="Arial"/>
              <a:cs typeface="Arial"/>
            </a:endParaRPr>
          </a:p>
        </p:txBody>
      </p:sp>
      <p:sp>
        <p:nvSpPr>
          <p:cNvPr id="8" name="object 8"/>
          <p:cNvSpPr/>
          <p:nvPr/>
        </p:nvSpPr>
        <p:spPr>
          <a:xfrm>
            <a:off x="933450" y="1712214"/>
            <a:ext cx="5934456" cy="304800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96</a:t>
            </a:r>
            <a:endParaRPr sz="1100">
              <a:latin typeface="Carlito"/>
              <a:cs typeface="Carlito"/>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37414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Finally, there are other important spillover benefits to investment in one’s health or education.  An educated person provides benefits to people around him or her, </a:t>
            </a:r>
            <a:r>
              <a:rPr dirty="0" sz="1100">
                <a:latin typeface="Arial"/>
                <a:cs typeface="Arial"/>
              </a:rPr>
              <a:t>such </a:t>
            </a:r>
            <a:r>
              <a:rPr dirty="0" sz="1100" spc="-5">
                <a:latin typeface="Arial"/>
                <a:cs typeface="Arial"/>
              </a:rPr>
              <a:t>as reading for them </a:t>
            </a:r>
            <a:r>
              <a:rPr dirty="0" sz="1100">
                <a:latin typeface="Arial"/>
                <a:cs typeface="Arial"/>
              </a:rPr>
              <a:t>or  </a:t>
            </a:r>
            <a:r>
              <a:rPr dirty="0" sz="1100" spc="-5">
                <a:latin typeface="Arial"/>
                <a:cs typeface="Arial"/>
              </a:rPr>
              <a:t>coming up with innovations that benefit the community. As a result, there are significant market  failures in education. Moreover, a healthy person is not only less contagious but can also benefit  the community in </a:t>
            </a:r>
            <a:r>
              <a:rPr dirty="0" sz="1100">
                <a:latin typeface="Arial"/>
                <a:cs typeface="Arial"/>
              </a:rPr>
              <a:t>many </a:t>
            </a:r>
            <a:r>
              <a:rPr dirty="0" sz="1100" spc="-5">
                <a:latin typeface="Arial"/>
                <a:cs typeface="Arial"/>
              </a:rPr>
              <a:t>ways that a sick person cannot. Because of such spillover effects, the  market cannot be counted on to deliver the socially efficient levels of health and education.  Thus, as the World Health Organization (WHO) concluded, “Ultimate responsibility for the  performance of a country’s health system lies with</a:t>
            </a:r>
            <a:r>
              <a:rPr dirty="0" sz="1100" spc="45">
                <a:latin typeface="Arial"/>
                <a:cs typeface="Arial"/>
              </a:rPr>
              <a:t> </a:t>
            </a:r>
            <a:r>
              <a:rPr dirty="0" sz="1100" spc="-5">
                <a:latin typeface="Arial"/>
                <a:cs typeface="Arial"/>
              </a:rPr>
              <a:t>government.</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INVESTING IN EDUCATION AND HEALTH: THE HUMAN CAPITAL</a:t>
            </a:r>
            <a:r>
              <a:rPr dirty="0" sz="1100" spc="65" b="1">
                <a:latin typeface="Arial"/>
                <a:cs typeface="Arial"/>
              </a:rPr>
              <a:t> </a:t>
            </a:r>
            <a:r>
              <a:rPr dirty="0" sz="1100" spc="-5" b="1">
                <a:latin typeface="Arial"/>
                <a:cs typeface="Arial"/>
              </a:rPr>
              <a:t>APPROACH</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The analysis of investments in health and education is unified in the human capital approach.  </a:t>
            </a:r>
            <a:r>
              <a:rPr dirty="0" sz="1100" spc="-5" b="1" i="1">
                <a:latin typeface="Arial"/>
                <a:cs typeface="Arial"/>
              </a:rPr>
              <a:t>Human capital </a:t>
            </a:r>
            <a:r>
              <a:rPr dirty="0" sz="1100" spc="-5">
                <a:latin typeface="Arial"/>
                <a:cs typeface="Arial"/>
              </a:rPr>
              <a:t>is the term economists often use for education, health, and other human  capacities that can raise productivity when increased. </a:t>
            </a:r>
            <a:r>
              <a:rPr dirty="0" sz="1100" spc="-10">
                <a:latin typeface="Arial"/>
                <a:cs typeface="Arial"/>
              </a:rPr>
              <a:t>An </a:t>
            </a:r>
            <a:r>
              <a:rPr dirty="0" sz="1100" spc="-5">
                <a:latin typeface="Arial"/>
                <a:cs typeface="Arial"/>
              </a:rPr>
              <a:t>analogy is made to conventional  investments in physical capital: After an initial investment </a:t>
            </a:r>
            <a:r>
              <a:rPr dirty="0" sz="1100">
                <a:latin typeface="Arial"/>
                <a:cs typeface="Arial"/>
              </a:rPr>
              <a:t>is </a:t>
            </a:r>
            <a:r>
              <a:rPr dirty="0" sz="1100" spc="-5">
                <a:latin typeface="Arial"/>
                <a:cs typeface="Arial"/>
              </a:rPr>
              <a:t>made, </a:t>
            </a:r>
            <a:r>
              <a:rPr dirty="0" sz="1100" spc="-5" b="1">
                <a:latin typeface="Arial"/>
                <a:cs typeface="Arial"/>
              </a:rPr>
              <a:t>a stream of higher future  income can be generated </a:t>
            </a:r>
            <a:r>
              <a:rPr dirty="0" sz="1100" spc="-5">
                <a:latin typeface="Arial"/>
                <a:cs typeface="Arial"/>
              </a:rPr>
              <a:t>from both expansion of education and improvements in health. As a  result, a rate of return </a:t>
            </a:r>
            <a:r>
              <a:rPr dirty="0" sz="1100">
                <a:latin typeface="Arial"/>
                <a:cs typeface="Arial"/>
              </a:rPr>
              <a:t>can </a:t>
            </a:r>
            <a:r>
              <a:rPr dirty="0" sz="1100" spc="-5">
                <a:latin typeface="Arial"/>
                <a:cs typeface="Arial"/>
              </a:rPr>
              <a:t>be deduced and compared with returns to </a:t>
            </a:r>
            <a:r>
              <a:rPr dirty="0" sz="1100">
                <a:latin typeface="Arial"/>
                <a:cs typeface="Arial"/>
              </a:rPr>
              <a:t>other </a:t>
            </a:r>
            <a:r>
              <a:rPr dirty="0" sz="1100" spc="-5">
                <a:latin typeface="Arial"/>
                <a:cs typeface="Arial"/>
              </a:rPr>
              <a:t>investments. This is  done by estimating the present discounted value of the increased income stream </a:t>
            </a:r>
            <a:r>
              <a:rPr dirty="0" sz="1100">
                <a:latin typeface="Arial"/>
                <a:cs typeface="Arial"/>
              </a:rPr>
              <a:t>made </a:t>
            </a:r>
            <a:r>
              <a:rPr dirty="0" sz="1100" spc="-5">
                <a:latin typeface="Arial"/>
                <a:cs typeface="Arial"/>
              </a:rPr>
              <a:t>possible  by these investments and then comparing it with their direct and indirect costs. Of course, health  and education also contribute directly to well-being. But the basic human capital approach  focuses on their indirect ability to increase well-being by increasing incomes. In this section, we  will generally illustrate points with educational investments, but the same principles apply to  health investments.</a:t>
            </a:r>
            <a:endParaRPr sz="1100">
              <a:latin typeface="Arial"/>
              <a:cs typeface="Arial"/>
            </a:endParaRPr>
          </a:p>
        </p:txBody>
      </p:sp>
      <p:sp>
        <p:nvSpPr>
          <p:cNvPr id="7" name="object 7"/>
          <p:cNvSpPr txBox="1"/>
          <p:nvPr/>
        </p:nvSpPr>
        <p:spPr>
          <a:xfrm>
            <a:off x="901700" y="7760437"/>
            <a:ext cx="5969635" cy="11569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impact of human capital investments in developing countries can be quite substantial.  Figure 8.1 shows the age-earnings profiles by levels of education in Venezuela. The chart  shows how incomes vary over the </a:t>
            </a:r>
            <a:r>
              <a:rPr dirty="0" sz="1100">
                <a:latin typeface="Arial"/>
                <a:cs typeface="Arial"/>
              </a:rPr>
              <a:t>life </a:t>
            </a:r>
            <a:r>
              <a:rPr dirty="0" sz="1100" spc="-5">
                <a:latin typeface="Arial"/>
                <a:cs typeface="Arial"/>
              </a:rPr>
              <a:t>cycle for people with various levels of education. Note  that those with higher levels of education start full-time work at a later age, but as the graph  shows, their incomes quickly outpace those who started working earlier. But such future income  gains from education must be compared with the total costs incurred to understand the value of  human</a:t>
            </a:r>
            <a:r>
              <a:rPr dirty="0" sz="1100" spc="25">
                <a:latin typeface="Arial"/>
                <a:cs typeface="Arial"/>
              </a:rPr>
              <a:t> </a:t>
            </a:r>
            <a:r>
              <a:rPr dirty="0" sz="1100" spc="-5">
                <a:latin typeface="Arial"/>
                <a:cs typeface="Arial"/>
              </a:rPr>
              <a:t>capital</a:t>
            </a:r>
            <a:r>
              <a:rPr dirty="0" sz="1100" spc="25">
                <a:latin typeface="Arial"/>
                <a:cs typeface="Arial"/>
              </a:rPr>
              <a:t> </a:t>
            </a:r>
            <a:r>
              <a:rPr dirty="0" sz="1100" spc="-5">
                <a:latin typeface="Arial"/>
                <a:cs typeface="Arial"/>
              </a:rPr>
              <a:t>as</a:t>
            </a:r>
            <a:r>
              <a:rPr dirty="0" sz="1100" spc="25">
                <a:latin typeface="Arial"/>
                <a:cs typeface="Arial"/>
              </a:rPr>
              <a:t> </a:t>
            </a:r>
            <a:r>
              <a:rPr dirty="0" sz="1100" spc="-5">
                <a:latin typeface="Arial"/>
                <a:cs typeface="Arial"/>
              </a:rPr>
              <a:t>an</a:t>
            </a:r>
            <a:r>
              <a:rPr dirty="0" sz="1100" spc="20">
                <a:latin typeface="Arial"/>
                <a:cs typeface="Arial"/>
              </a:rPr>
              <a:t> </a:t>
            </a:r>
            <a:r>
              <a:rPr dirty="0" sz="1100" spc="-5">
                <a:latin typeface="Arial"/>
                <a:cs typeface="Arial"/>
              </a:rPr>
              <a:t>investment.</a:t>
            </a:r>
            <a:r>
              <a:rPr dirty="0" sz="1100" spc="25">
                <a:latin typeface="Arial"/>
                <a:cs typeface="Arial"/>
              </a:rPr>
              <a:t> </a:t>
            </a:r>
            <a:r>
              <a:rPr dirty="0" sz="1100" spc="-5">
                <a:latin typeface="Arial"/>
                <a:cs typeface="Arial"/>
              </a:rPr>
              <a:t>Education</a:t>
            </a:r>
            <a:r>
              <a:rPr dirty="0" sz="1100" spc="25">
                <a:latin typeface="Arial"/>
                <a:cs typeface="Arial"/>
              </a:rPr>
              <a:t> </a:t>
            </a:r>
            <a:r>
              <a:rPr dirty="0" sz="1100" spc="-5">
                <a:latin typeface="Arial"/>
                <a:cs typeface="Arial"/>
              </a:rPr>
              <a:t>costs</a:t>
            </a:r>
            <a:r>
              <a:rPr dirty="0" sz="1100" spc="30">
                <a:latin typeface="Arial"/>
                <a:cs typeface="Arial"/>
              </a:rPr>
              <a:t> </a:t>
            </a:r>
            <a:r>
              <a:rPr dirty="0" sz="1100" spc="-5">
                <a:latin typeface="Arial"/>
                <a:cs typeface="Arial"/>
              </a:rPr>
              <a:t>include</a:t>
            </a:r>
            <a:r>
              <a:rPr dirty="0" sz="1100" spc="25">
                <a:latin typeface="Arial"/>
                <a:cs typeface="Arial"/>
              </a:rPr>
              <a:t> </a:t>
            </a:r>
            <a:r>
              <a:rPr dirty="0" sz="1100" spc="-5">
                <a:latin typeface="Arial"/>
                <a:cs typeface="Arial"/>
              </a:rPr>
              <a:t>any</a:t>
            </a:r>
            <a:r>
              <a:rPr dirty="0" sz="1100" spc="25">
                <a:latin typeface="Arial"/>
                <a:cs typeface="Arial"/>
              </a:rPr>
              <a:t> </a:t>
            </a:r>
            <a:r>
              <a:rPr dirty="0" sz="1100" spc="-5">
                <a:latin typeface="Arial"/>
                <a:cs typeface="Arial"/>
              </a:rPr>
              <a:t>direct</a:t>
            </a:r>
            <a:r>
              <a:rPr dirty="0" sz="1100" spc="25">
                <a:latin typeface="Arial"/>
                <a:cs typeface="Arial"/>
              </a:rPr>
              <a:t> </a:t>
            </a:r>
            <a:r>
              <a:rPr dirty="0" sz="1100" spc="-5">
                <a:latin typeface="Arial"/>
                <a:cs typeface="Arial"/>
              </a:rPr>
              <a:t>tuition</a:t>
            </a:r>
            <a:r>
              <a:rPr dirty="0" sz="1100" spc="25">
                <a:latin typeface="Arial"/>
                <a:cs typeface="Arial"/>
              </a:rPr>
              <a:t> </a:t>
            </a:r>
            <a:r>
              <a:rPr dirty="0" sz="1100" spc="-5">
                <a:latin typeface="Arial"/>
                <a:cs typeface="Arial"/>
              </a:rPr>
              <a:t>or</a:t>
            </a:r>
            <a:r>
              <a:rPr dirty="0" sz="1100" spc="25">
                <a:latin typeface="Arial"/>
                <a:cs typeface="Arial"/>
              </a:rPr>
              <a:t> </a:t>
            </a:r>
            <a:r>
              <a:rPr dirty="0" sz="1100" spc="-5">
                <a:latin typeface="Arial"/>
                <a:cs typeface="Arial"/>
              </a:rPr>
              <a:t>other</a:t>
            </a:r>
            <a:r>
              <a:rPr dirty="0" sz="1100" spc="25">
                <a:latin typeface="Arial"/>
                <a:cs typeface="Arial"/>
              </a:rPr>
              <a:t> </a:t>
            </a:r>
            <a:r>
              <a:rPr dirty="0" sz="1100" spc="-5">
                <a:latin typeface="Arial"/>
                <a:cs typeface="Arial"/>
              </a:rPr>
              <a:t>expenditures</a:t>
            </a:r>
            <a:endParaRPr sz="1100">
              <a:latin typeface="Arial"/>
              <a:cs typeface="Arial"/>
            </a:endParaRPr>
          </a:p>
        </p:txBody>
      </p:sp>
      <p:sp>
        <p:nvSpPr>
          <p:cNvPr id="8" name="object 8"/>
          <p:cNvSpPr/>
          <p:nvPr/>
        </p:nvSpPr>
        <p:spPr>
          <a:xfrm>
            <a:off x="2025395" y="4742688"/>
            <a:ext cx="3910583" cy="287883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97</a:t>
            </a:r>
            <a:endParaRPr sz="1100">
              <a:latin typeface="Carlito"/>
              <a:cs typeface="Carlito"/>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835660"/>
          </a:xfrm>
          <a:prstGeom prst="rect">
            <a:avLst/>
          </a:prstGeom>
        </p:spPr>
        <p:txBody>
          <a:bodyPr wrap="square" lIns="0" tIns="22860" rIns="0" bIns="0" rtlCol="0" vert="horz">
            <a:spAutoFit/>
          </a:bodyPr>
          <a:lstStyle/>
          <a:p>
            <a:pPr marL="12700" marR="5715">
              <a:lnSpc>
                <a:spcPts val="1270"/>
              </a:lnSpc>
              <a:spcBef>
                <a:spcPts val="180"/>
              </a:spcBef>
            </a:pPr>
            <a:r>
              <a:rPr dirty="0" sz="1100" spc="-5">
                <a:latin typeface="Arial"/>
                <a:cs typeface="Arial"/>
              </a:rPr>
              <a:t>specifically related to education, such as books and required school uniforms, and indirect  costs, primarily income forgone because the student could not work while in</a:t>
            </a:r>
            <a:r>
              <a:rPr dirty="0" sz="1100" spc="110">
                <a:latin typeface="Arial"/>
                <a:cs typeface="Arial"/>
              </a:rPr>
              <a:t> </a:t>
            </a:r>
            <a:r>
              <a:rPr dirty="0" sz="1100" spc="-5">
                <a:latin typeface="Arial"/>
                <a:cs typeface="Arial"/>
              </a:rPr>
              <a:t>school.</a:t>
            </a:r>
            <a:endParaRPr sz="1100">
              <a:latin typeface="Arial"/>
              <a:cs typeface="Arial"/>
            </a:endParaRPr>
          </a:p>
          <a:p>
            <a:pPr marL="12700">
              <a:lnSpc>
                <a:spcPts val="1200"/>
              </a:lnSpc>
            </a:pPr>
            <a:r>
              <a:rPr dirty="0" sz="1100" spc="-5">
                <a:latin typeface="Arial"/>
                <a:cs typeface="Arial"/>
              </a:rPr>
              <a:t>Formally,</a:t>
            </a:r>
            <a:r>
              <a:rPr dirty="0" sz="1100" spc="30">
                <a:latin typeface="Arial"/>
                <a:cs typeface="Arial"/>
              </a:rPr>
              <a:t> </a:t>
            </a:r>
            <a:r>
              <a:rPr dirty="0" sz="1100" spc="-5">
                <a:latin typeface="Arial"/>
                <a:cs typeface="Arial"/>
              </a:rPr>
              <a:t>the</a:t>
            </a:r>
            <a:r>
              <a:rPr dirty="0" sz="1100" spc="30">
                <a:latin typeface="Arial"/>
                <a:cs typeface="Arial"/>
              </a:rPr>
              <a:t> </a:t>
            </a:r>
            <a:r>
              <a:rPr dirty="0" sz="1100" spc="-5">
                <a:latin typeface="Arial"/>
                <a:cs typeface="Arial"/>
              </a:rPr>
              <a:t>income</a:t>
            </a:r>
            <a:r>
              <a:rPr dirty="0" sz="1100" spc="30">
                <a:latin typeface="Arial"/>
                <a:cs typeface="Arial"/>
              </a:rPr>
              <a:t> </a:t>
            </a:r>
            <a:r>
              <a:rPr dirty="0" sz="1100" spc="-5">
                <a:latin typeface="Arial"/>
                <a:cs typeface="Arial"/>
              </a:rPr>
              <a:t>gains</a:t>
            </a:r>
            <a:r>
              <a:rPr dirty="0" sz="1100" spc="25">
                <a:latin typeface="Arial"/>
                <a:cs typeface="Arial"/>
              </a:rPr>
              <a:t> </a:t>
            </a:r>
            <a:r>
              <a:rPr dirty="0" sz="1100" spc="-5">
                <a:latin typeface="Arial"/>
                <a:cs typeface="Arial"/>
              </a:rPr>
              <a:t>can</a:t>
            </a:r>
            <a:r>
              <a:rPr dirty="0" sz="1100" spc="25">
                <a:latin typeface="Arial"/>
                <a:cs typeface="Arial"/>
              </a:rPr>
              <a:t> </a:t>
            </a:r>
            <a:r>
              <a:rPr dirty="0" sz="1100" spc="-5">
                <a:latin typeface="Arial"/>
                <a:cs typeface="Arial"/>
              </a:rPr>
              <a:t>be</a:t>
            </a:r>
            <a:r>
              <a:rPr dirty="0" sz="1100" spc="20">
                <a:latin typeface="Arial"/>
                <a:cs typeface="Arial"/>
              </a:rPr>
              <a:t> </a:t>
            </a:r>
            <a:r>
              <a:rPr dirty="0" sz="1100" spc="-5">
                <a:latin typeface="Arial"/>
                <a:cs typeface="Arial"/>
              </a:rPr>
              <a:t>written</a:t>
            </a:r>
            <a:r>
              <a:rPr dirty="0" sz="1100" spc="30">
                <a:latin typeface="Arial"/>
                <a:cs typeface="Arial"/>
              </a:rPr>
              <a:t> </a:t>
            </a:r>
            <a:r>
              <a:rPr dirty="0" sz="1100" spc="-5">
                <a:latin typeface="Arial"/>
                <a:cs typeface="Arial"/>
              </a:rPr>
              <a:t>as</a:t>
            </a:r>
            <a:r>
              <a:rPr dirty="0" sz="1100" spc="25">
                <a:latin typeface="Arial"/>
                <a:cs typeface="Arial"/>
              </a:rPr>
              <a:t> </a:t>
            </a:r>
            <a:r>
              <a:rPr dirty="0" sz="1100" spc="-5">
                <a:latin typeface="Arial"/>
                <a:cs typeface="Arial"/>
              </a:rPr>
              <a:t>follows,</a:t>
            </a:r>
            <a:r>
              <a:rPr dirty="0" sz="1100" spc="25">
                <a:latin typeface="Arial"/>
                <a:cs typeface="Arial"/>
              </a:rPr>
              <a:t> </a:t>
            </a:r>
            <a:r>
              <a:rPr dirty="0" sz="1100" spc="-5">
                <a:latin typeface="Arial"/>
                <a:cs typeface="Arial"/>
              </a:rPr>
              <a:t>where</a:t>
            </a:r>
            <a:r>
              <a:rPr dirty="0" sz="1100" spc="30">
                <a:latin typeface="Arial"/>
                <a:cs typeface="Arial"/>
              </a:rPr>
              <a:t> </a:t>
            </a:r>
            <a:r>
              <a:rPr dirty="0" sz="1100" spc="-5" i="1">
                <a:latin typeface="Arial"/>
                <a:cs typeface="Arial"/>
              </a:rPr>
              <a:t>E</a:t>
            </a:r>
            <a:r>
              <a:rPr dirty="0" sz="1100" spc="25" i="1">
                <a:latin typeface="Arial"/>
                <a:cs typeface="Arial"/>
              </a:rPr>
              <a:t> </a:t>
            </a:r>
            <a:r>
              <a:rPr dirty="0" sz="1100" spc="-5">
                <a:latin typeface="Arial"/>
                <a:cs typeface="Arial"/>
              </a:rPr>
              <a:t>is</a:t>
            </a:r>
            <a:r>
              <a:rPr dirty="0" sz="1100" spc="30">
                <a:latin typeface="Arial"/>
                <a:cs typeface="Arial"/>
              </a:rPr>
              <a:t> </a:t>
            </a:r>
            <a:r>
              <a:rPr dirty="0" sz="1100" spc="-5">
                <a:latin typeface="Arial"/>
                <a:cs typeface="Arial"/>
              </a:rPr>
              <a:t>income</a:t>
            </a:r>
            <a:r>
              <a:rPr dirty="0" sz="1100" spc="25">
                <a:latin typeface="Arial"/>
                <a:cs typeface="Arial"/>
              </a:rPr>
              <a:t> </a:t>
            </a:r>
            <a:r>
              <a:rPr dirty="0" sz="1100" spc="-5">
                <a:latin typeface="Arial"/>
                <a:cs typeface="Arial"/>
              </a:rPr>
              <a:t>with</a:t>
            </a:r>
            <a:r>
              <a:rPr dirty="0" sz="1100" spc="30">
                <a:latin typeface="Arial"/>
                <a:cs typeface="Arial"/>
              </a:rPr>
              <a:t> </a:t>
            </a:r>
            <a:r>
              <a:rPr dirty="0" sz="1100" spc="-5">
                <a:latin typeface="Arial"/>
                <a:cs typeface="Arial"/>
              </a:rPr>
              <a:t>extra</a:t>
            </a:r>
            <a:r>
              <a:rPr dirty="0" sz="1100" spc="25">
                <a:latin typeface="Arial"/>
                <a:cs typeface="Arial"/>
              </a:rPr>
              <a:t> </a:t>
            </a:r>
            <a:r>
              <a:rPr dirty="0" sz="1100" spc="-5">
                <a:latin typeface="Arial"/>
                <a:cs typeface="Arial"/>
              </a:rPr>
              <a:t>education,</a:t>
            </a:r>
            <a:r>
              <a:rPr dirty="0" sz="1100" spc="35">
                <a:latin typeface="Arial"/>
                <a:cs typeface="Arial"/>
              </a:rPr>
              <a:t> </a:t>
            </a:r>
            <a:r>
              <a:rPr dirty="0" sz="1100" spc="-5" i="1">
                <a:latin typeface="Arial"/>
                <a:cs typeface="Arial"/>
              </a:rPr>
              <a:t>N</a:t>
            </a:r>
            <a:endParaRPr sz="1100">
              <a:latin typeface="Arial"/>
              <a:cs typeface="Arial"/>
            </a:endParaRPr>
          </a:p>
          <a:p>
            <a:pPr marL="12700" marR="5080">
              <a:lnSpc>
                <a:spcPts val="1270"/>
              </a:lnSpc>
              <a:spcBef>
                <a:spcPts val="55"/>
              </a:spcBef>
            </a:pPr>
            <a:r>
              <a:rPr dirty="0" sz="1100" spc="-5">
                <a:latin typeface="Arial"/>
                <a:cs typeface="Arial"/>
              </a:rPr>
              <a:t>is income without extra education, </a:t>
            </a:r>
            <a:r>
              <a:rPr dirty="0" sz="1100" spc="-5" i="1">
                <a:latin typeface="Arial"/>
                <a:cs typeface="Arial"/>
              </a:rPr>
              <a:t>t </a:t>
            </a:r>
            <a:r>
              <a:rPr dirty="0" sz="1100" spc="-5">
                <a:latin typeface="Arial"/>
                <a:cs typeface="Arial"/>
              </a:rPr>
              <a:t>is year, </a:t>
            </a:r>
            <a:r>
              <a:rPr dirty="0" sz="1100" spc="-5" i="1">
                <a:latin typeface="Arial"/>
                <a:cs typeface="Arial"/>
              </a:rPr>
              <a:t>i </a:t>
            </a:r>
            <a:r>
              <a:rPr dirty="0" sz="1100" spc="-5">
                <a:latin typeface="Arial"/>
                <a:cs typeface="Arial"/>
              </a:rPr>
              <a:t>is the </a:t>
            </a:r>
            <a:r>
              <a:rPr dirty="0" sz="1100" spc="-5" b="1">
                <a:latin typeface="Arial"/>
                <a:cs typeface="Arial"/>
              </a:rPr>
              <a:t>discount rate</a:t>
            </a:r>
            <a:r>
              <a:rPr dirty="0" sz="1100" spc="-5">
                <a:latin typeface="Arial"/>
                <a:cs typeface="Arial"/>
              </a:rPr>
              <a:t>, and the summation is over  expected </a:t>
            </a:r>
            <a:r>
              <a:rPr dirty="0" sz="1100">
                <a:latin typeface="Arial"/>
                <a:cs typeface="Arial"/>
              </a:rPr>
              <a:t>years </a:t>
            </a:r>
            <a:r>
              <a:rPr dirty="0" sz="1100" spc="-5">
                <a:latin typeface="Arial"/>
                <a:cs typeface="Arial"/>
              </a:rPr>
              <a:t>of working</a:t>
            </a:r>
            <a:r>
              <a:rPr dirty="0" sz="1100" spc="5">
                <a:latin typeface="Arial"/>
                <a:cs typeface="Arial"/>
              </a:rPr>
              <a:t> </a:t>
            </a:r>
            <a:r>
              <a:rPr dirty="0" sz="1100" spc="-5">
                <a:latin typeface="Arial"/>
                <a:cs typeface="Arial"/>
              </a:rPr>
              <a:t>life:</a:t>
            </a:r>
            <a:endParaRPr sz="1100">
              <a:latin typeface="Arial"/>
              <a:cs typeface="Arial"/>
            </a:endParaRPr>
          </a:p>
        </p:txBody>
      </p:sp>
      <p:sp>
        <p:nvSpPr>
          <p:cNvPr id="7" name="object 7"/>
          <p:cNvSpPr/>
          <p:nvPr/>
        </p:nvSpPr>
        <p:spPr>
          <a:xfrm>
            <a:off x="914400" y="1878329"/>
            <a:ext cx="848106" cy="495300"/>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901681" y="2521711"/>
            <a:ext cx="5970270" cy="5975350"/>
          </a:xfrm>
          <a:prstGeom prst="rect">
            <a:avLst/>
          </a:prstGeom>
        </p:spPr>
        <p:txBody>
          <a:bodyPr wrap="square" lIns="0" tIns="24130" rIns="0" bIns="0" rtlCol="0" vert="horz">
            <a:spAutoFit/>
          </a:bodyPr>
          <a:lstStyle/>
          <a:p>
            <a:pPr marL="469900" marR="5080" indent="-228600">
              <a:lnSpc>
                <a:spcPts val="1260"/>
              </a:lnSpc>
              <a:spcBef>
                <a:spcPts val="190"/>
              </a:spcBef>
              <a:buFont typeface="Symbol"/>
              <a:buChar char=""/>
              <a:tabLst>
                <a:tab pos="469265" algn="l"/>
                <a:tab pos="469900" algn="l"/>
              </a:tabLst>
            </a:pPr>
            <a:r>
              <a:rPr dirty="0" sz="1100" spc="-5" b="1">
                <a:latin typeface="Arial"/>
                <a:cs typeface="Arial"/>
              </a:rPr>
              <a:t>Discount rate: </a:t>
            </a:r>
            <a:r>
              <a:rPr dirty="0" sz="1100" spc="-5">
                <a:latin typeface="Arial"/>
                <a:cs typeface="Arial"/>
              </a:rPr>
              <a:t>In present value calculations, the annual rate at which future values are  decreased to make them comparable to values in the</a:t>
            </a:r>
            <a:r>
              <a:rPr dirty="0" sz="1100" spc="55">
                <a:latin typeface="Arial"/>
                <a:cs typeface="Arial"/>
              </a:rPr>
              <a:t> </a:t>
            </a:r>
            <a:r>
              <a:rPr dirty="0" sz="1100" spc="-5">
                <a:latin typeface="Arial"/>
                <a:cs typeface="Arial"/>
              </a:rPr>
              <a:t>present.</a:t>
            </a:r>
            <a:endParaRPr sz="1100">
              <a:latin typeface="Arial"/>
              <a:cs typeface="Arial"/>
            </a:endParaRPr>
          </a:p>
          <a:p>
            <a:pPr>
              <a:lnSpc>
                <a:spcPct val="100000"/>
              </a:lnSpc>
              <a:spcBef>
                <a:spcPts val="25"/>
              </a:spcBef>
            </a:pPr>
            <a:endParaRPr sz="1050">
              <a:latin typeface="Arial"/>
              <a:cs typeface="Arial"/>
            </a:endParaRPr>
          </a:p>
          <a:p>
            <a:pPr algn="just" marL="12700" marR="6985">
              <a:lnSpc>
                <a:spcPct val="95700"/>
              </a:lnSpc>
              <a:spcBef>
                <a:spcPts val="5"/>
              </a:spcBef>
            </a:pPr>
            <a:r>
              <a:rPr dirty="0" sz="1100" spc="-5">
                <a:latin typeface="Arial"/>
                <a:cs typeface="Arial"/>
              </a:rPr>
              <a:t>An analogous formula applies to health (such as improved nutritional status), with the direct and  indirect cost of resources devoted to health compared with the extra income gained in the future  as a result of higher health</a:t>
            </a:r>
            <a:r>
              <a:rPr dirty="0" sz="1100" spc="25">
                <a:latin typeface="Arial"/>
                <a:cs typeface="Arial"/>
              </a:rPr>
              <a:t> </a:t>
            </a:r>
            <a:r>
              <a:rPr dirty="0" sz="1100" spc="-5">
                <a:latin typeface="Arial"/>
                <a:cs typeface="Arial"/>
              </a:rPr>
              <a:t>status.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b="1">
                <a:latin typeface="Arial"/>
                <a:cs typeface="Arial"/>
              </a:rPr>
              <a:t>Figure 8.2 </a:t>
            </a:r>
            <a:r>
              <a:rPr dirty="0" sz="1100" spc="-5">
                <a:latin typeface="Arial"/>
                <a:cs typeface="Arial"/>
              </a:rPr>
              <a:t>provide a typical schematic representation of the trade-offs involved in the decision  to continue in school. It is assumed that the individual works from the </a:t>
            </a:r>
            <a:r>
              <a:rPr dirty="0" sz="1100">
                <a:latin typeface="Arial"/>
                <a:cs typeface="Arial"/>
              </a:rPr>
              <a:t>time </a:t>
            </a:r>
            <a:r>
              <a:rPr dirty="0" sz="1100" spc="-5">
                <a:latin typeface="Arial"/>
                <a:cs typeface="Arial"/>
              </a:rPr>
              <a:t>he or she finishes  school until he or she is unable to work, retires, or dies. This is taken to be 66 years. Two  earnings profiles are</a:t>
            </a:r>
            <a:r>
              <a:rPr dirty="0" sz="1100" spc="75">
                <a:latin typeface="Arial"/>
                <a:cs typeface="Arial"/>
              </a:rPr>
              <a:t> </a:t>
            </a:r>
            <a:r>
              <a:rPr dirty="0" sz="1100" spc="-5">
                <a:latin typeface="Arial"/>
                <a:cs typeface="Arial"/>
              </a:rPr>
              <a:t>presented—for</a:t>
            </a:r>
            <a:endParaRPr sz="1100">
              <a:latin typeface="Arial"/>
              <a:cs typeface="Arial"/>
            </a:endParaRPr>
          </a:p>
          <a:p>
            <a:pPr algn="just" marL="12700" marR="3215005">
              <a:lnSpc>
                <a:spcPct val="95800"/>
              </a:lnSpc>
            </a:pPr>
            <a:r>
              <a:rPr dirty="0" sz="1100" spc="-5">
                <a:latin typeface="Arial"/>
                <a:cs typeface="Arial"/>
              </a:rPr>
              <a:t>workers with primary school but no  secondary education and for those with a  full secondary (but no higher) education.  Primary graduates are assumed to begin  work at age 13, secondary graduates at</a:t>
            </a:r>
            <a:r>
              <a:rPr dirty="0" sz="1100" spc="90">
                <a:latin typeface="Arial"/>
                <a:cs typeface="Arial"/>
              </a:rPr>
              <a:t> </a:t>
            </a:r>
            <a:r>
              <a:rPr dirty="0" sz="1100">
                <a:latin typeface="Arial"/>
                <a:cs typeface="Arial"/>
              </a:rPr>
              <a:t>age</a:t>
            </a:r>
            <a:endParaRPr sz="1100">
              <a:latin typeface="Arial"/>
              <a:cs typeface="Arial"/>
            </a:endParaRPr>
          </a:p>
          <a:p>
            <a:pPr algn="just" marL="12700" marR="3215005">
              <a:lnSpc>
                <a:spcPct val="95800"/>
              </a:lnSpc>
              <a:spcBef>
                <a:spcPts val="5"/>
              </a:spcBef>
            </a:pPr>
            <a:r>
              <a:rPr dirty="0" sz="1100" spc="-5">
                <a:latin typeface="Arial"/>
                <a:cs typeface="Arial"/>
              </a:rPr>
              <a:t>17. For an individual in a developing country  deciding whether to go on from primary to  secondary education, four years of income  are forgone. This is the indirect cost, as  labeled in the diagram. The child may work  part time, a possibility ignored here for  simplicity, but if so, only part of the indirect-  cost area applies. There is also a direct  cost, such as fees, school uniforms, books,  and other expenditures that would not have  been made if the individual had left school  at the end of the primary grades. Over </a:t>
            </a:r>
            <a:r>
              <a:rPr dirty="0" sz="1100">
                <a:latin typeface="Arial"/>
                <a:cs typeface="Arial"/>
              </a:rPr>
              <a:t>the  </a:t>
            </a:r>
            <a:r>
              <a:rPr dirty="0" sz="1100" spc="-5">
                <a:latin typeface="Arial"/>
                <a:cs typeface="Arial"/>
              </a:rPr>
              <a:t>rest of the person’s life, he or she makes  more money each year than </a:t>
            </a:r>
            <a:r>
              <a:rPr dirty="0" sz="1100">
                <a:latin typeface="Arial"/>
                <a:cs typeface="Arial"/>
              </a:rPr>
              <a:t>would </a:t>
            </a:r>
            <a:r>
              <a:rPr dirty="0" sz="1100" spc="-5">
                <a:latin typeface="Arial"/>
                <a:cs typeface="Arial"/>
              </a:rPr>
              <a:t>have  been earned with only a primary</a:t>
            </a:r>
            <a:r>
              <a:rPr dirty="0" sz="1100" spc="60">
                <a:latin typeface="Arial"/>
                <a:cs typeface="Arial"/>
              </a:rPr>
              <a:t> </a:t>
            </a:r>
            <a:r>
              <a:rPr dirty="0" sz="1100" spc="-5">
                <a:latin typeface="Arial"/>
                <a:cs typeface="Arial"/>
              </a:rPr>
              <a:t>education.</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This differential is labeled “Benefits” in the diagram. Before comparing costs with benefits, note  that a dollar today is worth more </a:t>
            </a:r>
            <a:r>
              <a:rPr dirty="0" sz="1100">
                <a:latin typeface="Arial"/>
                <a:cs typeface="Arial"/>
              </a:rPr>
              <a:t>to </a:t>
            </a:r>
            <a:r>
              <a:rPr dirty="0" sz="1100" spc="-5">
                <a:latin typeface="Arial"/>
                <a:cs typeface="Arial"/>
              </a:rPr>
              <a:t>an individual than a dollar in the future, so those future  income gains must be discounted accordingly, as is done in Equation 8.1. The rate of return will  be higher whenever the discount rate is lower, the direct or indirect costs are lower, or the  benefits are higher.</a:t>
            </a:r>
            <a:endParaRPr sz="1100">
              <a:latin typeface="Arial"/>
              <a:cs typeface="Arial"/>
            </a:endParaRPr>
          </a:p>
        </p:txBody>
      </p:sp>
      <p:sp>
        <p:nvSpPr>
          <p:cNvPr id="9" name="object 9"/>
          <p:cNvSpPr/>
          <p:nvPr/>
        </p:nvSpPr>
        <p:spPr>
          <a:xfrm>
            <a:off x="3810371" y="4200038"/>
            <a:ext cx="2890576" cy="3225297"/>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98</a:t>
            </a:r>
            <a:endParaRPr sz="1100">
              <a:latin typeface="Carlito"/>
              <a:cs typeface="Carlito"/>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196024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15</a:t>
            </a:r>
            <a:endParaRPr sz="1100">
              <a:latin typeface="Arial"/>
              <a:cs typeface="Arial"/>
            </a:endParaRPr>
          </a:p>
          <a:p>
            <a:pPr>
              <a:lnSpc>
                <a:spcPct val="100000"/>
              </a:lnSpc>
              <a:spcBef>
                <a:spcPts val="45"/>
              </a:spcBef>
            </a:pPr>
            <a:endParaRPr sz="1100">
              <a:latin typeface="Arial"/>
              <a:cs typeface="Arial"/>
            </a:endParaRPr>
          </a:p>
          <a:p>
            <a:pPr marL="2483485" marR="420370" indent="-2056764">
              <a:lnSpc>
                <a:spcPts val="1260"/>
              </a:lnSpc>
            </a:pPr>
            <a:r>
              <a:rPr dirty="0" sz="1100" spc="-10" b="1">
                <a:latin typeface="Arial"/>
                <a:cs typeface="Arial"/>
              </a:rPr>
              <a:t>HUMAN </a:t>
            </a:r>
            <a:r>
              <a:rPr dirty="0" sz="1100" spc="-5" b="1">
                <a:latin typeface="Arial"/>
                <a:cs typeface="Arial"/>
              </a:rPr>
              <a:t>CAPITAL: EDUCATION AND HEALTH IN ECONOMIC DEVELOPMENT  (CONTINUED1)</a:t>
            </a:r>
            <a:endParaRPr sz="1100">
              <a:latin typeface="Arial"/>
              <a:cs typeface="Arial"/>
            </a:endParaRPr>
          </a:p>
          <a:p>
            <a:pPr>
              <a:lnSpc>
                <a:spcPct val="100000"/>
              </a:lnSpc>
              <a:spcBef>
                <a:spcPts val="25"/>
              </a:spcBef>
            </a:pPr>
            <a:endParaRPr sz="1050">
              <a:latin typeface="Arial"/>
              <a:cs typeface="Arial"/>
            </a:endParaRPr>
          </a:p>
          <a:p>
            <a:pPr algn="just" marL="12700" marR="5080">
              <a:lnSpc>
                <a:spcPct val="95800"/>
              </a:lnSpc>
            </a:pPr>
            <a:r>
              <a:rPr dirty="0" sz="1100" spc="-5">
                <a:latin typeface="Arial"/>
                <a:cs typeface="Arial"/>
              </a:rPr>
              <a:t>This analysis was performed from </a:t>
            </a:r>
            <a:r>
              <a:rPr dirty="0" sz="1100">
                <a:latin typeface="Arial"/>
                <a:cs typeface="Arial"/>
              </a:rPr>
              <a:t>the </a:t>
            </a:r>
            <a:r>
              <a:rPr dirty="0" sz="1100" spc="-5">
                <a:latin typeface="Arial"/>
                <a:cs typeface="Arial"/>
              </a:rPr>
              <a:t>individual’s point of view in the three right-hand columns  of Table 8.1. Notice that in sub-Saharan Africa and Asia, the private rate of return to primary  education is about 40%! Despite this extraordinary return, </a:t>
            </a:r>
            <a:r>
              <a:rPr dirty="0" sz="1100">
                <a:latin typeface="Arial"/>
                <a:cs typeface="Arial"/>
              </a:rPr>
              <a:t>many </a:t>
            </a:r>
            <a:r>
              <a:rPr dirty="0" sz="1100" spc="-5">
                <a:latin typeface="Arial"/>
                <a:cs typeface="Arial"/>
              </a:rPr>
              <a:t>families do not make this  investment because they have no </a:t>
            </a:r>
            <a:r>
              <a:rPr dirty="0" sz="1100">
                <a:latin typeface="Arial"/>
                <a:cs typeface="Arial"/>
              </a:rPr>
              <a:t>ability </a:t>
            </a:r>
            <a:r>
              <a:rPr dirty="0" sz="1100" spc="-5">
                <a:latin typeface="Arial"/>
                <a:cs typeface="Arial"/>
              </a:rPr>
              <a:t>to borrow even </a:t>
            </a:r>
            <a:r>
              <a:rPr dirty="0" sz="1100">
                <a:latin typeface="Arial"/>
                <a:cs typeface="Arial"/>
              </a:rPr>
              <a:t>the </a:t>
            </a:r>
            <a:r>
              <a:rPr dirty="0" sz="1100" spc="-5">
                <a:latin typeface="Arial"/>
                <a:cs typeface="Arial"/>
              </a:rPr>
              <a:t>meager amount of money that a  working child can bring into the family—the topic of the next section. Note that the higher rates  of return for developing countries reflect that the income differential between those with more  and less schooling is greater on average than for the developed</a:t>
            </a:r>
            <a:r>
              <a:rPr dirty="0" sz="1100" spc="70">
                <a:latin typeface="Arial"/>
                <a:cs typeface="Arial"/>
              </a:rPr>
              <a:t> </a:t>
            </a:r>
            <a:r>
              <a:rPr dirty="0" sz="1100" spc="-5">
                <a:latin typeface="Arial"/>
                <a:cs typeface="Arial"/>
              </a:rPr>
              <a:t>countries.</a:t>
            </a:r>
            <a:endParaRPr sz="1100">
              <a:latin typeface="Arial"/>
              <a:cs typeface="Arial"/>
            </a:endParaRPr>
          </a:p>
        </p:txBody>
      </p:sp>
      <p:sp>
        <p:nvSpPr>
          <p:cNvPr id="7" name="object 7"/>
          <p:cNvSpPr txBox="1"/>
          <p:nvPr/>
        </p:nvSpPr>
        <p:spPr>
          <a:xfrm>
            <a:off x="901700" y="4666722"/>
            <a:ext cx="5970270" cy="438467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first three columns of Table 8.1 indicate the social rate of return. This is found by including  the amount of public subsidy for </a:t>
            </a:r>
            <a:r>
              <a:rPr dirty="0" sz="1100">
                <a:latin typeface="Arial"/>
                <a:cs typeface="Arial"/>
              </a:rPr>
              <a:t>the </a:t>
            </a:r>
            <a:r>
              <a:rPr dirty="0" sz="1100" spc="-5">
                <a:latin typeface="Arial"/>
                <a:cs typeface="Arial"/>
              </a:rPr>
              <a:t>individual’s education as part of </a:t>
            </a:r>
            <a:r>
              <a:rPr dirty="0" sz="1100">
                <a:latin typeface="Arial"/>
                <a:cs typeface="Arial"/>
              </a:rPr>
              <a:t>the </a:t>
            </a:r>
            <a:r>
              <a:rPr dirty="0" sz="1100" spc="-5">
                <a:latin typeface="Arial"/>
                <a:cs typeface="Arial"/>
              </a:rPr>
              <a:t>direct costs, because  this is part of the investment </a:t>
            </a:r>
            <a:r>
              <a:rPr dirty="0" sz="1100">
                <a:latin typeface="Arial"/>
                <a:cs typeface="Arial"/>
              </a:rPr>
              <a:t>from the </a:t>
            </a:r>
            <a:r>
              <a:rPr dirty="0" sz="1100" spc="-5">
                <a:latin typeface="Arial"/>
                <a:cs typeface="Arial"/>
              </a:rPr>
              <a:t>social point of view (and also by considering pretax </a:t>
            </a:r>
            <a:r>
              <a:rPr dirty="0" sz="1100">
                <a:latin typeface="Arial"/>
                <a:cs typeface="Arial"/>
              </a:rPr>
              <a:t>rather  </a:t>
            </a:r>
            <a:r>
              <a:rPr dirty="0" sz="1100" spc="-5">
                <a:latin typeface="Arial"/>
                <a:cs typeface="Arial"/>
              </a:rPr>
              <a:t>than after-tax incomes). It should be noted that these social returns are probably understated  because they do not </a:t>
            </a:r>
            <a:r>
              <a:rPr dirty="0" sz="1100">
                <a:latin typeface="Arial"/>
                <a:cs typeface="Arial"/>
              </a:rPr>
              <a:t>take </a:t>
            </a:r>
            <a:r>
              <a:rPr dirty="0" sz="1100" spc="-5">
                <a:latin typeface="Arial"/>
                <a:cs typeface="Arial"/>
              </a:rPr>
              <a:t>into account the externality </a:t>
            </a:r>
            <a:r>
              <a:rPr dirty="0" sz="1100">
                <a:latin typeface="Arial"/>
                <a:cs typeface="Arial"/>
              </a:rPr>
              <a:t>that </a:t>
            </a:r>
            <a:r>
              <a:rPr dirty="0" sz="1100" spc="-5">
                <a:latin typeface="Arial"/>
                <a:cs typeface="Arial"/>
              </a:rPr>
              <a:t>educated people confer on others  (e.g., being able to read for other family </a:t>
            </a:r>
            <a:r>
              <a:rPr dirty="0" sz="1100">
                <a:latin typeface="Arial"/>
                <a:cs typeface="Arial"/>
              </a:rPr>
              <a:t>members), </a:t>
            </a:r>
            <a:r>
              <a:rPr dirty="0" sz="1100" spc="-5">
                <a:latin typeface="Arial"/>
                <a:cs typeface="Arial"/>
              </a:rPr>
              <a:t>not to mention other individual and social  benefits such as increased autonomy and civic participation, as reflected in this chapter’s  opening quote from Amartya</a:t>
            </a:r>
            <a:r>
              <a:rPr dirty="0" sz="1100" spc="15">
                <a:latin typeface="Arial"/>
                <a:cs typeface="Arial"/>
              </a:rPr>
              <a:t> </a:t>
            </a:r>
            <a:r>
              <a:rPr dirty="0" sz="1100" spc="-5">
                <a:latin typeface="Arial"/>
                <a:cs typeface="Arial"/>
              </a:rPr>
              <a:t>Sen.</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CHILD</a:t>
            </a:r>
            <a:r>
              <a:rPr dirty="0" sz="1100" spc="-10" b="1">
                <a:latin typeface="Arial"/>
                <a:cs typeface="Arial"/>
              </a:rPr>
              <a:t> </a:t>
            </a:r>
            <a:r>
              <a:rPr dirty="0" sz="1100" spc="-5" b="1">
                <a:latin typeface="Arial"/>
                <a:cs typeface="Arial"/>
              </a:rPr>
              <a:t>LABOR</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Child labor is a widespread problem in developing countries. When children under age 15 work,  their labor time disrupts their schooling and in a majority of </a:t>
            </a:r>
            <a:r>
              <a:rPr dirty="0" sz="1100">
                <a:latin typeface="Arial"/>
                <a:cs typeface="Arial"/>
              </a:rPr>
              <a:t>cases </a:t>
            </a:r>
            <a:r>
              <a:rPr dirty="0" sz="1100" spc="-5">
                <a:latin typeface="Arial"/>
                <a:cs typeface="Arial"/>
              </a:rPr>
              <a:t>prevents them </a:t>
            </a:r>
            <a:r>
              <a:rPr dirty="0" sz="1100">
                <a:latin typeface="Arial"/>
                <a:cs typeface="Arial"/>
              </a:rPr>
              <a:t>from </a:t>
            </a:r>
            <a:r>
              <a:rPr dirty="0" sz="1100" spc="-5">
                <a:latin typeface="Arial"/>
                <a:cs typeface="Arial"/>
              </a:rPr>
              <a:t>attending  school altogether. Compounding this, the health of child workers is significantly worse, even  accounting for their poverty status, than that of children who do not work; physical stunting  among child laborers is very common. In addition, many laboring children are subject to  especially cruel and exploitative working</a:t>
            </a:r>
            <a:r>
              <a:rPr dirty="0" sz="1100" spc="25">
                <a:latin typeface="Arial"/>
                <a:cs typeface="Arial"/>
              </a:rPr>
              <a:t> </a:t>
            </a:r>
            <a:r>
              <a:rPr dirty="0" sz="1100" spc="-5">
                <a:latin typeface="Arial"/>
                <a:cs typeface="Arial"/>
              </a:rPr>
              <a:t>conditions.</a:t>
            </a:r>
            <a:endParaRPr sz="1100">
              <a:latin typeface="Arial"/>
              <a:cs typeface="Arial"/>
            </a:endParaRPr>
          </a:p>
          <a:p>
            <a:pPr>
              <a:lnSpc>
                <a:spcPct val="100000"/>
              </a:lnSpc>
            </a:pPr>
            <a:endParaRPr sz="1100">
              <a:latin typeface="Arial"/>
              <a:cs typeface="Arial"/>
            </a:endParaRPr>
          </a:p>
          <a:p>
            <a:pPr marL="12700" marR="5080">
              <a:lnSpc>
                <a:spcPct val="95900"/>
              </a:lnSpc>
            </a:pPr>
            <a:r>
              <a:rPr dirty="0" sz="1100" spc="-5">
                <a:latin typeface="Arial"/>
                <a:cs typeface="Arial"/>
              </a:rPr>
              <a:t>Working conditions are often horrendous; the ILO reports that some of its surveys show that  more than half of child laborers toil for nine or more hours per day. The worst forms of child  labor endanger health or well-being, involving hazards, sexual exploitation, trafficking, and debt  bondage. Every year, </a:t>
            </a:r>
            <a:r>
              <a:rPr dirty="0" sz="1100">
                <a:latin typeface="Arial"/>
                <a:cs typeface="Arial"/>
              </a:rPr>
              <a:t>about </a:t>
            </a:r>
            <a:r>
              <a:rPr dirty="0" sz="1100" spc="-5">
                <a:latin typeface="Arial"/>
                <a:cs typeface="Arial"/>
              </a:rPr>
              <a:t>20,000 children die as a result of work-related accidents. Clearly,  child labor is not an isolated problem but a widespread one, especially in Africa and South Asia.  Nevertheless, it is not obvious that an immediate ban on all forms of </a:t>
            </a:r>
            <a:r>
              <a:rPr dirty="0" sz="1100">
                <a:latin typeface="Arial"/>
                <a:cs typeface="Arial"/>
              </a:rPr>
              <a:t>child </a:t>
            </a:r>
            <a:r>
              <a:rPr dirty="0" sz="1100" spc="-5">
                <a:latin typeface="Arial"/>
                <a:cs typeface="Arial"/>
              </a:rPr>
              <a:t>labor is always in the  best interests of the child. Without work, a child may become severely malnourished; with </a:t>
            </a:r>
            <a:r>
              <a:rPr dirty="0" sz="1100">
                <a:latin typeface="Arial"/>
                <a:cs typeface="Arial"/>
              </a:rPr>
              <a:t>work,  </a:t>
            </a:r>
            <a:r>
              <a:rPr dirty="0" sz="1100" spc="-5">
                <a:latin typeface="Arial"/>
                <a:cs typeface="Arial"/>
              </a:rPr>
              <a:t>school fees as well as basic nutrition and health care </a:t>
            </a:r>
            <a:r>
              <a:rPr dirty="0" sz="1100">
                <a:latin typeface="Arial"/>
                <a:cs typeface="Arial"/>
              </a:rPr>
              <a:t>may </a:t>
            </a:r>
            <a:r>
              <a:rPr dirty="0" sz="1100" spc="-5">
                <a:latin typeface="Arial"/>
                <a:cs typeface="Arial"/>
              </a:rPr>
              <a:t>be available. But there </a:t>
            </a:r>
            <a:r>
              <a:rPr dirty="0" sz="1100">
                <a:latin typeface="Arial"/>
                <a:cs typeface="Arial"/>
              </a:rPr>
              <a:t>is </a:t>
            </a:r>
            <a:r>
              <a:rPr dirty="0" sz="1100" spc="-5">
                <a:latin typeface="Arial"/>
                <a:cs typeface="Arial"/>
              </a:rPr>
              <a:t>one set </a:t>
            </a:r>
            <a:r>
              <a:rPr dirty="0" sz="1100">
                <a:latin typeface="Arial"/>
                <a:cs typeface="Arial"/>
              </a:rPr>
              <a:t>of  </a:t>
            </a:r>
            <a:r>
              <a:rPr dirty="0" sz="1100" spc="-5">
                <a:latin typeface="Arial"/>
                <a:cs typeface="Arial"/>
              </a:rPr>
              <a:t>circumstances</a:t>
            </a:r>
            <a:r>
              <a:rPr dirty="0" sz="1100" spc="160">
                <a:latin typeface="Arial"/>
                <a:cs typeface="Arial"/>
              </a:rPr>
              <a:t> </a:t>
            </a:r>
            <a:r>
              <a:rPr dirty="0" sz="1100" spc="-5">
                <a:latin typeface="Arial"/>
                <a:cs typeface="Arial"/>
              </a:rPr>
              <a:t>under</a:t>
            </a:r>
            <a:r>
              <a:rPr dirty="0" sz="1100" spc="160">
                <a:latin typeface="Arial"/>
                <a:cs typeface="Arial"/>
              </a:rPr>
              <a:t> </a:t>
            </a:r>
            <a:r>
              <a:rPr dirty="0" sz="1100" spc="-5">
                <a:latin typeface="Arial"/>
                <a:cs typeface="Arial"/>
              </a:rPr>
              <a:t>which</a:t>
            </a:r>
            <a:r>
              <a:rPr dirty="0" sz="1100" spc="160">
                <a:latin typeface="Arial"/>
                <a:cs typeface="Arial"/>
              </a:rPr>
              <a:t> </a:t>
            </a:r>
            <a:r>
              <a:rPr dirty="0" sz="1100" spc="-5">
                <a:latin typeface="Arial"/>
                <a:cs typeface="Arial"/>
              </a:rPr>
              <a:t>both</a:t>
            </a:r>
            <a:r>
              <a:rPr dirty="0" sz="1100" spc="160">
                <a:latin typeface="Arial"/>
                <a:cs typeface="Arial"/>
              </a:rPr>
              <a:t> </a:t>
            </a:r>
            <a:r>
              <a:rPr dirty="0" sz="1100" spc="-5">
                <a:latin typeface="Arial"/>
                <a:cs typeface="Arial"/>
              </a:rPr>
              <a:t>the</a:t>
            </a:r>
            <a:r>
              <a:rPr dirty="0" sz="1100" spc="160">
                <a:latin typeface="Arial"/>
                <a:cs typeface="Arial"/>
              </a:rPr>
              <a:t> </a:t>
            </a:r>
            <a:r>
              <a:rPr dirty="0" sz="1100" spc="-5">
                <a:latin typeface="Arial"/>
                <a:cs typeface="Arial"/>
              </a:rPr>
              <a:t>child</a:t>
            </a:r>
            <a:r>
              <a:rPr dirty="0" sz="1100" spc="160">
                <a:latin typeface="Arial"/>
                <a:cs typeface="Arial"/>
              </a:rPr>
              <a:t> </a:t>
            </a:r>
            <a:r>
              <a:rPr dirty="0" sz="1100" spc="-5">
                <a:latin typeface="Arial"/>
                <a:cs typeface="Arial"/>
              </a:rPr>
              <a:t>laborer</a:t>
            </a:r>
            <a:r>
              <a:rPr dirty="0" sz="1100" spc="160">
                <a:latin typeface="Arial"/>
                <a:cs typeface="Arial"/>
              </a:rPr>
              <a:t> </a:t>
            </a:r>
            <a:r>
              <a:rPr dirty="0" sz="1100" spc="-5">
                <a:latin typeface="Arial"/>
                <a:cs typeface="Arial"/>
              </a:rPr>
              <a:t>and</a:t>
            </a:r>
            <a:r>
              <a:rPr dirty="0" sz="1100" spc="160">
                <a:latin typeface="Arial"/>
                <a:cs typeface="Arial"/>
              </a:rPr>
              <a:t> </a:t>
            </a:r>
            <a:r>
              <a:rPr dirty="0" sz="1100" spc="-5">
                <a:latin typeface="Arial"/>
                <a:cs typeface="Arial"/>
              </a:rPr>
              <a:t>the</a:t>
            </a:r>
            <a:r>
              <a:rPr dirty="0" sz="1100" spc="165">
                <a:latin typeface="Arial"/>
                <a:cs typeface="Arial"/>
              </a:rPr>
              <a:t> </a:t>
            </a:r>
            <a:r>
              <a:rPr dirty="0" sz="1100" spc="-5">
                <a:latin typeface="Arial"/>
                <a:cs typeface="Arial"/>
              </a:rPr>
              <a:t>family</a:t>
            </a:r>
            <a:r>
              <a:rPr dirty="0" sz="1100" spc="160">
                <a:latin typeface="Arial"/>
                <a:cs typeface="Arial"/>
              </a:rPr>
              <a:t> </a:t>
            </a:r>
            <a:r>
              <a:rPr dirty="0" sz="1100" spc="-5">
                <a:latin typeface="Arial"/>
                <a:cs typeface="Arial"/>
              </a:rPr>
              <a:t>as</a:t>
            </a:r>
            <a:r>
              <a:rPr dirty="0" sz="1100" spc="160">
                <a:latin typeface="Arial"/>
                <a:cs typeface="Arial"/>
              </a:rPr>
              <a:t> </a:t>
            </a:r>
            <a:r>
              <a:rPr dirty="0" sz="1100" spc="-5">
                <a:latin typeface="Arial"/>
                <a:cs typeface="Arial"/>
              </a:rPr>
              <a:t>a</a:t>
            </a:r>
            <a:r>
              <a:rPr dirty="0" sz="1100" spc="160">
                <a:latin typeface="Arial"/>
                <a:cs typeface="Arial"/>
              </a:rPr>
              <a:t> </a:t>
            </a:r>
            <a:r>
              <a:rPr dirty="0" sz="1100">
                <a:latin typeface="Arial"/>
                <a:cs typeface="Arial"/>
              </a:rPr>
              <a:t>whole</a:t>
            </a:r>
            <a:r>
              <a:rPr dirty="0" sz="1100" spc="155">
                <a:latin typeface="Arial"/>
                <a:cs typeface="Arial"/>
              </a:rPr>
              <a:t> </a:t>
            </a:r>
            <a:r>
              <a:rPr dirty="0" sz="1100" spc="-5">
                <a:latin typeface="Arial"/>
                <a:cs typeface="Arial"/>
              </a:rPr>
              <a:t>may</a:t>
            </a:r>
            <a:r>
              <a:rPr dirty="0" sz="1100" spc="160">
                <a:latin typeface="Arial"/>
                <a:cs typeface="Arial"/>
              </a:rPr>
              <a:t> </a:t>
            </a:r>
            <a:r>
              <a:rPr dirty="0" sz="1100" spc="-5">
                <a:latin typeface="Arial"/>
                <a:cs typeface="Arial"/>
              </a:rPr>
              <a:t>be</a:t>
            </a:r>
            <a:endParaRPr sz="1100">
              <a:latin typeface="Arial"/>
              <a:cs typeface="Arial"/>
            </a:endParaRPr>
          </a:p>
        </p:txBody>
      </p:sp>
      <p:sp>
        <p:nvSpPr>
          <p:cNvPr id="8" name="object 8"/>
          <p:cNvSpPr/>
          <p:nvPr/>
        </p:nvSpPr>
        <p:spPr>
          <a:xfrm>
            <a:off x="933450" y="2909316"/>
            <a:ext cx="5934456" cy="16192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78173" y="9275125"/>
            <a:ext cx="218440" cy="165100"/>
          </a:xfrm>
          <a:prstGeom prst="rect">
            <a:avLst/>
          </a:prstGeom>
        </p:spPr>
        <p:txBody>
          <a:bodyPr wrap="square" lIns="0" tIns="0" rIns="0" bIns="0" rtlCol="0" vert="horz">
            <a:spAutoFit/>
          </a:bodyPr>
          <a:lstStyle/>
          <a:p>
            <a:pPr marL="38100">
              <a:lnSpc>
                <a:spcPts val="1145"/>
              </a:lnSpc>
            </a:pPr>
            <a:r>
              <a:rPr dirty="0" sz="1100" spc="-5">
                <a:latin typeface="Carlito"/>
                <a:cs typeface="Carlito"/>
              </a:rPr>
              <a:t>99</a:t>
            </a:r>
            <a:endParaRPr sz="1100">
              <a:latin typeface="Carlito"/>
              <a:cs typeface="Carlito"/>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63586" y="891794"/>
            <a:ext cx="6096635" cy="3599815"/>
          </a:xfrm>
          <a:prstGeom prst="rect">
            <a:avLst/>
          </a:prstGeom>
        </p:spPr>
        <p:txBody>
          <a:bodyPr wrap="square" lIns="0" tIns="22860" rIns="0" bIns="0" rtlCol="0" vert="horz">
            <a:spAutoFit/>
          </a:bodyPr>
          <a:lstStyle/>
          <a:p>
            <a:pPr algn="just" marL="50800" marR="93345">
              <a:lnSpc>
                <a:spcPts val="1270"/>
              </a:lnSpc>
              <a:spcBef>
                <a:spcPts val="180"/>
              </a:spcBef>
            </a:pPr>
            <a:r>
              <a:rPr dirty="0" sz="1100" spc="-5">
                <a:latin typeface="Arial"/>
                <a:cs typeface="Arial"/>
              </a:rPr>
              <a:t>unambiguously better </a:t>
            </a:r>
            <a:r>
              <a:rPr dirty="0" sz="1100">
                <a:latin typeface="Arial"/>
                <a:cs typeface="Arial"/>
              </a:rPr>
              <a:t>off </a:t>
            </a:r>
            <a:r>
              <a:rPr dirty="0" sz="1100" spc="-5">
                <a:latin typeface="Arial"/>
                <a:cs typeface="Arial"/>
              </a:rPr>
              <a:t>with a </a:t>
            </a:r>
            <a:r>
              <a:rPr dirty="0" sz="1100">
                <a:latin typeface="Arial"/>
                <a:cs typeface="Arial"/>
              </a:rPr>
              <a:t>ban </a:t>
            </a:r>
            <a:r>
              <a:rPr dirty="0" sz="1100" spc="-5">
                <a:latin typeface="Arial"/>
                <a:cs typeface="Arial"/>
              </a:rPr>
              <a:t>on </a:t>
            </a:r>
            <a:r>
              <a:rPr dirty="0" sz="1100" spc="-5" b="1">
                <a:latin typeface="Arial"/>
                <a:cs typeface="Arial"/>
              </a:rPr>
              <a:t>child labor: multiple equilibria</a:t>
            </a:r>
            <a:r>
              <a:rPr dirty="0" sz="1100" spc="-5">
                <a:latin typeface="Arial"/>
                <a:cs typeface="Arial"/>
              </a:rPr>
              <a:t>. Kaushik Basuhas  provided such an analysis, and we shall first consider his simple model, which shows how this  </a:t>
            </a:r>
            <a:r>
              <a:rPr dirty="0" sz="1100" spc="-10">
                <a:latin typeface="Arial"/>
                <a:cs typeface="Arial"/>
              </a:rPr>
              <a:t>problem </a:t>
            </a:r>
            <a:r>
              <a:rPr dirty="0" sz="1100">
                <a:latin typeface="Arial"/>
                <a:cs typeface="Arial"/>
              </a:rPr>
              <a:t>may</a:t>
            </a:r>
            <a:r>
              <a:rPr dirty="0" sz="1100" spc="5">
                <a:latin typeface="Arial"/>
                <a:cs typeface="Arial"/>
              </a:rPr>
              <a:t> </a:t>
            </a:r>
            <a:r>
              <a:rPr dirty="0" sz="1100" spc="-10">
                <a:latin typeface="Arial"/>
                <a:cs typeface="Arial"/>
              </a:rPr>
              <a:t>arise.</a:t>
            </a:r>
            <a:endParaRPr sz="1100">
              <a:latin typeface="Arial"/>
              <a:cs typeface="Arial"/>
            </a:endParaRPr>
          </a:p>
          <a:p>
            <a:pPr>
              <a:lnSpc>
                <a:spcPct val="100000"/>
              </a:lnSpc>
              <a:spcBef>
                <a:spcPts val="20"/>
              </a:spcBef>
            </a:pPr>
            <a:endParaRPr sz="1000">
              <a:latin typeface="Arial"/>
              <a:cs typeface="Arial"/>
            </a:endParaRPr>
          </a:p>
          <a:p>
            <a:pPr algn="just" marL="50800">
              <a:lnSpc>
                <a:spcPct val="100000"/>
              </a:lnSpc>
            </a:pPr>
            <a:r>
              <a:rPr dirty="0" sz="1100" spc="-5" b="1">
                <a:latin typeface="Arial"/>
                <a:cs typeface="Arial"/>
              </a:rPr>
              <a:t>ASSUMPTIONS OF </a:t>
            </a:r>
            <a:r>
              <a:rPr dirty="0" sz="1100" b="1">
                <a:latin typeface="Arial"/>
                <a:cs typeface="Arial"/>
              </a:rPr>
              <a:t>THE </a:t>
            </a:r>
            <a:r>
              <a:rPr dirty="0" sz="1100" spc="-5" b="1">
                <a:latin typeface="Arial"/>
                <a:cs typeface="Arial"/>
              </a:rPr>
              <a:t>CHILD LABOR MULTIPLE EQUILIBRIA</a:t>
            </a:r>
            <a:r>
              <a:rPr dirty="0" sz="1100" spc="50" b="1">
                <a:latin typeface="Arial"/>
                <a:cs typeface="Arial"/>
              </a:rPr>
              <a:t> </a:t>
            </a:r>
            <a:r>
              <a:rPr dirty="0" sz="1100" spc="-5" b="1">
                <a:latin typeface="Arial"/>
                <a:cs typeface="Arial"/>
              </a:rPr>
              <a:t>MODEL</a:t>
            </a:r>
            <a:endParaRPr sz="1100">
              <a:latin typeface="Arial"/>
              <a:cs typeface="Arial"/>
            </a:endParaRPr>
          </a:p>
          <a:p>
            <a:pPr>
              <a:lnSpc>
                <a:spcPct val="100000"/>
              </a:lnSpc>
              <a:spcBef>
                <a:spcPts val="55"/>
              </a:spcBef>
            </a:pPr>
            <a:endParaRPr sz="1100">
              <a:latin typeface="Arial"/>
              <a:cs typeface="Arial"/>
            </a:endParaRPr>
          </a:p>
          <a:p>
            <a:pPr marL="50800">
              <a:lnSpc>
                <a:spcPct val="100000"/>
              </a:lnSpc>
            </a:pPr>
            <a:r>
              <a:rPr dirty="0" sz="1100" spc="-5">
                <a:latin typeface="Arial"/>
                <a:cs typeface="Arial"/>
              </a:rPr>
              <a:t>To model child labor, we make two important assumptions</a:t>
            </a:r>
            <a:r>
              <a:rPr dirty="0" sz="1100" spc="45">
                <a:latin typeface="Arial"/>
                <a:cs typeface="Arial"/>
              </a:rPr>
              <a:t> </a:t>
            </a:r>
            <a:r>
              <a:rPr dirty="0" sz="1100" spc="-5">
                <a:latin typeface="Arial"/>
                <a:cs typeface="Arial"/>
              </a:rPr>
              <a:t>i.e.</a:t>
            </a:r>
            <a:endParaRPr sz="1100">
              <a:latin typeface="Arial"/>
              <a:cs typeface="Arial"/>
            </a:endParaRPr>
          </a:p>
          <a:p>
            <a:pPr marL="508000" marR="94615" indent="-228600">
              <a:lnSpc>
                <a:spcPts val="1260"/>
              </a:lnSpc>
              <a:spcBef>
                <a:spcPts val="114"/>
              </a:spcBef>
              <a:buFont typeface="Symbol"/>
              <a:buChar char=""/>
              <a:tabLst>
                <a:tab pos="507365" algn="l"/>
                <a:tab pos="508000" algn="l"/>
              </a:tabLst>
            </a:pPr>
            <a:r>
              <a:rPr dirty="0" sz="1100" spc="-5" b="1">
                <a:latin typeface="Arial"/>
                <a:cs typeface="Arial"/>
              </a:rPr>
              <a:t>Luxury Axiom: </a:t>
            </a:r>
            <a:r>
              <a:rPr dirty="0" sz="1100" spc="-5">
                <a:latin typeface="Arial"/>
                <a:cs typeface="Arial"/>
              </a:rPr>
              <a:t>A household with sufficiently high income would not send its children to  work</a:t>
            </a:r>
            <a:endParaRPr sz="1100">
              <a:latin typeface="Arial"/>
              <a:cs typeface="Arial"/>
            </a:endParaRPr>
          </a:p>
          <a:p>
            <a:pPr marL="508000" marR="93980" indent="-228600">
              <a:lnSpc>
                <a:spcPts val="1260"/>
              </a:lnSpc>
              <a:spcBef>
                <a:spcPts val="85"/>
              </a:spcBef>
              <a:buFont typeface="Symbol"/>
              <a:buChar char=""/>
              <a:tabLst>
                <a:tab pos="507365" algn="l"/>
                <a:tab pos="508000" algn="l"/>
              </a:tabLst>
            </a:pPr>
            <a:r>
              <a:rPr dirty="0" sz="1100" spc="-5" b="1">
                <a:latin typeface="Arial"/>
                <a:cs typeface="Arial"/>
              </a:rPr>
              <a:t>Substitution Axiom: </a:t>
            </a:r>
            <a:r>
              <a:rPr dirty="0" sz="1100" spc="-5">
                <a:latin typeface="Arial"/>
                <a:cs typeface="Arial"/>
              </a:rPr>
              <a:t>Adult and child labor are substitutes (perfect substitutes in this  model),</a:t>
            </a:r>
            <a:r>
              <a:rPr dirty="0" sz="1100" spc="10">
                <a:latin typeface="Arial"/>
                <a:cs typeface="Arial"/>
              </a:rPr>
              <a:t> </a:t>
            </a:r>
            <a:r>
              <a:rPr dirty="0" sz="1100" spc="-5">
                <a:latin typeface="Arial"/>
                <a:cs typeface="Arial"/>
              </a:rPr>
              <a:t>in</a:t>
            </a:r>
            <a:r>
              <a:rPr dirty="0" sz="1100" spc="15">
                <a:latin typeface="Arial"/>
                <a:cs typeface="Arial"/>
              </a:rPr>
              <a:t> </a:t>
            </a:r>
            <a:r>
              <a:rPr dirty="0" sz="1100" spc="-5">
                <a:latin typeface="Arial"/>
                <a:cs typeface="Arial"/>
              </a:rPr>
              <a:t>which</a:t>
            </a:r>
            <a:r>
              <a:rPr dirty="0" sz="1100" spc="15">
                <a:latin typeface="Arial"/>
                <a:cs typeface="Arial"/>
              </a:rPr>
              <a:t> </a:t>
            </a:r>
            <a:r>
              <a:rPr dirty="0" sz="1100" spc="-5">
                <a:latin typeface="Arial"/>
                <a:cs typeface="Arial"/>
              </a:rPr>
              <a:t>the</a:t>
            </a:r>
            <a:r>
              <a:rPr dirty="0" sz="1100" spc="10">
                <a:latin typeface="Arial"/>
                <a:cs typeface="Arial"/>
              </a:rPr>
              <a:t> </a:t>
            </a:r>
            <a:r>
              <a:rPr dirty="0" sz="1100" spc="-5">
                <a:latin typeface="Arial"/>
                <a:cs typeface="Arial"/>
              </a:rPr>
              <a:t>quantity</a:t>
            </a:r>
            <a:r>
              <a:rPr dirty="0" sz="1100" spc="15">
                <a:latin typeface="Arial"/>
                <a:cs typeface="Arial"/>
              </a:rPr>
              <a:t> </a:t>
            </a:r>
            <a:r>
              <a:rPr dirty="0" sz="1100" spc="-5">
                <a:latin typeface="Arial"/>
                <a:cs typeface="Arial"/>
              </a:rPr>
              <a:t>of</a:t>
            </a:r>
            <a:r>
              <a:rPr dirty="0" sz="1100" spc="15">
                <a:latin typeface="Arial"/>
                <a:cs typeface="Arial"/>
              </a:rPr>
              <a:t> </a:t>
            </a:r>
            <a:r>
              <a:rPr dirty="0" sz="1100" spc="-5">
                <a:latin typeface="Arial"/>
                <a:cs typeface="Arial"/>
              </a:rPr>
              <a:t>output</a:t>
            </a:r>
            <a:r>
              <a:rPr dirty="0" sz="1100" spc="15">
                <a:latin typeface="Arial"/>
                <a:cs typeface="Arial"/>
              </a:rPr>
              <a:t> </a:t>
            </a:r>
            <a:r>
              <a:rPr dirty="0" sz="1100" spc="-5">
                <a:latin typeface="Arial"/>
                <a:cs typeface="Arial"/>
              </a:rPr>
              <a:t>by</a:t>
            </a:r>
            <a:r>
              <a:rPr dirty="0" sz="1100" spc="15">
                <a:latin typeface="Arial"/>
                <a:cs typeface="Arial"/>
              </a:rPr>
              <a:t> </a:t>
            </a:r>
            <a:r>
              <a:rPr dirty="0" sz="1100" spc="-5">
                <a:latin typeface="Arial"/>
                <a:cs typeface="Arial"/>
              </a:rPr>
              <a:t>a</a:t>
            </a:r>
            <a:r>
              <a:rPr dirty="0" sz="1100" spc="15">
                <a:latin typeface="Arial"/>
                <a:cs typeface="Arial"/>
              </a:rPr>
              <a:t> </a:t>
            </a:r>
            <a:r>
              <a:rPr dirty="0" sz="1100" spc="-5">
                <a:latin typeface="Arial"/>
                <a:cs typeface="Arial"/>
              </a:rPr>
              <a:t>child</a:t>
            </a:r>
            <a:r>
              <a:rPr dirty="0" sz="1100" spc="10">
                <a:latin typeface="Arial"/>
                <a:cs typeface="Arial"/>
              </a:rPr>
              <a:t> </a:t>
            </a:r>
            <a:r>
              <a:rPr dirty="0" sz="1100" spc="-5">
                <a:latin typeface="Arial"/>
                <a:cs typeface="Arial"/>
              </a:rPr>
              <a:t>is</a:t>
            </a:r>
            <a:r>
              <a:rPr dirty="0" sz="1100" spc="15">
                <a:latin typeface="Arial"/>
                <a:cs typeface="Arial"/>
              </a:rPr>
              <a:t> </a:t>
            </a:r>
            <a:r>
              <a:rPr dirty="0" sz="1100" spc="-5">
                <a:latin typeface="Arial"/>
                <a:cs typeface="Arial"/>
              </a:rPr>
              <a:t>a</a:t>
            </a:r>
            <a:r>
              <a:rPr dirty="0" sz="1100" spc="5">
                <a:latin typeface="Arial"/>
                <a:cs typeface="Arial"/>
              </a:rPr>
              <a:t> </a:t>
            </a:r>
            <a:r>
              <a:rPr dirty="0" sz="1100" spc="-5">
                <a:latin typeface="Arial"/>
                <a:cs typeface="Arial"/>
              </a:rPr>
              <a:t>given</a:t>
            </a:r>
            <a:r>
              <a:rPr dirty="0" sz="1100" spc="15">
                <a:latin typeface="Arial"/>
                <a:cs typeface="Arial"/>
              </a:rPr>
              <a:t> </a:t>
            </a:r>
            <a:r>
              <a:rPr dirty="0" sz="1100" spc="-5">
                <a:latin typeface="Arial"/>
                <a:cs typeface="Arial"/>
              </a:rPr>
              <a:t>fraction</a:t>
            </a:r>
            <a:r>
              <a:rPr dirty="0" sz="1100" spc="15">
                <a:latin typeface="Arial"/>
                <a:cs typeface="Arial"/>
              </a:rPr>
              <a:t> </a:t>
            </a:r>
            <a:r>
              <a:rPr dirty="0" sz="1100" spc="-5">
                <a:latin typeface="Arial"/>
                <a:cs typeface="Arial"/>
              </a:rPr>
              <a:t>of</a:t>
            </a:r>
            <a:r>
              <a:rPr dirty="0" sz="1100" spc="10">
                <a:latin typeface="Arial"/>
                <a:cs typeface="Arial"/>
              </a:rPr>
              <a:t> </a:t>
            </a:r>
            <a:r>
              <a:rPr dirty="0" sz="1100" spc="-5">
                <a:latin typeface="Arial"/>
                <a:cs typeface="Arial"/>
              </a:rPr>
              <a:t>that</a:t>
            </a:r>
            <a:r>
              <a:rPr dirty="0" sz="1100" spc="15">
                <a:latin typeface="Arial"/>
                <a:cs typeface="Arial"/>
              </a:rPr>
              <a:t> </a:t>
            </a:r>
            <a:r>
              <a:rPr dirty="0" sz="1100" spc="-5">
                <a:latin typeface="Arial"/>
                <a:cs typeface="Arial"/>
              </a:rPr>
              <a:t>of</a:t>
            </a:r>
            <a:r>
              <a:rPr dirty="0" sz="1100" spc="15">
                <a:latin typeface="Arial"/>
                <a:cs typeface="Arial"/>
              </a:rPr>
              <a:t> </a:t>
            </a:r>
            <a:r>
              <a:rPr dirty="0" sz="1100" spc="-5">
                <a:latin typeface="Arial"/>
                <a:cs typeface="Arial"/>
              </a:rPr>
              <a:t>an</a:t>
            </a:r>
            <a:r>
              <a:rPr dirty="0" sz="1100" spc="10">
                <a:latin typeface="Arial"/>
                <a:cs typeface="Arial"/>
              </a:rPr>
              <a:t> </a:t>
            </a:r>
            <a:r>
              <a:rPr dirty="0" sz="1100" spc="-5">
                <a:latin typeface="Arial"/>
                <a:cs typeface="Arial"/>
              </a:rPr>
              <a:t>adult:</a:t>
            </a:r>
            <a:r>
              <a:rPr dirty="0" sz="1100" spc="10">
                <a:latin typeface="Arial"/>
                <a:cs typeface="Arial"/>
              </a:rPr>
              <a:t> </a:t>
            </a:r>
            <a:r>
              <a:rPr dirty="0" sz="1100">
                <a:latin typeface="Arial"/>
                <a:cs typeface="Arial"/>
              </a:rPr>
              <a:t>Q</a:t>
            </a:r>
            <a:r>
              <a:rPr dirty="0" baseline="39682" sz="1050">
                <a:latin typeface="Arial"/>
                <a:cs typeface="Arial"/>
              </a:rPr>
              <a:t>C</a:t>
            </a:r>
            <a:endParaRPr baseline="39682" sz="1050">
              <a:latin typeface="Arial"/>
              <a:cs typeface="Arial"/>
            </a:endParaRPr>
          </a:p>
          <a:p>
            <a:pPr marL="508000">
              <a:lnSpc>
                <a:spcPts val="1235"/>
              </a:lnSpc>
            </a:pPr>
            <a:r>
              <a:rPr dirty="0" sz="1100" spc="-5">
                <a:latin typeface="Arial"/>
                <a:cs typeface="Arial"/>
              </a:rPr>
              <a:t>= γQ</a:t>
            </a:r>
            <a:r>
              <a:rPr dirty="0" baseline="39682" sz="1050" spc="-7">
                <a:latin typeface="Arial"/>
                <a:cs typeface="Arial"/>
              </a:rPr>
              <a:t>A</a:t>
            </a:r>
            <a:r>
              <a:rPr dirty="0" sz="1100" spc="-5">
                <a:latin typeface="Arial"/>
                <a:cs typeface="Arial"/>
              </a:rPr>
              <a:t>, 0 &lt; γ &lt;</a:t>
            </a:r>
            <a:r>
              <a:rPr dirty="0" sz="1100" spc="15">
                <a:latin typeface="Arial"/>
                <a:cs typeface="Arial"/>
              </a:rPr>
              <a:t> </a:t>
            </a:r>
            <a:r>
              <a:rPr dirty="0" sz="1100" spc="-5">
                <a:latin typeface="Arial"/>
                <a:cs typeface="Arial"/>
              </a:rPr>
              <a:t>1.</a:t>
            </a:r>
            <a:endParaRPr sz="1100">
              <a:latin typeface="Arial"/>
              <a:cs typeface="Arial"/>
            </a:endParaRPr>
          </a:p>
          <a:p>
            <a:pPr>
              <a:lnSpc>
                <a:spcPct val="100000"/>
              </a:lnSpc>
              <a:spcBef>
                <a:spcPts val="25"/>
              </a:spcBef>
            </a:pPr>
            <a:endParaRPr sz="1100">
              <a:latin typeface="Arial"/>
              <a:cs typeface="Arial"/>
            </a:endParaRPr>
          </a:p>
          <a:p>
            <a:pPr algn="just" marL="50800" marR="93345">
              <a:lnSpc>
                <a:spcPts val="1270"/>
              </a:lnSpc>
            </a:pPr>
            <a:r>
              <a:rPr dirty="0" sz="1100" spc="-5">
                <a:latin typeface="Arial"/>
                <a:cs typeface="Arial"/>
              </a:rPr>
              <a:t>It is important to emphasize this, because one rationalization for child labor often </a:t>
            </a:r>
            <a:r>
              <a:rPr dirty="0" sz="1100">
                <a:latin typeface="Arial"/>
                <a:cs typeface="Arial"/>
              </a:rPr>
              <a:t>heard </a:t>
            </a:r>
            <a:r>
              <a:rPr dirty="0" sz="1100" spc="-5">
                <a:latin typeface="Arial"/>
                <a:cs typeface="Arial"/>
              </a:rPr>
              <a:t>is that  children have special productive abilities, such as small fingers, that make them important </a:t>
            </a:r>
            <a:r>
              <a:rPr dirty="0" sz="1100">
                <a:latin typeface="Arial"/>
                <a:cs typeface="Arial"/>
              </a:rPr>
              <a:t>for  </a:t>
            </a:r>
            <a:r>
              <a:rPr dirty="0" sz="1100" spc="-5">
                <a:latin typeface="Arial"/>
                <a:cs typeface="Arial"/>
              </a:rPr>
              <a:t>the production of rugs and other products. However, </a:t>
            </a:r>
            <a:r>
              <a:rPr dirty="0" sz="1100">
                <a:latin typeface="Arial"/>
                <a:cs typeface="Arial"/>
              </a:rPr>
              <a:t>there </a:t>
            </a:r>
            <a:r>
              <a:rPr dirty="0" sz="1100" spc="-5">
                <a:latin typeface="Arial"/>
                <a:cs typeface="Arial"/>
              </a:rPr>
              <a:t>is no support for </a:t>
            </a:r>
            <a:r>
              <a:rPr dirty="0" sz="1100">
                <a:latin typeface="Arial"/>
                <a:cs typeface="Arial"/>
              </a:rPr>
              <a:t>this </a:t>
            </a:r>
            <a:r>
              <a:rPr dirty="0" sz="1100" spc="-5">
                <a:latin typeface="Arial"/>
                <a:cs typeface="Arial"/>
              </a:rPr>
              <a:t>view. In  essentially every task that has been studied, including carpet weaving, adult laborers are  significantly more productive. As a result, we can consider the supply of adult and child labor  together in an economic analysis of the</a:t>
            </a:r>
            <a:r>
              <a:rPr dirty="0" sz="1100" spc="25">
                <a:latin typeface="Arial"/>
                <a:cs typeface="Arial"/>
              </a:rPr>
              <a:t> </a:t>
            </a:r>
            <a:r>
              <a:rPr dirty="0" sz="1100" spc="-5">
                <a:latin typeface="Arial"/>
                <a:cs typeface="Arial"/>
              </a:rPr>
              <a:t>problem.</a:t>
            </a:r>
            <a:endParaRPr sz="1100">
              <a:latin typeface="Arial"/>
              <a:cs typeface="Arial"/>
            </a:endParaRPr>
          </a:p>
          <a:p>
            <a:pPr>
              <a:lnSpc>
                <a:spcPct val="100000"/>
              </a:lnSpc>
              <a:spcBef>
                <a:spcPts val="30"/>
              </a:spcBef>
            </a:pPr>
            <a:endParaRPr sz="1050">
              <a:latin typeface="Arial"/>
              <a:cs typeface="Arial"/>
            </a:endParaRPr>
          </a:p>
          <a:p>
            <a:pPr algn="just" marL="50165" marR="94615">
              <a:lnSpc>
                <a:spcPts val="1270"/>
              </a:lnSpc>
            </a:pPr>
            <a:r>
              <a:rPr dirty="0" sz="1100" spc="-5">
                <a:latin typeface="Arial"/>
                <a:cs typeface="Arial"/>
              </a:rPr>
              <a:t>The child labor model is graphed in Figure 8.3. On the </a:t>
            </a:r>
            <a:r>
              <a:rPr dirty="0" sz="1100" spc="-5" i="1">
                <a:latin typeface="Arial"/>
                <a:cs typeface="Arial"/>
              </a:rPr>
              <a:t>x</a:t>
            </a:r>
            <a:r>
              <a:rPr dirty="0" sz="1100" spc="-5">
                <a:latin typeface="Arial"/>
                <a:cs typeface="Arial"/>
              </a:rPr>
              <a:t>-axis, we have the supply of labor in  adult</a:t>
            </a:r>
            <a:r>
              <a:rPr dirty="0" sz="1100" spc="180">
                <a:latin typeface="Arial"/>
                <a:cs typeface="Arial"/>
              </a:rPr>
              <a:t> </a:t>
            </a:r>
            <a:r>
              <a:rPr dirty="0" sz="1100" spc="-5">
                <a:latin typeface="Arial"/>
                <a:cs typeface="Arial"/>
              </a:rPr>
              <a:t>equivalents.</a:t>
            </a:r>
            <a:r>
              <a:rPr dirty="0" sz="1100" spc="180">
                <a:latin typeface="Arial"/>
                <a:cs typeface="Arial"/>
              </a:rPr>
              <a:t> </a:t>
            </a:r>
            <a:r>
              <a:rPr dirty="0" sz="1100" spc="-5">
                <a:latin typeface="Arial"/>
                <a:cs typeface="Arial"/>
              </a:rPr>
              <a:t>Because</a:t>
            </a:r>
            <a:r>
              <a:rPr dirty="0" sz="1100" spc="180">
                <a:latin typeface="Arial"/>
                <a:cs typeface="Arial"/>
              </a:rPr>
              <a:t> </a:t>
            </a:r>
            <a:r>
              <a:rPr dirty="0" sz="1100" spc="-5">
                <a:latin typeface="Arial"/>
                <a:cs typeface="Arial"/>
              </a:rPr>
              <a:t>we</a:t>
            </a:r>
            <a:r>
              <a:rPr dirty="0" sz="1100" spc="180">
                <a:latin typeface="Arial"/>
                <a:cs typeface="Arial"/>
              </a:rPr>
              <a:t> </a:t>
            </a:r>
            <a:r>
              <a:rPr dirty="0" sz="1100" spc="-5">
                <a:latin typeface="Arial"/>
                <a:cs typeface="Arial"/>
              </a:rPr>
              <a:t>are</a:t>
            </a:r>
            <a:r>
              <a:rPr dirty="0" sz="1100" spc="175">
                <a:latin typeface="Arial"/>
                <a:cs typeface="Arial"/>
              </a:rPr>
              <a:t> </a:t>
            </a:r>
            <a:r>
              <a:rPr dirty="0" sz="1100" spc="-5">
                <a:latin typeface="Arial"/>
                <a:cs typeface="Arial"/>
              </a:rPr>
              <a:t>interested</a:t>
            </a:r>
            <a:r>
              <a:rPr dirty="0" sz="1100" spc="175">
                <a:latin typeface="Arial"/>
                <a:cs typeface="Arial"/>
              </a:rPr>
              <a:t> </a:t>
            </a:r>
            <a:r>
              <a:rPr dirty="0" sz="1100" spc="-5">
                <a:latin typeface="Arial"/>
                <a:cs typeface="Arial"/>
              </a:rPr>
              <a:t>in</a:t>
            </a:r>
            <a:r>
              <a:rPr dirty="0" sz="1100" spc="180">
                <a:latin typeface="Arial"/>
                <a:cs typeface="Arial"/>
              </a:rPr>
              <a:t> </a:t>
            </a:r>
            <a:r>
              <a:rPr dirty="0" sz="1100" spc="-5">
                <a:latin typeface="Arial"/>
                <a:cs typeface="Arial"/>
              </a:rPr>
              <a:t>understanding</a:t>
            </a:r>
            <a:r>
              <a:rPr dirty="0" sz="1100" spc="180">
                <a:latin typeface="Arial"/>
                <a:cs typeface="Arial"/>
              </a:rPr>
              <a:t> </a:t>
            </a:r>
            <a:r>
              <a:rPr dirty="0" sz="1100" spc="-5">
                <a:latin typeface="Arial"/>
                <a:cs typeface="Arial"/>
              </a:rPr>
              <a:t>the</a:t>
            </a:r>
            <a:r>
              <a:rPr dirty="0" sz="1100" spc="175">
                <a:latin typeface="Arial"/>
                <a:cs typeface="Arial"/>
              </a:rPr>
              <a:t> </a:t>
            </a:r>
            <a:r>
              <a:rPr dirty="0" sz="1100" spc="-5">
                <a:latin typeface="Arial"/>
                <a:cs typeface="Arial"/>
              </a:rPr>
              <a:t>impact</a:t>
            </a:r>
            <a:r>
              <a:rPr dirty="0" sz="1100" spc="180">
                <a:latin typeface="Arial"/>
                <a:cs typeface="Arial"/>
              </a:rPr>
              <a:t> </a:t>
            </a:r>
            <a:r>
              <a:rPr dirty="0" sz="1100" spc="-5">
                <a:latin typeface="Arial"/>
                <a:cs typeface="Arial"/>
              </a:rPr>
              <a:t>of</a:t>
            </a:r>
            <a:r>
              <a:rPr dirty="0" sz="1100" spc="180">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demand</a:t>
            </a:r>
            <a:r>
              <a:rPr dirty="0" sz="1100" spc="180">
                <a:latin typeface="Arial"/>
                <a:cs typeface="Arial"/>
              </a:rPr>
              <a:t> </a:t>
            </a:r>
            <a:r>
              <a:rPr dirty="0" sz="1100" spc="-5">
                <a:latin typeface="Arial"/>
                <a:cs typeface="Arial"/>
              </a:rPr>
              <a:t>for</a:t>
            </a:r>
            <a:endParaRPr sz="1100">
              <a:latin typeface="Arial"/>
              <a:cs typeface="Arial"/>
            </a:endParaRPr>
          </a:p>
        </p:txBody>
      </p:sp>
      <p:sp>
        <p:nvSpPr>
          <p:cNvPr id="7" name="object 7"/>
          <p:cNvSpPr txBox="1"/>
          <p:nvPr/>
        </p:nvSpPr>
        <p:spPr>
          <a:xfrm>
            <a:off x="901685" y="8406617"/>
            <a:ext cx="5967730" cy="706755"/>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labor,</a:t>
            </a:r>
            <a:r>
              <a:rPr dirty="0" sz="1100" spc="220">
                <a:latin typeface="Arial"/>
                <a:cs typeface="Arial"/>
              </a:rPr>
              <a:t> </a:t>
            </a:r>
            <a:r>
              <a:rPr dirty="0" sz="1100" spc="-5">
                <a:latin typeface="Arial"/>
                <a:cs typeface="Arial"/>
              </a:rPr>
              <a:t>in</a:t>
            </a:r>
            <a:r>
              <a:rPr dirty="0" sz="1100" spc="220">
                <a:latin typeface="Arial"/>
                <a:cs typeface="Arial"/>
              </a:rPr>
              <a:t> </a:t>
            </a:r>
            <a:r>
              <a:rPr dirty="0" sz="1100" spc="-5">
                <a:latin typeface="Arial"/>
                <a:cs typeface="Arial"/>
              </a:rPr>
              <a:t>a</a:t>
            </a:r>
            <a:r>
              <a:rPr dirty="0" sz="1100" spc="225">
                <a:latin typeface="Arial"/>
                <a:cs typeface="Arial"/>
              </a:rPr>
              <a:t> </a:t>
            </a:r>
            <a:r>
              <a:rPr dirty="0" sz="1100" spc="-5">
                <a:latin typeface="Arial"/>
                <a:cs typeface="Arial"/>
              </a:rPr>
              <a:t>graph</a:t>
            </a:r>
            <a:r>
              <a:rPr dirty="0" sz="1100" spc="220">
                <a:latin typeface="Arial"/>
                <a:cs typeface="Arial"/>
              </a:rPr>
              <a:t> </a:t>
            </a:r>
            <a:r>
              <a:rPr dirty="0" sz="1100" spc="-5">
                <a:latin typeface="Arial"/>
                <a:cs typeface="Arial"/>
              </a:rPr>
              <a:t>it</a:t>
            </a:r>
            <a:r>
              <a:rPr dirty="0" sz="1100" spc="220">
                <a:latin typeface="Arial"/>
                <a:cs typeface="Arial"/>
              </a:rPr>
              <a:t> </a:t>
            </a:r>
            <a:r>
              <a:rPr dirty="0" sz="1100" spc="-5">
                <a:latin typeface="Arial"/>
                <a:cs typeface="Arial"/>
              </a:rPr>
              <a:t>is</a:t>
            </a:r>
            <a:r>
              <a:rPr dirty="0" sz="1100" spc="225">
                <a:latin typeface="Arial"/>
                <a:cs typeface="Arial"/>
              </a:rPr>
              <a:t> </a:t>
            </a:r>
            <a:r>
              <a:rPr dirty="0" sz="1100" spc="-5">
                <a:latin typeface="Arial"/>
                <a:cs typeface="Arial"/>
              </a:rPr>
              <a:t>best</a:t>
            </a:r>
            <a:r>
              <a:rPr dirty="0" sz="1100" spc="220">
                <a:latin typeface="Arial"/>
                <a:cs typeface="Arial"/>
              </a:rPr>
              <a:t> </a:t>
            </a:r>
            <a:r>
              <a:rPr dirty="0" sz="1100" spc="-5">
                <a:latin typeface="Arial"/>
                <a:cs typeface="Arial"/>
              </a:rPr>
              <a:t>to</a:t>
            </a:r>
            <a:r>
              <a:rPr dirty="0" sz="1100" spc="220">
                <a:latin typeface="Arial"/>
                <a:cs typeface="Arial"/>
              </a:rPr>
              <a:t> </a:t>
            </a:r>
            <a:r>
              <a:rPr dirty="0" sz="1100" spc="-5">
                <a:latin typeface="Arial"/>
                <a:cs typeface="Arial"/>
              </a:rPr>
              <a:t>consider</a:t>
            </a:r>
            <a:r>
              <a:rPr dirty="0" sz="1100" spc="225">
                <a:latin typeface="Arial"/>
                <a:cs typeface="Arial"/>
              </a:rPr>
              <a:t> </a:t>
            </a:r>
            <a:r>
              <a:rPr dirty="0" sz="1100" spc="-5">
                <a:latin typeface="Arial"/>
                <a:cs typeface="Arial"/>
              </a:rPr>
              <a:t>homogeneous</a:t>
            </a:r>
            <a:r>
              <a:rPr dirty="0" sz="1100" spc="220">
                <a:latin typeface="Arial"/>
                <a:cs typeface="Arial"/>
              </a:rPr>
              <a:t> </a:t>
            </a:r>
            <a:r>
              <a:rPr dirty="0" sz="1100" spc="-5">
                <a:latin typeface="Arial"/>
                <a:cs typeface="Arial"/>
              </a:rPr>
              <a:t>units</a:t>
            </a:r>
            <a:r>
              <a:rPr dirty="0" sz="1100" spc="225">
                <a:latin typeface="Arial"/>
                <a:cs typeface="Arial"/>
              </a:rPr>
              <a:t> </a:t>
            </a:r>
            <a:r>
              <a:rPr dirty="0" sz="1100" spc="-5">
                <a:latin typeface="Arial"/>
                <a:cs typeface="Arial"/>
              </a:rPr>
              <a:t>of</a:t>
            </a:r>
            <a:r>
              <a:rPr dirty="0" sz="1100" spc="220">
                <a:latin typeface="Arial"/>
                <a:cs typeface="Arial"/>
              </a:rPr>
              <a:t> </a:t>
            </a:r>
            <a:r>
              <a:rPr dirty="0" sz="1100" spc="-5">
                <a:latin typeface="Arial"/>
                <a:cs typeface="Arial"/>
              </a:rPr>
              <a:t>labor.</a:t>
            </a:r>
            <a:r>
              <a:rPr dirty="0" sz="1100" spc="210">
                <a:latin typeface="Arial"/>
                <a:cs typeface="Arial"/>
              </a:rPr>
              <a:t> </a:t>
            </a:r>
            <a:r>
              <a:rPr dirty="0" sz="1100" spc="-5">
                <a:latin typeface="Arial"/>
                <a:cs typeface="Arial"/>
              </a:rPr>
              <a:t>So</a:t>
            </a:r>
            <a:r>
              <a:rPr dirty="0" sz="1100" spc="225">
                <a:latin typeface="Arial"/>
                <a:cs typeface="Arial"/>
              </a:rPr>
              <a:t> </a:t>
            </a:r>
            <a:r>
              <a:rPr dirty="0" sz="1100" spc="-5">
                <a:latin typeface="Arial"/>
                <a:cs typeface="Arial"/>
              </a:rPr>
              <a:t>if</a:t>
            </a:r>
            <a:r>
              <a:rPr dirty="0" sz="1100" spc="220">
                <a:latin typeface="Arial"/>
                <a:cs typeface="Arial"/>
              </a:rPr>
              <a:t> </a:t>
            </a:r>
            <a:r>
              <a:rPr dirty="0" sz="1100" spc="-5">
                <a:latin typeface="Arial"/>
                <a:cs typeface="Arial"/>
              </a:rPr>
              <a:t>a</a:t>
            </a:r>
            <a:r>
              <a:rPr dirty="0" sz="1100" spc="220">
                <a:latin typeface="Arial"/>
                <a:cs typeface="Arial"/>
              </a:rPr>
              <a:t> </a:t>
            </a:r>
            <a:r>
              <a:rPr dirty="0" sz="1100" spc="-5">
                <a:latin typeface="Arial"/>
                <a:cs typeface="Arial"/>
              </a:rPr>
              <a:t>child</a:t>
            </a:r>
            <a:r>
              <a:rPr dirty="0" sz="1100" spc="225">
                <a:latin typeface="Arial"/>
                <a:cs typeface="Arial"/>
              </a:rPr>
              <a:t> </a:t>
            </a:r>
            <a:r>
              <a:rPr dirty="0" sz="1100" spc="-5">
                <a:latin typeface="Arial"/>
                <a:cs typeface="Arial"/>
              </a:rPr>
              <a:t>laborer</a:t>
            </a:r>
            <a:r>
              <a:rPr dirty="0" sz="1100" spc="220">
                <a:latin typeface="Arial"/>
                <a:cs typeface="Arial"/>
              </a:rPr>
              <a:t> </a:t>
            </a:r>
            <a:r>
              <a:rPr dirty="0" sz="1100" spc="-5">
                <a:latin typeface="Arial"/>
                <a:cs typeface="Arial"/>
              </a:rPr>
              <a:t>is</a:t>
            </a:r>
            <a:endParaRPr sz="1100">
              <a:latin typeface="Arial"/>
              <a:cs typeface="Arial"/>
            </a:endParaRPr>
          </a:p>
          <a:p>
            <a:pPr marL="12700">
              <a:lnSpc>
                <a:spcPct val="100000"/>
              </a:lnSpc>
              <a:spcBef>
                <a:spcPts val="25"/>
              </a:spcBef>
            </a:pPr>
            <a:r>
              <a:rPr dirty="0" sz="1100" spc="-5">
                <a:latin typeface="Symbol"/>
                <a:cs typeface="Symbol"/>
              </a:rPr>
              <a:t></a:t>
            </a:r>
            <a:r>
              <a:rPr dirty="0" sz="1100" spc="-5">
                <a:latin typeface="Arial"/>
                <a:cs typeface="Arial"/>
              </a:rPr>
              <a:t>&lt;</a:t>
            </a:r>
            <a:r>
              <a:rPr dirty="0" sz="1100" spc="-120">
                <a:latin typeface="Arial"/>
                <a:cs typeface="Arial"/>
              </a:rPr>
              <a:t> </a:t>
            </a:r>
            <a:r>
              <a:rPr dirty="0" sz="1100" spc="-5">
                <a:latin typeface="Arial"/>
                <a:cs typeface="Arial"/>
              </a:rPr>
              <a:t>times</a:t>
            </a:r>
            <a:r>
              <a:rPr dirty="0" sz="1100" spc="135">
                <a:latin typeface="Arial"/>
                <a:cs typeface="Arial"/>
              </a:rPr>
              <a:t> </a:t>
            </a:r>
            <a:r>
              <a:rPr dirty="0" sz="1100" spc="-5">
                <a:latin typeface="Arial"/>
                <a:cs typeface="Arial"/>
              </a:rPr>
              <a:t>as</a:t>
            </a:r>
            <a:r>
              <a:rPr dirty="0" sz="1100" spc="145">
                <a:latin typeface="Arial"/>
                <a:cs typeface="Arial"/>
              </a:rPr>
              <a:t> </a:t>
            </a:r>
            <a:r>
              <a:rPr dirty="0" sz="1100" spc="-5">
                <a:latin typeface="Arial"/>
                <a:cs typeface="Arial"/>
              </a:rPr>
              <a:t>productive</a:t>
            </a:r>
            <a:r>
              <a:rPr dirty="0" sz="1100" spc="140">
                <a:latin typeface="Arial"/>
                <a:cs typeface="Arial"/>
              </a:rPr>
              <a:t> </a:t>
            </a:r>
            <a:r>
              <a:rPr dirty="0" sz="1100" spc="-5">
                <a:latin typeface="Arial"/>
                <a:cs typeface="Arial"/>
              </a:rPr>
              <a:t>as</a:t>
            </a:r>
            <a:r>
              <a:rPr dirty="0" sz="1100" spc="140">
                <a:latin typeface="Arial"/>
                <a:cs typeface="Arial"/>
              </a:rPr>
              <a:t> </a:t>
            </a:r>
            <a:r>
              <a:rPr dirty="0" sz="1100" spc="-5">
                <a:latin typeface="Arial"/>
                <a:cs typeface="Arial"/>
              </a:rPr>
              <a:t>an</a:t>
            </a:r>
            <a:r>
              <a:rPr dirty="0" sz="1100" spc="140">
                <a:latin typeface="Arial"/>
                <a:cs typeface="Arial"/>
              </a:rPr>
              <a:t> </a:t>
            </a:r>
            <a:r>
              <a:rPr dirty="0" sz="1100" spc="-5">
                <a:latin typeface="Arial"/>
                <a:cs typeface="Arial"/>
              </a:rPr>
              <a:t>adult</a:t>
            </a:r>
            <a:r>
              <a:rPr dirty="0" sz="1100" spc="135">
                <a:latin typeface="Arial"/>
                <a:cs typeface="Arial"/>
              </a:rPr>
              <a:t> </a:t>
            </a:r>
            <a:r>
              <a:rPr dirty="0" sz="1100" spc="-5">
                <a:latin typeface="Arial"/>
                <a:cs typeface="Arial"/>
              </a:rPr>
              <a:t>worker,</a:t>
            </a:r>
            <a:r>
              <a:rPr dirty="0" sz="1100" spc="140">
                <a:latin typeface="Arial"/>
                <a:cs typeface="Arial"/>
              </a:rPr>
              <a:t> </a:t>
            </a:r>
            <a:r>
              <a:rPr dirty="0" sz="1100" spc="-5">
                <a:latin typeface="Arial"/>
                <a:cs typeface="Arial"/>
              </a:rPr>
              <a:t>we</a:t>
            </a:r>
            <a:r>
              <a:rPr dirty="0" sz="1100" spc="145">
                <a:latin typeface="Arial"/>
                <a:cs typeface="Arial"/>
              </a:rPr>
              <a:t> </a:t>
            </a:r>
            <a:r>
              <a:rPr dirty="0" sz="1100" spc="-5">
                <a:latin typeface="Arial"/>
                <a:cs typeface="Arial"/>
              </a:rPr>
              <a:t>consider</a:t>
            </a:r>
            <a:r>
              <a:rPr dirty="0" sz="1100" spc="140">
                <a:latin typeface="Arial"/>
                <a:cs typeface="Arial"/>
              </a:rPr>
              <a:t> </a:t>
            </a:r>
            <a:r>
              <a:rPr dirty="0" sz="1100" spc="-5">
                <a:latin typeface="Arial"/>
                <a:cs typeface="Arial"/>
              </a:rPr>
              <a:t>one</a:t>
            </a:r>
            <a:r>
              <a:rPr dirty="0" sz="1100" spc="140">
                <a:latin typeface="Arial"/>
                <a:cs typeface="Arial"/>
              </a:rPr>
              <a:t> </a:t>
            </a:r>
            <a:r>
              <a:rPr dirty="0" sz="1100" spc="-5">
                <a:latin typeface="Arial"/>
                <a:cs typeface="Arial"/>
              </a:rPr>
              <a:t>child</a:t>
            </a:r>
            <a:r>
              <a:rPr dirty="0" sz="1100" spc="135">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productive</a:t>
            </a:r>
            <a:r>
              <a:rPr dirty="0" sz="1100" spc="140">
                <a:latin typeface="Arial"/>
                <a:cs typeface="Arial"/>
              </a:rPr>
              <a:t> </a:t>
            </a:r>
            <a:r>
              <a:rPr dirty="0" sz="1100" spc="-5">
                <a:latin typeface="Arial"/>
                <a:cs typeface="Arial"/>
              </a:rPr>
              <a:t>equivalent</a:t>
            </a:r>
            <a:r>
              <a:rPr dirty="0" sz="1100" spc="140">
                <a:latin typeface="Arial"/>
                <a:cs typeface="Arial"/>
              </a:rPr>
              <a:t> </a:t>
            </a:r>
            <a:r>
              <a:rPr dirty="0" sz="1100">
                <a:latin typeface="Arial"/>
                <a:cs typeface="Arial"/>
              </a:rPr>
              <a:t>of</a:t>
            </a:r>
            <a:endParaRPr sz="1100">
              <a:latin typeface="Arial"/>
              <a:cs typeface="Arial"/>
            </a:endParaRPr>
          </a:p>
          <a:p>
            <a:pPr marL="12700" marR="5080">
              <a:lnSpc>
                <a:spcPct val="102299"/>
              </a:lnSpc>
            </a:pPr>
            <a:r>
              <a:rPr dirty="0" sz="1100" spc="-5">
                <a:latin typeface="Symbol"/>
                <a:cs typeface="Symbol"/>
              </a:rPr>
              <a:t></a:t>
            </a:r>
            <a:r>
              <a:rPr dirty="0" sz="1100" spc="-5">
                <a:latin typeface="Arial"/>
                <a:cs typeface="Arial"/>
              </a:rPr>
              <a:t>&lt; adult workers. According to our assumptions, </a:t>
            </a:r>
            <a:r>
              <a:rPr dirty="0" sz="1100" spc="-5">
                <a:latin typeface="Symbol"/>
                <a:cs typeface="Symbol"/>
              </a:rPr>
              <a:t></a:t>
            </a:r>
            <a:r>
              <a:rPr dirty="0" sz="1100" spc="-5">
                <a:latin typeface="Times New Roman"/>
                <a:cs typeface="Times New Roman"/>
              </a:rPr>
              <a:t> </a:t>
            </a:r>
            <a:r>
              <a:rPr dirty="0" sz="1100" spc="-5">
                <a:latin typeface="Symbol"/>
                <a:cs typeface="Symbol"/>
              </a:rPr>
              <a:t></a:t>
            </a:r>
            <a:r>
              <a:rPr dirty="0" sz="1100" spc="-5">
                <a:latin typeface="Times New Roman"/>
                <a:cs typeface="Times New Roman"/>
              </a:rPr>
              <a:t> </a:t>
            </a:r>
            <a:r>
              <a:rPr dirty="0" sz="1100" spc="-5">
                <a:latin typeface="Arial"/>
                <a:cs typeface="Arial"/>
              </a:rPr>
              <a:t>1. For example, if a child laborer is half as  productive as an adult worker, </a:t>
            </a:r>
            <a:r>
              <a:rPr dirty="0" sz="1100" spc="-5">
                <a:latin typeface="Symbol"/>
                <a:cs typeface="Symbol"/>
              </a:rPr>
              <a:t></a:t>
            </a:r>
            <a:r>
              <a:rPr dirty="0" sz="1100" spc="-5">
                <a:latin typeface="Times New Roman"/>
                <a:cs typeface="Times New Roman"/>
              </a:rPr>
              <a:t> </a:t>
            </a:r>
            <a:r>
              <a:rPr dirty="0" sz="1100" spc="-5">
                <a:latin typeface="Arial"/>
                <a:cs typeface="Arial"/>
              </a:rPr>
              <a:t>=</a:t>
            </a:r>
            <a:r>
              <a:rPr dirty="0" sz="1100" spc="60">
                <a:latin typeface="Arial"/>
                <a:cs typeface="Arial"/>
              </a:rPr>
              <a:t> </a:t>
            </a:r>
            <a:r>
              <a:rPr dirty="0" sz="1100" spc="-5">
                <a:latin typeface="Arial"/>
                <a:cs typeface="Arial"/>
              </a:rPr>
              <a:t>0.5.</a:t>
            </a:r>
            <a:endParaRPr sz="1100">
              <a:latin typeface="Arial"/>
              <a:cs typeface="Arial"/>
            </a:endParaRPr>
          </a:p>
        </p:txBody>
      </p:sp>
      <p:sp>
        <p:nvSpPr>
          <p:cNvPr id="8" name="object 8"/>
          <p:cNvSpPr/>
          <p:nvPr/>
        </p:nvSpPr>
        <p:spPr>
          <a:xfrm>
            <a:off x="956727" y="4610938"/>
            <a:ext cx="5805605" cy="377477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100</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1662683" y="2238755"/>
            <a:ext cx="200406" cy="141731"/>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4883658" y="2615183"/>
            <a:ext cx="188213" cy="99059"/>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4187952" y="3278885"/>
            <a:ext cx="155448" cy="99059"/>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2660904" y="4559046"/>
            <a:ext cx="209550" cy="141731"/>
          </a:xfrm>
          <a:prstGeom prst="rect">
            <a:avLst/>
          </a:prstGeom>
          <a:blipFill>
            <a:blip r:embed="rId5" cstate="print"/>
            <a:stretch>
              <a:fillRect/>
            </a:stretch>
          </a:blipFill>
        </p:spPr>
        <p:txBody>
          <a:bodyPr wrap="square" lIns="0" tIns="0" rIns="0" bIns="0" rtlCol="0"/>
          <a:lstStyle/>
          <a:p/>
        </p:txBody>
      </p:sp>
      <p:sp>
        <p:nvSpPr>
          <p:cNvPr id="10" name="object 10"/>
          <p:cNvSpPr/>
          <p:nvPr/>
        </p:nvSpPr>
        <p:spPr>
          <a:xfrm>
            <a:off x="6400800" y="4586478"/>
            <a:ext cx="155448" cy="108965"/>
          </a:xfrm>
          <a:prstGeom prst="rect">
            <a:avLst/>
          </a:prstGeom>
          <a:blipFill>
            <a:blip r:embed="rId6" cstate="print"/>
            <a:stretch>
              <a:fillRect/>
            </a:stretch>
          </a:blipFill>
        </p:spPr>
        <p:txBody>
          <a:bodyPr wrap="square" lIns="0" tIns="0" rIns="0" bIns="0" rtlCol="0"/>
          <a:lstStyle/>
          <a:p/>
        </p:txBody>
      </p:sp>
      <p:sp>
        <p:nvSpPr>
          <p:cNvPr id="11" name="object 11"/>
          <p:cNvSpPr/>
          <p:nvPr/>
        </p:nvSpPr>
        <p:spPr>
          <a:xfrm>
            <a:off x="1347216" y="5418582"/>
            <a:ext cx="188213" cy="99059"/>
          </a:xfrm>
          <a:prstGeom prst="rect">
            <a:avLst/>
          </a:prstGeom>
          <a:blipFill>
            <a:blip r:embed="rId7" cstate="print"/>
            <a:stretch>
              <a:fillRect/>
            </a:stretch>
          </a:blipFill>
        </p:spPr>
        <p:txBody>
          <a:bodyPr wrap="square" lIns="0" tIns="0" rIns="0" bIns="0" rtlCol="0"/>
          <a:lstStyle/>
          <a:p/>
        </p:txBody>
      </p:sp>
      <p:sp>
        <p:nvSpPr>
          <p:cNvPr id="12" name="object 12"/>
          <p:cNvSpPr/>
          <p:nvPr/>
        </p:nvSpPr>
        <p:spPr>
          <a:xfrm>
            <a:off x="3547871" y="5418582"/>
            <a:ext cx="164591" cy="99059"/>
          </a:xfrm>
          <a:prstGeom prst="rect">
            <a:avLst/>
          </a:prstGeom>
          <a:blipFill>
            <a:blip r:embed="rId8" cstate="print"/>
            <a:stretch>
              <a:fillRect/>
            </a:stretch>
          </a:blipFill>
        </p:spPr>
        <p:txBody>
          <a:bodyPr wrap="square" lIns="0" tIns="0" rIns="0" bIns="0" rtlCol="0"/>
          <a:lstStyle/>
          <a:p/>
        </p:txBody>
      </p:sp>
      <p:sp>
        <p:nvSpPr>
          <p:cNvPr id="13" name="object 13"/>
          <p:cNvSpPr txBox="1"/>
          <p:nvPr/>
        </p:nvSpPr>
        <p:spPr>
          <a:xfrm>
            <a:off x="901680" y="891794"/>
            <a:ext cx="5971540" cy="769493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We start with the assumption that in the region in question, all (unskilled) adults work,  regardless of the wage. This gives us a perfectly inelastic, vertical adult labor supply curve,  called </a:t>
            </a:r>
            <a:r>
              <a:rPr dirty="0" sz="1100" spc="-5" i="1">
                <a:latin typeface="Arial"/>
                <a:cs typeface="Arial"/>
              </a:rPr>
              <a:t>AA</a:t>
            </a:r>
            <a:r>
              <a:rPr dirty="0" sz="1100" spc="-5">
                <a:latin typeface="Arial"/>
                <a:cs typeface="Arial"/>
              </a:rPr>
              <a:t>_ in the diagram. Highly inelastic supply is a very reasonable assumption among  families so poor that their children work. While the parents </a:t>
            </a:r>
            <a:r>
              <a:rPr dirty="0" sz="1100">
                <a:latin typeface="Arial"/>
                <a:cs typeface="Arial"/>
              </a:rPr>
              <a:t>may </a:t>
            </a:r>
            <a:r>
              <a:rPr dirty="0" sz="1100" spc="-5">
                <a:latin typeface="Arial"/>
                <a:cs typeface="Arial"/>
              </a:rPr>
              <a:t>not </a:t>
            </a:r>
            <a:r>
              <a:rPr dirty="0" sz="1100">
                <a:latin typeface="Arial"/>
                <a:cs typeface="Arial"/>
              </a:rPr>
              <a:t>have </a:t>
            </a:r>
            <a:r>
              <a:rPr dirty="0" sz="1100" spc="-5">
                <a:latin typeface="Arial"/>
                <a:cs typeface="Arial"/>
              </a:rPr>
              <a:t>modern-sector jobs,  every adult is involved in some type of activity to help the family survive. This adult supply </a:t>
            </a:r>
            <a:r>
              <a:rPr dirty="0" sz="1100" spc="-5" i="1">
                <a:latin typeface="Arial"/>
                <a:cs typeface="Arial"/>
              </a:rPr>
              <a:t>AA</a:t>
            </a:r>
            <a:r>
              <a:rPr dirty="0" sz="1100" spc="-5">
                <a:latin typeface="Arial"/>
                <a:cs typeface="Arial"/>
              </a:rPr>
              <a:t>_  is simply the number of unskilled</a:t>
            </a:r>
            <a:r>
              <a:rPr dirty="0" sz="1100" spc="25">
                <a:latin typeface="Arial"/>
                <a:cs typeface="Arial"/>
              </a:rPr>
              <a:t> </a:t>
            </a:r>
            <a:r>
              <a:rPr dirty="0" sz="1100" spc="-5">
                <a:latin typeface="Arial"/>
                <a:cs typeface="Arial"/>
              </a:rPr>
              <a:t>adults.</a:t>
            </a:r>
            <a:endParaRPr sz="1100">
              <a:latin typeface="Arial"/>
              <a:cs typeface="Arial"/>
            </a:endParaRPr>
          </a:p>
          <a:p>
            <a:pPr>
              <a:lnSpc>
                <a:spcPct val="100000"/>
              </a:lnSpc>
              <a:spcBef>
                <a:spcPts val="30"/>
              </a:spcBef>
            </a:pPr>
            <a:endParaRPr sz="1000">
              <a:latin typeface="Arial"/>
              <a:cs typeface="Arial"/>
            </a:endParaRPr>
          </a:p>
          <a:p>
            <a:pPr algn="just" marL="12700" marR="5080">
              <a:lnSpc>
                <a:spcPct val="102400"/>
              </a:lnSpc>
            </a:pPr>
            <a:r>
              <a:rPr dirty="0" sz="1100" spc="-5">
                <a:latin typeface="Arial"/>
                <a:cs typeface="Arial"/>
              </a:rPr>
              <a:t>To understand the total labor supply curve, consider what happens if the wage falls. If the wage  falls below , then some families find they are poor enough that they have to </a:t>
            </a:r>
            <a:r>
              <a:rPr dirty="0" sz="1100">
                <a:latin typeface="Arial"/>
                <a:cs typeface="Arial"/>
              </a:rPr>
              <a:t>send </a:t>
            </a:r>
            <a:r>
              <a:rPr dirty="0" sz="1100" spc="-5">
                <a:latin typeface="Arial"/>
                <a:cs typeface="Arial"/>
              </a:rPr>
              <a:t>their  children to work. At first wages are still high enough so that this affects only a </a:t>
            </a:r>
            <a:r>
              <a:rPr dirty="0" sz="1100">
                <a:latin typeface="Arial"/>
                <a:cs typeface="Arial"/>
              </a:rPr>
              <a:t>few </a:t>
            </a:r>
            <a:r>
              <a:rPr dirty="0" sz="1100" spc="-5">
                <a:latin typeface="Arial"/>
                <a:cs typeface="Arial"/>
              </a:rPr>
              <a:t>families and  children, reflected in the fact that the S-shaped curve just below is still quite</a:t>
            </a:r>
            <a:r>
              <a:rPr dirty="0" sz="1100" spc="-65">
                <a:latin typeface="Arial"/>
                <a:cs typeface="Arial"/>
              </a:rPr>
              <a:t> </a:t>
            </a:r>
            <a:r>
              <a:rPr dirty="0" sz="1100" spc="-5">
                <a:latin typeface="Arial"/>
                <a:cs typeface="Arial"/>
              </a:rPr>
              <a:t>steep.</a:t>
            </a:r>
            <a:endParaRPr sz="1100">
              <a:latin typeface="Arial"/>
              <a:cs typeface="Arial"/>
            </a:endParaRPr>
          </a:p>
          <a:p>
            <a:pPr>
              <a:lnSpc>
                <a:spcPct val="100000"/>
              </a:lnSpc>
              <a:spcBef>
                <a:spcPts val="15"/>
              </a:spcBef>
            </a:pPr>
            <a:endParaRPr sz="1100">
              <a:latin typeface="Arial"/>
              <a:cs typeface="Arial"/>
            </a:endParaRPr>
          </a:p>
          <a:p>
            <a:pPr algn="just" marL="12700" marR="6985">
              <a:lnSpc>
                <a:spcPct val="98900"/>
              </a:lnSpc>
              <a:spcBef>
                <a:spcPts val="5"/>
              </a:spcBef>
            </a:pPr>
            <a:r>
              <a:rPr dirty="0" sz="1100" spc="-5">
                <a:latin typeface="Arial"/>
                <a:cs typeface="Arial"/>
              </a:rPr>
              <a:t>As the wage continued to fall, more families would do the same, and labor supply expands  along the S-shaped curve, which becomes flatter as smaller drops in the wage lead many more  families to send their children to work. If a </a:t>
            </a:r>
            <a:r>
              <a:rPr dirty="0" sz="1100">
                <a:latin typeface="Arial"/>
                <a:cs typeface="Arial"/>
              </a:rPr>
              <a:t>wage </a:t>
            </a:r>
            <a:r>
              <a:rPr dirty="0" sz="1100" spc="-5">
                <a:latin typeface="Arial"/>
                <a:cs typeface="Arial"/>
              </a:rPr>
              <a:t>of were reached, all of the children would  work. At this point, we </a:t>
            </a:r>
            <a:r>
              <a:rPr dirty="0" sz="1100">
                <a:latin typeface="Arial"/>
                <a:cs typeface="Arial"/>
              </a:rPr>
              <a:t>are </a:t>
            </a:r>
            <a:r>
              <a:rPr dirty="0" sz="1100" spc="-5">
                <a:latin typeface="Arial"/>
                <a:cs typeface="Arial"/>
              </a:rPr>
              <a:t>on the vertical line labeled </a:t>
            </a:r>
            <a:r>
              <a:rPr dirty="0" sz="1100" spc="-5" i="1">
                <a:latin typeface="Arial"/>
                <a:cs typeface="Arial"/>
              </a:rPr>
              <a:t>TT</a:t>
            </a:r>
            <a:r>
              <a:rPr dirty="0" sz="1100" spc="-5">
                <a:latin typeface="Arial"/>
                <a:cs typeface="Arial"/>
              </a:rPr>
              <a:t>_, which is the aggregate labor supply  of all the adults and all the children together. This sum is the number of adults, plus the number  of children multiplied by their </a:t>
            </a:r>
            <a:r>
              <a:rPr dirty="0" sz="1100">
                <a:latin typeface="Arial"/>
                <a:cs typeface="Arial"/>
              </a:rPr>
              <a:t>lower </a:t>
            </a:r>
            <a:r>
              <a:rPr dirty="0" sz="1100" spc="-5">
                <a:latin typeface="Arial"/>
                <a:cs typeface="Arial"/>
              </a:rPr>
              <a:t>productivity, </a:t>
            </a:r>
            <a:r>
              <a:rPr dirty="0" sz="1100" spc="-5">
                <a:latin typeface="Symbol"/>
                <a:cs typeface="Symbol"/>
              </a:rPr>
              <a:t></a:t>
            </a:r>
            <a:r>
              <a:rPr dirty="0" sz="1100" spc="-5">
                <a:latin typeface="Arial"/>
                <a:cs typeface="Arial"/>
              </a:rPr>
              <a:t>&lt; &lt; 1. (An S shape in the middle portion is  likely, but the analysis holds even if this is a straight</a:t>
            </a:r>
            <a:r>
              <a:rPr dirty="0" sz="1100" spc="55">
                <a:latin typeface="Arial"/>
                <a:cs typeface="Arial"/>
              </a:rPr>
              <a:t> </a:t>
            </a:r>
            <a:r>
              <a:rPr dirty="0" sz="1100" spc="-5">
                <a:latin typeface="Arial"/>
                <a:cs typeface="Arial"/>
              </a:rPr>
              <a:t>line.)</a:t>
            </a:r>
            <a:endParaRPr sz="1100">
              <a:latin typeface="Arial"/>
              <a:cs typeface="Arial"/>
            </a:endParaRPr>
          </a:p>
          <a:p>
            <a:pPr>
              <a:lnSpc>
                <a:spcPct val="100000"/>
              </a:lnSpc>
              <a:spcBef>
                <a:spcPts val="10"/>
              </a:spcBef>
            </a:pPr>
            <a:endParaRPr sz="1050">
              <a:latin typeface="Arial"/>
              <a:cs typeface="Arial"/>
            </a:endParaRPr>
          </a:p>
          <a:p>
            <a:pPr algn="just" marL="12700" marR="6350">
              <a:lnSpc>
                <a:spcPct val="98900"/>
              </a:lnSpc>
            </a:pPr>
            <a:r>
              <a:rPr dirty="0" sz="1100" spc="-5">
                <a:latin typeface="Arial"/>
                <a:cs typeface="Arial"/>
              </a:rPr>
              <a:t>The resulting supply curve for children and adults together is very different from </a:t>
            </a:r>
            <a:r>
              <a:rPr dirty="0" sz="1100">
                <a:latin typeface="Arial"/>
                <a:cs typeface="Arial"/>
              </a:rPr>
              <a:t>the </a:t>
            </a:r>
            <a:r>
              <a:rPr dirty="0" sz="1100" spc="-5">
                <a:latin typeface="Arial"/>
                <a:cs typeface="Arial"/>
              </a:rPr>
              <a:t>standard  one but it is highly relevant for the developing country child labor context. To summarize, </a:t>
            </a:r>
            <a:r>
              <a:rPr dirty="0" sz="1100">
                <a:latin typeface="Arial"/>
                <a:cs typeface="Arial"/>
              </a:rPr>
              <a:t>as  </a:t>
            </a:r>
            <a:r>
              <a:rPr dirty="0" sz="1100" spc="-5">
                <a:latin typeface="Arial"/>
                <a:cs typeface="Arial"/>
              </a:rPr>
              <a:t>long as the wage is above , the supply curve </a:t>
            </a:r>
            <a:r>
              <a:rPr dirty="0" sz="1100">
                <a:latin typeface="Arial"/>
                <a:cs typeface="Arial"/>
              </a:rPr>
              <a:t>is </a:t>
            </a:r>
            <a:r>
              <a:rPr dirty="0" sz="1100" spc="-5">
                <a:latin typeface="Arial"/>
                <a:cs typeface="Arial"/>
              </a:rPr>
              <a:t>along </a:t>
            </a:r>
            <a:r>
              <a:rPr dirty="0" sz="1100" spc="-5" i="1">
                <a:latin typeface="Arial"/>
                <a:cs typeface="Arial"/>
              </a:rPr>
              <a:t>AA</a:t>
            </a:r>
            <a:r>
              <a:rPr dirty="0" sz="1100" spc="-5">
                <a:latin typeface="Arial"/>
                <a:cs typeface="Arial"/>
              </a:rPr>
              <a:t>_; if the </a:t>
            </a:r>
            <a:r>
              <a:rPr dirty="0" sz="1100">
                <a:latin typeface="Arial"/>
                <a:cs typeface="Arial"/>
              </a:rPr>
              <a:t>wage </a:t>
            </a:r>
            <a:r>
              <a:rPr dirty="0" sz="1100" spc="-5">
                <a:latin typeface="Arial"/>
                <a:cs typeface="Arial"/>
              </a:rPr>
              <a:t>is below , the  supply curve is along </a:t>
            </a:r>
            <a:r>
              <a:rPr dirty="0" sz="1100" spc="-5" i="1">
                <a:latin typeface="Arial"/>
                <a:cs typeface="Arial"/>
              </a:rPr>
              <a:t>TT</a:t>
            </a:r>
            <a:r>
              <a:rPr dirty="0" sz="1100" spc="-5">
                <a:latin typeface="Arial"/>
                <a:cs typeface="Arial"/>
              </a:rPr>
              <a:t>_, and in between, it follows the S-shaped curve between the two  vertical lines.</a:t>
            </a:r>
            <a:endParaRPr sz="1100">
              <a:latin typeface="Arial"/>
              <a:cs typeface="Arial"/>
            </a:endParaRPr>
          </a:p>
          <a:p>
            <a:pPr>
              <a:lnSpc>
                <a:spcPct val="100000"/>
              </a:lnSpc>
              <a:spcBef>
                <a:spcPts val="40"/>
              </a:spcBef>
            </a:pPr>
            <a:endParaRPr sz="1050">
              <a:latin typeface="Arial"/>
              <a:cs typeface="Arial"/>
            </a:endParaRPr>
          </a:p>
          <a:p>
            <a:pPr algn="just" marL="12700" marR="6350">
              <a:lnSpc>
                <a:spcPct val="97300"/>
              </a:lnSpc>
            </a:pPr>
            <a:r>
              <a:rPr dirty="0" sz="1100" spc="-5">
                <a:latin typeface="Arial"/>
                <a:cs typeface="Arial"/>
              </a:rPr>
              <a:t>Now consider the labor demand curve, </a:t>
            </a:r>
            <a:r>
              <a:rPr dirty="0" sz="1100" spc="-5" i="1">
                <a:latin typeface="Arial"/>
                <a:cs typeface="Arial"/>
              </a:rPr>
              <a:t>DL</a:t>
            </a:r>
            <a:r>
              <a:rPr dirty="0" sz="1100" spc="-5">
                <a:latin typeface="Arial"/>
                <a:cs typeface="Arial"/>
              </a:rPr>
              <a:t>; if demand is inelastic enough to cut the </a:t>
            </a:r>
            <a:r>
              <a:rPr dirty="0" sz="1100" spc="-5" i="1">
                <a:latin typeface="Arial"/>
                <a:cs typeface="Arial"/>
              </a:rPr>
              <a:t>AA</a:t>
            </a:r>
            <a:r>
              <a:rPr dirty="0" sz="1100" spc="-5">
                <a:latin typeface="Arial"/>
                <a:cs typeface="Arial"/>
              </a:rPr>
              <a:t>_ line  above and also cut the </a:t>
            </a:r>
            <a:r>
              <a:rPr dirty="0" sz="1100" spc="-5" i="1">
                <a:latin typeface="Arial"/>
                <a:cs typeface="Arial"/>
              </a:rPr>
              <a:t>TT</a:t>
            </a:r>
            <a:r>
              <a:rPr dirty="0" sz="1100" spc="-5">
                <a:latin typeface="Arial"/>
                <a:cs typeface="Arial"/>
              </a:rPr>
              <a:t>_ line below , there will be two stable equilibria, labeled </a:t>
            </a:r>
            <a:r>
              <a:rPr dirty="0" sz="1100" spc="-5" i="1">
                <a:latin typeface="Arial"/>
                <a:cs typeface="Arial"/>
              </a:rPr>
              <a:t>E</a:t>
            </a:r>
            <a:r>
              <a:rPr dirty="0" sz="1100" spc="-5">
                <a:latin typeface="Arial"/>
                <a:cs typeface="Arial"/>
              </a:rPr>
              <a:t>1 and  </a:t>
            </a:r>
            <a:r>
              <a:rPr dirty="0" sz="1100" spc="-5" i="1">
                <a:latin typeface="Arial"/>
                <a:cs typeface="Arial"/>
              </a:rPr>
              <a:t>E</a:t>
            </a:r>
            <a:r>
              <a:rPr dirty="0" sz="1100" spc="-5">
                <a:latin typeface="Arial"/>
                <a:cs typeface="Arial"/>
              </a:rPr>
              <a:t>2, in the diagram.23 When there are two equilibria, if we start out at </a:t>
            </a:r>
            <a:r>
              <a:rPr dirty="0" sz="1100">
                <a:latin typeface="Arial"/>
                <a:cs typeface="Arial"/>
              </a:rPr>
              <a:t>the </a:t>
            </a:r>
            <a:r>
              <a:rPr dirty="0" sz="1100" spc="-5">
                <a:latin typeface="Arial"/>
                <a:cs typeface="Arial"/>
              </a:rPr>
              <a:t>bad equilibrium </a:t>
            </a:r>
            <a:r>
              <a:rPr dirty="0" sz="1100" spc="-5" i="1">
                <a:latin typeface="Arial"/>
                <a:cs typeface="Arial"/>
              </a:rPr>
              <a:t>E</a:t>
            </a:r>
            <a:r>
              <a:rPr dirty="0" sz="1100" spc="-5">
                <a:latin typeface="Arial"/>
                <a:cs typeface="Arial"/>
              </a:rPr>
              <a:t>2, </a:t>
            </a:r>
            <a:r>
              <a:rPr dirty="0" sz="1100">
                <a:latin typeface="Arial"/>
                <a:cs typeface="Arial"/>
              </a:rPr>
              <a:t>an  </a:t>
            </a:r>
            <a:r>
              <a:rPr dirty="0" sz="1100" spc="-5">
                <a:latin typeface="Arial"/>
                <a:cs typeface="Arial"/>
              </a:rPr>
              <a:t>effective ban on child labor will move the region to the good equilibrium </a:t>
            </a:r>
            <a:r>
              <a:rPr dirty="0" sz="1100" spc="-5" i="1">
                <a:latin typeface="Arial"/>
                <a:cs typeface="Arial"/>
              </a:rPr>
              <a:t>E</a:t>
            </a:r>
            <a:r>
              <a:rPr dirty="0" sz="1100" spc="-5">
                <a:latin typeface="Arial"/>
                <a:cs typeface="Arial"/>
              </a:rPr>
              <a:t>1. Moreover, once the  economy </a:t>
            </a:r>
            <a:r>
              <a:rPr dirty="0" sz="1100">
                <a:latin typeface="Arial"/>
                <a:cs typeface="Arial"/>
              </a:rPr>
              <a:t>had </a:t>
            </a:r>
            <a:r>
              <a:rPr dirty="0" sz="1100" spc="-5">
                <a:latin typeface="Arial"/>
                <a:cs typeface="Arial"/>
              </a:rPr>
              <a:t>moved to the new equilibrium, the child labor ban would be self-enforcing,  because by assumption, the new wage is high enough for no family to have to send its children  to work. If poor families coordinate with each other and refuse to send their children to work,  each would be better off; but in general, with a large number of families, they will be unable to  achieve this.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Banning child labor when there is an alternative equilibrium in which all children go to school  might seem like an irresistible policy, but note that while all the families of child laborers are  better off, employers may now be worse off, because they have to </a:t>
            </a:r>
            <a:r>
              <a:rPr dirty="0" sz="1100">
                <a:latin typeface="Arial"/>
                <a:cs typeface="Arial"/>
              </a:rPr>
              <a:t>pay </a:t>
            </a:r>
            <a:r>
              <a:rPr dirty="0" sz="1100" spc="-5">
                <a:latin typeface="Arial"/>
                <a:cs typeface="Arial"/>
              </a:rPr>
              <a:t>a higher wage. Thus  employers may use political pressure to prevent enactment of child labor</a:t>
            </a:r>
            <a:r>
              <a:rPr dirty="0" sz="1100" spc="100">
                <a:latin typeface="Arial"/>
                <a:cs typeface="Arial"/>
              </a:rPr>
              <a:t> </a:t>
            </a:r>
            <a:r>
              <a:rPr dirty="0" sz="1100" spc="-5">
                <a:latin typeface="Arial"/>
                <a:cs typeface="Arial"/>
              </a:rPr>
              <a:t>laws.</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While these child labor models are probably reasonable depictions of many developing areas,  we do not </a:t>
            </a:r>
            <a:r>
              <a:rPr dirty="0" sz="1100">
                <a:latin typeface="Arial"/>
                <a:cs typeface="Arial"/>
              </a:rPr>
              <a:t>know </a:t>
            </a:r>
            <a:r>
              <a:rPr dirty="0" sz="1100" spc="-5">
                <a:latin typeface="Arial"/>
                <a:cs typeface="Arial"/>
              </a:rPr>
              <a:t>enough about conditions in unskilled labor markets to say how significant these  types of multiple equilibria severe credit constraints really are as explanations for child labor.  Thus it would be potentially counterproductive, if even enforceable, to seek an immediate ban  on all child labor in all parts of the world today. As a result, an intermediate approach is currently  dominant in international policy</a:t>
            </a:r>
            <a:r>
              <a:rPr dirty="0" sz="1100" spc="15">
                <a:latin typeface="Arial"/>
                <a:cs typeface="Arial"/>
              </a:rPr>
              <a:t> </a:t>
            </a:r>
            <a:r>
              <a:rPr dirty="0" sz="1100" spc="-5">
                <a:latin typeface="Arial"/>
                <a:cs typeface="Arial"/>
              </a:rPr>
              <a:t>circles.</a:t>
            </a:r>
            <a:endParaRPr sz="1100">
              <a:latin typeface="Arial"/>
              <a:cs typeface="Arial"/>
            </a:endParaRPr>
          </a:p>
        </p:txBody>
      </p:sp>
      <p:sp>
        <p:nvSpPr>
          <p:cNvPr id="14" name="object 14"/>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5" name="object 15"/>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101</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1540" cy="811085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OTHER APPROACHES TO CHILD LABOR</a:t>
            </a:r>
            <a:r>
              <a:rPr dirty="0" sz="1100" spc="15" b="1">
                <a:latin typeface="Arial"/>
                <a:cs typeface="Arial"/>
              </a:rPr>
              <a:t> </a:t>
            </a:r>
            <a:r>
              <a:rPr dirty="0" sz="1100" spc="-5" b="1">
                <a:latin typeface="Arial"/>
                <a:cs typeface="Arial"/>
              </a:rPr>
              <a:t>POLICY</a:t>
            </a:r>
            <a:endParaRPr sz="1100">
              <a:latin typeface="Arial"/>
              <a:cs typeface="Arial"/>
            </a:endParaRPr>
          </a:p>
          <a:p>
            <a:pPr>
              <a:lnSpc>
                <a:spcPct val="100000"/>
              </a:lnSpc>
            </a:pPr>
            <a:endParaRPr sz="1050">
              <a:latin typeface="Arial"/>
              <a:cs typeface="Arial"/>
            </a:endParaRPr>
          </a:p>
          <a:p>
            <a:pPr marL="12700">
              <a:lnSpc>
                <a:spcPct val="100000"/>
              </a:lnSpc>
            </a:pPr>
            <a:r>
              <a:rPr dirty="0" sz="1100" spc="-5">
                <a:latin typeface="Arial"/>
                <a:cs typeface="Arial"/>
              </a:rPr>
              <a:t>There are five main approaches to child labor policy current in development</a:t>
            </a:r>
            <a:r>
              <a:rPr dirty="0" sz="1100" spc="120">
                <a:latin typeface="Arial"/>
                <a:cs typeface="Arial"/>
              </a:rPr>
              <a:t> </a:t>
            </a:r>
            <a:r>
              <a:rPr dirty="0" sz="1100" spc="-5">
                <a:latin typeface="Arial"/>
                <a:cs typeface="Arial"/>
              </a:rPr>
              <a:t>policy.</a:t>
            </a:r>
            <a:endParaRPr sz="1100">
              <a:latin typeface="Arial"/>
              <a:cs typeface="Arial"/>
            </a:endParaRPr>
          </a:p>
          <a:p>
            <a:pPr>
              <a:lnSpc>
                <a:spcPct val="100000"/>
              </a:lnSpc>
              <a:spcBef>
                <a:spcPts val="15"/>
              </a:spcBef>
            </a:pPr>
            <a:endParaRPr sz="1150">
              <a:latin typeface="Arial"/>
              <a:cs typeface="Arial"/>
            </a:endParaRPr>
          </a:p>
          <a:p>
            <a:pPr algn="just" marL="469900" marR="6350" indent="-229235">
              <a:lnSpc>
                <a:spcPct val="95700"/>
              </a:lnSpc>
              <a:spcBef>
                <a:spcPts val="5"/>
              </a:spcBef>
              <a:buFont typeface="Symbol"/>
              <a:buChar char=""/>
              <a:tabLst>
                <a:tab pos="469900" algn="l"/>
              </a:tabLst>
            </a:pPr>
            <a:r>
              <a:rPr dirty="0" sz="1100" spc="-5" b="1">
                <a:latin typeface="Arial"/>
                <a:cs typeface="Arial"/>
              </a:rPr>
              <a:t>The first </a:t>
            </a:r>
            <a:r>
              <a:rPr dirty="0" sz="1100" spc="-5">
                <a:latin typeface="Arial"/>
                <a:cs typeface="Arial"/>
              </a:rPr>
              <a:t>recognizes </a:t>
            </a:r>
            <a:r>
              <a:rPr dirty="0" sz="1100" spc="-5" b="1">
                <a:latin typeface="Arial"/>
                <a:cs typeface="Arial"/>
              </a:rPr>
              <a:t>child labor as an expression of poverty </a:t>
            </a:r>
            <a:r>
              <a:rPr dirty="0" sz="1100" spc="-5">
                <a:latin typeface="Arial"/>
                <a:cs typeface="Arial"/>
              </a:rPr>
              <a:t>and recommends an  emphasis on eliminating poverty </a:t>
            </a:r>
            <a:r>
              <a:rPr dirty="0" sz="1100">
                <a:latin typeface="Arial"/>
                <a:cs typeface="Arial"/>
              </a:rPr>
              <a:t>rather </a:t>
            </a:r>
            <a:r>
              <a:rPr dirty="0" sz="1100" spc="-5">
                <a:latin typeface="Arial"/>
                <a:cs typeface="Arial"/>
              </a:rPr>
              <a:t>than directly addressing child labor; this position  is generally associated with the World</a:t>
            </a:r>
            <a:r>
              <a:rPr dirty="0" sz="1100" spc="15">
                <a:latin typeface="Arial"/>
                <a:cs typeface="Arial"/>
              </a:rPr>
              <a:t> </a:t>
            </a:r>
            <a:r>
              <a:rPr dirty="0" sz="1100" spc="-5">
                <a:latin typeface="Arial"/>
                <a:cs typeface="Arial"/>
              </a:rPr>
              <a:t>Bank.</a:t>
            </a:r>
            <a:endParaRPr sz="1100">
              <a:latin typeface="Arial"/>
              <a:cs typeface="Arial"/>
            </a:endParaRPr>
          </a:p>
          <a:p>
            <a:pPr>
              <a:lnSpc>
                <a:spcPct val="100000"/>
              </a:lnSpc>
              <a:spcBef>
                <a:spcPts val="20"/>
              </a:spcBef>
              <a:buFont typeface="Symbol"/>
              <a:buChar char=""/>
            </a:pPr>
            <a:endParaRPr sz="1150">
              <a:latin typeface="Arial"/>
              <a:cs typeface="Arial"/>
            </a:endParaRPr>
          </a:p>
          <a:p>
            <a:pPr algn="just" marL="469900" marR="6350" indent="-228600">
              <a:lnSpc>
                <a:spcPct val="95800"/>
              </a:lnSpc>
              <a:buFont typeface="Symbol"/>
              <a:buChar char=""/>
              <a:tabLst>
                <a:tab pos="469900" algn="l"/>
              </a:tabLst>
            </a:pPr>
            <a:r>
              <a:rPr dirty="0" sz="1100" spc="-5" b="1">
                <a:latin typeface="Arial"/>
                <a:cs typeface="Arial"/>
              </a:rPr>
              <a:t>The second approach </a:t>
            </a:r>
            <a:r>
              <a:rPr dirty="0" sz="1100" spc="-5">
                <a:latin typeface="Arial"/>
                <a:cs typeface="Arial"/>
              </a:rPr>
              <a:t>emphasizes strategies to get more children into school, including  expanded school places, such as new village schools, and </a:t>
            </a:r>
            <a:r>
              <a:rPr dirty="0" sz="1100" spc="-5" b="1">
                <a:latin typeface="Arial"/>
                <a:cs typeface="Arial"/>
              </a:rPr>
              <a:t>conditional cash transfer  </a:t>
            </a:r>
            <a:r>
              <a:rPr dirty="0" sz="1100" spc="-5">
                <a:latin typeface="Arial"/>
                <a:cs typeface="Arial"/>
              </a:rPr>
              <a:t>incentives to induce parents to send their children to school, such as the  Progresa/Opportunidades program in Mexico, discussed. This strategy has wide support  from many international agencies and development bodies. It is probably a more  effective approach than making basic education compulsory, because without  complementary policies, the incentives to send children to work would still remain strong  and enforcement is likely to be weak, for the same reasons that regulation of the  informal sector has proved almost impossible in many other cases. Compulsory  schooling is a good idea, but it is not an effective solution to the problem of child labor.  Improving </a:t>
            </a:r>
            <a:r>
              <a:rPr dirty="0" sz="1100">
                <a:latin typeface="Arial"/>
                <a:cs typeface="Arial"/>
              </a:rPr>
              <a:t>the </a:t>
            </a:r>
            <a:r>
              <a:rPr dirty="0" sz="1100" spc="-5">
                <a:latin typeface="Arial"/>
                <a:cs typeface="Arial"/>
              </a:rPr>
              <a:t>quality of basic schooling and increasing accessibility are also very  important; the fraction of national income spent on basic education in a majority of low-  income countries remains</a:t>
            </a:r>
            <a:r>
              <a:rPr dirty="0" sz="1100" spc="10">
                <a:latin typeface="Arial"/>
                <a:cs typeface="Arial"/>
              </a:rPr>
              <a:t> </a:t>
            </a:r>
            <a:r>
              <a:rPr dirty="0" sz="1100" spc="-5">
                <a:latin typeface="Arial"/>
                <a:cs typeface="Arial"/>
              </a:rPr>
              <a:t>problematic.</a:t>
            </a:r>
            <a:endParaRPr sz="1100">
              <a:latin typeface="Arial"/>
              <a:cs typeface="Arial"/>
            </a:endParaRPr>
          </a:p>
          <a:p>
            <a:pPr>
              <a:lnSpc>
                <a:spcPct val="100000"/>
              </a:lnSpc>
              <a:spcBef>
                <a:spcPts val="25"/>
              </a:spcBef>
              <a:buFont typeface="Symbol"/>
              <a:buChar char=""/>
            </a:pPr>
            <a:endParaRPr sz="1150">
              <a:latin typeface="Arial"/>
              <a:cs typeface="Arial"/>
            </a:endParaRPr>
          </a:p>
          <a:p>
            <a:pPr algn="just" marL="469900" marR="5080" indent="-229235">
              <a:lnSpc>
                <a:spcPct val="95800"/>
              </a:lnSpc>
              <a:buFont typeface="Symbol"/>
              <a:buChar char=""/>
              <a:tabLst>
                <a:tab pos="469900" algn="l"/>
              </a:tabLst>
            </a:pPr>
            <a:r>
              <a:rPr dirty="0" sz="1100" spc="-5" b="1">
                <a:latin typeface="Arial"/>
                <a:cs typeface="Arial"/>
              </a:rPr>
              <a:t>The third approach </a:t>
            </a:r>
            <a:r>
              <a:rPr dirty="0" sz="1100" spc="-5">
                <a:latin typeface="Arial"/>
                <a:cs typeface="Arial"/>
              </a:rPr>
              <a:t>considers </a:t>
            </a:r>
            <a:r>
              <a:rPr dirty="0" sz="1100" spc="-5" b="1">
                <a:latin typeface="Arial"/>
                <a:cs typeface="Arial"/>
              </a:rPr>
              <a:t>child labor inevitable</a:t>
            </a:r>
            <a:r>
              <a:rPr dirty="0" sz="1100" spc="-5">
                <a:latin typeface="Arial"/>
                <a:cs typeface="Arial"/>
              </a:rPr>
              <a:t>, at least in the short run, and  stresses palliative measures such as regulating it to prevent abuse and to provide  support services for working children. This approach is most commonly associated </a:t>
            </a:r>
            <a:r>
              <a:rPr dirty="0" sz="1100">
                <a:latin typeface="Arial"/>
                <a:cs typeface="Arial"/>
              </a:rPr>
              <a:t>with  </a:t>
            </a:r>
            <a:r>
              <a:rPr dirty="0" sz="1100" spc="-5">
                <a:latin typeface="Arial"/>
                <a:cs typeface="Arial"/>
              </a:rPr>
              <a:t>UNICEF, which has prepared a checklist of regulatory and social approaches that could  meet the “best interest of the child.” The regulations included on UNICEF’s checklist  include expanding educational opportunities through “time off” for standard or workplace  schooling, encouraging stricter law enforcement against illegal child labor trafficking,  providing support services for parents and for children working on the streets, and  working to develop social norms against the economic exploitation of</a:t>
            </a:r>
            <a:r>
              <a:rPr dirty="0" sz="1100" spc="100">
                <a:latin typeface="Arial"/>
                <a:cs typeface="Arial"/>
              </a:rPr>
              <a:t> </a:t>
            </a:r>
            <a:r>
              <a:rPr dirty="0" sz="1100" spc="-5">
                <a:latin typeface="Arial"/>
                <a:cs typeface="Arial"/>
              </a:rPr>
              <a:t>children.</a:t>
            </a:r>
            <a:endParaRPr sz="1100">
              <a:latin typeface="Arial"/>
              <a:cs typeface="Arial"/>
            </a:endParaRPr>
          </a:p>
          <a:p>
            <a:pPr>
              <a:lnSpc>
                <a:spcPct val="100000"/>
              </a:lnSpc>
              <a:spcBef>
                <a:spcPts val="15"/>
              </a:spcBef>
              <a:buFont typeface="Symbol"/>
              <a:buChar char=""/>
            </a:pPr>
            <a:endParaRPr sz="1150">
              <a:latin typeface="Arial"/>
              <a:cs typeface="Arial"/>
            </a:endParaRPr>
          </a:p>
          <a:p>
            <a:pPr algn="just" marL="469265" marR="6350" indent="-228600">
              <a:lnSpc>
                <a:spcPct val="95800"/>
              </a:lnSpc>
              <a:buFont typeface="Symbol"/>
              <a:buChar char=""/>
              <a:tabLst>
                <a:tab pos="469900" algn="l"/>
              </a:tabLst>
            </a:pPr>
            <a:r>
              <a:rPr dirty="0" sz="1100" spc="-5" b="1">
                <a:latin typeface="Arial"/>
                <a:cs typeface="Arial"/>
              </a:rPr>
              <a:t>The fourth approach</a:t>
            </a:r>
            <a:r>
              <a:rPr dirty="0" sz="1100" spc="-5">
                <a:latin typeface="Arial"/>
                <a:cs typeface="Arial"/>
              </a:rPr>
              <a:t>, most often associated with the ILO</a:t>
            </a:r>
            <a:r>
              <a:rPr dirty="0" sz="1100" spc="-5" b="1">
                <a:latin typeface="Arial"/>
                <a:cs typeface="Arial"/>
              </a:rPr>
              <a:t>, favors banning child labor</a:t>
            </a:r>
            <a:r>
              <a:rPr dirty="0" sz="1100" spc="-5">
                <a:latin typeface="Arial"/>
                <a:cs typeface="Arial"/>
              </a:rPr>
              <a:t>.  If this is not possible, however, and recognizing that child labor </a:t>
            </a:r>
            <a:r>
              <a:rPr dirty="0" sz="1100">
                <a:latin typeface="Arial"/>
                <a:cs typeface="Arial"/>
              </a:rPr>
              <a:t>may not </a:t>
            </a:r>
            <a:r>
              <a:rPr dirty="0" sz="1100" spc="-5">
                <a:latin typeface="Arial"/>
                <a:cs typeface="Arial"/>
              </a:rPr>
              <a:t>always </a:t>
            </a:r>
            <a:r>
              <a:rPr dirty="0" sz="1100">
                <a:latin typeface="Arial"/>
                <a:cs typeface="Arial"/>
              </a:rPr>
              <a:t>result  </a:t>
            </a:r>
            <a:r>
              <a:rPr dirty="0" sz="1100" spc="-5">
                <a:latin typeface="Arial"/>
                <a:cs typeface="Arial"/>
              </a:rPr>
              <a:t>from multiple equilibrium problems, this approach favors banning child labor </a:t>
            </a:r>
            <a:r>
              <a:rPr dirty="0" sz="1100" spc="-5" i="1">
                <a:latin typeface="Arial"/>
                <a:cs typeface="Arial"/>
              </a:rPr>
              <a:t>in its most  </a:t>
            </a:r>
            <a:r>
              <a:rPr dirty="0" sz="1100" spc="-5" i="1">
                <a:latin typeface="Arial"/>
                <a:cs typeface="Arial"/>
              </a:rPr>
              <a:t>abusive forms. </a:t>
            </a:r>
            <a:r>
              <a:rPr dirty="0" sz="1100" spc="-5">
                <a:latin typeface="Arial"/>
                <a:cs typeface="Arial"/>
              </a:rPr>
              <a:t>The </a:t>
            </a:r>
            <a:r>
              <a:rPr dirty="0" sz="1100">
                <a:latin typeface="Arial"/>
                <a:cs typeface="Arial"/>
              </a:rPr>
              <a:t>latter </a:t>
            </a:r>
            <a:r>
              <a:rPr dirty="0" sz="1100" spc="-5">
                <a:latin typeface="Arial"/>
                <a:cs typeface="Arial"/>
              </a:rPr>
              <a:t>approach has received much attention in recent years; the  ILO’s “Worst Forms of Child Labor Convention” was adopted in 1999. The worst forms  covered under the convention include “all forms of slavery or practices similar to slavery,  such as the sale and trafficking of children, debt bondage and serfdom and forced or  compulsory labor”; child prostitution and pornography; other illicit activities, such as drug  trafficking; and work that “by its nature or the circumstances is likely to harm the health,  safety or morals of</a:t>
            </a:r>
            <a:r>
              <a:rPr dirty="0" sz="1100" spc="15">
                <a:latin typeface="Arial"/>
                <a:cs typeface="Arial"/>
              </a:rPr>
              <a:t> </a:t>
            </a:r>
            <a:r>
              <a:rPr dirty="0" sz="1100" spc="-5">
                <a:latin typeface="Arial"/>
                <a:cs typeface="Arial"/>
              </a:rPr>
              <a:t>children.”</a:t>
            </a:r>
            <a:endParaRPr sz="1100">
              <a:latin typeface="Arial"/>
              <a:cs typeface="Arial"/>
            </a:endParaRPr>
          </a:p>
          <a:p>
            <a:pPr>
              <a:lnSpc>
                <a:spcPct val="100000"/>
              </a:lnSpc>
              <a:spcBef>
                <a:spcPts val="15"/>
              </a:spcBef>
              <a:buFont typeface="Symbol"/>
              <a:buChar char=""/>
            </a:pPr>
            <a:endParaRPr sz="1150">
              <a:latin typeface="Arial"/>
              <a:cs typeface="Arial"/>
            </a:endParaRPr>
          </a:p>
          <a:p>
            <a:pPr algn="just" marL="469265" marR="6350" indent="-228600">
              <a:lnSpc>
                <a:spcPct val="95800"/>
              </a:lnSpc>
              <a:spcBef>
                <a:spcPts val="5"/>
              </a:spcBef>
              <a:buFont typeface="Symbol"/>
              <a:buChar char=""/>
              <a:tabLst>
                <a:tab pos="469900" algn="l"/>
              </a:tabLst>
            </a:pPr>
            <a:r>
              <a:rPr dirty="0" sz="1100" spc="-5" b="1">
                <a:latin typeface="Arial"/>
                <a:cs typeface="Arial"/>
              </a:rPr>
              <a:t>Finally</a:t>
            </a:r>
            <a:r>
              <a:rPr dirty="0" sz="1100" spc="-5">
                <a:latin typeface="Arial"/>
                <a:cs typeface="Arial"/>
              </a:rPr>
              <a:t>, </a:t>
            </a:r>
            <a:r>
              <a:rPr dirty="0" sz="1100">
                <a:latin typeface="Arial"/>
                <a:cs typeface="Arial"/>
              </a:rPr>
              <a:t>many </a:t>
            </a:r>
            <a:r>
              <a:rPr dirty="0" sz="1100" spc="-5">
                <a:latin typeface="Arial"/>
                <a:cs typeface="Arial"/>
              </a:rPr>
              <a:t>activists in developed countries have </a:t>
            </a:r>
            <a:r>
              <a:rPr dirty="0" sz="1100" spc="-5" b="1">
                <a:latin typeface="Arial"/>
                <a:cs typeface="Arial"/>
              </a:rPr>
              <a:t>proposed the imposition of trade  sanctions against countries that permit child labor </a:t>
            </a:r>
            <a:r>
              <a:rPr dirty="0" sz="1100" spc="-5">
                <a:latin typeface="Arial"/>
                <a:cs typeface="Arial"/>
              </a:rPr>
              <a:t>or at least banning the goods on  which children work. This approach is well intentioned, but if the objective is the welfare  of children, it needs to be considered carefully, because if children cannot work in the  export sector, they will almost certainly be forced to work in the informal sector, where  wages and other working conditions are generally worse. Export restrictions may also  make</a:t>
            </a:r>
            <a:r>
              <a:rPr dirty="0" sz="1100" spc="80">
                <a:latin typeface="Arial"/>
                <a:cs typeface="Arial"/>
              </a:rPr>
              <a:t> </a:t>
            </a:r>
            <a:r>
              <a:rPr dirty="0" sz="1100" spc="-5">
                <a:latin typeface="Arial"/>
                <a:cs typeface="Arial"/>
              </a:rPr>
              <a:t>it</a:t>
            </a:r>
            <a:r>
              <a:rPr dirty="0" sz="1100" spc="80">
                <a:latin typeface="Arial"/>
                <a:cs typeface="Arial"/>
              </a:rPr>
              <a:t> </a:t>
            </a:r>
            <a:r>
              <a:rPr dirty="0" sz="1100" spc="-5">
                <a:latin typeface="Arial"/>
                <a:cs typeface="Arial"/>
              </a:rPr>
              <a:t>more</a:t>
            </a:r>
            <a:r>
              <a:rPr dirty="0" sz="1100" spc="80">
                <a:latin typeface="Arial"/>
                <a:cs typeface="Arial"/>
              </a:rPr>
              <a:t> </a:t>
            </a:r>
            <a:r>
              <a:rPr dirty="0" sz="1100" spc="-5">
                <a:latin typeface="Arial"/>
                <a:cs typeface="Arial"/>
              </a:rPr>
              <a:t>difficult</a:t>
            </a:r>
            <a:r>
              <a:rPr dirty="0" sz="1100" spc="85">
                <a:latin typeface="Arial"/>
                <a:cs typeface="Arial"/>
              </a:rPr>
              <a:t> </a:t>
            </a:r>
            <a:r>
              <a:rPr dirty="0" sz="1100" spc="-5">
                <a:latin typeface="Arial"/>
                <a:cs typeface="Arial"/>
              </a:rPr>
              <a:t>for</a:t>
            </a:r>
            <a:r>
              <a:rPr dirty="0" sz="1100" spc="75">
                <a:latin typeface="Arial"/>
                <a:cs typeface="Arial"/>
              </a:rPr>
              <a:t> </a:t>
            </a:r>
            <a:r>
              <a:rPr dirty="0" sz="1100" spc="-5">
                <a:latin typeface="Arial"/>
                <a:cs typeface="Arial"/>
              </a:rPr>
              <a:t>poor</a:t>
            </a:r>
            <a:r>
              <a:rPr dirty="0" sz="1100" spc="80">
                <a:latin typeface="Arial"/>
                <a:cs typeface="Arial"/>
              </a:rPr>
              <a:t> </a:t>
            </a:r>
            <a:r>
              <a:rPr dirty="0" sz="1100" spc="-5">
                <a:latin typeface="Arial"/>
                <a:cs typeface="Arial"/>
              </a:rPr>
              <a:t>countries</a:t>
            </a:r>
            <a:r>
              <a:rPr dirty="0" sz="1100" spc="85">
                <a:latin typeface="Arial"/>
                <a:cs typeface="Arial"/>
              </a:rPr>
              <a:t> </a:t>
            </a:r>
            <a:r>
              <a:rPr dirty="0" sz="1100" spc="-5">
                <a:latin typeface="Arial"/>
                <a:cs typeface="Arial"/>
              </a:rPr>
              <a:t>to</a:t>
            </a:r>
            <a:r>
              <a:rPr dirty="0" sz="1100" spc="80">
                <a:latin typeface="Arial"/>
                <a:cs typeface="Arial"/>
              </a:rPr>
              <a:t> </a:t>
            </a:r>
            <a:r>
              <a:rPr dirty="0" sz="1100" spc="-5">
                <a:latin typeface="Arial"/>
                <a:cs typeface="Arial"/>
              </a:rPr>
              <a:t>grow</a:t>
            </a:r>
            <a:r>
              <a:rPr dirty="0" sz="1100" spc="75">
                <a:latin typeface="Arial"/>
                <a:cs typeface="Arial"/>
              </a:rPr>
              <a:t> </a:t>
            </a:r>
            <a:r>
              <a:rPr dirty="0" sz="1100" spc="-5">
                <a:latin typeface="Arial"/>
                <a:cs typeface="Arial"/>
              </a:rPr>
              <a:t>their</a:t>
            </a:r>
            <a:r>
              <a:rPr dirty="0" sz="1100" spc="80">
                <a:latin typeface="Arial"/>
                <a:cs typeface="Arial"/>
              </a:rPr>
              <a:t> </a:t>
            </a:r>
            <a:r>
              <a:rPr dirty="0" sz="1100" spc="-5">
                <a:latin typeface="Arial"/>
                <a:cs typeface="Arial"/>
              </a:rPr>
              <a:t>way</a:t>
            </a:r>
            <a:r>
              <a:rPr dirty="0" sz="1100" spc="85">
                <a:latin typeface="Arial"/>
                <a:cs typeface="Arial"/>
              </a:rPr>
              <a:t> </a:t>
            </a:r>
            <a:r>
              <a:rPr dirty="0" sz="1100" spc="-5">
                <a:latin typeface="Arial"/>
                <a:cs typeface="Arial"/>
              </a:rPr>
              <a:t>out</a:t>
            </a:r>
            <a:r>
              <a:rPr dirty="0" sz="1100" spc="80">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poverty.</a:t>
            </a:r>
            <a:r>
              <a:rPr dirty="0" sz="1100" spc="8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course,</a:t>
            </a:r>
            <a:r>
              <a:rPr dirty="0" sz="1100" spc="75">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8" y="891794"/>
            <a:ext cx="5970270" cy="2310765"/>
          </a:xfrm>
          <a:prstGeom prst="rect">
            <a:avLst/>
          </a:prstGeom>
        </p:spPr>
        <p:txBody>
          <a:bodyPr wrap="square" lIns="0" tIns="19050" rIns="0" bIns="0" rtlCol="0" vert="horz">
            <a:spAutoFit/>
          </a:bodyPr>
          <a:lstStyle/>
          <a:p>
            <a:pPr algn="just" marL="469900" marR="5080">
              <a:lnSpc>
                <a:spcPct val="95800"/>
              </a:lnSpc>
              <a:spcBef>
                <a:spcPts val="150"/>
              </a:spcBef>
            </a:pPr>
            <a:r>
              <a:rPr dirty="0" sz="1100" spc="-5">
                <a:latin typeface="Arial"/>
                <a:cs typeface="Arial"/>
              </a:rPr>
              <a:t>worst forms of child labor can never be tolerated. It seems clear that if efforts at banning  imports from developing countries were channeled instead into working to secure more  public and private development assistance </a:t>
            </a:r>
            <a:r>
              <a:rPr dirty="0" sz="1100">
                <a:latin typeface="Arial"/>
                <a:cs typeface="Arial"/>
              </a:rPr>
              <a:t>for </a:t>
            </a:r>
            <a:r>
              <a:rPr dirty="0" sz="1100" spc="-5">
                <a:latin typeface="Arial"/>
                <a:cs typeface="Arial"/>
              </a:rPr>
              <a:t>nongovernmental organizations that work  with child laborers, much more </a:t>
            </a:r>
            <a:r>
              <a:rPr dirty="0" sz="1100">
                <a:latin typeface="Arial"/>
                <a:cs typeface="Arial"/>
              </a:rPr>
              <a:t>would </a:t>
            </a:r>
            <a:r>
              <a:rPr dirty="0" sz="1100" spc="-5">
                <a:latin typeface="Arial"/>
                <a:cs typeface="Arial"/>
              </a:rPr>
              <a:t>be accomplished to help these</a:t>
            </a:r>
            <a:r>
              <a:rPr dirty="0" sz="1100" spc="90">
                <a:latin typeface="Arial"/>
                <a:cs typeface="Arial"/>
              </a:rPr>
              <a:t> </a:t>
            </a:r>
            <a:r>
              <a:rPr dirty="0" sz="1100" spc="-5">
                <a:latin typeface="Arial"/>
                <a:cs typeface="Arial"/>
              </a:rPr>
              <a:t>children.</a:t>
            </a:r>
            <a:endParaRPr sz="1100">
              <a:latin typeface="Arial"/>
              <a:cs typeface="Arial"/>
            </a:endParaRPr>
          </a:p>
          <a:p>
            <a:pPr marL="12700" marR="1449705">
              <a:lnSpc>
                <a:spcPts val="2650"/>
              </a:lnSpc>
              <a:spcBef>
                <a:spcPts val="200"/>
              </a:spcBef>
            </a:pPr>
            <a:r>
              <a:rPr dirty="0" sz="1100" spc="-5" b="1">
                <a:latin typeface="Arial"/>
                <a:cs typeface="Arial"/>
              </a:rPr>
              <a:t>THE GENDER GAP: DISCRIMINATION IN EDUCATION AND HEALTH  EDUCATION AND</a:t>
            </a:r>
            <a:r>
              <a:rPr dirty="0" sz="1100" b="1">
                <a:latin typeface="Arial"/>
                <a:cs typeface="Arial"/>
              </a:rPr>
              <a:t> </a:t>
            </a:r>
            <a:r>
              <a:rPr dirty="0" sz="1100" spc="-5" b="1">
                <a:latin typeface="Arial"/>
                <a:cs typeface="Arial"/>
              </a:rPr>
              <a:t>GENDER</a:t>
            </a:r>
            <a:endParaRPr sz="1100">
              <a:latin typeface="Arial"/>
              <a:cs typeface="Arial"/>
            </a:endParaRPr>
          </a:p>
          <a:p>
            <a:pPr algn="just" marL="12700" marR="5080">
              <a:lnSpc>
                <a:spcPct val="95800"/>
              </a:lnSpc>
              <a:spcBef>
                <a:spcPts val="1060"/>
              </a:spcBef>
            </a:pPr>
            <a:r>
              <a:rPr dirty="0" sz="1100" spc="-5">
                <a:latin typeface="Arial"/>
                <a:cs typeface="Arial"/>
              </a:rPr>
              <a:t>Young females receive less education than young males in most low-income developing  countries. While youth literacy is now much higher than it was as recently as 1990, Figure 8.4  shows that in most regions girls still lag behind boys. Large majorities of illiterate people and  those who have been unable to attend school around the developing world are</a:t>
            </a:r>
            <a:r>
              <a:rPr dirty="0" sz="1100" spc="135">
                <a:latin typeface="Arial"/>
                <a:cs typeface="Arial"/>
              </a:rPr>
              <a:t> </a:t>
            </a:r>
            <a:r>
              <a:rPr dirty="0" sz="1100" spc="-5">
                <a:latin typeface="Arial"/>
                <a:cs typeface="Arial"/>
              </a:rPr>
              <a:t>female.</a:t>
            </a:r>
            <a:endParaRPr sz="1100">
              <a:latin typeface="Arial"/>
              <a:cs typeface="Arial"/>
            </a:endParaRPr>
          </a:p>
          <a:p>
            <a:pPr algn="just" marL="12700">
              <a:lnSpc>
                <a:spcPts val="1265"/>
              </a:lnSpc>
            </a:pPr>
            <a:r>
              <a:rPr dirty="0" sz="1100" spc="-5">
                <a:latin typeface="Arial"/>
                <a:cs typeface="Arial"/>
              </a:rPr>
              <a:t>The</a:t>
            </a:r>
            <a:r>
              <a:rPr dirty="0" sz="1100" spc="80">
                <a:latin typeface="Arial"/>
                <a:cs typeface="Arial"/>
              </a:rPr>
              <a:t> </a:t>
            </a:r>
            <a:r>
              <a:rPr dirty="0" sz="1100" spc="-5" b="1">
                <a:latin typeface="Arial"/>
                <a:cs typeface="Arial"/>
              </a:rPr>
              <a:t>educational</a:t>
            </a:r>
            <a:r>
              <a:rPr dirty="0" sz="1100" spc="80" b="1">
                <a:latin typeface="Arial"/>
                <a:cs typeface="Arial"/>
              </a:rPr>
              <a:t> </a:t>
            </a:r>
            <a:r>
              <a:rPr dirty="0" sz="1100" spc="-5" b="1">
                <a:latin typeface="Arial"/>
                <a:cs typeface="Arial"/>
              </a:rPr>
              <a:t>gender</a:t>
            </a:r>
            <a:r>
              <a:rPr dirty="0" sz="1100" spc="80" b="1">
                <a:latin typeface="Arial"/>
                <a:cs typeface="Arial"/>
              </a:rPr>
              <a:t> </a:t>
            </a:r>
            <a:r>
              <a:rPr dirty="0" sz="1100" spc="-5" b="1">
                <a:latin typeface="Arial"/>
                <a:cs typeface="Arial"/>
              </a:rPr>
              <a:t>gap</a:t>
            </a:r>
            <a:r>
              <a:rPr dirty="0" sz="1100" spc="85" b="1">
                <a:latin typeface="Arial"/>
                <a:cs typeface="Arial"/>
              </a:rPr>
              <a:t> </a:t>
            </a:r>
            <a:r>
              <a:rPr dirty="0" sz="1100" spc="-5" b="1">
                <a:latin typeface="Arial"/>
                <a:cs typeface="Arial"/>
              </a:rPr>
              <a:t>i.e.</a:t>
            </a:r>
            <a:r>
              <a:rPr dirty="0" sz="1100" spc="85" b="1">
                <a:latin typeface="Arial"/>
                <a:cs typeface="Arial"/>
              </a:rPr>
              <a:t> </a:t>
            </a:r>
            <a:r>
              <a:rPr dirty="0" sz="1100" spc="-5" i="1">
                <a:latin typeface="Arial"/>
                <a:cs typeface="Arial"/>
              </a:rPr>
              <a:t>Male-female</a:t>
            </a:r>
            <a:r>
              <a:rPr dirty="0" sz="1100" spc="80" i="1">
                <a:latin typeface="Arial"/>
                <a:cs typeface="Arial"/>
              </a:rPr>
              <a:t> </a:t>
            </a:r>
            <a:r>
              <a:rPr dirty="0" sz="1100" spc="-5" i="1">
                <a:latin typeface="Arial"/>
                <a:cs typeface="Arial"/>
              </a:rPr>
              <a:t>differences</a:t>
            </a:r>
            <a:r>
              <a:rPr dirty="0" sz="1100" spc="85" i="1">
                <a:latin typeface="Arial"/>
                <a:cs typeface="Arial"/>
              </a:rPr>
              <a:t> </a:t>
            </a:r>
            <a:r>
              <a:rPr dirty="0" sz="1100" spc="-5" i="1">
                <a:latin typeface="Arial"/>
                <a:cs typeface="Arial"/>
              </a:rPr>
              <a:t>in</a:t>
            </a:r>
            <a:r>
              <a:rPr dirty="0" sz="1100" spc="75" i="1">
                <a:latin typeface="Arial"/>
                <a:cs typeface="Arial"/>
              </a:rPr>
              <a:t> </a:t>
            </a:r>
            <a:r>
              <a:rPr dirty="0" sz="1100" spc="-5" i="1">
                <a:latin typeface="Arial"/>
                <a:cs typeface="Arial"/>
              </a:rPr>
              <a:t>school</a:t>
            </a:r>
            <a:r>
              <a:rPr dirty="0" sz="1100" spc="80" i="1">
                <a:latin typeface="Arial"/>
                <a:cs typeface="Arial"/>
              </a:rPr>
              <a:t> </a:t>
            </a:r>
            <a:r>
              <a:rPr dirty="0" sz="1100" spc="-5" i="1">
                <a:latin typeface="Arial"/>
                <a:cs typeface="Arial"/>
              </a:rPr>
              <a:t>access</a:t>
            </a:r>
            <a:r>
              <a:rPr dirty="0" sz="1100" spc="85" i="1">
                <a:latin typeface="Arial"/>
                <a:cs typeface="Arial"/>
              </a:rPr>
              <a:t> </a:t>
            </a:r>
            <a:r>
              <a:rPr dirty="0" sz="1100" spc="-5" i="1">
                <a:latin typeface="Arial"/>
                <a:cs typeface="Arial"/>
              </a:rPr>
              <a:t>and</a:t>
            </a:r>
            <a:r>
              <a:rPr dirty="0" sz="1100" spc="80" i="1">
                <a:latin typeface="Arial"/>
                <a:cs typeface="Arial"/>
              </a:rPr>
              <a:t> </a:t>
            </a:r>
            <a:r>
              <a:rPr dirty="0" sz="1100" spc="-5" i="1">
                <a:latin typeface="Arial"/>
                <a:cs typeface="Arial"/>
              </a:rPr>
              <a:t>completion</a:t>
            </a:r>
            <a:r>
              <a:rPr dirty="0" sz="1100" spc="-5" b="1">
                <a:latin typeface="Arial"/>
                <a:cs typeface="Arial"/>
              </a:rPr>
              <a:t>,</a:t>
            </a:r>
            <a:r>
              <a:rPr dirty="0" sz="1100" spc="80" b="1">
                <a:latin typeface="Arial"/>
                <a:cs typeface="Arial"/>
              </a:rPr>
              <a:t> </a:t>
            </a:r>
            <a:r>
              <a:rPr dirty="0" sz="1100" spc="-5">
                <a:latin typeface="Arial"/>
                <a:cs typeface="Arial"/>
              </a:rPr>
              <a:t>is</a:t>
            </a:r>
            <a:endParaRPr sz="1100">
              <a:latin typeface="Arial"/>
              <a:cs typeface="Arial"/>
            </a:endParaRPr>
          </a:p>
        </p:txBody>
      </p:sp>
      <p:sp>
        <p:nvSpPr>
          <p:cNvPr id="7" name="object 7"/>
          <p:cNvSpPr txBox="1"/>
          <p:nvPr/>
        </p:nvSpPr>
        <p:spPr>
          <a:xfrm>
            <a:off x="901700" y="5881358"/>
            <a:ext cx="5969000" cy="27635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especially great in the least developed countries in Africa, where female literacy rates can be  less than half that of </a:t>
            </a:r>
            <a:r>
              <a:rPr dirty="0" sz="1100">
                <a:latin typeface="Arial"/>
                <a:cs typeface="Arial"/>
              </a:rPr>
              <a:t>men </a:t>
            </a:r>
            <a:r>
              <a:rPr dirty="0" sz="1100" spc="-5">
                <a:latin typeface="Arial"/>
                <a:cs typeface="Arial"/>
              </a:rPr>
              <a:t>in countries such as Niger, Mali, Guinea, and Benin. The gap is also  relatively large in South Asia; in India, the adult female literacy rate is just 47.8, which is just  65% of the male rate (the female youth literacy rate is 67.7, 80% of the male youth literacy rate).  In Pakistan, the adult female literacy rate is just 36%, only 57% of the male rate (in this case,  the female youth literacy rate is 54.7%, some 72% of the male</a:t>
            </a:r>
            <a:r>
              <a:rPr dirty="0" sz="1100" spc="70">
                <a:latin typeface="Arial"/>
                <a:cs typeface="Arial"/>
              </a:rPr>
              <a:t> </a:t>
            </a:r>
            <a:r>
              <a:rPr dirty="0" sz="1100" spc="-5">
                <a:latin typeface="Arial"/>
                <a:cs typeface="Arial"/>
              </a:rPr>
              <a:t>rate).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In most low income countries and many middle-income countries, women make up a minority—  sometimes a small minority—of college students. But the long term trend in higher-income  countries for a significantly higher </a:t>
            </a:r>
            <a:r>
              <a:rPr dirty="0" sz="1100">
                <a:latin typeface="Arial"/>
                <a:cs typeface="Arial"/>
              </a:rPr>
              <a:t>and </a:t>
            </a:r>
            <a:r>
              <a:rPr dirty="0" sz="1100" spc="-5">
                <a:latin typeface="Arial"/>
                <a:cs typeface="Arial"/>
              </a:rPr>
              <a:t>growing share of female than </a:t>
            </a:r>
            <a:r>
              <a:rPr dirty="0" sz="1100">
                <a:latin typeface="Arial"/>
                <a:cs typeface="Arial"/>
              </a:rPr>
              <a:t>male </a:t>
            </a:r>
            <a:r>
              <a:rPr dirty="0" sz="1100" spc="-5">
                <a:latin typeface="Arial"/>
                <a:cs typeface="Arial"/>
              </a:rPr>
              <a:t>enrollment in tertiary  (university) education has been extending recently to many upper-middle-income countries in  the Middle East, Latin America, and</a:t>
            </a:r>
            <a:r>
              <a:rPr dirty="0" sz="1100" spc="25">
                <a:latin typeface="Arial"/>
                <a:cs typeface="Arial"/>
              </a:rPr>
              <a:t> </a:t>
            </a:r>
            <a:r>
              <a:rPr dirty="0" sz="1100" spc="-5">
                <a:latin typeface="Arial"/>
                <a:cs typeface="Arial"/>
              </a:rPr>
              <a:t>elsewhere.</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School completion is also subject to gender inequalities, and the gap is often particularly large in  rural areas. For example, in rural Pakistan, 42% of males complete their primary education,  while only 17% of females do. In the cities, the gender gap is smaller though still substantial, as  64% of males complete primary education versus 50% of females in urban</a:t>
            </a:r>
            <a:r>
              <a:rPr dirty="0" sz="1100" spc="100">
                <a:latin typeface="Arial"/>
                <a:cs typeface="Arial"/>
              </a:rPr>
              <a:t> </a:t>
            </a:r>
            <a:r>
              <a:rPr dirty="0" sz="1100" spc="-5">
                <a:latin typeface="Arial"/>
                <a:cs typeface="Arial"/>
              </a:rPr>
              <a:t>areas.</a:t>
            </a:r>
            <a:endParaRPr sz="1100">
              <a:latin typeface="Arial"/>
              <a:cs typeface="Arial"/>
            </a:endParaRPr>
          </a:p>
        </p:txBody>
      </p:sp>
      <p:sp>
        <p:nvSpPr>
          <p:cNvPr id="8" name="object 8"/>
          <p:cNvSpPr/>
          <p:nvPr/>
        </p:nvSpPr>
        <p:spPr>
          <a:xfrm>
            <a:off x="2119101" y="3264805"/>
            <a:ext cx="3524331" cy="260673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103</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1053336"/>
            <a:ext cx="5970905" cy="794639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CLOSING THE EDUCATIONAL GENDER GAP IS</a:t>
            </a:r>
            <a:r>
              <a:rPr dirty="0" sz="1100" spc="20" b="1">
                <a:latin typeface="Arial"/>
                <a:cs typeface="Arial"/>
              </a:rPr>
              <a:t> </a:t>
            </a:r>
            <a:r>
              <a:rPr dirty="0" sz="1100" spc="-5" b="1">
                <a:latin typeface="Arial"/>
                <a:cs typeface="Arial"/>
              </a:rPr>
              <a:t>IMPORTANT</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Empirical evidence shows that educational discrimination against women hinders economic  development in addition to reinforcing social inequality. Closing the educational gender gap by  expanding educational opportunities for women, a key plan of the Millennium Development  Goals is economically desirable for following</a:t>
            </a:r>
            <a:r>
              <a:rPr dirty="0" sz="1100" spc="35">
                <a:latin typeface="Arial"/>
                <a:cs typeface="Arial"/>
              </a:rPr>
              <a:t> </a:t>
            </a:r>
            <a:r>
              <a:rPr dirty="0" sz="1100" spc="-5" b="1">
                <a:latin typeface="Arial"/>
                <a:cs typeface="Arial"/>
              </a:rPr>
              <a:t>reasons:</a:t>
            </a:r>
            <a:endParaRPr sz="1100">
              <a:latin typeface="Arial"/>
              <a:cs typeface="Arial"/>
            </a:endParaRPr>
          </a:p>
          <a:p>
            <a:pPr>
              <a:lnSpc>
                <a:spcPct val="100000"/>
              </a:lnSpc>
              <a:spcBef>
                <a:spcPts val="30"/>
              </a:spcBef>
            </a:pPr>
            <a:endParaRPr sz="1100">
              <a:latin typeface="Arial"/>
              <a:cs typeface="Arial"/>
            </a:endParaRPr>
          </a:p>
          <a:p>
            <a:pPr algn="just" marL="469900" marR="5080" indent="-228600">
              <a:lnSpc>
                <a:spcPts val="1270"/>
              </a:lnSpc>
              <a:buFont typeface="Arial"/>
              <a:buAutoNum type="arabicPeriod"/>
              <a:tabLst>
                <a:tab pos="469900" algn="l"/>
              </a:tabLst>
            </a:pPr>
            <a:r>
              <a:rPr dirty="0" sz="1100" spc="-5">
                <a:latin typeface="Arial"/>
                <a:cs typeface="Arial"/>
              </a:rPr>
              <a:t>The rate of return on women’s education is higher than that on men’s in most developing  countries.</a:t>
            </a:r>
            <a:endParaRPr sz="1100">
              <a:latin typeface="Arial"/>
              <a:cs typeface="Arial"/>
            </a:endParaRPr>
          </a:p>
          <a:p>
            <a:pPr algn="just" marL="469900" indent="-228600">
              <a:lnSpc>
                <a:spcPts val="1195"/>
              </a:lnSpc>
              <a:buFont typeface="Arial"/>
              <a:buAutoNum type="arabicPeriod"/>
              <a:tabLst>
                <a:tab pos="469900" algn="l"/>
              </a:tabLst>
            </a:pPr>
            <a:r>
              <a:rPr dirty="0" sz="1100" spc="-5">
                <a:latin typeface="Arial"/>
                <a:cs typeface="Arial"/>
              </a:rPr>
              <a:t>Increasing</a:t>
            </a:r>
            <a:r>
              <a:rPr dirty="0" sz="1100" spc="80">
                <a:latin typeface="Arial"/>
                <a:cs typeface="Arial"/>
              </a:rPr>
              <a:t> </a:t>
            </a:r>
            <a:r>
              <a:rPr dirty="0" sz="1100" spc="-5">
                <a:latin typeface="Arial"/>
                <a:cs typeface="Arial"/>
              </a:rPr>
              <a:t>women’s</a:t>
            </a:r>
            <a:r>
              <a:rPr dirty="0" sz="1100" spc="85">
                <a:latin typeface="Arial"/>
                <a:cs typeface="Arial"/>
              </a:rPr>
              <a:t> </a:t>
            </a:r>
            <a:r>
              <a:rPr dirty="0" sz="1100" spc="-5">
                <a:latin typeface="Arial"/>
                <a:cs typeface="Arial"/>
              </a:rPr>
              <a:t>education</a:t>
            </a:r>
            <a:r>
              <a:rPr dirty="0" sz="1100" spc="90">
                <a:latin typeface="Arial"/>
                <a:cs typeface="Arial"/>
              </a:rPr>
              <a:t> </a:t>
            </a:r>
            <a:r>
              <a:rPr dirty="0" sz="1100" spc="-5">
                <a:latin typeface="Arial"/>
                <a:cs typeface="Arial"/>
              </a:rPr>
              <a:t>not</a:t>
            </a:r>
            <a:r>
              <a:rPr dirty="0" sz="1100" spc="90">
                <a:latin typeface="Arial"/>
                <a:cs typeface="Arial"/>
              </a:rPr>
              <a:t> </a:t>
            </a:r>
            <a:r>
              <a:rPr dirty="0" sz="1100" spc="-5">
                <a:latin typeface="Arial"/>
                <a:cs typeface="Arial"/>
              </a:rPr>
              <a:t>only</a:t>
            </a:r>
            <a:r>
              <a:rPr dirty="0" sz="1100" spc="85">
                <a:latin typeface="Arial"/>
                <a:cs typeface="Arial"/>
              </a:rPr>
              <a:t> </a:t>
            </a:r>
            <a:r>
              <a:rPr dirty="0" sz="1100" spc="-5">
                <a:latin typeface="Arial"/>
                <a:cs typeface="Arial"/>
              </a:rPr>
              <a:t>increases</a:t>
            </a:r>
            <a:r>
              <a:rPr dirty="0" sz="1100" spc="90">
                <a:latin typeface="Arial"/>
                <a:cs typeface="Arial"/>
              </a:rPr>
              <a:t> </a:t>
            </a:r>
            <a:r>
              <a:rPr dirty="0" sz="1100" spc="-5">
                <a:latin typeface="Arial"/>
                <a:cs typeface="Arial"/>
              </a:rPr>
              <a:t>their</a:t>
            </a:r>
            <a:r>
              <a:rPr dirty="0" sz="1100" spc="85">
                <a:latin typeface="Arial"/>
                <a:cs typeface="Arial"/>
              </a:rPr>
              <a:t> </a:t>
            </a:r>
            <a:r>
              <a:rPr dirty="0" sz="1100" spc="-5">
                <a:latin typeface="Arial"/>
                <a:cs typeface="Arial"/>
              </a:rPr>
              <a:t>productivity</a:t>
            </a:r>
            <a:r>
              <a:rPr dirty="0" sz="1100" spc="90">
                <a:latin typeface="Arial"/>
                <a:cs typeface="Arial"/>
              </a:rPr>
              <a:t> </a:t>
            </a:r>
            <a:r>
              <a:rPr dirty="0" sz="1100" spc="-5">
                <a:latin typeface="Arial"/>
                <a:cs typeface="Arial"/>
              </a:rPr>
              <a:t>in</a:t>
            </a:r>
            <a:r>
              <a:rPr dirty="0" sz="1100" spc="85">
                <a:latin typeface="Arial"/>
                <a:cs typeface="Arial"/>
              </a:rPr>
              <a:t> </a:t>
            </a:r>
            <a:r>
              <a:rPr dirty="0" sz="1100">
                <a:latin typeface="Arial"/>
                <a:cs typeface="Arial"/>
              </a:rPr>
              <a:t>the</a:t>
            </a:r>
            <a:r>
              <a:rPr dirty="0" sz="1100" spc="90">
                <a:latin typeface="Arial"/>
                <a:cs typeface="Arial"/>
              </a:rPr>
              <a:t> </a:t>
            </a:r>
            <a:r>
              <a:rPr dirty="0" sz="1100" spc="-5">
                <a:latin typeface="Arial"/>
                <a:cs typeface="Arial"/>
              </a:rPr>
              <a:t>workplace</a:t>
            </a:r>
            <a:r>
              <a:rPr dirty="0" sz="1100" spc="85">
                <a:latin typeface="Arial"/>
                <a:cs typeface="Arial"/>
              </a:rPr>
              <a:t> </a:t>
            </a:r>
            <a:r>
              <a:rPr dirty="0" sz="1100" spc="-5">
                <a:latin typeface="Arial"/>
                <a:cs typeface="Arial"/>
              </a:rPr>
              <a:t>but</a:t>
            </a:r>
            <a:endParaRPr sz="1100">
              <a:latin typeface="Arial"/>
              <a:cs typeface="Arial"/>
            </a:endParaRPr>
          </a:p>
          <a:p>
            <a:pPr algn="just" marL="469900" marR="6985">
              <a:lnSpc>
                <a:spcPts val="1270"/>
              </a:lnSpc>
              <a:spcBef>
                <a:spcPts val="60"/>
              </a:spcBef>
            </a:pPr>
            <a:r>
              <a:rPr dirty="0" sz="1100" spc="-5">
                <a:latin typeface="Arial"/>
                <a:cs typeface="Arial"/>
              </a:rPr>
              <a:t>also results in greater labor force participation, later marriage, lower fertility, and greatly  improved </a:t>
            </a:r>
            <a:r>
              <a:rPr dirty="0" sz="1100">
                <a:latin typeface="Arial"/>
                <a:cs typeface="Arial"/>
              </a:rPr>
              <a:t>child </a:t>
            </a:r>
            <a:r>
              <a:rPr dirty="0" sz="1100" spc="-5">
                <a:latin typeface="Arial"/>
                <a:cs typeface="Arial"/>
              </a:rPr>
              <a:t>health and nutrition, thus benefiting the next generation as</a:t>
            </a:r>
            <a:r>
              <a:rPr dirty="0" sz="1100" spc="105">
                <a:latin typeface="Arial"/>
                <a:cs typeface="Arial"/>
              </a:rPr>
              <a:t> </a:t>
            </a:r>
            <a:r>
              <a:rPr dirty="0" sz="1100" spc="-5">
                <a:latin typeface="Arial"/>
                <a:cs typeface="Arial"/>
              </a:rPr>
              <a:t>well.</a:t>
            </a:r>
            <a:endParaRPr sz="1100">
              <a:latin typeface="Arial"/>
              <a:cs typeface="Arial"/>
            </a:endParaRPr>
          </a:p>
          <a:p>
            <a:pPr algn="just" marL="469900" indent="-228600">
              <a:lnSpc>
                <a:spcPts val="1200"/>
              </a:lnSpc>
              <a:buFont typeface="Arial"/>
              <a:buAutoNum type="arabicPeriod" startAt="3"/>
              <a:tabLst>
                <a:tab pos="469900" algn="l"/>
              </a:tabLst>
            </a:pPr>
            <a:r>
              <a:rPr dirty="0" sz="1100" spc="-5">
                <a:latin typeface="Arial"/>
                <a:cs typeface="Arial"/>
              </a:rPr>
              <a:t>Educated mothers have a multiplier impact on future</a:t>
            </a:r>
            <a:r>
              <a:rPr dirty="0" sz="1100" spc="55">
                <a:latin typeface="Arial"/>
                <a:cs typeface="Arial"/>
              </a:rPr>
              <a:t> </a:t>
            </a:r>
            <a:r>
              <a:rPr dirty="0" sz="1100" spc="-5">
                <a:latin typeface="Arial"/>
                <a:cs typeface="Arial"/>
              </a:rPr>
              <a:t>generations.</a:t>
            </a:r>
            <a:endParaRPr sz="1100">
              <a:latin typeface="Arial"/>
              <a:cs typeface="Arial"/>
            </a:endParaRPr>
          </a:p>
          <a:p>
            <a:pPr algn="just" marL="469900" marR="6350" indent="-228600">
              <a:lnSpc>
                <a:spcPct val="95700"/>
              </a:lnSpc>
              <a:spcBef>
                <a:spcPts val="25"/>
              </a:spcBef>
              <a:buFont typeface="Arial"/>
              <a:buAutoNum type="arabicPeriod" startAt="3"/>
              <a:tabLst>
                <a:tab pos="469900" algn="l"/>
              </a:tabLst>
            </a:pPr>
            <a:r>
              <a:rPr dirty="0" sz="1100" spc="-5">
                <a:latin typeface="Arial"/>
                <a:cs typeface="Arial"/>
              </a:rPr>
              <a:t>Because women carry a disproportionate burden of poverty, any significant  improvements in their role and status via education can have an important impact on  breaking the vicious circle of poverty and inadequate</a:t>
            </a:r>
            <a:r>
              <a:rPr dirty="0" sz="1100" spc="50">
                <a:latin typeface="Arial"/>
                <a:cs typeface="Arial"/>
              </a:rPr>
              <a:t> </a:t>
            </a:r>
            <a:r>
              <a:rPr dirty="0" sz="1100" spc="-5">
                <a:latin typeface="Arial"/>
                <a:cs typeface="Arial"/>
              </a:rPr>
              <a:t>schooling.</a:t>
            </a:r>
            <a:endParaRPr sz="1100">
              <a:latin typeface="Arial"/>
              <a:cs typeface="Arial"/>
            </a:endParaRPr>
          </a:p>
          <a:p>
            <a:pPr algn="just" marL="469900" marR="7620" indent="-228600">
              <a:lnSpc>
                <a:spcPts val="1270"/>
              </a:lnSpc>
              <a:spcBef>
                <a:spcPts val="30"/>
              </a:spcBef>
              <a:buFont typeface="Arial"/>
              <a:buAutoNum type="arabicPeriod" startAt="3"/>
              <a:tabLst>
                <a:tab pos="469900" algn="l"/>
              </a:tabLst>
            </a:pPr>
            <a:r>
              <a:rPr dirty="0" sz="1100" spc="-5">
                <a:latin typeface="Arial"/>
                <a:cs typeface="Arial"/>
              </a:rPr>
              <a:t>Good news: Millennium Development Goals on parity being approached, progress in  every developing</a:t>
            </a:r>
            <a:r>
              <a:rPr dirty="0" sz="1100">
                <a:latin typeface="Arial"/>
                <a:cs typeface="Arial"/>
              </a:rPr>
              <a:t> </a:t>
            </a:r>
            <a:r>
              <a:rPr dirty="0" sz="1100" spc="-5">
                <a:latin typeface="Arial"/>
                <a:cs typeface="Arial"/>
              </a:rPr>
              <a:t>region.</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10" b="1">
                <a:latin typeface="Arial"/>
                <a:cs typeface="Arial"/>
              </a:rPr>
              <a:t>HEALTH </a:t>
            </a:r>
            <a:r>
              <a:rPr dirty="0" sz="1100" spc="-5" b="1">
                <a:latin typeface="Arial"/>
                <a:cs typeface="Arial"/>
              </a:rPr>
              <a:t>AND</a:t>
            </a:r>
            <a:r>
              <a:rPr dirty="0" sz="1100" spc="10" b="1">
                <a:latin typeface="Arial"/>
                <a:cs typeface="Arial"/>
              </a:rPr>
              <a:t> </a:t>
            </a:r>
            <a:r>
              <a:rPr dirty="0" sz="1100" spc="-5" b="1">
                <a:latin typeface="Arial"/>
                <a:cs typeface="Arial"/>
              </a:rPr>
              <a:t>GENDER</a:t>
            </a:r>
            <a:endParaRPr sz="1100">
              <a:latin typeface="Arial"/>
              <a:cs typeface="Arial"/>
            </a:endParaRPr>
          </a:p>
          <a:p>
            <a:pPr>
              <a:lnSpc>
                <a:spcPct val="100000"/>
              </a:lnSpc>
              <a:spcBef>
                <a:spcPts val="25"/>
              </a:spcBef>
            </a:pPr>
            <a:endParaRPr sz="1200">
              <a:latin typeface="Arial"/>
              <a:cs typeface="Arial"/>
            </a:endParaRPr>
          </a:p>
          <a:p>
            <a:pPr algn="just" marL="12700" marR="5715">
              <a:lnSpc>
                <a:spcPts val="1270"/>
              </a:lnSpc>
            </a:pPr>
            <a:r>
              <a:rPr dirty="0" sz="1100" spc="-5">
                <a:latin typeface="Arial"/>
                <a:cs typeface="Arial"/>
              </a:rPr>
              <a:t>Girls also face discrimination in health care in many </a:t>
            </a:r>
            <a:r>
              <a:rPr dirty="0" sz="1100">
                <a:latin typeface="Arial"/>
                <a:cs typeface="Arial"/>
              </a:rPr>
              <a:t>developing </a:t>
            </a:r>
            <a:r>
              <a:rPr dirty="0" sz="1100" spc="-5">
                <a:latin typeface="Arial"/>
                <a:cs typeface="Arial"/>
              </a:rPr>
              <a:t>countries. In South Asia, for  example, studies show that families are far more likely to take an ill boy than an ill girl to a  health center. Women are often denied reproductive rights, whether legally or illegally. Broadly,  health spending on men is often substantially higher than that on</a:t>
            </a:r>
            <a:r>
              <a:rPr dirty="0" sz="1100" spc="75">
                <a:latin typeface="Arial"/>
                <a:cs typeface="Arial"/>
              </a:rPr>
              <a:t> </a:t>
            </a:r>
            <a:r>
              <a:rPr dirty="0" sz="1100" spc="-5">
                <a:latin typeface="Arial"/>
                <a:cs typeface="Arial"/>
              </a:rPr>
              <a:t>women.</a:t>
            </a:r>
            <a:endParaRPr sz="1100">
              <a:latin typeface="Arial"/>
              <a:cs typeface="Arial"/>
            </a:endParaRPr>
          </a:p>
          <a:p>
            <a:pPr algn="just" marL="12700">
              <a:lnSpc>
                <a:spcPts val="1190"/>
              </a:lnSpc>
            </a:pPr>
            <a:r>
              <a:rPr dirty="0" sz="1100" spc="-5">
                <a:latin typeface="Arial"/>
                <a:cs typeface="Arial"/>
              </a:rPr>
              <a:t>Female</a:t>
            </a:r>
            <a:r>
              <a:rPr dirty="0" sz="1100" spc="30">
                <a:latin typeface="Arial"/>
                <a:cs typeface="Arial"/>
              </a:rPr>
              <a:t> </a:t>
            </a:r>
            <a:r>
              <a:rPr dirty="0" sz="1100" spc="-5">
                <a:latin typeface="Arial"/>
                <a:cs typeface="Arial"/>
              </a:rPr>
              <a:t>genital</a:t>
            </a:r>
            <a:r>
              <a:rPr dirty="0" sz="1100" spc="30">
                <a:latin typeface="Arial"/>
                <a:cs typeface="Arial"/>
              </a:rPr>
              <a:t> </a:t>
            </a:r>
            <a:r>
              <a:rPr dirty="0" sz="1100" spc="-5">
                <a:latin typeface="Arial"/>
                <a:cs typeface="Arial"/>
              </a:rPr>
              <a:t>mutilation/cutting</a:t>
            </a:r>
            <a:r>
              <a:rPr dirty="0" sz="1100" spc="30">
                <a:latin typeface="Arial"/>
                <a:cs typeface="Arial"/>
              </a:rPr>
              <a:t> </a:t>
            </a:r>
            <a:r>
              <a:rPr dirty="0" sz="1100" spc="-5">
                <a:latin typeface="Arial"/>
                <a:cs typeface="Arial"/>
              </a:rPr>
              <a:t>(FGM/C)</a:t>
            </a:r>
            <a:r>
              <a:rPr dirty="0" sz="1100" spc="30">
                <a:latin typeface="Arial"/>
                <a:cs typeface="Arial"/>
              </a:rPr>
              <a:t> </a:t>
            </a:r>
            <a:r>
              <a:rPr dirty="0" sz="1100" spc="-5">
                <a:latin typeface="Arial"/>
                <a:cs typeface="Arial"/>
              </a:rPr>
              <a:t>is</a:t>
            </a:r>
            <a:r>
              <a:rPr dirty="0" sz="1100" spc="30">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health</a:t>
            </a:r>
            <a:r>
              <a:rPr dirty="0" sz="1100" spc="30">
                <a:latin typeface="Arial"/>
                <a:cs typeface="Arial"/>
              </a:rPr>
              <a:t> </a:t>
            </a:r>
            <a:r>
              <a:rPr dirty="0" sz="1100" spc="-5">
                <a:latin typeface="Arial"/>
                <a:cs typeface="Arial"/>
              </a:rPr>
              <a:t>and</a:t>
            </a:r>
            <a:r>
              <a:rPr dirty="0" sz="1100" spc="25">
                <a:latin typeface="Arial"/>
                <a:cs typeface="Arial"/>
              </a:rPr>
              <a:t> </a:t>
            </a:r>
            <a:r>
              <a:rPr dirty="0" sz="1100" spc="-5">
                <a:latin typeface="Arial"/>
                <a:cs typeface="Arial"/>
              </a:rPr>
              <a:t>gender</a:t>
            </a:r>
            <a:r>
              <a:rPr dirty="0" sz="1100" spc="30">
                <a:latin typeface="Arial"/>
                <a:cs typeface="Arial"/>
              </a:rPr>
              <a:t> </a:t>
            </a:r>
            <a:r>
              <a:rPr dirty="0" sz="1100" spc="-5">
                <a:latin typeface="Arial"/>
                <a:cs typeface="Arial"/>
              </a:rPr>
              <a:t>tragedy,</a:t>
            </a:r>
            <a:r>
              <a:rPr dirty="0" sz="1100" spc="30">
                <a:latin typeface="Arial"/>
                <a:cs typeface="Arial"/>
              </a:rPr>
              <a:t> </a:t>
            </a:r>
            <a:r>
              <a:rPr dirty="0" sz="1100" spc="-5">
                <a:latin typeface="Arial"/>
                <a:cs typeface="Arial"/>
              </a:rPr>
              <a:t>explained</a:t>
            </a:r>
            <a:r>
              <a:rPr dirty="0" sz="1100" spc="30">
                <a:latin typeface="Arial"/>
                <a:cs typeface="Arial"/>
              </a:rPr>
              <a:t> </a:t>
            </a:r>
            <a:r>
              <a:rPr dirty="0" sz="1100" spc="-5">
                <a:latin typeface="Arial"/>
                <a:cs typeface="Arial"/>
              </a:rPr>
              <a:t>in</a:t>
            </a:r>
            <a:r>
              <a:rPr dirty="0" sz="1100" spc="3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2005</a:t>
            </a:r>
            <a:endParaRPr sz="1100">
              <a:latin typeface="Arial"/>
              <a:cs typeface="Arial"/>
            </a:endParaRPr>
          </a:p>
          <a:p>
            <a:pPr algn="just" marL="12700" marR="6350">
              <a:lnSpc>
                <a:spcPct val="95900"/>
              </a:lnSpc>
              <a:spcBef>
                <a:spcPts val="25"/>
              </a:spcBef>
            </a:pPr>
            <a:r>
              <a:rPr dirty="0" sz="1100" spc="-5">
                <a:latin typeface="Arial"/>
                <a:cs typeface="Arial"/>
              </a:rPr>
              <a:t>UNICEF </a:t>
            </a:r>
            <a:r>
              <a:rPr dirty="0" sz="1100">
                <a:latin typeface="Arial"/>
                <a:cs typeface="Arial"/>
              </a:rPr>
              <a:t>report </a:t>
            </a:r>
            <a:r>
              <a:rPr dirty="0" sz="1100" spc="-5">
                <a:latin typeface="Arial"/>
                <a:cs typeface="Arial"/>
              </a:rPr>
              <a:t>changing a Harmful Social Convention: Female Genital Mutilation/Cutting.  FGM/C is most widely practiced in sub-Saharan Africa and the Middle East and is believed to  have affected about 130million women. This practice, which is dangerous and a violation of the  most basic rights, does not only result from </a:t>
            </a:r>
            <a:r>
              <a:rPr dirty="0" sz="1100">
                <a:latin typeface="Arial"/>
                <a:cs typeface="Arial"/>
              </a:rPr>
              <a:t>decisions </a:t>
            </a:r>
            <a:r>
              <a:rPr dirty="0" sz="1100" spc="-5">
                <a:latin typeface="Arial"/>
                <a:cs typeface="Arial"/>
              </a:rPr>
              <a:t>made by men; many mothers who have  undergone FGM/C also require their daughters to do so. If most other families practice FGM/C,  it becomes difficult for any one </a:t>
            </a:r>
            <a:r>
              <a:rPr dirty="0" sz="1100">
                <a:latin typeface="Arial"/>
                <a:cs typeface="Arial"/>
              </a:rPr>
              <a:t>family </a:t>
            </a:r>
            <a:r>
              <a:rPr dirty="0" sz="1100" spc="-5">
                <a:latin typeface="Arial"/>
                <a:cs typeface="Arial"/>
              </a:rPr>
              <a:t>to refuse to take part, to </a:t>
            </a:r>
            <a:r>
              <a:rPr dirty="0" sz="1100">
                <a:latin typeface="Arial"/>
                <a:cs typeface="Arial"/>
              </a:rPr>
              <a:t>avoid </a:t>
            </a:r>
            <a:r>
              <a:rPr dirty="0" sz="1100" spc="-5">
                <a:latin typeface="Arial"/>
                <a:cs typeface="Arial"/>
              </a:rPr>
              <a:t>the perceived resulting  “dishonor” to the daughter and her family and </a:t>
            </a:r>
            <a:r>
              <a:rPr dirty="0" sz="1100">
                <a:latin typeface="Arial"/>
                <a:cs typeface="Arial"/>
              </a:rPr>
              <a:t>lost </a:t>
            </a:r>
            <a:r>
              <a:rPr dirty="0" sz="1100" spc="-5">
                <a:latin typeface="Arial"/>
                <a:cs typeface="Arial"/>
              </a:rPr>
              <a:t>“marriage ability”. The general problem fits  the model of multiple equilibria associated with social norms or conventions, such as foot  binding, an interpretation suggested by Gerry Mackie drawing on work of </a:t>
            </a:r>
            <a:r>
              <a:rPr dirty="0" sz="1100">
                <a:latin typeface="Arial"/>
                <a:cs typeface="Arial"/>
              </a:rPr>
              <a:t>Nobel </a:t>
            </a:r>
            <a:r>
              <a:rPr dirty="0" sz="1100" spc="-5">
                <a:latin typeface="Arial"/>
                <a:cs typeface="Arial"/>
              </a:rPr>
              <a:t>laureate  Thomas Schelling.</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CONSEQUENCES OF GENDER BIAS IN HEALTH AND</a:t>
            </a:r>
            <a:r>
              <a:rPr dirty="0" sz="1100" spc="40" b="1">
                <a:latin typeface="Arial"/>
                <a:cs typeface="Arial"/>
              </a:rPr>
              <a:t> </a:t>
            </a:r>
            <a:r>
              <a:rPr dirty="0" sz="1100" spc="-5" b="1">
                <a:latin typeface="Arial"/>
                <a:cs typeface="Arial"/>
              </a:rPr>
              <a:t>EDUCATION</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spcBef>
                <a:spcPts val="5"/>
              </a:spcBef>
            </a:pPr>
            <a:r>
              <a:rPr dirty="0" sz="1100" spc="-5">
                <a:latin typeface="Arial"/>
                <a:cs typeface="Arial"/>
              </a:rPr>
              <a:t>Studies from around the developing world consistently show that expansion of basic education  of girls earns among the very highest rates of return of any investment—much larger, for  example, </a:t>
            </a:r>
            <a:r>
              <a:rPr dirty="0" sz="1100">
                <a:latin typeface="Arial"/>
                <a:cs typeface="Arial"/>
              </a:rPr>
              <a:t>than </a:t>
            </a:r>
            <a:r>
              <a:rPr dirty="0" sz="1100" spc="-5">
                <a:latin typeface="Arial"/>
                <a:cs typeface="Arial"/>
              </a:rPr>
              <a:t>most public infrastructure projects. One estimate is that the global cost of </a:t>
            </a:r>
            <a:r>
              <a:rPr dirty="0" sz="1100" spc="-5" i="1">
                <a:latin typeface="Arial"/>
                <a:cs typeface="Arial"/>
              </a:rPr>
              <a:t>failing  </a:t>
            </a:r>
            <a:r>
              <a:rPr dirty="0" sz="1100" spc="-5">
                <a:latin typeface="Arial"/>
                <a:cs typeface="Arial"/>
              </a:rPr>
              <a:t>to educate girls is about $92 billion a year. This is one reason why discrimination against girls in  education is not just inequitable but very costly from the standpoint of achieving development  goals.</a:t>
            </a:r>
            <a:endParaRPr sz="1100">
              <a:latin typeface="Arial"/>
              <a:cs typeface="Arial"/>
            </a:endParaRPr>
          </a:p>
          <a:p>
            <a:pPr algn="just" marL="12700" marR="6350">
              <a:lnSpc>
                <a:spcPct val="95800"/>
              </a:lnSpc>
            </a:pPr>
            <a:r>
              <a:rPr dirty="0" sz="1100" spc="-5">
                <a:latin typeface="Arial"/>
                <a:cs typeface="Arial"/>
              </a:rPr>
              <a:t>Inferior education and health care access for girls shows the interlinked nature of economic  incentives and the cultural setting. In many </a:t>
            </a:r>
            <a:r>
              <a:rPr dirty="0" sz="1100">
                <a:latin typeface="Arial"/>
                <a:cs typeface="Arial"/>
              </a:rPr>
              <a:t>parts </a:t>
            </a:r>
            <a:r>
              <a:rPr dirty="0" sz="1100" spc="-5">
                <a:latin typeface="Arial"/>
                <a:cs typeface="Arial"/>
              </a:rPr>
              <a:t>of Asia, a boy provides future economic  benefits, such as support of parents in their old age and possible receipt of a dowry upon  marriage, and often continues to work on the farm into adulthood. A girl, in contrast, may</a:t>
            </a:r>
            <a:r>
              <a:rPr dirty="0" sz="1100" spc="35">
                <a:latin typeface="Arial"/>
                <a:cs typeface="Arial"/>
              </a:rPr>
              <a:t> </a:t>
            </a:r>
            <a:r>
              <a:rPr dirty="0" sz="1100" spc="-5">
                <a:latin typeface="Arial"/>
                <a:cs typeface="Arial"/>
              </a:rPr>
              <a:t>require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104</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69635" cy="196024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 dowry </a:t>
            </a:r>
            <a:r>
              <a:rPr dirty="0" sz="1100">
                <a:latin typeface="Arial"/>
                <a:cs typeface="Arial"/>
              </a:rPr>
              <a:t>upon </a:t>
            </a:r>
            <a:r>
              <a:rPr dirty="0" sz="1100" spc="-5">
                <a:latin typeface="Arial"/>
                <a:cs typeface="Arial"/>
              </a:rPr>
              <a:t>marriage, often at a young age, and will then move to the village of her husband’s  family, becoming responsible for the welfare of her husband’s parents rather than her own. A  girl from a poor rural family in South Asia will in many cases perceive no suitable alternatives in  life than serving a husband and his family; indeed, a more educated girl may be considered  “less marriageable.” For the parents, treatment of disease may be expensive and may require  several days lost from work to go </a:t>
            </a:r>
            <a:r>
              <a:rPr dirty="0" sz="1100">
                <a:latin typeface="Arial"/>
                <a:cs typeface="Arial"/>
              </a:rPr>
              <a:t>into </a:t>
            </a:r>
            <a:r>
              <a:rPr dirty="0" sz="1100" spc="-5">
                <a:latin typeface="Arial"/>
                <a:cs typeface="Arial"/>
              </a:rPr>
              <a:t>town for medical attention. Empirical studies demonstrate  what we </a:t>
            </a:r>
            <a:r>
              <a:rPr dirty="0" sz="1100">
                <a:latin typeface="Arial"/>
                <a:cs typeface="Arial"/>
              </a:rPr>
              <a:t>might </a:t>
            </a:r>
            <a:r>
              <a:rPr dirty="0" sz="1100" spc="-5">
                <a:latin typeface="Arial"/>
                <a:cs typeface="Arial"/>
              </a:rPr>
              <a:t>guess from these perverse incentives: Often more strenuous efforts are made to  save the life of a son than a daughter, and girls generally receive less schooling than</a:t>
            </a:r>
            <a:r>
              <a:rPr dirty="0" sz="1100" spc="190">
                <a:latin typeface="Arial"/>
                <a:cs typeface="Arial"/>
              </a:rPr>
              <a:t> </a:t>
            </a:r>
            <a:r>
              <a:rPr dirty="0" sz="1100" spc="-5">
                <a:latin typeface="Arial"/>
                <a:cs typeface="Arial"/>
              </a:rPr>
              <a:t>boys.</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The bias toward boys helps explain the </a:t>
            </a:r>
            <a:r>
              <a:rPr dirty="0" sz="1100" spc="-5" b="1">
                <a:latin typeface="Arial"/>
                <a:cs typeface="Arial"/>
              </a:rPr>
              <a:t>“missing </a:t>
            </a:r>
            <a:r>
              <a:rPr dirty="0" sz="1100" b="1">
                <a:latin typeface="Arial"/>
                <a:cs typeface="Arial"/>
              </a:rPr>
              <a:t>women” </a:t>
            </a:r>
            <a:r>
              <a:rPr dirty="0" sz="1100" spc="-5">
                <a:latin typeface="Arial"/>
                <a:cs typeface="Arial"/>
              </a:rPr>
              <a:t>mystery. In Asia, the United Nations  has found that there are far fewer females as a share of the population than would be predicted  by</a:t>
            </a:r>
            <a:r>
              <a:rPr dirty="0" sz="1100" spc="125">
                <a:latin typeface="Arial"/>
                <a:cs typeface="Arial"/>
              </a:rPr>
              <a:t> </a:t>
            </a:r>
            <a:r>
              <a:rPr dirty="0" sz="1100" spc="-5">
                <a:latin typeface="Arial"/>
                <a:cs typeface="Arial"/>
              </a:rPr>
              <a:t>demographic</a:t>
            </a:r>
            <a:r>
              <a:rPr dirty="0" sz="1100" spc="130">
                <a:latin typeface="Arial"/>
                <a:cs typeface="Arial"/>
              </a:rPr>
              <a:t> </a:t>
            </a:r>
            <a:r>
              <a:rPr dirty="0" sz="1100" spc="-5">
                <a:latin typeface="Arial"/>
                <a:cs typeface="Arial"/>
              </a:rPr>
              <a:t>norms.</a:t>
            </a:r>
            <a:r>
              <a:rPr dirty="0" sz="1100" spc="114">
                <a:latin typeface="Arial"/>
                <a:cs typeface="Arial"/>
              </a:rPr>
              <a:t> </a:t>
            </a:r>
            <a:r>
              <a:rPr dirty="0" sz="1100" spc="-5">
                <a:latin typeface="Arial"/>
                <a:cs typeface="Arial"/>
              </a:rPr>
              <a:t>A</a:t>
            </a:r>
            <a:r>
              <a:rPr dirty="0" sz="1100" spc="130">
                <a:latin typeface="Arial"/>
                <a:cs typeface="Arial"/>
              </a:rPr>
              <a:t> </a:t>
            </a:r>
            <a:r>
              <a:rPr dirty="0" sz="1100" spc="-5">
                <a:latin typeface="Arial"/>
                <a:cs typeface="Arial"/>
              </a:rPr>
              <a:t>large</a:t>
            </a:r>
            <a:r>
              <a:rPr dirty="0" sz="1100" spc="130">
                <a:latin typeface="Arial"/>
                <a:cs typeface="Arial"/>
              </a:rPr>
              <a:t> </a:t>
            </a:r>
            <a:r>
              <a:rPr dirty="0" sz="1100" spc="-5">
                <a:latin typeface="Arial"/>
                <a:cs typeface="Arial"/>
              </a:rPr>
              <a:t>part</a:t>
            </a:r>
            <a:r>
              <a:rPr dirty="0" sz="1100" spc="125">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explanation</a:t>
            </a:r>
            <a:r>
              <a:rPr dirty="0" sz="1100" spc="125">
                <a:latin typeface="Arial"/>
                <a:cs typeface="Arial"/>
              </a:rPr>
              <a:t> </a:t>
            </a:r>
            <a:r>
              <a:rPr dirty="0" sz="1100" spc="-5">
                <a:latin typeface="Arial"/>
                <a:cs typeface="Arial"/>
              </a:rPr>
              <a:t>is</a:t>
            </a:r>
            <a:r>
              <a:rPr dirty="0" sz="1100" spc="130">
                <a:latin typeface="Arial"/>
                <a:cs typeface="Arial"/>
              </a:rPr>
              <a:t> </a:t>
            </a:r>
            <a:r>
              <a:rPr dirty="0" sz="1100" spc="-5">
                <a:latin typeface="Arial"/>
                <a:cs typeface="Arial"/>
              </a:rPr>
              <a:t>poorer</a:t>
            </a:r>
            <a:r>
              <a:rPr dirty="0" sz="1100" spc="130">
                <a:latin typeface="Arial"/>
                <a:cs typeface="Arial"/>
              </a:rPr>
              <a:t> </a:t>
            </a:r>
            <a:r>
              <a:rPr dirty="0" sz="1100" spc="-5">
                <a:latin typeface="Arial"/>
                <a:cs typeface="Arial"/>
              </a:rPr>
              <a:t>treatment</a:t>
            </a:r>
            <a:r>
              <a:rPr dirty="0" sz="1100" spc="125">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girls.</a:t>
            </a:r>
            <a:r>
              <a:rPr dirty="0" sz="1100" spc="114">
                <a:latin typeface="Arial"/>
                <a:cs typeface="Arial"/>
              </a:rPr>
              <a:t> </a:t>
            </a:r>
            <a:r>
              <a:rPr dirty="0" sz="1100" spc="-5">
                <a:latin typeface="Arial"/>
                <a:cs typeface="Arial"/>
              </a:rPr>
              <a:t>Figure</a:t>
            </a:r>
            <a:r>
              <a:rPr dirty="0" sz="1100" spc="125">
                <a:latin typeface="Arial"/>
                <a:cs typeface="Arial"/>
              </a:rPr>
              <a:t> </a:t>
            </a:r>
            <a:r>
              <a:rPr dirty="0" sz="1100" spc="-5">
                <a:latin typeface="Arial"/>
                <a:cs typeface="Arial"/>
              </a:rPr>
              <a:t>8.5</a:t>
            </a:r>
            <a:endParaRPr sz="1100">
              <a:latin typeface="Arial"/>
              <a:cs typeface="Arial"/>
            </a:endParaRPr>
          </a:p>
        </p:txBody>
      </p:sp>
      <p:sp>
        <p:nvSpPr>
          <p:cNvPr id="7" name="object 7"/>
          <p:cNvSpPr txBox="1"/>
          <p:nvPr/>
        </p:nvSpPr>
        <p:spPr>
          <a:xfrm>
            <a:off x="901686" y="6442943"/>
            <a:ext cx="5970270" cy="244157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shows the female male ratios in the total population in selected regions and countries as of  1999. As of 2010, the estimated ratio of males to females in China and India was 1.06 and 1.08  respectively, compared with 0.98 in the United States, United Kingdom, and Canada. The  problem </a:t>
            </a:r>
            <a:r>
              <a:rPr dirty="0" sz="1100">
                <a:latin typeface="Arial"/>
                <a:cs typeface="Arial"/>
              </a:rPr>
              <a:t>may </a:t>
            </a:r>
            <a:r>
              <a:rPr dirty="0" sz="1100" spc="-5">
                <a:latin typeface="Arial"/>
                <a:cs typeface="Arial"/>
              </a:rPr>
              <a:t>be worsening in several countries including China, where the Chinese Academy of  Sciences estimated in a 2010 report that 119.5 boys were born for every 100 girls in 2009; sex-  selective abortion is an important</a:t>
            </a:r>
            <a:r>
              <a:rPr dirty="0" sz="1100" spc="15">
                <a:latin typeface="Arial"/>
                <a:cs typeface="Arial"/>
              </a:rPr>
              <a:t> </a:t>
            </a:r>
            <a:r>
              <a:rPr dirty="0" sz="1100" spc="-5">
                <a:latin typeface="Arial"/>
                <a:cs typeface="Arial"/>
              </a:rPr>
              <a:t>cause.</a:t>
            </a:r>
            <a:endParaRPr sz="1100">
              <a:latin typeface="Arial"/>
              <a:cs typeface="Arial"/>
            </a:endParaRPr>
          </a:p>
          <a:p>
            <a:pPr>
              <a:lnSpc>
                <a:spcPct val="100000"/>
              </a:lnSpc>
              <a:spcBef>
                <a:spcPts val="5"/>
              </a:spcBef>
            </a:pPr>
            <a:endParaRPr sz="1100">
              <a:latin typeface="Arial"/>
              <a:cs typeface="Arial"/>
            </a:endParaRPr>
          </a:p>
          <a:p>
            <a:pPr algn="just" marL="12700" marR="6985">
              <a:lnSpc>
                <a:spcPct val="95700"/>
              </a:lnSpc>
            </a:pPr>
            <a:r>
              <a:rPr dirty="0" sz="1100" spc="-5">
                <a:latin typeface="Arial"/>
                <a:cs typeface="Arial"/>
              </a:rPr>
              <a:t>Greater mothers’ education, however, generally improves prospects for both her sons’ and  daughters’ health and education. The level of child stunting, a valid indicator of child under  nutrition, is much lower with higher education attainment of the mother at every income</a:t>
            </a:r>
            <a:r>
              <a:rPr dirty="0" sz="1100" spc="204">
                <a:latin typeface="Arial"/>
                <a:cs typeface="Arial"/>
              </a:rPr>
              <a:t> </a:t>
            </a:r>
            <a:r>
              <a:rPr dirty="0" sz="1100" spc="-5">
                <a:latin typeface="Arial"/>
                <a:cs typeface="Arial"/>
              </a:rPr>
              <a:t>level.</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Taken together, the evidence shows that increases in family income do not automatically result  in improved health status or educational attainment. If higher income cannot be expected to  necessarily lead to higher health and education, as we will show in subsequent sections, there  are</a:t>
            </a:r>
            <a:r>
              <a:rPr dirty="0" sz="1100" spc="35">
                <a:latin typeface="Arial"/>
                <a:cs typeface="Arial"/>
              </a:rPr>
              <a:t> </a:t>
            </a:r>
            <a:r>
              <a:rPr dirty="0" sz="1100" spc="-5">
                <a:latin typeface="Arial"/>
                <a:cs typeface="Arial"/>
              </a:rPr>
              <a:t>no</a:t>
            </a:r>
            <a:r>
              <a:rPr dirty="0" sz="1100" spc="40">
                <a:latin typeface="Arial"/>
                <a:cs typeface="Arial"/>
              </a:rPr>
              <a:t> </a:t>
            </a:r>
            <a:r>
              <a:rPr dirty="0" sz="1100" spc="-5">
                <a:latin typeface="Arial"/>
                <a:cs typeface="Arial"/>
              </a:rPr>
              <a:t>guarantees</a:t>
            </a:r>
            <a:r>
              <a:rPr dirty="0" sz="1100" spc="40">
                <a:latin typeface="Arial"/>
                <a:cs typeface="Arial"/>
              </a:rPr>
              <a:t> </a:t>
            </a:r>
            <a:r>
              <a:rPr dirty="0" sz="1100" spc="-5">
                <a:latin typeface="Arial"/>
                <a:cs typeface="Arial"/>
              </a:rPr>
              <a:t>that</a:t>
            </a:r>
            <a:r>
              <a:rPr dirty="0" sz="1100" spc="35">
                <a:latin typeface="Arial"/>
                <a:cs typeface="Arial"/>
              </a:rPr>
              <a:t> </a:t>
            </a:r>
            <a:r>
              <a:rPr dirty="0" sz="1100" spc="-5">
                <a:latin typeface="Arial"/>
                <a:cs typeface="Arial"/>
              </a:rPr>
              <a:t>higher</a:t>
            </a:r>
            <a:r>
              <a:rPr dirty="0" sz="1100" spc="35">
                <a:latin typeface="Arial"/>
                <a:cs typeface="Arial"/>
              </a:rPr>
              <a:t> </a:t>
            </a:r>
            <a:r>
              <a:rPr dirty="0" sz="1100" spc="-5">
                <a:latin typeface="Arial"/>
                <a:cs typeface="Arial"/>
              </a:rPr>
              <a:t>health</a:t>
            </a:r>
            <a:r>
              <a:rPr dirty="0" sz="1100" spc="40">
                <a:latin typeface="Arial"/>
                <a:cs typeface="Arial"/>
              </a:rPr>
              <a:t> </a:t>
            </a:r>
            <a:r>
              <a:rPr dirty="0" sz="1100" spc="-5">
                <a:latin typeface="Arial"/>
                <a:cs typeface="Arial"/>
              </a:rPr>
              <a:t>or</a:t>
            </a:r>
            <a:r>
              <a:rPr dirty="0" sz="1100" spc="40">
                <a:latin typeface="Arial"/>
                <a:cs typeface="Arial"/>
              </a:rPr>
              <a:t> </a:t>
            </a:r>
            <a:r>
              <a:rPr dirty="0" sz="1100" spc="-5">
                <a:latin typeface="Arial"/>
                <a:cs typeface="Arial"/>
              </a:rPr>
              <a:t>education</a:t>
            </a:r>
            <a:r>
              <a:rPr dirty="0" sz="1100" spc="40">
                <a:latin typeface="Arial"/>
                <a:cs typeface="Arial"/>
              </a:rPr>
              <a:t> </a:t>
            </a:r>
            <a:r>
              <a:rPr dirty="0" sz="1100" spc="-5">
                <a:latin typeface="Arial"/>
                <a:cs typeface="Arial"/>
              </a:rPr>
              <a:t>will</a:t>
            </a:r>
            <a:r>
              <a:rPr dirty="0" sz="1100" spc="35">
                <a:latin typeface="Arial"/>
                <a:cs typeface="Arial"/>
              </a:rPr>
              <a:t> </a:t>
            </a:r>
            <a:r>
              <a:rPr dirty="0" sz="1100" spc="-5">
                <a:latin typeface="Arial"/>
                <a:cs typeface="Arial"/>
              </a:rPr>
              <a:t>lead</a:t>
            </a:r>
            <a:r>
              <a:rPr dirty="0" sz="1100" spc="30">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higher</a:t>
            </a:r>
            <a:r>
              <a:rPr dirty="0" sz="1100" spc="40">
                <a:latin typeface="Arial"/>
                <a:cs typeface="Arial"/>
              </a:rPr>
              <a:t> </a:t>
            </a:r>
            <a:r>
              <a:rPr dirty="0" sz="1100" spc="-5">
                <a:latin typeface="Arial"/>
                <a:cs typeface="Arial"/>
              </a:rPr>
              <a:t>productivities</a:t>
            </a:r>
            <a:r>
              <a:rPr dirty="0" sz="1100" spc="35">
                <a:latin typeface="Arial"/>
                <a:cs typeface="Arial"/>
              </a:rPr>
              <a:t> </a:t>
            </a:r>
            <a:r>
              <a:rPr dirty="0" sz="1100" spc="-5">
                <a:latin typeface="Arial"/>
                <a:cs typeface="Arial"/>
              </a:rPr>
              <a:t>and</a:t>
            </a:r>
            <a:r>
              <a:rPr dirty="0" sz="1100" spc="40">
                <a:latin typeface="Arial"/>
                <a:cs typeface="Arial"/>
              </a:rPr>
              <a:t> </a:t>
            </a:r>
            <a:r>
              <a:rPr dirty="0" sz="1100" spc="-5">
                <a:latin typeface="Arial"/>
                <a:cs typeface="Arial"/>
              </a:rPr>
              <a:t>incomes.</a:t>
            </a:r>
            <a:endParaRPr sz="1100">
              <a:latin typeface="Arial"/>
              <a:cs typeface="Arial"/>
            </a:endParaRPr>
          </a:p>
        </p:txBody>
      </p:sp>
      <p:sp>
        <p:nvSpPr>
          <p:cNvPr id="8" name="object 8"/>
          <p:cNvSpPr/>
          <p:nvPr/>
        </p:nvSpPr>
        <p:spPr>
          <a:xfrm>
            <a:off x="1733550" y="2979420"/>
            <a:ext cx="4210050" cy="3453027"/>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105</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7730"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Much depends on the context, on whether gains from income growth and also the benefits of  public investments in health and education and other infrastructure are shared</a:t>
            </a:r>
            <a:r>
              <a:rPr dirty="0" sz="1100" spc="130">
                <a:latin typeface="Arial"/>
                <a:cs typeface="Arial"/>
              </a:rPr>
              <a:t> </a:t>
            </a:r>
            <a:r>
              <a:rPr dirty="0" sz="1100" spc="-5">
                <a:latin typeface="Arial"/>
                <a:cs typeface="Arial"/>
              </a:rPr>
              <a:t>equitably.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106</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788670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16</a:t>
            </a:r>
            <a:endParaRPr sz="1100">
              <a:latin typeface="Arial"/>
              <a:cs typeface="Arial"/>
            </a:endParaRPr>
          </a:p>
          <a:p>
            <a:pPr>
              <a:lnSpc>
                <a:spcPct val="100000"/>
              </a:lnSpc>
              <a:spcBef>
                <a:spcPts val="35"/>
              </a:spcBef>
            </a:pPr>
            <a:endParaRPr sz="1200">
              <a:latin typeface="Arial"/>
              <a:cs typeface="Arial"/>
            </a:endParaRPr>
          </a:p>
          <a:p>
            <a:pPr marL="2483485" marR="421005" indent="-2056764">
              <a:lnSpc>
                <a:spcPts val="1270"/>
              </a:lnSpc>
              <a:spcBef>
                <a:spcPts val="5"/>
              </a:spcBef>
            </a:pPr>
            <a:r>
              <a:rPr dirty="0" sz="1100" spc="-10" b="1">
                <a:latin typeface="Arial"/>
                <a:cs typeface="Arial"/>
              </a:rPr>
              <a:t>HUMAN </a:t>
            </a:r>
            <a:r>
              <a:rPr dirty="0" sz="1100" spc="-5" b="1">
                <a:latin typeface="Arial"/>
                <a:cs typeface="Arial"/>
              </a:rPr>
              <a:t>CAPITAL: EDUCATION AND HEALTH IN ECONOMIC DEVELOPMENT  (CONTINUED2)</a:t>
            </a:r>
            <a:endParaRPr sz="1100">
              <a:latin typeface="Arial"/>
              <a:cs typeface="Arial"/>
            </a:endParaRPr>
          </a:p>
          <a:p>
            <a:pPr>
              <a:lnSpc>
                <a:spcPct val="100000"/>
              </a:lnSpc>
              <a:spcBef>
                <a:spcPts val="15"/>
              </a:spcBef>
            </a:pPr>
            <a:endParaRPr sz="1100">
              <a:latin typeface="Arial"/>
              <a:cs typeface="Arial"/>
            </a:endParaRPr>
          </a:p>
          <a:p>
            <a:pPr marL="12700">
              <a:lnSpc>
                <a:spcPct val="100000"/>
              </a:lnSpc>
            </a:pPr>
            <a:r>
              <a:rPr dirty="0" sz="1100" spc="-5" b="1">
                <a:latin typeface="Arial"/>
                <a:cs typeface="Arial"/>
              </a:rPr>
              <a:t>EDUCATIONAL SYSTEMS AND</a:t>
            </a:r>
            <a:r>
              <a:rPr dirty="0" sz="1100" spc="1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25"/>
              </a:spcBef>
            </a:pPr>
            <a:endParaRPr sz="1200">
              <a:latin typeface="Arial"/>
              <a:cs typeface="Arial"/>
            </a:endParaRPr>
          </a:p>
          <a:p>
            <a:pPr algn="just" marL="12700" marR="5080">
              <a:lnSpc>
                <a:spcPts val="1270"/>
              </a:lnSpc>
            </a:pPr>
            <a:r>
              <a:rPr dirty="0" sz="1100" spc="-5">
                <a:latin typeface="Arial"/>
                <a:cs typeface="Arial"/>
              </a:rPr>
              <a:t>Much of the literature and public discussion about education and economic development in  general, and education and employment in particular, revolve around two fundamental  economic processes:</a:t>
            </a:r>
            <a:endParaRPr sz="1100">
              <a:latin typeface="Arial"/>
              <a:cs typeface="Arial"/>
            </a:endParaRPr>
          </a:p>
          <a:p>
            <a:pPr algn="just" marL="469900" marR="5715" indent="-228600">
              <a:lnSpc>
                <a:spcPct val="95700"/>
              </a:lnSpc>
              <a:spcBef>
                <a:spcPts val="40"/>
              </a:spcBef>
              <a:buFont typeface="Symbol"/>
              <a:buChar char=""/>
              <a:tabLst>
                <a:tab pos="470534" algn="l"/>
              </a:tabLst>
            </a:pPr>
            <a:r>
              <a:rPr dirty="0" sz="1100" spc="-5">
                <a:latin typeface="Arial"/>
                <a:cs typeface="Arial"/>
              </a:rPr>
              <a:t>The interaction between economically </a:t>
            </a:r>
            <a:r>
              <a:rPr dirty="0" sz="1100" spc="-5" b="1">
                <a:latin typeface="Arial"/>
                <a:cs typeface="Arial"/>
              </a:rPr>
              <a:t>motivated demands and politically responsive  supplies </a:t>
            </a:r>
            <a:r>
              <a:rPr dirty="0" sz="1100" spc="-5">
                <a:latin typeface="Arial"/>
                <a:cs typeface="Arial"/>
              </a:rPr>
              <a:t>in determining how </a:t>
            </a:r>
            <a:r>
              <a:rPr dirty="0" sz="1100">
                <a:latin typeface="Arial"/>
                <a:cs typeface="Arial"/>
              </a:rPr>
              <a:t>many </a:t>
            </a:r>
            <a:r>
              <a:rPr dirty="0" sz="1100" spc="-5">
                <a:latin typeface="Arial"/>
                <a:cs typeface="Arial"/>
              </a:rPr>
              <a:t>quality school places are provided, who gets access  to these places, and what kind of instruction they receive</a:t>
            </a:r>
            <a:r>
              <a:rPr dirty="0" sz="1100" spc="55">
                <a:latin typeface="Arial"/>
                <a:cs typeface="Arial"/>
              </a:rPr>
              <a:t> </a:t>
            </a:r>
            <a:r>
              <a:rPr dirty="0" sz="1100" spc="-5">
                <a:latin typeface="Arial"/>
                <a:cs typeface="Arial"/>
              </a:rPr>
              <a:t>and</a:t>
            </a:r>
            <a:endParaRPr sz="1100">
              <a:latin typeface="Arial"/>
              <a:cs typeface="Arial"/>
            </a:endParaRPr>
          </a:p>
          <a:p>
            <a:pPr algn="just" marL="469900" marR="5715" indent="-228600">
              <a:lnSpc>
                <a:spcPct val="95700"/>
              </a:lnSpc>
              <a:spcBef>
                <a:spcPts val="70"/>
              </a:spcBef>
              <a:buFont typeface="Symbol"/>
              <a:buChar char=""/>
              <a:tabLst>
                <a:tab pos="470534" algn="l"/>
              </a:tabLst>
            </a:pPr>
            <a:r>
              <a:rPr dirty="0" sz="1100" spc="-5">
                <a:latin typeface="Arial"/>
                <a:cs typeface="Arial"/>
              </a:rPr>
              <a:t>The important distinction between </a:t>
            </a:r>
            <a:r>
              <a:rPr dirty="0" sz="1100" spc="-5" b="1">
                <a:latin typeface="Arial"/>
                <a:cs typeface="Arial"/>
              </a:rPr>
              <a:t>social and private benefits and costs </a:t>
            </a:r>
            <a:r>
              <a:rPr dirty="0" sz="1100" spc="-5">
                <a:latin typeface="Arial"/>
                <a:cs typeface="Arial"/>
              </a:rPr>
              <a:t>of different  levels of education and the implications of these differentials for educational investment  strategy.</a:t>
            </a:r>
            <a:endParaRPr sz="1100">
              <a:latin typeface="Arial"/>
              <a:cs typeface="Arial"/>
            </a:endParaRPr>
          </a:p>
          <a:p>
            <a:pPr>
              <a:lnSpc>
                <a:spcPct val="100000"/>
              </a:lnSpc>
              <a:spcBef>
                <a:spcPts val="40"/>
              </a:spcBef>
              <a:buFont typeface="Symbol"/>
              <a:buChar char=""/>
            </a:pPr>
            <a:endParaRPr sz="1100">
              <a:latin typeface="Arial"/>
              <a:cs typeface="Arial"/>
            </a:endParaRPr>
          </a:p>
          <a:p>
            <a:pPr algn="just" marL="12700" marR="7620">
              <a:lnSpc>
                <a:spcPts val="1270"/>
              </a:lnSpc>
            </a:pPr>
            <a:r>
              <a:rPr dirty="0" sz="1100" spc="-5" b="1">
                <a:latin typeface="Arial"/>
                <a:cs typeface="Arial"/>
              </a:rPr>
              <a:t>THE POLITICAL ECONOMY OF EDUCATIONAL </a:t>
            </a:r>
            <a:r>
              <a:rPr dirty="0" sz="1100" spc="-10" b="1">
                <a:latin typeface="Arial"/>
                <a:cs typeface="Arial"/>
              </a:rPr>
              <a:t>SUPPLY </a:t>
            </a:r>
            <a:r>
              <a:rPr dirty="0" sz="1100" spc="-5" b="1">
                <a:latin typeface="Arial"/>
                <a:cs typeface="Arial"/>
              </a:rPr>
              <a:t>AND DEMAND: THE  RELATIONSHIP BETWEEN EMPLOYMENT OPPORTUNITIES AND EDUCATIONAL  DEMANDS</a:t>
            </a:r>
            <a:endParaRPr sz="1100">
              <a:latin typeface="Arial"/>
              <a:cs typeface="Arial"/>
            </a:endParaRPr>
          </a:p>
          <a:p>
            <a:pPr>
              <a:lnSpc>
                <a:spcPct val="100000"/>
              </a:lnSpc>
              <a:spcBef>
                <a:spcPts val="10"/>
              </a:spcBef>
            </a:pPr>
            <a:endParaRPr sz="1100">
              <a:latin typeface="Arial"/>
              <a:cs typeface="Arial"/>
            </a:endParaRPr>
          </a:p>
          <a:p>
            <a:pPr marL="12700">
              <a:lnSpc>
                <a:spcPct val="100000"/>
              </a:lnSpc>
              <a:spcBef>
                <a:spcPts val="5"/>
              </a:spcBef>
            </a:pPr>
            <a:r>
              <a:rPr dirty="0" sz="1100" spc="-5" b="1">
                <a:latin typeface="Arial"/>
                <a:cs typeface="Arial"/>
              </a:rPr>
              <a:t>DEFINITION OF POLITICAL</a:t>
            </a:r>
            <a:r>
              <a:rPr dirty="0" sz="1100" spc="10" b="1">
                <a:latin typeface="Arial"/>
                <a:cs typeface="Arial"/>
              </a:rPr>
              <a:t> </a:t>
            </a:r>
            <a:r>
              <a:rPr dirty="0" sz="1100" spc="-5" b="1">
                <a:latin typeface="Arial"/>
                <a:cs typeface="Arial"/>
              </a:rPr>
              <a:t>ECONOMY</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The study </a:t>
            </a:r>
            <a:r>
              <a:rPr dirty="0" sz="1100">
                <a:latin typeface="Arial"/>
                <a:cs typeface="Arial"/>
              </a:rPr>
              <a:t>and </a:t>
            </a:r>
            <a:r>
              <a:rPr dirty="0" sz="1100" spc="-5">
                <a:latin typeface="Arial"/>
                <a:cs typeface="Arial"/>
              </a:rPr>
              <a:t>use of how economic theory </a:t>
            </a:r>
            <a:r>
              <a:rPr dirty="0" sz="1100">
                <a:latin typeface="Arial"/>
                <a:cs typeface="Arial"/>
              </a:rPr>
              <a:t>and </a:t>
            </a:r>
            <a:r>
              <a:rPr dirty="0" sz="1100" spc="-5">
                <a:latin typeface="Arial"/>
                <a:cs typeface="Arial"/>
              </a:rPr>
              <a:t>methods influences political ideology. Political  economy is the interplay between economics, law and politics, and how institutions develop in  different social and economic systems, such as capitalism, socialism and communism. Political  economy analyzes how public policy is created and</a:t>
            </a:r>
            <a:r>
              <a:rPr dirty="0" sz="1100" spc="50">
                <a:latin typeface="Arial"/>
                <a:cs typeface="Arial"/>
              </a:rPr>
              <a:t> </a:t>
            </a:r>
            <a:r>
              <a:rPr dirty="0" sz="1100" spc="-5">
                <a:latin typeface="Arial"/>
                <a:cs typeface="Arial"/>
              </a:rPr>
              <a:t>implemented.</a:t>
            </a:r>
            <a:endParaRPr sz="1100">
              <a:latin typeface="Arial"/>
              <a:cs typeface="Arial"/>
            </a:endParaRPr>
          </a:p>
          <a:p>
            <a:pPr>
              <a:lnSpc>
                <a:spcPct val="100000"/>
              </a:lnSpc>
              <a:spcBef>
                <a:spcPts val="15"/>
              </a:spcBef>
            </a:pPr>
            <a:endParaRPr sz="1000">
              <a:latin typeface="Arial"/>
              <a:cs typeface="Arial"/>
            </a:endParaRPr>
          </a:p>
          <a:p>
            <a:pPr marL="12700">
              <a:lnSpc>
                <a:spcPct val="100000"/>
              </a:lnSpc>
              <a:spcBef>
                <a:spcPts val="5"/>
              </a:spcBef>
            </a:pPr>
            <a:r>
              <a:rPr dirty="0" sz="1100" spc="-5" b="1">
                <a:latin typeface="Arial"/>
                <a:cs typeface="Arial"/>
              </a:rPr>
              <a:t>DETERMINANTS OF THE AMOUNT OF SCHOOLING RECEIVED </a:t>
            </a:r>
            <a:r>
              <a:rPr dirty="0" sz="1100" b="1">
                <a:latin typeface="Arial"/>
                <a:cs typeface="Arial"/>
              </a:rPr>
              <a:t>BY </a:t>
            </a:r>
            <a:r>
              <a:rPr dirty="0" sz="1100" spc="-5" b="1">
                <a:latin typeface="Arial"/>
                <a:cs typeface="Arial"/>
              </a:rPr>
              <a:t>AN</a:t>
            </a:r>
            <a:r>
              <a:rPr dirty="0" sz="1100" spc="30" b="1">
                <a:latin typeface="Arial"/>
                <a:cs typeface="Arial"/>
              </a:rPr>
              <a:t> </a:t>
            </a:r>
            <a:r>
              <a:rPr dirty="0" sz="1100" spc="-5" b="1">
                <a:latin typeface="Arial"/>
                <a:cs typeface="Arial"/>
              </a:rPr>
              <a:t>INDIVIDUAL</a:t>
            </a:r>
            <a:endParaRPr sz="1100">
              <a:latin typeface="Arial"/>
              <a:cs typeface="Arial"/>
            </a:endParaRPr>
          </a:p>
          <a:p>
            <a:pPr>
              <a:lnSpc>
                <a:spcPct val="100000"/>
              </a:lnSpc>
              <a:spcBef>
                <a:spcPts val="20"/>
              </a:spcBef>
            </a:pPr>
            <a:endParaRPr sz="1200">
              <a:latin typeface="Arial"/>
              <a:cs typeface="Arial"/>
            </a:endParaRPr>
          </a:p>
          <a:p>
            <a:pPr algn="just" marL="12700" marR="6985">
              <a:lnSpc>
                <a:spcPts val="1270"/>
              </a:lnSpc>
            </a:pPr>
            <a:r>
              <a:rPr dirty="0" sz="1100" spc="-5">
                <a:latin typeface="Arial"/>
                <a:cs typeface="Arial"/>
              </a:rPr>
              <a:t>The amount of schooling received by an individual, although affected by </a:t>
            </a:r>
            <a:r>
              <a:rPr dirty="0" sz="1100">
                <a:latin typeface="Arial"/>
                <a:cs typeface="Arial"/>
              </a:rPr>
              <a:t>many </a:t>
            </a:r>
            <a:r>
              <a:rPr dirty="0" sz="1100" spc="-5">
                <a:latin typeface="Arial"/>
                <a:cs typeface="Arial"/>
              </a:rPr>
              <a:t>nonmarket  factors, can be regarded as largely determined by demand and supply, like any other  commodity or</a:t>
            </a:r>
            <a:r>
              <a:rPr dirty="0" sz="1100" spc="5">
                <a:latin typeface="Arial"/>
                <a:cs typeface="Arial"/>
              </a:rPr>
              <a:t> </a:t>
            </a:r>
            <a:r>
              <a:rPr dirty="0" sz="1100" spc="-5">
                <a:latin typeface="Arial"/>
                <a:cs typeface="Arial"/>
              </a:rPr>
              <a:t>service.</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The demand side depends on two</a:t>
            </a:r>
            <a:r>
              <a:rPr dirty="0" sz="1100" spc="20" b="1">
                <a:latin typeface="Arial"/>
                <a:cs typeface="Arial"/>
              </a:rPr>
              <a:t> </a:t>
            </a:r>
            <a:r>
              <a:rPr dirty="0" sz="1100" spc="-5" b="1">
                <a:latin typeface="Arial"/>
                <a:cs typeface="Arial"/>
              </a:rPr>
              <a:t>factors:</a:t>
            </a:r>
            <a:endParaRPr sz="1100">
              <a:latin typeface="Arial"/>
              <a:cs typeface="Arial"/>
            </a:endParaRPr>
          </a:p>
          <a:p>
            <a:pPr marL="469900" marR="8890" indent="-228600">
              <a:lnSpc>
                <a:spcPts val="1260"/>
              </a:lnSpc>
              <a:spcBef>
                <a:spcPts val="110"/>
              </a:spcBef>
              <a:buFont typeface="Symbol"/>
              <a:buChar char=""/>
              <a:tabLst>
                <a:tab pos="469265" algn="l"/>
                <a:tab pos="470534" algn="l"/>
              </a:tabLst>
            </a:pPr>
            <a:r>
              <a:rPr dirty="0" sz="1100" spc="-5">
                <a:latin typeface="Arial"/>
                <a:cs typeface="Arial"/>
              </a:rPr>
              <a:t>A more educated student’s prospects of earning considerably more income through  future modern-sector employment (the family’s </a:t>
            </a:r>
            <a:r>
              <a:rPr dirty="0" sz="1100" spc="-5" b="1">
                <a:latin typeface="Arial"/>
                <a:cs typeface="Arial"/>
              </a:rPr>
              <a:t>private benefits </a:t>
            </a:r>
            <a:r>
              <a:rPr dirty="0" sz="1100" spc="-5">
                <a:latin typeface="Arial"/>
                <a:cs typeface="Arial"/>
              </a:rPr>
              <a:t>of</a:t>
            </a:r>
            <a:r>
              <a:rPr dirty="0" sz="1100" spc="85">
                <a:latin typeface="Arial"/>
                <a:cs typeface="Arial"/>
              </a:rPr>
              <a:t> </a:t>
            </a:r>
            <a:r>
              <a:rPr dirty="0" sz="1100" spc="-5">
                <a:latin typeface="Arial"/>
                <a:cs typeface="Arial"/>
              </a:rPr>
              <a:t>education).</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The educational costs, both direct and indirect, that a student or family must</a:t>
            </a:r>
            <a:r>
              <a:rPr dirty="0" sz="1100" spc="140">
                <a:latin typeface="Arial"/>
                <a:cs typeface="Arial"/>
              </a:rPr>
              <a:t> </a:t>
            </a:r>
            <a:r>
              <a:rPr dirty="0" sz="1100" spc="-5">
                <a:latin typeface="Arial"/>
                <a:cs typeface="Arial"/>
              </a:rPr>
              <a:t>bear.</a:t>
            </a:r>
            <a:endParaRPr sz="1100">
              <a:latin typeface="Arial"/>
              <a:cs typeface="Arial"/>
            </a:endParaRPr>
          </a:p>
          <a:p>
            <a:pPr>
              <a:lnSpc>
                <a:spcPct val="100000"/>
              </a:lnSpc>
              <a:spcBef>
                <a:spcPts val="25"/>
              </a:spcBef>
              <a:buFont typeface="Symbol"/>
              <a:buChar char=""/>
            </a:pPr>
            <a:endParaRPr sz="1100">
              <a:latin typeface="Arial"/>
              <a:cs typeface="Arial"/>
            </a:endParaRPr>
          </a:p>
          <a:p>
            <a:pPr algn="just" marL="12700" marR="5080" indent="-635">
              <a:lnSpc>
                <a:spcPts val="1270"/>
              </a:lnSpc>
            </a:pPr>
            <a:r>
              <a:rPr dirty="0" sz="1100" spc="-5">
                <a:latin typeface="Arial"/>
                <a:cs typeface="Arial"/>
              </a:rPr>
              <a:t>The amount of education demanded is thus in reality a </a:t>
            </a:r>
            <a:r>
              <a:rPr dirty="0" sz="1100" spc="-5" b="1">
                <a:latin typeface="Arial"/>
                <a:cs typeface="Arial"/>
              </a:rPr>
              <a:t>derived demand </a:t>
            </a:r>
            <a:r>
              <a:rPr dirty="0" sz="1100" spc="-5">
                <a:latin typeface="Arial"/>
                <a:cs typeface="Arial"/>
              </a:rPr>
              <a:t>for high-wage  employment opportunities in the modern sector. This is because access to such jobs is largely  determined by an individual’s</a:t>
            </a:r>
            <a:r>
              <a:rPr dirty="0" sz="1100" spc="15">
                <a:latin typeface="Arial"/>
                <a:cs typeface="Arial"/>
              </a:rPr>
              <a:t> </a:t>
            </a:r>
            <a:r>
              <a:rPr dirty="0" sz="1100" spc="-5">
                <a:latin typeface="Arial"/>
                <a:cs typeface="Arial"/>
              </a:rPr>
              <a:t>education.</a:t>
            </a:r>
            <a:endParaRPr sz="1100">
              <a:latin typeface="Arial"/>
              <a:cs typeface="Arial"/>
            </a:endParaRPr>
          </a:p>
          <a:p>
            <a:pPr>
              <a:lnSpc>
                <a:spcPct val="100000"/>
              </a:lnSpc>
              <a:spcBef>
                <a:spcPts val="35"/>
              </a:spcBef>
            </a:pPr>
            <a:endParaRPr sz="1100">
              <a:latin typeface="Arial"/>
              <a:cs typeface="Arial"/>
            </a:endParaRPr>
          </a:p>
          <a:p>
            <a:pPr algn="just" marL="469900" marR="6985" indent="-228600">
              <a:lnSpc>
                <a:spcPct val="95700"/>
              </a:lnSpc>
              <a:buFont typeface="Symbol"/>
              <a:buChar char=""/>
              <a:tabLst>
                <a:tab pos="470534" algn="l"/>
              </a:tabLst>
            </a:pPr>
            <a:r>
              <a:rPr dirty="0" sz="1100" spc="-5" b="1">
                <a:latin typeface="Arial"/>
                <a:cs typeface="Arial"/>
              </a:rPr>
              <a:t>Private benefits: </a:t>
            </a:r>
            <a:r>
              <a:rPr dirty="0" sz="1100" spc="-5">
                <a:latin typeface="Arial"/>
                <a:cs typeface="Arial"/>
              </a:rPr>
              <a:t>The benefits that accrue directly to an individual economic unit. For  example, private benefits of education are those that directly accrue to a student and his  or her</a:t>
            </a:r>
            <a:r>
              <a:rPr dirty="0" sz="1100">
                <a:latin typeface="Arial"/>
                <a:cs typeface="Arial"/>
              </a:rPr>
              <a:t> </a:t>
            </a:r>
            <a:r>
              <a:rPr dirty="0" sz="1100" spc="-5">
                <a:latin typeface="Arial"/>
                <a:cs typeface="Arial"/>
              </a:rPr>
              <a:t>family.</a:t>
            </a:r>
            <a:endParaRPr sz="1100">
              <a:latin typeface="Arial"/>
              <a:cs typeface="Arial"/>
            </a:endParaRPr>
          </a:p>
          <a:p>
            <a:pPr algn="just" marL="469900" marR="5715" indent="-228600">
              <a:lnSpc>
                <a:spcPts val="1260"/>
              </a:lnSpc>
              <a:spcBef>
                <a:spcPts val="114"/>
              </a:spcBef>
              <a:buFont typeface="Symbol"/>
              <a:buChar char=""/>
              <a:tabLst>
                <a:tab pos="469900" algn="l"/>
              </a:tabLst>
            </a:pPr>
            <a:r>
              <a:rPr dirty="0" sz="1100" spc="-5" b="1">
                <a:latin typeface="Arial"/>
                <a:cs typeface="Arial"/>
              </a:rPr>
              <a:t>Derived demand: </a:t>
            </a:r>
            <a:r>
              <a:rPr dirty="0" sz="1100" spc="-5">
                <a:latin typeface="Arial"/>
                <a:cs typeface="Arial"/>
              </a:rPr>
              <a:t>Demand for a good that emerges indirectly from demand for another  good.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107</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1053336"/>
            <a:ext cx="5970270" cy="7691120"/>
          </a:xfrm>
          <a:prstGeom prst="rect">
            <a:avLst/>
          </a:prstGeom>
        </p:spPr>
        <p:txBody>
          <a:bodyPr wrap="square" lIns="0" tIns="12065" rIns="0" bIns="0" rtlCol="0" vert="horz">
            <a:spAutoFit/>
          </a:bodyPr>
          <a:lstStyle/>
          <a:p>
            <a:pPr algn="just" marL="12700">
              <a:lnSpc>
                <a:spcPct val="100000"/>
              </a:lnSpc>
              <a:spcBef>
                <a:spcPts val="95"/>
              </a:spcBef>
            </a:pPr>
            <a:r>
              <a:rPr dirty="0" sz="1100" spc="-10" b="1">
                <a:latin typeface="Arial"/>
                <a:cs typeface="Arial"/>
              </a:rPr>
              <a:t>SUPPLY</a:t>
            </a:r>
            <a:r>
              <a:rPr dirty="0" sz="1100" b="1">
                <a:latin typeface="Arial"/>
                <a:cs typeface="Arial"/>
              </a:rPr>
              <a:t> </a:t>
            </a:r>
            <a:r>
              <a:rPr dirty="0" sz="1100" spc="-5" b="1">
                <a:latin typeface="Arial"/>
                <a:cs typeface="Arial"/>
              </a:rPr>
              <a:t>SIDE</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The quantity of school places at the primary, secondary, and university levels is determined  largely by political processes, often unrelated to economic criteria. The level of government  educational expenditures is fixed. These expenditures are influenced by the level of aggregate  private demand for</a:t>
            </a:r>
            <a:r>
              <a:rPr dirty="0" sz="1100" spc="10">
                <a:latin typeface="Arial"/>
                <a:cs typeface="Arial"/>
              </a:rPr>
              <a:t> </a:t>
            </a:r>
            <a:r>
              <a:rPr dirty="0" sz="1100" spc="-5">
                <a:latin typeface="Arial"/>
                <a:cs typeface="Arial"/>
              </a:rPr>
              <a:t>education.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The amount of schooling demanded depends</a:t>
            </a:r>
            <a:r>
              <a:rPr dirty="0" sz="1100" spc="25" b="1">
                <a:latin typeface="Arial"/>
                <a:cs typeface="Arial"/>
              </a:rPr>
              <a:t> </a:t>
            </a:r>
            <a:r>
              <a:rPr dirty="0" sz="1100" spc="-5" b="1">
                <a:latin typeface="Arial"/>
                <a:cs typeface="Arial"/>
              </a:rPr>
              <a:t>on:</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wage or income</a:t>
            </a:r>
            <a:r>
              <a:rPr dirty="0" sz="1100" spc="15">
                <a:latin typeface="Arial"/>
                <a:cs typeface="Arial"/>
              </a:rPr>
              <a:t> </a:t>
            </a:r>
            <a:r>
              <a:rPr dirty="0" sz="1100" spc="-5">
                <a:latin typeface="Arial"/>
                <a:cs typeface="Arial"/>
              </a:rPr>
              <a:t>differential.</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The probability of success in finding modern-sector</a:t>
            </a:r>
            <a:r>
              <a:rPr dirty="0" sz="1100" spc="40">
                <a:latin typeface="Arial"/>
                <a:cs typeface="Arial"/>
              </a:rPr>
              <a:t> </a:t>
            </a:r>
            <a:r>
              <a:rPr dirty="0" sz="1100" spc="-5">
                <a:latin typeface="Arial"/>
                <a:cs typeface="Arial"/>
              </a:rPr>
              <a:t>employment.</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direct private costs of</a:t>
            </a:r>
            <a:r>
              <a:rPr dirty="0" sz="1100" spc="15">
                <a:latin typeface="Arial"/>
                <a:cs typeface="Arial"/>
              </a:rPr>
              <a:t> </a:t>
            </a:r>
            <a:r>
              <a:rPr dirty="0" sz="1100" spc="-5">
                <a:latin typeface="Arial"/>
                <a:cs typeface="Arial"/>
              </a:rPr>
              <a:t>education.</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The indirect or opportunity costs of</a:t>
            </a:r>
            <a:r>
              <a:rPr dirty="0" sz="1100" spc="25">
                <a:latin typeface="Arial"/>
                <a:cs typeface="Arial"/>
              </a:rPr>
              <a:t> </a:t>
            </a:r>
            <a:r>
              <a:rPr dirty="0" sz="1100" spc="-5">
                <a:latin typeface="Arial"/>
                <a:cs typeface="Arial"/>
              </a:rPr>
              <a:t>education.</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In a large number of developing countries, following conditions</a:t>
            </a:r>
            <a:r>
              <a:rPr dirty="0" sz="1100" spc="70" b="1">
                <a:latin typeface="Arial"/>
                <a:cs typeface="Arial"/>
              </a:rPr>
              <a:t> </a:t>
            </a:r>
            <a:r>
              <a:rPr dirty="0" sz="1100" spc="-5" b="1">
                <a:latin typeface="Arial"/>
                <a:cs typeface="Arial"/>
              </a:rPr>
              <a:t>prevail:</a:t>
            </a:r>
            <a:endParaRPr sz="1100">
              <a:latin typeface="Arial"/>
              <a:cs typeface="Arial"/>
            </a:endParaRPr>
          </a:p>
          <a:p>
            <a:pPr marL="469900" marR="5715" indent="-228600">
              <a:lnSpc>
                <a:spcPts val="1260"/>
              </a:lnSpc>
              <a:spcBef>
                <a:spcPts val="110"/>
              </a:spcBef>
              <a:buFont typeface="Symbol"/>
              <a:buChar char=""/>
              <a:tabLst>
                <a:tab pos="469265" algn="l"/>
                <a:tab pos="470534" algn="l"/>
              </a:tabLst>
            </a:pPr>
            <a:r>
              <a:rPr dirty="0" sz="1100" spc="-5">
                <a:latin typeface="Arial"/>
                <a:cs typeface="Arial"/>
              </a:rPr>
              <a:t>The difference between the modern-traditional or urban-rural wage gap is very big (even  100%).</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a:latin typeface="Arial"/>
                <a:cs typeface="Arial"/>
              </a:rPr>
              <a:t>The rate of increase in modern-sector employment opportunities for primary school  dropouts is slower than the rate at which such individuals enter the labor</a:t>
            </a:r>
            <a:r>
              <a:rPr dirty="0" sz="1100" spc="114">
                <a:latin typeface="Arial"/>
                <a:cs typeface="Arial"/>
              </a:rPr>
              <a:t> </a:t>
            </a:r>
            <a:r>
              <a:rPr dirty="0" sz="1100" spc="-5">
                <a:latin typeface="Arial"/>
                <a:cs typeface="Arial"/>
              </a:rPr>
              <a:t>force.</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a:latin typeface="Arial"/>
                <a:cs typeface="Arial"/>
              </a:rPr>
              <a:t>The same may be true at the secondary level and even the university level in countries  such as India, Mexico, Egypt, Pakistan, Ghana, Nigeria, and</a:t>
            </a:r>
            <a:r>
              <a:rPr dirty="0" sz="1100" spc="65">
                <a:latin typeface="Arial"/>
                <a:cs typeface="Arial"/>
              </a:rPr>
              <a:t> </a:t>
            </a:r>
            <a:r>
              <a:rPr dirty="0" sz="1100" spc="-5">
                <a:latin typeface="Arial"/>
                <a:cs typeface="Arial"/>
              </a:rPr>
              <a:t>Kenya.</a:t>
            </a:r>
            <a:endParaRPr sz="1100">
              <a:latin typeface="Arial"/>
              <a:cs typeface="Arial"/>
            </a:endParaRPr>
          </a:p>
          <a:p>
            <a:pPr algn="just" marL="469900" marR="5715" indent="-229235">
              <a:lnSpc>
                <a:spcPct val="95700"/>
              </a:lnSpc>
              <a:spcBef>
                <a:spcPts val="50"/>
              </a:spcBef>
              <a:buFont typeface="Symbol"/>
              <a:buChar char=""/>
              <a:tabLst>
                <a:tab pos="470534" algn="l"/>
              </a:tabLst>
            </a:pPr>
            <a:r>
              <a:rPr dirty="0" sz="1100" spc="-5">
                <a:latin typeface="Arial"/>
                <a:cs typeface="Arial"/>
              </a:rPr>
              <a:t>Employers, facing an excess of applicants, tend to select by level of education. They will  choose candidates with secondary rather </a:t>
            </a:r>
            <a:r>
              <a:rPr dirty="0" sz="1100">
                <a:latin typeface="Arial"/>
                <a:cs typeface="Arial"/>
              </a:rPr>
              <a:t>than </a:t>
            </a:r>
            <a:r>
              <a:rPr dirty="0" sz="1100" spc="-5">
                <a:latin typeface="Arial"/>
                <a:cs typeface="Arial"/>
              </a:rPr>
              <a:t>primary education even though  satisfactory job performance may require no more than a primary</a:t>
            </a:r>
            <a:r>
              <a:rPr dirty="0" sz="1100" spc="100">
                <a:latin typeface="Arial"/>
                <a:cs typeface="Arial"/>
              </a:rPr>
              <a:t> </a:t>
            </a:r>
            <a:r>
              <a:rPr dirty="0" sz="1100" spc="-5">
                <a:latin typeface="Arial"/>
                <a:cs typeface="Arial"/>
              </a:rPr>
              <a:t>education.</a:t>
            </a:r>
            <a:endParaRPr sz="1100">
              <a:latin typeface="Arial"/>
              <a:cs typeface="Arial"/>
            </a:endParaRPr>
          </a:p>
          <a:p>
            <a:pPr algn="just" marL="469900" marR="5715" indent="-228600">
              <a:lnSpc>
                <a:spcPct val="95700"/>
              </a:lnSpc>
              <a:spcBef>
                <a:spcPts val="80"/>
              </a:spcBef>
              <a:buFont typeface="Symbol"/>
              <a:buChar char=""/>
              <a:tabLst>
                <a:tab pos="470534" algn="l"/>
              </a:tabLst>
            </a:pPr>
            <a:r>
              <a:rPr dirty="0" sz="1100" spc="-5">
                <a:latin typeface="Arial"/>
                <a:cs typeface="Arial"/>
              </a:rPr>
              <a:t>Governments, supported by the political pressure of the educated, tend to bind the going  wage to the level of educational attainment of jobholders rather than to the minimum  educational qualification required for the</a:t>
            </a:r>
            <a:r>
              <a:rPr dirty="0" sz="1100" spc="5">
                <a:latin typeface="Arial"/>
                <a:cs typeface="Arial"/>
              </a:rPr>
              <a:t> </a:t>
            </a:r>
            <a:r>
              <a:rPr dirty="0" sz="1100" spc="-5">
                <a:latin typeface="Arial"/>
                <a:cs typeface="Arial"/>
              </a:rPr>
              <a:t>job.</a:t>
            </a:r>
            <a:endParaRPr sz="1100">
              <a:latin typeface="Arial"/>
              <a:cs typeface="Arial"/>
            </a:endParaRPr>
          </a:p>
          <a:p>
            <a:pPr algn="just" marL="469900" marR="6350" indent="-228600">
              <a:lnSpc>
                <a:spcPts val="1270"/>
              </a:lnSpc>
              <a:spcBef>
                <a:spcPts val="100"/>
              </a:spcBef>
              <a:buFont typeface="Symbol"/>
              <a:buChar char=""/>
              <a:tabLst>
                <a:tab pos="470534" algn="l"/>
              </a:tabLst>
            </a:pPr>
            <a:r>
              <a:rPr dirty="0" sz="1100" spc="-5">
                <a:latin typeface="Arial"/>
                <a:cs typeface="Arial"/>
              </a:rPr>
              <a:t>Fees decline at the university level as the state bears a larger proportion of the college  student’s</a:t>
            </a:r>
            <a:r>
              <a:rPr dirty="0" sz="1100" spc="-10">
                <a:latin typeface="Arial"/>
                <a:cs typeface="Arial"/>
              </a:rPr>
              <a:t> </a:t>
            </a:r>
            <a:r>
              <a:rPr dirty="0" sz="1100" spc="-5">
                <a:latin typeface="Arial"/>
                <a:cs typeface="Arial"/>
              </a:rPr>
              <a:t>costs.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Under these conditions, which conform closely to the realities of the employment </a:t>
            </a:r>
            <a:r>
              <a:rPr dirty="0" sz="1100">
                <a:latin typeface="Arial"/>
                <a:cs typeface="Arial"/>
              </a:rPr>
              <a:t>and </a:t>
            </a:r>
            <a:r>
              <a:rPr dirty="0" sz="1100" spc="-5">
                <a:latin typeface="Arial"/>
                <a:cs typeface="Arial"/>
              </a:rPr>
              <a:t>education  situation in many developing nations, we would expect the quantity of higher education  demanded for the formal sector to be substantial. This is because the anticipated private  benefits of more schooling would </a:t>
            </a:r>
            <a:r>
              <a:rPr dirty="0" sz="1100">
                <a:latin typeface="Arial"/>
                <a:cs typeface="Arial"/>
              </a:rPr>
              <a:t>be </a:t>
            </a:r>
            <a:r>
              <a:rPr dirty="0" sz="1100" spc="-5">
                <a:latin typeface="Arial"/>
                <a:cs typeface="Arial"/>
              </a:rPr>
              <a:t>large compared to the alternative of little schooling, while  the direct and indirect private educational costs are relatively low. And the demand spirals  upward over time. As job opportunities for the uneducated are limited, individuals must  safeguard their position by acquiring increasingly more</a:t>
            </a:r>
            <a:r>
              <a:rPr dirty="0" sz="1100" spc="30">
                <a:latin typeface="Arial"/>
                <a:cs typeface="Arial"/>
              </a:rPr>
              <a:t> </a:t>
            </a:r>
            <a:r>
              <a:rPr dirty="0" sz="1100" spc="-5">
                <a:latin typeface="Arial"/>
                <a:cs typeface="Arial"/>
              </a:rPr>
              <a:t>education.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Supply and amount demanded are equated not by a price-adjusting market mechanism but  rather institutionally, largely by the state. The </a:t>
            </a:r>
            <a:r>
              <a:rPr dirty="0" sz="1100" spc="-5" b="1">
                <a:latin typeface="Arial"/>
                <a:cs typeface="Arial"/>
              </a:rPr>
              <a:t>social benefits of education </a:t>
            </a:r>
            <a:r>
              <a:rPr dirty="0" sz="1100" spc="-5">
                <a:latin typeface="Arial"/>
                <a:cs typeface="Arial"/>
              </a:rPr>
              <a:t>for all levels of  schooling fall short of the private benefits. Governments and formal-sector private employers in  many developing countries tend to reinforce this trend by </a:t>
            </a:r>
            <a:r>
              <a:rPr dirty="0" sz="1100" spc="-5" b="1">
                <a:latin typeface="Arial"/>
                <a:cs typeface="Arial"/>
              </a:rPr>
              <a:t>educational</a:t>
            </a:r>
            <a:r>
              <a:rPr dirty="0" sz="1100" spc="95" b="1">
                <a:latin typeface="Arial"/>
                <a:cs typeface="Arial"/>
              </a:rPr>
              <a:t> </a:t>
            </a:r>
            <a:r>
              <a:rPr dirty="0" sz="1100" spc="-5" b="1">
                <a:latin typeface="Arial"/>
                <a:cs typeface="Arial"/>
              </a:rPr>
              <a:t>certification.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700"/>
              </a:lnSpc>
            </a:pPr>
            <a:r>
              <a:rPr dirty="0" sz="1100" spc="-5">
                <a:latin typeface="Arial"/>
                <a:cs typeface="Arial"/>
              </a:rPr>
              <a:t>Note that this political economy process pulls scarce public resources away from </a:t>
            </a:r>
            <a:r>
              <a:rPr dirty="0" sz="1100">
                <a:latin typeface="Arial"/>
                <a:cs typeface="Arial"/>
              </a:rPr>
              <a:t>the </a:t>
            </a:r>
            <a:r>
              <a:rPr dirty="0" sz="1100" spc="-5">
                <a:latin typeface="Arial"/>
                <a:cs typeface="Arial"/>
              </a:rPr>
              <a:t>limited and  often low-quality </a:t>
            </a:r>
            <a:r>
              <a:rPr dirty="0" sz="1100" spc="-5" b="1">
                <a:latin typeface="Arial"/>
                <a:cs typeface="Arial"/>
              </a:rPr>
              <a:t>basic education </a:t>
            </a:r>
            <a:r>
              <a:rPr dirty="0" sz="1100" spc="-5">
                <a:latin typeface="Arial"/>
                <a:cs typeface="Arial"/>
              </a:rPr>
              <a:t>available for the many and toward more advanced education  for the few. This is both inequitable and economically</a:t>
            </a:r>
            <a:r>
              <a:rPr dirty="0" sz="1100" spc="45">
                <a:latin typeface="Arial"/>
                <a:cs typeface="Arial"/>
              </a:rPr>
              <a:t> </a:t>
            </a:r>
            <a:r>
              <a:rPr dirty="0" sz="1100" spc="-5">
                <a:latin typeface="Arial"/>
                <a:cs typeface="Arial"/>
              </a:rPr>
              <a:t>inefficient.</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Some </a:t>
            </a:r>
            <a:r>
              <a:rPr dirty="0" sz="1100" b="1">
                <a:latin typeface="Arial"/>
                <a:cs typeface="Arial"/>
              </a:rPr>
              <a:t>key </a:t>
            </a:r>
            <a:r>
              <a:rPr dirty="0" sz="1100" spc="-5" b="1">
                <a:latin typeface="Arial"/>
                <a:cs typeface="Arial"/>
              </a:rPr>
              <a:t>definitions</a:t>
            </a:r>
            <a:r>
              <a:rPr dirty="0" sz="1100" spc="-10" b="1">
                <a:latin typeface="Arial"/>
                <a:cs typeface="Arial"/>
              </a:rPr>
              <a:t> </a:t>
            </a:r>
            <a:r>
              <a:rPr dirty="0" sz="1100" spc="-5" b="1">
                <a:latin typeface="Arial"/>
                <a:cs typeface="Arial"/>
              </a:rPr>
              <a:t>are.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108</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70270" cy="2956560"/>
          </a:xfrm>
          <a:prstGeom prst="rect">
            <a:avLst/>
          </a:prstGeom>
        </p:spPr>
        <p:txBody>
          <a:bodyPr wrap="square" lIns="0" tIns="19685" rIns="0" bIns="0" rtlCol="0" vert="horz">
            <a:spAutoFit/>
          </a:bodyPr>
          <a:lstStyle/>
          <a:p>
            <a:pPr algn="just" marL="469900" marR="5715" indent="-228600">
              <a:lnSpc>
                <a:spcPct val="95700"/>
              </a:lnSpc>
              <a:spcBef>
                <a:spcPts val="155"/>
              </a:spcBef>
              <a:buFont typeface="Symbol"/>
              <a:buChar char=""/>
              <a:tabLst>
                <a:tab pos="469900" algn="l"/>
              </a:tabLst>
            </a:pPr>
            <a:r>
              <a:rPr dirty="0" sz="1100" spc="-5" b="1">
                <a:latin typeface="Arial"/>
                <a:cs typeface="Arial"/>
              </a:rPr>
              <a:t>Social benefits of education</a:t>
            </a:r>
            <a:r>
              <a:rPr dirty="0" sz="1100" spc="-5">
                <a:latin typeface="Arial"/>
                <a:cs typeface="Arial"/>
              </a:rPr>
              <a:t>: Benefits of the schooling of individuals, including those  that accrue to others or even to the entire society, such as the benefits of a more literate  workforce and</a:t>
            </a:r>
            <a:r>
              <a:rPr dirty="0" sz="1100">
                <a:latin typeface="Arial"/>
                <a:cs typeface="Arial"/>
              </a:rPr>
              <a:t> </a:t>
            </a:r>
            <a:r>
              <a:rPr dirty="0" sz="1100" spc="-5">
                <a:latin typeface="Arial"/>
                <a:cs typeface="Arial"/>
              </a:rPr>
              <a:t>citizenry.</a:t>
            </a:r>
            <a:endParaRPr sz="1100">
              <a:latin typeface="Arial"/>
              <a:cs typeface="Arial"/>
            </a:endParaRPr>
          </a:p>
          <a:p>
            <a:pPr algn="just" marL="469900" marR="6985" indent="-228600">
              <a:lnSpc>
                <a:spcPts val="1260"/>
              </a:lnSpc>
              <a:spcBef>
                <a:spcPts val="114"/>
              </a:spcBef>
              <a:buFont typeface="Symbol"/>
              <a:buChar char=""/>
              <a:tabLst>
                <a:tab pos="469900" algn="l"/>
              </a:tabLst>
            </a:pPr>
            <a:r>
              <a:rPr dirty="0" sz="1100" spc="-5" b="1">
                <a:latin typeface="Arial"/>
                <a:cs typeface="Arial"/>
              </a:rPr>
              <a:t>Educational certification</a:t>
            </a:r>
            <a:r>
              <a:rPr dirty="0" sz="1100" spc="-5">
                <a:latin typeface="Arial"/>
                <a:cs typeface="Arial"/>
              </a:rPr>
              <a:t>: The phenomenon by which particular jobs require specified  levels of</a:t>
            </a:r>
            <a:r>
              <a:rPr dirty="0" sz="1100">
                <a:latin typeface="Arial"/>
                <a:cs typeface="Arial"/>
              </a:rPr>
              <a:t> </a:t>
            </a:r>
            <a:r>
              <a:rPr dirty="0" sz="1100" spc="-5">
                <a:latin typeface="Arial"/>
                <a:cs typeface="Arial"/>
              </a:rPr>
              <a:t>education.</a:t>
            </a:r>
            <a:endParaRPr sz="1100">
              <a:latin typeface="Arial"/>
              <a:cs typeface="Arial"/>
            </a:endParaRPr>
          </a:p>
          <a:p>
            <a:pPr algn="just" marL="469900" marR="6350" indent="-228600">
              <a:lnSpc>
                <a:spcPts val="1260"/>
              </a:lnSpc>
              <a:spcBef>
                <a:spcPts val="85"/>
              </a:spcBef>
              <a:buFont typeface="Symbol"/>
              <a:buChar char=""/>
              <a:tabLst>
                <a:tab pos="469900" algn="l"/>
              </a:tabLst>
            </a:pPr>
            <a:r>
              <a:rPr dirty="0" sz="1100" spc="-5" b="1">
                <a:latin typeface="Arial"/>
                <a:cs typeface="Arial"/>
              </a:rPr>
              <a:t>Basic education: </a:t>
            </a:r>
            <a:r>
              <a:rPr dirty="0" sz="1100" spc="-5">
                <a:latin typeface="Arial"/>
                <a:cs typeface="Arial"/>
              </a:rPr>
              <a:t>The attainment of literacy, arithmetic competence, and elementary  vocational skills.</a:t>
            </a:r>
            <a:endParaRPr sz="1100">
              <a:latin typeface="Arial"/>
              <a:cs typeface="Arial"/>
            </a:endParaRPr>
          </a:p>
          <a:p>
            <a:pPr>
              <a:lnSpc>
                <a:spcPct val="100000"/>
              </a:lnSpc>
              <a:spcBef>
                <a:spcPts val="35"/>
              </a:spcBef>
            </a:pPr>
            <a:endParaRPr sz="1000">
              <a:latin typeface="Arial"/>
              <a:cs typeface="Arial"/>
            </a:endParaRPr>
          </a:p>
          <a:p>
            <a:pPr algn="just" marL="12700">
              <a:lnSpc>
                <a:spcPct val="100000"/>
              </a:lnSpc>
            </a:pPr>
            <a:r>
              <a:rPr dirty="0" sz="1100" spc="-5" b="1">
                <a:latin typeface="Arial"/>
                <a:cs typeface="Arial"/>
              </a:rPr>
              <a:t>SOCIAL VERSUS PRIVATE BENEFITS AND</a:t>
            </a:r>
            <a:r>
              <a:rPr dirty="0" sz="1100" spc="25" b="1">
                <a:latin typeface="Arial"/>
                <a:cs typeface="Arial"/>
              </a:rPr>
              <a:t> </a:t>
            </a:r>
            <a:r>
              <a:rPr dirty="0" sz="1100" spc="-5" b="1">
                <a:latin typeface="Arial"/>
                <a:cs typeface="Arial"/>
              </a:rPr>
              <a:t>COSTS</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spcBef>
                <a:spcPts val="5"/>
              </a:spcBef>
            </a:pPr>
            <a:r>
              <a:rPr dirty="0" sz="1100" spc="-5">
                <a:latin typeface="Arial"/>
                <a:cs typeface="Arial"/>
              </a:rPr>
              <a:t>Typically in developing countries, the </a:t>
            </a:r>
            <a:r>
              <a:rPr dirty="0" sz="1100" spc="-5" b="1">
                <a:latin typeface="Arial"/>
                <a:cs typeface="Arial"/>
              </a:rPr>
              <a:t>social costs of education </a:t>
            </a:r>
            <a:r>
              <a:rPr dirty="0" sz="1100" spc="-5">
                <a:latin typeface="Arial"/>
                <a:cs typeface="Arial"/>
              </a:rPr>
              <a:t>(the opportunity cost to society  as a whole resulting from the need to finance costly educational expansion at higher levels  when these limited funds might be more productively used in other sectors of the economy)  increase rapidly as students climb the educational ladder. The </a:t>
            </a:r>
            <a:r>
              <a:rPr dirty="0" sz="1100" spc="-5" b="1">
                <a:latin typeface="Arial"/>
                <a:cs typeface="Arial"/>
              </a:rPr>
              <a:t>private costs </a:t>
            </a:r>
            <a:r>
              <a:rPr dirty="0" sz="1100" spc="-5">
                <a:latin typeface="Arial"/>
                <a:cs typeface="Arial"/>
              </a:rPr>
              <a:t>of education  (those borne by students themselves) increase more slowly or may even</a:t>
            </a:r>
            <a:r>
              <a:rPr dirty="0" sz="1100" spc="105">
                <a:latin typeface="Arial"/>
                <a:cs typeface="Arial"/>
              </a:rPr>
              <a:t> </a:t>
            </a:r>
            <a:r>
              <a:rPr dirty="0" sz="1100" spc="-5">
                <a:latin typeface="Arial"/>
                <a:cs typeface="Arial"/>
              </a:rPr>
              <a:t>decline.</a:t>
            </a:r>
            <a:endParaRPr sz="1100">
              <a:latin typeface="Arial"/>
              <a:cs typeface="Arial"/>
            </a:endParaRPr>
          </a:p>
          <a:p>
            <a:pPr algn="just" marL="51435">
              <a:lnSpc>
                <a:spcPts val="1185"/>
              </a:lnSpc>
            </a:pPr>
            <a:r>
              <a:rPr dirty="0" sz="1100" spc="-5">
                <a:latin typeface="Arial"/>
                <a:cs typeface="Arial"/>
              </a:rPr>
              <a:t>This</a:t>
            </a:r>
            <a:r>
              <a:rPr dirty="0" sz="1100" spc="120">
                <a:latin typeface="Arial"/>
                <a:cs typeface="Arial"/>
              </a:rPr>
              <a:t> </a:t>
            </a:r>
            <a:r>
              <a:rPr dirty="0" sz="1100" spc="-5">
                <a:latin typeface="Arial"/>
                <a:cs typeface="Arial"/>
              </a:rPr>
              <a:t>widening</a:t>
            </a:r>
            <a:r>
              <a:rPr dirty="0" sz="1100" spc="120">
                <a:latin typeface="Arial"/>
                <a:cs typeface="Arial"/>
              </a:rPr>
              <a:t> </a:t>
            </a:r>
            <a:r>
              <a:rPr dirty="0" sz="1100" spc="-5">
                <a:latin typeface="Arial"/>
                <a:cs typeface="Arial"/>
              </a:rPr>
              <a:t>gap</a:t>
            </a:r>
            <a:r>
              <a:rPr dirty="0" sz="1100" spc="114">
                <a:latin typeface="Arial"/>
                <a:cs typeface="Arial"/>
              </a:rPr>
              <a:t> </a:t>
            </a:r>
            <a:r>
              <a:rPr dirty="0" sz="1100" spc="-5">
                <a:latin typeface="Arial"/>
                <a:cs typeface="Arial"/>
              </a:rPr>
              <a:t>between</a:t>
            </a:r>
            <a:r>
              <a:rPr dirty="0" sz="1100" spc="120">
                <a:latin typeface="Arial"/>
                <a:cs typeface="Arial"/>
              </a:rPr>
              <a:t> </a:t>
            </a:r>
            <a:r>
              <a:rPr dirty="0" sz="1100" spc="-5">
                <a:latin typeface="Arial"/>
                <a:cs typeface="Arial"/>
              </a:rPr>
              <a:t>social</a:t>
            </a:r>
            <a:r>
              <a:rPr dirty="0" sz="1100" spc="114">
                <a:latin typeface="Arial"/>
                <a:cs typeface="Arial"/>
              </a:rPr>
              <a:t> </a:t>
            </a:r>
            <a:r>
              <a:rPr dirty="0" sz="1100" spc="-5">
                <a:latin typeface="Arial"/>
                <a:cs typeface="Arial"/>
              </a:rPr>
              <a:t>and</a:t>
            </a:r>
            <a:r>
              <a:rPr dirty="0" sz="1100" spc="120">
                <a:latin typeface="Arial"/>
                <a:cs typeface="Arial"/>
              </a:rPr>
              <a:t> </a:t>
            </a:r>
            <a:r>
              <a:rPr dirty="0" sz="1100" spc="-5">
                <a:latin typeface="Arial"/>
                <a:cs typeface="Arial"/>
              </a:rPr>
              <a:t>private</a:t>
            </a:r>
            <a:r>
              <a:rPr dirty="0" sz="1100" spc="125">
                <a:latin typeface="Arial"/>
                <a:cs typeface="Arial"/>
              </a:rPr>
              <a:t> </a:t>
            </a:r>
            <a:r>
              <a:rPr dirty="0" sz="1100" spc="-5">
                <a:latin typeface="Arial"/>
                <a:cs typeface="Arial"/>
              </a:rPr>
              <a:t>costs</a:t>
            </a:r>
            <a:r>
              <a:rPr dirty="0" sz="1100" spc="125">
                <a:latin typeface="Arial"/>
                <a:cs typeface="Arial"/>
              </a:rPr>
              <a:t> </a:t>
            </a:r>
            <a:r>
              <a:rPr dirty="0" sz="1100" spc="-5">
                <a:latin typeface="Arial"/>
                <a:cs typeface="Arial"/>
              </a:rPr>
              <a:t>provides</a:t>
            </a:r>
            <a:r>
              <a:rPr dirty="0" sz="1100" spc="120">
                <a:latin typeface="Arial"/>
                <a:cs typeface="Arial"/>
              </a:rPr>
              <a:t> </a:t>
            </a:r>
            <a:r>
              <a:rPr dirty="0" sz="1100" spc="-5">
                <a:latin typeface="Arial"/>
                <a:cs typeface="Arial"/>
              </a:rPr>
              <a:t>an</a:t>
            </a:r>
            <a:r>
              <a:rPr dirty="0" sz="1100" spc="114">
                <a:latin typeface="Arial"/>
                <a:cs typeface="Arial"/>
              </a:rPr>
              <a:t> </a:t>
            </a:r>
            <a:r>
              <a:rPr dirty="0" sz="1100">
                <a:latin typeface="Arial"/>
                <a:cs typeface="Arial"/>
              </a:rPr>
              <a:t>even</a:t>
            </a:r>
            <a:r>
              <a:rPr dirty="0" sz="1100" spc="120">
                <a:latin typeface="Arial"/>
                <a:cs typeface="Arial"/>
              </a:rPr>
              <a:t> </a:t>
            </a:r>
            <a:r>
              <a:rPr dirty="0" sz="1100" spc="-5">
                <a:latin typeface="Arial"/>
                <a:cs typeface="Arial"/>
              </a:rPr>
              <a:t>greater</a:t>
            </a:r>
            <a:r>
              <a:rPr dirty="0" sz="1100" spc="114">
                <a:latin typeface="Arial"/>
                <a:cs typeface="Arial"/>
              </a:rPr>
              <a:t> </a:t>
            </a:r>
            <a:r>
              <a:rPr dirty="0" sz="1100" spc="-5">
                <a:latin typeface="Arial"/>
                <a:cs typeface="Arial"/>
              </a:rPr>
              <a:t>stimulus</a:t>
            </a:r>
            <a:r>
              <a:rPr dirty="0" sz="1100" spc="120">
                <a:latin typeface="Arial"/>
                <a:cs typeface="Arial"/>
              </a:rPr>
              <a:t> </a:t>
            </a:r>
            <a:r>
              <a:rPr dirty="0" sz="1100" spc="-5">
                <a:latin typeface="Arial"/>
                <a:cs typeface="Arial"/>
              </a:rPr>
              <a:t>to</a:t>
            </a:r>
            <a:r>
              <a:rPr dirty="0" sz="1100" spc="114">
                <a:latin typeface="Arial"/>
                <a:cs typeface="Arial"/>
              </a:rPr>
              <a:t> </a:t>
            </a:r>
            <a:r>
              <a:rPr dirty="0" sz="1100">
                <a:latin typeface="Arial"/>
                <a:cs typeface="Arial"/>
              </a:rPr>
              <a:t>the</a:t>
            </a:r>
            <a:endParaRPr sz="1100">
              <a:latin typeface="Arial"/>
              <a:cs typeface="Arial"/>
            </a:endParaRPr>
          </a:p>
          <a:p>
            <a:pPr algn="just" marL="12700" marR="8255">
              <a:lnSpc>
                <a:spcPts val="1270"/>
              </a:lnSpc>
              <a:spcBef>
                <a:spcPts val="55"/>
              </a:spcBef>
            </a:pPr>
            <a:r>
              <a:rPr dirty="0" sz="1100" spc="-5">
                <a:latin typeface="Arial"/>
                <a:cs typeface="Arial"/>
              </a:rPr>
              <a:t>demand for higher education than it does for education at lower levels. But educational  opportunities can be accommodated to these distorted demands only at full social</a:t>
            </a:r>
            <a:r>
              <a:rPr dirty="0" sz="1100" spc="140">
                <a:latin typeface="Arial"/>
                <a:cs typeface="Arial"/>
              </a:rPr>
              <a:t> </a:t>
            </a:r>
            <a:r>
              <a:rPr dirty="0" sz="1100" spc="-5">
                <a:latin typeface="Arial"/>
                <a:cs typeface="Arial"/>
              </a:rPr>
              <a:t>cost.</a:t>
            </a:r>
            <a:endParaRPr sz="1100">
              <a:latin typeface="Arial"/>
              <a:cs typeface="Arial"/>
            </a:endParaRPr>
          </a:p>
        </p:txBody>
      </p:sp>
      <p:sp>
        <p:nvSpPr>
          <p:cNvPr id="7" name="object 7"/>
          <p:cNvSpPr txBox="1"/>
          <p:nvPr/>
        </p:nvSpPr>
        <p:spPr>
          <a:xfrm>
            <a:off x="901700" y="7573005"/>
            <a:ext cx="5969635" cy="131762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Figure 8.6 provides an illustration of this divergence between private and social benefits and  costs. It also demonstrates how this divergence can lead to a misallocation of resources when  private interests supersede social investment criteria. In Figure 8.6a, expected private returns  and actual private costs are plotted against years of completed schooling. As a student  completes more and more years of schooling, expected private returns grow at a much faster  rate than private costs, for reasons explained earlier. To maximize </a:t>
            </a:r>
            <a:r>
              <a:rPr dirty="0" sz="1100">
                <a:latin typeface="Arial"/>
                <a:cs typeface="Arial"/>
              </a:rPr>
              <a:t>the </a:t>
            </a:r>
            <a:r>
              <a:rPr dirty="0" sz="1100" spc="-5">
                <a:latin typeface="Arial"/>
                <a:cs typeface="Arial"/>
              </a:rPr>
              <a:t>difference between  expected benefits and costs, the optimal strategy for a student would be to secure as much  schooling as possible.</a:t>
            </a:r>
            <a:endParaRPr sz="1100">
              <a:latin typeface="Arial"/>
              <a:cs typeface="Arial"/>
            </a:endParaRPr>
          </a:p>
        </p:txBody>
      </p:sp>
      <p:sp>
        <p:nvSpPr>
          <p:cNvPr id="8" name="object 8"/>
          <p:cNvSpPr/>
          <p:nvPr/>
        </p:nvSpPr>
        <p:spPr>
          <a:xfrm>
            <a:off x="2069906" y="4040885"/>
            <a:ext cx="3454670" cy="3370217"/>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109</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454469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Now consider Figure 8.6b, where social returns and social costs are plotted against years of  schooling. The social benefits curve rises sharply at first, reflecting the improved levels of  productivity of, say, small farmers and the self-employed </a:t>
            </a:r>
            <a:r>
              <a:rPr dirty="0" sz="1100">
                <a:latin typeface="Arial"/>
                <a:cs typeface="Arial"/>
              </a:rPr>
              <a:t>that </a:t>
            </a:r>
            <a:r>
              <a:rPr dirty="0" sz="1100" spc="-5">
                <a:latin typeface="Arial"/>
                <a:cs typeface="Arial"/>
              </a:rPr>
              <a:t>result from receipt of a basic  education and the attainment of literacy, arithmetic skills, and elementary vocational skills.  Thereafter, the marginal social benefit of additional years of schooling rises more slowly, and  the social returns curve begins to level off. By contrast, the social cost curve shows a slow rate  of growth for early years of schooling (basic education) and then a much more </a:t>
            </a:r>
            <a:r>
              <a:rPr dirty="0" sz="1100">
                <a:latin typeface="Arial"/>
                <a:cs typeface="Arial"/>
              </a:rPr>
              <a:t>rapid </a:t>
            </a:r>
            <a:r>
              <a:rPr dirty="0" sz="1100" spc="-5">
                <a:latin typeface="Arial"/>
                <a:cs typeface="Arial"/>
              </a:rPr>
              <a:t>growth </a:t>
            </a:r>
            <a:r>
              <a:rPr dirty="0" sz="1100">
                <a:latin typeface="Arial"/>
                <a:cs typeface="Arial"/>
              </a:rPr>
              <a:t>for  </a:t>
            </a:r>
            <a:r>
              <a:rPr dirty="0" sz="1100" spc="-5">
                <a:latin typeface="Arial"/>
                <a:cs typeface="Arial"/>
              </a:rPr>
              <a:t>higher levels of education. This rapid increase in the marginal social costs of post primary  education is the result both of the much more expensive capital and recurrent costs of higher  education (buildings and equipment) and the fact that much post primary education in  developing countries is heavily</a:t>
            </a:r>
            <a:r>
              <a:rPr dirty="0" sz="1100" spc="10">
                <a:latin typeface="Arial"/>
                <a:cs typeface="Arial"/>
              </a:rPr>
              <a:t> </a:t>
            </a:r>
            <a:r>
              <a:rPr dirty="0" sz="1100" spc="-5">
                <a:latin typeface="Arial"/>
                <a:cs typeface="Arial"/>
              </a:rPr>
              <a:t>subsidized.</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It follows from Figure 8.6b that the optimal strategy </a:t>
            </a:r>
            <a:r>
              <a:rPr dirty="0" sz="1100">
                <a:latin typeface="Arial"/>
                <a:cs typeface="Arial"/>
              </a:rPr>
              <a:t>from </a:t>
            </a:r>
            <a:r>
              <a:rPr dirty="0" sz="1100" spc="-5">
                <a:latin typeface="Arial"/>
                <a:cs typeface="Arial"/>
              </a:rPr>
              <a:t>a social viewpoint, the one that  maximizes the net social rate of return to educational investment, would be one that focuses on  providing all students with at least </a:t>
            </a:r>
            <a:r>
              <a:rPr dirty="0" sz="1100" spc="-5" i="1">
                <a:latin typeface="Arial"/>
                <a:cs typeface="Arial"/>
              </a:rPr>
              <a:t>B </a:t>
            </a:r>
            <a:r>
              <a:rPr dirty="0" sz="1100" spc="-5">
                <a:latin typeface="Arial"/>
                <a:cs typeface="Arial"/>
              </a:rPr>
              <a:t>years of schooling. Figure 8.6 also illustrates the inherent  conflict between optimal private and social investment strategies—a conflict that will continue to  exist as long as private and social valuations of investment in education continue to diverge as  students climb the educational</a:t>
            </a:r>
            <a:r>
              <a:rPr dirty="0" sz="1100" spc="15">
                <a:latin typeface="Arial"/>
                <a:cs typeface="Arial"/>
              </a:rPr>
              <a:t> </a:t>
            </a:r>
            <a:r>
              <a:rPr dirty="0" sz="1100" spc="-5">
                <a:latin typeface="Arial"/>
                <a:cs typeface="Arial"/>
              </a:rPr>
              <a:t>ladder.</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DISTRIBUTION OF</a:t>
            </a:r>
            <a:r>
              <a:rPr dirty="0" sz="1100" spc="5" b="1">
                <a:latin typeface="Arial"/>
                <a:cs typeface="Arial"/>
              </a:rPr>
              <a:t> </a:t>
            </a:r>
            <a:r>
              <a:rPr dirty="0" sz="1100" spc="-5" b="1">
                <a:latin typeface="Arial"/>
                <a:cs typeface="Arial"/>
              </a:rPr>
              <a:t>EDUCATION</a:t>
            </a:r>
            <a:endParaRPr sz="1100">
              <a:latin typeface="Arial"/>
              <a:cs typeface="Arial"/>
            </a:endParaRPr>
          </a:p>
          <a:p>
            <a:pPr>
              <a:lnSpc>
                <a:spcPct val="100000"/>
              </a:lnSpc>
              <a:spcBef>
                <a:spcPts val="50"/>
              </a:spcBef>
            </a:pPr>
            <a:endParaRPr sz="1150">
              <a:latin typeface="Arial"/>
              <a:cs typeface="Arial"/>
            </a:endParaRPr>
          </a:p>
          <a:p>
            <a:pPr algn="just" marL="12700" marR="6985">
              <a:lnSpc>
                <a:spcPct val="95800"/>
              </a:lnSpc>
            </a:pPr>
            <a:r>
              <a:rPr dirty="0" sz="1100" spc="-5">
                <a:latin typeface="Arial"/>
                <a:cs typeface="Arial"/>
              </a:rPr>
              <a:t>The foregoing analysis of forces operating for over education in developing countries should not  lead us to despair over the possibility of fostering development through greater education.  Countries that have developed successfully have generally ensured that educational benefits  are more broadly available in the economy—to the poor as well as the rich, in the rural areas as  well as the urban. And so we turn to examining the distribution of educational benefits in  developing countries.</a:t>
            </a:r>
            <a:endParaRPr sz="1100">
              <a:latin typeface="Arial"/>
              <a:cs typeface="Arial"/>
            </a:endParaRPr>
          </a:p>
          <a:p>
            <a:pPr algn="just" marL="12700">
              <a:lnSpc>
                <a:spcPts val="1265"/>
              </a:lnSpc>
            </a:pPr>
            <a:r>
              <a:rPr dirty="0" sz="1100" spc="-5">
                <a:latin typeface="Arial"/>
                <a:cs typeface="Arial"/>
              </a:rPr>
              <a:t>Figure</a:t>
            </a:r>
            <a:r>
              <a:rPr dirty="0" sz="1100" spc="40">
                <a:latin typeface="Arial"/>
                <a:cs typeface="Arial"/>
              </a:rPr>
              <a:t> </a:t>
            </a:r>
            <a:r>
              <a:rPr dirty="0" sz="1100" spc="-5">
                <a:latin typeface="Arial"/>
                <a:cs typeface="Arial"/>
              </a:rPr>
              <a:t>8.7</a:t>
            </a:r>
            <a:r>
              <a:rPr dirty="0" sz="1100" spc="40">
                <a:latin typeface="Arial"/>
                <a:cs typeface="Arial"/>
              </a:rPr>
              <a:t> </a:t>
            </a:r>
            <a:r>
              <a:rPr dirty="0" sz="1100" spc="-5">
                <a:latin typeface="Arial"/>
                <a:cs typeface="Arial"/>
              </a:rPr>
              <a:t>shows</a:t>
            </a:r>
            <a:r>
              <a:rPr dirty="0" sz="1100" spc="45">
                <a:latin typeface="Arial"/>
                <a:cs typeface="Arial"/>
              </a:rPr>
              <a:t> </a:t>
            </a:r>
            <a:r>
              <a:rPr dirty="0" sz="1100" spc="-5">
                <a:latin typeface="Arial"/>
                <a:cs typeface="Arial"/>
              </a:rPr>
              <a:t>Lorenz</a:t>
            </a:r>
            <a:r>
              <a:rPr dirty="0" sz="1100" spc="40">
                <a:latin typeface="Arial"/>
                <a:cs typeface="Arial"/>
              </a:rPr>
              <a:t> </a:t>
            </a:r>
            <a:r>
              <a:rPr dirty="0" sz="1100" spc="-5">
                <a:latin typeface="Arial"/>
                <a:cs typeface="Arial"/>
              </a:rPr>
              <a:t>curves</a:t>
            </a:r>
            <a:r>
              <a:rPr dirty="0" sz="1100" spc="45">
                <a:latin typeface="Arial"/>
                <a:cs typeface="Arial"/>
              </a:rPr>
              <a:t> </a:t>
            </a:r>
            <a:r>
              <a:rPr dirty="0" sz="1100" spc="-5">
                <a:latin typeface="Arial"/>
                <a:cs typeface="Arial"/>
              </a:rPr>
              <a:t>for</a:t>
            </a:r>
            <a:r>
              <a:rPr dirty="0" sz="1100" spc="30">
                <a:latin typeface="Arial"/>
                <a:cs typeface="Arial"/>
              </a:rPr>
              <a:t> </a:t>
            </a:r>
            <a:r>
              <a:rPr dirty="0" sz="1100" spc="-5">
                <a:latin typeface="Arial"/>
                <a:cs typeface="Arial"/>
              </a:rPr>
              <a:t>education</a:t>
            </a:r>
            <a:r>
              <a:rPr dirty="0" sz="1100" spc="35">
                <a:latin typeface="Arial"/>
                <a:cs typeface="Arial"/>
              </a:rPr>
              <a:t> </a:t>
            </a:r>
            <a:r>
              <a:rPr dirty="0" sz="1100" spc="-5">
                <a:latin typeface="Arial"/>
                <a:cs typeface="Arial"/>
              </a:rPr>
              <a:t>in</a:t>
            </a:r>
            <a:r>
              <a:rPr dirty="0" sz="1100" spc="40">
                <a:latin typeface="Arial"/>
                <a:cs typeface="Arial"/>
              </a:rPr>
              <a:t> </a:t>
            </a:r>
            <a:r>
              <a:rPr dirty="0" sz="1100" spc="-5">
                <a:latin typeface="Arial"/>
                <a:cs typeface="Arial"/>
              </a:rPr>
              <a:t>India</a:t>
            </a:r>
            <a:r>
              <a:rPr dirty="0" sz="1100" spc="45">
                <a:latin typeface="Arial"/>
                <a:cs typeface="Arial"/>
              </a:rPr>
              <a:t> </a:t>
            </a:r>
            <a:r>
              <a:rPr dirty="0" sz="1100" spc="-5">
                <a:latin typeface="Arial"/>
                <a:cs typeface="Arial"/>
              </a:rPr>
              <a:t>and</a:t>
            </a:r>
            <a:r>
              <a:rPr dirty="0" sz="1100" spc="40">
                <a:latin typeface="Arial"/>
                <a:cs typeface="Arial"/>
              </a:rPr>
              <a:t> </a:t>
            </a:r>
            <a:r>
              <a:rPr dirty="0" sz="1100" spc="-5">
                <a:latin typeface="Arial"/>
                <a:cs typeface="Arial"/>
              </a:rPr>
              <a:t>South</a:t>
            </a:r>
            <a:r>
              <a:rPr dirty="0" sz="1100" spc="40">
                <a:latin typeface="Arial"/>
                <a:cs typeface="Arial"/>
              </a:rPr>
              <a:t> </a:t>
            </a:r>
            <a:r>
              <a:rPr dirty="0" sz="1100" spc="-5">
                <a:latin typeface="Arial"/>
                <a:cs typeface="Arial"/>
              </a:rPr>
              <a:t>Korea,</a:t>
            </a:r>
            <a:r>
              <a:rPr dirty="0" sz="1100" spc="40">
                <a:latin typeface="Arial"/>
                <a:cs typeface="Arial"/>
              </a:rPr>
              <a:t> </a:t>
            </a:r>
            <a:r>
              <a:rPr dirty="0" sz="1100" spc="-5">
                <a:latin typeface="Arial"/>
                <a:cs typeface="Arial"/>
              </a:rPr>
              <a:t>using</a:t>
            </a:r>
            <a:r>
              <a:rPr dirty="0" sz="1100" spc="40">
                <a:latin typeface="Arial"/>
                <a:cs typeface="Arial"/>
              </a:rPr>
              <a:t> </a:t>
            </a:r>
            <a:r>
              <a:rPr dirty="0" sz="1100" spc="-5">
                <a:latin typeface="Arial"/>
                <a:cs typeface="Arial"/>
              </a:rPr>
              <a:t>comparable</a:t>
            </a:r>
            <a:r>
              <a:rPr dirty="0" sz="1100" spc="40">
                <a:latin typeface="Arial"/>
                <a:cs typeface="Arial"/>
              </a:rPr>
              <a:t> </a:t>
            </a:r>
            <a:r>
              <a:rPr dirty="0" sz="1100" spc="-5">
                <a:latin typeface="Arial"/>
                <a:cs typeface="Arial"/>
              </a:rPr>
              <a:t>data</a:t>
            </a:r>
            <a:endParaRPr sz="1100">
              <a:latin typeface="Arial"/>
              <a:cs typeface="Arial"/>
            </a:endParaRPr>
          </a:p>
        </p:txBody>
      </p:sp>
      <p:sp>
        <p:nvSpPr>
          <p:cNvPr id="7" name="object 7"/>
          <p:cNvSpPr txBox="1"/>
          <p:nvPr/>
        </p:nvSpPr>
        <p:spPr>
          <a:xfrm>
            <a:off x="901686" y="8128495"/>
            <a:ext cx="5969635"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from 1990. By analogy with income Lorenz curves, we </a:t>
            </a:r>
            <a:r>
              <a:rPr dirty="0" sz="1100">
                <a:latin typeface="Arial"/>
                <a:cs typeface="Arial"/>
              </a:rPr>
              <a:t>write </a:t>
            </a:r>
            <a:r>
              <a:rPr dirty="0" sz="1100" spc="-5">
                <a:latin typeface="Arial"/>
                <a:cs typeface="Arial"/>
              </a:rPr>
              <a:t>the cumulative proportion of the  population on the </a:t>
            </a:r>
            <a:r>
              <a:rPr dirty="0" sz="1100" spc="-5" i="1">
                <a:latin typeface="Arial"/>
                <a:cs typeface="Arial"/>
              </a:rPr>
              <a:t>x</a:t>
            </a:r>
            <a:r>
              <a:rPr dirty="0" sz="1100" spc="-5">
                <a:latin typeface="Arial"/>
                <a:cs typeface="Arial"/>
              </a:rPr>
              <a:t>-axis and the cumulative proportion of years of schooling on the </a:t>
            </a:r>
            <a:r>
              <a:rPr dirty="0" sz="1100" spc="-5" i="1">
                <a:latin typeface="Arial"/>
                <a:cs typeface="Arial"/>
              </a:rPr>
              <a:t>y</a:t>
            </a:r>
            <a:r>
              <a:rPr dirty="0" sz="1100" spc="-5">
                <a:latin typeface="Arial"/>
                <a:cs typeface="Arial"/>
              </a:rPr>
              <a:t>-axis. Along  the 45-degree line of perfect equality, everyone in the economy would have the same number of  years of schooling; for example, everyone would have finished a basic eight years of school, but  no one </a:t>
            </a:r>
            <a:r>
              <a:rPr dirty="0" sz="1100">
                <a:latin typeface="Arial"/>
                <a:cs typeface="Arial"/>
              </a:rPr>
              <a:t>would </a:t>
            </a:r>
            <a:r>
              <a:rPr dirty="0" sz="1100" spc="-5">
                <a:latin typeface="Arial"/>
                <a:cs typeface="Arial"/>
              </a:rPr>
              <a:t>have started secondary education. In a highly unequal economy, </a:t>
            </a:r>
            <a:r>
              <a:rPr dirty="0" sz="1100">
                <a:latin typeface="Arial"/>
                <a:cs typeface="Arial"/>
              </a:rPr>
              <a:t>many </a:t>
            </a:r>
            <a:r>
              <a:rPr dirty="0" sz="1100" spc="-5">
                <a:latin typeface="Arial"/>
                <a:cs typeface="Arial"/>
              </a:rPr>
              <a:t>people  might</a:t>
            </a:r>
            <a:r>
              <a:rPr dirty="0" sz="1100" spc="110">
                <a:latin typeface="Arial"/>
                <a:cs typeface="Arial"/>
              </a:rPr>
              <a:t> </a:t>
            </a:r>
            <a:r>
              <a:rPr dirty="0" sz="1100" spc="-5">
                <a:latin typeface="Arial"/>
                <a:cs typeface="Arial"/>
              </a:rPr>
              <a:t>have</a:t>
            </a:r>
            <a:r>
              <a:rPr dirty="0" sz="1100" spc="114">
                <a:latin typeface="Arial"/>
                <a:cs typeface="Arial"/>
              </a:rPr>
              <a:t> </a:t>
            </a:r>
            <a:r>
              <a:rPr dirty="0" sz="1100" spc="-5">
                <a:latin typeface="Arial"/>
                <a:cs typeface="Arial"/>
              </a:rPr>
              <a:t>no</a:t>
            </a:r>
            <a:r>
              <a:rPr dirty="0" sz="1100" spc="114">
                <a:latin typeface="Arial"/>
                <a:cs typeface="Arial"/>
              </a:rPr>
              <a:t> </a:t>
            </a:r>
            <a:r>
              <a:rPr dirty="0" sz="1100" spc="-5">
                <a:latin typeface="Arial"/>
                <a:cs typeface="Arial"/>
              </a:rPr>
              <a:t>years</a:t>
            </a:r>
            <a:r>
              <a:rPr dirty="0" sz="1100" spc="110">
                <a:latin typeface="Arial"/>
                <a:cs typeface="Arial"/>
              </a:rPr>
              <a:t> </a:t>
            </a:r>
            <a:r>
              <a:rPr dirty="0" sz="1100" spc="-5">
                <a:latin typeface="Arial"/>
                <a:cs typeface="Arial"/>
              </a:rPr>
              <a:t>of</a:t>
            </a:r>
            <a:r>
              <a:rPr dirty="0" sz="1100" spc="110">
                <a:latin typeface="Arial"/>
                <a:cs typeface="Arial"/>
              </a:rPr>
              <a:t> </a:t>
            </a:r>
            <a:r>
              <a:rPr dirty="0" sz="1100" spc="-5">
                <a:latin typeface="Arial"/>
                <a:cs typeface="Arial"/>
              </a:rPr>
              <a:t>schooling</a:t>
            </a:r>
            <a:r>
              <a:rPr dirty="0" sz="1100" spc="114">
                <a:latin typeface="Arial"/>
                <a:cs typeface="Arial"/>
              </a:rPr>
              <a:t> </a:t>
            </a:r>
            <a:r>
              <a:rPr dirty="0" sz="1100" spc="-5">
                <a:latin typeface="Arial"/>
                <a:cs typeface="Arial"/>
              </a:rPr>
              <a:t>at</a:t>
            </a:r>
            <a:r>
              <a:rPr dirty="0" sz="1100" spc="105">
                <a:latin typeface="Arial"/>
                <a:cs typeface="Arial"/>
              </a:rPr>
              <a:t> </a:t>
            </a:r>
            <a:r>
              <a:rPr dirty="0" sz="1100" spc="-5">
                <a:latin typeface="Arial"/>
                <a:cs typeface="Arial"/>
              </a:rPr>
              <a:t>all,</a:t>
            </a:r>
            <a:r>
              <a:rPr dirty="0" sz="1100" spc="110">
                <a:latin typeface="Arial"/>
                <a:cs typeface="Arial"/>
              </a:rPr>
              <a:t> </a:t>
            </a:r>
            <a:r>
              <a:rPr dirty="0" sz="1100" spc="-5">
                <a:latin typeface="Arial"/>
                <a:cs typeface="Arial"/>
              </a:rPr>
              <a:t>while</a:t>
            </a:r>
            <a:r>
              <a:rPr dirty="0" sz="1100" spc="114">
                <a:latin typeface="Arial"/>
                <a:cs typeface="Arial"/>
              </a:rPr>
              <a:t> </a:t>
            </a:r>
            <a:r>
              <a:rPr dirty="0" sz="1100" spc="-5">
                <a:latin typeface="Arial"/>
                <a:cs typeface="Arial"/>
              </a:rPr>
              <a:t>a</a:t>
            </a:r>
            <a:r>
              <a:rPr dirty="0" sz="1100" spc="105">
                <a:latin typeface="Arial"/>
                <a:cs typeface="Arial"/>
              </a:rPr>
              <a:t> </a:t>
            </a:r>
            <a:r>
              <a:rPr dirty="0" sz="1100" spc="-5">
                <a:latin typeface="Arial"/>
                <a:cs typeface="Arial"/>
              </a:rPr>
              <a:t>few</a:t>
            </a:r>
            <a:r>
              <a:rPr dirty="0" sz="1100" spc="110">
                <a:latin typeface="Arial"/>
                <a:cs typeface="Arial"/>
              </a:rPr>
              <a:t> </a:t>
            </a:r>
            <a:r>
              <a:rPr dirty="0" sz="1100" spc="-5">
                <a:latin typeface="Arial"/>
                <a:cs typeface="Arial"/>
              </a:rPr>
              <a:t>might</a:t>
            </a:r>
            <a:r>
              <a:rPr dirty="0" sz="1100" spc="114">
                <a:latin typeface="Arial"/>
                <a:cs typeface="Arial"/>
              </a:rPr>
              <a:t> </a:t>
            </a:r>
            <a:r>
              <a:rPr dirty="0" sz="1100" spc="-5">
                <a:latin typeface="Arial"/>
                <a:cs typeface="Arial"/>
              </a:rPr>
              <a:t>have</a:t>
            </a:r>
            <a:r>
              <a:rPr dirty="0" sz="1100" spc="110">
                <a:latin typeface="Arial"/>
                <a:cs typeface="Arial"/>
              </a:rPr>
              <a:t> </a:t>
            </a:r>
            <a:r>
              <a:rPr dirty="0" sz="1100" spc="-5">
                <a:latin typeface="Arial"/>
                <a:cs typeface="Arial"/>
              </a:rPr>
              <a:t>received</a:t>
            </a:r>
            <a:r>
              <a:rPr dirty="0" sz="1100" spc="110">
                <a:latin typeface="Arial"/>
                <a:cs typeface="Arial"/>
              </a:rPr>
              <a:t> </a:t>
            </a:r>
            <a:r>
              <a:rPr dirty="0" sz="1100" spc="-5">
                <a:latin typeface="Arial"/>
                <a:cs typeface="Arial"/>
              </a:rPr>
              <a:t>a</a:t>
            </a:r>
            <a:r>
              <a:rPr dirty="0" sz="1100" spc="114">
                <a:latin typeface="Arial"/>
                <a:cs typeface="Arial"/>
              </a:rPr>
              <a:t> </a:t>
            </a:r>
            <a:r>
              <a:rPr dirty="0" sz="1100" spc="-5">
                <a:latin typeface="Arial"/>
                <a:cs typeface="Arial"/>
              </a:rPr>
              <a:t>Ph.D.</a:t>
            </a:r>
            <a:r>
              <a:rPr dirty="0" sz="1100" spc="110">
                <a:latin typeface="Arial"/>
                <a:cs typeface="Arial"/>
              </a:rPr>
              <a:t> </a:t>
            </a:r>
            <a:r>
              <a:rPr dirty="0" sz="1100" spc="-5">
                <a:latin typeface="Arial"/>
                <a:cs typeface="Arial"/>
              </a:rPr>
              <a:t>from</a:t>
            </a:r>
            <a:r>
              <a:rPr dirty="0" sz="1100" spc="110">
                <a:latin typeface="Arial"/>
                <a:cs typeface="Arial"/>
              </a:rPr>
              <a:t> </a:t>
            </a:r>
            <a:r>
              <a:rPr dirty="0" sz="1100" spc="-5">
                <a:latin typeface="Arial"/>
                <a:cs typeface="Arial"/>
              </a:rPr>
              <a:t>foreign</a:t>
            </a:r>
            <a:endParaRPr sz="1100">
              <a:latin typeface="Arial"/>
              <a:cs typeface="Arial"/>
            </a:endParaRPr>
          </a:p>
        </p:txBody>
      </p:sp>
      <p:sp>
        <p:nvSpPr>
          <p:cNvPr id="8" name="object 8"/>
          <p:cNvSpPr/>
          <p:nvPr/>
        </p:nvSpPr>
        <p:spPr>
          <a:xfrm>
            <a:off x="1040229" y="5610666"/>
            <a:ext cx="5625040" cy="2479017"/>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110</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39759"/>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universities. The closer the Lorenz curve is to the 45-degree line, the more equal the distribution  of education.</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As can be seen from Figure 8.7, South Korea had a much more equal distribution of education  than India. For example, in the sample year </a:t>
            </a:r>
            <a:r>
              <a:rPr dirty="0" sz="1100">
                <a:latin typeface="Arial"/>
                <a:cs typeface="Arial"/>
              </a:rPr>
              <a:t>1990, </a:t>
            </a:r>
            <a:r>
              <a:rPr dirty="0" sz="1100" spc="-5">
                <a:latin typeface="Arial"/>
                <a:cs typeface="Arial"/>
              </a:rPr>
              <a:t>well over half of the population of India had  received no schooling at all. In South Korea, less than 10% had received no schooling. Yet both  countries we reproducing significant numbers of Ph.D. diplomats. One </a:t>
            </a:r>
            <a:r>
              <a:rPr dirty="0" sz="1100">
                <a:latin typeface="Arial"/>
                <a:cs typeface="Arial"/>
              </a:rPr>
              <a:t>may also </a:t>
            </a:r>
            <a:r>
              <a:rPr dirty="0" sz="1100" spc="-5">
                <a:latin typeface="Arial"/>
                <a:cs typeface="Arial"/>
              </a:rPr>
              <a:t>derive an  education Gini coefficient. Clearly, India had a </a:t>
            </a:r>
            <a:r>
              <a:rPr dirty="0" sz="1100">
                <a:latin typeface="Arial"/>
                <a:cs typeface="Arial"/>
              </a:rPr>
              <a:t>much </a:t>
            </a:r>
            <a:r>
              <a:rPr dirty="0" sz="1100" spc="-5">
                <a:latin typeface="Arial"/>
                <a:cs typeface="Arial"/>
              </a:rPr>
              <a:t>higher educational inequality as measured  by the education Gini </a:t>
            </a:r>
            <a:r>
              <a:rPr dirty="0" sz="1100" spc="-10">
                <a:latin typeface="Arial"/>
                <a:cs typeface="Arial"/>
              </a:rPr>
              <a:t>(in </a:t>
            </a:r>
            <a:r>
              <a:rPr dirty="0" sz="1100" spc="-5">
                <a:latin typeface="Arial"/>
                <a:cs typeface="Arial"/>
              </a:rPr>
              <a:t>fact, the Gini was 0.69) than South Korea did (0.22). Plotting the Gini  coefficient for education against the average years of education, as in Figure 8.8, we see </a:t>
            </a:r>
            <a:r>
              <a:rPr dirty="0" sz="1100">
                <a:latin typeface="Arial"/>
                <a:cs typeface="Arial"/>
              </a:rPr>
              <a:t>that  </a:t>
            </a:r>
            <a:r>
              <a:rPr dirty="0" sz="1100" spc="-5">
                <a:latin typeface="Arial"/>
                <a:cs typeface="Arial"/>
              </a:rPr>
              <a:t>there is no inverted-U curve for education. Instead, educational inequality tends to fall as  average </a:t>
            </a:r>
            <a:r>
              <a:rPr dirty="0" sz="1100">
                <a:latin typeface="Arial"/>
                <a:cs typeface="Arial"/>
              </a:rPr>
              <a:t>years </a:t>
            </a:r>
            <a:r>
              <a:rPr dirty="0" sz="1100" spc="-5">
                <a:latin typeface="Arial"/>
                <a:cs typeface="Arial"/>
              </a:rPr>
              <a:t>of education in the population</a:t>
            </a:r>
            <a:r>
              <a:rPr dirty="0" sz="1100" spc="25">
                <a:latin typeface="Arial"/>
                <a:cs typeface="Arial"/>
              </a:rPr>
              <a:t> </a:t>
            </a:r>
            <a:r>
              <a:rPr dirty="0" sz="1100" spc="-5">
                <a:latin typeface="Arial"/>
                <a:cs typeface="Arial"/>
              </a:rPr>
              <a:t>rises.</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 precision of the relationship in Figure 8.8 is due in part to the “quantitative “way that  education is measured—by the number of years of schooling. No allowance is made for the fact  that some secondary school systems, for example, do a much more effective job of teaching  than others. Accuracy could therefore be increased by comparing supplemental data such as  spending per pupil. Certainly, educational quality is higher in high- than in low-income  countries—higher in Europe than in Africa, for example. However, it is also likely that the  variability of educational quality is higher in a country such as Mali, where elite schools offer  excellent college preparation while many rural public schools may have only one textbook for  each five or six students. Although quality differs from school to school in developed countries  as well, the differences are not as extreme, on average, as they are in developing</a:t>
            </a:r>
            <a:r>
              <a:rPr dirty="0" sz="1100" spc="195">
                <a:latin typeface="Arial"/>
                <a:cs typeface="Arial"/>
              </a:rPr>
              <a:t> </a:t>
            </a:r>
            <a:r>
              <a:rPr dirty="0" sz="1100" spc="-5">
                <a:latin typeface="Arial"/>
                <a:cs typeface="Arial"/>
              </a:rPr>
              <a:t>countries.</a:t>
            </a:r>
            <a:endParaRPr sz="1100">
              <a:latin typeface="Arial"/>
              <a:cs typeface="Arial"/>
            </a:endParaRPr>
          </a:p>
          <a:p>
            <a:pPr algn="just" marL="12700" marR="3206115">
              <a:lnSpc>
                <a:spcPct val="95800"/>
              </a:lnSpc>
            </a:pPr>
            <a:r>
              <a:rPr dirty="0" sz="1100" spc="-5">
                <a:latin typeface="Arial"/>
                <a:cs typeface="Arial"/>
              </a:rPr>
              <a:t>Indeed, research by Jere Behrman and  Nancy Birdsall indicates that it is the quality  of education and not its quantity alone that  best explains differential earnings and  productivity. The implication is that beyond  the urgent need for universal primary  education, the priority is to upgrade existing  schools rather than to expand the number of  school places at the higher levels of  education. Moreover, much can be done to  improve the chances that children living in  poverty will at least receive a decent  primary education.</a:t>
            </a:r>
            <a:endParaRPr sz="1100">
              <a:latin typeface="Arial"/>
              <a:cs typeface="Arial"/>
            </a:endParaRPr>
          </a:p>
          <a:p>
            <a:pPr>
              <a:lnSpc>
                <a:spcPct val="100000"/>
              </a:lnSpc>
            </a:pPr>
            <a:endParaRPr sz="1200">
              <a:latin typeface="Arial"/>
              <a:cs typeface="Arial"/>
            </a:endParaRPr>
          </a:p>
          <a:p>
            <a:pPr>
              <a:lnSpc>
                <a:spcPct val="100000"/>
              </a:lnSpc>
              <a:spcBef>
                <a:spcPts val="5"/>
              </a:spcBef>
            </a:pPr>
            <a:endParaRPr sz="950">
              <a:latin typeface="Arial"/>
              <a:cs typeface="Arial"/>
            </a:endParaRPr>
          </a:p>
          <a:p>
            <a:pPr algn="just" marL="12700">
              <a:lnSpc>
                <a:spcPct val="100000"/>
              </a:lnSpc>
            </a:pPr>
            <a:r>
              <a:rPr dirty="0" sz="1100" spc="-5" b="1">
                <a:latin typeface="Arial"/>
                <a:cs typeface="Arial"/>
              </a:rPr>
              <a:t>EDUCATION, INEQUALITY, AND</a:t>
            </a:r>
            <a:r>
              <a:rPr dirty="0" sz="1100" spc="15" b="1">
                <a:latin typeface="Arial"/>
                <a:cs typeface="Arial"/>
              </a:rPr>
              <a:t> </a:t>
            </a:r>
            <a:r>
              <a:rPr dirty="0" sz="1100" spc="-5" b="1">
                <a:latin typeface="Arial"/>
                <a:cs typeface="Arial"/>
              </a:rPr>
              <a:t>POVERTY</a:t>
            </a:r>
            <a:endParaRPr sz="1100">
              <a:latin typeface="Arial"/>
              <a:cs typeface="Arial"/>
            </a:endParaRPr>
          </a:p>
          <a:p>
            <a:pPr>
              <a:lnSpc>
                <a:spcPct val="100000"/>
              </a:lnSpc>
              <a:spcBef>
                <a:spcPts val="55"/>
              </a:spcBef>
            </a:pPr>
            <a:endParaRPr sz="1150">
              <a:latin typeface="Arial"/>
              <a:cs typeface="Arial"/>
            </a:endParaRPr>
          </a:p>
          <a:p>
            <a:pPr algn="just" marL="12700" marR="6985">
              <a:lnSpc>
                <a:spcPct val="95700"/>
              </a:lnSpc>
            </a:pPr>
            <a:r>
              <a:rPr dirty="0" sz="1100" spc="-5">
                <a:latin typeface="Arial"/>
                <a:cs typeface="Arial"/>
              </a:rPr>
              <a:t>Studies have also demonstrated that contrary to </a:t>
            </a:r>
            <a:r>
              <a:rPr dirty="0" sz="1100">
                <a:latin typeface="Arial"/>
                <a:cs typeface="Arial"/>
              </a:rPr>
              <a:t>what </a:t>
            </a:r>
            <a:r>
              <a:rPr dirty="0" sz="1100" spc="-5">
                <a:latin typeface="Arial"/>
                <a:cs typeface="Arial"/>
              </a:rPr>
              <a:t>might have been assumed, the  educational systems of </a:t>
            </a:r>
            <a:r>
              <a:rPr dirty="0" sz="1100">
                <a:latin typeface="Arial"/>
                <a:cs typeface="Arial"/>
              </a:rPr>
              <a:t>many </a:t>
            </a:r>
            <a:r>
              <a:rPr dirty="0" sz="1100" spc="-5">
                <a:latin typeface="Arial"/>
                <a:cs typeface="Arial"/>
              </a:rPr>
              <a:t>developing nations sometimes act to increase rather than to  decrease income</a:t>
            </a:r>
            <a:r>
              <a:rPr dirty="0" sz="1100" spc="5">
                <a:latin typeface="Arial"/>
                <a:cs typeface="Arial"/>
              </a:rPr>
              <a:t> </a:t>
            </a:r>
            <a:r>
              <a:rPr dirty="0" sz="1100" spc="-5">
                <a:latin typeface="Arial"/>
                <a:cs typeface="Arial"/>
              </a:rPr>
              <a:t>inequalities.</a:t>
            </a:r>
            <a:endParaRPr sz="1100">
              <a:latin typeface="Arial"/>
              <a:cs typeface="Arial"/>
            </a:endParaRPr>
          </a:p>
          <a:p>
            <a:pPr algn="just" marL="12700" marR="6985">
              <a:lnSpc>
                <a:spcPct val="95800"/>
              </a:lnSpc>
            </a:pPr>
            <a:r>
              <a:rPr dirty="0" sz="1100" spc="-5">
                <a:latin typeface="Arial"/>
                <a:cs typeface="Arial"/>
              </a:rPr>
              <a:t>The basic reason for this perverse effect of formal education on income distribution is the  positive correlation between level of education and level of lifetime earnings. This correlation  holds especially for workers who are able to complete upper secondary and university education  where income differentials over workers who have completed only part or all of their primary  education can be on the order of 300% to 800%. And as levels of earned income are clearly  dependent on years of completed schooling, it follows that large income inequalities will be  reinforced if students from the middle- and upper-income brackets are represented  disproportionately in secondary and university enrollments. In short, if for financial or</a:t>
            </a:r>
            <a:r>
              <a:rPr dirty="0" sz="1100" spc="-35">
                <a:latin typeface="Arial"/>
                <a:cs typeface="Arial"/>
              </a:rPr>
              <a:t> </a:t>
            </a:r>
            <a:r>
              <a:rPr dirty="0" sz="1100" spc="-5">
                <a:latin typeface="Arial"/>
                <a:cs typeface="Arial"/>
              </a:rPr>
              <a:t>other</a:t>
            </a:r>
            <a:endParaRPr sz="1100">
              <a:latin typeface="Arial"/>
              <a:cs typeface="Arial"/>
            </a:endParaRPr>
          </a:p>
        </p:txBody>
      </p:sp>
      <p:sp>
        <p:nvSpPr>
          <p:cNvPr id="7" name="object 7"/>
          <p:cNvSpPr/>
          <p:nvPr/>
        </p:nvSpPr>
        <p:spPr>
          <a:xfrm>
            <a:off x="3816996" y="4692403"/>
            <a:ext cx="3078858" cy="2238835"/>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111</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3911600"/>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reasons the poor are effectively denied access to secondary and higher educational  opportunities, the educational system can actually perpetuate and even increase inequality  across as well as within generations in developing</a:t>
            </a:r>
            <a:r>
              <a:rPr dirty="0" sz="1100" spc="35">
                <a:latin typeface="Arial"/>
                <a:cs typeface="Arial"/>
              </a:rPr>
              <a:t> </a:t>
            </a:r>
            <a:r>
              <a:rPr dirty="0" sz="1100" spc="-5">
                <a:latin typeface="Arial"/>
                <a:cs typeface="Arial"/>
              </a:rPr>
              <a:t>countries.</a:t>
            </a:r>
            <a:endParaRPr sz="1100">
              <a:latin typeface="Arial"/>
              <a:cs typeface="Arial"/>
            </a:endParaRPr>
          </a:p>
          <a:p>
            <a:pPr>
              <a:lnSpc>
                <a:spcPct val="100000"/>
              </a:lnSpc>
              <a:spcBef>
                <a:spcPts val="40"/>
              </a:spcBef>
            </a:pPr>
            <a:endParaRPr sz="1050">
              <a:latin typeface="Arial"/>
              <a:cs typeface="Arial"/>
            </a:endParaRPr>
          </a:p>
          <a:p>
            <a:pPr algn="just" marL="12700" marR="5080">
              <a:lnSpc>
                <a:spcPts val="1270"/>
              </a:lnSpc>
            </a:pPr>
            <a:r>
              <a:rPr dirty="0" sz="1100" spc="-5">
                <a:latin typeface="Arial"/>
                <a:cs typeface="Arial"/>
              </a:rPr>
              <a:t>The private costs of primary education (especially in view of the opportunity cost of a child’s  labor to poor families) are higher for poor students than for more affluent students. As a result of  these higher opportunity costs, school attendance, and therefore school performance, tends to  be much lower for children of poor families than for those from higher-income</a:t>
            </a:r>
            <a:r>
              <a:rPr dirty="0" sz="1100" spc="170">
                <a:latin typeface="Arial"/>
                <a:cs typeface="Arial"/>
              </a:rPr>
              <a:t> </a:t>
            </a:r>
            <a:r>
              <a:rPr dirty="0" sz="1100" spc="-5">
                <a:latin typeface="Arial"/>
                <a:cs typeface="Arial"/>
              </a:rPr>
              <a:t>backgrounds.</a:t>
            </a:r>
            <a:endParaRPr sz="1100">
              <a:latin typeface="Arial"/>
              <a:cs typeface="Arial"/>
            </a:endParaRPr>
          </a:p>
          <a:p>
            <a:pPr>
              <a:lnSpc>
                <a:spcPct val="100000"/>
              </a:lnSpc>
              <a:spcBef>
                <a:spcPts val="15"/>
              </a:spcBef>
            </a:pPr>
            <a:endParaRPr sz="1000">
              <a:latin typeface="Arial"/>
              <a:cs typeface="Arial"/>
            </a:endParaRPr>
          </a:p>
          <a:p>
            <a:pPr algn="just" marL="12700">
              <a:lnSpc>
                <a:spcPct val="100000"/>
              </a:lnSpc>
            </a:pPr>
            <a:r>
              <a:rPr dirty="0" sz="1100" spc="-5" b="1">
                <a:latin typeface="Arial"/>
                <a:cs typeface="Arial"/>
              </a:rPr>
              <a:t>EDUCATION, INTERNAL MIGRATION, AND THE BRAIN</a:t>
            </a:r>
            <a:r>
              <a:rPr dirty="0" sz="1100" spc="25" b="1">
                <a:latin typeface="Arial"/>
                <a:cs typeface="Arial"/>
              </a:rPr>
              <a:t> </a:t>
            </a:r>
            <a:r>
              <a:rPr dirty="0" sz="1100" spc="-5" b="1">
                <a:latin typeface="Arial"/>
                <a:cs typeface="Arial"/>
              </a:rPr>
              <a:t>DRAIN</a:t>
            </a:r>
            <a:endParaRPr sz="1100">
              <a:latin typeface="Arial"/>
              <a:cs typeface="Arial"/>
            </a:endParaRPr>
          </a:p>
          <a:p>
            <a:pPr>
              <a:lnSpc>
                <a:spcPct val="100000"/>
              </a:lnSpc>
              <a:spcBef>
                <a:spcPts val="25"/>
              </a:spcBef>
            </a:pPr>
            <a:endParaRPr sz="1200">
              <a:latin typeface="Arial"/>
              <a:cs typeface="Arial"/>
            </a:endParaRPr>
          </a:p>
          <a:p>
            <a:pPr algn="just" marL="12700" marR="7620">
              <a:lnSpc>
                <a:spcPts val="1270"/>
              </a:lnSpc>
            </a:pPr>
            <a:r>
              <a:rPr dirty="0" sz="1100" spc="-5">
                <a:latin typeface="Arial"/>
                <a:cs typeface="Arial"/>
              </a:rPr>
              <a:t>Education seems to be an important factor influencing rural-urban migration. Numerous studies  of migration in diverse countries have documented the positive relationship between the  educational attainment of an individual and his or her propensity to migrate from rural to </a:t>
            </a:r>
            <a:r>
              <a:rPr dirty="0" sz="1100">
                <a:latin typeface="Arial"/>
                <a:cs typeface="Arial"/>
              </a:rPr>
              <a:t>urban  </a:t>
            </a:r>
            <a:r>
              <a:rPr dirty="0" sz="1100" spc="-5">
                <a:latin typeface="Arial"/>
                <a:cs typeface="Arial"/>
              </a:rPr>
              <a:t>areas.</a:t>
            </a:r>
            <a:endParaRPr sz="1100">
              <a:latin typeface="Arial"/>
              <a:cs typeface="Arial"/>
            </a:endParaRPr>
          </a:p>
          <a:p>
            <a:pPr>
              <a:lnSpc>
                <a:spcPct val="100000"/>
              </a:lnSpc>
              <a:spcBef>
                <a:spcPts val="10"/>
              </a:spcBef>
            </a:pPr>
            <a:endParaRPr sz="1050">
              <a:latin typeface="Arial"/>
              <a:cs typeface="Arial"/>
            </a:endParaRPr>
          </a:p>
          <a:p>
            <a:pPr algn="just" marL="12700" marR="7620">
              <a:lnSpc>
                <a:spcPct val="95800"/>
              </a:lnSpc>
            </a:pPr>
            <a:r>
              <a:rPr dirty="0" sz="1100" spc="-5">
                <a:latin typeface="Arial"/>
                <a:cs typeface="Arial"/>
              </a:rPr>
              <a:t>Education also plays a powerful role in the international migration of high-level educated  workers—the so-called </a:t>
            </a:r>
            <a:r>
              <a:rPr dirty="0" sz="1100" spc="-5" b="1">
                <a:latin typeface="Arial"/>
                <a:cs typeface="Arial"/>
              </a:rPr>
              <a:t>brain drain</a:t>
            </a:r>
            <a:r>
              <a:rPr dirty="0" sz="1100" spc="-5">
                <a:latin typeface="Arial"/>
                <a:cs typeface="Arial"/>
              </a:rPr>
              <a:t>—from poor to rich countries. This is particularly true in the  case of scientists, engineers, academics, and physicians, many thousands of whom have been  trained in home country institutions at considerable social cost only to reap the benefits from  and contribute to the further economic growth of the already affluent</a:t>
            </a:r>
            <a:r>
              <a:rPr dirty="0" sz="1100" spc="90">
                <a:latin typeface="Arial"/>
                <a:cs typeface="Arial"/>
              </a:rPr>
              <a:t> </a:t>
            </a:r>
            <a:r>
              <a:rPr dirty="0" sz="1100" spc="-5">
                <a:latin typeface="Arial"/>
                <a:cs typeface="Arial"/>
              </a:rPr>
              <a:t>nations.</a:t>
            </a:r>
            <a:endParaRPr sz="1100">
              <a:latin typeface="Arial"/>
              <a:cs typeface="Arial"/>
            </a:endParaRPr>
          </a:p>
          <a:p>
            <a:pPr>
              <a:lnSpc>
                <a:spcPct val="100000"/>
              </a:lnSpc>
            </a:pPr>
            <a:endParaRPr sz="1200">
              <a:latin typeface="Arial"/>
              <a:cs typeface="Arial"/>
            </a:endParaRPr>
          </a:p>
          <a:p>
            <a:pPr marL="469265" marR="9525" indent="-228600">
              <a:lnSpc>
                <a:spcPts val="1260"/>
              </a:lnSpc>
              <a:buFont typeface="Symbol"/>
              <a:buChar char=""/>
              <a:tabLst>
                <a:tab pos="469265" algn="l"/>
                <a:tab pos="469900" algn="l"/>
              </a:tabLst>
            </a:pPr>
            <a:r>
              <a:rPr dirty="0" sz="1100" spc="-5" b="1">
                <a:latin typeface="Arial"/>
                <a:cs typeface="Arial"/>
              </a:rPr>
              <a:t>Brain drain: </a:t>
            </a:r>
            <a:r>
              <a:rPr dirty="0" sz="1100" spc="-5">
                <a:latin typeface="Arial"/>
                <a:cs typeface="Arial"/>
              </a:rPr>
              <a:t>The emigration of highly educated and skilled professionals and  technicians from the developing countries to the developed</a:t>
            </a:r>
            <a:r>
              <a:rPr dirty="0" sz="1100" spc="50">
                <a:latin typeface="Arial"/>
                <a:cs typeface="Arial"/>
              </a:rPr>
              <a:t> </a:t>
            </a:r>
            <a:r>
              <a:rPr dirty="0" sz="1100" spc="-5">
                <a:latin typeface="Arial"/>
                <a:cs typeface="Arial"/>
              </a:rPr>
              <a:t>world.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112</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16408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17</a:t>
            </a:r>
            <a:endParaRPr sz="1100">
              <a:latin typeface="Arial"/>
              <a:cs typeface="Arial"/>
            </a:endParaRPr>
          </a:p>
          <a:p>
            <a:pPr>
              <a:lnSpc>
                <a:spcPct val="100000"/>
              </a:lnSpc>
              <a:spcBef>
                <a:spcPts val="35"/>
              </a:spcBef>
            </a:pPr>
            <a:endParaRPr sz="1200">
              <a:latin typeface="Arial"/>
              <a:cs typeface="Arial"/>
            </a:endParaRPr>
          </a:p>
          <a:p>
            <a:pPr marL="2483485" marR="420370" indent="-2056764">
              <a:lnSpc>
                <a:spcPts val="1270"/>
              </a:lnSpc>
              <a:spcBef>
                <a:spcPts val="5"/>
              </a:spcBef>
            </a:pPr>
            <a:r>
              <a:rPr dirty="0" sz="1100" spc="-10" b="1">
                <a:latin typeface="Arial"/>
                <a:cs typeface="Arial"/>
              </a:rPr>
              <a:t>HUMAN </a:t>
            </a:r>
            <a:r>
              <a:rPr dirty="0" sz="1100" spc="-5" b="1">
                <a:latin typeface="Arial"/>
                <a:cs typeface="Arial"/>
              </a:rPr>
              <a:t>CAPITAL: EDUCATION AND HEALTH IN ECONOMIC DEVELOPMENT  (CONTINUED3)</a:t>
            </a:r>
            <a:endParaRPr sz="1100">
              <a:latin typeface="Arial"/>
              <a:cs typeface="Arial"/>
            </a:endParaRPr>
          </a:p>
          <a:p>
            <a:pPr>
              <a:lnSpc>
                <a:spcPct val="100000"/>
              </a:lnSpc>
              <a:spcBef>
                <a:spcPts val="15"/>
              </a:spcBef>
            </a:pPr>
            <a:endParaRPr sz="1100">
              <a:latin typeface="Arial"/>
              <a:cs typeface="Arial"/>
            </a:endParaRPr>
          </a:p>
          <a:p>
            <a:pPr algn="just" marL="12700">
              <a:lnSpc>
                <a:spcPct val="100000"/>
              </a:lnSpc>
            </a:pPr>
            <a:r>
              <a:rPr dirty="0" sz="1100" spc="-5" b="1">
                <a:latin typeface="Arial"/>
                <a:cs typeface="Arial"/>
              </a:rPr>
              <a:t>HEALTH MEASUREMENT </a:t>
            </a:r>
            <a:r>
              <a:rPr dirty="0" sz="1100" b="1">
                <a:latin typeface="Arial"/>
                <a:cs typeface="Arial"/>
              </a:rPr>
              <a:t>AND</a:t>
            </a:r>
            <a:r>
              <a:rPr dirty="0" sz="1100" spc="15" b="1">
                <a:latin typeface="Arial"/>
                <a:cs typeface="Arial"/>
              </a:rPr>
              <a:t> </a:t>
            </a:r>
            <a:r>
              <a:rPr dirty="0" sz="1100" spc="-5" b="1">
                <a:latin typeface="Arial"/>
                <a:cs typeface="Arial"/>
              </a:rPr>
              <a:t>DISTRIBUTION</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800"/>
              </a:lnSpc>
              <a:spcBef>
                <a:spcPts val="5"/>
              </a:spcBef>
            </a:pPr>
            <a:r>
              <a:rPr dirty="0" sz="1100" spc="-5">
                <a:latin typeface="Arial"/>
                <a:cs typeface="Arial"/>
              </a:rPr>
              <a:t>In this section we measure health through life expectancy. Life expectancy has continued to  improve in most regions, although there have </a:t>
            </a:r>
            <a:r>
              <a:rPr dirty="0" sz="1100">
                <a:latin typeface="Arial"/>
                <a:cs typeface="Arial"/>
              </a:rPr>
              <a:t>been </a:t>
            </a:r>
            <a:r>
              <a:rPr dirty="0" sz="1100" spc="-5">
                <a:latin typeface="Arial"/>
                <a:cs typeface="Arial"/>
              </a:rPr>
              <a:t>setbacks in sub-Saharan Africa largely due  to AIDS, as seen in Figure 8.9. However, this measure can be very misleading. The extension  of life expectancy can deliver years of vitality in one country while providing only additional  years of poor health or suffering in</a:t>
            </a:r>
            <a:r>
              <a:rPr dirty="0" sz="1100" spc="30">
                <a:latin typeface="Arial"/>
                <a:cs typeface="Arial"/>
              </a:rPr>
              <a:t> </a:t>
            </a:r>
            <a:r>
              <a:rPr dirty="0" sz="1100" spc="-5">
                <a:latin typeface="Arial"/>
                <a:cs typeface="Arial"/>
              </a:rPr>
              <a:t>another.</a:t>
            </a:r>
            <a:endParaRPr sz="1100">
              <a:latin typeface="Arial"/>
              <a:cs typeface="Arial"/>
            </a:endParaRPr>
          </a:p>
          <a:p>
            <a:pPr algn="just" marL="12700">
              <a:lnSpc>
                <a:spcPts val="1265"/>
              </a:lnSpc>
            </a:pPr>
            <a:r>
              <a:rPr dirty="0" sz="1100" spc="-5">
                <a:latin typeface="Arial"/>
                <a:cs typeface="Arial"/>
              </a:rPr>
              <a:t>Progress</a:t>
            </a:r>
            <a:r>
              <a:rPr dirty="0" sz="1100" spc="55">
                <a:latin typeface="Arial"/>
                <a:cs typeface="Arial"/>
              </a:rPr>
              <a:t> </a:t>
            </a:r>
            <a:r>
              <a:rPr dirty="0" sz="1100" spc="-5">
                <a:latin typeface="Arial"/>
                <a:cs typeface="Arial"/>
              </a:rPr>
              <a:t>is</a:t>
            </a:r>
            <a:r>
              <a:rPr dirty="0" sz="1100" spc="55">
                <a:latin typeface="Arial"/>
                <a:cs typeface="Arial"/>
              </a:rPr>
              <a:t> </a:t>
            </a:r>
            <a:r>
              <a:rPr dirty="0" sz="1100" spc="-5">
                <a:latin typeface="Arial"/>
                <a:cs typeface="Arial"/>
              </a:rPr>
              <a:t>also</a:t>
            </a:r>
            <a:r>
              <a:rPr dirty="0" sz="1100" spc="60">
                <a:latin typeface="Arial"/>
                <a:cs typeface="Arial"/>
              </a:rPr>
              <a:t> </a:t>
            </a:r>
            <a:r>
              <a:rPr dirty="0" sz="1100" spc="-5">
                <a:latin typeface="Arial"/>
                <a:cs typeface="Arial"/>
              </a:rPr>
              <a:t>being</a:t>
            </a:r>
            <a:r>
              <a:rPr dirty="0" sz="1100" spc="55">
                <a:latin typeface="Arial"/>
                <a:cs typeface="Arial"/>
              </a:rPr>
              <a:t> </a:t>
            </a:r>
            <a:r>
              <a:rPr dirty="0" sz="1100" spc="-5">
                <a:latin typeface="Arial"/>
                <a:cs typeface="Arial"/>
              </a:rPr>
              <a:t>made</a:t>
            </a:r>
            <a:r>
              <a:rPr dirty="0" sz="1100" spc="55">
                <a:latin typeface="Arial"/>
                <a:cs typeface="Arial"/>
              </a:rPr>
              <a:t> </a:t>
            </a:r>
            <a:r>
              <a:rPr dirty="0" sz="1100" spc="-5">
                <a:latin typeface="Arial"/>
                <a:cs typeface="Arial"/>
              </a:rPr>
              <a:t>in</a:t>
            </a:r>
            <a:r>
              <a:rPr dirty="0" sz="1100" spc="60">
                <a:latin typeface="Arial"/>
                <a:cs typeface="Arial"/>
              </a:rPr>
              <a:t> </a:t>
            </a:r>
            <a:r>
              <a:rPr dirty="0" sz="1100" spc="-5">
                <a:latin typeface="Arial"/>
                <a:cs typeface="Arial"/>
              </a:rPr>
              <a:t>reducing</a:t>
            </a:r>
            <a:r>
              <a:rPr dirty="0" sz="1100" spc="60">
                <a:latin typeface="Arial"/>
                <a:cs typeface="Arial"/>
              </a:rPr>
              <a:t> </a:t>
            </a:r>
            <a:r>
              <a:rPr dirty="0" sz="1100" spc="-5">
                <a:latin typeface="Arial"/>
                <a:cs typeface="Arial"/>
              </a:rPr>
              <a:t>under-5</a:t>
            </a:r>
            <a:r>
              <a:rPr dirty="0" sz="1100" spc="60">
                <a:latin typeface="Arial"/>
                <a:cs typeface="Arial"/>
              </a:rPr>
              <a:t> </a:t>
            </a:r>
            <a:r>
              <a:rPr dirty="0" sz="1100" spc="-5">
                <a:latin typeface="Arial"/>
                <a:cs typeface="Arial"/>
              </a:rPr>
              <a:t>mortality,</a:t>
            </a:r>
            <a:r>
              <a:rPr dirty="0" sz="1100" spc="65">
                <a:latin typeface="Arial"/>
                <a:cs typeface="Arial"/>
              </a:rPr>
              <a:t> </a:t>
            </a:r>
            <a:r>
              <a:rPr dirty="0" sz="1100" spc="-5">
                <a:latin typeface="Arial"/>
                <a:cs typeface="Arial"/>
              </a:rPr>
              <a:t>though</a:t>
            </a:r>
            <a:r>
              <a:rPr dirty="0" sz="1100" spc="65">
                <a:latin typeface="Arial"/>
                <a:cs typeface="Arial"/>
              </a:rPr>
              <a:t> </a:t>
            </a:r>
            <a:r>
              <a:rPr dirty="0" sz="1100" spc="-5">
                <a:latin typeface="Arial"/>
                <a:cs typeface="Arial"/>
              </a:rPr>
              <a:t>the</a:t>
            </a:r>
            <a:r>
              <a:rPr dirty="0" sz="1100" spc="65">
                <a:latin typeface="Arial"/>
                <a:cs typeface="Arial"/>
              </a:rPr>
              <a:t> </a:t>
            </a:r>
            <a:r>
              <a:rPr dirty="0" sz="1100" spc="-5">
                <a:latin typeface="Arial"/>
                <a:cs typeface="Arial"/>
              </a:rPr>
              <a:t>rate</a:t>
            </a:r>
            <a:r>
              <a:rPr dirty="0" sz="1100" spc="60">
                <a:latin typeface="Arial"/>
                <a:cs typeface="Arial"/>
              </a:rPr>
              <a:t> </a:t>
            </a:r>
            <a:r>
              <a:rPr dirty="0" sz="1100" spc="-5">
                <a:latin typeface="Arial"/>
                <a:cs typeface="Arial"/>
              </a:rPr>
              <a:t>of</a:t>
            </a:r>
            <a:r>
              <a:rPr dirty="0" sz="1100" spc="60">
                <a:latin typeface="Arial"/>
                <a:cs typeface="Arial"/>
              </a:rPr>
              <a:t> </a:t>
            </a:r>
            <a:r>
              <a:rPr dirty="0" sz="1100" spc="-5">
                <a:latin typeface="Arial"/>
                <a:cs typeface="Arial"/>
              </a:rPr>
              <a:t>improvement</a:t>
            </a:r>
            <a:r>
              <a:rPr dirty="0" sz="1100" spc="55">
                <a:latin typeface="Arial"/>
                <a:cs typeface="Arial"/>
              </a:rPr>
              <a:t> </a:t>
            </a:r>
            <a:r>
              <a:rPr dirty="0" sz="1100">
                <a:latin typeface="Arial"/>
                <a:cs typeface="Arial"/>
              </a:rPr>
              <a:t>has</a:t>
            </a:r>
            <a:endParaRPr sz="1100">
              <a:latin typeface="Arial"/>
              <a:cs typeface="Arial"/>
            </a:endParaRPr>
          </a:p>
        </p:txBody>
      </p:sp>
      <p:sp>
        <p:nvSpPr>
          <p:cNvPr id="7" name="object 7"/>
          <p:cNvSpPr txBox="1"/>
          <p:nvPr/>
        </p:nvSpPr>
        <p:spPr>
          <a:xfrm>
            <a:off x="901700" y="7157708"/>
            <a:ext cx="5970905" cy="195961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slowed since 1990, as seen in Figure 8.10. Indeed, if the global trend of the 1980s had  continued through 2003, some 1.2 million child deaths would have been averted, as seen in  Figure 8.11. Although this measure omits consideration of the general health status of the  population beyond early childhood, it is sometimes argued that the two measures proxy for this  status reasonably</a:t>
            </a:r>
            <a:r>
              <a:rPr dirty="0" sz="1100">
                <a:latin typeface="Arial"/>
                <a:cs typeface="Arial"/>
              </a:rPr>
              <a:t> </a:t>
            </a:r>
            <a:r>
              <a:rPr dirty="0" sz="1100" spc="-5">
                <a:latin typeface="Arial"/>
                <a:cs typeface="Arial"/>
              </a:rPr>
              <a:t>well.</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The </a:t>
            </a:r>
            <a:r>
              <a:rPr dirty="0" sz="1100" spc="-5" b="1">
                <a:latin typeface="Arial"/>
                <a:cs typeface="Arial"/>
              </a:rPr>
              <a:t>World Health Organization (WHO), </a:t>
            </a:r>
            <a:r>
              <a:rPr dirty="0" sz="1100" spc="-5">
                <a:latin typeface="Arial"/>
                <a:cs typeface="Arial"/>
              </a:rPr>
              <a:t>the key United Nations agency concerned with global  health matters, defines health as </a:t>
            </a:r>
            <a:r>
              <a:rPr dirty="0" sz="1100" spc="-10">
                <a:latin typeface="Arial"/>
                <a:cs typeface="Arial"/>
              </a:rPr>
              <a:t>“a </a:t>
            </a:r>
            <a:r>
              <a:rPr dirty="0" sz="1100" spc="-5">
                <a:latin typeface="Arial"/>
                <a:cs typeface="Arial"/>
              </a:rPr>
              <a:t>state of complete physical, mental, and social well-being  and not merely the absence of disease and infirmity.” This approach may put us on a better  conceptual foundation but does not in itself </a:t>
            </a:r>
            <a:r>
              <a:rPr dirty="0" sz="1100">
                <a:latin typeface="Arial"/>
                <a:cs typeface="Arial"/>
              </a:rPr>
              <a:t>provide </a:t>
            </a:r>
            <a:r>
              <a:rPr dirty="0" sz="1100" spc="-5">
                <a:latin typeface="Arial"/>
                <a:cs typeface="Arial"/>
              </a:rPr>
              <a:t>a better measure. An alternative measure of  health promoted by the </a:t>
            </a:r>
            <a:r>
              <a:rPr dirty="0" sz="1100" spc="-5" b="1">
                <a:latin typeface="Arial"/>
                <a:cs typeface="Arial"/>
              </a:rPr>
              <a:t>WHO </a:t>
            </a:r>
            <a:r>
              <a:rPr dirty="0" sz="1100" spc="-5">
                <a:latin typeface="Arial"/>
                <a:cs typeface="Arial"/>
              </a:rPr>
              <a:t>is the </a:t>
            </a:r>
            <a:r>
              <a:rPr dirty="0" sz="1100" spc="-5" b="1" i="1">
                <a:latin typeface="Arial"/>
                <a:cs typeface="Arial"/>
              </a:rPr>
              <a:t>disability-adjusted life year </a:t>
            </a:r>
            <a:r>
              <a:rPr dirty="0" sz="1100" spc="-10" b="1">
                <a:latin typeface="Arial"/>
                <a:cs typeface="Arial"/>
              </a:rPr>
              <a:t>(DALY). </a:t>
            </a:r>
            <a:r>
              <a:rPr dirty="0" sz="1100" spc="-5">
                <a:latin typeface="Arial"/>
                <a:cs typeface="Arial"/>
              </a:rPr>
              <a:t>There are doubts  about</a:t>
            </a:r>
            <a:r>
              <a:rPr dirty="0" sz="1100" spc="70">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quality</a:t>
            </a:r>
            <a:r>
              <a:rPr dirty="0" sz="1100" spc="75">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data</a:t>
            </a:r>
            <a:r>
              <a:rPr dirty="0" sz="1100" spc="75">
                <a:latin typeface="Arial"/>
                <a:cs typeface="Arial"/>
              </a:rPr>
              <a:t> </a:t>
            </a:r>
            <a:r>
              <a:rPr dirty="0" sz="1100" spc="-5">
                <a:latin typeface="Arial"/>
                <a:cs typeface="Arial"/>
              </a:rPr>
              <a:t>used</a:t>
            </a:r>
            <a:r>
              <a:rPr dirty="0" sz="1100" spc="70">
                <a:latin typeface="Arial"/>
                <a:cs typeface="Arial"/>
              </a:rPr>
              <a:t> </a:t>
            </a:r>
            <a:r>
              <a:rPr dirty="0" sz="1100" spc="-5">
                <a:latin typeface="Arial"/>
                <a:cs typeface="Arial"/>
              </a:rPr>
              <a:t>in</a:t>
            </a:r>
            <a:r>
              <a:rPr dirty="0" sz="1100" spc="75">
                <a:latin typeface="Arial"/>
                <a:cs typeface="Arial"/>
              </a:rPr>
              <a:t> </a:t>
            </a:r>
            <a:r>
              <a:rPr dirty="0" sz="1100" spc="-5">
                <a:latin typeface="Arial"/>
                <a:cs typeface="Arial"/>
              </a:rPr>
              <a:t>these</a:t>
            </a:r>
            <a:r>
              <a:rPr dirty="0" sz="1100" spc="75">
                <a:latin typeface="Arial"/>
                <a:cs typeface="Arial"/>
              </a:rPr>
              <a:t> </a:t>
            </a:r>
            <a:r>
              <a:rPr dirty="0" sz="1100" spc="-5">
                <a:latin typeface="Arial"/>
                <a:cs typeface="Arial"/>
              </a:rPr>
              <a:t>measures,</a:t>
            </a:r>
            <a:r>
              <a:rPr dirty="0" sz="1100" spc="75">
                <a:latin typeface="Arial"/>
                <a:cs typeface="Arial"/>
              </a:rPr>
              <a:t> </a:t>
            </a:r>
            <a:r>
              <a:rPr dirty="0" sz="1100" spc="-5">
                <a:latin typeface="Arial"/>
                <a:cs typeface="Arial"/>
              </a:rPr>
              <a:t>especially</a:t>
            </a:r>
            <a:r>
              <a:rPr dirty="0" sz="1100" spc="75">
                <a:latin typeface="Arial"/>
                <a:cs typeface="Arial"/>
              </a:rPr>
              <a:t> </a:t>
            </a:r>
            <a:r>
              <a:rPr dirty="0" sz="1100" spc="-5">
                <a:latin typeface="Arial"/>
                <a:cs typeface="Arial"/>
              </a:rPr>
              <a:t>for</a:t>
            </a:r>
            <a:r>
              <a:rPr dirty="0" sz="1100" spc="70">
                <a:latin typeface="Arial"/>
                <a:cs typeface="Arial"/>
              </a:rPr>
              <a:t> </a:t>
            </a:r>
            <a:r>
              <a:rPr dirty="0" sz="1100">
                <a:latin typeface="Arial"/>
                <a:cs typeface="Arial"/>
              </a:rPr>
              <a:t>some</a:t>
            </a:r>
            <a:r>
              <a:rPr dirty="0" sz="1100" spc="8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poorest</a:t>
            </a:r>
            <a:r>
              <a:rPr dirty="0" sz="1100" spc="75">
                <a:latin typeface="Arial"/>
                <a:cs typeface="Arial"/>
              </a:rPr>
              <a:t> </a:t>
            </a:r>
            <a:r>
              <a:rPr dirty="0" sz="1100" spc="-5">
                <a:latin typeface="Arial"/>
                <a:cs typeface="Arial"/>
              </a:rPr>
              <a:t>countries,</a:t>
            </a:r>
            <a:endParaRPr sz="1100">
              <a:latin typeface="Arial"/>
              <a:cs typeface="Arial"/>
            </a:endParaRPr>
          </a:p>
        </p:txBody>
      </p:sp>
      <p:sp>
        <p:nvSpPr>
          <p:cNvPr id="8" name="object 8"/>
          <p:cNvSpPr/>
          <p:nvPr/>
        </p:nvSpPr>
        <p:spPr>
          <a:xfrm>
            <a:off x="1739700" y="3184280"/>
            <a:ext cx="3830399" cy="1829327"/>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1600884" y="5092188"/>
            <a:ext cx="4025193" cy="2043081"/>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113</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and the use of </a:t>
            </a:r>
            <a:r>
              <a:rPr dirty="0" sz="1100" spc="-10" b="1">
                <a:latin typeface="Arial"/>
                <a:cs typeface="Arial"/>
              </a:rPr>
              <a:t>DALYs </a:t>
            </a:r>
            <a:r>
              <a:rPr dirty="0" sz="1100" spc="-5">
                <a:latin typeface="Arial"/>
                <a:cs typeface="Arial"/>
              </a:rPr>
              <a:t>to compare health across countries is controversial. Using a DALY  measure,</a:t>
            </a:r>
            <a:r>
              <a:rPr dirty="0" sz="1100" spc="20">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World</a:t>
            </a:r>
            <a:r>
              <a:rPr dirty="0" sz="1100" spc="25">
                <a:latin typeface="Arial"/>
                <a:cs typeface="Arial"/>
              </a:rPr>
              <a:t> </a:t>
            </a:r>
            <a:r>
              <a:rPr dirty="0" sz="1100" spc="-5">
                <a:latin typeface="Arial"/>
                <a:cs typeface="Arial"/>
              </a:rPr>
              <a:t>Bank</a:t>
            </a:r>
            <a:r>
              <a:rPr dirty="0" sz="1100" spc="20">
                <a:latin typeface="Arial"/>
                <a:cs typeface="Arial"/>
              </a:rPr>
              <a:t> </a:t>
            </a:r>
            <a:r>
              <a:rPr dirty="0" sz="1100" spc="-5">
                <a:latin typeface="Arial"/>
                <a:cs typeface="Arial"/>
              </a:rPr>
              <a:t>study</a:t>
            </a:r>
            <a:r>
              <a:rPr dirty="0" sz="1100" spc="25">
                <a:latin typeface="Arial"/>
                <a:cs typeface="Arial"/>
              </a:rPr>
              <a:t> </a:t>
            </a:r>
            <a:r>
              <a:rPr dirty="0" sz="1100" spc="-5">
                <a:latin typeface="Arial"/>
                <a:cs typeface="Arial"/>
              </a:rPr>
              <a:t>calculated</a:t>
            </a:r>
            <a:r>
              <a:rPr dirty="0" sz="1100" spc="20">
                <a:latin typeface="Arial"/>
                <a:cs typeface="Arial"/>
              </a:rPr>
              <a:t> </a:t>
            </a:r>
            <a:r>
              <a:rPr dirty="0" sz="1100" spc="-5">
                <a:latin typeface="Arial"/>
                <a:cs typeface="Arial"/>
              </a:rPr>
              <a:t>that</a:t>
            </a:r>
            <a:r>
              <a:rPr dirty="0" sz="1100" spc="25">
                <a:latin typeface="Arial"/>
                <a:cs typeface="Arial"/>
              </a:rPr>
              <a:t> </a:t>
            </a:r>
            <a:r>
              <a:rPr dirty="0" sz="1100" spc="-5">
                <a:latin typeface="Arial"/>
                <a:cs typeface="Arial"/>
              </a:rPr>
              <a:t>about</a:t>
            </a:r>
            <a:r>
              <a:rPr dirty="0" sz="1100" spc="20">
                <a:latin typeface="Arial"/>
                <a:cs typeface="Arial"/>
              </a:rPr>
              <a:t> </a:t>
            </a:r>
            <a:r>
              <a:rPr dirty="0" sz="1100" spc="-5" b="1">
                <a:latin typeface="Arial"/>
                <a:cs typeface="Arial"/>
              </a:rPr>
              <a:t>one-quarter</a:t>
            </a:r>
            <a:r>
              <a:rPr dirty="0" sz="1100" spc="25" b="1">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global</a:t>
            </a:r>
            <a:r>
              <a:rPr dirty="0" sz="1100" spc="25">
                <a:latin typeface="Arial"/>
                <a:cs typeface="Arial"/>
              </a:rPr>
              <a:t> </a:t>
            </a:r>
            <a:r>
              <a:rPr dirty="0" sz="1100" spc="-5">
                <a:latin typeface="Arial"/>
                <a:cs typeface="Arial"/>
              </a:rPr>
              <a:t>burden</a:t>
            </a:r>
            <a:r>
              <a:rPr dirty="0" sz="1100" spc="20">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disease</a:t>
            </a:r>
            <a:endParaRPr sz="1100">
              <a:latin typeface="Arial"/>
              <a:cs typeface="Arial"/>
            </a:endParaRPr>
          </a:p>
        </p:txBody>
      </p:sp>
      <p:sp>
        <p:nvSpPr>
          <p:cNvPr id="7" name="object 7"/>
          <p:cNvSpPr txBox="1"/>
          <p:nvPr/>
        </p:nvSpPr>
        <p:spPr>
          <a:xfrm>
            <a:off x="901700" y="3627375"/>
            <a:ext cx="5970905" cy="1960245"/>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was represented by diarrhea, childhood diseases including measles, respiratory infections,  parasitic worm infections, and malaria, all major health problems in developing countries.  Progress has continued to be made in most but not all of these disease</a:t>
            </a:r>
            <a:r>
              <a:rPr dirty="0" sz="1100" spc="120">
                <a:latin typeface="Arial"/>
                <a:cs typeface="Arial"/>
              </a:rPr>
              <a:t> </a:t>
            </a:r>
            <a:r>
              <a:rPr dirty="0" sz="1100" spc="-5">
                <a:latin typeface="Arial"/>
                <a:cs typeface="Arial"/>
              </a:rPr>
              <a:t>categories.</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a:latin typeface="Arial"/>
                <a:cs typeface="Arial"/>
              </a:rPr>
              <a:t>However, average health levels can mask great inequality. Thus as is the case with income and  education, the distribution of health among the population, not just averages, is what matters.  As one </a:t>
            </a:r>
            <a:r>
              <a:rPr dirty="0" sz="1100">
                <a:latin typeface="Arial"/>
                <a:cs typeface="Arial"/>
              </a:rPr>
              <a:t>might </a:t>
            </a:r>
            <a:r>
              <a:rPr dirty="0" sz="1100" spc="-5">
                <a:latin typeface="Arial"/>
                <a:cs typeface="Arial"/>
              </a:rPr>
              <a:t>expect, the poor are significantly less healthy than the </a:t>
            </a:r>
            <a:r>
              <a:rPr dirty="0" sz="1100">
                <a:latin typeface="Arial"/>
                <a:cs typeface="Arial"/>
              </a:rPr>
              <a:t>more </a:t>
            </a:r>
            <a:r>
              <a:rPr dirty="0" sz="1100" spc="-5">
                <a:latin typeface="Arial"/>
                <a:cs typeface="Arial"/>
              </a:rPr>
              <a:t>affluent. Figure 8.12a  shows that the children of the poor are much more likely to die than those of the rich. Figure  8.12b points to an important culprit. The proportion of children under age 5 who are underweight  is far higher for poorer quintiles than for richer quintiles, particularly in South Asia and sub-  Saharan Africa. Health inequality is a consistent pattern, whatever </a:t>
            </a:r>
            <a:r>
              <a:rPr dirty="0" sz="1100">
                <a:latin typeface="Arial"/>
                <a:cs typeface="Arial"/>
              </a:rPr>
              <a:t>the </a:t>
            </a:r>
            <a:r>
              <a:rPr dirty="0" sz="1100" spc="-5">
                <a:latin typeface="Arial"/>
                <a:cs typeface="Arial"/>
              </a:rPr>
              <a:t>measure of health  outcomes used.</a:t>
            </a:r>
            <a:endParaRPr sz="1100">
              <a:latin typeface="Arial"/>
              <a:cs typeface="Arial"/>
            </a:endParaRPr>
          </a:p>
        </p:txBody>
      </p:sp>
      <p:sp>
        <p:nvSpPr>
          <p:cNvPr id="8" name="object 8"/>
          <p:cNvSpPr txBox="1"/>
          <p:nvPr/>
        </p:nvSpPr>
        <p:spPr>
          <a:xfrm>
            <a:off x="901700" y="7771878"/>
            <a:ext cx="596963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Health inputs are also very unequal, even </a:t>
            </a:r>
            <a:r>
              <a:rPr dirty="0" sz="1100">
                <a:latin typeface="Arial"/>
                <a:cs typeface="Arial"/>
              </a:rPr>
              <a:t>when </a:t>
            </a:r>
            <a:r>
              <a:rPr dirty="0" sz="1100" spc="-5">
                <a:latin typeface="Arial"/>
                <a:cs typeface="Arial"/>
              </a:rPr>
              <a:t>they are provided by public authorities rather  than procured privately. Higher-quality medical facilities are concentrated in urban and richer  areas, where the more affluent have the political clout to secure them. Even when public clinics  are available in poor rural areas, they are typically under-equipped and under-staffed. Just as  teacher truancy is a problem in schools, absenteeism of medical personnel can be</a:t>
            </a:r>
            <a:r>
              <a:rPr dirty="0" sz="1100" spc="185">
                <a:latin typeface="Arial"/>
                <a:cs typeface="Arial"/>
              </a:rPr>
              <a:t> </a:t>
            </a:r>
            <a:r>
              <a:rPr dirty="0" sz="1100" spc="-5">
                <a:latin typeface="Arial"/>
                <a:cs typeface="Arial"/>
              </a:rPr>
              <a:t>pervasive.</a:t>
            </a:r>
            <a:endParaRPr sz="1100">
              <a:latin typeface="Arial"/>
              <a:cs typeface="Arial"/>
            </a:endParaRPr>
          </a:p>
        </p:txBody>
      </p:sp>
      <p:sp>
        <p:nvSpPr>
          <p:cNvPr id="9" name="object 9"/>
          <p:cNvSpPr/>
          <p:nvPr/>
        </p:nvSpPr>
        <p:spPr>
          <a:xfrm>
            <a:off x="1957933" y="1335761"/>
            <a:ext cx="3697273" cy="2252721"/>
          </a:xfrm>
          <a:prstGeom prst="rect">
            <a:avLst/>
          </a:prstGeom>
          <a:blipFill>
            <a:blip r:embed="rId2" cstate="print"/>
            <a:stretch>
              <a:fillRect/>
            </a:stretch>
          </a:blipFill>
        </p:spPr>
        <p:txBody>
          <a:bodyPr wrap="square" lIns="0" tIns="0" rIns="0" bIns="0" rtlCol="0"/>
          <a:lstStyle/>
          <a:p/>
        </p:txBody>
      </p:sp>
      <p:sp>
        <p:nvSpPr>
          <p:cNvPr id="10" name="object 10"/>
          <p:cNvSpPr/>
          <p:nvPr/>
        </p:nvSpPr>
        <p:spPr>
          <a:xfrm>
            <a:off x="987057" y="5929675"/>
            <a:ext cx="5812000" cy="1847020"/>
          </a:xfrm>
          <a:prstGeom prst="rect">
            <a:avLst/>
          </a:prstGeom>
          <a:blipFill>
            <a:blip r:embed="rId3" cstate="print"/>
            <a:stretch>
              <a:fillRect/>
            </a:stretch>
          </a:blipFill>
        </p:spPr>
        <p:txBody>
          <a:bodyPr wrap="square" lIns="0" tIns="0" rIns="0" bIns="0" rtlCol="0"/>
          <a:lstStyle/>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114</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69000" cy="1637664"/>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DISEASE BURDEN</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Developing countries face a much more crippling disease burden than developed countries,  especially regarding infectious diseases. AIDS, malaria, and parasites are three major problems  that we consider in this section. In 2009, over 8 million children under the age of 5 died in  developing countries. This means that under-5 child deaths account for more </a:t>
            </a:r>
            <a:r>
              <a:rPr dirty="0" sz="1100">
                <a:latin typeface="Arial"/>
                <a:cs typeface="Arial"/>
              </a:rPr>
              <a:t>than </a:t>
            </a:r>
            <a:r>
              <a:rPr dirty="0" sz="1100" spc="-5">
                <a:latin typeface="Arial"/>
                <a:cs typeface="Arial"/>
              </a:rPr>
              <a:t>14% of all  deaths worldwide. Because most of these children die of causes that could be prevented for just  a few cents per child, it has been rightly claimed that their real underlying disease is</a:t>
            </a:r>
            <a:r>
              <a:rPr dirty="0" sz="1100" spc="210">
                <a:latin typeface="Arial"/>
                <a:cs typeface="Arial"/>
              </a:rPr>
              <a:t> </a:t>
            </a:r>
            <a:r>
              <a:rPr dirty="0" sz="1100" spc="-5">
                <a:latin typeface="Arial"/>
                <a:cs typeface="Arial"/>
              </a:rPr>
              <a:t>poverty.</a:t>
            </a:r>
            <a:endParaRPr sz="1100">
              <a:latin typeface="Arial"/>
              <a:cs typeface="Arial"/>
            </a:endParaRPr>
          </a:p>
          <a:p>
            <a:pPr algn="just" marL="12700" marR="5715">
              <a:lnSpc>
                <a:spcPts val="1260"/>
              </a:lnSpc>
              <a:spcBef>
                <a:spcPts val="40"/>
              </a:spcBef>
            </a:pPr>
            <a:r>
              <a:rPr dirty="0" sz="1100" spc="-5">
                <a:latin typeface="Arial"/>
                <a:cs typeface="Arial"/>
              </a:rPr>
              <a:t>Malnutrition among children is particularly consequential. Although child hunger has been  declining</a:t>
            </a:r>
            <a:r>
              <a:rPr dirty="0" sz="1100" spc="195">
                <a:latin typeface="Arial"/>
                <a:cs typeface="Arial"/>
              </a:rPr>
              <a:t> </a:t>
            </a:r>
            <a:r>
              <a:rPr dirty="0" sz="1100" spc="-5">
                <a:latin typeface="Arial"/>
                <a:cs typeface="Arial"/>
              </a:rPr>
              <a:t>in</a:t>
            </a:r>
            <a:r>
              <a:rPr dirty="0" sz="1100" spc="195">
                <a:latin typeface="Arial"/>
                <a:cs typeface="Arial"/>
              </a:rPr>
              <a:t> </a:t>
            </a:r>
            <a:r>
              <a:rPr dirty="0" sz="1100" spc="-5">
                <a:latin typeface="Arial"/>
                <a:cs typeface="Arial"/>
              </a:rPr>
              <a:t>all</a:t>
            </a:r>
            <a:r>
              <a:rPr dirty="0" sz="1100" spc="200">
                <a:latin typeface="Arial"/>
                <a:cs typeface="Arial"/>
              </a:rPr>
              <a:t> </a:t>
            </a:r>
            <a:r>
              <a:rPr dirty="0" sz="1100" spc="-5">
                <a:latin typeface="Arial"/>
                <a:cs typeface="Arial"/>
              </a:rPr>
              <a:t>developing</a:t>
            </a:r>
            <a:r>
              <a:rPr dirty="0" sz="1100" spc="200">
                <a:latin typeface="Arial"/>
                <a:cs typeface="Arial"/>
              </a:rPr>
              <a:t> </a:t>
            </a:r>
            <a:r>
              <a:rPr dirty="0" sz="1100" spc="-5">
                <a:latin typeface="Arial"/>
                <a:cs typeface="Arial"/>
              </a:rPr>
              <a:t>regions,</a:t>
            </a:r>
            <a:r>
              <a:rPr dirty="0" sz="1100" spc="195">
                <a:latin typeface="Arial"/>
                <a:cs typeface="Arial"/>
              </a:rPr>
              <a:t> </a:t>
            </a:r>
            <a:r>
              <a:rPr dirty="0" sz="1100" spc="-5">
                <a:latin typeface="Arial"/>
                <a:cs typeface="Arial"/>
              </a:rPr>
              <a:t>the</a:t>
            </a:r>
            <a:r>
              <a:rPr dirty="0" sz="1100" spc="200">
                <a:latin typeface="Arial"/>
                <a:cs typeface="Arial"/>
              </a:rPr>
              <a:t> </a:t>
            </a:r>
            <a:r>
              <a:rPr dirty="0" sz="1100" spc="-5">
                <a:latin typeface="Arial"/>
                <a:cs typeface="Arial"/>
              </a:rPr>
              <a:t>rate</a:t>
            </a:r>
            <a:r>
              <a:rPr dirty="0" sz="1100" spc="195">
                <a:latin typeface="Arial"/>
                <a:cs typeface="Arial"/>
              </a:rPr>
              <a:t> </a:t>
            </a:r>
            <a:r>
              <a:rPr dirty="0" sz="1100" spc="-5">
                <a:latin typeface="Arial"/>
                <a:cs typeface="Arial"/>
              </a:rPr>
              <a:t>of</a:t>
            </a:r>
            <a:r>
              <a:rPr dirty="0" sz="1100" spc="204">
                <a:latin typeface="Arial"/>
                <a:cs typeface="Arial"/>
              </a:rPr>
              <a:t> </a:t>
            </a:r>
            <a:r>
              <a:rPr dirty="0" sz="1100" spc="-5">
                <a:latin typeface="Arial"/>
                <a:cs typeface="Arial"/>
              </a:rPr>
              <a:t>improvement</a:t>
            </a:r>
            <a:r>
              <a:rPr dirty="0" sz="1100" spc="200">
                <a:latin typeface="Arial"/>
                <a:cs typeface="Arial"/>
              </a:rPr>
              <a:t> </a:t>
            </a:r>
            <a:r>
              <a:rPr dirty="0" sz="1100" spc="-5">
                <a:latin typeface="Arial"/>
                <a:cs typeface="Arial"/>
              </a:rPr>
              <a:t>is</a:t>
            </a:r>
            <a:r>
              <a:rPr dirty="0" sz="1100" spc="200">
                <a:latin typeface="Arial"/>
                <a:cs typeface="Arial"/>
              </a:rPr>
              <a:t> </a:t>
            </a:r>
            <a:r>
              <a:rPr dirty="0" sz="1100" spc="-5">
                <a:latin typeface="Arial"/>
                <a:cs typeface="Arial"/>
              </a:rPr>
              <a:t>too</a:t>
            </a:r>
            <a:r>
              <a:rPr dirty="0" sz="1100" spc="200">
                <a:latin typeface="Arial"/>
                <a:cs typeface="Arial"/>
              </a:rPr>
              <a:t> </a:t>
            </a:r>
            <a:r>
              <a:rPr dirty="0" sz="1100" spc="-5">
                <a:latin typeface="Arial"/>
                <a:cs typeface="Arial"/>
              </a:rPr>
              <a:t>slow</a:t>
            </a:r>
            <a:r>
              <a:rPr dirty="0" sz="1100" spc="200">
                <a:latin typeface="Arial"/>
                <a:cs typeface="Arial"/>
              </a:rPr>
              <a:t> </a:t>
            </a:r>
            <a:r>
              <a:rPr dirty="0" sz="1100" spc="-5">
                <a:latin typeface="Arial"/>
                <a:cs typeface="Arial"/>
              </a:rPr>
              <a:t>to</a:t>
            </a:r>
            <a:r>
              <a:rPr dirty="0" sz="1100" spc="200">
                <a:latin typeface="Arial"/>
                <a:cs typeface="Arial"/>
              </a:rPr>
              <a:t> </a:t>
            </a:r>
            <a:r>
              <a:rPr dirty="0" sz="1100" spc="-5">
                <a:latin typeface="Arial"/>
                <a:cs typeface="Arial"/>
              </a:rPr>
              <a:t>achieve</a:t>
            </a:r>
            <a:r>
              <a:rPr dirty="0" sz="1100" spc="195">
                <a:latin typeface="Arial"/>
                <a:cs typeface="Arial"/>
              </a:rPr>
              <a:t> </a:t>
            </a:r>
            <a:r>
              <a:rPr dirty="0" sz="1100" spc="-5">
                <a:latin typeface="Arial"/>
                <a:cs typeface="Arial"/>
              </a:rPr>
              <a:t>even</a:t>
            </a:r>
            <a:r>
              <a:rPr dirty="0" sz="1100" spc="200">
                <a:latin typeface="Arial"/>
                <a:cs typeface="Arial"/>
              </a:rPr>
              <a:t> </a:t>
            </a:r>
            <a:r>
              <a:rPr dirty="0" sz="1100">
                <a:latin typeface="Arial"/>
                <a:cs typeface="Arial"/>
              </a:rPr>
              <a:t>the</a:t>
            </a:r>
            <a:endParaRPr sz="1100">
              <a:latin typeface="Arial"/>
              <a:cs typeface="Arial"/>
            </a:endParaRPr>
          </a:p>
        </p:txBody>
      </p:sp>
      <p:sp>
        <p:nvSpPr>
          <p:cNvPr id="7" name="object 7"/>
          <p:cNvSpPr txBox="1"/>
          <p:nvPr/>
        </p:nvSpPr>
        <p:spPr>
          <a:xfrm>
            <a:off x="901700" y="6947385"/>
            <a:ext cx="5969635" cy="197485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fundamental Millennium Development Goal target of halving hunger between 1990 and 2015  (see Figure 8.13). And an increase in hunger caused by the global food price spike in 2007–  2008 and the global crisis that followed highlighted continued vulnerability, as seen also in the  upward push of food prices in 2010. The International Food Policy Research Institute has  introduced an annual global hunger index to track progress and</a:t>
            </a:r>
            <a:r>
              <a:rPr dirty="0" sz="1100" spc="70">
                <a:latin typeface="Arial"/>
                <a:cs typeface="Arial"/>
              </a:rPr>
              <a:t> </a:t>
            </a:r>
            <a:r>
              <a:rPr dirty="0" sz="1100" spc="-5">
                <a:latin typeface="Arial"/>
                <a:cs typeface="Arial"/>
              </a:rPr>
              <a:t>setbacks.</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HIV/AIDS</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The AIDS epidemic threatens to halt or even reverse years of hard-won human and economic  development progress in numerous countries. But in recent years, slow but steady progress has  been made, and a majority of specialists now conclude that a corner has been turned on the  epidemic.</a:t>
            </a:r>
            <a:endParaRPr sz="1100">
              <a:latin typeface="Arial"/>
              <a:cs typeface="Arial"/>
            </a:endParaRPr>
          </a:p>
        </p:txBody>
      </p:sp>
      <p:sp>
        <p:nvSpPr>
          <p:cNvPr id="8" name="object 8"/>
          <p:cNvSpPr/>
          <p:nvPr/>
        </p:nvSpPr>
        <p:spPr>
          <a:xfrm>
            <a:off x="1853063" y="2686366"/>
            <a:ext cx="4225239" cy="4177449"/>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115</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33450" y="1986933"/>
            <a:ext cx="5936541" cy="2036667"/>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01700" y="891794"/>
            <a:ext cx="596963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Acquired immunodeficiency syndrome (AIDS) is the final and fatal stage of infection with the  human immunodeficiency virus (HIV). In the developing countries as a whole, AIDS </a:t>
            </a:r>
            <a:r>
              <a:rPr dirty="0" sz="1100">
                <a:latin typeface="Arial"/>
                <a:cs typeface="Arial"/>
              </a:rPr>
              <a:t>is  </a:t>
            </a:r>
            <a:r>
              <a:rPr dirty="0" sz="1100" spc="-5">
                <a:latin typeface="Arial"/>
                <a:cs typeface="Arial"/>
              </a:rPr>
              <a:t>transmitted primarily through heterosexual intercourse; contact with infected blood and drug  needles, both by drug abusers and in hospitals; and perinatal transmission (from mother to  fetus).</a:t>
            </a:r>
            <a:endParaRPr sz="11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116</a:t>
            </a:r>
          </a:p>
        </p:txBody>
      </p:sp>
      <p:sp>
        <p:nvSpPr>
          <p:cNvPr id="8" name="object 8"/>
          <p:cNvSpPr txBox="1"/>
          <p:nvPr/>
        </p:nvSpPr>
        <p:spPr>
          <a:xfrm>
            <a:off x="901700" y="4044946"/>
            <a:ext cx="5970270" cy="47047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Table 8.2 provides a breakdown of the incidence of AIDS in various parts of the world, showing  the total number of cases and new cases in 2009. The southern sub region of Africa is the  hardest hit, with 34% of global AIDS deaths occurring there. Swaziland has the highest adult  HIV prevalence, at33.4%, and adult HIV prevalence ranges between 20% and 24% in Botswana  and Lesotho. In South Africa, the rate was over 18%, including almost a quarter million children  under age</a:t>
            </a:r>
            <a:r>
              <a:rPr dirty="0" sz="1100">
                <a:latin typeface="Arial"/>
                <a:cs typeface="Arial"/>
              </a:rPr>
              <a:t> </a:t>
            </a:r>
            <a:r>
              <a:rPr dirty="0" sz="1100" spc="-5">
                <a:latin typeface="Arial"/>
                <a:cs typeface="Arial"/>
              </a:rPr>
              <a:t>5.54.</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Now that the world’s attention has focused on AIDS in the developing world, it is important to  ensure that overall public health resources are enhanced, not simply diverted from other high-  impact programs such as those addressing maternal and child nutrition, immunization, malaria,  TB, and tropical</a:t>
            </a:r>
            <a:r>
              <a:rPr dirty="0" sz="1100" spc="5">
                <a:latin typeface="Arial"/>
                <a:cs typeface="Arial"/>
              </a:rPr>
              <a:t> </a:t>
            </a:r>
            <a:r>
              <a:rPr dirty="0" sz="1100" spc="-5">
                <a:latin typeface="Arial"/>
                <a:cs typeface="Arial"/>
              </a:rPr>
              <a:t>diseases.</a:t>
            </a:r>
            <a:endParaRPr sz="1100">
              <a:latin typeface="Arial"/>
              <a:cs typeface="Arial"/>
            </a:endParaRPr>
          </a:p>
          <a:p>
            <a:pPr>
              <a:lnSpc>
                <a:spcPct val="100000"/>
              </a:lnSpc>
              <a:spcBef>
                <a:spcPts val="15"/>
              </a:spcBef>
            </a:pPr>
            <a:endParaRPr sz="1000">
              <a:latin typeface="Arial"/>
              <a:cs typeface="Arial"/>
            </a:endParaRPr>
          </a:p>
          <a:p>
            <a:pPr marL="12700">
              <a:lnSpc>
                <a:spcPct val="100000"/>
              </a:lnSpc>
              <a:spcBef>
                <a:spcPts val="5"/>
              </a:spcBef>
            </a:pPr>
            <a:r>
              <a:rPr dirty="0" sz="1100" spc="-5" b="1">
                <a:latin typeface="Arial"/>
                <a:cs typeface="Arial"/>
              </a:rPr>
              <a:t>MALARIA</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Malaria directly causes over 1 million deaths each year, most of them among impoverished  African children. Pregnant women </a:t>
            </a:r>
            <a:r>
              <a:rPr dirty="0" sz="1100">
                <a:latin typeface="Arial"/>
                <a:cs typeface="Arial"/>
              </a:rPr>
              <a:t>are </a:t>
            </a:r>
            <a:r>
              <a:rPr dirty="0" sz="1100" spc="-5">
                <a:latin typeface="Arial"/>
                <a:cs typeface="Arial"/>
              </a:rPr>
              <a:t>also at high risk. Severe cases of malaria leave </a:t>
            </a:r>
            <a:r>
              <a:rPr dirty="0" sz="1100">
                <a:latin typeface="Arial"/>
                <a:cs typeface="Arial"/>
              </a:rPr>
              <a:t>about  </a:t>
            </a:r>
            <a:r>
              <a:rPr dirty="0" sz="1100" spc="-5">
                <a:latin typeface="Arial"/>
                <a:cs typeface="Arial"/>
              </a:rPr>
              <a:t>15% of the children who survive the disease with substantial neurological problems and learning  disabilities. A child dies from malaria every 30 seconds. Over 500 million people become  severely ill with malaria each</a:t>
            </a:r>
            <a:r>
              <a:rPr dirty="0" sz="1100" spc="20">
                <a:latin typeface="Arial"/>
                <a:cs typeface="Arial"/>
              </a:rPr>
              <a:t> </a:t>
            </a:r>
            <a:r>
              <a:rPr dirty="0" sz="1100" spc="-5">
                <a:latin typeface="Arial"/>
                <a:cs typeface="Arial"/>
              </a:rPr>
              <a:t>year.</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WHO’s Roll Back Malaria program seeks to eradicate this disease at its source. In addition,  major efforts are under way to increase international funding for a war </a:t>
            </a:r>
            <a:r>
              <a:rPr dirty="0" sz="1100">
                <a:latin typeface="Arial"/>
                <a:cs typeface="Arial"/>
              </a:rPr>
              <a:t>on </a:t>
            </a:r>
            <a:r>
              <a:rPr dirty="0" sz="1100" spc="-5">
                <a:latin typeface="Arial"/>
                <a:cs typeface="Arial"/>
              </a:rPr>
              <a:t>malaria, emphasizing  the development of a malaria vaccine. With proper funding, specialists believe that an effective  vaccine might be just a few years away, but because victims of malaria tend to come from low-  income countries and cannot afford expensive drugs, there has been little incentive for  pharmaceutical companies to emphasize research in this field. However, citizen and  government pressure in developed countries and a desire to score public relations points,  among other factors, have increasingly led drug companies to begin to offer drugs at lower  costs in low-income countries, and this may expand to a more balanced portfolio of</a:t>
            </a:r>
            <a:r>
              <a:rPr dirty="0" sz="1100" spc="195">
                <a:latin typeface="Arial"/>
                <a:cs typeface="Arial"/>
              </a:rPr>
              <a:t> </a:t>
            </a:r>
            <a:r>
              <a:rPr dirty="0" sz="1100" spc="-5">
                <a:latin typeface="Arial"/>
                <a:cs typeface="Arial"/>
              </a:rPr>
              <a:t>research.</a:t>
            </a:r>
            <a:endParaRPr sz="1100">
              <a:latin typeface="Arial"/>
              <a:cs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133159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PARASITIC WORMS AND OTHER “NEGLECTED TROPICAL</a:t>
            </a:r>
            <a:r>
              <a:rPr dirty="0" sz="1100" spc="25" b="1">
                <a:latin typeface="Arial"/>
                <a:cs typeface="Arial"/>
              </a:rPr>
              <a:t> </a:t>
            </a:r>
            <a:r>
              <a:rPr dirty="0" sz="1100" spc="-5" b="1">
                <a:latin typeface="Arial"/>
                <a:cs typeface="Arial"/>
              </a:rPr>
              <a:t>DISEASES”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Many health challenges of developing countries have received high-profile attention in recent  years, epitomized by the relatively well-funded and central role of the Global Fund to Fight  AIDS, Tuberculosis, and Malaria. Recall from Chapter 1 that the sixth Millennium Development  Goal is to combat “HIV-AIDS, malaria, and other diseases”. Indeed, these “other” developing  country health problems, including several types of parasitic worms, </a:t>
            </a:r>
            <a:r>
              <a:rPr dirty="0" sz="1100">
                <a:latin typeface="Arial"/>
                <a:cs typeface="Arial"/>
              </a:rPr>
              <a:t>have </a:t>
            </a:r>
            <a:r>
              <a:rPr dirty="0" sz="1100" spc="-5">
                <a:latin typeface="Arial"/>
                <a:cs typeface="Arial"/>
              </a:rPr>
              <a:t>also had devastating  impacts on the developing world but have long been comparatively</a:t>
            </a:r>
            <a:r>
              <a:rPr dirty="0" sz="1100" spc="80">
                <a:latin typeface="Arial"/>
                <a:cs typeface="Arial"/>
              </a:rPr>
              <a:t> </a:t>
            </a:r>
            <a:r>
              <a:rPr dirty="0" sz="1100" spc="-5">
                <a:latin typeface="Arial"/>
                <a:cs typeface="Arial"/>
              </a:rPr>
              <a:t>neglected.</a:t>
            </a:r>
            <a:endParaRPr sz="1100">
              <a:latin typeface="Arial"/>
              <a:cs typeface="Arial"/>
            </a:endParaRPr>
          </a:p>
        </p:txBody>
      </p:sp>
      <p:sp>
        <p:nvSpPr>
          <p:cNvPr id="7" name="object 7"/>
          <p:cNvSpPr txBox="1"/>
          <p:nvPr/>
        </p:nvSpPr>
        <p:spPr>
          <a:xfrm>
            <a:off x="901700" y="6230363"/>
            <a:ext cx="5969635" cy="279209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Table 8.3 shows the 13 major neglected tropical diseases, ranked by their global prevalence  (number infected). Taken together, these diseases cause an estimated 534,000 deaths each  year. But most of </a:t>
            </a:r>
            <a:r>
              <a:rPr dirty="0" sz="1100">
                <a:latin typeface="Arial"/>
                <a:cs typeface="Arial"/>
              </a:rPr>
              <a:t>these </a:t>
            </a:r>
            <a:r>
              <a:rPr dirty="0" sz="1100" spc="-5">
                <a:latin typeface="Arial"/>
                <a:cs typeface="Arial"/>
              </a:rPr>
              <a:t>diseases are curable, can be prevented with environmental  improvements at their source, and can ultimately be inoculated against with vaccines. The cost  of combating these diseases is relatively low in most cases, and the tragedy is that despite this,  they have received relatively little</a:t>
            </a:r>
            <a:r>
              <a:rPr dirty="0" sz="1100" spc="20">
                <a:latin typeface="Arial"/>
                <a:cs typeface="Arial"/>
              </a:rPr>
              <a:t> </a:t>
            </a:r>
            <a:r>
              <a:rPr dirty="0" sz="1100" spc="-5">
                <a:latin typeface="Arial"/>
                <a:cs typeface="Arial"/>
              </a:rPr>
              <a:t>attention.</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700"/>
              </a:lnSpc>
            </a:pPr>
            <a:r>
              <a:rPr dirty="0" sz="1100" spc="-5">
                <a:latin typeface="Arial"/>
                <a:cs typeface="Arial"/>
              </a:rPr>
              <a:t>But these “neglected” tropical diseases are finally starting to get the focus they deserve. The  Global Network for Neglected Tropical Diseases is coordinating a campaign to fight these  scourges.</a:t>
            </a:r>
            <a:endParaRPr sz="1100">
              <a:latin typeface="Arial"/>
              <a:cs typeface="Arial"/>
            </a:endParaRPr>
          </a:p>
          <a:p>
            <a:pPr marL="12700" marR="3326129">
              <a:lnSpc>
                <a:spcPts val="2650"/>
              </a:lnSpc>
              <a:spcBef>
                <a:spcPts val="200"/>
              </a:spcBef>
            </a:pPr>
            <a:r>
              <a:rPr dirty="0" sz="1100" spc="-10" b="1">
                <a:latin typeface="Arial"/>
                <a:cs typeface="Arial"/>
              </a:rPr>
              <a:t>HEALTH, </a:t>
            </a:r>
            <a:r>
              <a:rPr dirty="0" sz="1100" spc="-5" b="1">
                <a:latin typeface="Arial"/>
                <a:cs typeface="Arial"/>
              </a:rPr>
              <a:t>PRODUCTIVITY, AND POLICY  PRODUCTIVITY</a:t>
            </a:r>
            <a:endParaRPr sz="1100">
              <a:latin typeface="Arial"/>
              <a:cs typeface="Arial"/>
            </a:endParaRPr>
          </a:p>
          <a:p>
            <a:pPr>
              <a:lnSpc>
                <a:spcPct val="100000"/>
              </a:lnSpc>
              <a:spcBef>
                <a:spcPts val="45"/>
              </a:spcBef>
            </a:pPr>
            <a:endParaRPr sz="900">
              <a:latin typeface="Arial"/>
              <a:cs typeface="Arial"/>
            </a:endParaRPr>
          </a:p>
          <a:p>
            <a:pPr algn="just" marL="12700" marR="6350">
              <a:lnSpc>
                <a:spcPts val="1270"/>
              </a:lnSpc>
              <a:spcBef>
                <a:spcPts val="5"/>
              </a:spcBef>
            </a:pPr>
            <a:r>
              <a:rPr dirty="0" sz="1100" spc="-5">
                <a:latin typeface="Arial"/>
                <a:cs typeface="Arial"/>
              </a:rPr>
              <a:t>The devastating effects of poor health on child mortality are clear enough. But do poor health  conditions</a:t>
            </a:r>
            <a:r>
              <a:rPr dirty="0" sz="1100" spc="75">
                <a:latin typeface="Arial"/>
                <a:cs typeface="Arial"/>
              </a:rPr>
              <a:t> </a:t>
            </a:r>
            <a:r>
              <a:rPr dirty="0" sz="1100" spc="-5">
                <a:latin typeface="Arial"/>
                <a:cs typeface="Arial"/>
              </a:rPr>
              <a:t>in</a:t>
            </a:r>
            <a:r>
              <a:rPr dirty="0" sz="1100" spc="75">
                <a:latin typeface="Arial"/>
                <a:cs typeface="Arial"/>
              </a:rPr>
              <a:t> </a:t>
            </a:r>
            <a:r>
              <a:rPr dirty="0" sz="1100" spc="-5">
                <a:latin typeface="Arial"/>
                <a:cs typeface="Arial"/>
              </a:rPr>
              <a:t>developing</a:t>
            </a:r>
            <a:r>
              <a:rPr dirty="0" sz="1100" spc="75">
                <a:latin typeface="Arial"/>
                <a:cs typeface="Arial"/>
              </a:rPr>
              <a:t> </a:t>
            </a:r>
            <a:r>
              <a:rPr dirty="0" sz="1100" spc="-5">
                <a:latin typeface="Arial"/>
                <a:cs typeface="Arial"/>
              </a:rPr>
              <a:t>countries</a:t>
            </a:r>
            <a:r>
              <a:rPr dirty="0" sz="1100" spc="80">
                <a:latin typeface="Arial"/>
                <a:cs typeface="Arial"/>
              </a:rPr>
              <a:t> </a:t>
            </a:r>
            <a:r>
              <a:rPr dirty="0" sz="1100" spc="-5">
                <a:latin typeface="Arial"/>
                <a:cs typeface="Arial"/>
              </a:rPr>
              <a:t>also</a:t>
            </a:r>
            <a:r>
              <a:rPr dirty="0" sz="1100" spc="75">
                <a:latin typeface="Arial"/>
                <a:cs typeface="Arial"/>
              </a:rPr>
              <a:t> </a:t>
            </a:r>
            <a:r>
              <a:rPr dirty="0" sz="1100" spc="-5">
                <a:latin typeface="Arial"/>
                <a:cs typeface="Arial"/>
              </a:rPr>
              <a:t>harm</a:t>
            </a:r>
            <a:r>
              <a:rPr dirty="0" sz="1100" spc="75">
                <a:latin typeface="Arial"/>
                <a:cs typeface="Arial"/>
              </a:rPr>
              <a:t> </a:t>
            </a:r>
            <a:r>
              <a:rPr dirty="0" sz="1100">
                <a:latin typeface="Arial"/>
                <a:cs typeface="Arial"/>
              </a:rPr>
              <a:t>the</a:t>
            </a:r>
            <a:r>
              <a:rPr dirty="0" sz="1100" spc="75">
                <a:latin typeface="Arial"/>
                <a:cs typeface="Arial"/>
              </a:rPr>
              <a:t> </a:t>
            </a:r>
            <a:r>
              <a:rPr dirty="0" sz="1100" spc="-5">
                <a:latin typeface="Arial"/>
                <a:cs typeface="Arial"/>
              </a:rPr>
              <a:t>productivity</a:t>
            </a:r>
            <a:r>
              <a:rPr dirty="0" sz="1100" spc="8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adults?</a:t>
            </a:r>
            <a:r>
              <a:rPr dirty="0" sz="1100" spc="75">
                <a:latin typeface="Arial"/>
                <a:cs typeface="Arial"/>
              </a:rPr>
              <a:t> </a:t>
            </a:r>
            <a:r>
              <a:rPr dirty="0" sz="1100" spc="-5">
                <a:latin typeface="Arial"/>
                <a:cs typeface="Arial"/>
              </a:rPr>
              <a:t>The</a:t>
            </a:r>
            <a:r>
              <a:rPr dirty="0" sz="1100" spc="80">
                <a:latin typeface="Arial"/>
                <a:cs typeface="Arial"/>
              </a:rPr>
              <a:t> </a:t>
            </a:r>
            <a:r>
              <a:rPr dirty="0" sz="1100" spc="-5">
                <a:latin typeface="Arial"/>
                <a:cs typeface="Arial"/>
              </a:rPr>
              <a:t>answer</a:t>
            </a:r>
            <a:r>
              <a:rPr dirty="0" sz="1100" spc="75">
                <a:latin typeface="Arial"/>
                <a:cs typeface="Arial"/>
              </a:rPr>
              <a:t> </a:t>
            </a:r>
            <a:r>
              <a:rPr dirty="0" sz="1100" spc="-5">
                <a:latin typeface="Arial"/>
                <a:cs typeface="Arial"/>
              </a:rPr>
              <a:t>appears</a:t>
            </a:r>
            <a:r>
              <a:rPr dirty="0" sz="1100" spc="75">
                <a:latin typeface="Arial"/>
                <a:cs typeface="Arial"/>
              </a:rPr>
              <a:t> </a:t>
            </a:r>
            <a:r>
              <a:rPr dirty="0" sz="1100" spc="-5">
                <a:latin typeface="Arial"/>
                <a:cs typeface="Arial"/>
              </a:rPr>
              <a:t>to</a:t>
            </a:r>
            <a:endParaRPr sz="1100">
              <a:latin typeface="Arial"/>
              <a:cs typeface="Arial"/>
            </a:endParaRPr>
          </a:p>
        </p:txBody>
      </p:sp>
      <p:sp>
        <p:nvSpPr>
          <p:cNvPr id="8" name="object 8"/>
          <p:cNvSpPr/>
          <p:nvPr/>
        </p:nvSpPr>
        <p:spPr>
          <a:xfrm>
            <a:off x="942594" y="2434126"/>
            <a:ext cx="5904178" cy="3635342"/>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117</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17205"/>
          </a:xfrm>
          <a:prstGeom prst="rect">
            <a:avLst/>
          </a:prstGeom>
        </p:spPr>
        <p:txBody>
          <a:bodyPr wrap="square" lIns="0" tIns="22860" rIns="0" bIns="0" rtlCol="0" vert="horz">
            <a:spAutoFit/>
          </a:bodyPr>
          <a:lstStyle/>
          <a:p>
            <a:pPr algn="just" marL="12700" marR="6985">
              <a:lnSpc>
                <a:spcPts val="1270"/>
              </a:lnSpc>
              <a:spcBef>
                <a:spcPts val="180"/>
              </a:spcBef>
            </a:pPr>
            <a:r>
              <a:rPr dirty="0" sz="1100" spc="-5">
                <a:latin typeface="Arial"/>
                <a:cs typeface="Arial"/>
              </a:rPr>
              <a:t>be yes. Studies show that healthier people earn higher wages. For example, daily wage rates in  Côte d’Ivoire are different by</a:t>
            </a:r>
            <a:r>
              <a:rPr dirty="0" sz="1100" spc="20">
                <a:latin typeface="Arial"/>
                <a:cs typeface="Arial"/>
              </a:rPr>
              <a:t> </a:t>
            </a:r>
            <a:r>
              <a:rPr dirty="0" sz="1100" spc="-5">
                <a:latin typeface="Arial"/>
                <a:cs typeface="Arial"/>
              </a:rPr>
              <a:t>19%.</a:t>
            </a:r>
            <a:endParaRPr sz="1100">
              <a:latin typeface="Arial"/>
              <a:cs typeface="Arial"/>
            </a:endParaRPr>
          </a:p>
          <a:p>
            <a:pPr>
              <a:lnSpc>
                <a:spcPct val="100000"/>
              </a:lnSpc>
              <a:spcBef>
                <a:spcPts val="45"/>
              </a:spcBef>
            </a:pPr>
            <a:endParaRPr sz="1050">
              <a:latin typeface="Arial"/>
              <a:cs typeface="Arial"/>
            </a:endParaRPr>
          </a:p>
          <a:p>
            <a:pPr algn="just" marL="12700" marR="5080" indent="-635">
              <a:lnSpc>
                <a:spcPts val="1270"/>
              </a:lnSpc>
            </a:pPr>
            <a:r>
              <a:rPr dirty="0" sz="1100" spc="-5">
                <a:latin typeface="Arial"/>
                <a:cs typeface="Arial"/>
              </a:rPr>
              <a:t>The Nobel laureate </a:t>
            </a:r>
            <a:r>
              <a:rPr dirty="0" sz="1100" spc="-5" b="1">
                <a:latin typeface="Arial"/>
                <a:cs typeface="Arial"/>
              </a:rPr>
              <a:t>Robert </a:t>
            </a:r>
            <a:r>
              <a:rPr dirty="0" sz="1100" b="1">
                <a:latin typeface="Arial"/>
                <a:cs typeface="Arial"/>
              </a:rPr>
              <a:t>Fogel </a:t>
            </a:r>
            <a:r>
              <a:rPr dirty="0" sz="1100" spc="-5">
                <a:latin typeface="Arial"/>
                <a:cs typeface="Arial"/>
              </a:rPr>
              <a:t>has found that citizens of developed countries are  substantially taller today than they were two centuries ago and has argued that stature is a  useful index of the health and general well-being of a</a:t>
            </a:r>
            <a:r>
              <a:rPr dirty="0" sz="1100" spc="45">
                <a:latin typeface="Arial"/>
                <a:cs typeface="Arial"/>
              </a:rPr>
              <a:t> </a:t>
            </a:r>
            <a:r>
              <a:rPr dirty="0" sz="1100" spc="-5">
                <a:latin typeface="Arial"/>
                <a:cs typeface="Arial"/>
              </a:rPr>
              <a:t>population.</a:t>
            </a:r>
            <a:endParaRPr sz="1100">
              <a:latin typeface="Arial"/>
              <a:cs typeface="Arial"/>
            </a:endParaRPr>
          </a:p>
          <a:p>
            <a:pPr>
              <a:lnSpc>
                <a:spcPct val="100000"/>
              </a:lnSpc>
              <a:spcBef>
                <a:spcPts val="40"/>
              </a:spcBef>
            </a:pPr>
            <a:endParaRPr sz="1100">
              <a:latin typeface="Arial"/>
              <a:cs typeface="Arial"/>
            </a:endParaRPr>
          </a:p>
          <a:p>
            <a:pPr algn="just" marL="241300" marR="2842895" indent="-228600">
              <a:lnSpc>
                <a:spcPct val="95800"/>
              </a:lnSpc>
              <a:buFont typeface="Symbol"/>
              <a:buChar char=""/>
              <a:tabLst>
                <a:tab pos="241935" algn="l"/>
              </a:tabLst>
            </a:pPr>
            <a:r>
              <a:rPr dirty="0" sz="1100" spc="-5" b="1">
                <a:latin typeface="Arial"/>
                <a:cs typeface="Arial"/>
              </a:rPr>
              <a:t>John Strauss and Duncan </a:t>
            </a:r>
            <a:r>
              <a:rPr dirty="0" sz="1100" spc="-5">
                <a:latin typeface="Arial"/>
                <a:cs typeface="Arial"/>
              </a:rPr>
              <a:t>Thomas found  that taller men earn more money in Brazil,  even after controlling for other important  determinants of income such as education  and experience (Figure 8.14, panels A1 and  A2). A 1% increase in height is associated  with a 7% increase in wages in that middle-  income country.</a:t>
            </a:r>
            <a:endParaRPr sz="1100">
              <a:latin typeface="Arial"/>
              <a:cs typeface="Arial"/>
            </a:endParaRPr>
          </a:p>
          <a:p>
            <a:pPr algn="just" marL="241300" marR="2842895" indent="-228600">
              <a:lnSpc>
                <a:spcPct val="95600"/>
              </a:lnSpc>
              <a:spcBef>
                <a:spcPts val="80"/>
              </a:spcBef>
              <a:buFont typeface="Symbol"/>
              <a:buChar char=""/>
              <a:tabLst>
                <a:tab pos="241935" algn="l"/>
              </a:tabLst>
            </a:pPr>
            <a:r>
              <a:rPr dirty="0" sz="1100" spc="-5">
                <a:latin typeface="Arial"/>
                <a:cs typeface="Arial"/>
              </a:rPr>
              <a:t>In the United States, there is also an  association, but a much smaller </a:t>
            </a:r>
            <a:r>
              <a:rPr dirty="0" sz="1100">
                <a:latin typeface="Arial"/>
                <a:cs typeface="Arial"/>
              </a:rPr>
              <a:t>one, </a:t>
            </a:r>
            <a:r>
              <a:rPr dirty="0" sz="1100" spc="-5">
                <a:latin typeface="Arial"/>
                <a:cs typeface="Arial"/>
              </a:rPr>
              <a:t>with a  1% increase in height associated with a 1%  increase in</a:t>
            </a:r>
            <a:r>
              <a:rPr dirty="0" sz="1100" spc="-15">
                <a:latin typeface="Arial"/>
                <a:cs typeface="Arial"/>
              </a:rPr>
              <a:t> </a:t>
            </a:r>
            <a:r>
              <a:rPr dirty="0" sz="1100" spc="-5">
                <a:latin typeface="Arial"/>
                <a:cs typeface="Arial"/>
              </a:rPr>
              <a:t>wages.</a:t>
            </a:r>
            <a:endParaRPr sz="1100">
              <a:latin typeface="Arial"/>
              <a:cs typeface="Arial"/>
            </a:endParaRPr>
          </a:p>
          <a:p>
            <a:pPr algn="just" marL="241300" marR="2844165" indent="-228600">
              <a:lnSpc>
                <a:spcPts val="1260"/>
              </a:lnSpc>
              <a:spcBef>
                <a:spcPts val="114"/>
              </a:spcBef>
              <a:buFont typeface="Symbol"/>
              <a:buChar char=""/>
              <a:tabLst>
                <a:tab pos="241935" algn="l"/>
              </a:tabLst>
            </a:pPr>
            <a:r>
              <a:rPr dirty="0" sz="1100" spc="-5">
                <a:latin typeface="Arial"/>
                <a:cs typeface="Arial"/>
              </a:rPr>
              <a:t>Moreover, shorter individuals are more likely  to be unemployed</a:t>
            </a:r>
            <a:r>
              <a:rPr dirty="0" sz="1100" spc="10">
                <a:latin typeface="Arial"/>
                <a:cs typeface="Arial"/>
              </a:rPr>
              <a:t> </a:t>
            </a:r>
            <a:r>
              <a:rPr dirty="0" sz="1100" spc="-5">
                <a:latin typeface="Arial"/>
                <a:cs typeface="Arial"/>
              </a:rPr>
              <a:t>altogether.</a:t>
            </a:r>
            <a:endParaRPr sz="1100">
              <a:latin typeface="Arial"/>
              <a:cs typeface="Arial"/>
            </a:endParaRPr>
          </a:p>
          <a:p>
            <a:pPr algn="just" marL="241300" marR="2843530" indent="-228600">
              <a:lnSpc>
                <a:spcPts val="1260"/>
              </a:lnSpc>
              <a:spcBef>
                <a:spcPts val="85"/>
              </a:spcBef>
              <a:buFont typeface="Symbol"/>
              <a:buChar char=""/>
              <a:tabLst>
                <a:tab pos="241935" algn="l"/>
              </a:tabLst>
            </a:pPr>
            <a:r>
              <a:rPr dirty="0" sz="1100" spc="-5">
                <a:latin typeface="Arial"/>
                <a:cs typeface="Arial"/>
              </a:rPr>
              <a:t>In particular, taller people receive significantly  more education than shorter people</a:t>
            </a:r>
            <a:r>
              <a:rPr dirty="0" sz="1100" spc="185">
                <a:latin typeface="Arial"/>
                <a:cs typeface="Arial"/>
              </a:rPr>
              <a:t> </a:t>
            </a:r>
            <a:r>
              <a:rPr dirty="0" sz="1100" spc="-5">
                <a:latin typeface="Arial"/>
                <a:cs typeface="Arial"/>
              </a:rPr>
              <a:t>(see</a:t>
            </a:r>
            <a:endParaRPr sz="1100">
              <a:latin typeface="Arial"/>
              <a:cs typeface="Arial"/>
            </a:endParaRPr>
          </a:p>
          <a:p>
            <a:pPr algn="just" marL="241300">
              <a:lnSpc>
                <a:spcPts val="1205"/>
              </a:lnSpc>
            </a:pPr>
            <a:r>
              <a:rPr dirty="0" sz="1100" spc="-5">
                <a:latin typeface="Arial"/>
                <a:cs typeface="Arial"/>
              </a:rPr>
              <a:t>Figure</a:t>
            </a:r>
            <a:r>
              <a:rPr dirty="0" sz="1100" spc="90">
                <a:latin typeface="Arial"/>
                <a:cs typeface="Arial"/>
              </a:rPr>
              <a:t> </a:t>
            </a:r>
            <a:r>
              <a:rPr dirty="0" sz="1100" spc="-5">
                <a:latin typeface="Arial"/>
                <a:cs typeface="Arial"/>
              </a:rPr>
              <a:t>8.14,</a:t>
            </a:r>
            <a:r>
              <a:rPr dirty="0" sz="1100" spc="85">
                <a:latin typeface="Arial"/>
                <a:cs typeface="Arial"/>
              </a:rPr>
              <a:t> </a:t>
            </a:r>
            <a:r>
              <a:rPr dirty="0" sz="1100" spc="-5">
                <a:latin typeface="Arial"/>
                <a:cs typeface="Arial"/>
              </a:rPr>
              <a:t>panels</a:t>
            </a:r>
            <a:r>
              <a:rPr dirty="0" sz="1100" spc="90">
                <a:latin typeface="Arial"/>
                <a:cs typeface="Arial"/>
              </a:rPr>
              <a:t> </a:t>
            </a:r>
            <a:r>
              <a:rPr dirty="0" sz="1100" spc="-5">
                <a:latin typeface="Arial"/>
                <a:cs typeface="Arial"/>
              </a:rPr>
              <a:t>B1</a:t>
            </a:r>
            <a:r>
              <a:rPr dirty="0" sz="1100" spc="85">
                <a:latin typeface="Arial"/>
                <a:cs typeface="Arial"/>
              </a:rPr>
              <a:t> </a:t>
            </a:r>
            <a:r>
              <a:rPr dirty="0" sz="1100" spc="-5">
                <a:latin typeface="Arial"/>
                <a:cs typeface="Arial"/>
              </a:rPr>
              <a:t>and</a:t>
            </a:r>
            <a:r>
              <a:rPr dirty="0" sz="1100" spc="90">
                <a:latin typeface="Arial"/>
                <a:cs typeface="Arial"/>
              </a:rPr>
              <a:t> </a:t>
            </a:r>
            <a:r>
              <a:rPr dirty="0" sz="1100" spc="-5">
                <a:latin typeface="Arial"/>
                <a:cs typeface="Arial"/>
              </a:rPr>
              <a:t>B2).</a:t>
            </a:r>
            <a:r>
              <a:rPr dirty="0" sz="1100" spc="90">
                <a:latin typeface="Arial"/>
                <a:cs typeface="Arial"/>
              </a:rPr>
              <a:t> </a:t>
            </a:r>
            <a:r>
              <a:rPr dirty="0" sz="1100" spc="-5">
                <a:latin typeface="Arial"/>
                <a:cs typeface="Arial"/>
              </a:rPr>
              <a:t>Note</a:t>
            </a:r>
            <a:r>
              <a:rPr dirty="0" sz="1100" spc="90">
                <a:latin typeface="Arial"/>
                <a:cs typeface="Arial"/>
              </a:rPr>
              <a:t> </a:t>
            </a:r>
            <a:r>
              <a:rPr dirty="0" sz="1100" spc="-5">
                <a:latin typeface="Arial"/>
                <a:cs typeface="Arial"/>
              </a:rPr>
              <a:t>also</a:t>
            </a:r>
            <a:r>
              <a:rPr dirty="0" sz="1100" spc="90">
                <a:latin typeface="Arial"/>
                <a:cs typeface="Arial"/>
              </a:rPr>
              <a:t> </a:t>
            </a:r>
            <a:r>
              <a:rPr dirty="0" sz="1100" spc="-5">
                <a:latin typeface="Arial"/>
                <a:cs typeface="Arial"/>
              </a:rPr>
              <a:t>that</a:t>
            </a:r>
            <a:r>
              <a:rPr dirty="0" sz="1100" spc="85">
                <a:latin typeface="Arial"/>
                <a:cs typeface="Arial"/>
              </a:rPr>
              <a:t> </a:t>
            </a:r>
            <a:r>
              <a:rPr dirty="0" sz="1100" spc="-5">
                <a:latin typeface="Arial"/>
                <a:cs typeface="Arial"/>
              </a:rPr>
              <a:t>these</a:t>
            </a:r>
            <a:r>
              <a:rPr dirty="0" sz="1100" spc="95">
                <a:latin typeface="Arial"/>
                <a:cs typeface="Arial"/>
              </a:rPr>
              <a:t> </a:t>
            </a:r>
            <a:r>
              <a:rPr dirty="0" sz="1100" spc="-5">
                <a:latin typeface="Arial"/>
                <a:cs typeface="Arial"/>
              </a:rPr>
              <a:t>relationships</a:t>
            </a:r>
            <a:r>
              <a:rPr dirty="0" sz="1100" spc="90">
                <a:latin typeface="Arial"/>
                <a:cs typeface="Arial"/>
              </a:rPr>
              <a:t> </a:t>
            </a:r>
            <a:r>
              <a:rPr dirty="0" sz="1100" spc="-5">
                <a:latin typeface="Arial"/>
                <a:cs typeface="Arial"/>
              </a:rPr>
              <a:t>carry</a:t>
            </a:r>
            <a:r>
              <a:rPr dirty="0" sz="1100" spc="75">
                <a:latin typeface="Arial"/>
                <a:cs typeface="Arial"/>
              </a:rPr>
              <a:t> </a:t>
            </a:r>
            <a:r>
              <a:rPr dirty="0" sz="1100" spc="-5">
                <a:latin typeface="Arial"/>
                <a:cs typeface="Arial"/>
              </a:rPr>
              <a:t>over</a:t>
            </a:r>
            <a:r>
              <a:rPr dirty="0" sz="1100" spc="90">
                <a:latin typeface="Arial"/>
                <a:cs typeface="Arial"/>
              </a:rPr>
              <a:t> </a:t>
            </a:r>
            <a:r>
              <a:rPr dirty="0" sz="1100" spc="-5">
                <a:latin typeface="Arial"/>
                <a:cs typeface="Arial"/>
              </a:rPr>
              <a:t>to</a:t>
            </a:r>
            <a:r>
              <a:rPr dirty="0" sz="1100" spc="95">
                <a:latin typeface="Arial"/>
                <a:cs typeface="Arial"/>
              </a:rPr>
              <a:t> </a:t>
            </a:r>
            <a:r>
              <a:rPr dirty="0" sz="1100" spc="-5">
                <a:latin typeface="Arial"/>
                <a:cs typeface="Arial"/>
              </a:rPr>
              <a:t>alternative</a:t>
            </a:r>
            <a:endParaRPr sz="1100">
              <a:latin typeface="Arial"/>
              <a:cs typeface="Arial"/>
            </a:endParaRPr>
          </a:p>
          <a:p>
            <a:pPr algn="just" marL="241300" marR="5080">
              <a:lnSpc>
                <a:spcPts val="1270"/>
              </a:lnSpc>
              <a:spcBef>
                <a:spcPts val="55"/>
              </a:spcBef>
            </a:pPr>
            <a:r>
              <a:rPr dirty="0" sz="1100" spc="-5">
                <a:latin typeface="Arial"/>
                <a:cs typeface="Arial"/>
              </a:rPr>
              <a:t>health measures such as the body mass index, which reflects short-term as well as long-  term health and</a:t>
            </a:r>
            <a:r>
              <a:rPr dirty="0" sz="1100" spc="5">
                <a:latin typeface="Arial"/>
                <a:cs typeface="Arial"/>
              </a:rPr>
              <a:t> </a:t>
            </a:r>
            <a:r>
              <a:rPr dirty="0" sz="1100" spc="-5">
                <a:latin typeface="Arial"/>
                <a:cs typeface="Arial"/>
              </a:rPr>
              <a:t>nutrition.</a:t>
            </a:r>
            <a:endParaRPr sz="1100">
              <a:latin typeface="Arial"/>
              <a:cs typeface="Arial"/>
            </a:endParaRPr>
          </a:p>
          <a:p>
            <a:pPr>
              <a:lnSpc>
                <a:spcPct val="100000"/>
              </a:lnSpc>
              <a:spcBef>
                <a:spcPts val="45"/>
              </a:spcBef>
            </a:pPr>
            <a:endParaRPr sz="1050">
              <a:latin typeface="Arial"/>
              <a:cs typeface="Arial"/>
            </a:endParaRPr>
          </a:p>
          <a:p>
            <a:pPr algn="just" marL="12700" marR="5080">
              <a:lnSpc>
                <a:spcPts val="1270"/>
              </a:lnSpc>
            </a:pPr>
            <a:r>
              <a:rPr dirty="0" sz="1100" spc="-5">
                <a:latin typeface="Arial"/>
                <a:cs typeface="Arial"/>
              </a:rPr>
              <a:t>Thus the preponderance of the evidence is that health and nutrition do affect employment,  productivity, and wages and very substantially so among the poorest of the poor. This finding  magnifies the policy priority of health in development; not </a:t>
            </a:r>
            <a:r>
              <a:rPr dirty="0" sz="1100">
                <a:latin typeface="Arial"/>
                <a:cs typeface="Arial"/>
              </a:rPr>
              <a:t>only </a:t>
            </a:r>
            <a:r>
              <a:rPr dirty="0" sz="1100" spc="-5">
                <a:latin typeface="Arial"/>
                <a:cs typeface="Arial"/>
              </a:rPr>
              <a:t>is health a major goal </a:t>
            </a:r>
            <a:r>
              <a:rPr dirty="0" sz="1100">
                <a:latin typeface="Arial"/>
                <a:cs typeface="Arial"/>
              </a:rPr>
              <a:t>in </a:t>
            </a:r>
            <a:r>
              <a:rPr dirty="0" sz="1100" spc="-5">
                <a:latin typeface="Arial"/>
                <a:cs typeface="Arial"/>
              </a:rPr>
              <a:t>itself, but  it has a significant impact on income levels as well. Strauss and Thomas conclude that “the  balance of evidence points to a positive effect of elevated nutrient intakes on wages, at least  among those who are</a:t>
            </a:r>
            <a:r>
              <a:rPr dirty="0" sz="1100" spc="15">
                <a:latin typeface="Arial"/>
                <a:cs typeface="Arial"/>
              </a:rPr>
              <a:t> </a:t>
            </a:r>
            <a:r>
              <a:rPr dirty="0" sz="1100" spc="-5">
                <a:latin typeface="Arial"/>
                <a:cs typeface="Arial"/>
              </a:rPr>
              <a:t>malnourished”.</a:t>
            </a:r>
            <a:endParaRPr sz="1100">
              <a:latin typeface="Arial"/>
              <a:cs typeface="Arial"/>
            </a:endParaRPr>
          </a:p>
          <a:p>
            <a:pPr>
              <a:lnSpc>
                <a:spcPct val="100000"/>
              </a:lnSpc>
              <a:spcBef>
                <a:spcPts val="5"/>
              </a:spcBef>
            </a:pPr>
            <a:endParaRPr sz="1000">
              <a:latin typeface="Arial"/>
              <a:cs typeface="Arial"/>
            </a:endParaRPr>
          </a:p>
          <a:p>
            <a:pPr algn="just" marL="12700">
              <a:lnSpc>
                <a:spcPct val="100000"/>
              </a:lnSpc>
            </a:pPr>
            <a:r>
              <a:rPr dirty="0" sz="1100" spc="-5">
                <a:latin typeface="Arial"/>
                <a:cs typeface="Arial"/>
              </a:rPr>
              <a:t>A healthy population is a prerequisite for successful</a:t>
            </a:r>
            <a:r>
              <a:rPr dirty="0" sz="1100" spc="40">
                <a:latin typeface="Arial"/>
                <a:cs typeface="Arial"/>
              </a:rPr>
              <a:t> </a:t>
            </a:r>
            <a:r>
              <a:rPr dirty="0" sz="1100" spc="-5">
                <a:latin typeface="Arial"/>
                <a:cs typeface="Arial"/>
              </a:rPr>
              <a:t>development.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HEALTH SYSTEMS</a:t>
            </a:r>
            <a:r>
              <a:rPr dirty="0" sz="1100" spc="5" b="1">
                <a:latin typeface="Arial"/>
                <a:cs typeface="Arial"/>
              </a:rPr>
              <a:t> </a:t>
            </a:r>
            <a:r>
              <a:rPr dirty="0" sz="1100" spc="-5" b="1">
                <a:latin typeface="Arial"/>
                <a:cs typeface="Arial"/>
              </a:rPr>
              <a:t>POLICY</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spcBef>
                <a:spcPts val="5"/>
              </a:spcBef>
            </a:pPr>
            <a:r>
              <a:rPr dirty="0" sz="1100" spc="-5">
                <a:latin typeface="Arial"/>
                <a:cs typeface="Arial"/>
              </a:rPr>
              <a:t>In the WHO’s definition, a health system is “all the activities whose primary purpose is to  promote, restore, or maintain health”. Health systems include the components of public health  departments, hospitals and clinics, and offices of doctors and paramedics. Outside this formal  system is an informal network used by </a:t>
            </a:r>
            <a:r>
              <a:rPr dirty="0" sz="1100">
                <a:latin typeface="Arial"/>
                <a:cs typeface="Arial"/>
              </a:rPr>
              <a:t>many </a:t>
            </a:r>
            <a:r>
              <a:rPr dirty="0" sz="1100" spc="-5">
                <a:latin typeface="Arial"/>
                <a:cs typeface="Arial"/>
              </a:rPr>
              <a:t>poorer citizens, which includes traditional</a:t>
            </a:r>
            <a:r>
              <a:rPr dirty="0" sz="1100" spc="204">
                <a:latin typeface="Arial"/>
                <a:cs typeface="Arial"/>
              </a:rPr>
              <a:t> </a:t>
            </a:r>
            <a:r>
              <a:rPr dirty="0" sz="1100" spc="-5">
                <a:latin typeface="Arial"/>
                <a:cs typeface="Arial"/>
              </a:rPr>
              <a:t>healers.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It has long been understood that some developing countries’ health systems were far more  effective than others in achieving health goals. Figure 8.15 shows that some countries, such as  China and Sri Lanka, and some regions, such as Kerala state in India, have achieved life  expectancies of more </a:t>
            </a:r>
            <a:r>
              <a:rPr dirty="0" sz="1100">
                <a:latin typeface="Arial"/>
                <a:cs typeface="Arial"/>
              </a:rPr>
              <a:t>than </a:t>
            </a:r>
            <a:r>
              <a:rPr dirty="0" sz="1100" spc="-5">
                <a:latin typeface="Arial"/>
                <a:cs typeface="Arial"/>
              </a:rPr>
              <a:t>70 years despite their low-income status. At the same time, some  middle-income countries, such as Brazil, South Africa, and Gabon, </a:t>
            </a:r>
            <a:r>
              <a:rPr dirty="0" sz="1100">
                <a:latin typeface="Arial"/>
                <a:cs typeface="Arial"/>
              </a:rPr>
              <a:t>have </a:t>
            </a:r>
            <a:r>
              <a:rPr dirty="0" sz="1100" spc="-5">
                <a:latin typeface="Arial"/>
                <a:cs typeface="Arial"/>
              </a:rPr>
              <a:t>only </a:t>
            </a:r>
            <a:r>
              <a:rPr dirty="0" sz="1100">
                <a:latin typeface="Arial"/>
                <a:cs typeface="Arial"/>
              </a:rPr>
              <a:t>been </a:t>
            </a:r>
            <a:r>
              <a:rPr dirty="0" sz="1100" spc="-5">
                <a:latin typeface="Arial"/>
                <a:cs typeface="Arial"/>
              </a:rPr>
              <a:t>able to  achieve significantly lower life expectancies despite their much greater resources. The latter  countries all have far </a:t>
            </a:r>
            <a:r>
              <a:rPr dirty="0" sz="1100">
                <a:latin typeface="Arial"/>
                <a:cs typeface="Arial"/>
              </a:rPr>
              <a:t>more </a:t>
            </a:r>
            <a:r>
              <a:rPr dirty="0" sz="1100" spc="-5">
                <a:latin typeface="Arial"/>
                <a:cs typeface="Arial"/>
              </a:rPr>
              <a:t>inequitable access to health care than China, Sri Lanka, and</a:t>
            </a:r>
            <a:r>
              <a:rPr dirty="0" sz="1100" spc="235">
                <a:latin typeface="Arial"/>
                <a:cs typeface="Arial"/>
              </a:rPr>
              <a:t> </a:t>
            </a:r>
            <a:r>
              <a:rPr dirty="0" sz="1100" spc="-5">
                <a:latin typeface="Arial"/>
                <a:cs typeface="Arial"/>
              </a:rPr>
              <a:t>Kerala.</a:t>
            </a:r>
            <a:endParaRPr sz="1100">
              <a:latin typeface="Arial"/>
              <a:cs typeface="Arial"/>
            </a:endParaRPr>
          </a:p>
        </p:txBody>
      </p:sp>
      <p:sp>
        <p:nvSpPr>
          <p:cNvPr id="7" name="object 7"/>
          <p:cNvSpPr/>
          <p:nvPr/>
        </p:nvSpPr>
        <p:spPr>
          <a:xfrm>
            <a:off x="4162428" y="2223135"/>
            <a:ext cx="2714988" cy="2257425"/>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118</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836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WHO compared health systems around the world, revealing great variability in the  performance of health systems at each income level. For example, Singapore was ranked 6th,  Morocco 29th, Colombia 22nd, Chile 33rd, and Costa Rica 36th—all of these developing  countries ranked higher than the United States. Clearly, much can be done with relatively  modest incomes.</a:t>
            </a:r>
            <a:endParaRPr sz="1100">
              <a:latin typeface="Arial"/>
              <a:cs typeface="Arial"/>
            </a:endParaRPr>
          </a:p>
        </p:txBody>
      </p:sp>
      <p:sp>
        <p:nvSpPr>
          <p:cNvPr id="7" name="object 7"/>
          <p:cNvSpPr txBox="1"/>
          <p:nvPr/>
        </p:nvSpPr>
        <p:spPr>
          <a:xfrm>
            <a:off x="901686" y="3901680"/>
            <a:ext cx="5969635" cy="458279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 study used five performance indicators to measure health systems in the 191 WHO  member states:</a:t>
            </a:r>
            <a:endParaRPr sz="1100">
              <a:latin typeface="Arial"/>
              <a:cs typeface="Arial"/>
            </a:endParaRPr>
          </a:p>
          <a:p>
            <a:pPr>
              <a:lnSpc>
                <a:spcPct val="100000"/>
              </a:lnSpc>
              <a:spcBef>
                <a:spcPts val="20"/>
              </a:spcBef>
            </a:pPr>
            <a:endParaRPr sz="10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The overall level of health of the</a:t>
            </a:r>
            <a:r>
              <a:rPr dirty="0" sz="1100" spc="30">
                <a:latin typeface="Arial"/>
                <a:cs typeface="Arial"/>
              </a:rPr>
              <a:t> </a:t>
            </a:r>
            <a:r>
              <a:rPr dirty="0" sz="1100" spc="-5">
                <a:latin typeface="Arial"/>
                <a:cs typeface="Arial"/>
              </a:rPr>
              <a:t>population.</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Health inequalities within the</a:t>
            </a:r>
            <a:r>
              <a:rPr dirty="0" sz="1100" spc="15">
                <a:latin typeface="Arial"/>
                <a:cs typeface="Arial"/>
              </a:rPr>
              <a:t> </a:t>
            </a:r>
            <a:r>
              <a:rPr dirty="0" sz="1100" spc="-5">
                <a:latin typeface="Arial"/>
                <a:cs typeface="Arial"/>
              </a:rPr>
              <a:t>population.</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Health-system</a:t>
            </a:r>
            <a:r>
              <a:rPr dirty="0" sz="1100">
                <a:latin typeface="Arial"/>
                <a:cs typeface="Arial"/>
              </a:rPr>
              <a:t> </a:t>
            </a:r>
            <a:r>
              <a:rPr dirty="0" sz="1100" spc="-5">
                <a:latin typeface="Arial"/>
                <a:cs typeface="Arial"/>
              </a:rPr>
              <a:t>responsiveness.</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The distribution of responsiveness within the</a:t>
            </a:r>
            <a:r>
              <a:rPr dirty="0" sz="1100" spc="30">
                <a:latin typeface="Arial"/>
                <a:cs typeface="Arial"/>
              </a:rPr>
              <a:t> </a:t>
            </a:r>
            <a:r>
              <a:rPr dirty="0" sz="1100" spc="-5">
                <a:latin typeface="Arial"/>
                <a:cs typeface="Arial"/>
              </a:rPr>
              <a:t>population.</a:t>
            </a:r>
            <a:endParaRPr sz="11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Distribution, or fairness, of the health system’s financial burden within the</a:t>
            </a:r>
            <a:r>
              <a:rPr dirty="0" sz="1100" spc="155">
                <a:latin typeface="Arial"/>
                <a:cs typeface="Arial"/>
              </a:rPr>
              <a:t> </a:t>
            </a:r>
            <a:r>
              <a:rPr dirty="0" sz="1100" spc="-5">
                <a:latin typeface="Arial"/>
                <a:cs typeface="Arial"/>
              </a:rPr>
              <a:t>population.</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The WHO concluded that “dollar for dollar spent on health, many countries are falling short of  their performance potential. The result is a large number of preventable deaths and lives  stunted by disability. The impact of this failure is born disproportionately by the </a:t>
            </a:r>
            <a:r>
              <a:rPr dirty="0" sz="1100">
                <a:latin typeface="Arial"/>
                <a:cs typeface="Arial"/>
              </a:rPr>
              <a:t>poor.” </a:t>
            </a:r>
            <a:r>
              <a:rPr dirty="0" sz="1100" spc="-5">
                <a:latin typeface="Arial"/>
                <a:cs typeface="Arial"/>
              </a:rPr>
              <a:t>At any  given income level, there was wide variation in country performance, showing that a low-income  country can achieve fairness in allocating the resources that it</a:t>
            </a:r>
            <a:r>
              <a:rPr dirty="0" sz="1100" spc="65">
                <a:latin typeface="Arial"/>
                <a:cs typeface="Arial"/>
              </a:rPr>
              <a:t> </a:t>
            </a:r>
            <a:r>
              <a:rPr dirty="0" sz="1100" spc="-5">
                <a:latin typeface="Arial"/>
                <a:cs typeface="Arial"/>
              </a:rPr>
              <a:t>has.</a:t>
            </a:r>
            <a:endParaRPr sz="1100">
              <a:latin typeface="Arial"/>
              <a:cs typeface="Arial"/>
            </a:endParaRPr>
          </a:p>
          <a:p>
            <a:pPr>
              <a:lnSpc>
                <a:spcPct val="100000"/>
              </a:lnSpc>
              <a:spcBef>
                <a:spcPts val="10"/>
              </a:spcBef>
            </a:pPr>
            <a:endParaRPr sz="1000">
              <a:latin typeface="Arial"/>
              <a:cs typeface="Arial"/>
            </a:endParaRPr>
          </a:p>
          <a:p>
            <a:pPr marL="12700">
              <a:lnSpc>
                <a:spcPct val="100000"/>
              </a:lnSpc>
            </a:pPr>
            <a:r>
              <a:rPr dirty="0" sz="1100" spc="-5" b="1">
                <a:latin typeface="Arial"/>
                <a:cs typeface="Arial"/>
              </a:rPr>
              <a:t>CONCLUSION</a:t>
            </a:r>
            <a:endParaRPr sz="1100">
              <a:latin typeface="Arial"/>
              <a:cs typeface="Arial"/>
            </a:endParaRPr>
          </a:p>
          <a:p>
            <a:pPr>
              <a:lnSpc>
                <a:spcPct val="100000"/>
              </a:lnSpc>
              <a:spcBef>
                <a:spcPts val="55"/>
              </a:spcBef>
            </a:pPr>
            <a:endParaRPr sz="1250">
              <a:latin typeface="Arial"/>
              <a:cs typeface="Arial"/>
            </a:endParaRPr>
          </a:p>
          <a:p>
            <a:pPr algn="just" marL="469900" marR="6985" indent="-228600">
              <a:lnSpc>
                <a:spcPts val="1260"/>
              </a:lnSpc>
              <a:buFont typeface="Symbol"/>
              <a:buChar char=""/>
              <a:tabLst>
                <a:tab pos="470534" algn="l"/>
              </a:tabLst>
            </a:pPr>
            <a:r>
              <a:rPr dirty="0" sz="1100" spc="-5">
                <a:latin typeface="Arial"/>
                <a:cs typeface="Arial"/>
              </a:rPr>
              <a:t>Health and education play pivotal roles in economic development, as both inputs into  production enabling higher incomes and outputs directly affecting human</a:t>
            </a:r>
            <a:r>
              <a:rPr dirty="0" sz="1100" spc="130">
                <a:latin typeface="Arial"/>
                <a:cs typeface="Arial"/>
              </a:rPr>
              <a:t> </a:t>
            </a:r>
            <a:r>
              <a:rPr dirty="0" sz="1100" spc="-5">
                <a:latin typeface="Arial"/>
                <a:cs typeface="Arial"/>
              </a:rPr>
              <a:t>well-being.</a:t>
            </a:r>
            <a:endParaRPr sz="1100">
              <a:latin typeface="Arial"/>
              <a:cs typeface="Arial"/>
            </a:endParaRPr>
          </a:p>
          <a:p>
            <a:pPr algn="just" marL="469900" marR="5080" indent="-229235">
              <a:lnSpc>
                <a:spcPts val="1260"/>
              </a:lnSpc>
              <a:spcBef>
                <a:spcPts val="80"/>
              </a:spcBef>
              <a:buFont typeface="Symbol"/>
              <a:buChar char=""/>
              <a:tabLst>
                <a:tab pos="470534" algn="l"/>
              </a:tabLst>
            </a:pPr>
            <a:r>
              <a:rPr dirty="0" sz="1100" spc="-5">
                <a:latin typeface="Arial"/>
                <a:cs typeface="Arial"/>
              </a:rPr>
              <a:t>Many health and education problems plague developing countries, ranging from child  labor to heavy disease</a:t>
            </a:r>
            <a:r>
              <a:rPr dirty="0" sz="1100" spc="15">
                <a:latin typeface="Arial"/>
                <a:cs typeface="Arial"/>
              </a:rPr>
              <a:t> </a:t>
            </a:r>
            <a:r>
              <a:rPr dirty="0" sz="1100" spc="-5">
                <a:latin typeface="Arial"/>
                <a:cs typeface="Arial"/>
              </a:rPr>
              <a:t>burdens.</a:t>
            </a:r>
            <a:endParaRPr sz="1100">
              <a:latin typeface="Arial"/>
              <a:cs typeface="Arial"/>
            </a:endParaRPr>
          </a:p>
          <a:p>
            <a:pPr algn="just" marL="469900" marR="5715" indent="-229235">
              <a:lnSpc>
                <a:spcPct val="95700"/>
              </a:lnSpc>
              <a:spcBef>
                <a:spcPts val="50"/>
              </a:spcBef>
              <a:buFont typeface="Symbol"/>
              <a:buChar char=""/>
              <a:tabLst>
                <a:tab pos="470534" algn="l"/>
              </a:tabLst>
            </a:pPr>
            <a:r>
              <a:rPr dirty="0" sz="1100" spc="-5">
                <a:latin typeface="Arial"/>
                <a:cs typeface="Arial"/>
              </a:rPr>
              <a:t>Education and health will not always automatically improve with higher incomes. And  market failures mean that too few investments in education and health will be made from  the social point of</a:t>
            </a:r>
            <a:r>
              <a:rPr dirty="0" sz="1100" spc="10">
                <a:latin typeface="Arial"/>
                <a:cs typeface="Arial"/>
              </a:rPr>
              <a:t> </a:t>
            </a:r>
            <a:r>
              <a:rPr dirty="0" sz="1100" spc="-5">
                <a:latin typeface="Arial"/>
                <a:cs typeface="Arial"/>
              </a:rPr>
              <a:t>view.</a:t>
            </a:r>
            <a:endParaRPr sz="1100">
              <a:latin typeface="Arial"/>
              <a:cs typeface="Arial"/>
            </a:endParaRPr>
          </a:p>
          <a:p>
            <a:pPr algn="just" marL="469900" marR="6985" indent="-228600">
              <a:lnSpc>
                <a:spcPct val="95800"/>
              </a:lnSpc>
              <a:spcBef>
                <a:spcPts val="80"/>
              </a:spcBef>
              <a:buFont typeface="Symbol"/>
              <a:buChar char=""/>
              <a:tabLst>
                <a:tab pos="470534" algn="l"/>
              </a:tabLst>
            </a:pPr>
            <a:r>
              <a:rPr dirty="0" sz="1100" spc="-5">
                <a:latin typeface="Arial"/>
                <a:cs typeface="Arial"/>
              </a:rPr>
              <a:t>The wrong kinds of government policies have sometimes led to distortions in the  educational system that has reinforced inequality; and inequities in health systems are  common. </a:t>
            </a:r>
            <a:r>
              <a:rPr dirty="0" sz="1100">
                <a:latin typeface="Arial"/>
                <a:cs typeface="Arial"/>
              </a:rPr>
              <a:t>Thus </a:t>
            </a:r>
            <a:r>
              <a:rPr dirty="0" sz="1100" spc="-5">
                <a:latin typeface="Arial"/>
                <a:cs typeface="Arial"/>
              </a:rPr>
              <a:t>government plays an essential role in health and education, and in most  developing countries, considerable improvements in policy are</a:t>
            </a:r>
            <a:r>
              <a:rPr dirty="0" sz="1100" spc="50">
                <a:latin typeface="Arial"/>
                <a:cs typeface="Arial"/>
              </a:rPr>
              <a:t> </a:t>
            </a:r>
            <a:r>
              <a:rPr dirty="0" sz="1100" spc="-5">
                <a:latin typeface="Arial"/>
                <a:cs typeface="Arial"/>
              </a:rPr>
              <a:t>needed.</a:t>
            </a:r>
            <a:endParaRPr sz="1100">
              <a:latin typeface="Arial"/>
              <a:cs typeface="Arial"/>
            </a:endParaRPr>
          </a:p>
        </p:txBody>
      </p:sp>
      <p:sp>
        <p:nvSpPr>
          <p:cNvPr id="8" name="object 8"/>
          <p:cNvSpPr/>
          <p:nvPr/>
        </p:nvSpPr>
        <p:spPr>
          <a:xfrm>
            <a:off x="2016251" y="2025073"/>
            <a:ext cx="3359473" cy="188745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119</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63586" y="892556"/>
            <a:ext cx="6148705" cy="7776209"/>
          </a:xfrm>
          <a:prstGeom prst="rect">
            <a:avLst/>
          </a:prstGeom>
        </p:spPr>
        <p:txBody>
          <a:bodyPr wrap="square" lIns="0" tIns="12065" rIns="0" bIns="0" rtlCol="0" vert="horz">
            <a:spAutoFit/>
          </a:bodyPr>
          <a:lstStyle/>
          <a:p>
            <a:pPr marL="50800">
              <a:lnSpc>
                <a:spcPct val="100000"/>
              </a:lnSpc>
              <a:spcBef>
                <a:spcPts val="95"/>
              </a:spcBef>
            </a:pPr>
            <a:r>
              <a:rPr dirty="0" sz="1100" spc="-5" b="1">
                <a:latin typeface="Arial"/>
                <a:cs typeface="Arial"/>
              </a:rPr>
              <a:t>CASE</a:t>
            </a:r>
            <a:r>
              <a:rPr dirty="0" sz="1100" b="1">
                <a:latin typeface="Arial"/>
                <a:cs typeface="Arial"/>
              </a:rPr>
              <a:t> </a:t>
            </a:r>
            <a:r>
              <a:rPr dirty="0" sz="1100" spc="-5" b="1">
                <a:latin typeface="Arial"/>
                <a:cs typeface="Arial"/>
              </a:rPr>
              <a:t>STUDY</a:t>
            </a:r>
            <a:endParaRPr sz="1100">
              <a:latin typeface="Arial"/>
              <a:cs typeface="Arial"/>
            </a:endParaRPr>
          </a:p>
          <a:p>
            <a:pPr>
              <a:lnSpc>
                <a:spcPct val="100000"/>
              </a:lnSpc>
              <a:spcBef>
                <a:spcPts val="5"/>
              </a:spcBef>
            </a:pPr>
            <a:endParaRPr sz="1050">
              <a:latin typeface="Arial"/>
              <a:cs typeface="Arial"/>
            </a:endParaRPr>
          </a:p>
          <a:p>
            <a:pPr marL="50800">
              <a:lnSpc>
                <a:spcPct val="100000"/>
              </a:lnSpc>
            </a:pPr>
            <a:r>
              <a:rPr dirty="0" sz="1100" spc="-5" b="1">
                <a:latin typeface="Arial"/>
                <a:cs typeface="Arial"/>
              </a:rPr>
              <a:t>PATHWAYS OUT OF POVERTY:</a:t>
            </a:r>
            <a:r>
              <a:rPr dirty="0" sz="1100" spc="35" b="1">
                <a:latin typeface="Arial"/>
                <a:cs typeface="Arial"/>
              </a:rPr>
              <a:t> </a:t>
            </a:r>
            <a:r>
              <a:rPr dirty="0" sz="1100" spc="-5" b="1">
                <a:latin typeface="Arial"/>
                <a:cs typeface="Arial"/>
              </a:rPr>
              <a:t>PROGRESA/OPORTUNIDADES</a:t>
            </a:r>
            <a:endParaRPr sz="1100">
              <a:latin typeface="Arial"/>
              <a:cs typeface="Arial"/>
            </a:endParaRPr>
          </a:p>
          <a:p>
            <a:pPr>
              <a:lnSpc>
                <a:spcPct val="100000"/>
              </a:lnSpc>
              <a:spcBef>
                <a:spcPts val="20"/>
              </a:spcBef>
            </a:pPr>
            <a:endParaRPr sz="1200">
              <a:latin typeface="Arial"/>
              <a:cs typeface="Arial"/>
            </a:endParaRPr>
          </a:p>
          <a:p>
            <a:pPr algn="just" marL="50800" marR="146685">
              <a:lnSpc>
                <a:spcPts val="1270"/>
              </a:lnSpc>
            </a:pPr>
            <a:r>
              <a:rPr dirty="0" sz="1100" spc="-5">
                <a:latin typeface="Arial"/>
                <a:cs typeface="Arial"/>
              </a:rPr>
              <a:t>The Mexican Program on Education, Health, and Nutrition is widely known by its Spanish  acronym, Progresa, though officially renamed the Oportunidades Human Development  Program(</a:t>
            </a:r>
            <a:r>
              <a:rPr dirty="0" u="sng" sz="1100" spc="-5">
                <a:solidFill>
                  <a:srgbClr val="0000FF"/>
                </a:solidFill>
                <a:uFill>
                  <a:solidFill>
                    <a:srgbClr val="0000FF"/>
                  </a:solidFill>
                </a:uFill>
                <a:latin typeface="Arial"/>
                <a:cs typeface="Arial"/>
              </a:rPr>
              <a:t>http://www.oportunidades.gob.mx</a:t>
            </a:r>
            <a:r>
              <a:rPr dirty="0" sz="1100" spc="-5">
                <a:latin typeface="Arial"/>
                <a:cs typeface="Arial"/>
              </a:rPr>
              <a:t>).</a:t>
            </a:r>
            <a:endParaRPr sz="1100">
              <a:latin typeface="Arial"/>
              <a:cs typeface="Arial"/>
            </a:endParaRPr>
          </a:p>
          <a:p>
            <a:pPr>
              <a:lnSpc>
                <a:spcPct val="100000"/>
              </a:lnSpc>
              <a:spcBef>
                <a:spcPts val="40"/>
              </a:spcBef>
            </a:pPr>
            <a:endParaRPr sz="1050">
              <a:latin typeface="Arial"/>
              <a:cs typeface="Arial"/>
            </a:endParaRPr>
          </a:p>
          <a:p>
            <a:pPr algn="just" marL="508000" indent="-228600">
              <a:lnSpc>
                <a:spcPts val="1290"/>
              </a:lnSpc>
              <a:buFont typeface="Symbol"/>
              <a:buChar char=""/>
              <a:tabLst>
                <a:tab pos="508000" algn="l"/>
              </a:tabLst>
            </a:pPr>
            <a:r>
              <a:rPr dirty="0" sz="1100" spc="-5" b="1">
                <a:latin typeface="Arial"/>
                <a:cs typeface="Arial"/>
              </a:rPr>
              <a:t>Developed by</a:t>
            </a:r>
            <a:r>
              <a:rPr dirty="0" sz="1100" spc="-5">
                <a:latin typeface="Arial"/>
                <a:cs typeface="Arial"/>
              </a:rPr>
              <a:t>: Santiago Levy (1990s) while serving as deputy minister of</a:t>
            </a:r>
            <a:r>
              <a:rPr dirty="0" sz="1100" spc="120">
                <a:latin typeface="Arial"/>
                <a:cs typeface="Arial"/>
              </a:rPr>
              <a:t> </a:t>
            </a:r>
            <a:r>
              <a:rPr dirty="0" sz="1100" spc="-5">
                <a:latin typeface="Arial"/>
                <a:cs typeface="Arial"/>
              </a:rPr>
              <a:t>finance</a:t>
            </a:r>
            <a:endParaRPr sz="1100">
              <a:latin typeface="Arial"/>
              <a:cs typeface="Arial"/>
            </a:endParaRPr>
          </a:p>
          <a:p>
            <a:pPr algn="just" marL="50800" marR="145415">
              <a:lnSpc>
                <a:spcPct val="95700"/>
              </a:lnSpc>
              <a:spcBef>
                <a:spcPts val="25"/>
              </a:spcBef>
            </a:pPr>
            <a:r>
              <a:rPr dirty="0" sz="1100" spc="-5">
                <a:latin typeface="Arial"/>
                <a:cs typeface="Arial"/>
              </a:rPr>
              <a:t>It combats child labor and poor education and health by ensuring that parents can </a:t>
            </a:r>
            <a:r>
              <a:rPr dirty="0" sz="1100" spc="-5" b="1">
                <a:latin typeface="Arial"/>
                <a:cs typeface="Arial"/>
              </a:rPr>
              <a:t>feed </a:t>
            </a:r>
            <a:r>
              <a:rPr dirty="0" sz="1100" spc="-5">
                <a:latin typeface="Arial"/>
                <a:cs typeface="Arial"/>
              </a:rPr>
              <a:t>their  children, take them to </a:t>
            </a:r>
            <a:r>
              <a:rPr dirty="0" sz="1100" spc="-5" b="1">
                <a:latin typeface="Arial"/>
                <a:cs typeface="Arial"/>
              </a:rPr>
              <a:t>health clinics</a:t>
            </a:r>
            <a:r>
              <a:rPr dirty="0" sz="1100" spc="-5">
                <a:latin typeface="Arial"/>
                <a:cs typeface="Arial"/>
              </a:rPr>
              <a:t>, and keep them in school while providing financial  incentives to do</a:t>
            </a:r>
            <a:r>
              <a:rPr dirty="0" sz="1100">
                <a:latin typeface="Arial"/>
                <a:cs typeface="Arial"/>
              </a:rPr>
              <a:t> </a:t>
            </a:r>
            <a:r>
              <a:rPr dirty="0" sz="1100" spc="-5">
                <a:latin typeface="Arial"/>
                <a:cs typeface="Arial"/>
              </a:rPr>
              <a:t>so.</a:t>
            </a:r>
            <a:endParaRPr sz="1100">
              <a:latin typeface="Arial"/>
              <a:cs typeface="Arial"/>
            </a:endParaRPr>
          </a:p>
          <a:p>
            <a:pPr>
              <a:lnSpc>
                <a:spcPct val="100000"/>
              </a:lnSpc>
              <a:spcBef>
                <a:spcPts val="30"/>
              </a:spcBef>
            </a:pPr>
            <a:endParaRPr sz="1100">
              <a:latin typeface="Arial"/>
              <a:cs typeface="Arial"/>
            </a:endParaRPr>
          </a:p>
          <a:p>
            <a:pPr algn="just" marL="50800" marR="146050">
              <a:lnSpc>
                <a:spcPts val="1270"/>
              </a:lnSpc>
              <a:spcBef>
                <a:spcPts val="5"/>
              </a:spcBef>
            </a:pPr>
            <a:r>
              <a:rPr dirty="0" sz="1100" spc="-5">
                <a:latin typeface="Arial"/>
                <a:cs typeface="Arial"/>
              </a:rPr>
              <a:t>Progresa/Oportunidades builds on the growing understanding that health, nutrition, and  education are complements in the struggle to end</a:t>
            </a:r>
            <a:r>
              <a:rPr dirty="0" sz="1100" spc="40">
                <a:latin typeface="Arial"/>
                <a:cs typeface="Arial"/>
              </a:rPr>
              <a:t> </a:t>
            </a:r>
            <a:r>
              <a:rPr dirty="0" sz="1100" spc="-5">
                <a:latin typeface="Arial"/>
                <a:cs typeface="Arial"/>
              </a:rPr>
              <a:t>poverty.</a:t>
            </a:r>
            <a:endParaRPr sz="1100">
              <a:latin typeface="Arial"/>
              <a:cs typeface="Arial"/>
            </a:endParaRPr>
          </a:p>
          <a:p>
            <a:pPr>
              <a:lnSpc>
                <a:spcPct val="100000"/>
              </a:lnSpc>
              <a:spcBef>
                <a:spcPts val="25"/>
              </a:spcBef>
            </a:pPr>
            <a:endParaRPr sz="1000">
              <a:latin typeface="Arial"/>
              <a:cs typeface="Arial"/>
            </a:endParaRPr>
          </a:p>
          <a:p>
            <a:pPr marL="50800">
              <a:lnSpc>
                <a:spcPct val="100000"/>
              </a:lnSpc>
              <a:spcBef>
                <a:spcPts val="5"/>
              </a:spcBef>
            </a:pPr>
            <a:r>
              <a:rPr dirty="0" sz="1100" spc="-5" b="1">
                <a:latin typeface="Arial"/>
                <a:cs typeface="Arial"/>
              </a:rPr>
              <a:t>HOW THE PROGRAM</a:t>
            </a:r>
            <a:r>
              <a:rPr dirty="0" sz="1100" spc="15" b="1">
                <a:latin typeface="Arial"/>
                <a:cs typeface="Arial"/>
              </a:rPr>
              <a:t> </a:t>
            </a:r>
            <a:r>
              <a:rPr dirty="0" sz="1100" spc="-5" b="1">
                <a:latin typeface="Arial"/>
                <a:cs typeface="Arial"/>
              </a:rPr>
              <a:t>OPERATES?</a:t>
            </a:r>
            <a:endParaRPr sz="1100">
              <a:latin typeface="Arial"/>
              <a:cs typeface="Arial"/>
            </a:endParaRPr>
          </a:p>
          <a:p>
            <a:pPr>
              <a:lnSpc>
                <a:spcPct val="100000"/>
              </a:lnSpc>
              <a:spcBef>
                <a:spcPts val="10"/>
              </a:spcBef>
            </a:pPr>
            <a:endParaRPr sz="1250">
              <a:latin typeface="Arial"/>
              <a:cs typeface="Arial"/>
            </a:endParaRPr>
          </a:p>
          <a:p>
            <a:pPr algn="just" marL="508000" marR="144780" indent="-228600">
              <a:lnSpc>
                <a:spcPct val="95700"/>
              </a:lnSpc>
              <a:buFont typeface="Symbol"/>
              <a:buChar char=""/>
              <a:tabLst>
                <a:tab pos="508634" algn="l"/>
              </a:tabLst>
            </a:pPr>
            <a:r>
              <a:rPr dirty="0" sz="1100" spc="-5">
                <a:latin typeface="Arial"/>
                <a:cs typeface="Arial"/>
              </a:rPr>
              <a:t>It provides cash transfers to poor families, family clinic visits, in-kind nutritional  supplements, and other health benefits for pregnant and lactating women and their  children under the age of</a:t>
            </a:r>
            <a:r>
              <a:rPr dirty="0" sz="1100" spc="15">
                <a:latin typeface="Arial"/>
                <a:cs typeface="Arial"/>
              </a:rPr>
              <a:t> </a:t>
            </a:r>
            <a:r>
              <a:rPr dirty="0" sz="1100" spc="-5">
                <a:latin typeface="Arial"/>
                <a:cs typeface="Arial"/>
              </a:rPr>
              <a:t>5.</a:t>
            </a:r>
            <a:endParaRPr sz="1100">
              <a:latin typeface="Arial"/>
              <a:cs typeface="Arial"/>
            </a:endParaRPr>
          </a:p>
          <a:p>
            <a:pPr algn="just" marL="508000" marR="146050" indent="-228600">
              <a:lnSpc>
                <a:spcPct val="95900"/>
              </a:lnSpc>
              <a:spcBef>
                <a:spcPts val="75"/>
              </a:spcBef>
              <a:buFont typeface="Symbol"/>
              <a:buChar char=""/>
              <a:tabLst>
                <a:tab pos="508634" algn="l"/>
              </a:tabLst>
            </a:pPr>
            <a:r>
              <a:rPr dirty="0" sz="1100" spc="-5">
                <a:latin typeface="Arial"/>
                <a:cs typeface="Arial"/>
              </a:rPr>
              <a:t>Some of </a:t>
            </a:r>
            <a:r>
              <a:rPr dirty="0" sz="1100">
                <a:latin typeface="Arial"/>
                <a:cs typeface="Arial"/>
              </a:rPr>
              <a:t>these </a:t>
            </a:r>
            <a:r>
              <a:rPr dirty="0" sz="1100" spc="-5">
                <a:latin typeface="Arial"/>
                <a:cs typeface="Arial"/>
              </a:rPr>
              <a:t>benefits are provided conditionally on children’s regular school and health  clinic attendance, and so programs of this kind are commonly called </a:t>
            </a:r>
            <a:r>
              <a:rPr dirty="0" sz="1100" spc="-5" b="1">
                <a:latin typeface="Arial"/>
                <a:cs typeface="Arial"/>
              </a:rPr>
              <a:t>conditional cash  transfer (CCT)</a:t>
            </a:r>
            <a:r>
              <a:rPr dirty="0" sz="1100" b="1">
                <a:latin typeface="Arial"/>
                <a:cs typeface="Arial"/>
              </a:rPr>
              <a:t> </a:t>
            </a:r>
            <a:r>
              <a:rPr dirty="0" sz="1100" spc="-5" b="1">
                <a:latin typeface="Arial"/>
                <a:cs typeface="Arial"/>
              </a:rPr>
              <a:t>programs.</a:t>
            </a:r>
            <a:endParaRPr sz="1100">
              <a:latin typeface="Arial"/>
              <a:cs typeface="Arial"/>
            </a:endParaRPr>
          </a:p>
          <a:p>
            <a:pPr algn="just" marL="508000" marR="147320" indent="-228600">
              <a:lnSpc>
                <a:spcPts val="1260"/>
              </a:lnSpc>
              <a:spcBef>
                <a:spcPts val="110"/>
              </a:spcBef>
              <a:buFont typeface="Symbol"/>
              <a:buChar char=""/>
              <a:tabLst>
                <a:tab pos="508634" algn="l"/>
              </a:tabLst>
            </a:pPr>
            <a:r>
              <a:rPr dirty="0" sz="1100" spc="-5">
                <a:latin typeface="Arial"/>
                <a:cs typeface="Arial"/>
              </a:rPr>
              <a:t>Before this program, Mexican government developed a program through which food  subsidy was given but the benefits of this program didn’t reach the very</a:t>
            </a:r>
            <a:r>
              <a:rPr dirty="0" sz="1100" spc="114">
                <a:latin typeface="Arial"/>
                <a:cs typeface="Arial"/>
              </a:rPr>
              <a:t> </a:t>
            </a:r>
            <a:r>
              <a:rPr dirty="0" sz="1100" spc="-5">
                <a:latin typeface="Arial"/>
                <a:cs typeface="Arial"/>
              </a:rPr>
              <a:t>poor.</a:t>
            </a:r>
            <a:endParaRPr sz="1100">
              <a:latin typeface="Arial"/>
              <a:cs typeface="Arial"/>
            </a:endParaRPr>
          </a:p>
          <a:p>
            <a:pPr algn="just" marL="508000" indent="-229235">
              <a:lnSpc>
                <a:spcPts val="1310"/>
              </a:lnSpc>
              <a:buFont typeface="Symbol"/>
              <a:buChar char=""/>
              <a:tabLst>
                <a:tab pos="508634" algn="l"/>
              </a:tabLst>
            </a:pPr>
            <a:r>
              <a:rPr dirty="0" sz="1100" spc="-5">
                <a:latin typeface="Arial"/>
                <a:cs typeface="Arial"/>
              </a:rPr>
              <a:t>The program covered almost 5 million rural and urban households by</a:t>
            </a:r>
            <a:r>
              <a:rPr dirty="0" sz="1100" spc="85">
                <a:latin typeface="Arial"/>
                <a:cs typeface="Arial"/>
              </a:rPr>
              <a:t> </a:t>
            </a:r>
            <a:r>
              <a:rPr dirty="0" sz="1100" spc="-5">
                <a:latin typeface="Arial"/>
                <a:cs typeface="Arial"/>
              </a:rPr>
              <a:t>2007.</a:t>
            </a:r>
            <a:endParaRPr sz="1100">
              <a:latin typeface="Arial"/>
              <a:cs typeface="Arial"/>
            </a:endParaRPr>
          </a:p>
          <a:p>
            <a:pPr algn="just" marL="508000" marR="146685" indent="-228600">
              <a:lnSpc>
                <a:spcPts val="1260"/>
              </a:lnSpc>
              <a:spcBef>
                <a:spcPts val="110"/>
              </a:spcBef>
              <a:buFont typeface="Symbol"/>
              <a:buChar char=""/>
              <a:tabLst>
                <a:tab pos="508634" algn="l"/>
              </a:tabLst>
            </a:pPr>
            <a:r>
              <a:rPr dirty="0" sz="1100" spc="-5">
                <a:latin typeface="Arial"/>
                <a:cs typeface="Arial"/>
              </a:rPr>
              <a:t>More than 21 million people benefited (1/5</a:t>
            </a:r>
            <a:r>
              <a:rPr dirty="0" baseline="39682" sz="1050" spc="-7">
                <a:latin typeface="Arial"/>
                <a:cs typeface="Arial"/>
              </a:rPr>
              <a:t>th </a:t>
            </a:r>
            <a:r>
              <a:rPr dirty="0" sz="1100" spc="-5">
                <a:latin typeface="Arial"/>
                <a:cs typeface="Arial"/>
              </a:rPr>
              <a:t>of the Mexican population—in over 75,000  localities.</a:t>
            </a:r>
            <a:endParaRPr sz="1100">
              <a:latin typeface="Arial"/>
              <a:cs typeface="Arial"/>
            </a:endParaRPr>
          </a:p>
          <a:p>
            <a:pPr algn="just" marL="508000" indent="-229235">
              <a:lnSpc>
                <a:spcPts val="1280"/>
              </a:lnSpc>
              <a:buFont typeface="Symbol"/>
              <a:buChar char=""/>
              <a:tabLst>
                <a:tab pos="508634" algn="l"/>
              </a:tabLst>
            </a:pPr>
            <a:r>
              <a:rPr dirty="0" sz="1100" spc="-5">
                <a:latin typeface="Arial"/>
                <a:cs typeface="Arial"/>
              </a:rPr>
              <a:t>In</a:t>
            </a:r>
            <a:r>
              <a:rPr dirty="0" sz="1100" spc="45">
                <a:latin typeface="Arial"/>
                <a:cs typeface="Arial"/>
              </a:rPr>
              <a:t> </a:t>
            </a:r>
            <a:r>
              <a:rPr dirty="0" sz="1100" spc="-5">
                <a:latin typeface="Arial"/>
                <a:cs typeface="Arial"/>
              </a:rPr>
              <a:t>2002,</a:t>
            </a:r>
            <a:r>
              <a:rPr dirty="0" sz="1100" spc="5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program</a:t>
            </a:r>
            <a:r>
              <a:rPr dirty="0" sz="1100" spc="50">
                <a:latin typeface="Arial"/>
                <a:cs typeface="Arial"/>
              </a:rPr>
              <a:t> </a:t>
            </a:r>
            <a:r>
              <a:rPr dirty="0" sz="1100" spc="-5">
                <a:latin typeface="Arial"/>
                <a:cs typeface="Arial"/>
              </a:rPr>
              <a:t>distributed</a:t>
            </a:r>
            <a:r>
              <a:rPr dirty="0" sz="1100" spc="45">
                <a:latin typeface="Arial"/>
                <a:cs typeface="Arial"/>
              </a:rPr>
              <a:t> </a:t>
            </a:r>
            <a:r>
              <a:rPr dirty="0" sz="1100" spc="-5">
                <a:latin typeface="Arial"/>
                <a:cs typeface="Arial"/>
              </a:rPr>
              <a:t>857</a:t>
            </a:r>
            <a:r>
              <a:rPr dirty="0" sz="1100" spc="50">
                <a:latin typeface="Arial"/>
                <a:cs typeface="Arial"/>
              </a:rPr>
              <a:t> </a:t>
            </a:r>
            <a:r>
              <a:rPr dirty="0" sz="1100" spc="-5">
                <a:latin typeface="Arial"/>
                <a:cs typeface="Arial"/>
              </a:rPr>
              <a:t>million</a:t>
            </a:r>
            <a:r>
              <a:rPr dirty="0" sz="1100" spc="45">
                <a:latin typeface="Arial"/>
                <a:cs typeface="Arial"/>
              </a:rPr>
              <a:t> </a:t>
            </a:r>
            <a:r>
              <a:rPr dirty="0" sz="1100" spc="-5">
                <a:latin typeface="Arial"/>
                <a:cs typeface="Arial"/>
              </a:rPr>
              <a:t>doses</a:t>
            </a:r>
            <a:r>
              <a:rPr dirty="0" sz="1100" spc="50">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nutrition</a:t>
            </a:r>
            <a:r>
              <a:rPr dirty="0" sz="1100" spc="50">
                <a:latin typeface="Arial"/>
                <a:cs typeface="Arial"/>
              </a:rPr>
              <a:t> </a:t>
            </a:r>
            <a:r>
              <a:rPr dirty="0" sz="1100" spc="-5">
                <a:latin typeface="Arial"/>
                <a:cs typeface="Arial"/>
              </a:rPr>
              <a:t>supplements</a:t>
            </a:r>
            <a:r>
              <a:rPr dirty="0" sz="1100" spc="45">
                <a:latin typeface="Arial"/>
                <a:cs typeface="Arial"/>
              </a:rPr>
              <a:t> </a:t>
            </a:r>
            <a:r>
              <a:rPr dirty="0" sz="1100" spc="-5">
                <a:latin typeface="Arial"/>
                <a:cs typeface="Arial"/>
              </a:rPr>
              <a:t>and</a:t>
            </a:r>
            <a:r>
              <a:rPr dirty="0" sz="1100" spc="50">
                <a:latin typeface="Arial"/>
                <a:cs typeface="Arial"/>
              </a:rPr>
              <a:t> </a:t>
            </a:r>
            <a:r>
              <a:rPr dirty="0" sz="1100" spc="-5">
                <a:latin typeface="Arial"/>
                <a:cs typeface="Arial"/>
              </a:rPr>
              <a:t>covered</a:t>
            </a:r>
            <a:endParaRPr sz="1100">
              <a:latin typeface="Arial"/>
              <a:cs typeface="Arial"/>
            </a:endParaRPr>
          </a:p>
          <a:p>
            <a:pPr algn="just" marL="508000" marR="147320">
              <a:lnSpc>
                <a:spcPts val="1270"/>
              </a:lnSpc>
              <a:spcBef>
                <a:spcPts val="55"/>
              </a:spcBef>
            </a:pPr>
            <a:r>
              <a:rPr dirty="0" sz="1100" spc="-5">
                <a:latin typeface="Arial"/>
                <a:cs typeface="Arial"/>
              </a:rPr>
              <a:t>2.4 million medical checkups. Over 4.5 million “scholarships” were provided to  schoolchildren.</a:t>
            </a:r>
            <a:endParaRPr sz="1100">
              <a:latin typeface="Arial"/>
              <a:cs typeface="Arial"/>
            </a:endParaRPr>
          </a:p>
          <a:p>
            <a:pPr algn="just" marL="508000" indent="-229235">
              <a:lnSpc>
                <a:spcPts val="1305"/>
              </a:lnSpc>
              <a:buFont typeface="Symbol"/>
              <a:buChar char=""/>
              <a:tabLst>
                <a:tab pos="508634" algn="l"/>
              </a:tabLst>
            </a:pPr>
            <a:r>
              <a:rPr dirty="0" sz="1100" spc="-5">
                <a:latin typeface="Arial"/>
                <a:cs typeface="Arial"/>
              </a:rPr>
              <a:t>Most of the people are living in extreme</a:t>
            </a:r>
            <a:r>
              <a:rPr dirty="0" sz="1100" spc="40">
                <a:latin typeface="Arial"/>
                <a:cs typeface="Arial"/>
              </a:rPr>
              <a:t> </a:t>
            </a:r>
            <a:r>
              <a:rPr dirty="0" sz="1100" spc="-5">
                <a:latin typeface="Arial"/>
                <a:cs typeface="Arial"/>
              </a:rPr>
              <a:t>poverty.</a:t>
            </a:r>
            <a:endParaRPr sz="1100">
              <a:latin typeface="Arial"/>
              <a:cs typeface="Arial"/>
            </a:endParaRPr>
          </a:p>
          <a:p>
            <a:pPr>
              <a:lnSpc>
                <a:spcPct val="100000"/>
              </a:lnSpc>
              <a:spcBef>
                <a:spcPts val="5"/>
              </a:spcBef>
              <a:buFont typeface="Symbol"/>
              <a:buChar char=""/>
            </a:pPr>
            <a:endParaRPr sz="1050">
              <a:latin typeface="Arial"/>
              <a:cs typeface="Arial"/>
            </a:endParaRPr>
          </a:p>
          <a:p>
            <a:pPr marL="50800">
              <a:lnSpc>
                <a:spcPct val="100000"/>
              </a:lnSpc>
            </a:pPr>
            <a:r>
              <a:rPr dirty="0" sz="1100" spc="-5" b="1">
                <a:latin typeface="Arial"/>
                <a:cs typeface="Arial"/>
              </a:rPr>
              <a:t>PROGRAM</a:t>
            </a:r>
            <a:r>
              <a:rPr dirty="0" sz="1100" b="1">
                <a:latin typeface="Arial"/>
                <a:cs typeface="Arial"/>
              </a:rPr>
              <a:t> </a:t>
            </a:r>
            <a:r>
              <a:rPr dirty="0" sz="1100" spc="-5" b="1">
                <a:latin typeface="Arial"/>
                <a:cs typeface="Arial"/>
              </a:rPr>
              <a:t>COMPONENTS/PATHWAYS</a:t>
            </a:r>
            <a:endParaRPr sz="1100">
              <a:latin typeface="Arial"/>
              <a:cs typeface="Arial"/>
            </a:endParaRPr>
          </a:p>
          <a:p>
            <a:pPr>
              <a:lnSpc>
                <a:spcPct val="100000"/>
              </a:lnSpc>
              <a:spcBef>
                <a:spcPts val="20"/>
              </a:spcBef>
            </a:pPr>
            <a:endParaRPr sz="1200">
              <a:latin typeface="Arial"/>
              <a:cs typeface="Arial"/>
            </a:endParaRPr>
          </a:p>
          <a:p>
            <a:pPr algn="just" marL="508000" indent="-229235">
              <a:lnSpc>
                <a:spcPct val="100000"/>
              </a:lnSpc>
              <a:buFont typeface="Symbol"/>
              <a:buChar char=""/>
              <a:tabLst>
                <a:tab pos="508634" algn="l"/>
              </a:tabLst>
            </a:pPr>
            <a:r>
              <a:rPr dirty="0" sz="1100" spc="-5">
                <a:latin typeface="Arial"/>
                <a:cs typeface="Arial"/>
              </a:rPr>
              <a:t>Cash transfers.</a:t>
            </a:r>
            <a:endParaRPr sz="1100">
              <a:latin typeface="Arial"/>
              <a:cs typeface="Arial"/>
            </a:endParaRPr>
          </a:p>
          <a:p>
            <a:pPr algn="just" marL="508000" marR="146050" indent="-228600">
              <a:lnSpc>
                <a:spcPct val="95700"/>
              </a:lnSpc>
              <a:spcBef>
                <a:spcPts val="75"/>
              </a:spcBef>
              <a:buFont typeface="Symbol"/>
              <a:buChar char=""/>
              <a:tabLst>
                <a:tab pos="508634" algn="l"/>
              </a:tabLst>
            </a:pPr>
            <a:r>
              <a:rPr dirty="0" sz="1100" spc="-5">
                <a:latin typeface="Arial"/>
                <a:cs typeface="Arial"/>
              </a:rPr>
              <a:t>Nutritional supplements given to all participating children under 2, pregnant and  breastfeeding mothers, and children between the ages of 2 and 5 who show signs of  malnutrition.</a:t>
            </a:r>
            <a:endParaRPr sz="1100">
              <a:latin typeface="Arial"/>
              <a:cs typeface="Arial"/>
            </a:endParaRPr>
          </a:p>
          <a:p>
            <a:pPr marL="508000" indent="-229235">
              <a:lnSpc>
                <a:spcPct val="100000"/>
              </a:lnSpc>
              <a:spcBef>
                <a:spcPts val="25"/>
              </a:spcBef>
              <a:buFont typeface="Symbol"/>
              <a:buChar char=""/>
              <a:tabLst>
                <a:tab pos="507365" algn="l"/>
                <a:tab pos="508634" algn="l"/>
              </a:tabLst>
            </a:pPr>
            <a:r>
              <a:rPr dirty="0" sz="1100" spc="-5">
                <a:latin typeface="Arial"/>
                <a:cs typeface="Arial"/>
              </a:rPr>
              <a:t>Growth monitoring - information about hygiene and nutrition is</a:t>
            </a:r>
            <a:r>
              <a:rPr dirty="0" sz="1100" spc="70">
                <a:latin typeface="Arial"/>
                <a:cs typeface="Arial"/>
              </a:rPr>
              <a:t> </a:t>
            </a:r>
            <a:r>
              <a:rPr dirty="0" sz="1100" spc="-5">
                <a:latin typeface="Arial"/>
                <a:cs typeface="Arial"/>
              </a:rPr>
              <a:t>taught.</a:t>
            </a:r>
            <a:endParaRPr sz="1100">
              <a:latin typeface="Arial"/>
              <a:cs typeface="Arial"/>
            </a:endParaRPr>
          </a:p>
          <a:p>
            <a:pPr marL="508000" indent="-229235">
              <a:lnSpc>
                <a:spcPct val="100000"/>
              </a:lnSpc>
              <a:spcBef>
                <a:spcPts val="15"/>
              </a:spcBef>
              <a:buFont typeface="Symbol"/>
              <a:buChar char=""/>
              <a:tabLst>
                <a:tab pos="507365" algn="l"/>
                <a:tab pos="508634" algn="l"/>
              </a:tabLst>
            </a:pPr>
            <a:r>
              <a:rPr dirty="0" sz="1100" spc="-5">
                <a:latin typeface="Arial"/>
                <a:cs typeface="Arial"/>
              </a:rPr>
              <a:t>Other preventive measures – e.g. information of nutrition and</a:t>
            </a:r>
            <a:r>
              <a:rPr dirty="0" sz="1100" spc="60">
                <a:latin typeface="Arial"/>
                <a:cs typeface="Arial"/>
              </a:rPr>
              <a:t> </a:t>
            </a:r>
            <a:r>
              <a:rPr dirty="0" sz="1100" spc="-5">
                <a:latin typeface="Arial"/>
                <a:cs typeface="Arial"/>
              </a:rPr>
              <a:t>hygiene.</a:t>
            </a:r>
            <a:endParaRPr sz="1100">
              <a:latin typeface="Arial"/>
              <a:cs typeface="Arial"/>
            </a:endParaRPr>
          </a:p>
          <a:p>
            <a:pPr marL="508000" indent="-229235">
              <a:lnSpc>
                <a:spcPct val="100000"/>
              </a:lnSpc>
              <a:spcBef>
                <a:spcPts val="20"/>
              </a:spcBef>
              <a:buFont typeface="Symbol"/>
              <a:buChar char=""/>
              <a:tabLst>
                <a:tab pos="507365" algn="l"/>
                <a:tab pos="508634" algn="l"/>
              </a:tabLst>
            </a:pPr>
            <a:r>
              <a:rPr dirty="0" sz="1100" spc="-5">
                <a:latin typeface="Arial"/>
                <a:cs typeface="Arial"/>
              </a:rPr>
              <a:t>Participating families receive school program payments every other</a:t>
            </a:r>
            <a:r>
              <a:rPr dirty="0" sz="1100" spc="55">
                <a:latin typeface="Arial"/>
                <a:cs typeface="Arial"/>
              </a:rPr>
              <a:t> </a:t>
            </a:r>
            <a:r>
              <a:rPr dirty="0" sz="1100" spc="-5">
                <a:latin typeface="Arial"/>
                <a:cs typeface="Arial"/>
              </a:rPr>
              <a:t>month.</a:t>
            </a:r>
            <a:endParaRPr sz="1100">
              <a:latin typeface="Arial"/>
              <a:cs typeface="Arial"/>
            </a:endParaRPr>
          </a:p>
          <a:p>
            <a:pPr marL="508000" indent="-229235">
              <a:lnSpc>
                <a:spcPct val="100000"/>
              </a:lnSpc>
              <a:spcBef>
                <a:spcPts val="15"/>
              </a:spcBef>
              <a:buFont typeface="Symbol"/>
              <a:buChar char=""/>
              <a:tabLst>
                <a:tab pos="507365" algn="l"/>
                <a:tab pos="508634" algn="l"/>
              </a:tabLst>
            </a:pPr>
            <a:r>
              <a:rPr dirty="0" sz="1100" spc="-5">
                <a:latin typeface="Arial"/>
                <a:cs typeface="Arial"/>
              </a:rPr>
              <a:t>Payment is generally made to the mother through a bank</a:t>
            </a:r>
            <a:r>
              <a:rPr dirty="0" sz="1100" spc="60">
                <a:latin typeface="Arial"/>
                <a:cs typeface="Arial"/>
              </a:rPr>
              <a:t> </a:t>
            </a:r>
            <a:r>
              <a:rPr dirty="0" sz="1100" spc="-5">
                <a:latin typeface="Arial"/>
                <a:cs typeface="Arial"/>
              </a:rPr>
              <a:t>card.</a:t>
            </a:r>
            <a:endParaRPr sz="1100">
              <a:latin typeface="Arial"/>
              <a:cs typeface="Arial"/>
            </a:endParaRPr>
          </a:p>
          <a:p>
            <a:pPr marL="508000" marR="146050" indent="-228600">
              <a:lnSpc>
                <a:spcPts val="1260"/>
              </a:lnSpc>
              <a:spcBef>
                <a:spcPts val="110"/>
              </a:spcBef>
              <a:buFont typeface="Symbol"/>
              <a:buChar char=""/>
              <a:tabLst>
                <a:tab pos="507365" algn="l"/>
                <a:tab pos="508634" algn="l"/>
              </a:tabLst>
            </a:pPr>
            <a:r>
              <a:rPr dirty="0" sz="1100" spc="-5">
                <a:latin typeface="Arial"/>
                <a:cs typeface="Arial"/>
              </a:rPr>
              <a:t>Program payments are conditional on children in grades three through nine attending  school regularly.</a:t>
            </a:r>
            <a:endParaRPr sz="1100">
              <a:latin typeface="Arial"/>
              <a:cs typeface="Arial"/>
            </a:endParaRPr>
          </a:p>
          <a:p>
            <a:pPr marL="508000" indent="-229235">
              <a:lnSpc>
                <a:spcPts val="1310"/>
              </a:lnSpc>
              <a:buFont typeface="Symbol"/>
              <a:buChar char=""/>
              <a:tabLst>
                <a:tab pos="507365" algn="l"/>
                <a:tab pos="508634" algn="l"/>
              </a:tabLst>
            </a:pPr>
            <a:r>
              <a:rPr dirty="0" sz="1100" spc="-5">
                <a:latin typeface="Arial"/>
                <a:cs typeface="Arial"/>
              </a:rPr>
              <a:t>Payments increased over time and due to</a:t>
            </a:r>
            <a:r>
              <a:rPr dirty="0" sz="1100" spc="35">
                <a:latin typeface="Arial"/>
                <a:cs typeface="Arial"/>
              </a:rPr>
              <a:t> </a:t>
            </a:r>
            <a:r>
              <a:rPr dirty="0" sz="1100" spc="-5">
                <a:latin typeface="Arial"/>
                <a:cs typeface="Arial"/>
              </a:rPr>
              <a:t>gender.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120</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69000" cy="7484745"/>
          </a:xfrm>
          <a:prstGeom prst="rect">
            <a:avLst/>
          </a:prstGeom>
        </p:spPr>
        <p:txBody>
          <a:bodyPr wrap="square" lIns="0" tIns="19685" rIns="0" bIns="0" rtlCol="0" vert="horz">
            <a:spAutoFit/>
          </a:bodyPr>
          <a:lstStyle/>
          <a:p>
            <a:pPr algn="just" marL="469900" marR="5715" indent="-229235">
              <a:lnSpc>
                <a:spcPct val="95700"/>
              </a:lnSpc>
              <a:spcBef>
                <a:spcPts val="155"/>
              </a:spcBef>
              <a:buFont typeface="Symbol"/>
              <a:buChar char=""/>
              <a:tabLst>
                <a:tab pos="470534" algn="l"/>
              </a:tabLst>
            </a:pPr>
            <a:r>
              <a:rPr dirty="0" sz="1100" spc="-5">
                <a:latin typeface="Arial"/>
                <a:cs typeface="Arial"/>
              </a:rPr>
              <a:t>It was estimated that the average </a:t>
            </a:r>
            <a:r>
              <a:rPr dirty="0" sz="1100">
                <a:latin typeface="Arial"/>
                <a:cs typeface="Arial"/>
              </a:rPr>
              <a:t>family </a:t>
            </a:r>
            <a:r>
              <a:rPr dirty="0" sz="1100" spc="-5">
                <a:latin typeface="Arial"/>
                <a:cs typeface="Arial"/>
              </a:rPr>
              <a:t>participating in the program receives about $35  per month in combined cash and in-kind transfers, which is about 25% of average poor  rural family income without the</a:t>
            </a:r>
            <a:r>
              <a:rPr dirty="0" sz="1100" spc="20">
                <a:latin typeface="Arial"/>
                <a:cs typeface="Arial"/>
              </a:rPr>
              <a:t> </a:t>
            </a:r>
            <a:r>
              <a:rPr dirty="0" sz="1100" spc="-5">
                <a:latin typeface="Arial"/>
                <a:cs typeface="Arial"/>
              </a:rPr>
              <a:t>program.</a:t>
            </a:r>
            <a:endParaRPr sz="1100">
              <a:latin typeface="Arial"/>
              <a:cs typeface="Arial"/>
            </a:endParaRPr>
          </a:p>
          <a:p>
            <a:pPr algn="just" marL="469900" marR="6350" indent="-228600">
              <a:lnSpc>
                <a:spcPts val="1260"/>
              </a:lnSpc>
              <a:spcBef>
                <a:spcPts val="114"/>
              </a:spcBef>
              <a:buFont typeface="Symbol"/>
              <a:buChar char=""/>
              <a:tabLst>
                <a:tab pos="470534" algn="l"/>
              </a:tabLst>
            </a:pPr>
            <a:r>
              <a:rPr dirty="0" sz="1100" spc="-5">
                <a:latin typeface="Arial"/>
                <a:cs typeface="Arial"/>
              </a:rPr>
              <a:t>Evidence shows that Progresa/Oportunidades has a larger impact on enrollment and  performance per dollar spent than building new</a:t>
            </a:r>
            <a:r>
              <a:rPr dirty="0" sz="1100" spc="30">
                <a:latin typeface="Arial"/>
                <a:cs typeface="Arial"/>
              </a:rPr>
              <a:t> </a:t>
            </a:r>
            <a:r>
              <a:rPr dirty="0" sz="1100" spc="-5">
                <a:latin typeface="Arial"/>
                <a:cs typeface="Arial"/>
              </a:rPr>
              <a:t>schools.</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TOTAL EXPENDITURE</a:t>
            </a:r>
            <a:endParaRPr sz="1100">
              <a:latin typeface="Arial"/>
              <a:cs typeface="Arial"/>
            </a:endParaRPr>
          </a:p>
          <a:p>
            <a:pPr>
              <a:lnSpc>
                <a:spcPct val="100000"/>
              </a:lnSpc>
              <a:spcBef>
                <a:spcPts val="40"/>
              </a:spcBef>
            </a:pPr>
            <a:endParaRPr sz="1250">
              <a:latin typeface="Arial"/>
              <a:cs typeface="Arial"/>
            </a:endParaRPr>
          </a:p>
          <a:p>
            <a:pPr algn="just" marL="469900" marR="5080" indent="-228600">
              <a:lnSpc>
                <a:spcPts val="1270"/>
              </a:lnSpc>
              <a:buFont typeface="Symbol"/>
              <a:buChar char=""/>
              <a:tabLst>
                <a:tab pos="470534" algn="l"/>
              </a:tabLst>
            </a:pPr>
            <a:r>
              <a:rPr dirty="0" sz="1100" spc="-5">
                <a:latin typeface="Arial"/>
                <a:cs typeface="Arial"/>
              </a:rPr>
              <a:t>Total expenditure of Progresa/Oportunidades program in 2005 was about $2.8 billion—  less than 0.4% of gross national</a:t>
            </a:r>
            <a:r>
              <a:rPr dirty="0" sz="1100" spc="20">
                <a:latin typeface="Arial"/>
                <a:cs typeface="Arial"/>
              </a:rPr>
              <a:t> </a:t>
            </a:r>
            <a:r>
              <a:rPr dirty="0" sz="1100" spc="-5">
                <a:latin typeface="Arial"/>
                <a:cs typeface="Arial"/>
              </a:rPr>
              <a:t>income.</a:t>
            </a:r>
            <a:endParaRPr sz="1100">
              <a:latin typeface="Arial"/>
              <a:cs typeface="Arial"/>
            </a:endParaRPr>
          </a:p>
          <a:p>
            <a:pPr algn="just" marL="469900" marR="6350" indent="-228600">
              <a:lnSpc>
                <a:spcPts val="1270"/>
              </a:lnSpc>
              <a:spcBef>
                <a:spcPts val="65"/>
              </a:spcBef>
              <a:buFont typeface="Symbol"/>
              <a:buChar char=""/>
              <a:tabLst>
                <a:tab pos="470534" algn="l"/>
              </a:tabLst>
            </a:pPr>
            <a:r>
              <a:rPr dirty="0" sz="1100" spc="-5">
                <a:latin typeface="Arial"/>
                <a:cs typeface="Arial"/>
              </a:rPr>
              <a:t>Oportunidades is also organizationally efficient, with operating expenses of only about  6% of total</a:t>
            </a:r>
            <a:r>
              <a:rPr dirty="0" sz="1100" spc="5">
                <a:latin typeface="Arial"/>
                <a:cs typeface="Arial"/>
              </a:rPr>
              <a:t> </a:t>
            </a:r>
            <a:r>
              <a:rPr dirty="0" sz="1100" spc="-5">
                <a:latin typeface="Arial"/>
                <a:cs typeface="Arial"/>
              </a:rPr>
              <a:t>outlays.</a:t>
            </a:r>
            <a:endParaRPr sz="1100">
              <a:latin typeface="Arial"/>
              <a:cs typeface="Arial"/>
            </a:endParaRPr>
          </a:p>
          <a:p>
            <a:pPr>
              <a:lnSpc>
                <a:spcPct val="100000"/>
              </a:lnSpc>
              <a:spcBef>
                <a:spcPts val="20"/>
              </a:spcBef>
              <a:buFont typeface="Symbol"/>
              <a:buChar char=""/>
            </a:pPr>
            <a:endParaRPr sz="1000">
              <a:latin typeface="Arial"/>
              <a:cs typeface="Arial"/>
            </a:endParaRPr>
          </a:p>
          <a:p>
            <a:pPr marL="12700">
              <a:lnSpc>
                <a:spcPct val="100000"/>
              </a:lnSpc>
            </a:pPr>
            <a:r>
              <a:rPr dirty="0" sz="1100" spc="-5" b="1">
                <a:latin typeface="Arial"/>
                <a:cs typeface="Arial"/>
              </a:rPr>
              <a:t>EXPENDITURE BREAK-UP</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82% goes to the direct cash</a:t>
            </a:r>
            <a:r>
              <a:rPr dirty="0" sz="1100" spc="20">
                <a:latin typeface="Arial"/>
                <a:cs typeface="Arial"/>
              </a:rPr>
              <a:t> </a:t>
            </a:r>
            <a:r>
              <a:rPr dirty="0" sz="1100" spc="-5">
                <a:latin typeface="Arial"/>
                <a:cs typeface="Arial"/>
              </a:rPr>
              <a:t>transfers.</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12% goes to nutritional supplements and other in-kind</a:t>
            </a:r>
            <a:r>
              <a:rPr dirty="0" sz="1100" spc="40">
                <a:latin typeface="Arial"/>
                <a:cs typeface="Arial"/>
              </a:rPr>
              <a:t> </a:t>
            </a:r>
            <a:r>
              <a:rPr dirty="0" sz="1100" spc="-5">
                <a:latin typeface="Arial"/>
                <a:cs typeface="Arial"/>
              </a:rPr>
              <a:t>transfers.</a:t>
            </a:r>
            <a:endParaRPr sz="1100">
              <a:latin typeface="Arial"/>
              <a:cs typeface="Arial"/>
            </a:endParaRPr>
          </a:p>
          <a:p>
            <a:pPr marL="469900" marR="5080" indent="-228600">
              <a:lnSpc>
                <a:spcPts val="1260"/>
              </a:lnSpc>
              <a:spcBef>
                <a:spcPts val="110"/>
              </a:spcBef>
              <a:buFont typeface="Symbol"/>
              <a:buChar char=""/>
              <a:tabLst>
                <a:tab pos="469265" algn="l"/>
                <a:tab pos="470534" algn="l"/>
              </a:tabLst>
            </a:pPr>
            <a:r>
              <a:rPr dirty="0" sz="1100" spc="-5">
                <a:latin typeface="Arial"/>
                <a:cs typeface="Arial"/>
              </a:rPr>
              <a:t>Additional costs for provision of health care and schooling are borne by the Mexican  health and education</a:t>
            </a:r>
            <a:r>
              <a:rPr dirty="0" sz="1100" spc="10">
                <a:latin typeface="Arial"/>
                <a:cs typeface="Arial"/>
              </a:rPr>
              <a:t> </a:t>
            </a:r>
            <a:r>
              <a:rPr dirty="0" sz="1100" spc="-5">
                <a:latin typeface="Arial"/>
                <a:cs typeface="Arial"/>
              </a:rPr>
              <a:t>ministries.</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EFFECTIVENESS OF THE</a:t>
            </a:r>
            <a:r>
              <a:rPr dirty="0" sz="1100" spc="10" b="1">
                <a:latin typeface="Arial"/>
                <a:cs typeface="Arial"/>
              </a:rPr>
              <a:t> </a:t>
            </a:r>
            <a:r>
              <a:rPr dirty="0" sz="1100" spc="-5" b="1">
                <a:latin typeface="Arial"/>
                <a:cs typeface="Arial"/>
              </a:rPr>
              <a:t>PROGRAM</a:t>
            </a:r>
            <a:endParaRPr sz="1100">
              <a:latin typeface="Arial"/>
              <a:cs typeface="Arial"/>
            </a:endParaRPr>
          </a:p>
          <a:p>
            <a:pPr>
              <a:lnSpc>
                <a:spcPct val="100000"/>
              </a:lnSpc>
              <a:spcBef>
                <a:spcPts val="25"/>
              </a:spcBef>
            </a:pPr>
            <a:endParaRPr sz="1200">
              <a:latin typeface="Arial"/>
              <a:cs typeface="Arial"/>
            </a:endParaRPr>
          </a:p>
          <a:p>
            <a:pPr marL="12700" marR="5080">
              <a:lnSpc>
                <a:spcPts val="1270"/>
              </a:lnSpc>
            </a:pPr>
            <a:r>
              <a:rPr dirty="0" sz="1100" spc="-5">
                <a:latin typeface="Arial"/>
                <a:cs typeface="Arial"/>
              </a:rPr>
              <a:t>Washington-based International Food Policy Research Institute (IFPRI), with </a:t>
            </a:r>
            <a:r>
              <a:rPr dirty="0" sz="1100">
                <a:latin typeface="Arial"/>
                <a:cs typeface="Arial"/>
              </a:rPr>
              <a:t>many </a:t>
            </a:r>
            <a:r>
              <a:rPr dirty="0" sz="1100" spc="-5">
                <a:latin typeface="Arial"/>
                <a:cs typeface="Arial"/>
              </a:rPr>
              <a:t>affiliated  researchers, has intensively studied the</a:t>
            </a:r>
            <a:r>
              <a:rPr dirty="0" sz="1100" spc="15">
                <a:latin typeface="Arial"/>
                <a:cs typeface="Arial"/>
              </a:rPr>
              <a:t> </a:t>
            </a:r>
            <a:r>
              <a:rPr dirty="0" sz="1100" spc="-5">
                <a:latin typeface="Arial"/>
                <a:cs typeface="Arial"/>
              </a:rPr>
              <a:t>program.</a:t>
            </a:r>
            <a:endParaRPr sz="1100">
              <a:latin typeface="Arial"/>
              <a:cs typeface="Arial"/>
            </a:endParaRPr>
          </a:p>
          <a:p>
            <a:pPr>
              <a:lnSpc>
                <a:spcPct val="100000"/>
              </a:lnSpc>
              <a:spcBef>
                <a:spcPts val="20"/>
              </a:spcBef>
            </a:pPr>
            <a:endParaRPr sz="1000">
              <a:latin typeface="Arial"/>
              <a:cs typeface="Arial"/>
            </a:endParaRPr>
          </a:p>
          <a:p>
            <a:pPr marL="12700">
              <a:lnSpc>
                <a:spcPct val="100000"/>
              </a:lnSpc>
              <a:spcBef>
                <a:spcPts val="5"/>
              </a:spcBef>
            </a:pPr>
            <a:r>
              <a:rPr dirty="0" sz="1100" spc="-5" b="1">
                <a:latin typeface="Arial"/>
                <a:cs typeface="Arial"/>
              </a:rPr>
              <a:t>FINDINGS</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Large improvements in the well-being of participants were</a:t>
            </a:r>
            <a:r>
              <a:rPr dirty="0" sz="1100" spc="55">
                <a:latin typeface="Arial"/>
                <a:cs typeface="Arial"/>
              </a:rPr>
              <a:t> </a:t>
            </a:r>
            <a:r>
              <a:rPr dirty="0" sz="1100" spc="-5">
                <a:latin typeface="Arial"/>
                <a:cs typeface="Arial"/>
              </a:rPr>
              <a:t>achieved.</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Malnutrition has measurably</a:t>
            </a:r>
            <a:r>
              <a:rPr dirty="0" sz="1100" spc="10">
                <a:latin typeface="Arial"/>
                <a:cs typeface="Arial"/>
              </a:rPr>
              <a:t> </a:t>
            </a:r>
            <a:r>
              <a:rPr dirty="0" sz="1100" spc="-5">
                <a:latin typeface="Arial"/>
                <a:cs typeface="Arial"/>
              </a:rPr>
              <a:t>declined.</a:t>
            </a:r>
            <a:endParaRPr sz="1100">
              <a:latin typeface="Arial"/>
              <a:cs typeface="Arial"/>
            </a:endParaRPr>
          </a:p>
          <a:p>
            <a:pPr marL="469900" marR="5715" indent="-228600">
              <a:lnSpc>
                <a:spcPts val="1270"/>
              </a:lnSpc>
              <a:spcBef>
                <a:spcPts val="100"/>
              </a:spcBef>
              <a:buFont typeface="Symbol"/>
              <a:buChar char=""/>
              <a:tabLst>
                <a:tab pos="469265" algn="l"/>
                <a:tab pos="470534" algn="l"/>
              </a:tabLst>
            </a:pPr>
            <a:r>
              <a:rPr dirty="0" sz="1100" spc="-5">
                <a:latin typeface="Arial"/>
                <a:cs typeface="Arial"/>
              </a:rPr>
              <a:t>Family use of health care, including prenatal care, has increased, and child health  indicators have improved.</a:t>
            </a:r>
            <a:endParaRPr sz="1100">
              <a:latin typeface="Arial"/>
              <a:cs typeface="Arial"/>
            </a:endParaRPr>
          </a:p>
          <a:p>
            <a:pPr marL="469900" indent="-229235">
              <a:lnSpc>
                <a:spcPts val="1300"/>
              </a:lnSpc>
              <a:buFont typeface="Symbol"/>
              <a:buChar char=""/>
              <a:tabLst>
                <a:tab pos="469265" algn="l"/>
                <a:tab pos="470534" algn="l"/>
              </a:tabLst>
            </a:pPr>
            <a:r>
              <a:rPr dirty="0" sz="1100" spc="-5">
                <a:latin typeface="Arial"/>
                <a:cs typeface="Arial"/>
              </a:rPr>
              <a:t>School attendance is up</a:t>
            </a:r>
            <a:r>
              <a:rPr dirty="0" sz="1100" spc="10">
                <a:latin typeface="Arial"/>
                <a:cs typeface="Arial"/>
              </a:rPr>
              <a:t> </a:t>
            </a:r>
            <a:r>
              <a:rPr dirty="0" sz="1100" spc="-5">
                <a:latin typeface="Arial"/>
                <a:cs typeface="Arial"/>
              </a:rPr>
              <a:t>significantly.</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The dropout rate has declined substantially, particularly in grades six through</a:t>
            </a:r>
            <a:r>
              <a:rPr dirty="0" sz="1100" spc="125">
                <a:latin typeface="Arial"/>
                <a:cs typeface="Arial"/>
              </a:rPr>
              <a:t> </a:t>
            </a:r>
            <a:r>
              <a:rPr dirty="0" sz="1100" spc="-5">
                <a:latin typeface="Arial"/>
                <a:cs typeface="Arial"/>
              </a:rPr>
              <a:t>nine.</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number of students who stay in the school increased by</a:t>
            </a:r>
            <a:r>
              <a:rPr dirty="0" sz="1100" spc="60">
                <a:latin typeface="Arial"/>
                <a:cs typeface="Arial"/>
              </a:rPr>
              <a:t> </a:t>
            </a:r>
            <a:r>
              <a:rPr dirty="0" sz="1100" spc="-5">
                <a:latin typeface="Arial"/>
                <a:cs typeface="Arial"/>
              </a:rPr>
              <a:t>20%.</a:t>
            </a:r>
            <a:endParaRPr sz="1100">
              <a:latin typeface="Arial"/>
              <a:cs typeface="Arial"/>
            </a:endParaRPr>
          </a:p>
          <a:p>
            <a:pPr marL="469900" marR="5080" indent="-228600">
              <a:lnSpc>
                <a:spcPts val="1260"/>
              </a:lnSpc>
              <a:spcBef>
                <a:spcPts val="110"/>
              </a:spcBef>
              <a:buFont typeface="Symbol"/>
              <a:buChar char=""/>
              <a:tabLst>
                <a:tab pos="469265" algn="l"/>
                <a:tab pos="470534" algn="l"/>
              </a:tabLst>
            </a:pPr>
            <a:r>
              <a:rPr dirty="0" sz="1100" spc="-5">
                <a:latin typeface="Arial"/>
                <a:cs typeface="Arial"/>
              </a:rPr>
              <a:t>Child labor decreased by about 15%. The results also indicate that no work reduction  has occurred.</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POPULARITY</a:t>
            </a:r>
            <a:endParaRPr sz="1100">
              <a:latin typeface="Arial"/>
              <a:cs typeface="Arial"/>
            </a:endParaRPr>
          </a:p>
          <a:p>
            <a:pPr>
              <a:lnSpc>
                <a:spcPct val="100000"/>
              </a:lnSpc>
              <a:spcBef>
                <a:spcPts val="15"/>
              </a:spcBef>
            </a:pPr>
            <a:endParaRPr sz="12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By 2010, Progresa had been replicated in whole or in part in 29</a:t>
            </a:r>
            <a:r>
              <a:rPr dirty="0" sz="1100" spc="90">
                <a:latin typeface="Arial"/>
                <a:cs typeface="Arial"/>
              </a:rPr>
              <a:t> </a:t>
            </a:r>
            <a:r>
              <a:rPr dirty="0" sz="1100" spc="-5">
                <a:latin typeface="Arial"/>
                <a:cs typeface="Arial"/>
              </a:rPr>
              <a:t>countries.</a:t>
            </a:r>
            <a:endParaRPr sz="1100">
              <a:latin typeface="Arial"/>
              <a:cs typeface="Arial"/>
            </a:endParaRPr>
          </a:p>
          <a:p>
            <a:pPr algn="just" marL="469900" marR="5715" indent="-228600">
              <a:lnSpc>
                <a:spcPct val="95700"/>
              </a:lnSpc>
              <a:spcBef>
                <a:spcPts val="75"/>
              </a:spcBef>
              <a:buFont typeface="Symbol"/>
              <a:buChar char=""/>
              <a:tabLst>
                <a:tab pos="470534" algn="l"/>
              </a:tabLst>
            </a:pPr>
            <a:r>
              <a:rPr dirty="0" sz="1100" spc="-5">
                <a:latin typeface="Arial"/>
                <a:cs typeface="Arial"/>
              </a:rPr>
              <a:t>In Mexico, the broader package includes development of infrastructure so the poor can  get their products to market and get access to safe water </a:t>
            </a:r>
            <a:r>
              <a:rPr dirty="0" sz="1100">
                <a:latin typeface="Arial"/>
                <a:cs typeface="Arial"/>
              </a:rPr>
              <a:t>and </a:t>
            </a:r>
            <a:r>
              <a:rPr dirty="0" sz="1100" spc="-5">
                <a:latin typeface="Arial"/>
                <a:cs typeface="Arial"/>
              </a:rPr>
              <a:t>electricity. It also includes  integrated rural development</a:t>
            </a:r>
            <a:r>
              <a:rPr dirty="0" sz="1100" spc="10">
                <a:latin typeface="Arial"/>
                <a:cs typeface="Arial"/>
              </a:rPr>
              <a:t> </a:t>
            </a:r>
            <a:r>
              <a:rPr dirty="0" sz="1100" spc="-5">
                <a:latin typeface="Arial"/>
                <a:cs typeface="Arial"/>
              </a:rPr>
              <a:t>programs.</a:t>
            </a:r>
            <a:endParaRPr sz="1100">
              <a:latin typeface="Arial"/>
              <a:cs typeface="Arial"/>
            </a:endParaRPr>
          </a:p>
          <a:p>
            <a:pPr algn="just" marL="469900" marR="6350" indent="-228600">
              <a:lnSpc>
                <a:spcPts val="1260"/>
              </a:lnSpc>
              <a:spcBef>
                <a:spcPts val="120"/>
              </a:spcBef>
              <a:buFont typeface="Symbol"/>
              <a:buChar char=""/>
              <a:tabLst>
                <a:tab pos="470534" algn="l"/>
              </a:tabLst>
            </a:pPr>
            <a:r>
              <a:rPr dirty="0" sz="1100" spc="-5">
                <a:latin typeface="Arial"/>
                <a:cs typeface="Arial"/>
              </a:rPr>
              <a:t>Progresa/Oportunidades thus offers a model for providing health and educational  progress for poor families and opportunities for their permanent escape from</a:t>
            </a:r>
            <a:r>
              <a:rPr dirty="0" sz="1100" spc="155">
                <a:latin typeface="Arial"/>
                <a:cs typeface="Arial"/>
              </a:rPr>
              <a:t> </a:t>
            </a:r>
            <a:r>
              <a:rPr dirty="0" sz="1100" spc="-5">
                <a:latin typeface="Arial"/>
                <a:cs typeface="Arial"/>
              </a:rPr>
              <a:t>poverty.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121</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3370326"/>
            <a:ext cx="590550" cy="177546"/>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4866132" y="3707891"/>
            <a:ext cx="952500" cy="238506"/>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6390894" y="3744467"/>
            <a:ext cx="467105" cy="158496"/>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6521957" y="5103876"/>
            <a:ext cx="190500" cy="144017"/>
          </a:xfrm>
          <a:prstGeom prst="rect">
            <a:avLst/>
          </a:prstGeom>
          <a:blipFill>
            <a:blip r:embed="rId5" cstate="print"/>
            <a:stretch>
              <a:fillRect/>
            </a:stretch>
          </a:blipFill>
        </p:spPr>
        <p:txBody>
          <a:bodyPr wrap="square" lIns="0" tIns="0" rIns="0" bIns="0" rtlCol="0"/>
          <a:lstStyle/>
          <a:p/>
        </p:txBody>
      </p:sp>
      <p:grpSp>
        <p:nvGrpSpPr>
          <p:cNvPr id="10" name="object 10"/>
          <p:cNvGrpSpPr/>
          <p:nvPr/>
        </p:nvGrpSpPr>
        <p:grpSpPr>
          <a:xfrm>
            <a:off x="2605277" y="5468111"/>
            <a:ext cx="109220" cy="158750"/>
            <a:chOff x="2605277" y="5468111"/>
            <a:chExt cx="109220" cy="158750"/>
          </a:xfrm>
        </p:grpSpPr>
        <p:sp>
          <p:nvSpPr>
            <p:cNvPr id="11" name="object 11"/>
            <p:cNvSpPr/>
            <p:nvPr/>
          </p:nvSpPr>
          <p:spPr>
            <a:xfrm>
              <a:off x="2605277" y="5468111"/>
              <a:ext cx="108966" cy="128777"/>
            </a:xfrm>
            <a:prstGeom prst="rect">
              <a:avLst/>
            </a:prstGeom>
            <a:blipFill>
              <a:blip r:embed="rId6" cstate="print"/>
              <a:stretch>
                <a:fillRect/>
              </a:stretch>
            </a:blipFill>
          </p:spPr>
          <p:txBody>
            <a:bodyPr wrap="square" lIns="0" tIns="0" rIns="0" bIns="0" rtlCol="0"/>
            <a:lstStyle/>
            <a:p/>
          </p:txBody>
        </p:sp>
        <p:sp>
          <p:nvSpPr>
            <p:cNvPr id="12" name="object 12"/>
            <p:cNvSpPr/>
            <p:nvPr/>
          </p:nvSpPr>
          <p:spPr>
            <a:xfrm>
              <a:off x="2654807" y="5586983"/>
              <a:ext cx="49530" cy="39624"/>
            </a:xfrm>
            <a:prstGeom prst="rect">
              <a:avLst/>
            </a:prstGeom>
            <a:blipFill>
              <a:blip r:embed="rId7" cstate="print"/>
              <a:stretch>
                <a:fillRect/>
              </a:stretch>
            </a:blipFill>
          </p:spPr>
          <p:txBody>
            <a:bodyPr wrap="square" lIns="0" tIns="0" rIns="0" bIns="0" rtlCol="0"/>
            <a:lstStyle/>
            <a:p/>
          </p:txBody>
        </p:sp>
      </p:grpSp>
      <p:sp>
        <p:nvSpPr>
          <p:cNvPr id="13" name="object 13"/>
          <p:cNvSpPr/>
          <p:nvPr/>
        </p:nvSpPr>
        <p:spPr>
          <a:xfrm>
            <a:off x="914400" y="5641847"/>
            <a:ext cx="638556" cy="184404"/>
          </a:xfrm>
          <a:prstGeom prst="rect">
            <a:avLst/>
          </a:prstGeom>
          <a:blipFill>
            <a:blip r:embed="rId8" cstate="print"/>
            <a:stretch>
              <a:fillRect/>
            </a:stretch>
          </a:blipFill>
        </p:spPr>
        <p:txBody>
          <a:bodyPr wrap="square" lIns="0" tIns="0" rIns="0" bIns="0" rtlCol="0"/>
          <a:lstStyle/>
          <a:p/>
        </p:txBody>
      </p:sp>
      <p:sp>
        <p:nvSpPr>
          <p:cNvPr id="14" name="object 14"/>
          <p:cNvSpPr/>
          <p:nvPr/>
        </p:nvSpPr>
        <p:spPr>
          <a:xfrm>
            <a:off x="1426463" y="6062471"/>
            <a:ext cx="118872" cy="99060"/>
          </a:xfrm>
          <a:prstGeom prst="rect">
            <a:avLst/>
          </a:prstGeom>
          <a:blipFill>
            <a:blip r:embed="rId9" cstate="print"/>
            <a:stretch>
              <a:fillRect/>
            </a:stretch>
          </a:blipFill>
        </p:spPr>
        <p:txBody>
          <a:bodyPr wrap="square" lIns="0" tIns="0" rIns="0" bIns="0" rtlCol="0"/>
          <a:lstStyle/>
          <a:p/>
        </p:txBody>
      </p:sp>
      <p:sp>
        <p:nvSpPr>
          <p:cNvPr id="15" name="object 15"/>
          <p:cNvSpPr/>
          <p:nvPr/>
        </p:nvSpPr>
        <p:spPr>
          <a:xfrm>
            <a:off x="914400" y="6665976"/>
            <a:ext cx="514350" cy="185166"/>
          </a:xfrm>
          <a:prstGeom prst="rect">
            <a:avLst/>
          </a:prstGeom>
          <a:blipFill>
            <a:blip r:embed="rId10" cstate="print"/>
            <a:stretch>
              <a:fillRect/>
            </a:stretch>
          </a:blipFill>
        </p:spPr>
        <p:txBody>
          <a:bodyPr wrap="square" lIns="0" tIns="0" rIns="0" bIns="0" rtlCol="0"/>
          <a:lstStyle/>
          <a:p/>
        </p:txBody>
      </p:sp>
      <p:sp>
        <p:nvSpPr>
          <p:cNvPr id="16" name="object 16"/>
          <p:cNvSpPr txBox="1"/>
          <p:nvPr/>
        </p:nvSpPr>
        <p:spPr>
          <a:xfrm>
            <a:off x="762000" y="891794"/>
            <a:ext cx="6236335" cy="6290310"/>
          </a:xfrm>
          <a:prstGeom prst="rect">
            <a:avLst/>
          </a:prstGeom>
        </p:spPr>
        <p:txBody>
          <a:bodyPr wrap="square" lIns="0" tIns="12065" rIns="0" bIns="0" rtlCol="0" vert="horz">
            <a:spAutoFit/>
          </a:bodyPr>
          <a:lstStyle/>
          <a:p>
            <a:pPr algn="r" marR="132080">
              <a:lnSpc>
                <a:spcPts val="1295"/>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18</a:t>
            </a:r>
            <a:endParaRPr sz="1100">
              <a:latin typeface="Arial"/>
              <a:cs typeface="Arial"/>
            </a:endParaRPr>
          </a:p>
          <a:p>
            <a:pPr algn="ctr" marL="10795">
              <a:lnSpc>
                <a:spcPts val="1295"/>
              </a:lnSpc>
            </a:pPr>
            <a:r>
              <a:rPr dirty="0" sz="1100" spc="-5" b="1">
                <a:latin typeface="Arial"/>
                <a:cs typeface="Arial"/>
              </a:rPr>
              <a:t>EXOGENOUS </a:t>
            </a:r>
            <a:r>
              <a:rPr dirty="0" sz="1100" b="1">
                <a:latin typeface="Arial"/>
                <a:cs typeface="Arial"/>
              </a:rPr>
              <a:t>AND </a:t>
            </a:r>
            <a:r>
              <a:rPr dirty="0" sz="1100" spc="-5" b="1">
                <a:latin typeface="Arial"/>
                <a:cs typeface="Arial"/>
              </a:rPr>
              <a:t>ENDOGENOUS GROWTH</a:t>
            </a:r>
            <a:r>
              <a:rPr dirty="0" sz="1100" spc="15" b="1">
                <a:latin typeface="Arial"/>
                <a:cs typeface="Arial"/>
              </a:rPr>
              <a:t> </a:t>
            </a:r>
            <a:r>
              <a:rPr dirty="0" sz="1100" spc="-5" b="1">
                <a:latin typeface="Arial"/>
                <a:cs typeface="Arial"/>
              </a:rPr>
              <a:t>THEORY</a:t>
            </a:r>
            <a:endParaRPr sz="1100">
              <a:latin typeface="Arial"/>
              <a:cs typeface="Arial"/>
            </a:endParaRPr>
          </a:p>
          <a:p>
            <a:pPr>
              <a:lnSpc>
                <a:spcPct val="100000"/>
              </a:lnSpc>
              <a:spcBef>
                <a:spcPts val="20"/>
              </a:spcBef>
            </a:pPr>
            <a:endParaRPr sz="1100">
              <a:latin typeface="Arial"/>
              <a:cs typeface="Arial"/>
            </a:endParaRPr>
          </a:p>
          <a:p>
            <a:pPr algn="just" marL="151765" marR="132080">
              <a:lnSpc>
                <a:spcPts val="1270"/>
              </a:lnSpc>
            </a:pPr>
            <a:r>
              <a:rPr dirty="0" sz="1100" spc="-5">
                <a:latin typeface="Arial"/>
                <a:cs typeface="Arial"/>
              </a:rPr>
              <a:t>What must be the rate of growth of an economy to induce just enough investment to match  planned saving for a moving equilibrium through time – and what happens if the actual rate of  growth deviates from this equilibrium path? To answer these questions, Harrod introduced three  different growth</a:t>
            </a:r>
            <a:r>
              <a:rPr dirty="0" sz="1100">
                <a:latin typeface="Arial"/>
                <a:cs typeface="Arial"/>
              </a:rPr>
              <a:t> </a:t>
            </a:r>
            <a:r>
              <a:rPr dirty="0" sz="1100" spc="-5">
                <a:latin typeface="Arial"/>
                <a:cs typeface="Arial"/>
              </a:rPr>
              <a:t>concepts:</a:t>
            </a:r>
            <a:endParaRPr sz="1100">
              <a:latin typeface="Arial"/>
              <a:cs typeface="Arial"/>
            </a:endParaRPr>
          </a:p>
          <a:p>
            <a:pPr>
              <a:lnSpc>
                <a:spcPct val="100000"/>
              </a:lnSpc>
              <a:spcBef>
                <a:spcPts val="35"/>
              </a:spcBef>
            </a:pPr>
            <a:endParaRPr sz="1050">
              <a:latin typeface="Arial"/>
              <a:cs typeface="Arial"/>
            </a:endParaRPr>
          </a:p>
          <a:p>
            <a:pPr marL="609600" indent="-229870">
              <a:lnSpc>
                <a:spcPct val="100000"/>
              </a:lnSpc>
              <a:buFont typeface="Symbol"/>
              <a:buChar char=""/>
              <a:tabLst>
                <a:tab pos="608965" algn="l"/>
                <a:tab pos="610235" algn="l"/>
              </a:tabLst>
            </a:pPr>
            <a:r>
              <a:rPr dirty="0" sz="1100" spc="-5">
                <a:latin typeface="Arial"/>
                <a:cs typeface="Arial"/>
              </a:rPr>
              <a:t>Actual growth rate</a:t>
            </a:r>
            <a:r>
              <a:rPr dirty="0" sz="1100" spc="5">
                <a:latin typeface="Arial"/>
                <a:cs typeface="Arial"/>
              </a:rPr>
              <a:t> </a:t>
            </a:r>
            <a:r>
              <a:rPr dirty="0" sz="1100" spc="-5">
                <a:latin typeface="Arial"/>
                <a:cs typeface="Arial"/>
              </a:rPr>
              <a:t>(g</a:t>
            </a:r>
            <a:r>
              <a:rPr dirty="0" baseline="-11904" sz="1050" spc="-7">
                <a:latin typeface="Arial"/>
                <a:cs typeface="Arial"/>
              </a:rPr>
              <a:t>a</a:t>
            </a:r>
            <a:r>
              <a:rPr dirty="0" sz="1100" spc="-5">
                <a:latin typeface="Arial"/>
                <a:cs typeface="Arial"/>
              </a:rPr>
              <a:t>).</a:t>
            </a:r>
            <a:endParaRPr sz="1100">
              <a:latin typeface="Arial"/>
              <a:cs typeface="Arial"/>
            </a:endParaRPr>
          </a:p>
          <a:p>
            <a:pPr marL="609600" indent="-229235">
              <a:lnSpc>
                <a:spcPct val="100000"/>
              </a:lnSpc>
              <a:spcBef>
                <a:spcPts val="20"/>
              </a:spcBef>
              <a:buFont typeface="Symbol"/>
              <a:buChar char=""/>
              <a:tabLst>
                <a:tab pos="608965" algn="l"/>
                <a:tab pos="610235" algn="l"/>
              </a:tabLst>
            </a:pPr>
            <a:r>
              <a:rPr dirty="0" sz="1100" spc="-5">
                <a:latin typeface="Arial"/>
                <a:cs typeface="Arial"/>
              </a:rPr>
              <a:t>Warranted equilibrium growth rate</a:t>
            </a:r>
            <a:r>
              <a:rPr dirty="0" sz="1100" spc="15">
                <a:latin typeface="Arial"/>
                <a:cs typeface="Arial"/>
              </a:rPr>
              <a:t> </a:t>
            </a:r>
            <a:r>
              <a:rPr dirty="0" sz="1100" spc="-5">
                <a:latin typeface="Arial"/>
                <a:cs typeface="Arial"/>
              </a:rPr>
              <a:t>(g</a:t>
            </a:r>
            <a:r>
              <a:rPr dirty="0" baseline="-11904" sz="1050" spc="-7">
                <a:latin typeface="Arial"/>
                <a:cs typeface="Arial"/>
              </a:rPr>
              <a:t>w</a:t>
            </a:r>
            <a:r>
              <a:rPr dirty="0" sz="1100" spc="-5">
                <a:latin typeface="Arial"/>
                <a:cs typeface="Arial"/>
              </a:rPr>
              <a:t>).</a:t>
            </a:r>
            <a:endParaRPr sz="1100">
              <a:latin typeface="Arial"/>
              <a:cs typeface="Arial"/>
            </a:endParaRPr>
          </a:p>
          <a:p>
            <a:pPr marL="609600" indent="-229235">
              <a:lnSpc>
                <a:spcPct val="100000"/>
              </a:lnSpc>
              <a:spcBef>
                <a:spcPts val="20"/>
              </a:spcBef>
              <a:buFont typeface="Symbol"/>
              <a:buChar char=""/>
              <a:tabLst>
                <a:tab pos="608965" algn="l"/>
                <a:tab pos="610235" algn="l"/>
              </a:tabLst>
            </a:pPr>
            <a:r>
              <a:rPr dirty="0" sz="1100" spc="-5">
                <a:latin typeface="Arial"/>
                <a:cs typeface="Arial"/>
              </a:rPr>
              <a:t>Natural growth rate (g</a:t>
            </a:r>
            <a:r>
              <a:rPr dirty="0" baseline="-11904" sz="1050" spc="-7">
                <a:latin typeface="Arial"/>
                <a:cs typeface="Arial"/>
              </a:rPr>
              <a:t>n</a:t>
            </a:r>
            <a:r>
              <a:rPr dirty="0" sz="1100" spc="-5">
                <a:latin typeface="Arial"/>
                <a:cs typeface="Arial"/>
              </a:rPr>
              <a:t>) determined by labor force growth and technical</a:t>
            </a:r>
            <a:r>
              <a:rPr dirty="0" sz="1100" spc="114">
                <a:latin typeface="Arial"/>
                <a:cs typeface="Arial"/>
              </a:rPr>
              <a:t> </a:t>
            </a:r>
            <a:r>
              <a:rPr dirty="0" sz="1100" spc="-5">
                <a:latin typeface="Arial"/>
                <a:cs typeface="Arial"/>
              </a:rPr>
              <a:t>progress.</a:t>
            </a:r>
            <a:endParaRPr sz="1100">
              <a:latin typeface="Arial"/>
              <a:cs typeface="Arial"/>
            </a:endParaRPr>
          </a:p>
          <a:p>
            <a:pPr algn="just" marL="152400">
              <a:lnSpc>
                <a:spcPct val="100000"/>
              </a:lnSpc>
              <a:spcBef>
                <a:spcPts val="1210"/>
              </a:spcBef>
            </a:pPr>
            <a:r>
              <a:rPr dirty="0" sz="1100" spc="-5" b="1">
                <a:latin typeface="Arial"/>
                <a:cs typeface="Arial"/>
              </a:rPr>
              <a:t>ACTUAL GROWTH RATE</a:t>
            </a:r>
            <a:r>
              <a:rPr dirty="0" sz="1100" spc="10" b="1">
                <a:latin typeface="Arial"/>
                <a:cs typeface="Arial"/>
              </a:rPr>
              <a:t> </a:t>
            </a:r>
            <a:r>
              <a:rPr dirty="0" sz="1100" spc="-5" b="1">
                <a:latin typeface="Arial"/>
                <a:cs typeface="Arial"/>
              </a:rPr>
              <a:t>(g</a:t>
            </a:r>
            <a:r>
              <a:rPr dirty="0" baseline="-11904" sz="1050" spc="-7" b="1">
                <a:latin typeface="Arial"/>
                <a:cs typeface="Arial"/>
              </a:rPr>
              <a:t>a</a:t>
            </a:r>
            <a:r>
              <a:rPr dirty="0" sz="1100" spc="-5" b="1">
                <a:latin typeface="Arial"/>
                <a:cs typeface="Arial"/>
              </a:rPr>
              <a:t>)</a:t>
            </a:r>
            <a:endParaRPr sz="1100">
              <a:latin typeface="Arial"/>
              <a:cs typeface="Arial"/>
            </a:endParaRPr>
          </a:p>
          <a:p>
            <a:pPr>
              <a:lnSpc>
                <a:spcPct val="100000"/>
              </a:lnSpc>
              <a:spcBef>
                <a:spcPts val="55"/>
              </a:spcBef>
            </a:pPr>
            <a:endParaRPr sz="1100">
              <a:latin typeface="Arial"/>
              <a:cs typeface="Arial"/>
            </a:endParaRPr>
          </a:p>
          <a:p>
            <a:pPr marL="151765">
              <a:lnSpc>
                <a:spcPct val="100000"/>
              </a:lnSpc>
            </a:pPr>
            <a:r>
              <a:rPr dirty="0" sz="1100" spc="-5">
                <a:latin typeface="Arial"/>
                <a:cs typeface="Arial"/>
              </a:rPr>
              <a:t>The actual rate of growth (g</a:t>
            </a:r>
            <a:r>
              <a:rPr dirty="0" baseline="-11904" sz="1050" spc="-7">
                <a:latin typeface="Arial"/>
                <a:cs typeface="Arial"/>
              </a:rPr>
              <a:t>a</a:t>
            </a:r>
            <a:r>
              <a:rPr dirty="0" sz="1100" spc="-5">
                <a:latin typeface="Arial"/>
                <a:cs typeface="Arial"/>
              </a:rPr>
              <a:t>) is defined</a:t>
            </a:r>
            <a:r>
              <a:rPr dirty="0" sz="1100" spc="35">
                <a:latin typeface="Arial"/>
                <a:cs typeface="Arial"/>
              </a:rPr>
              <a:t> </a:t>
            </a:r>
            <a:r>
              <a:rPr dirty="0" sz="1100" spc="-5">
                <a:latin typeface="Arial"/>
                <a:cs typeface="Arial"/>
              </a:rPr>
              <a:t>as:</a:t>
            </a:r>
            <a:endParaRPr sz="1100">
              <a:latin typeface="Arial"/>
              <a:cs typeface="Arial"/>
            </a:endParaRPr>
          </a:p>
          <a:p>
            <a:pPr marL="151765" marR="131445" indent="38735">
              <a:lnSpc>
                <a:spcPct val="118900"/>
              </a:lnSpc>
              <a:spcBef>
                <a:spcPts val="1120"/>
              </a:spcBef>
              <a:tabLst>
                <a:tab pos="5056505" algn="l"/>
              </a:tabLst>
            </a:pPr>
            <a:r>
              <a:rPr dirty="0" sz="1100" spc="-5">
                <a:latin typeface="Arial"/>
                <a:cs typeface="Arial"/>
              </a:rPr>
              <a:t>Where s is the country’s savings ratio (S/Y); S is the volume of saving; Y is national income/  output;  and  c  is  the  actual  incremental  capital  output</a:t>
            </a:r>
            <a:r>
              <a:rPr dirty="0" sz="1100" spc="140">
                <a:latin typeface="Arial"/>
                <a:cs typeface="Arial"/>
              </a:rPr>
              <a:t> </a:t>
            </a:r>
            <a:r>
              <a:rPr dirty="0" sz="1100" spc="-5">
                <a:latin typeface="Arial"/>
                <a:cs typeface="Arial"/>
              </a:rPr>
              <a:t>ratio</a:t>
            </a:r>
            <a:r>
              <a:rPr dirty="0" sz="1100" spc="285">
                <a:latin typeface="Arial"/>
                <a:cs typeface="Arial"/>
              </a:rPr>
              <a:t> </a:t>
            </a:r>
            <a:r>
              <a:rPr dirty="0" sz="1100" spc="-5">
                <a:latin typeface="Arial"/>
                <a:cs typeface="Arial"/>
              </a:rPr>
              <a:t>(	) where  includes changes in the stocks of</a:t>
            </a:r>
            <a:r>
              <a:rPr dirty="0" sz="1100" spc="15">
                <a:latin typeface="Arial"/>
                <a:cs typeface="Arial"/>
              </a:rPr>
              <a:t> </a:t>
            </a:r>
            <a:r>
              <a:rPr dirty="0" sz="1100" spc="-5">
                <a:latin typeface="Arial"/>
                <a:cs typeface="Arial"/>
              </a:rPr>
              <a:t>goods.</a:t>
            </a:r>
            <a:endParaRPr sz="1100">
              <a:latin typeface="Arial"/>
              <a:cs typeface="Arial"/>
            </a:endParaRPr>
          </a:p>
          <a:p>
            <a:pPr>
              <a:lnSpc>
                <a:spcPct val="100000"/>
              </a:lnSpc>
              <a:spcBef>
                <a:spcPts val="10"/>
              </a:spcBef>
            </a:pPr>
            <a:endParaRPr sz="1050">
              <a:latin typeface="Arial"/>
              <a:cs typeface="Arial"/>
            </a:endParaRPr>
          </a:p>
          <a:p>
            <a:pPr marL="152400">
              <a:lnSpc>
                <a:spcPct val="100000"/>
              </a:lnSpc>
            </a:pPr>
            <a:r>
              <a:rPr dirty="0" sz="1100" spc="-5" b="1">
                <a:latin typeface="Arial"/>
                <a:cs typeface="Arial"/>
              </a:rPr>
              <a:t>WARRANTED EQUILIBRIUM GROWTH RATE</a:t>
            </a:r>
            <a:r>
              <a:rPr dirty="0" sz="1100" spc="10" b="1">
                <a:latin typeface="Arial"/>
                <a:cs typeface="Arial"/>
              </a:rPr>
              <a:t> </a:t>
            </a:r>
            <a:r>
              <a:rPr dirty="0" sz="1100" spc="-5" b="1">
                <a:latin typeface="Arial"/>
                <a:cs typeface="Arial"/>
              </a:rPr>
              <a:t>(g</a:t>
            </a:r>
            <a:r>
              <a:rPr dirty="0" baseline="-11904" sz="1050" spc="-7" b="1">
                <a:latin typeface="Arial"/>
                <a:cs typeface="Arial"/>
              </a:rPr>
              <a:t>w</a:t>
            </a:r>
            <a:r>
              <a:rPr dirty="0" sz="1100" spc="-5" b="1">
                <a:latin typeface="Arial"/>
                <a:cs typeface="Arial"/>
              </a:rPr>
              <a:t>)</a:t>
            </a:r>
            <a:endParaRPr sz="1100">
              <a:latin typeface="Arial"/>
              <a:cs typeface="Arial"/>
            </a:endParaRPr>
          </a:p>
          <a:p>
            <a:pPr>
              <a:lnSpc>
                <a:spcPct val="100000"/>
              </a:lnSpc>
              <a:spcBef>
                <a:spcPts val="25"/>
              </a:spcBef>
            </a:pPr>
            <a:endParaRPr sz="1200">
              <a:latin typeface="Arial"/>
              <a:cs typeface="Arial"/>
            </a:endParaRPr>
          </a:p>
          <a:p>
            <a:pPr marL="152400" marR="132715">
              <a:lnSpc>
                <a:spcPts val="1270"/>
              </a:lnSpc>
            </a:pPr>
            <a:r>
              <a:rPr dirty="0" sz="1100" spc="-5">
                <a:latin typeface="Arial"/>
                <a:cs typeface="Arial"/>
              </a:rPr>
              <a:t>The warranted rate (g</a:t>
            </a:r>
            <a:r>
              <a:rPr dirty="0" baseline="-11904" sz="1050" spc="-7">
                <a:latin typeface="Arial"/>
                <a:cs typeface="Arial"/>
              </a:rPr>
              <a:t>w</a:t>
            </a:r>
            <a:r>
              <a:rPr dirty="0" sz="1100" spc="-5">
                <a:latin typeface="Arial"/>
                <a:cs typeface="Arial"/>
              </a:rPr>
              <a:t>) of growth is taken to be the rate of growth required for the full utilization  of a growing stock of capital. (I=Planned</a:t>
            </a:r>
            <a:r>
              <a:rPr dirty="0" sz="1100" spc="30">
                <a:latin typeface="Arial"/>
                <a:cs typeface="Arial"/>
              </a:rPr>
              <a:t> </a:t>
            </a:r>
            <a:r>
              <a:rPr dirty="0" sz="1100" spc="-5">
                <a:latin typeface="Arial"/>
                <a:cs typeface="Arial"/>
              </a:rPr>
              <a:t>Saving).</a:t>
            </a:r>
            <a:endParaRPr sz="1100">
              <a:latin typeface="Arial"/>
              <a:cs typeface="Arial"/>
            </a:endParaRPr>
          </a:p>
          <a:p>
            <a:pPr marL="152400">
              <a:lnSpc>
                <a:spcPts val="1220"/>
              </a:lnSpc>
            </a:pPr>
            <a:r>
              <a:rPr dirty="0" sz="1100" spc="-5">
                <a:latin typeface="Arial"/>
                <a:cs typeface="Arial"/>
              </a:rPr>
              <a:t>The</a:t>
            </a:r>
            <a:r>
              <a:rPr dirty="0" sz="1100" spc="114">
                <a:latin typeface="Arial"/>
                <a:cs typeface="Arial"/>
              </a:rPr>
              <a:t> </a:t>
            </a:r>
            <a:r>
              <a:rPr dirty="0" sz="1100" spc="-5">
                <a:latin typeface="Arial"/>
                <a:cs typeface="Arial"/>
              </a:rPr>
              <a:t>demand</a:t>
            </a:r>
            <a:r>
              <a:rPr dirty="0" sz="1100" spc="114">
                <a:latin typeface="Arial"/>
                <a:cs typeface="Arial"/>
              </a:rPr>
              <a:t> </a:t>
            </a:r>
            <a:r>
              <a:rPr dirty="0" sz="1100" spc="-5">
                <a:latin typeface="Arial"/>
                <a:cs typeface="Arial"/>
              </a:rPr>
              <a:t>for</a:t>
            </a:r>
            <a:r>
              <a:rPr dirty="0" sz="1100" spc="114">
                <a:latin typeface="Arial"/>
                <a:cs typeface="Arial"/>
              </a:rPr>
              <a:t> </a:t>
            </a:r>
            <a:r>
              <a:rPr dirty="0" sz="1100" spc="-5">
                <a:latin typeface="Arial"/>
                <a:cs typeface="Arial"/>
              </a:rPr>
              <a:t>investment</a:t>
            </a:r>
            <a:r>
              <a:rPr dirty="0" sz="1100" spc="120">
                <a:latin typeface="Arial"/>
                <a:cs typeface="Arial"/>
              </a:rPr>
              <a:t> </a:t>
            </a:r>
            <a:r>
              <a:rPr dirty="0" sz="1100" spc="-5">
                <a:latin typeface="Arial"/>
                <a:cs typeface="Arial"/>
              </a:rPr>
              <a:t>is</a:t>
            </a:r>
            <a:r>
              <a:rPr dirty="0" sz="1100" spc="114">
                <a:latin typeface="Arial"/>
                <a:cs typeface="Arial"/>
              </a:rPr>
              <a:t> </a:t>
            </a:r>
            <a:r>
              <a:rPr dirty="0" sz="1100" spc="-5">
                <a:latin typeface="Arial"/>
                <a:cs typeface="Arial"/>
              </a:rPr>
              <a:t>given</a:t>
            </a:r>
            <a:r>
              <a:rPr dirty="0" sz="1100" spc="114">
                <a:latin typeface="Arial"/>
                <a:cs typeface="Arial"/>
              </a:rPr>
              <a:t> </a:t>
            </a:r>
            <a:r>
              <a:rPr dirty="0" sz="1100" spc="-5">
                <a:latin typeface="Arial"/>
                <a:cs typeface="Arial"/>
              </a:rPr>
              <a:t>by</a:t>
            </a:r>
            <a:r>
              <a:rPr dirty="0" sz="1100" spc="120">
                <a:latin typeface="Arial"/>
                <a:cs typeface="Arial"/>
              </a:rPr>
              <a:t> </a:t>
            </a:r>
            <a:r>
              <a:rPr dirty="0" sz="1100" spc="-5">
                <a:latin typeface="Arial"/>
                <a:cs typeface="Arial"/>
              </a:rPr>
              <a:t>an</a:t>
            </a:r>
            <a:r>
              <a:rPr dirty="0" sz="1100" spc="114">
                <a:latin typeface="Arial"/>
                <a:cs typeface="Arial"/>
              </a:rPr>
              <a:t> </a:t>
            </a:r>
            <a:r>
              <a:rPr dirty="0" sz="1100" spc="-5">
                <a:latin typeface="Arial"/>
                <a:cs typeface="Arial"/>
              </a:rPr>
              <a:t>accelerator</a:t>
            </a:r>
            <a:r>
              <a:rPr dirty="0" sz="1100" spc="114">
                <a:latin typeface="Arial"/>
                <a:cs typeface="Arial"/>
              </a:rPr>
              <a:t> </a:t>
            </a:r>
            <a:r>
              <a:rPr dirty="0" sz="1100" spc="-5">
                <a:latin typeface="Arial"/>
                <a:cs typeface="Arial"/>
              </a:rPr>
              <a:t>mechanism</a:t>
            </a:r>
            <a:r>
              <a:rPr dirty="0" sz="1100" spc="120">
                <a:latin typeface="Arial"/>
                <a:cs typeface="Arial"/>
              </a:rPr>
              <a:t> </a:t>
            </a:r>
            <a:r>
              <a:rPr dirty="0" sz="1100" spc="-5">
                <a:latin typeface="Arial"/>
                <a:cs typeface="Arial"/>
              </a:rPr>
              <a:t>(or</a:t>
            </a:r>
            <a:r>
              <a:rPr dirty="0" sz="1100" spc="110">
                <a:latin typeface="Arial"/>
                <a:cs typeface="Arial"/>
              </a:rPr>
              <a:t> </a:t>
            </a:r>
            <a:r>
              <a:rPr dirty="0" sz="1100" spc="-5">
                <a:latin typeface="Arial"/>
                <a:cs typeface="Arial"/>
              </a:rPr>
              <a:t>what</a:t>
            </a:r>
            <a:r>
              <a:rPr dirty="0" sz="1100" spc="114">
                <a:latin typeface="Arial"/>
                <a:cs typeface="Arial"/>
              </a:rPr>
              <a:t> </a:t>
            </a:r>
            <a:r>
              <a:rPr dirty="0" sz="1100" spc="-5">
                <a:latin typeface="Arial"/>
                <a:cs typeface="Arial"/>
              </a:rPr>
              <a:t>Harrod</a:t>
            </a:r>
            <a:r>
              <a:rPr dirty="0" sz="1100" spc="114">
                <a:latin typeface="Arial"/>
                <a:cs typeface="Arial"/>
              </a:rPr>
              <a:t> </a:t>
            </a:r>
            <a:r>
              <a:rPr dirty="0" sz="1100" spc="-5">
                <a:latin typeface="Arial"/>
                <a:cs typeface="Arial"/>
              </a:rPr>
              <a:t>called</a:t>
            </a:r>
            <a:r>
              <a:rPr dirty="0" sz="1100" spc="114">
                <a:latin typeface="Arial"/>
                <a:cs typeface="Arial"/>
              </a:rPr>
              <a:t> </a:t>
            </a:r>
            <a:r>
              <a:rPr dirty="0" sz="1100" spc="-5">
                <a:latin typeface="Arial"/>
                <a:cs typeface="Arial"/>
              </a:rPr>
              <a:t>‘the</a:t>
            </a:r>
            <a:endParaRPr sz="1100">
              <a:latin typeface="Arial"/>
              <a:cs typeface="Arial"/>
            </a:endParaRPr>
          </a:p>
          <a:p>
            <a:pPr marL="152400">
              <a:lnSpc>
                <a:spcPct val="100000"/>
              </a:lnSpc>
              <a:spcBef>
                <a:spcPts val="55"/>
              </a:spcBef>
              <a:tabLst>
                <a:tab pos="5949950" algn="l"/>
              </a:tabLst>
            </a:pPr>
            <a:r>
              <a:rPr dirty="0" sz="1100" spc="-5">
                <a:latin typeface="Arial"/>
                <a:cs typeface="Arial"/>
              </a:rPr>
              <a:t>relation’) which makes investment a function of the change in output between two</a:t>
            </a:r>
            <a:r>
              <a:rPr dirty="0" sz="1100" spc="295">
                <a:latin typeface="Arial"/>
                <a:cs typeface="Arial"/>
              </a:rPr>
              <a:t> </a:t>
            </a:r>
            <a:r>
              <a:rPr dirty="0" sz="1100" spc="-5">
                <a:latin typeface="Arial"/>
                <a:cs typeface="Arial"/>
              </a:rPr>
              <a:t>periods</a:t>
            </a:r>
            <a:r>
              <a:rPr dirty="0" sz="1100" spc="15">
                <a:latin typeface="Arial"/>
                <a:cs typeface="Arial"/>
              </a:rPr>
              <a:t> </a:t>
            </a:r>
            <a:r>
              <a:rPr dirty="0" sz="1100" spc="-5">
                <a:latin typeface="Arial"/>
                <a:cs typeface="Arial"/>
              </a:rPr>
              <a:t>(	</a:t>
            </a:r>
            <a:r>
              <a:rPr dirty="0" sz="1100" spc="-10">
                <a:latin typeface="Arial"/>
                <a:cs typeface="Arial"/>
              </a:rPr>
              <a:t>).</a:t>
            </a:r>
            <a:endParaRPr sz="1100">
              <a:latin typeface="Arial"/>
              <a:cs typeface="Arial"/>
            </a:endParaRPr>
          </a:p>
          <a:p>
            <a:pPr>
              <a:lnSpc>
                <a:spcPct val="100000"/>
              </a:lnSpc>
              <a:spcBef>
                <a:spcPts val="40"/>
              </a:spcBef>
            </a:pPr>
            <a:endParaRPr sz="1150">
              <a:latin typeface="Arial"/>
              <a:cs typeface="Arial"/>
            </a:endParaRPr>
          </a:p>
          <a:p>
            <a:pPr marL="152400">
              <a:lnSpc>
                <a:spcPct val="100000"/>
              </a:lnSpc>
              <a:spcBef>
                <a:spcPts val="5"/>
              </a:spcBef>
            </a:pPr>
            <a:r>
              <a:rPr dirty="0" sz="1100" spc="-5">
                <a:latin typeface="Arial"/>
                <a:cs typeface="Arial"/>
              </a:rPr>
              <a:t>Thus, planned investment ( )</a:t>
            </a:r>
            <a:r>
              <a:rPr dirty="0" sz="1100" spc="85">
                <a:latin typeface="Arial"/>
                <a:cs typeface="Arial"/>
              </a:rPr>
              <a:t> </a:t>
            </a:r>
            <a:r>
              <a:rPr dirty="0" sz="1100" spc="-10">
                <a:latin typeface="Arial"/>
                <a:cs typeface="Arial"/>
              </a:rPr>
              <a:t>is:</a:t>
            </a:r>
            <a:endParaRPr sz="1100">
              <a:latin typeface="Arial"/>
              <a:cs typeface="Arial"/>
            </a:endParaRPr>
          </a:p>
          <a:p>
            <a:pPr>
              <a:lnSpc>
                <a:spcPct val="100000"/>
              </a:lnSpc>
            </a:pPr>
            <a:endParaRPr sz="1200">
              <a:latin typeface="Arial"/>
              <a:cs typeface="Arial"/>
            </a:endParaRPr>
          </a:p>
          <a:p>
            <a:pPr>
              <a:lnSpc>
                <a:spcPct val="100000"/>
              </a:lnSpc>
              <a:spcBef>
                <a:spcPts val="25"/>
              </a:spcBef>
            </a:pPr>
            <a:endParaRPr sz="1500">
              <a:latin typeface="Arial"/>
              <a:cs typeface="Arial"/>
            </a:endParaRPr>
          </a:p>
          <a:p>
            <a:pPr algn="just" marL="151765" marR="132715">
              <a:lnSpc>
                <a:spcPct val="97100"/>
              </a:lnSpc>
              <a:spcBef>
                <a:spcPts val="5"/>
              </a:spcBef>
            </a:pPr>
            <a:r>
              <a:rPr dirty="0" sz="1100" spc="-5">
                <a:latin typeface="Arial"/>
                <a:cs typeface="Arial"/>
              </a:rPr>
              <a:t>Where, is defined as the required incremental capital–output ratio: that is, the extra capital  required to produce a unit flow of output in </a:t>
            </a:r>
            <a:r>
              <a:rPr dirty="0" sz="1100">
                <a:latin typeface="Arial"/>
                <a:cs typeface="Arial"/>
              </a:rPr>
              <a:t>an </a:t>
            </a:r>
            <a:r>
              <a:rPr dirty="0" sz="1100" spc="-5">
                <a:latin typeface="Arial"/>
                <a:cs typeface="Arial"/>
              </a:rPr>
              <a:t>accounting period (normally one year) </a:t>
            </a:r>
            <a:r>
              <a:rPr dirty="0" sz="1100">
                <a:latin typeface="Arial"/>
                <a:cs typeface="Arial"/>
              </a:rPr>
              <a:t>given  </a:t>
            </a:r>
            <a:r>
              <a:rPr dirty="0" sz="1100" spc="-5">
                <a:latin typeface="Arial"/>
                <a:cs typeface="Arial"/>
              </a:rPr>
              <a:t>technological conditions and the rate of interest. The supply of investment funds, or planned  saving (Sp), is given</a:t>
            </a:r>
            <a:r>
              <a:rPr dirty="0" sz="1100" spc="10">
                <a:latin typeface="Arial"/>
                <a:cs typeface="Arial"/>
              </a:rPr>
              <a:t> </a:t>
            </a:r>
            <a:r>
              <a:rPr dirty="0" sz="1100" spc="-5">
                <a:latin typeface="Arial"/>
                <a:cs typeface="Arial"/>
              </a:rPr>
              <a:t>by:</a:t>
            </a:r>
            <a:endParaRPr sz="1100">
              <a:latin typeface="Arial"/>
              <a:cs typeface="Arial"/>
            </a:endParaRPr>
          </a:p>
          <a:p>
            <a:pPr>
              <a:lnSpc>
                <a:spcPct val="100000"/>
              </a:lnSpc>
            </a:pPr>
            <a:endParaRPr sz="1200">
              <a:latin typeface="Arial"/>
              <a:cs typeface="Arial"/>
            </a:endParaRPr>
          </a:p>
          <a:p>
            <a:pPr>
              <a:lnSpc>
                <a:spcPct val="100000"/>
              </a:lnSpc>
              <a:spcBef>
                <a:spcPts val="25"/>
              </a:spcBef>
            </a:pPr>
            <a:endParaRPr sz="1200">
              <a:latin typeface="Arial"/>
              <a:cs typeface="Arial"/>
            </a:endParaRPr>
          </a:p>
          <a:p>
            <a:pPr marL="152400">
              <a:lnSpc>
                <a:spcPct val="100000"/>
              </a:lnSpc>
              <a:spcBef>
                <a:spcPts val="5"/>
              </a:spcBef>
            </a:pPr>
            <a:r>
              <a:rPr dirty="0" sz="1100" spc="-5">
                <a:latin typeface="Arial"/>
                <a:cs typeface="Arial"/>
              </a:rPr>
              <a:t>Where, s is the propensity to</a:t>
            </a:r>
            <a:r>
              <a:rPr dirty="0" sz="1100" spc="25">
                <a:latin typeface="Arial"/>
                <a:cs typeface="Arial"/>
              </a:rPr>
              <a:t> </a:t>
            </a:r>
            <a:r>
              <a:rPr dirty="0" sz="1100" spc="-5">
                <a:latin typeface="Arial"/>
                <a:cs typeface="Arial"/>
              </a:rPr>
              <a:t>save.</a:t>
            </a:r>
            <a:endParaRPr sz="1100">
              <a:latin typeface="Arial"/>
              <a:cs typeface="Arial"/>
            </a:endParaRPr>
          </a:p>
        </p:txBody>
      </p:sp>
      <p:sp>
        <p:nvSpPr>
          <p:cNvPr id="17" name="object 17"/>
          <p:cNvSpPr txBox="1"/>
          <p:nvPr/>
        </p:nvSpPr>
        <p:spPr>
          <a:xfrm>
            <a:off x="901703" y="7323839"/>
            <a:ext cx="219265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Therefore, for a moving</a:t>
            </a:r>
            <a:r>
              <a:rPr dirty="0" sz="1100" spc="40">
                <a:latin typeface="Arial"/>
                <a:cs typeface="Arial"/>
              </a:rPr>
              <a:t> </a:t>
            </a:r>
            <a:r>
              <a:rPr dirty="0" sz="1100" spc="-5">
                <a:latin typeface="Arial"/>
                <a:cs typeface="Arial"/>
              </a:rPr>
              <a:t>equilibrium</a:t>
            </a:r>
            <a:endParaRPr sz="1100">
              <a:latin typeface="Arial"/>
              <a:cs typeface="Arial"/>
            </a:endParaRPr>
          </a:p>
        </p:txBody>
      </p:sp>
      <p:sp>
        <p:nvSpPr>
          <p:cNvPr id="18" name="object 18"/>
          <p:cNvSpPr/>
          <p:nvPr/>
        </p:nvSpPr>
        <p:spPr>
          <a:xfrm>
            <a:off x="3119627" y="7352538"/>
            <a:ext cx="685800" cy="161544"/>
          </a:xfrm>
          <a:prstGeom prst="rect">
            <a:avLst/>
          </a:prstGeom>
          <a:blipFill>
            <a:blip r:embed="rId11" cstate="print"/>
            <a:stretch>
              <a:fillRect/>
            </a:stretch>
          </a:blipFill>
        </p:spPr>
        <p:txBody>
          <a:bodyPr wrap="square" lIns="0" tIns="0" rIns="0" bIns="0" rtlCol="0"/>
          <a:lstStyle/>
          <a:p/>
        </p:txBody>
      </p:sp>
      <p:sp>
        <p:nvSpPr>
          <p:cNvPr id="19" name="object 19"/>
          <p:cNvSpPr txBox="1"/>
          <p:nvPr/>
        </p:nvSpPr>
        <p:spPr>
          <a:xfrm>
            <a:off x="3831619" y="7323835"/>
            <a:ext cx="188595"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or:</a:t>
            </a:r>
            <a:endParaRPr sz="1100">
              <a:latin typeface="Arial"/>
              <a:cs typeface="Arial"/>
            </a:endParaRPr>
          </a:p>
        </p:txBody>
      </p:sp>
      <p:sp>
        <p:nvSpPr>
          <p:cNvPr id="20" name="object 20"/>
          <p:cNvSpPr/>
          <p:nvPr/>
        </p:nvSpPr>
        <p:spPr>
          <a:xfrm>
            <a:off x="914400" y="7516368"/>
            <a:ext cx="647700" cy="207263"/>
          </a:xfrm>
          <a:prstGeom prst="rect">
            <a:avLst/>
          </a:prstGeom>
          <a:blipFill>
            <a:blip r:embed="rId12" cstate="print"/>
            <a:stretch>
              <a:fillRect/>
            </a:stretch>
          </a:blipFill>
        </p:spPr>
        <p:txBody>
          <a:bodyPr wrap="square" lIns="0" tIns="0" rIns="0" bIns="0" rtlCol="0"/>
          <a:lstStyle/>
          <a:p/>
        </p:txBody>
      </p:sp>
      <p:sp>
        <p:nvSpPr>
          <p:cNvPr id="21" name="object 21"/>
          <p:cNvSpPr txBox="1"/>
          <p:nvPr/>
        </p:nvSpPr>
        <p:spPr>
          <a:xfrm>
            <a:off x="850901" y="7861045"/>
            <a:ext cx="6058535" cy="1172210"/>
          </a:xfrm>
          <a:prstGeom prst="rect">
            <a:avLst/>
          </a:prstGeom>
        </p:spPr>
        <p:txBody>
          <a:bodyPr wrap="square" lIns="0" tIns="12065" rIns="0" bIns="0" rtlCol="0" vert="horz">
            <a:spAutoFit/>
          </a:bodyPr>
          <a:lstStyle/>
          <a:p>
            <a:pPr algn="just" marL="63500">
              <a:lnSpc>
                <a:spcPct val="100000"/>
              </a:lnSpc>
              <a:spcBef>
                <a:spcPts val="95"/>
              </a:spcBef>
            </a:pPr>
            <a:r>
              <a:rPr dirty="0" sz="1100" spc="-5">
                <a:latin typeface="Arial"/>
                <a:cs typeface="Arial"/>
              </a:rPr>
              <a:t>Where, g</a:t>
            </a:r>
            <a:r>
              <a:rPr dirty="0" baseline="-11904" sz="1050" spc="-7">
                <a:latin typeface="Arial"/>
                <a:cs typeface="Arial"/>
              </a:rPr>
              <a:t>w </a:t>
            </a:r>
            <a:r>
              <a:rPr dirty="0" sz="1100" spc="-5">
                <a:latin typeface="Arial"/>
                <a:cs typeface="Arial"/>
              </a:rPr>
              <a:t>is the warranted rate of</a:t>
            </a:r>
            <a:r>
              <a:rPr dirty="0" sz="1100" spc="-60">
                <a:latin typeface="Arial"/>
                <a:cs typeface="Arial"/>
              </a:rPr>
              <a:t> </a:t>
            </a:r>
            <a:r>
              <a:rPr dirty="0" sz="1100" spc="-5">
                <a:latin typeface="Arial"/>
                <a:cs typeface="Arial"/>
              </a:rPr>
              <a:t>growth.</a:t>
            </a:r>
            <a:endParaRPr sz="1100">
              <a:latin typeface="Arial"/>
              <a:cs typeface="Arial"/>
            </a:endParaRPr>
          </a:p>
          <a:p>
            <a:pPr>
              <a:lnSpc>
                <a:spcPct val="100000"/>
              </a:lnSpc>
              <a:spcBef>
                <a:spcPts val="10"/>
              </a:spcBef>
            </a:pPr>
            <a:endParaRPr sz="1050">
              <a:latin typeface="Arial"/>
              <a:cs typeface="Arial"/>
            </a:endParaRPr>
          </a:p>
          <a:p>
            <a:pPr algn="just" marL="63500">
              <a:lnSpc>
                <a:spcPct val="100000"/>
              </a:lnSpc>
            </a:pPr>
            <a:r>
              <a:rPr dirty="0" sz="1100" spc="-5" b="1">
                <a:latin typeface="Arial"/>
                <a:cs typeface="Arial"/>
              </a:rPr>
              <a:t>NATURAL GROWTH RATE</a:t>
            </a:r>
            <a:r>
              <a:rPr dirty="0" sz="1100" spc="10" b="1">
                <a:latin typeface="Arial"/>
                <a:cs typeface="Arial"/>
              </a:rPr>
              <a:t> </a:t>
            </a:r>
            <a:r>
              <a:rPr dirty="0" sz="1100" spc="-5" b="1">
                <a:latin typeface="Arial"/>
                <a:cs typeface="Arial"/>
              </a:rPr>
              <a:t>(g</a:t>
            </a:r>
            <a:r>
              <a:rPr dirty="0" baseline="-11904" sz="1050" spc="-7" b="1">
                <a:latin typeface="Arial"/>
                <a:cs typeface="Arial"/>
              </a:rPr>
              <a:t>n</a:t>
            </a:r>
            <a:r>
              <a:rPr dirty="0" sz="1100" spc="-5" b="1">
                <a:latin typeface="Arial"/>
                <a:cs typeface="Arial"/>
              </a:rPr>
              <a:t>)</a:t>
            </a:r>
            <a:endParaRPr sz="1100">
              <a:latin typeface="Arial"/>
              <a:cs typeface="Arial"/>
            </a:endParaRPr>
          </a:p>
          <a:p>
            <a:pPr>
              <a:lnSpc>
                <a:spcPct val="100000"/>
              </a:lnSpc>
              <a:spcBef>
                <a:spcPts val="25"/>
              </a:spcBef>
            </a:pPr>
            <a:endParaRPr sz="1200">
              <a:latin typeface="Arial"/>
              <a:cs typeface="Arial"/>
            </a:endParaRPr>
          </a:p>
          <a:p>
            <a:pPr algn="just" marL="63500" marR="43180" indent="-635">
              <a:lnSpc>
                <a:spcPts val="1270"/>
              </a:lnSpc>
            </a:pPr>
            <a:r>
              <a:rPr dirty="0" sz="1100" spc="-5">
                <a:latin typeface="Arial"/>
                <a:cs typeface="Arial"/>
              </a:rPr>
              <a:t>The natural growth rate (g</a:t>
            </a:r>
            <a:r>
              <a:rPr dirty="0" baseline="-11904" sz="1050" spc="-7">
                <a:latin typeface="Arial"/>
                <a:cs typeface="Arial"/>
              </a:rPr>
              <a:t>n</a:t>
            </a:r>
            <a:r>
              <a:rPr dirty="0" sz="1100" spc="-5">
                <a:latin typeface="Arial"/>
                <a:cs typeface="Arial"/>
              </a:rPr>
              <a:t>) is defined as the rate of growth that is determined by the current  growth of the working population and the current potential for technical progress. Such a rate of  growth is not determined by the wishes of people as regards</a:t>
            </a:r>
            <a:r>
              <a:rPr dirty="0" sz="1100" spc="60">
                <a:latin typeface="Arial"/>
                <a:cs typeface="Arial"/>
              </a:rPr>
              <a:t> </a:t>
            </a:r>
            <a:r>
              <a:rPr dirty="0" sz="1100" spc="-5">
                <a:latin typeface="Arial"/>
                <a:cs typeface="Arial"/>
              </a:rPr>
              <a:t>saving.</a:t>
            </a:r>
            <a:endParaRPr sz="1100">
              <a:latin typeface="Arial"/>
              <a:cs typeface="Arial"/>
            </a:endParaRPr>
          </a:p>
        </p:txBody>
      </p:sp>
      <p:sp>
        <p:nvSpPr>
          <p:cNvPr id="22" name="object 22"/>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23" name="object 23"/>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122</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53695"/>
          </a:xfrm>
          <a:prstGeom prst="rect">
            <a:avLst/>
          </a:prstGeom>
        </p:spPr>
        <p:txBody>
          <a:bodyPr wrap="square" lIns="0" tIns="22860" rIns="0" bIns="0" rtlCol="0" vert="horz">
            <a:spAutoFit/>
          </a:bodyPr>
          <a:lstStyle/>
          <a:p>
            <a:pPr marL="12700" marR="5080" indent="38735">
              <a:lnSpc>
                <a:spcPts val="1270"/>
              </a:lnSpc>
              <a:spcBef>
                <a:spcPts val="180"/>
              </a:spcBef>
            </a:pPr>
            <a:r>
              <a:rPr dirty="0" sz="1100" spc="-5">
                <a:latin typeface="Arial"/>
                <a:cs typeface="Arial"/>
              </a:rPr>
              <a:t>The rate of growth of the labor force (l) and the growth of labor productivity (t), both  exogenously determined.</a:t>
            </a:r>
            <a:r>
              <a:rPr dirty="0" sz="1100" spc="5">
                <a:latin typeface="Arial"/>
                <a:cs typeface="Arial"/>
              </a:rPr>
              <a:t> </a:t>
            </a:r>
            <a:r>
              <a:rPr dirty="0" sz="1100" spc="-5">
                <a:latin typeface="Arial"/>
                <a:cs typeface="Arial"/>
              </a:rPr>
              <a:t>Thus:</a:t>
            </a:r>
            <a:endParaRPr sz="1100">
              <a:latin typeface="Arial"/>
              <a:cs typeface="Arial"/>
            </a:endParaRPr>
          </a:p>
        </p:txBody>
      </p:sp>
      <p:sp>
        <p:nvSpPr>
          <p:cNvPr id="7" name="object 7"/>
          <p:cNvSpPr/>
          <p:nvPr/>
        </p:nvSpPr>
        <p:spPr>
          <a:xfrm>
            <a:off x="914400" y="1240536"/>
            <a:ext cx="666750" cy="176022"/>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850893" y="4766552"/>
            <a:ext cx="6172835" cy="4326890"/>
          </a:xfrm>
          <a:prstGeom prst="rect">
            <a:avLst/>
          </a:prstGeom>
        </p:spPr>
        <p:txBody>
          <a:bodyPr wrap="square" lIns="0" tIns="12065" rIns="0" bIns="0" rtlCol="0" vert="horz">
            <a:spAutoFit/>
          </a:bodyPr>
          <a:lstStyle/>
          <a:p>
            <a:pPr marL="63500">
              <a:lnSpc>
                <a:spcPct val="100000"/>
              </a:lnSpc>
              <a:spcBef>
                <a:spcPts val="95"/>
              </a:spcBef>
            </a:pPr>
            <a:r>
              <a:rPr dirty="0" sz="1100" spc="-5" b="1">
                <a:latin typeface="Arial"/>
                <a:cs typeface="Arial"/>
              </a:rPr>
              <a:t>Note:</a:t>
            </a:r>
            <a:endParaRPr sz="1100">
              <a:latin typeface="Arial"/>
              <a:cs typeface="Arial"/>
            </a:endParaRPr>
          </a:p>
          <a:p>
            <a:pPr marL="520700" marR="157480" indent="-228600">
              <a:lnSpc>
                <a:spcPts val="1260"/>
              </a:lnSpc>
              <a:spcBef>
                <a:spcPts val="110"/>
              </a:spcBef>
              <a:buFont typeface="Symbol"/>
              <a:buChar char=""/>
              <a:tabLst>
                <a:tab pos="520065" algn="l"/>
                <a:tab pos="521334" algn="l"/>
              </a:tabLst>
            </a:pPr>
            <a:r>
              <a:rPr dirty="0" sz="1100" spc="-5">
                <a:latin typeface="Arial"/>
                <a:cs typeface="Arial"/>
              </a:rPr>
              <a:t>If g &gt; </a:t>
            </a:r>
            <a:r>
              <a:rPr dirty="0" sz="1100">
                <a:latin typeface="Arial"/>
                <a:cs typeface="Arial"/>
              </a:rPr>
              <a:t>g</a:t>
            </a:r>
            <a:r>
              <a:rPr dirty="0" baseline="-11904" sz="1050">
                <a:latin typeface="Arial"/>
                <a:cs typeface="Arial"/>
              </a:rPr>
              <a:t>w </a:t>
            </a:r>
            <a:r>
              <a:rPr dirty="0" sz="1100">
                <a:latin typeface="Arial"/>
                <a:cs typeface="Arial"/>
              </a:rPr>
              <a:t>then </a:t>
            </a:r>
            <a:r>
              <a:rPr dirty="0" sz="1100" spc="-5">
                <a:latin typeface="Arial"/>
                <a:cs typeface="Arial"/>
              </a:rPr>
              <a:t>c &lt; cr: there will be a shortage of capital equipment; investment </a:t>
            </a:r>
            <a:r>
              <a:rPr dirty="0" sz="1100">
                <a:latin typeface="Arial"/>
                <a:cs typeface="Arial"/>
              </a:rPr>
              <a:t>will </a:t>
            </a:r>
            <a:r>
              <a:rPr dirty="0" sz="1100" spc="-5">
                <a:latin typeface="Arial"/>
                <a:cs typeface="Arial"/>
              </a:rPr>
              <a:t>be  encouraged.</a:t>
            </a:r>
            <a:endParaRPr sz="1100">
              <a:latin typeface="Arial"/>
              <a:cs typeface="Arial"/>
            </a:endParaRPr>
          </a:p>
          <a:p>
            <a:pPr marL="520700" indent="-229235">
              <a:lnSpc>
                <a:spcPts val="1310"/>
              </a:lnSpc>
              <a:buFont typeface="Symbol"/>
              <a:buChar char=""/>
              <a:tabLst>
                <a:tab pos="520065" algn="l"/>
                <a:tab pos="521334" algn="l"/>
              </a:tabLst>
            </a:pPr>
            <a:r>
              <a:rPr dirty="0" sz="1100" spc="-5">
                <a:latin typeface="Arial"/>
                <a:cs typeface="Arial"/>
              </a:rPr>
              <a:t>If g &lt; </a:t>
            </a:r>
            <a:r>
              <a:rPr dirty="0" sz="1100">
                <a:latin typeface="Arial"/>
                <a:cs typeface="Arial"/>
              </a:rPr>
              <a:t>g</a:t>
            </a:r>
            <a:r>
              <a:rPr dirty="0" baseline="-11904" sz="1050">
                <a:latin typeface="Arial"/>
                <a:cs typeface="Arial"/>
              </a:rPr>
              <a:t>w </a:t>
            </a:r>
            <a:r>
              <a:rPr dirty="0" sz="1100">
                <a:latin typeface="Arial"/>
                <a:cs typeface="Arial"/>
              </a:rPr>
              <a:t>then </a:t>
            </a:r>
            <a:r>
              <a:rPr dirty="0" sz="1100" spc="-5">
                <a:latin typeface="Arial"/>
                <a:cs typeface="Arial"/>
              </a:rPr>
              <a:t>c &gt; cr: there will be surplus of capital; investment will be</a:t>
            </a:r>
            <a:r>
              <a:rPr dirty="0" sz="1100" spc="50">
                <a:latin typeface="Arial"/>
                <a:cs typeface="Arial"/>
              </a:rPr>
              <a:t> </a:t>
            </a:r>
            <a:r>
              <a:rPr dirty="0" sz="1100" spc="-5">
                <a:latin typeface="Arial"/>
                <a:cs typeface="Arial"/>
              </a:rPr>
              <a:t>discouraged.</a:t>
            </a:r>
            <a:endParaRPr sz="1100">
              <a:latin typeface="Arial"/>
              <a:cs typeface="Arial"/>
            </a:endParaRPr>
          </a:p>
          <a:p>
            <a:pPr marL="520700" marR="158115" indent="-228600">
              <a:lnSpc>
                <a:spcPts val="1260"/>
              </a:lnSpc>
              <a:spcBef>
                <a:spcPts val="110"/>
              </a:spcBef>
              <a:buFont typeface="Symbol"/>
              <a:buChar char=""/>
              <a:tabLst>
                <a:tab pos="520065" algn="l"/>
                <a:tab pos="521334" algn="l"/>
              </a:tabLst>
            </a:pPr>
            <a:r>
              <a:rPr dirty="0" sz="1100" spc="-5">
                <a:latin typeface="Arial"/>
                <a:cs typeface="Arial"/>
              </a:rPr>
              <a:t>If g &gt; </a:t>
            </a:r>
            <a:r>
              <a:rPr dirty="0" sz="1100">
                <a:latin typeface="Arial"/>
                <a:cs typeface="Arial"/>
              </a:rPr>
              <a:t>g</a:t>
            </a:r>
            <a:r>
              <a:rPr dirty="0" baseline="-11904" sz="1050">
                <a:latin typeface="Arial"/>
                <a:cs typeface="Arial"/>
              </a:rPr>
              <a:t>w </a:t>
            </a:r>
            <a:r>
              <a:rPr dirty="0" sz="1100" spc="-5">
                <a:latin typeface="Arial"/>
                <a:cs typeface="Arial"/>
              </a:rPr>
              <a:t>then c &lt; cr: there will be a shortage of capital equipment; investment </a:t>
            </a:r>
            <a:r>
              <a:rPr dirty="0" sz="1100">
                <a:latin typeface="Arial"/>
                <a:cs typeface="Arial"/>
              </a:rPr>
              <a:t>will </a:t>
            </a:r>
            <a:r>
              <a:rPr dirty="0" sz="1100" spc="-5">
                <a:latin typeface="Arial"/>
                <a:cs typeface="Arial"/>
              </a:rPr>
              <a:t>be  encouraged.</a:t>
            </a:r>
            <a:endParaRPr sz="1100">
              <a:latin typeface="Arial"/>
              <a:cs typeface="Arial"/>
            </a:endParaRPr>
          </a:p>
          <a:p>
            <a:pPr marL="520700" indent="-229235">
              <a:lnSpc>
                <a:spcPts val="1310"/>
              </a:lnSpc>
              <a:buFont typeface="Symbol"/>
              <a:buChar char=""/>
              <a:tabLst>
                <a:tab pos="520065" algn="l"/>
                <a:tab pos="521334" algn="l"/>
              </a:tabLst>
            </a:pPr>
            <a:r>
              <a:rPr dirty="0" sz="1100" spc="-5">
                <a:latin typeface="Arial"/>
                <a:cs typeface="Arial"/>
              </a:rPr>
              <a:t>If g &lt; </a:t>
            </a:r>
            <a:r>
              <a:rPr dirty="0" sz="1100">
                <a:latin typeface="Arial"/>
                <a:cs typeface="Arial"/>
              </a:rPr>
              <a:t>g</a:t>
            </a:r>
            <a:r>
              <a:rPr dirty="0" baseline="-11904" sz="1050">
                <a:latin typeface="Arial"/>
                <a:cs typeface="Arial"/>
              </a:rPr>
              <a:t>w </a:t>
            </a:r>
            <a:r>
              <a:rPr dirty="0" sz="1100" spc="-5">
                <a:latin typeface="Arial"/>
                <a:cs typeface="Arial"/>
              </a:rPr>
              <a:t>then c &gt; cr: there will be surplus of capital; investment will be</a:t>
            </a:r>
            <a:r>
              <a:rPr dirty="0" sz="1100" spc="145">
                <a:latin typeface="Arial"/>
                <a:cs typeface="Arial"/>
              </a:rPr>
              <a:t> </a:t>
            </a:r>
            <a:r>
              <a:rPr dirty="0" sz="1100" spc="-5">
                <a:latin typeface="Arial"/>
                <a:cs typeface="Arial"/>
              </a:rPr>
              <a:t>discouraged.</a:t>
            </a:r>
            <a:endParaRPr sz="1100">
              <a:latin typeface="Arial"/>
              <a:cs typeface="Arial"/>
            </a:endParaRPr>
          </a:p>
          <a:p>
            <a:pPr marL="520700" indent="-229235">
              <a:lnSpc>
                <a:spcPct val="100000"/>
              </a:lnSpc>
              <a:spcBef>
                <a:spcPts val="20"/>
              </a:spcBef>
              <a:buFont typeface="Symbol"/>
              <a:buChar char=""/>
              <a:tabLst>
                <a:tab pos="520065" algn="l"/>
                <a:tab pos="521334" algn="l"/>
              </a:tabLst>
            </a:pPr>
            <a:r>
              <a:rPr dirty="0" sz="1100" spc="-5">
                <a:latin typeface="Arial"/>
                <a:cs typeface="Arial"/>
              </a:rPr>
              <a:t>If g ≠ g</a:t>
            </a:r>
            <a:r>
              <a:rPr dirty="0" baseline="-11904" sz="1050" spc="-7">
                <a:latin typeface="Arial"/>
                <a:cs typeface="Arial"/>
              </a:rPr>
              <a:t>w</a:t>
            </a:r>
            <a:r>
              <a:rPr dirty="0" sz="1100" spc="-5">
                <a:latin typeface="Arial"/>
                <a:cs typeface="Arial"/>
              </a:rPr>
              <a:t>, cyclical fluctuations</a:t>
            </a:r>
            <a:r>
              <a:rPr dirty="0" sz="1100" spc="20">
                <a:latin typeface="Arial"/>
                <a:cs typeface="Arial"/>
              </a:rPr>
              <a:t> </a:t>
            </a:r>
            <a:r>
              <a:rPr dirty="0" sz="1100" spc="-5">
                <a:latin typeface="Arial"/>
                <a:cs typeface="Arial"/>
              </a:rPr>
              <a:t>occur</a:t>
            </a:r>
            <a:endParaRPr sz="1100">
              <a:latin typeface="Arial"/>
              <a:cs typeface="Arial"/>
            </a:endParaRPr>
          </a:p>
          <a:p>
            <a:pPr marL="520700" indent="-229235">
              <a:lnSpc>
                <a:spcPts val="1295"/>
              </a:lnSpc>
              <a:spcBef>
                <a:spcPts val="20"/>
              </a:spcBef>
              <a:buFont typeface="Symbol"/>
              <a:buChar char=""/>
              <a:tabLst>
                <a:tab pos="520065" algn="l"/>
                <a:tab pos="521334" algn="l"/>
              </a:tabLst>
            </a:pPr>
            <a:r>
              <a:rPr dirty="0" sz="1100" spc="-5">
                <a:latin typeface="Arial"/>
                <a:cs typeface="Arial"/>
              </a:rPr>
              <a:t>If gw ≠ </a:t>
            </a:r>
            <a:r>
              <a:rPr dirty="0" sz="1100">
                <a:latin typeface="Arial"/>
                <a:cs typeface="Arial"/>
              </a:rPr>
              <a:t>g</a:t>
            </a:r>
            <a:r>
              <a:rPr dirty="0" baseline="-11904" sz="1050">
                <a:latin typeface="Arial"/>
                <a:cs typeface="Arial"/>
              </a:rPr>
              <a:t>n</a:t>
            </a:r>
            <a:r>
              <a:rPr dirty="0" baseline="-11904" sz="1050" spc="165">
                <a:latin typeface="Arial"/>
                <a:cs typeface="Arial"/>
              </a:rPr>
              <a:t> </a:t>
            </a:r>
            <a:r>
              <a:rPr dirty="0" sz="1100" spc="-5">
                <a:latin typeface="Arial"/>
                <a:cs typeface="Arial"/>
              </a:rPr>
              <a:t>:</a:t>
            </a:r>
            <a:endParaRPr sz="1100">
              <a:latin typeface="Arial"/>
              <a:cs typeface="Arial"/>
            </a:endParaRPr>
          </a:p>
          <a:p>
            <a:pPr lvl="1" marL="749300" indent="-229235">
              <a:lnSpc>
                <a:spcPts val="1265"/>
              </a:lnSpc>
              <a:buChar char="–"/>
              <a:tabLst>
                <a:tab pos="748665" algn="l"/>
                <a:tab pos="749935" algn="l"/>
              </a:tabLst>
            </a:pPr>
            <a:r>
              <a:rPr dirty="0" sz="1100" spc="-5">
                <a:latin typeface="Arial"/>
                <a:cs typeface="Arial"/>
              </a:rPr>
              <a:t>secular stagnation if </a:t>
            </a:r>
            <a:r>
              <a:rPr dirty="0" sz="1100">
                <a:latin typeface="Arial"/>
                <a:cs typeface="Arial"/>
              </a:rPr>
              <a:t>g</a:t>
            </a:r>
            <a:r>
              <a:rPr dirty="0" baseline="-11904" sz="1050">
                <a:latin typeface="Arial"/>
                <a:cs typeface="Arial"/>
              </a:rPr>
              <a:t>w </a:t>
            </a:r>
            <a:r>
              <a:rPr dirty="0" sz="1100" spc="-5">
                <a:latin typeface="Arial"/>
                <a:cs typeface="Arial"/>
              </a:rPr>
              <a:t>&gt;</a:t>
            </a:r>
            <a:r>
              <a:rPr dirty="0" sz="1100" spc="-85">
                <a:latin typeface="Arial"/>
                <a:cs typeface="Arial"/>
              </a:rPr>
              <a:t> </a:t>
            </a:r>
            <a:r>
              <a:rPr dirty="0" sz="1100">
                <a:latin typeface="Arial"/>
                <a:cs typeface="Arial"/>
              </a:rPr>
              <a:t>g</a:t>
            </a:r>
            <a:r>
              <a:rPr dirty="0" baseline="-11904" sz="1050">
                <a:latin typeface="Arial"/>
                <a:cs typeface="Arial"/>
              </a:rPr>
              <a:t>n</a:t>
            </a:r>
            <a:endParaRPr baseline="-11904" sz="1050">
              <a:latin typeface="Arial"/>
              <a:cs typeface="Arial"/>
            </a:endParaRPr>
          </a:p>
          <a:p>
            <a:pPr lvl="1" marL="748665" indent="-228600">
              <a:lnSpc>
                <a:spcPts val="1290"/>
              </a:lnSpc>
              <a:buChar char="–"/>
              <a:tabLst>
                <a:tab pos="748665" algn="l"/>
                <a:tab pos="749300" algn="l"/>
              </a:tabLst>
            </a:pPr>
            <a:r>
              <a:rPr dirty="0" sz="1100" spc="-5">
                <a:latin typeface="Arial"/>
                <a:cs typeface="Arial"/>
              </a:rPr>
              <a:t>structural unemployment and inflation if </a:t>
            </a:r>
            <a:r>
              <a:rPr dirty="0" sz="1100">
                <a:latin typeface="Arial"/>
                <a:cs typeface="Arial"/>
              </a:rPr>
              <a:t>g</a:t>
            </a:r>
            <a:r>
              <a:rPr dirty="0" baseline="-11904" sz="1050">
                <a:latin typeface="Arial"/>
                <a:cs typeface="Arial"/>
              </a:rPr>
              <a:t>n </a:t>
            </a:r>
            <a:r>
              <a:rPr dirty="0" sz="1100" spc="-5">
                <a:latin typeface="Arial"/>
                <a:cs typeface="Arial"/>
              </a:rPr>
              <a:t>&gt;</a:t>
            </a:r>
            <a:r>
              <a:rPr dirty="0" sz="1100" spc="30">
                <a:latin typeface="Arial"/>
                <a:cs typeface="Arial"/>
              </a:rPr>
              <a:t> </a:t>
            </a:r>
            <a:r>
              <a:rPr dirty="0" sz="1100">
                <a:latin typeface="Arial"/>
                <a:cs typeface="Arial"/>
              </a:rPr>
              <a:t>g</a:t>
            </a:r>
            <a:r>
              <a:rPr dirty="0" baseline="-11904" sz="1050">
                <a:latin typeface="Arial"/>
                <a:cs typeface="Arial"/>
              </a:rPr>
              <a:t>w</a:t>
            </a:r>
            <a:endParaRPr baseline="-11904" sz="1050">
              <a:latin typeface="Arial"/>
              <a:cs typeface="Arial"/>
            </a:endParaRPr>
          </a:p>
          <a:p>
            <a:pPr marL="520700" marR="158115" indent="-229235">
              <a:lnSpc>
                <a:spcPts val="1260"/>
              </a:lnSpc>
              <a:spcBef>
                <a:spcPts val="114"/>
              </a:spcBef>
              <a:buFont typeface="Symbol"/>
              <a:buChar char=""/>
              <a:tabLst>
                <a:tab pos="520065" algn="l"/>
                <a:tab pos="521334" algn="l"/>
              </a:tabLst>
            </a:pPr>
            <a:r>
              <a:rPr dirty="0" sz="1100" spc="-5">
                <a:latin typeface="Arial"/>
                <a:cs typeface="Arial"/>
              </a:rPr>
              <a:t>Most developing countries have labour growing faster than capital accumulation i.e. </a:t>
            </a:r>
            <a:r>
              <a:rPr dirty="0" sz="1100">
                <a:latin typeface="Arial"/>
                <a:cs typeface="Arial"/>
              </a:rPr>
              <a:t>g</a:t>
            </a:r>
            <a:r>
              <a:rPr dirty="0" baseline="-11904" sz="1050">
                <a:latin typeface="Arial"/>
                <a:cs typeface="Arial"/>
              </a:rPr>
              <a:t>n </a:t>
            </a:r>
            <a:r>
              <a:rPr dirty="0" sz="1100" spc="-5">
                <a:latin typeface="Arial"/>
                <a:cs typeface="Arial"/>
              </a:rPr>
              <a:t>&gt;  </a:t>
            </a:r>
            <a:r>
              <a:rPr dirty="0" sz="1100">
                <a:latin typeface="Arial"/>
                <a:cs typeface="Arial"/>
              </a:rPr>
              <a:t>g</a:t>
            </a:r>
            <a:r>
              <a:rPr dirty="0" baseline="-11904" sz="1050">
                <a:latin typeface="Arial"/>
                <a:cs typeface="Arial"/>
              </a:rPr>
              <a:t>w</a:t>
            </a:r>
            <a:endParaRPr baseline="-11904" sz="1050">
              <a:latin typeface="Arial"/>
              <a:cs typeface="Arial"/>
            </a:endParaRPr>
          </a:p>
          <a:p>
            <a:pPr marL="520700" indent="-229235">
              <a:lnSpc>
                <a:spcPts val="1310"/>
              </a:lnSpc>
              <a:buFont typeface="Symbol"/>
              <a:buChar char=""/>
              <a:tabLst>
                <a:tab pos="520065" algn="l"/>
                <a:tab pos="521334" algn="l"/>
              </a:tabLst>
            </a:pPr>
            <a:r>
              <a:rPr dirty="0" sz="1100" spc="-5">
                <a:latin typeface="Arial"/>
                <a:cs typeface="Arial"/>
              </a:rPr>
              <a:t>If g &gt; g</a:t>
            </a:r>
            <a:r>
              <a:rPr dirty="0" baseline="-11904" sz="1050" spc="-7">
                <a:latin typeface="Arial"/>
                <a:cs typeface="Arial"/>
              </a:rPr>
              <a:t>w</a:t>
            </a:r>
            <a:r>
              <a:rPr dirty="0" sz="1100" spc="-5">
                <a:latin typeface="Arial"/>
                <a:cs typeface="Arial"/>
              </a:rPr>
              <a:t>, g will continue to diverge from </a:t>
            </a:r>
            <a:r>
              <a:rPr dirty="0" sz="1100">
                <a:latin typeface="Arial"/>
                <a:cs typeface="Arial"/>
              </a:rPr>
              <a:t>g</a:t>
            </a:r>
            <a:r>
              <a:rPr dirty="0" baseline="-11904" sz="1050">
                <a:latin typeface="Arial"/>
                <a:cs typeface="Arial"/>
              </a:rPr>
              <a:t>w </a:t>
            </a:r>
            <a:r>
              <a:rPr dirty="0" sz="1100" spc="-5">
                <a:latin typeface="Arial"/>
                <a:cs typeface="Arial"/>
              </a:rPr>
              <a:t>only until it hits g</a:t>
            </a:r>
            <a:r>
              <a:rPr dirty="0" baseline="-11904" sz="1050" spc="-7">
                <a:latin typeface="Arial"/>
                <a:cs typeface="Arial"/>
              </a:rPr>
              <a:t>n</a:t>
            </a:r>
            <a:r>
              <a:rPr dirty="0" sz="1100" spc="-5">
                <a:latin typeface="Arial"/>
                <a:cs typeface="Arial"/>
              </a:rPr>
              <a:t>.</a:t>
            </a:r>
            <a:endParaRPr sz="1100">
              <a:latin typeface="Arial"/>
              <a:cs typeface="Arial"/>
            </a:endParaRPr>
          </a:p>
          <a:p>
            <a:pPr marL="520700" indent="-229235">
              <a:lnSpc>
                <a:spcPts val="1295"/>
              </a:lnSpc>
              <a:spcBef>
                <a:spcPts val="15"/>
              </a:spcBef>
              <a:buFont typeface="Symbol"/>
              <a:buChar char=""/>
              <a:tabLst>
                <a:tab pos="520065" algn="l"/>
                <a:tab pos="521334" algn="l"/>
              </a:tabLst>
            </a:pPr>
            <a:r>
              <a:rPr dirty="0" sz="1100" spc="-5">
                <a:latin typeface="Arial"/>
                <a:cs typeface="Arial"/>
              </a:rPr>
              <a:t>The full employment of labour and capital</a:t>
            </a:r>
            <a:r>
              <a:rPr dirty="0" sz="1100" spc="35">
                <a:latin typeface="Arial"/>
                <a:cs typeface="Arial"/>
              </a:rPr>
              <a:t> </a:t>
            </a:r>
            <a:r>
              <a:rPr dirty="0" sz="1100" spc="-5">
                <a:latin typeface="Arial"/>
                <a:cs typeface="Arial"/>
              </a:rPr>
              <a:t>requires</a:t>
            </a:r>
            <a:endParaRPr sz="1100">
              <a:latin typeface="Arial"/>
              <a:cs typeface="Arial"/>
            </a:endParaRPr>
          </a:p>
          <a:p>
            <a:pPr lvl="1" marL="748665" indent="-228600">
              <a:lnSpc>
                <a:spcPts val="1295"/>
              </a:lnSpc>
              <a:buChar char="–"/>
              <a:tabLst>
                <a:tab pos="748665" algn="l"/>
                <a:tab pos="749300" algn="l"/>
              </a:tabLst>
            </a:pPr>
            <a:r>
              <a:rPr dirty="0" sz="1100" spc="-5">
                <a:latin typeface="Arial"/>
                <a:cs typeface="Arial"/>
              </a:rPr>
              <a:t>g=g</a:t>
            </a:r>
            <a:r>
              <a:rPr dirty="0" baseline="-11904" sz="1050" spc="-7">
                <a:latin typeface="Arial"/>
                <a:cs typeface="Arial"/>
              </a:rPr>
              <a:t>w</a:t>
            </a:r>
            <a:r>
              <a:rPr dirty="0" sz="1100" spc="-5">
                <a:latin typeface="Arial"/>
                <a:cs typeface="Arial"/>
              </a:rPr>
              <a:t>=g</a:t>
            </a:r>
            <a:r>
              <a:rPr dirty="0" baseline="-11904" sz="1050" spc="-7">
                <a:latin typeface="Arial"/>
                <a:cs typeface="Arial"/>
              </a:rPr>
              <a:t>n </a:t>
            </a:r>
            <a:r>
              <a:rPr dirty="0" sz="1100">
                <a:latin typeface="Arial"/>
                <a:cs typeface="Arial"/>
              </a:rPr>
              <a:t>(Joan </a:t>
            </a:r>
            <a:r>
              <a:rPr dirty="0" sz="1100" spc="-5">
                <a:latin typeface="Arial"/>
                <a:cs typeface="Arial"/>
              </a:rPr>
              <a:t>Robinson called it Golden</a:t>
            </a:r>
            <a:r>
              <a:rPr dirty="0" sz="1100" spc="-60">
                <a:latin typeface="Arial"/>
                <a:cs typeface="Arial"/>
              </a:rPr>
              <a:t> </a:t>
            </a:r>
            <a:r>
              <a:rPr dirty="0" sz="1100" spc="-5">
                <a:latin typeface="Arial"/>
                <a:cs typeface="Arial"/>
              </a:rPr>
              <a:t>Age).</a:t>
            </a:r>
            <a:endParaRPr sz="1100">
              <a:latin typeface="Arial"/>
              <a:cs typeface="Arial"/>
            </a:endParaRPr>
          </a:p>
          <a:p>
            <a:pPr marL="520700" marR="158750" indent="-228600">
              <a:lnSpc>
                <a:spcPts val="1270"/>
              </a:lnSpc>
              <a:spcBef>
                <a:spcPts val="105"/>
              </a:spcBef>
              <a:buFont typeface="Symbol"/>
              <a:buChar char=""/>
              <a:tabLst>
                <a:tab pos="520065" algn="l"/>
                <a:tab pos="521334" algn="l"/>
              </a:tabLst>
            </a:pPr>
            <a:r>
              <a:rPr dirty="0" sz="1100" spc="-5">
                <a:latin typeface="Arial"/>
                <a:cs typeface="Arial"/>
              </a:rPr>
              <a:t>If g &gt; </a:t>
            </a:r>
            <a:r>
              <a:rPr dirty="0" sz="1100">
                <a:latin typeface="Arial"/>
                <a:cs typeface="Arial"/>
              </a:rPr>
              <a:t>g</a:t>
            </a:r>
            <a:r>
              <a:rPr dirty="0" baseline="-11904" sz="1050">
                <a:latin typeface="Arial"/>
                <a:cs typeface="Arial"/>
              </a:rPr>
              <a:t>w </a:t>
            </a:r>
            <a:r>
              <a:rPr dirty="0" sz="1100">
                <a:latin typeface="Arial"/>
                <a:cs typeface="Arial"/>
              </a:rPr>
              <a:t>then </a:t>
            </a:r>
            <a:r>
              <a:rPr dirty="0" sz="1100" spc="-5">
                <a:latin typeface="Arial"/>
                <a:cs typeface="Arial"/>
              </a:rPr>
              <a:t>c &lt; c</a:t>
            </a:r>
            <a:r>
              <a:rPr dirty="0" baseline="-11904" sz="1050" spc="-7">
                <a:latin typeface="Arial"/>
                <a:cs typeface="Arial"/>
              </a:rPr>
              <a:t>r </a:t>
            </a:r>
            <a:r>
              <a:rPr dirty="0" sz="1100" spc="-5">
                <a:latin typeface="Arial"/>
                <a:cs typeface="Arial"/>
              </a:rPr>
              <a:t>: there will be a shortage of capital equipment; investment will </a:t>
            </a:r>
            <a:r>
              <a:rPr dirty="0" sz="1100">
                <a:latin typeface="Arial"/>
                <a:cs typeface="Arial"/>
              </a:rPr>
              <a:t>be  </a:t>
            </a:r>
            <a:r>
              <a:rPr dirty="0" sz="1100" spc="-5">
                <a:latin typeface="Arial"/>
                <a:cs typeface="Arial"/>
              </a:rPr>
              <a:t>encouraged.</a:t>
            </a:r>
            <a:endParaRPr sz="1100">
              <a:latin typeface="Arial"/>
              <a:cs typeface="Arial"/>
            </a:endParaRPr>
          </a:p>
          <a:p>
            <a:pPr lvl="1" marL="748665" indent="-228600">
              <a:lnSpc>
                <a:spcPts val="1220"/>
              </a:lnSpc>
              <a:buChar char="–"/>
              <a:tabLst>
                <a:tab pos="748665" algn="l"/>
                <a:tab pos="749300" algn="l"/>
              </a:tabLst>
            </a:pPr>
            <a:r>
              <a:rPr dirty="0" sz="1100" spc="-5">
                <a:latin typeface="Arial"/>
                <a:cs typeface="Arial"/>
              </a:rPr>
              <a:t>Where c</a:t>
            </a:r>
            <a:r>
              <a:rPr dirty="0" baseline="-11904" sz="1050" spc="-7">
                <a:latin typeface="Arial"/>
                <a:cs typeface="Arial"/>
              </a:rPr>
              <a:t>r </a:t>
            </a:r>
            <a:r>
              <a:rPr dirty="0" sz="1100" spc="-5">
                <a:latin typeface="Arial"/>
                <a:cs typeface="Arial"/>
              </a:rPr>
              <a:t>is the required incremental capital-output</a:t>
            </a:r>
            <a:r>
              <a:rPr dirty="0" sz="1100" spc="-40">
                <a:latin typeface="Arial"/>
                <a:cs typeface="Arial"/>
              </a:rPr>
              <a:t> </a:t>
            </a:r>
            <a:r>
              <a:rPr dirty="0" sz="1100" spc="-5">
                <a:latin typeface="Arial"/>
                <a:cs typeface="Arial"/>
              </a:rPr>
              <a:t>ratio.</a:t>
            </a:r>
            <a:endParaRPr sz="1100">
              <a:latin typeface="Arial"/>
              <a:cs typeface="Arial"/>
            </a:endParaRPr>
          </a:p>
          <a:p>
            <a:pPr marL="520700" indent="-229235">
              <a:lnSpc>
                <a:spcPct val="100000"/>
              </a:lnSpc>
              <a:spcBef>
                <a:spcPts val="25"/>
              </a:spcBef>
              <a:buFont typeface="Symbol"/>
              <a:buChar char=""/>
              <a:tabLst>
                <a:tab pos="520065" algn="l"/>
                <a:tab pos="521334" algn="l"/>
              </a:tabLst>
            </a:pPr>
            <a:r>
              <a:rPr dirty="0" sz="1100" spc="-5">
                <a:latin typeface="Arial"/>
                <a:cs typeface="Arial"/>
              </a:rPr>
              <a:t>If g &lt; </a:t>
            </a:r>
            <a:r>
              <a:rPr dirty="0" sz="1100">
                <a:latin typeface="Arial"/>
                <a:cs typeface="Arial"/>
              </a:rPr>
              <a:t>g</a:t>
            </a:r>
            <a:r>
              <a:rPr dirty="0" baseline="-11904" sz="1050">
                <a:latin typeface="Arial"/>
                <a:cs typeface="Arial"/>
              </a:rPr>
              <a:t>w </a:t>
            </a:r>
            <a:r>
              <a:rPr dirty="0" sz="1100">
                <a:latin typeface="Arial"/>
                <a:cs typeface="Arial"/>
              </a:rPr>
              <a:t>then </a:t>
            </a:r>
            <a:r>
              <a:rPr dirty="0" sz="1100" spc="-5">
                <a:latin typeface="Arial"/>
                <a:cs typeface="Arial"/>
              </a:rPr>
              <a:t>c &gt; c</a:t>
            </a:r>
            <a:r>
              <a:rPr dirty="0" baseline="-11904" sz="1050" spc="-7">
                <a:latin typeface="Arial"/>
                <a:cs typeface="Arial"/>
              </a:rPr>
              <a:t>r </a:t>
            </a:r>
            <a:r>
              <a:rPr dirty="0" sz="1100" spc="-5">
                <a:latin typeface="Arial"/>
                <a:cs typeface="Arial"/>
              </a:rPr>
              <a:t>: there will be surplus of capital; investment will be discouraged.</a:t>
            </a:r>
            <a:endParaRPr sz="1100">
              <a:latin typeface="Arial"/>
              <a:cs typeface="Arial"/>
            </a:endParaRPr>
          </a:p>
          <a:p>
            <a:pPr marL="63500">
              <a:lnSpc>
                <a:spcPct val="100000"/>
              </a:lnSpc>
              <a:spcBef>
                <a:spcPts val="1210"/>
              </a:spcBef>
            </a:pPr>
            <a:r>
              <a:rPr dirty="0" sz="1100" spc="-5" b="1">
                <a:latin typeface="Arial"/>
                <a:cs typeface="Arial"/>
              </a:rPr>
              <a:t>HOW g</a:t>
            </a:r>
            <a:r>
              <a:rPr dirty="0" baseline="-11904" sz="1050" spc="-7" b="1">
                <a:latin typeface="Arial"/>
                <a:cs typeface="Arial"/>
              </a:rPr>
              <a:t>n </a:t>
            </a:r>
            <a:r>
              <a:rPr dirty="0" sz="1100" spc="-5" b="1">
                <a:latin typeface="Arial"/>
                <a:cs typeface="Arial"/>
              </a:rPr>
              <a:t>&gt; </a:t>
            </a:r>
            <a:r>
              <a:rPr dirty="0" sz="1100" b="1">
                <a:latin typeface="Arial"/>
                <a:cs typeface="Arial"/>
              </a:rPr>
              <a:t>g</a:t>
            </a:r>
            <a:r>
              <a:rPr dirty="0" baseline="-11904" sz="1050" b="1">
                <a:latin typeface="Arial"/>
                <a:cs typeface="Arial"/>
              </a:rPr>
              <a:t>w </a:t>
            </a:r>
            <a:r>
              <a:rPr dirty="0" sz="1100" spc="-5" b="1">
                <a:latin typeface="Arial"/>
                <a:cs typeface="Arial"/>
              </a:rPr>
              <a:t>Can Be</a:t>
            </a:r>
            <a:r>
              <a:rPr dirty="0" sz="1100" spc="-65" b="1">
                <a:latin typeface="Arial"/>
                <a:cs typeface="Arial"/>
              </a:rPr>
              <a:t> </a:t>
            </a:r>
            <a:r>
              <a:rPr dirty="0" sz="1100" spc="-5" b="1">
                <a:latin typeface="Arial"/>
                <a:cs typeface="Arial"/>
              </a:rPr>
              <a:t>Corrected?</a:t>
            </a:r>
            <a:endParaRPr sz="1100">
              <a:latin typeface="Arial"/>
              <a:cs typeface="Arial"/>
            </a:endParaRPr>
          </a:p>
          <a:p>
            <a:pPr>
              <a:lnSpc>
                <a:spcPct val="100000"/>
              </a:lnSpc>
              <a:spcBef>
                <a:spcPts val="55"/>
              </a:spcBef>
            </a:pPr>
            <a:endParaRPr sz="1100">
              <a:latin typeface="Arial"/>
              <a:cs typeface="Arial"/>
            </a:endParaRPr>
          </a:p>
          <a:p>
            <a:pPr marL="520700" indent="-228600">
              <a:lnSpc>
                <a:spcPts val="1295"/>
              </a:lnSpc>
              <a:buFont typeface="Arial"/>
              <a:buAutoNum type="arabicPeriod"/>
              <a:tabLst>
                <a:tab pos="520700" algn="l"/>
              </a:tabLst>
            </a:pPr>
            <a:r>
              <a:rPr dirty="0" sz="1100" spc="-5">
                <a:latin typeface="Arial"/>
                <a:cs typeface="Arial"/>
              </a:rPr>
              <a:t>Reduce the rate of growth of labor</a:t>
            </a:r>
            <a:r>
              <a:rPr dirty="0" sz="1100" spc="30">
                <a:latin typeface="Arial"/>
                <a:cs typeface="Arial"/>
              </a:rPr>
              <a:t> </a:t>
            </a:r>
            <a:r>
              <a:rPr dirty="0" sz="1100" spc="-5">
                <a:latin typeface="Arial"/>
                <a:cs typeface="Arial"/>
              </a:rPr>
              <a:t>force.</a:t>
            </a:r>
            <a:endParaRPr sz="1100">
              <a:latin typeface="Arial"/>
              <a:cs typeface="Arial"/>
            </a:endParaRPr>
          </a:p>
          <a:p>
            <a:pPr marL="520700" indent="-228600">
              <a:lnSpc>
                <a:spcPts val="1265"/>
              </a:lnSpc>
              <a:buFont typeface="Arial"/>
              <a:buAutoNum type="arabicPeriod"/>
              <a:tabLst>
                <a:tab pos="520700" algn="l"/>
              </a:tabLst>
            </a:pPr>
            <a:r>
              <a:rPr dirty="0" sz="1100" spc="-5">
                <a:latin typeface="Arial"/>
                <a:cs typeface="Arial"/>
              </a:rPr>
              <a:t>Reduction in labor productivity’s growth</a:t>
            </a:r>
            <a:r>
              <a:rPr dirty="0" sz="1100" spc="15">
                <a:latin typeface="Arial"/>
                <a:cs typeface="Arial"/>
              </a:rPr>
              <a:t> </a:t>
            </a:r>
            <a:r>
              <a:rPr dirty="0" sz="1100" spc="-5">
                <a:latin typeface="Arial"/>
                <a:cs typeface="Arial"/>
              </a:rPr>
              <a:t>rate.</a:t>
            </a:r>
            <a:endParaRPr sz="1100">
              <a:latin typeface="Arial"/>
              <a:cs typeface="Arial"/>
            </a:endParaRPr>
          </a:p>
          <a:p>
            <a:pPr marL="520700" indent="-228600">
              <a:lnSpc>
                <a:spcPts val="1295"/>
              </a:lnSpc>
              <a:buFont typeface="Arial"/>
              <a:buAutoNum type="arabicPeriod"/>
              <a:tabLst>
                <a:tab pos="520700" algn="l"/>
              </a:tabLst>
            </a:pPr>
            <a:r>
              <a:rPr dirty="0" sz="1100" spc="-5">
                <a:latin typeface="Arial"/>
                <a:cs typeface="Arial"/>
              </a:rPr>
              <a:t>Increase in the saving</a:t>
            </a:r>
            <a:r>
              <a:rPr dirty="0" sz="1100" spc="10">
                <a:latin typeface="Arial"/>
                <a:cs typeface="Arial"/>
              </a:rPr>
              <a:t> </a:t>
            </a:r>
            <a:r>
              <a:rPr dirty="0" sz="1100" spc="-5">
                <a:latin typeface="Arial"/>
                <a:cs typeface="Arial"/>
              </a:rPr>
              <a:t>ratio.</a:t>
            </a:r>
            <a:endParaRPr sz="1100">
              <a:latin typeface="Arial"/>
              <a:cs typeface="Arial"/>
            </a:endParaRPr>
          </a:p>
        </p:txBody>
      </p:sp>
      <p:sp>
        <p:nvSpPr>
          <p:cNvPr id="9" name="object 9"/>
          <p:cNvSpPr/>
          <p:nvPr/>
        </p:nvSpPr>
        <p:spPr>
          <a:xfrm>
            <a:off x="1850219" y="1640068"/>
            <a:ext cx="4141415" cy="3134068"/>
          </a:xfrm>
          <a:prstGeom prst="rect">
            <a:avLst/>
          </a:prstGeom>
          <a:blipFill>
            <a:blip r:embed="rId3" cstate="print"/>
            <a:stretch>
              <a:fillRect/>
            </a:stretch>
          </a:blipFill>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123</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3116579" y="2538222"/>
            <a:ext cx="838199" cy="178307"/>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4400" y="3037332"/>
            <a:ext cx="1771650" cy="181355"/>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914400" y="4351020"/>
            <a:ext cx="1009650" cy="172974"/>
          </a:xfrm>
          <a:prstGeom prst="rect">
            <a:avLst/>
          </a:prstGeom>
          <a:blipFill>
            <a:blip r:embed="rId4" cstate="print"/>
            <a:stretch>
              <a:fillRect/>
            </a:stretch>
          </a:blipFill>
        </p:spPr>
        <p:txBody>
          <a:bodyPr wrap="square" lIns="0" tIns="0" rIns="0" bIns="0" rtlCol="0"/>
          <a:lstStyle/>
          <a:p/>
        </p:txBody>
      </p:sp>
      <p:grpSp>
        <p:nvGrpSpPr>
          <p:cNvPr id="9" name="object 9"/>
          <p:cNvGrpSpPr/>
          <p:nvPr/>
        </p:nvGrpSpPr>
        <p:grpSpPr>
          <a:xfrm>
            <a:off x="914400" y="5014721"/>
            <a:ext cx="1896110" cy="353695"/>
            <a:chOff x="914400" y="5014721"/>
            <a:chExt cx="1896110" cy="353695"/>
          </a:xfrm>
        </p:grpSpPr>
        <p:sp>
          <p:nvSpPr>
            <p:cNvPr id="10" name="object 10"/>
            <p:cNvSpPr/>
            <p:nvPr/>
          </p:nvSpPr>
          <p:spPr>
            <a:xfrm>
              <a:off x="1139190" y="5014721"/>
              <a:ext cx="533399" cy="172211"/>
            </a:xfrm>
            <a:prstGeom prst="rect">
              <a:avLst/>
            </a:prstGeom>
            <a:blipFill>
              <a:blip r:embed="rId5" cstate="print"/>
              <a:stretch>
                <a:fillRect/>
              </a:stretch>
            </a:blipFill>
          </p:spPr>
          <p:txBody>
            <a:bodyPr wrap="square" lIns="0" tIns="0" rIns="0" bIns="0" rtlCol="0"/>
            <a:lstStyle/>
            <a:p/>
          </p:txBody>
        </p:sp>
        <p:sp>
          <p:nvSpPr>
            <p:cNvPr id="11" name="object 11"/>
            <p:cNvSpPr/>
            <p:nvPr/>
          </p:nvSpPr>
          <p:spPr>
            <a:xfrm>
              <a:off x="914400" y="5190743"/>
              <a:ext cx="1895856" cy="177546"/>
            </a:xfrm>
            <a:prstGeom prst="rect">
              <a:avLst/>
            </a:prstGeom>
            <a:blipFill>
              <a:blip r:embed="rId6" cstate="print"/>
              <a:stretch>
                <a:fillRect/>
              </a:stretch>
            </a:blipFill>
          </p:spPr>
          <p:txBody>
            <a:bodyPr wrap="square" lIns="0" tIns="0" rIns="0" bIns="0" rtlCol="0"/>
            <a:lstStyle/>
            <a:p/>
          </p:txBody>
        </p:sp>
      </p:grpSp>
      <p:sp>
        <p:nvSpPr>
          <p:cNvPr id="12" name="object 12"/>
          <p:cNvSpPr/>
          <p:nvPr/>
        </p:nvSpPr>
        <p:spPr>
          <a:xfrm>
            <a:off x="1101089" y="5725667"/>
            <a:ext cx="409956" cy="163829"/>
          </a:xfrm>
          <a:prstGeom prst="rect">
            <a:avLst/>
          </a:prstGeom>
          <a:blipFill>
            <a:blip r:embed="rId7" cstate="print"/>
            <a:stretch>
              <a:fillRect/>
            </a:stretch>
          </a:blipFill>
        </p:spPr>
        <p:txBody>
          <a:bodyPr wrap="square" lIns="0" tIns="0" rIns="0" bIns="0" rtlCol="0"/>
          <a:lstStyle/>
          <a:p/>
        </p:txBody>
      </p:sp>
      <p:sp>
        <p:nvSpPr>
          <p:cNvPr id="13" name="object 13"/>
          <p:cNvSpPr/>
          <p:nvPr/>
        </p:nvSpPr>
        <p:spPr>
          <a:xfrm>
            <a:off x="914400" y="6537959"/>
            <a:ext cx="562356" cy="174497"/>
          </a:xfrm>
          <a:prstGeom prst="rect">
            <a:avLst/>
          </a:prstGeom>
          <a:blipFill>
            <a:blip r:embed="rId8" cstate="print"/>
            <a:stretch>
              <a:fillRect/>
            </a:stretch>
          </a:blipFill>
        </p:spPr>
        <p:txBody>
          <a:bodyPr wrap="square" lIns="0" tIns="0" rIns="0" bIns="0" rtlCol="0"/>
          <a:lstStyle/>
          <a:p/>
        </p:txBody>
      </p:sp>
      <p:sp>
        <p:nvSpPr>
          <p:cNvPr id="14" name="object 14"/>
          <p:cNvSpPr/>
          <p:nvPr/>
        </p:nvSpPr>
        <p:spPr>
          <a:xfrm>
            <a:off x="5376671" y="8479535"/>
            <a:ext cx="371855" cy="181356"/>
          </a:xfrm>
          <a:prstGeom prst="rect">
            <a:avLst/>
          </a:prstGeom>
          <a:blipFill>
            <a:blip r:embed="rId9" cstate="print"/>
            <a:stretch>
              <a:fillRect/>
            </a:stretch>
          </a:blipFill>
        </p:spPr>
        <p:txBody>
          <a:bodyPr wrap="square" lIns="0" tIns="0" rIns="0" bIns="0" rtlCol="0"/>
          <a:lstStyle/>
          <a:p/>
        </p:txBody>
      </p:sp>
      <p:sp>
        <p:nvSpPr>
          <p:cNvPr id="15" name="object 15"/>
          <p:cNvSpPr/>
          <p:nvPr/>
        </p:nvSpPr>
        <p:spPr>
          <a:xfrm>
            <a:off x="4418838" y="8667750"/>
            <a:ext cx="181355" cy="158496"/>
          </a:xfrm>
          <a:prstGeom prst="rect">
            <a:avLst/>
          </a:prstGeom>
          <a:blipFill>
            <a:blip r:embed="rId10" cstate="print"/>
            <a:stretch>
              <a:fillRect/>
            </a:stretch>
          </a:blipFill>
        </p:spPr>
        <p:txBody>
          <a:bodyPr wrap="square" lIns="0" tIns="0" rIns="0" bIns="0" rtlCol="0"/>
          <a:lstStyle/>
          <a:p/>
        </p:txBody>
      </p:sp>
      <p:sp>
        <p:nvSpPr>
          <p:cNvPr id="16" name="object 16"/>
          <p:cNvSpPr txBox="1"/>
          <p:nvPr/>
        </p:nvSpPr>
        <p:spPr>
          <a:xfrm>
            <a:off x="901692" y="891794"/>
            <a:ext cx="5969635" cy="7952740"/>
          </a:xfrm>
          <a:prstGeom prst="rect">
            <a:avLst/>
          </a:prstGeom>
        </p:spPr>
        <p:txBody>
          <a:bodyPr wrap="square" lIns="0" tIns="12065" rIns="0" bIns="0" rtlCol="0" vert="horz">
            <a:spAutoFit/>
          </a:bodyPr>
          <a:lstStyle/>
          <a:p>
            <a:pPr marL="241300">
              <a:lnSpc>
                <a:spcPct val="100000"/>
              </a:lnSpc>
              <a:spcBef>
                <a:spcPts val="95"/>
              </a:spcBef>
            </a:pPr>
            <a:r>
              <a:rPr dirty="0" sz="1100" spc="-5" b="1">
                <a:latin typeface="Arial"/>
                <a:cs typeface="Arial"/>
              </a:rPr>
              <a:t>4. </a:t>
            </a:r>
            <a:r>
              <a:rPr dirty="0" sz="1100" spc="-5">
                <a:latin typeface="Arial"/>
                <a:cs typeface="Arial"/>
              </a:rPr>
              <a:t>Use of labor-intensive techniques can reduce the capital-output</a:t>
            </a:r>
            <a:r>
              <a:rPr dirty="0" sz="1100" spc="35">
                <a:latin typeface="Arial"/>
                <a:cs typeface="Arial"/>
              </a:rPr>
              <a:t> </a:t>
            </a:r>
            <a:r>
              <a:rPr dirty="0" sz="1100" spc="-5">
                <a:latin typeface="Arial"/>
                <a:cs typeface="Arial"/>
              </a:rPr>
              <a:t>ratio.</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THE SOLOW NEOCLASSICAL GROWTH</a:t>
            </a:r>
            <a:r>
              <a:rPr dirty="0" sz="1100" spc="25" b="1">
                <a:latin typeface="Arial"/>
                <a:cs typeface="Arial"/>
              </a:rPr>
              <a:t> </a:t>
            </a:r>
            <a:r>
              <a:rPr dirty="0" sz="1100" spc="-5" b="1">
                <a:latin typeface="Arial"/>
                <a:cs typeface="Arial"/>
              </a:rPr>
              <a:t>MODEL</a:t>
            </a:r>
            <a:endParaRPr sz="1100">
              <a:latin typeface="Arial"/>
              <a:cs typeface="Arial"/>
            </a:endParaRPr>
          </a:p>
          <a:p>
            <a:pPr>
              <a:lnSpc>
                <a:spcPct val="100000"/>
              </a:lnSpc>
              <a:spcBef>
                <a:spcPts val="20"/>
              </a:spcBef>
            </a:pPr>
            <a:endParaRPr sz="1200">
              <a:latin typeface="Arial"/>
              <a:cs typeface="Arial"/>
            </a:endParaRPr>
          </a:p>
          <a:p>
            <a:pPr marL="12700" marR="5080">
              <a:lnSpc>
                <a:spcPts val="1270"/>
              </a:lnSpc>
            </a:pPr>
            <a:r>
              <a:rPr dirty="0" sz="1100" spc="-5">
                <a:latin typeface="Arial"/>
                <a:cs typeface="Arial"/>
              </a:rPr>
              <a:t>The Solow neoclassical growth model, for which Robert Solow of the Massachusetts Institute of  Technology received the Nobel Prize, is probably the best known model of economic</a:t>
            </a:r>
            <a:r>
              <a:rPr dirty="0" sz="1100" spc="185">
                <a:latin typeface="Arial"/>
                <a:cs typeface="Arial"/>
              </a:rPr>
              <a:t> </a:t>
            </a:r>
            <a:r>
              <a:rPr dirty="0" sz="1100" spc="-5">
                <a:latin typeface="Arial"/>
                <a:cs typeface="Arial"/>
              </a:rPr>
              <a:t>growth.</a:t>
            </a:r>
            <a:endParaRPr sz="1100">
              <a:latin typeface="Arial"/>
              <a:cs typeface="Arial"/>
            </a:endParaRPr>
          </a:p>
          <a:p>
            <a:pPr>
              <a:lnSpc>
                <a:spcPct val="100000"/>
              </a:lnSpc>
              <a:spcBef>
                <a:spcPts val="50"/>
              </a:spcBef>
            </a:pPr>
            <a:endParaRPr sz="1050">
              <a:latin typeface="Arial"/>
              <a:cs typeface="Arial"/>
            </a:endParaRPr>
          </a:p>
          <a:p>
            <a:pPr marL="12700" marR="6985">
              <a:lnSpc>
                <a:spcPts val="1270"/>
              </a:lnSpc>
            </a:pPr>
            <a:r>
              <a:rPr dirty="0" sz="1100" spc="-5">
                <a:latin typeface="Arial"/>
                <a:cs typeface="Arial"/>
              </a:rPr>
              <a:t>The Solow model allows for substitution between capital and labor. In the process, it assumes  that there are diminishing returns to the use of these</a:t>
            </a:r>
            <a:r>
              <a:rPr dirty="0" sz="1100" spc="55">
                <a:latin typeface="Arial"/>
                <a:cs typeface="Arial"/>
              </a:rPr>
              <a:t> </a:t>
            </a:r>
            <a:r>
              <a:rPr dirty="0" sz="1100" spc="-5">
                <a:latin typeface="Arial"/>
                <a:cs typeface="Arial"/>
              </a:rPr>
              <a:t>inputs.</a:t>
            </a:r>
            <a:endParaRPr sz="1100">
              <a:latin typeface="Arial"/>
              <a:cs typeface="Arial"/>
            </a:endParaRPr>
          </a:p>
          <a:p>
            <a:pPr>
              <a:lnSpc>
                <a:spcPct val="100000"/>
              </a:lnSpc>
              <a:spcBef>
                <a:spcPts val="35"/>
              </a:spcBef>
            </a:pPr>
            <a:endParaRPr sz="1100">
              <a:latin typeface="Arial"/>
              <a:cs typeface="Arial"/>
            </a:endParaRPr>
          </a:p>
          <a:p>
            <a:pPr algn="just" marL="12700" marR="5080">
              <a:lnSpc>
                <a:spcPct val="98000"/>
              </a:lnSpc>
              <a:spcBef>
                <a:spcPts val="5"/>
              </a:spcBef>
              <a:tabLst>
                <a:tab pos="3100705" algn="l"/>
              </a:tabLst>
            </a:pPr>
            <a:r>
              <a:rPr dirty="0" sz="1100" spc="-5">
                <a:latin typeface="Arial"/>
                <a:cs typeface="Arial"/>
              </a:rPr>
              <a:t>The aggregate</a:t>
            </a:r>
            <a:r>
              <a:rPr dirty="0" sz="1100" spc="190">
                <a:latin typeface="Arial"/>
                <a:cs typeface="Arial"/>
              </a:rPr>
              <a:t> </a:t>
            </a:r>
            <a:r>
              <a:rPr dirty="0" sz="1100" spc="-5">
                <a:latin typeface="Arial"/>
                <a:cs typeface="Arial"/>
              </a:rPr>
              <a:t>production</a:t>
            </a:r>
            <a:r>
              <a:rPr dirty="0" sz="1100" spc="95">
                <a:latin typeface="Arial"/>
                <a:cs typeface="Arial"/>
              </a:rPr>
              <a:t> </a:t>
            </a:r>
            <a:r>
              <a:rPr dirty="0" sz="1100" spc="-5">
                <a:latin typeface="Arial"/>
                <a:cs typeface="Arial"/>
              </a:rPr>
              <a:t>function	is assumed characterized by constant returns  to scale. For example, in the special case known as the Cobb-Douglas production function, at  any time t we</a:t>
            </a:r>
            <a:r>
              <a:rPr dirty="0" sz="1100" spc="10">
                <a:latin typeface="Arial"/>
                <a:cs typeface="Arial"/>
              </a:rPr>
              <a:t> </a:t>
            </a:r>
            <a:r>
              <a:rPr dirty="0" sz="1100" spc="-5">
                <a:latin typeface="Arial"/>
                <a:cs typeface="Arial"/>
              </a:rPr>
              <a:t>have</a:t>
            </a:r>
            <a:endParaRPr sz="1100">
              <a:latin typeface="Arial"/>
              <a:cs typeface="Arial"/>
            </a:endParaRPr>
          </a:p>
          <a:p>
            <a:pPr algn="just" marL="3213100">
              <a:lnSpc>
                <a:spcPct val="100000"/>
              </a:lnSpc>
              <a:spcBef>
                <a:spcPts val="45"/>
              </a:spcBef>
            </a:pPr>
            <a:r>
              <a:rPr dirty="0" sz="1100" spc="-5">
                <a:latin typeface="Arial"/>
                <a:cs typeface="Arial"/>
              </a:rPr>
              <a:t>(A 3.2.1)</a:t>
            </a:r>
            <a:endParaRPr sz="1100">
              <a:latin typeface="Arial"/>
              <a:cs typeface="Arial"/>
            </a:endParaRPr>
          </a:p>
          <a:p>
            <a:pPr>
              <a:lnSpc>
                <a:spcPct val="100000"/>
              </a:lnSpc>
            </a:pPr>
            <a:endParaRPr sz="1150">
              <a:latin typeface="Arial"/>
              <a:cs typeface="Arial"/>
            </a:endParaRPr>
          </a:p>
          <a:p>
            <a:pPr algn="just" marL="12700" marR="6985">
              <a:lnSpc>
                <a:spcPct val="95700"/>
              </a:lnSpc>
            </a:pPr>
            <a:r>
              <a:rPr dirty="0" sz="1100" spc="-5">
                <a:latin typeface="Arial"/>
                <a:cs typeface="Arial"/>
              </a:rPr>
              <a:t>Where Y is gross domestic product, K is the stock of capital (which may include human capital  as well as physical capital), L is labor, and A(t) represents the productivity of labor, which grows  over time at an exogenous</a:t>
            </a:r>
            <a:r>
              <a:rPr dirty="0" sz="1100" spc="25">
                <a:latin typeface="Arial"/>
                <a:cs typeface="Arial"/>
              </a:rPr>
              <a:t> </a:t>
            </a:r>
            <a:r>
              <a:rPr dirty="0" sz="1100" spc="-5">
                <a:latin typeface="Arial"/>
                <a:cs typeface="Arial"/>
              </a:rPr>
              <a:t>rate.</a:t>
            </a:r>
            <a:endParaRPr sz="1100">
              <a:latin typeface="Arial"/>
              <a:cs typeface="Arial"/>
            </a:endParaRPr>
          </a:p>
          <a:p>
            <a:pPr>
              <a:lnSpc>
                <a:spcPct val="100000"/>
              </a:lnSpc>
              <a:spcBef>
                <a:spcPts val="30"/>
              </a:spcBef>
            </a:pPr>
            <a:endParaRPr sz="1100">
              <a:latin typeface="Arial"/>
              <a:cs typeface="Arial"/>
            </a:endParaRPr>
          </a:p>
          <a:p>
            <a:pPr marL="12700" marR="7620">
              <a:lnSpc>
                <a:spcPts val="1270"/>
              </a:lnSpc>
              <a:spcBef>
                <a:spcPts val="5"/>
              </a:spcBef>
            </a:pPr>
            <a:r>
              <a:rPr dirty="0" sz="1100" spc="-5">
                <a:latin typeface="Arial"/>
                <a:cs typeface="Arial"/>
              </a:rPr>
              <a:t>Because of constant returns to scale, if all inputs are increased by the </a:t>
            </a:r>
            <a:r>
              <a:rPr dirty="0" sz="1100">
                <a:latin typeface="Arial"/>
                <a:cs typeface="Arial"/>
              </a:rPr>
              <a:t>same </a:t>
            </a:r>
            <a:r>
              <a:rPr dirty="0" sz="1100" spc="-5">
                <a:latin typeface="Arial"/>
                <a:cs typeface="Arial"/>
              </a:rPr>
              <a:t>amount, say </a:t>
            </a:r>
            <a:r>
              <a:rPr dirty="0" sz="1100">
                <a:latin typeface="Arial"/>
                <a:cs typeface="Arial"/>
              </a:rPr>
              <a:t>10%,  </a:t>
            </a:r>
            <a:r>
              <a:rPr dirty="0" sz="1100" spc="-5">
                <a:latin typeface="Arial"/>
                <a:cs typeface="Arial"/>
              </a:rPr>
              <a:t>then output will increase by the same amount (10% in this case). More</a:t>
            </a:r>
            <a:r>
              <a:rPr dirty="0" sz="1100" spc="100">
                <a:latin typeface="Arial"/>
                <a:cs typeface="Arial"/>
              </a:rPr>
              <a:t> </a:t>
            </a:r>
            <a:r>
              <a:rPr dirty="0" sz="1100" spc="-5">
                <a:latin typeface="Arial"/>
                <a:cs typeface="Arial"/>
              </a:rPr>
              <a:t>generally,</a:t>
            </a:r>
            <a:endParaRPr sz="1100">
              <a:latin typeface="Arial"/>
              <a:cs typeface="Arial"/>
            </a:endParaRPr>
          </a:p>
          <a:p>
            <a:pPr>
              <a:lnSpc>
                <a:spcPct val="100000"/>
              </a:lnSpc>
            </a:pPr>
            <a:endParaRPr sz="1200">
              <a:latin typeface="Arial"/>
              <a:cs typeface="Arial"/>
            </a:endParaRPr>
          </a:p>
          <a:p>
            <a:pPr>
              <a:lnSpc>
                <a:spcPct val="100000"/>
              </a:lnSpc>
              <a:spcBef>
                <a:spcPts val="10"/>
              </a:spcBef>
            </a:pPr>
            <a:endParaRPr sz="1050">
              <a:latin typeface="Arial"/>
              <a:cs typeface="Arial"/>
            </a:endParaRPr>
          </a:p>
          <a:p>
            <a:pPr algn="just" marL="12700" marR="6350">
              <a:lnSpc>
                <a:spcPct val="99800"/>
              </a:lnSpc>
              <a:tabLst>
                <a:tab pos="809625" algn="l"/>
              </a:tabLst>
            </a:pPr>
            <a:r>
              <a:rPr dirty="0" sz="1100" spc="-5">
                <a:latin typeface="Arial"/>
                <a:cs typeface="Arial"/>
              </a:rPr>
              <a:t>Where, g is some positive amount (1.1 in the case of a 10% increase). Because g can be any  positive real number, a mathematical trick useful in analyzing the implications of the model is </a:t>
            </a:r>
            <a:r>
              <a:rPr dirty="0" sz="1100">
                <a:latin typeface="Arial"/>
                <a:cs typeface="Arial"/>
              </a:rPr>
              <a:t>to  </a:t>
            </a:r>
            <a:r>
              <a:rPr dirty="0" sz="1100" spc="-5">
                <a:latin typeface="Arial"/>
                <a:cs typeface="Arial"/>
              </a:rPr>
              <a:t>set	so that</a:t>
            </a:r>
            <a:endParaRPr sz="1100">
              <a:latin typeface="Arial"/>
              <a:cs typeface="Arial"/>
            </a:endParaRPr>
          </a:p>
          <a:p>
            <a:pPr marL="3213100">
              <a:lnSpc>
                <a:spcPct val="100000"/>
              </a:lnSpc>
              <a:spcBef>
                <a:spcPts val="105"/>
              </a:spcBef>
            </a:pPr>
            <a:r>
              <a:rPr dirty="0" sz="1100" spc="-5">
                <a:latin typeface="Arial"/>
                <a:cs typeface="Arial"/>
              </a:rPr>
              <a:t>(A3.2.2)</a:t>
            </a:r>
            <a:endParaRPr sz="1100">
              <a:latin typeface="Arial"/>
              <a:cs typeface="Arial"/>
            </a:endParaRPr>
          </a:p>
          <a:p>
            <a:pPr marL="12700" marR="5080">
              <a:lnSpc>
                <a:spcPct val="115500"/>
              </a:lnSpc>
              <a:spcBef>
                <a:spcPts val="1060"/>
              </a:spcBef>
              <a:tabLst>
                <a:tab pos="608965" algn="l"/>
              </a:tabLst>
            </a:pPr>
            <a:r>
              <a:rPr dirty="0" sz="1100" spc="-5">
                <a:latin typeface="Arial"/>
                <a:cs typeface="Arial"/>
              </a:rPr>
              <a:t>Lowercase variables are expressed in per-worker terms in these equations. The concave shape  of	that is, increasing at a decreasing rate—reflects diminishing returns to capital</a:t>
            </a:r>
            <a:r>
              <a:rPr dirty="0" sz="1100" spc="-70">
                <a:latin typeface="Arial"/>
                <a:cs typeface="Arial"/>
              </a:rPr>
              <a:t> </a:t>
            </a:r>
            <a:r>
              <a:rPr dirty="0" sz="1100" spc="-5">
                <a:latin typeface="Arial"/>
                <a:cs typeface="Arial"/>
              </a:rPr>
              <a:t>per</a:t>
            </a:r>
            <a:endParaRPr sz="1100">
              <a:latin typeface="Arial"/>
              <a:cs typeface="Arial"/>
            </a:endParaRPr>
          </a:p>
          <a:p>
            <a:pPr marL="12700" marR="5080">
              <a:lnSpc>
                <a:spcPts val="1270"/>
              </a:lnSpc>
              <a:spcBef>
                <a:spcPts val="80"/>
              </a:spcBef>
            </a:pPr>
            <a:r>
              <a:rPr dirty="0" sz="1100" spc="-5">
                <a:latin typeface="Arial"/>
                <a:cs typeface="Arial"/>
              </a:rPr>
              <a:t>worker, as can be seen in Figure A3.2.1.2 In the Harrod-Domar model, this would instead be a  straight, upward-sloping</a:t>
            </a:r>
            <a:r>
              <a:rPr dirty="0" sz="1100" spc="5">
                <a:latin typeface="Arial"/>
                <a:cs typeface="Arial"/>
              </a:rPr>
              <a:t> </a:t>
            </a:r>
            <a:r>
              <a:rPr dirty="0" sz="1100" spc="-5">
                <a:latin typeface="Arial"/>
                <a:cs typeface="Arial"/>
              </a:rPr>
              <a:t>line.</a:t>
            </a:r>
            <a:endParaRPr sz="1100">
              <a:latin typeface="Arial"/>
              <a:cs typeface="Arial"/>
            </a:endParaRPr>
          </a:p>
          <a:p>
            <a:pPr marL="12700">
              <a:lnSpc>
                <a:spcPts val="1195"/>
              </a:lnSpc>
            </a:pPr>
            <a:r>
              <a:rPr dirty="0" sz="1100" spc="-5">
                <a:latin typeface="Arial"/>
                <a:cs typeface="Arial"/>
              </a:rPr>
              <a:t>This</a:t>
            </a:r>
            <a:r>
              <a:rPr dirty="0" sz="1100" spc="254">
                <a:latin typeface="Arial"/>
                <a:cs typeface="Arial"/>
              </a:rPr>
              <a:t> </a:t>
            </a:r>
            <a:r>
              <a:rPr dirty="0" sz="1100" spc="-5">
                <a:latin typeface="Arial"/>
                <a:cs typeface="Arial"/>
              </a:rPr>
              <a:t>simplification</a:t>
            </a:r>
            <a:r>
              <a:rPr dirty="0" sz="1100" spc="260">
                <a:latin typeface="Arial"/>
                <a:cs typeface="Arial"/>
              </a:rPr>
              <a:t> </a:t>
            </a:r>
            <a:r>
              <a:rPr dirty="0" sz="1100" spc="-5">
                <a:latin typeface="Arial"/>
                <a:cs typeface="Arial"/>
              </a:rPr>
              <a:t>allows</a:t>
            </a:r>
            <a:r>
              <a:rPr dirty="0" sz="1100" spc="260">
                <a:latin typeface="Arial"/>
                <a:cs typeface="Arial"/>
              </a:rPr>
              <a:t> </a:t>
            </a:r>
            <a:r>
              <a:rPr dirty="0" sz="1100" spc="-5">
                <a:latin typeface="Arial"/>
                <a:cs typeface="Arial"/>
              </a:rPr>
              <a:t>us</a:t>
            </a:r>
            <a:r>
              <a:rPr dirty="0" sz="1100" spc="254">
                <a:latin typeface="Arial"/>
                <a:cs typeface="Arial"/>
              </a:rPr>
              <a:t> </a:t>
            </a:r>
            <a:r>
              <a:rPr dirty="0" sz="1100" spc="-5">
                <a:latin typeface="Arial"/>
                <a:cs typeface="Arial"/>
              </a:rPr>
              <a:t>to</a:t>
            </a:r>
            <a:r>
              <a:rPr dirty="0" sz="1100" spc="260">
                <a:latin typeface="Arial"/>
                <a:cs typeface="Arial"/>
              </a:rPr>
              <a:t> </a:t>
            </a:r>
            <a:r>
              <a:rPr dirty="0" sz="1100" spc="-5">
                <a:latin typeface="Arial"/>
                <a:cs typeface="Arial"/>
              </a:rPr>
              <a:t>deal</a:t>
            </a:r>
            <a:r>
              <a:rPr dirty="0" sz="1100" spc="260">
                <a:latin typeface="Arial"/>
                <a:cs typeface="Arial"/>
              </a:rPr>
              <a:t> </a:t>
            </a:r>
            <a:r>
              <a:rPr dirty="0" sz="1100" spc="-5">
                <a:latin typeface="Arial"/>
                <a:cs typeface="Arial"/>
              </a:rPr>
              <a:t>with</a:t>
            </a:r>
            <a:r>
              <a:rPr dirty="0" sz="1100" spc="260">
                <a:latin typeface="Arial"/>
                <a:cs typeface="Arial"/>
              </a:rPr>
              <a:t> </a:t>
            </a:r>
            <a:r>
              <a:rPr dirty="0" sz="1100" spc="-5">
                <a:latin typeface="Arial"/>
                <a:cs typeface="Arial"/>
              </a:rPr>
              <a:t>just</a:t>
            </a:r>
            <a:r>
              <a:rPr dirty="0" sz="1100" spc="250">
                <a:latin typeface="Arial"/>
                <a:cs typeface="Arial"/>
              </a:rPr>
              <a:t> </a:t>
            </a:r>
            <a:r>
              <a:rPr dirty="0" sz="1100" spc="-5">
                <a:latin typeface="Arial"/>
                <a:cs typeface="Arial"/>
              </a:rPr>
              <a:t>one</a:t>
            </a:r>
            <a:r>
              <a:rPr dirty="0" sz="1100" spc="260">
                <a:latin typeface="Arial"/>
                <a:cs typeface="Arial"/>
              </a:rPr>
              <a:t> </a:t>
            </a:r>
            <a:r>
              <a:rPr dirty="0" sz="1100" spc="-5">
                <a:latin typeface="Arial"/>
                <a:cs typeface="Arial"/>
              </a:rPr>
              <a:t>argument</a:t>
            </a:r>
            <a:r>
              <a:rPr dirty="0" sz="1100" spc="260">
                <a:latin typeface="Arial"/>
                <a:cs typeface="Arial"/>
              </a:rPr>
              <a:t> </a:t>
            </a:r>
            <a:r>
              <a:rPr dirty="0" sz="1100" spc="-5">
                <a:latin typeface="Arial"/>
                <a:cs typeface="Arial"/>
              </a:rPr>
              <a:t>in</a:t>
            </a:r>
            <a:r>
              <a:rPr dirty="0" sz="1100" spc="260">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production</a:t>
            </a:r>
            <a:r>
              <a:rPr dirty="0" sz="1100" spc="260">
                <a:latin typeface="Arial"/>
                <a:cs typeface="Arial"/>
              </a:rPr>
              <a:t> </a:t>
            </a:r>
            <a:r>
              <a:rPr dirty="0" sz="1100" spc="-5">
                <a:latin typeface="Arial"/>
                <a:cs typeface="Arial"/>
              </a:rPr>
              <a:t>function.</a:t>
            </a:r>
            <a:r>
              <a:rPr dirty="0" sz="1100" spc="260">
                <a:latin typeface="Arial"/>
                <a:cs typeface="Arial"/>
              </a:rPr>
              <a:t> </a:t>
            </a:r>
            <a:r>
              <a:rPr dirty="0" sz="1100" spc="-5">
                <a:latin typeface="Arial"/>
                <a:cs typeface="Arial"/>
              </a:rPr>
              <a:t>For</a:t>
            </a:r>
            <a:endParaRPr sz="1100">
              <a:latin typeface="Arial"/>
              <a:cs typeface="Arial"/>
            </a:endParaRPr>
          </a:p>
          <a:p>
            <a:pPr marL="12700">
              <a:lnSpc>
                <a:spcPts val="1295"/>
              </a:lnSpc>
            </a:pPr>
            <a:r>
              <a:rPr dirty="0" sz="1100" spc="-5">
                <a:latin typeface="Arial"/>
                <a:cs typeface="Arial"/>
              </a:rPr>
              <a:t>example, in the Cobb-Douglas case introduced in Equation</a:t>
            </a:r>
            <a:r>
              <a:rPr dirty="0" sz="1100" spc="45">
                <a:latin typeface="Arial"/>
                <a:cs typeface="Arial"/>
              </a:rPr>
              <a:t> </a:t>
            </a:r>
            <a:r>
              <a:rPr dirty="0" sz="1100" spc="-5">
                <a:latin typeface="Arial"/>
                <a:cs typeface="Arial"/>
              </a:rPr>
              <a:t>A3.2.1,</a:t>
            </a:r>
            <a:endParaRPr sz="1100">
              <a:latin typeface="Arial"/>
              <a:cs typeface="Arial"/>
            </a:endParaRPr>
          </a:p>
          <a:p>
            <a:pPr marL="3213100">
              <a:lnSpc>
                <a:spcPct val="100000"/>
              </a:lnSpc>
              <a:spcBef>
                <a:spcPts val="50"/>
              </a:spcBef>
            </a:pPr>
            <a:r>
              <a:rPr dirty="0" sz="1100" spc="-5">
                <a:latin typeface="Arial"/>
                <a:cs typeface="Arial"/>
              </a:rPr>
              <a:t>(A 3.2.3)</a:t>
            </a:r>
            <a:endParaRPr sz="1100">
              <a:latin typeface="Arial"/>
              <a:cs typeface="Arial"/>
            </a:endParaRPr>
          </a:p>
          <a:p>
            <a:pPr>
              <a:lnSpc>
                <a:spcPct val="100000"/>
              </a:lnSpc>
            </a:pPr>
            <a:endParaRPr sz="1150">
              <a:latin typeface="Arial"/>
              <a:cs typeface="Arial"/>
            </a:endParaRPr>
          </a:p>
          <a:p>
            <a:pPr algn="just" marL="12700" marR="5080">
              <a:lnSpc>
                <a:spcPct val="95800"/>
              </a:lnSpc>
            </a:pPr>
            <a:r>
              <a:rPr dirty="0" sz="1100" spc="-5">
                <a:latin typeface="Arial"/>
                <a:cs typeface="Arial"/>
              </a:rPr>
              <a:t>This represents an alternative </a:t>
            </a:r>
            <a:r>
              <a:rPr dirty="0" sz="1100">
                <a:latin typeface="Arial"/>
                <a:cs typeface="Arial"/>
              </a:rPr>
              <a:t>way </a:t>
            </a:r>
            <a:r>
              <a:rPr dirty="0" sz="1100" spc="-5">
                <a:latin typeface="Arial"/>
                <a:cs typeface="Arial"/>
              </a:rPr>
              <a:t>to think about a production function, in which everything is  measured in quantities per worker. Equation A3.2.3 states that output per worker is a function  that depends on the amount of capital per worker. The more capital with which each worker has  to work, the more output that worker can produce. The labor </a:t>
            </a:r>
            <a:r>
              <a:rPr dirty="0" sz="1100">
                <a:latin typeface="Arial"/>
                <a:cs typeface="Arial"/>
              </a:rPr>
              <a:t>force </a:t>
            </a:r>
            <a:r>
              <a:rPr dirty="0" sz="1100" spc="-5">
                <a:latin typeface="Arial"/>
                <a:cs typeface="Arial"/>
              </a:rPr>
              <a:t>grows at rate n per year, </a:t>
            </a:r>
            <a:r>
              <a:rPr dirty="0" sz="1100">
                <a:latin typeface="Arial"/>
                <a:cs typeface="Arial"/>
              </a:rPr>
              <a:t>say,  </a:t>
            </a:r>
            <a:r>
              <a:rPr dirty="0" sz="1100" spc="-5">
                <a:latin typeface="Arial"/>
                <a:cs typeface="Arial"/>
              </a:rPr>
              <a:t>and labor productivity growth, the rate at which the value of A in the production function  increases, occurs at rate l. The total capital stock grows when savings are greater than  depreciation, but capital per worker grows when savings are also greater than what is needed to  equip new workers with the same amount of capital as existing workers</a:t>
            </a:r>
            <a:r>
              <a:rPr dirty="0" sz="1100" spc="90">
                <a:latin typeface="Arial"/>
                <a:cs typeface="Arial"/>
              </a:rPr>
              <a:t> </a:t>
            </a:r>
            <a:r>
              <a:rPr dirty="0" sz="1100" spc="-5">
                <a:latin typeface="Arial"/>
                <a:cs typeface="Arial"/>
              </a:rPr>
              <a:t>have.</a:t>
            </a:r>
            <a:endParaRPr sz="1100">
              <a:latin typeface="Arial"/>
              <a:cs typeface="Arial"/>
            </a:endParaRPr>
          </a:p>
          <a:p>
            <a:pPr>
              <a:lnSpc>
                <a:spcPct val="100000"/>
              </a:lnSpc>
              <a:spcBef>
                <a:spcPts val="40"/>
              </a:spcBef>
            </a:pPr>
            <a:endParaRPr sz="950">
              <a:latin typeface="Arial"/>
              <a:cs typeface="Arial"/>
            </a:endParaRPr>
          </a:p>
          <a:p>
            <a:pPr algn="just" marL="12700" marR="5080">
              <a:lnSpc>
                <a:spcPct val="105700"/>
              </a:lnSpc>
              <a:spcBef>
                <a:spcPts val="5"/>
              </a:spcBef>
              <a:tabLst>
                <a:tab pos="4846320" algn="l"/>
              </a:tabLst>
            </a:pPr>
            <a:r>
              <a:rPr dirty="0" sz="1100" spc="-5">
                <a:latin typeface="Arial"/>
                <a:cs typeface="Arial"/>
              </a:rPr>
              <a:t>The Solow equation (Equation A3.2.4) gives the growth of the capital-labor ratio, k (known as  capital deepening), and shows that the growth of k </a:t>
            </a:r>
            <a:r>
              <a:rPr dirty="0" sz="1100" spc="75">
                <a:latin typeface="Arial"/>
                <a:cs typeface="Arial"/>
              </a:rPr>
              <a:t> </a:t>
            </a:r>
            <a:r>
              <a:rPr dirty="0" sz="1100" spc="-5">
                <a:latin typeface="Arial"/>
                <a:cs typeface="Arial"/>
              </a:rPr>
              <a:t>depends on</a:t>
            </a:r>
            <a:r>
              <a:rPr dirty="0" sz="1100" spc="30">
                <a:latin typeface="Arial"/>
                <a:cs typeface="Arial"/>
              </a:rPr>
              <a:t> </a:t>
            </a:r>
            <a:r>
              <a:rPr dirty="0" sz="1100" spc="-5">
                <a:latin typeface="Arial"/>
                <a:cs typeface="Arial"/>
              </a:rPr>
              <a:t>savings	, after allowing for  the</a:t>
            </a:r>
            <a:r>
              <a:rPr dirty="0" sz="1100" spc="150">
                <a:latin typeface="Arial"/>
                <a:cs typeface="Arial"/>
              </a:rPr>
              <a:t> </a:t>
            </a:r>
            <a:r>
              <a:rPr dirty="0" sz="1100" spc="-5">
                <a:latin typeface="Arial"/>
                <a:cs typeface="Arial"/>
              </a:rPr>
              <a:t>amount</a:t>
            </a:r>
            <a:r>
              <a:rPr dirty="0" sz="1100" spc="160">
                <a:latin typeface="Arial"/>
                <a:cs typeface="Arial"/>
              </a:rPr>
              <a:t> </a:t>
            </a:r>
            <a:r>
              <a:rPr dirty="0" sz="1100" spc="-5">
                <a:latin typeface="Arial"/>
                <a:cs typeface="Arial"/>
              </a:rPr>
              <a:t>of</a:t>
            </a:r>
            <a:r>
              <a:rPr dirty="0" sz="1100" spc="145">
                <a:latin typeface="Arial"/>
                <a:cs typeface="Arial"/>
              </a:rPr>
              <a:t> </a:t>
            </a:r>
            <a:r>
              <a:rPr dirty="0" sz="1100" spc="-5">
                <a:latin typeface="Arial"/>
                <a:cs typeface="Arial"/>
              </a:rPr>
              <a:t>capital</a:t>
            </a:r>
            <a:r>
              <a:rPr dirty="0" sz="1100" spc="150">
                <a:latin typeface="Arial"/>
                <a:cs typeface="Arial"/>
              </a:rPr>
              <a:t> </a:t>
            </a:r>
            <a:r>
              <a:rPr dirty="0" sz="1100" spc="-5">
                <a:latin typeface="Arial"/>
                <a:cs typeface="Arial"/>
              </a:rPr>
              <a:t>required</a:t>
            </a:r>
            <a:r>
              <a:rPr dirty="0" sz="1100" spc="145">
                <a:latin typeface="Arial"/>
                <a:cs typeface="Arial"/>
              </a:rPr>
              <a:t> </a:t>
            </a:r>
            <a:r>
              <a:rPr dirty="0" sz="1100" spc="-5">
                <a:latin typeface="Arial"/>
                <a:cs typeface="Arial"/>
              </a:rPr>
              <a:t>to</a:t>
            </a:r>
            <a:r>
              <a:rPr dirty="0" sz="1100" spc="155">
                <a:latin typeface="Arial"/>
                <a:cs typeface="Arial"/>
              </a:rPr>
              <a:t> </a:t>
            </a:r>
            <a:r>
              <a:rPr dirty="0" sz="1100" spc="-5">
                <a:latin typeface="Arial"/>
                <a:cs typeface="Arial"/>
              </a:rPr>
              <a:t>service</a:t>
            </a:r>
            <a:r>
              <a:rPr dirty="0" sz="1100" spc="145">
                <a:latin typeface="Arial"/>
                <a:cs typeface="Arial"/>
              </a:rPr>
              <a:t> </a:t>
            </a:r>
            <a:r>
              <a:rPr dirty="0" sz="1100" spc="-5">
                <a:latin typeface="Arial"/>
                <a:cs typeface="Arial"/>
              </a:rPr>
              <a:t>depreciation,</a:t>
            </a:r>
            <a:r>
              <a:rPr dirty="0" sz="1100" spc="120">
                <a:latin typeface="Arial"/>
                <a:cs typeface="Arial"/>
              </a:rPr>
              <a:t> </a:t>
            </a:r>
            <a:r>
              <a:rPr dirty="0" sz="1100" spc="-5">
                <a:latin typeface="Arial"/>
                <a:cs typeface="Arial"/>
              </a:rPr>
              <a:t>,</a:t>
            </a:r>
            <a:r>
              <a:rPr dirty="0" sz="1100" spc="155">
                <a:latin typeface="Arial"/>
                <a:cs typeface="Arial"/>
              </a:rPr>
              <a:t> </a:t>
            </a:r>
            <a:r>
              <a:rPr dirty="0" sz="1100" spc="-5">
                <a:latin typeface="Arial"/>
                <a:cs typeface="Arial"/>
              </a:rPr>
              <a:t>and</a:t>
            </a:r>
            <a:r>
              <a:rPr dirty="0" sz="1100" spc="155">
                <a:latin typeface="Arial"/>
                <a:cs typeface="Arial"/>
              </a:rPr>
              <a:t> </a:t>
            </a:r>
            <a:r>
              <a:rPr dirty="0" sz="1100" spc="-5">
                <a:latin typeface="Arial"/>
                <a:cs typeface="Arial"/>
              </a:rPr>
              <a:t>after</a:t>
            </a:r>
            <a:r>
              <a:rPr dirty="0" sz="1100" spc="150">
                <a:latin typeface="Arial"/>
                <a:cs typeface="Arial"/>
              </a:rPr>
              <a:t> </a:t>
            </a:r>
            <a:r>
              <a:rPr dirty="0" sz="1100" spc="-5">
                <a:latin typeface="Arial"/>
                <a:cs typeface="Arial"/>
              </a:rPr>
              <a:t>capital</a:t>
            </a:r>
            <a:r>
              <a:rPr dirty="0" sz="1100" spc="145">
                <a:latin typeface="Arial"/>
                <a:cs typeface="Arial"/>
              </a:rPr>
              <a:t> </a:t>
            </a:r>
            <a:r>
              <a:rPr dirty="0" sz="1100" spc="-5">
                <a:latin typeface="Arial"/>
                <a:cs typeface="Arial"/>
              </a:rPr>
              <a:t>widening,</a:t>
            </a:r>
            <a:r>
              <a:rPr dirty="0" sz="1100" spc="150">
                <a:latin typeface="Arial"/>
                <a:cs typeface="Arial"/>
              </a:rPr>
              <a:t> </a:t>
            </a:r>
            <a:r>
              <a:rPr dirty="0" sz="1100" spc="-5">
                <a:latin typeface="Arial"/>
                <a:cs typeface="Arial"/>
              </a:rPr>
              <a:t>that</a:t>
            </a:r>
            <a:r>
              <a:rPr dirty="0" sz="1100" spc="155">
                <a:latin typeface="Arial"/>
                <a:cs typeface="Arial"/>
              </a:rPr>
              <a:t> </a:t>
            </a:r>
            <a:r>
              <a:rPr dirty="0" sz="1100" spc="-5">
                <a:latin typeface="Arial"/>
                <a:cs typeface="Arial"/>
              </a:rPr>
              <a:t>is,</a:t>
            </a:r>
            <a:endParaRPr sz="1100">
              <a:latin typeface="Arial"/>
              <a:cs typeface="Arial"/>
            </a:endParaRPr>
          </a:p>
        </p:txBody>
      </p:sp>
      <p:sp>
        <p:nvSpPr>
          <p:cNvPr id="17" name="object 1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8" name="object 1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124</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1109472"/>
            <a:ext cx="171450" cy="99059"/>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4400" y="1255775"/>
            <a:ext cx="1504950" cy="181355"/>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2731770" y="1921764"/>
            <a:ext cx="467106" cy="168401"/>
          </a:xfrm>
          <a:prstGeom prst="rect">
            <a:avLst/>
          </a:prstGeom>
          <a:blipFill>
            <a:blip r:embed="rId4" cstate="print"/>
            <a:stretch>
              <a:fillRect/>
            </a:stretch>
          </a:blipFill>
        </p:spPr>
        <p:txBody>
          <a:bodyPr wrap="square" lIns="0" tIns="0" rIns="0" bIns="0" rtlCol="0"/>
          <a:lstStyle/>
          <a:p/>
        </p:txBody>
      </p:sp>
      <p:sp>
        <p:nvSpPr>
          <p:cNvPr id="9" name="object 9"/>
          <p:cNvSpPr txBox="1"/>
          <p:nvPr/>
        </p:nvSpPr>
        <p:spPr>
          <a:xfrm>
            <a:off x="901700" y="891794"/>
            <a:ext cx="5969635" cy="1210945"/>
          </a:xfrm>
          <a:prstGeom prst="rect">
            <a:avLst/>
          </a:prstGeom>
        </p:spPr>
        <p:txBody>
          <a:bodyPr wrap="square" lIns="0" tIns="12065" rIns="0" bIns="0" rtlCol="0" vert="horz">
            <a:spAutoFit/>
          </a:bodyPr>
          <a:lstStyle/>
          <a:p>
            <a:pPr algn="just" marL="12700">
              <a:lnSpc>
                <a:spcPct val="100000"/>
              </a:lnSpc>
              <a:spcBef>
                <a:spcPts val="95"/>
              </a:spcBef>
            </a:pPr>
            <a:r>
              <a:rPr dirty="0" sz="1100" spc="-5">
                <a:latin typeface="Arial"/>
                <a:cs typeface="Arial"/>
              </a:rPr>
              <a:t>providing</a:t>
            </a:r>
            <a:r>
              <a:rPr dirty="0" sz="1100" spc="114">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existing</a:t>
            </a:r>
            <a:r>
              <a:rPr dirty="0" sz="1100" spc="120">
                <a:latin typeface="Arial"/>
                <a:cs typeface="Arial"/>
              </a:rPr>
              <a:t> </a:t>
            </a:r>
            <a:r>
              <a:rPr dirty="0" sz="1100" spc="-5">
                <a:latin typeface="Arial"/>
                <a:cs typeface="Arial"/>
              </a:rPr>
              <a:t>amount</a:t>
            </a:r>
            <a:r>
              <a:rPr dirty="0" sz="1100" spc="114">
                <a:latin typeface="Arial"/>
                <a:cs typeface="Arial"/>
              </a:rPr>
              <a:t> </a:t>
            </a:r>
            <a:r>
              <a:rPr dirty="0" sz="1100" spc="-5">
                <a:latin typeface="Arial"/>
                <a:cs typeface="Arial"/>
              </a:rPr>
              <a:t>of</a:t>
            </a:r>
            <a:r>
              <a:rPr dirty="0" sz="1100" spc="120">
                <a:latin typeface="Arial"/>
                <a:cs typeface="Arial"/>
              </a:rPr>
              <a:t> </a:t>
            </a:r>
            <a:r>
              <a:rPr dirty="0" sz="1100" spc="-5">
                <a:latin typeface="Arial"/>
                <a:cs typeface="Arial"/>
              </a:rPr>
              <a:t>capital</a:t>
            </a:r>
            <a:r>
              <a:rPr dirty="0" sz="1100" spc="120">
                <a:latin typeface="Arial"/>
                <a:cs typeface="Arial"/>
              </a:rPr>
              <a:t> </a:t>
            </a:r>
            <a:r>
              <a:rPr dirty="0" sz="1100" spc="-5">
                <a:latin typeface="Arial"/>
                <a:cs typeface="Arial"/>
              </a:rPr>
              <a:t>per</a:t>
            </a:r>
            <a:r>
              <a:rPr dirty="0" sz="1100" spc="120">
                <a:latin typeface="Arial"/>
                <a:cs typeface="Arial"/>
              </a:rPr>
              <a:t> </a:t>
            </a:r>
            <a:r>
              <a:rPr dirty="0" sz="1100" spc="-5">
                <a:latin typeface="Arial"/>
                <a:cs typeface="Arial"/>
              </a:rPr>
              <a:t>worker</a:t>
            </a:r>
            <a:r>
              <a:rPr dirty="0" sz="1100" spc="114">
                <a:latin typeface="Arial"/>
                <a:cs typeface="Arial"/>
              </a:rPr>
              <a:t> </a:t>
            </a:r>
            <a:r>
              <a:rPr dirty="0" sz="1100" spc="-5">
                <a:latin typeface="Arial"/>
                <a:cs typeface="Arial"/>
              </a:rPr>
              <a:t>to</a:t>
            </a:r>
            <a:r>
              <a:rPr dirty="0" sz="1100" spc="125">
                <a:latin typeface="Arial"/>
                <a:cs typeface="Arial"/>
              </a:rPr>
              <a:t> </a:t>
            </a:r>
            <a:r>
              <a:rPr dirty="0" sz="1100" spc="-5">
                <a:latin typeface="Arial"/>
                <a:cs typeface="Arial"/>
              </a:rPr>
              <a:t>net</a:t>
            </a:r>
            <a:r>
              <a:rPr dirty="0" sz="1100" spc="114">
                <a:latin typeface="Arial"/>
                <a:cs typeface="Arial"/>
              </a:rPr>
              <a:t> </a:t>
            </a:r>
            <a:r>
              <a:rPr dirty="0" sz="1100" spc="-5">
                <a:latin typeface="Arial"/>
                <a:cs typeface="Arial"/>
              </a:rPr>
              <a:t>new</a:t>
            </a:r>
            <a:r>
              <a:rPr dirty="0" sz="1100" spc="114">
                <a:latin typeface="Arial"/>
                <a:cs typeface="Arial"/>
              </a:rPr>
              <a:t> </a:t>
            </a:r>
            <a:r>
              <a:rPr dirty="0" sz="1100" spc="-5">
                <a:latin typeface="Arial"/>
                <a:cs typeface="Arial"/>
              </a:rPr>
              <a:t>workers</a:t>
            </a:r>
            <a:r>
              <a:rPr dirty="0" sz="1100" spc="120">
                <a:latin typeface="Arial"/>
                <a:cs typeface="Arial"/>
              </a:rPr>
              <a:t> </a:t>
            </a:r>
            <a:r>
              <a:rPr dirty="0" sz="1100" spc="-5">
                <a:latin typeface="Arial"/>
                <a:cs typeface="Arial"/>
              </a:rPr>
              <a:t>joining</a:t>
            </a:r>
            <a:r>
              <a:rPr dirty="0" sz="1100" spc="114">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labor</a:t>
            </a:r>
            <a:r>
              <a:rPr dirty="0" sz="1100" spc="120">
                <a:latin typeface="Arial"/>
                <a:cs typeface="Arial"/>
              </a:rPr>
              <a:t> </a:t>
            </a:r>
            <a:r>
              <a:rPr dirty="0" sz="1100" spc="-5">
                <a:latin typeface="Arial"/>
                <a:cs typeface="Arial"/>
              </a:rPr>
              <a:t>force,</a:t>
            </a:r>
            <a:endParaRPr sz="1100">
              <a:latin typeface="Arial"/>
              <a:cs typeface="Arial"/>
            </a:endParaRPr>
          </a:p>
          <a:p>
            <a:pPr marL="184150">
              <a:lnSpc>
                <a:spcPct val="100000"/>
              </a:lnSpc>
              <a:spcBef>
                <a:spcPts val="50"/>
              </a:spcBef>
            </a:pPr>
            <a:r>
              <a:rPr dirty="0" sz="1100" spc="-5">
                <a:latin typeface="Arial"/>
                <a:cs typeface="Arial"/>
              </a:rPr>
              <a:t>. That</a:t>
            </a:r>
            <a:r>
              <a:rPr dirty="0" sz="1100">
                <a:latin typeface="Arial"/>
                <a:cs typeface="Arial"/>
              </a:rPr>
              <a:t> </a:t>
            </a:r>
            <a:r>
              <a:rPr dirty="0" sz="1100" spc="-5">
                <a:latin typeface="Arial"/>
                <a:cs typeface="Arial"/>
              </a:rPr>
              <a:t>is,</a:t>
            </a:r>
            <a:endParaRPr sz="1100">
              <a:latin typeface="Arial"/>
              <a:cs typeface="Arial"/>
            </a:endParaRPr>
          </a:p>
          <a:p>
            <a:pPr>
              <a:lnSpc>
                <a:spcPct val="100000"/>
              </a:lnSpc>
            </a:pPr>
            <a:endParaRPr sz="1200">
              <a:latin typeface="Arial"/>
              <a:cs typeface="Arial"/>
            </a:endParaRPr>
          </a:p>
          <a:p>
            <a:pPr>
              <a:lnSpc>
                <a:spcPct val="100000"/>
              </a:lnSpc>
              <a:spcBef>
                <a:spcPts val="50"/>
              </a:spcBef>
            </a:pPr>
            <a:endParaRPr sz="1100">
              <a:latin typeface="Arial"/>
              <a:cs typeface="Arial"/>
            </a:endParaRPr>
          </a:p>
          <a:p>
            <a:pPr algn="just" marL="12700" marR="5080">
              <a:lnSpc>
                <a:spcPct val="99800"/>
              </a:lnSpc>
              <a:tabLst>
                <a:tab pos="2296795" algn="l"/>
              </a:tabLst>
            </a:pPr>
            <a:r>
              <a:rPr dirty="0" sz="1100" spc="-5">
                <a:latin typeface="Arial"/>
                <a:cs typeface="Arial"/>
              </a:rPr>
              <a:t>For simplicity, we are assuming for now that A remains constant. In this case, there will be a  state in which output and capital per worker are no longer changing, known as the steady state.  To find this steady</a:t>
            </a:r>
            <a:r>
              <a:rPr dirty="0" sz="1100" spc="70">
                <a:latin typeface="Arial"/>
                <a:cs typeface="Arial"/>
              </a:rPr>
              <a:t> </a:t>
            </a:r>
            <a:r>
              <a:rPr dirty="0" sz="1100" spc="-5">
                <a:latin typeface="Arial"/>
                <a:cs typeface="Arial"/>
              </a:rPr>
              <a:t>state,</a:t>
            </a:r>
            <a:r>
              <a:rPr dirty="0" sz="1100" spc="15">
                <a:latin typeface="Arial"/>
                <a:cs typeface="Arial"/>
              </a:rPr>
              <a:t> </a:t>
            </a:r>
            <a:r>
              <a:rPr dirty="0" sz="1100" spc="-5">
                <a:latin typeface="Arial"/>
                <a:cs typeface="Arial"/>
              </a:rPr>
              <a:t>set,	:</a:t>
            </a:r>
            <a:endParaRPr sz="1100">
              <a:latin typeface="Arial"/>
              <a:cs typeface="Arial"/>
            </a:endParaRPr>
          </a:p>
        </p:txBody>
      </p:sp>
      <p:sp>
        <p:nvSpPr>
          <p:cNvPr id="10" name="object 10"/>
          <p:cNvSpPr/>
          <p:nvPr/>
        </p:nvSpPr>
        <p:spPr>
          <a:xfrm>
            <a:off x="914400" y="2099310"/>
            <a:ext cx="1267206" cy="181355"/>
          </a:xfrm>
          <a:prstGeom prst="rect">
            <a:avLst/>
          </a:prstGeom>
          <a:blipFill>
            <a:blip r:embed="rId5" cstate="print"/>
            <a:stretch>
              <a:fillRect/>
            </a:stretch>
          </a:blipFill>
        </p:spPr>
        <p:txBody>
          <a:bodyPr wrap="square" lIns="0" tIns="0" rIns="0" bIns="0" rtlCol="0"/>
          <a:lstStyle/>
          <a:p/>
        </p:txBody>
      </p:sp>
      <p:sp>
        <p:nvSpPr>
          <p:cNvPr id="11" name="object 11"/>
          <p:cNvSpPr txBox="1"/>
          <p:nvPr/>
        </p:nvSpPr>
        <p:spPr>
          <a:xfrm>
            <a:off x="901704" y="5279396"/>
            <a:ext cx="5970905" cy="6756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The notation k* means the level of capital per worker when the economy is in its steady state.  That this equilibrium is stable can be seen from Figure A3.2.1. The capital per worker k*  represents the steady state. If k is higher or lower than k*, the economy will return to it; thus k*  is a stable equilibrium. This stability is seen in the diagram </a:t>
            </a:r>
            <a:r>
              <a:rPr dirty="0" sz="1100">
                <a:latin typeface="Arial"/>
                <a:cs typeface="Arial"/>
              </a:rPr>
              <a:t>by </a:t>
            </a:r>
            <a:r>
              <a:rPr dirty="0" sz="1100" spc="-5">
                <a:latin typeface="Arial"/>
                <a:cs typeface="Arial"/>
              </a:rPr>
              <a:t>noting that to </a:t>
            </a:r>
            <a:r>
              <a:rPr dirty="0" sz="1100">
                <a:latin typeface="Arial"/>
                <a:cs typeface="Arial"/>
              </a:rPr>
              <a:t>the </a:t>
            </a:r>
            <a:r>
              <a:rPr dirty="0" sz="1100" spc="-5">
                <a:latin typeface="Arial"/>
                <a:cs typeface="Arial"/>
              </a:rPr>
              <a:t>left of</a:t>
            </a:r>
            <a:r>
              <a:rPr dirty="0" sz="1100" spc="-60">
                <a:latin typeface="Arial"/>
                <a:cs typeface="Arial"/>
              </a:rPr>
              <a:t> </a:t>
            </a:r>
            <a:r>
              <a:rPr dirty="0" sz="1100" spc="-5">
                <a:latin typeface="Arial"/>
                <a:cs typeface="Arial"/>
              </a:rPr>
              <a:t>k*,</a:t>
            </a:r>
            <a:endParaRPr sz="1100">
              <a:latin typeface="Arial"/>
              <a:cs typeface="Arial"/>
            </a:endParaRPr>
          </a:p>
        </p:txBody>
      </p:sp>
      <p:sp>
        <p:nvSpPr>
          <p:cNvPr id="12" name="object 12"/>
          <p:cNvSpPr/>
          <p:nvPr/>
        </p:nvSpPr>
        <p:spPr>
          <a:xfrm>
            <a:off x="914400" y="5944361"/>
            <a:ext cx="505206" cy="167639"/>
          </a:xfrm>
          <a:prstGeom prst="rect">
            <a:avLst/>
          </a:prstGeom>
          <a:blipFill>
            <a:blip r:embed="rId6" cstate="print"/>
            <a:stretch>
              <a:fillRect/>
            </a:stretch>
          </a:blipFill>
        </p:spPr>
        <p:txBody>
          <a:bodyPr wrap="square" lIns="0" tIns="0" rIns="0" bIns="0" rtlCol="0"/>
          <a:lstStyle/>
          <a:p/>
        </p:txBody>
      </p:sp>
      <p:sp>
        <p:nvSpPr>
          <p:cNvPr id="13" name="object 13"/>
          <p:cNvSpPr/>
          <p:nvPr/>
        </p:nvSpPr>
        <p:spPr>
          <a:xfrm>
            <a:off x="4540758" y="5944361"/>
            <a:ext cx="638556" cy="181355"/>
          </a:xfrm>
          <a:prstGeom prst="rect">
            <a:avLst/>
          </a:prstGeom>
          <a:blipFill>
            <a:blip r:embed="rId7" cstate="print"/>
            <a:stretch>
              <a:fillRect/>
            </a:stretch>
          </a:blipFill>
        </p:spPr>
        <p:txBody>
          <a:bodyPr wrap="square" lIns="0" tIns="0" rIns="0" bIns="0" rtlCol="0"/>
          <a:lstStyle/>
          <a:p/>
        </p:txBody>
      </p:sp>
      <p:sp>
        <p:nvSpPr>
          <p:cNvPr id="14" name="object 14"/>
          <p:cNvSpPr txBox="1"/>
          <p:nvPr/>
        </p:nvSpPr>
        <p:spPr>
          <a:xfrm>
            <a:off x="901699" y="5921457"/>
            <a:ext cx="3609340" cy="388620"/>
          </a:xfrm>
          <a:prstGeom prst="rect">
            <a:avLst/>
          </a:prstGeom>
        </p:spPr>
        <p:txBody>
          <a:bodyPr wrap="square" lIns="0" tIns="12700" rIns="0" bIns="0" rtlCol="0" vert="horz">
            <a:spAutoFit/>
          </a:bodyPr>
          <a:lstStyle/>
          <a:p>
            <a:pPr marL="12700" marR="5080" indent="548640">
              <a:lnSpc>
                <a:spcPct val="108200"/>
              </a:lnSpc>
              <a:spcBef>
                <a:spcPts val="100"/>
              </a:spcBef>
            </a:pPr>
            <a:r>
              <a:rPr dirty="0" sz="1100" spc="-5">
                <a:latin typeface="Arial"/>
                <a:cs typeface="Arial"/>
              </a:rPr>
              <a:t>Looking at the diagram, we see that in this case,  the Solow equation (Equation A3.2.4), we see </a:t>
            </a:r>
            <a:r>
              <a:rPr dirty="0" sz="1100">
                <a:latin typeface="Arial"/>
                <a:cs typeface="Arial"/>
              </a:rPr>
              <a:t>that</a:t>
            </a:r>
            <a:r>
              <a:rPr dirty="0" sz="1100" spc="70">
                <a:latin typeface="Arial"/>
                <a:cs typeface="Arial"/>
              </a:rPr>
              <a:t> </a:t>
            </a:r>
            <a:r>
              <a:rPr dirty="0" sz="1100" spc="-5">
                <a:latin typeface="Arial"/>
                <a:cs typeface="Arial"/>
              </a:rPr>
              <a:t>when</a:t>
            </a:r>
            <a:endParaRPr sz="1100">
              <a:latin typeface="Arial"/>
              <a:cs typeface="Arial"/>
            </a:endParaRPr>
          </a:p>
        </p:txBody>
      </p:sp>
      <p:sp>
        <p:nvSpPr>
          <p:cNvPr id="15" name="object 15"/>
          <p:cNvSpPr/>
          <p:nvPr/>
        </p:nvSpPr>
        <p:spPr>
          <a:xfrm>
            <a:off x="4476750" y="6131814"/>
            <a:ext cx="638555" cy="175259"/>
          </a:xfrm>
          <a:prstGeom prst="rect">
            <a:avLst/>
          </a:prstGeom>
          <a:blipFill>
            <a:blip r:embed="rId8" cstate="print"/>
            <a:stretch>
              <a:fillRect/>
            </a:stretch>
          </a:blipFill>
        </p:spPr>
        <p:txBody>
          <a:bodyPr wrap="square" lIns="0" tIns="0" rIns="0" bIns="0" rtlCol="0"/>
          <a:lstStyle/>
          <a:p/>
        </p:txBody>
      </p:sp>
      <p:sp>
        <p:nvSpPr>
          <p:cNvPr id="16" name="object 16"/>
          <p:cNvSpPr txBox="1"/>
          <p:nvPr/>
        </p:nvSpPr>
        <p:spPr>
          <a:xfrm>
            <a:off x="5146071" y="5921451"/>
            <a:ext cx="1725295" cy="388620"/>
          </a:xfrm>
          <a:prstGeom prst="rect">
            <a:avLst/>
          </a:prstGeom>
        </p:spPr>
        <p:txBody>
          <a:bodyPr wrap="square" lIns="0" tIns="26034" rIns="0" bIns="0" rtlCol="0" vert="horz">
            <a:spAutoFit/>
          </a:bodyPr>
          <a:lstStyle/>
          <a:p>
            <a:pPr marL="76200">
              <a:lnSpc>
                <a:spcPct val="100000"/>
              </a:lnSpc>
              <a:spcBef>
                <a:spcPts val="204"/>
              </a:spcBef>
            </a:pPr>
            <a:r>
              <a:rPr dirty="0" sz="1100" spc="-5">
                <a:latin typeface="Arial"/>
                <a:cs typeface="Arial"/>
              </a:rPr>
              <a:t>&lt; sf(k). </a:t>
            </a:r>
            <a:r>
              <a:rPr dirty="0" sz="1100">
                <a:latin typeface="Arial"/>
                <a:cs typeface="Arial"/>
              </a:rPr>
              <a:t>But </a:t>
            </a:r>
            <a:r>
              <a:rPr dirty="0" sz="1100" spc="-5">
                <a:latin typeface="Arial"/>
                <a:cs typeface="Arial"/>
              </a:rPr>
              <a:t>now looking</a:t>
            </a:r>
            <a:r>
              <a:rPr dirty="0" sz="1100" spc="165">
                <a:latin typeface="Arial"/>
                <a:cs typeface="Arial"/>
              </a:rPr>
              <a:t> </a:t>
            </a:r>
            <a:r>
              <a:rPr dirty="0" sz="1100" spc="-5">
                <a:latin typeface="Arial"/>
                <a:cs typeface="Arial"/>
              </a:rPr>
              <a:t>at</a:t>
            </a:r>
            <a:endParaRPr sz="1100">
              <a:latin typeface="Arial"/>
              <a:cs typeface="Arial"/>
            </a:endParaRPr>
          </a:p>
          <a:p>
            <a:pPr marL="12700">
              <a:lnSpc>
                <a:spcPct val="100000"/>
              </a:lnSpc>
              <a:spcBef>
                <a:spcPts val="110"/>
              </a:spcBef>
            </a:pPr>
            <a:r>
              <a:rPr dirty="0" sz="1100" spc="-5">
                <a:latin typeface="Arial"/>
                <a:cs typeface="Arial"/>
              </a:rPr>
              <a:t>&lt; sf(k), k &lt; 0. As a result, </a:t>
            </a:r>
            <a:r>
              <a:rPr dirty="0" sz="1100" spc="5">
                <a:latin typeface="Arial"/>
                <a:cs typeface="Arial"/>
              </a:rPr>
              <a:t> </a:t>
            </a:r>
            <a:r>
              <a:rPr dirty="0" sz="1100" spc="-5">
                <a:latin typeface="Arial"/>
                <a:cs typeface="Arial"/>
              </a:rPr>
              <a:t>k</a:t>
            </a:r>
            <a:endParaRPr sz="1100">
              <a:latin typeface="Arial"/>
              <a:cs typeface="Arial"/>
            </a:endParaRPr>
          </a:p>
        </p:txBody>
      </p:sp>
      <p:sp>
        <p:nvSpPr>
          <p:cNvPr id="17" name="object 17"/>
          <p:cNvSpPr/>
          <p:nvPr/>
        </p:nvSpPr>
        <p:spPr>
          <a:xfrm>
            <a:off x="914400" y="6468617"/>
            <a:ext cx="638556" cy="179831"/>
          </a:xfrm>
          <a:prstGeom prst="rect">
            <a:avLst/>
          </a:prstGeom>
          <a:blipFill>
            <a:blip r:embed="rId9" cstate="print"/>
            <a:stretch>
              <a:fillRect/>
            </a:stretch>
          </a:blipFill>
        </p:spPr>
        <p:txBody>
          <a:bodyPr wrap="square" lIns="0" tIns="0" rIns="0" bIns="0" rtlCol="0"/>
          <a:lstStyle/>
          <a:p/>
        </p:txBody>
      </p:sp>
      <p:sp>
        <p:nvSpPr>
          <p:cNvPr id="18" name="object 18"/>
          <p:cNvSpPr txBox="1"/>
          <p:nvPr/>
        </p:nvSpPr>
        <p:spPr>
          <a:xfrm>
            <a:off x="901697" y="6284469"/>
            <a:ext cx="5970270" cy="53467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in</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economy</a:t>
            </a:r>
            <a:r>
              <a:rPr dirty="0" sz="1100" spc="20">
                <a:latin typeface="Arial"/>
                <a:cs typeface="Arial"/>
              </a:rPr>
              <a:t> </a:t>
            </a:r>
            <a:r>
              <a:rPr dirty="0" sz="1100" spc="-5">
                <a:latin typeface="Arial"/>
                <a:cs typeface="Arial"/>
              </a:rPr>
              <a:t>is</a:t>
            </a:r>
            <a:r>
              <a:rPr dirty="0" sz="1100" spc="25">
                <a:latin typeface="Arial"/>
                <a:cs typeface="Arial"/>
              </a:rPr>
              <a:t> </a:t>
            </a:r>
            <a:r>
              <a:rPr dirty="0" sz="1100" spc="-5">
                <a:latin typeface="Arial"/>
                <a:cs typeface="Arial"/>
              </a:rPr>
              <a:t>growing</a:t>
            </a:r>
            <a:r>
              <a:rPr dirty="0" sz="1100" spc="20">
                <a:latin typeface="Arial"/>
                <a:cs typeface="Arial"/>
              </a:rPr>
              <a:t> </a:t>
            </a:r>
            <a:r>
              <a:rPr dirty="0" sz="1100" spc="-5">
                <a:latin typeface="Arial"/>
                <a:cs typeface="Arial"/>
              </a:rPr>
              <a:t>toward</a:t>
            </a:r>
            <a:r>
              <a:rPr dirty="0" sz="1100" spc="25">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equilibrium</a:t>
            </a:r>
            <a:r>
              <a:rPr dirty="0" sz="1100" spc="20">
                <a:latin typeface="Arial"/>
                <a:cs typeface="Arial"/>
              </a:rPr>
              <a:t> </a:t>
            </a:r>
            <a:r>
              <a:rPr dirty="0" sz="1100" spc="-5">
                <a:latin typeface="Arial"/>
                <a:cs typeface="Arial"/>
              </a:rPr>
              <a:t>point</a:t>
            </a:r>
            <a:r>
              <a:rPr dirty="0" sz="1100" spc="20">
                <a:latin typeface="Arial"/>
                <a:cs typeface="Arial"/>
              </a:rPr>
              <a:t> </a:t>
            </a:r>
            <a:r>
              <a:rPr dirty="0" sz="1100" spc="-5">
                <a:latin typeface="Arial"/>
                <a:cs typeface="Arial"/>
              </a:rPr>
              <a:t>k*.</a:t>
            </a:r>
            <a:r>
              <a:rPr dirty="0" sz="1100" spc="25">
                <a:latin typeface="Arial"/>
                <a:cs typeface="Arial"/>
              </a:rPr>
              <a:t> </a:t>
            </a:r>
            <a:r>
              <a:rPr dirty="0" sz="1100" spc="-5">
                <a:latin typeface="Arial"/>
                <a:cs typeface="Arial"/>
              </a:rPr>
              <a:t>By</a:t>
            </a:r>
            <a:r>
              <a:rPr dirty="0" sz="1100" spc="20">
                <a:latin typeface="Arial"/>
                <a:cs typeface="Arial"/>
              </a:rPr>
              <a:t> </a:t>
            </a:r>
            <a:r>
              <a:rPr dirty="0" sz="1100" spc="-5">
                <a:latin typeface="Arial"/>
                <a:cs typeface="Arial"/>
              </a:rPr>
              <a:t>similar</a:t>
            </a:r>
            <a:r>
              <a:rPr dirty="0" sz="1100" spc="25">
                <a:latin typeface="Arial"/>
                <a:cs typeface="Arial"/>
              </a:rPr>
              <a:t> </a:t>
            </a:r>
            <a:r>
              <a:rPr dirty="0" sz="1100" spc="-5">
                <a:latin typeface="Arial"/>
                <a:cs typeface="Arial"/>
              </a:rPr>
              <a:t>reasoning</a:t>
            </a:r>
            <a:r>
              <a:rPr dirty="0" sz="1100" spc="20">
                <a:latin typeface="Arial"/>
                <a:cs typeface="Arial"/>
              </a:rPr>
              <a:t> </a:t>
            </a:r>
            <a:r>
              <a:rPr dirty="0" sz="1100" spc="-5">
                <a:latin typeface="Arial"/>
                <a:cs typeface="Arial"/>
              </a:rPr>
              <a:t>to</a:t>
            </a:r>
            <a:r>
              <a:rPr dirty="0" sz="1100" spc="25">
                <a:latin typeface="Arial"/>
                <a:cs typeface="Arial"/>
              </a:rPr>
              <a:t> </a:t>
            </a:r>
            <a:r>
              <a:rPr dirty="0" sz="1100" spc="-5">
                <a:latin typeface="Arial"/>
                <a:cs typeface="Arial"/>
              </a:rPr>
              <a:t>the</a:t>
            </a:r>
            <a:r>
              <a:rPr dirty="0" sz="1100" spc="15">
                <a:latin typeface="Arial"/>
                <a:cs typeface="Arial"/>
              </a:rPr>
              <a:t> </a:t>
            </a:r>
            <a:r>
              <a:rPr dirty="0" sz="1100" spc="-5">
                <a:latin typeface="Arial"/>
                <a:cs typeface="Arial"/>
              </a:rPr>
              <a:t>right</a:t>
            </a:r>
            <a:r>
              <a:rPr dirty="0" sz="1100" spc="2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k*,</a:t>
            </a:r>
            <a:endParaRPr sz="1100">
              <a:latin typeface="Arial"/>
              <a:cs typeface="Arial"/>
            </a:endParaRPr>
          </a:p>
          <a:p>
            <a:pPr marL="12700" marR="6350" indent="680085">
              <a:lnSpc>
                <a:spcPct val="100000"/>
              </a:lnSpc>
              <a:spcBef>
                <a:spcPts val="50"/>
              </a:spcBef>
            </a:pPr>
            <a:r>
              <a:rPr dirty="0" sz="1100" spc="-5">
                <a:latin typeface="Arial"/>
                <a:cs typeface="Arial"/>
              </a:rPr>
              <a:t>&lt; sf(k), and as a result, k &lt; 0 (again refer to Equation A3.2.4), and capital per worker  is actually shrinking toward the equilibrium</a:t>
            </a:r>
            <a:r>
              <a:rPr dirty="0" sz="1100" spc="25">
                <a:latin typeface="Arial"/>
                <a:cs typeface="Arial"/>
              </a:rPr>
              <a:t> </a:t>
            </a:r>
            <a:r>
              <a:rPr dirty="0" sz="1100" spc="-5">
                <a:latin typeface="Arial"/>
                <a:cs typeface="Arial"/>
              </a:rPr>
              <a:t>k*.</a:t>
            </a:r>
            <a:endParaRPr sz="1100">
              <a:latin typeface="Arial"/>
              <a:cs typeface="Arial"/>
            </a:endParaRPr>
          </a:p>
        </p:txBody>
      </p:sp>
      <p:sp>
        <p:nvSpPr>
          <p:cNvPr id="19" name="object 19"/>
          <p:cNvSpPr/>
          <p:nvPr/>
        </p:nvSpPr>
        <p:spPr>
          <a:xfrm>
            <a:off x="1481327" y="2360676"/>
            <a:ext cx="4790851" cy="2940558"/>
          </a:xfrm>
          <a:prstGeom prst="rect">
            <a:avLst/>
          </a:prstGeom>
          <a:blipFill>
            <a:blip r:embed="rId10" cstate="print"/>
            <a:stretch>
              <a:fillRect/>
            </a:stretch>
          </a:blipFill>
        </p:spPr>
        <p:txBody>
          <a:bodyPr wrap="square" lIns="0" tIns="0" rIns="0" bIns="0" rtlCol="0"/>
          <a:lstStyle/>
          <a:p/>
        </p:txBody>
      </p:sp>
      <p:sp>
        <p:nvSpPr>
          <p:cNvPr id="20" name="object 2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21" name="object 2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125</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5895594" y="2367533"/>
            <a:ext cx="638555" cy="173736"/>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3396996" y="2545842"/>
            <a:ext cx="638555" cy="176022"/>
          </a:xfrm>
          <a:prstGeom prst="rect">
            <a:avLst/>
          </a:prstGeom>
          <a:blipFill>
            <a:blip r:embed="rId3" cstate="print"/>
            <a:stretch>
              <a:fillRect/>
            </a:stretch>
          </a:blipFill>
        </p:spPr>
        <p:txBody>
          <a:bodyPr wrap="square" lIns="0" tIns="0" rIns="0" bIns="0" rtlCol="0"/>
          <a:lstStyle/>
          <a:p/>
        </p:txBody>
      </p:sp>
      <p:sp>
        <p:nvSpPr>
          <p:cNvPr id="8" name="object 8"/>
          <p:cNvSpPr txBox="1"/>
          <p:nvPr/>
        </p:nvSpPr>
        <p:spPr>
          <a:xfrm>
            <a:off x="901700" y="891794"/>
            <a:ext cx="5971540" cy="2000250"/>
          </a:xfrm>
          <a:prstGeom prst="rect">
            <a:avLst/>
          </a:prstGeom>
        </p:spPr>
        <p:txBody>
          <a:bodyPr wrap="square" lIns="0" tIns="15875" rIns="0" bIns="0" rtlCol="0" vert="horz">
            <a:spAutoFit/>
          </a:bodyPr>
          <a:lstStyle/>
          <a:p>
            <a:pPr algn="just" marL="12700" marR="5080">
              <a:lnSpc>
                <a:spcPct val="98000"/>
              </a:lnSpc>
              <a:spcBef>
                <a:spcPts val="125"/>
              </a:spcBef>
              <a:tabLst>
                <a:tab pos="3133725" algn="l"/>
                <a:tab pos="5631815" algn="l"/>
              </a:tabLst>
            </a:pPr>
            <a:r>
              <a:rPr dirty="0" sz="1100" spc="-5">
                <a:latin typeface="Arial"/>
                <a:cs typeface="Arial"/>
              </a:rPr>
              <a:t>It is instructive to consider what happens in the Solow neoclassical growth model if we increase  the rate of savings, s. A temporary increase in the rate of output growth is realized as we  increase k by raising the rate of savings. We return to the original steady-state growth rate later,  though at a higher level of output per worker in each later year. The key implication is that unlike  in the Harrod-Domar (AK) analysis, in the Solow model an increase in s will not increase growth  in the long run; it will only increase the equilibrium k*. That </a:t>
            </a:r>
            <a:r>
              <a:rPr dirty="0" sz="1100">
                <a:latin typeface="Arial"/>
                <a:cs typeface="Arial"/>
              </a:rPr>
              <a:t>is, </a:t>
            </a:r>
            <a:r>
              <a:rPr dirty="0" sz="1100" spc="-5">
                <a:latin typeface="Arial"/>
                <a:cs typeface="Arial"/>
              </a:rPr>
              <a:t>after the economy </a:t>
            </a:r>
            <a:r>
              <a:rPr dirty="0" sz="1100">
                <a:latin typeface="Arial"/>
                <a:cs typeface="Arial"/>
              </a:rPr>
              <a:t>has </a:t>
            </a:r>
            <a:r>
              <a:rPr dirty="0" sz="1100" spc="-5">
                <a:latin typeface="Arial"/>
                <a:cs typeface="Arial"/>
              </a:rPr>
              <a:t>time to  adjust, the capital-labor ratio increases, and so does the output-labor ratio, but not the rate of  growth. The effect is shown in Figure A3.2.2, in which savings is raised to s. In contrast, in the  Harrod- Domar model, an increase in s raises the growth rate. (This is because in the Harrod-  Domar</a:t>
            </a:r>
            <a:r>
              <a:rPr dirty="0" sz="1100" spc="114">
                <a:latin typeface="Arial"/>
                <a:cs typeface="Arial"/>
              </a:rPr>
              <a:t> </a:t>
            </a:r>
            <a:r>
              <a:rPr dirty="0" sz="1100" spc="-5">
                <a:latin typeface="Arial"/>
                <a:cs typeface="Arial"/>
              </a:rPr>
              <a:t>model</a:t>
            </a:r>
            <a:r>
              <a:rPr dirty="0" sz="1100" spc="114">
                <a:latin typeface="Arial"/>
                <a:cs typeface="Arial"/>
              </a:rPr>
              <a:t> </a:t>
            </a:r>
            <a:r>
              <a:rPr dirty="0" sz="1100" spc="-5">
                <a:latin typeface="Arial"/>
                <a:cs typeface="Arial"/>
              </a:rPr>
              <a:t>sf(k)</a:t>
            </a:r>
            <a:r>
              <a:rPr dirty="0" sz="1100" spc="110">
                <a:latin typeface="Arial"/>
                <a:cs typeface="Arial"/>
              </a:rPr>
              <a:t> </a:t>
            </a:r>
            <a:r>
              <a:rPr dirty="0" sz="1100" spc="-5">
                <a:latin typeface="Arial"/>
                <a:cs typeface="Arial"/>
              </a:rPr>
              <a:t>becomes</a:t>
            </a:r>
            <a:r>
              <a:rPr dirty="0" sz="1100" spc="114">
                <a:latin typeface="Arial"/>
                <a:cs typeface="Arial"/>
              </a:rPr>
              <a:t> </a:t>
            </a:r>
            <a:r>
              <a:rPr dirty="0" sz="1100" spc="-5">
                <a:latin typeface="Arial"/>
                <a:cs typeface="Arial"/>
              </a:rPr>
              <a:t>a</a:t>
            </a:r>
            <a:r>
              <a:rPr dirty="0" sz="1100" spc="110">
                <a:latin typeface="Arial"/>
                <a:cs typeface="Arial"/>
              </a:rPr>
              <a:t> </a:t>
            </a:r>
            <a:r>
              <a:rPr dirty="0" sz="1100" spc="-5">
                <a:latin typeface="Arial"/>
                <a:cs typeface="Arial"/>
              </a:rPr>
              <a:t>straight</a:t>
            </a:r>
            <a:r>
              <a:rPr dirty="0" sz="1100" spc="114">
                <a:latin typeface="Arial"/>
                <a:cs typeface="Arial"/>
              </a:rPr>
              <a:t> </a:t>
            </a:r>
            <a:r>
              <a:rPr dirty="0" sz="1100" spc="-5">
                <a:latin typeface="Arial"/>
                <a:cs typeface="Arial"/>
              </a:rPr>
              <a:t>line</a:t>
            </a:r>
            <a:r>
              <a:rPr dirty="0" sz="1100" spc="105">
                <a:latin typeface="Arial"/>
                <a:cs typeface="Arial"/>
              </a:rPr>
              <a:t> </a:t>
            </a:r>
            <a:r>
              <a:rPr dirty="0" sz="1100" spc="-5">
                <a:latin typeface="Arial"/>
                <a:cs typeface="Arial"/>
              </a:rPr>
              <a:t>from</a:t>
            </a:r>
            <a:r>
              <a:rPr dirty="0" sz="1100" spc="110">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origin</a:t>
            </a:r>
            <a:r>
              <a:rPr dirty="0" sz="1100" spc="110">
                <a:latin typeface="Arial"/>
                <a:cs typeface="Arial"/>
              </a:rPr>
              <a:t> </a:t>
            </a:r>
            <a:r>
              <a:rPr dirty="0" sz="1100" spc="-5">
                <a:latin typeface="Arial"/>
                <a:cs typeface="Arial"/>
              </a:rPr>
              <a:t>that</a:t>
            </a:r>
            <a:r>
              <a:rPr dirty="0" sz="1100" spc="110">
                <a:latin typeface="Arial"/>
                <a:cs typeface="Arial"/>
              </a:rPr>
              <a:t> </a:t>
            </a:r>
            <a:r>
              <a:rPr dirty="0" sz="1100" spc="-5">
                <a:latin typeface="Arial"/>
                <a:cs typeface="Arial"/>
              </a:rPr>
              <a:t>does</a:t>
            </a:r>
            <a:r>
              <a:rPr dirty="0" sz="1100" spc="114">
                <a:latin typeface="Arial"/>
                <a:cs typeface="Arial"/>
              </a:rPr>
              <a:t> </a:t>
            </a:r>
            <a:r>
              <a:rPr dirty="0" sz="1100" spc="-5">
                <a:latin typeface="Arial"/>
                <a:cs typeface="Arial"/>
              </a:rPr>
              <a:t>not</a:t>
            </a:r>
            <a:r>
              <a:rPr dirty="0" sz="1100" spc="110">
                <a:latin typeface="Arial"/>
                <a:cs typeface="Arial"/>
              </a:rPr>
              <a:t> </a:t>
            </a:r>
            <a:r>
              <a:rPr dirty="0" sz="1100" spc="-5">
                <a:latin typeface="Arial"/>
                <a:cs typeface="Arial"/>
              </a:rPr>
              <a:t>cross	; and  so,</a:t>
            </a:r>
            <a:r>
              <a:rPr dirty="0" sz="1100" spc="80">
                <a:latin typeface="Arial"/>
                <a:cs typeface="Arial"/>
              </a:rPr>
              <a:t> </a:t>
            </a:r>
            <a:r>
              <a:rPr dirty="0" sz="1100" spc="-5">
                <a:latin typeface="Arial"/>
                <a:cs typeface="Arial"/>
              </a:rPr>
              <a:t>as</a:t>
            </a:r>
            <a:r>
              <a:rPr dirty="0" sz="1100" spc="85">
                <a:latin typeface="Arial"/>
                <a:cs typeface="Arial"/>
              </a:rPr>
              <a:t> </a:t>
            </a:r>
            <a:r>
              <a:rPr dirty="0" sz="1100" spc="-5">
                <a:latin typeface="Arial"/>
                <a:cs typeface="Arial"/>
              </a:rPr>
              <a:t>we</a:t>
            </a:r>
            <a:r>
              <a:rPr dirty="0" sz="1100" spc="85">
                <a:latin typeface="Arial"/>
                <a:cs typeface="Arial"/>
              </a:rPr>
              <a:t> </a:t>
            </a:r>
            <a:r>
              <a:rPr dirty="0" sz="1100" spc="-5">
                <a:latin typeface="Arial"/>
                <a:cs typeface="Arial"/>
              </a:rPr>
              <a:t>assume</a:t>
            </a:r>
            <a:r>
              <a:rPr dirty="0" sz="1100" spc="85">
                <a:latin typeface="Arial"/>
                <a:cs typeface="Arial"/>
              </a:rPr>
              <a:t> </a:t>
            </a:r>
            <a:r>
              <a:rPr dirty="0" sz="1100" spc="-5">
                <a:latin typeface="Arial"/>
                <a:cs typeface="Arial"/>
              </a:rPr>
              <a:t>that</a:t>
            </a:r>
            <a:r>
              <a:rPr dirty="0" sz="1100" spc="85">
                <a:latin typeface="Arial"/>
                <a:cs typeface="Arial"/>
              </a:rPr>
              <a:t> </a:t>
            </a:r>
            <a:r>
              <a:rPr dirty="0" sz="1100" spc="-5">
                <a:latin typeface="Arial"/>
                <a:cs typeface="Arial"/>
              </a:rPr>
              <a:t>sf(k)</a:t>
            </a:r>
            <a:r>
              <a:rPr dirty="0" sz="1100" spc="85">
                <a:latin typeface="Arial"/>
                <a:cs typeface="Arial"/>
              </a:rPr>
              <a:t> </a:t>
            </a:r>
            <a:r>
              <a:rPr dirty="0" sz="1100" spc="-5">
                <a:latin typeface="Arial"/>
                <a:cs typeface="Arial"/>
              </a:rPr>
              <a:t>lies</a:t>
            </a:r>
            <a:r>
              <a:rPr dirty="0" sz="1100" spc="85">
                <a:latin typeface="Arial"/>
                <a:cs typeface="Arial"/>
              </a:rPr>
              <a:t> </a:t>
            </a:r>
            <a:r>
              <a:rPr dirty="0" sz="1100" spc="-5">
                <a:latin typeface="Arial"/>
                <a:cs typeface="Arial"/>
              </a:rPr>
              <a:t>above	, growth continues at the now higher Harrod-  Domar</a:t>
            </a:r>
            <a:r>
              <a:rPr dirty="0" sz="1100" spc="170">
                <a:latin typeface="Arial"/>
                <a:cs typeface="Arial"/>
              </a:rPr>
              <a:t> </a:t>
            </a:r>
            <a:r>
              <a:rPr dirty="0" sz="1100" spc="-5">
                <a:latin typeface="Arial"/>
                <a:cs typeface="Arial"/>
              </a:rPr>
              <a:t>rate—a</a:t>
            </a:r>
            <a:r>
              <a:rPr dirty="0" sz="1100" spc="175">
                <a:latin typeface="Arial"/>
                <a:cs typeface="Arial"/>
              </a:rPr>
              <a:t> </a:t>
            </a:r>
            <a:r>
              <a:rPr dirty="0" sz="1100" spc="-5">
                <a:latin typeface="Arial"/>
                <a:cs typeface="Arial"/>
              </a:rPr>
              <a:t>result</a:t>
            </a:r>
            <a:r>
              <a:rPr dirty="0" sz="1100" spc="175">
                <a:latin typeface="Arial"/>
                <a:cs typeface="Arial"/>
              </a:rPr>
              <a:t> </a:t>
            </a:r>
            <a:r>
              <a:rPr dirty="0" sz="1100" spc="-5">
                <a:latin typeface="Arial"/>
                <a:cs typeface="Arial"/>
              </a:rPr>
              <a:t>that</a:t>
            </a:r>
            <a:r>
              <a:rPr dirty="0" sz="1100" spc="175">
                <a:latin typeface="Arial"/>
                <a:cs typeface="Arial"/>
              </a:rPr>
              <a:t> </a:t>
            </a:r>
            <a:r>
              <a:rPr dirty="0" sz="1100" spc="-5">
                <a:latin typeface="Arial"/>
                <a:cs typeface="Arial"/>
              </a:rPr>
              <a:t>was</a:t>
            </a:r>
            <a:r>
              <a:rPr dirty="0" sz="1100" spc="175">
                <a:latin typeface="Arial"/>
                <a:cs typeface="Arial"/>
              </a:rPr>
              <a:t> </a:t>
            </a:r>
            <a:r>
              <a:rPr dirty="0" sz="1100" spc="-5">
                <a:latin typeface="Arial"/>
                <a:cs typeface="Arial"/>
              </a:rPr>
              <a:t>represented,</a:t>
            </a:r>
            <a:r>
              <a:rPr dirty="0" sz="1100" spc="175">
                <a:latin typeface="Arial"/>
                <a:cs typeface="Arial"/>
              </a:rPr>
              <a:t> </a:t>
            </a:r>
            <a:r>
              <a:rPr dirty="0" sz="1100" spc="-5">
                <a:latin typeface="Arial"/>
                <a:cs typeface="Arial"/>
              </a:rPr>
              <a:t>for</a:t>
            </a:r>
            <a:r>
              <a:rPr dirty="0" sz="1100" spc="170">
                <a:latin typeface="Arial"/>
                <a:cs typeface="Arial"/>
              </a:rPr>
              <a:t> </a:t>
            </a:r>
            <a:r>
              <a:rPr dirty="0" sz="1100" spc="-5">
                <a:latin typeface="Arial"/>
                <a:cs typeface="Arial"/>
              </a:rPr>
              <a:t>example,</a:t>
            </a:r>
            <a:r>
              <a:rPr dirty="0" sz="1100" spc="175">
                <a:latin typeface="Arial"/>
                <a:cs typeface="Arial"/>
              </a:rPr>
              <a:t> </a:t>
            </a:r>
            <a:r>
              <a:rPr dirty="0" sz="1100" spc="-5">
                <a:latin typeface="Arial"/>
                <a:cs typeface="Arial"/>
              </a:rPr>
              <a:t>in</a:t>
            </a:r>
            <a:r>
              <a:rPr dirty="0" sz="1100" spc="175">
                <a:latin typeface="Arial"/>
                <a:cs typeface="Arial"/>
              </a:rPr>
              <a:t> </a:t>
            </a:r>
            <a:r>
              <a:rPr dirty="0" sz="1100" spc="-5">
                <a:latin typeface="Arial"/>
                <a:cs typeface="Arial"/>
              </a:rPr>
              <a:t>the</a:t>
            </a:r>
            <a:r>
              <a:rPr dirty="0" sz="1100" spc="175">
                <a:latin typeface="Arial"/>
                <a:cs typeface="Arial"/>
              </a:rPr>
              <a:t> </a:t>
            </a:r>
            <a:r>
              <a:rPr dirty="0" sz="1100" spc="-5">
                <a:latin typeface="Arial"/>
                <a:cs typeface="Arial"/>
              </a:rPr>
              <a:t>comparison</a:t>
            </a:r>
            <a:r>
              <a:rPr dirty="0" sz="1100" spc="175">
                <a:latin typeface="Arial"/>
                <a:cs typeface="Arial"/>
              </a:rPr>
              <a:t> </a:t>
            </a:r>
            <a:r>
              <a:rPr dirty="0" sz="1100" spc="-5">
                <a:latin typeface="Arial"/>
                <a:cs typeface="Arial"/>
              </a:rPr>
              <a:t>of</a:t>
            </a:r>
            <a:r>
              <a:rPr dirty="0" sz="1100" spc="175">
                <a:latin typeface="Arial"/>
                <a:cs typeface="Arial"/>
              </a:rPr>
              <a:t> </a:t>
            </a:r>
            <a:r>
              <a:rPr dirty="0" sz="1100" spc="-5">
                <a:latin typeface="Arial"/>
                <a:cs typeface="Arial"/>
              </a:rPr>
              <a:t>Equations</a:t>
            </a:r>
            <a:r>
              <a:rPr dirty="0" sz="1100" spc="170">
                <a:latin typeface="Arial"/>
                <a:cs typeface="Arial"/>
              </a:rPr>
              <a:t> </a:t>
            </a:r>
            <a:r>
              <a:rPr dirty="0" sz="1100" spc="-5">
                <a:latin typeface="Arial"/>
                <a:cs typeface="Arial"/>
              </a:rPr>
              <a:t>3.8</a:t>
            </a:r>
            <a:endParaRPr sz="1100">
              <a:latin typeface="Arial"/>
              <a:cs typeface="Arial"/>
            </a:endParaRPr>
          </a:p>
        </p:txBody>
      </p:sp>
      <p:sp>
        <p:nvSpPr>
          <p:cNvPr id="9" name="object 9"/>
          <p:cNvSpPr txBox="1"/>
          <p:nvPr/>
        </p:nvSpPr>
        <p:spPr>
          <a:xfrm>
            <a:off x="901701" y="6317994"/>
            <a:ext cx="5970270" cy="2602230"/>
          </a:xfrm>
          <a:prstGeom prst="rect">
            <a:avLst/>
          </a:prstGeom>
        </p:spPr>
        <p:txBody>
          <a:bodyPr wrap="square" lIns="0" tIns="12065" rIns="0" bIns="0" rtlCol="0" vert="horz">
            <a:spAutoFit/>
          </a:bodyPr>
          <a:lstStyle/>
          <a:p>
            <a:pPr algn="just" marL="12700">
              <a:lnSpc>
                <a:spcPct val="100000"/>
              </a:lnSpc>
              <a:spcBef>
                <a:spcPts val="95"/>
              </a:spcBef>
            </a:pPr>
            <a:r>
              <a:rPr dirty="0" sz="1100" spc="-5">
                <a:latin typeface="Arial"/>
                <a:cs typeface="Arial"/>
              </a:rPr>
              <a:t>and 3.9.)</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Note carefully that in the Solow model, an increase in s does raise equilibrium output per  person—which is certainly a valuable contribution to development—just not the equilibrium rate  of growth. And the growth rate does increase temporarily as the economy kicks up toward the  higher equilibrium capital per worker. Moreover, simulations based on cross-national data  suggest that if s is increased, the economy </a:t>
            </a:r>
            <a:r>
              <a:rPr dirty="0" sz="1100">
                <a:latin typeface="Arial"/>
                <a:cs typeface="Arial"/>
              </a:rPr>
              <a:t>may </a:t>
            </a:r>
            <a:r>
              <a:rPr dirty="0" sz="1100" spc="-5">
                <a:latin typeface="Arial"/>
                <a:cs typeface="Arial"/>
              </a:rPr>
              <a:t>not return even halfway to its steady state for  decades. That is, for practical purposes of policymaking in developing countries, even if the  Solow model is an accurate depiction of the economy, an increase in savings may substantially  increase the growth rate for many decades to</a:t>
            </a:r>
            <a:r>
              <a:rPr dirty="0" sz="1100" spc="35">
                <a:latin typeface="Arial"/>
                <a:cs typeface="Arial"/>
              </a:rPr>
              <a:t> </a:t>
            </a:r>
            <a:r>
              <a:rPr dirty="0" sz="1100" spc="-5">
                <a:latin typeface="Arial"/>
                <a:cs typeface="Arial"/>
              </a:rPr>
              <a:t>come.</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Finally, it is possible that the rate of savings (and hence investment) is positively related to the  rate of technological progress itself, so that the growth of A depends on s. This could be the  case if investment uses newer-vintage capital and hence is more productive, if investment  represents innovation in that it solves problems faced by the firm, and if other firms see what the  investing firm has done and imitate it (“learning by watching”), generating</a:t>
            </a:r>
            <a:r>
              <a:rPr dirty="0" sz="1100" spc="120">
                <a:latin typeface="Arial"/>
                <a:cs typeface="Arial"/>
              </a:rPr>
              <a:t> </a:t>
            </a:r>
            <a:r>
              <a:rPr dirty="0" sz="1100" spc="-5">
                <a:latin typeface="Arial"/>
                <a:cs typeface="Arial"/>
              </a:rPr>
              <a:t>externalities.</a:t>
            </a:r>
            <a:endParaRPr sz="1100">
              <a:latin typeface="Arial"/>
              <a:cs typeface="Arial"/>
            </a:endParaRPr>
          </a:p>
        </p:txBody>
      </p:sp>
      <p:sp>
        <p:nvSpPr>
          <p:cNvPr id="10" name="object 10"/>
          <p:cNvSpPr/>
          <p:nvPr/>
        </p:nvSpPr>
        <p:spPr>
          <a:xfrm>
            <a:off x="1381505" y="3042666"/>
            <a:ext cx="5010150" cy="3265363"/>
          </a:xfrm>
          <a:prstGeom prst="rect">
            <a:avLst/>
          </a:prstGeom>
          <a:blipFill>
            <a:blip r:embed="rId4" cstate="print"/>
            <a:stretch>
              <a:fillRect/>
            </a:stretch>
          </a:blipFill>
        </p:spPr>
        <p:txBody>
          <a:bodyPr wrap="square" lIns="0" tIns="0" rIns="0" bIns="0" rtlCol="0"/>
          <a:lstStyle/>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126</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270" cy="812101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ENDOGENOUS GROWTH</a:t>
            </a:r>
            <a:r>
              <a:rPr dirty="0" sz="1100" b="1">
                <a:latin typeface="Arial"/>
                <a:cs typeface="Arial"/>
              </a:rPr>
              <a:t> </a:t>
            </a:r>
            <a:r>
              <a:rPr dirty="0" sz="1100" spc="-5" b="1">
                <a:latin typeface="Arial"/>
                <a:cs typeface="Arial"/>
              </a:rPr>
              <a:t>THEORY</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The mixed performance of neoclassical theories in illuminating the sources of long-term  economic growth has led to dissatisfaction with traditional growth theory. In the absence of  external “shocks” or technological change, which is not explained in the neoclassical model, all  economies will converge to zero growth. Hence </a:t>
            </a:r>
            <a:r>
              <a:rPr dirty="0" sz="1100">
                <a:latin typeface="Arial"/>
                <a:cs typeface="Arial"/>
              </a:rPr>
              <a:t>rising </a:t>
            </a:r>
            <a:r>
              <a:rPr dirty="0" sz="1100" spc="-5">
                <a:latin typeface="Arial"/>
                <a:cs typeface="Arial"/>
              </a:rPr>
              <a:t>per capita GNI </a:t>
            </a:r>
            <a:r>
              <a:rPr dirty="0" sz="1100">
                <a:latin typeface="Arial"/>
                <a:cs typeface="Arial"/>
              </a:rPr>
              <a:t>is </a:t>
            </a:r>
            <a:r>
              <a:rPr dirty="0" sz="1100" spc="-5">
                <a:latin typeface="Arial"/>
                <a:cs typeface="Arial"/>
              </a:rPr>
              <a:t>considered a temporary  phenomenon resulting from a change in technology or a short-term equilibrating process in  which an economy approaches its long-run</a:t>
            </a:r>
            <a:r>
              <a:rPr dirty="0" sz="1100" spc="30">
                <a:latin typeface="Arial"/>
                <a:cs typeface="Arial"/>
              </a:rPr>
              <a:t> </a:t>
            </a:r>
            <a:r>
              <a:rPr dirty="0" sz="1100" spc="-5">
                <a:latin typeface="Arial"/>
                <a:cs typeface="Arial"/>
              </a:rPr>
              <a:t>equilibrium.</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Any increases in GNI that cannot be attributed to short-term adjustments in stocks of either  labor or capital are ascribed to a third category, commonly referred to as the Solow residual.  This residual is responsible for roughly 50% of historical growth in the industrialized</a:t>
            </a:r>
            <a:r>
              <a:rPr dirty="0" sz="1100" spc="185">
                <a:latin typeface="Arial"/>
                <a:cs typeface="Arial"/>
              </a:rPr>
              <a:t> </a:t>
            </a:r>
            <a:r>
              <a:rPr dirty="0" sz="1100" spc="-5">
                <a:latin typeface="Arial"/>
                <a:cs typeface="Arial"/>
              </a:rPr>
              <a:t>nations.</a:t>
            </a:r>
            <a:endParaRPr sz="1100">
              <a:latin typeface="Arial"/>
              <a:cs typeface="Arial"/>
            </a:endParaRPr>
          </a:p>
          <a:p>
            <a:pPr>
              <a:lnSpc>
                <a:spcPct val="100000"/>
              </a:lnSpc>
              <a:spcBef>
                <a:spcPts val="15"/>
              </a:spcBef>
            </a:pPr>
            <a:endParaRPr sz="1150">
              <a:latin typeface="Arial"/>
              <a:cs typeface="Arial"/>
            </a:endParaRPr>
          </a:p>
          <a:p>
            <a:pPr algn="just" marL="469900" marR="8255" indent="-228600">
              <a:lnSpc>
                <a:spcPts val="1260"/>
              </a:lnSpc>
              <a:spcBef>
                <a:spcPts val="5"/>
              </a:spcBef>
              <a:buFont typeface="Symbol"/>
              <a:buChar char=""/>
              <a:tabLst>
                <a:tab pos="469900" algn="l"/>
              </a:tabLst>
            </a:pPr>
            <a:r>
              <a:rPr dirty="0" sz="1100" spc="-5" b="1">
                <a:latin typeface="Arial"/>
                <a:cs typeface="Arial"/>
              </a:rPr>
              <a:t>Solow residual: </a:t>
            </a:r>
            <a:r>
              <a:rPr dirty="0" sz="1100" spc="-5">
                <a:latin typeface="Arial"/>
                <a:cs typeface="Arial"/>
              </a:rPr>
              <a:t>The proportion of long-term economic growth not explained by growth  in labor or capital and therefore assigned primarily to exogenous technological</a:t>
            </a:r>
            <a:r>
              <a:rPr dirty="0" sz="1100" spc="204">
                <a:latin typeface="Arial"/>
                <a:cs typeface="Arial"/>
              </a:rPr>
              <a:t> </a:t>
            </a:r>
            <a:r>
              <a:rPr dirty="0" sz="1100" spc="-5">
                <a:latin typeface="Arial"/>
                <a:cs typeface="Arial"/>
              </a:rPr>
              <a:t>change.</a:t>
            </a:r>
            <a:endParaRPr sz="1100">
              <a:latin typeface="Arial"/>
              <a:cs typeface="Arial"/>
            </a:endParaRPr>
          </a:p>
          <a:p>
            <a:pPr>
              <a:lnSpc>
                <a:spcPct val="100000"/>
              </a:lnSpc>
              <a:spcBef>
                <a:spcPts val="25"/>
              </a:spcBef>
              <a:buFont typeface="Symbol"/>
              <a:buChar char=""/>
            </a:pPr>
            <a:endParaRPr sz="1000">
              <a:latin typeface="Arial"/>
              <a:cs typeface="Arial"/>
            </a:endParaRPr>
          </a:p>
          <a:p>
            <a:pPr marL="12700">
              <a:lnSpc>
                <a:spcPct val="100000"/>
              </a:lnSpc>
              <a:spcBef>
                <a:spcPts val="5"/>
              </a:spcBef>
            </a:pPr>
            <a:r>
              <a:rPr dirty="0" sz="1100" spc="-5" b="1">
                <a:latin typeface="Arial"/>
                <a:cs typeface="Arial"/>
              </a:rPr>
              <a:t>ENDOGENOUS GROWTH (THE NEW GROWTH</a:t>
            </a:r>
            <a:r>
              <a:rPr dirty="0" sz="1100" spc="20" b="1">
                <a:latin typeface="Arial"/>
                <a:cs typeface="Arial"/>
              </a:rPr>
              <a:t> </a:t>
            </a:r>
            <a:r>
              <a:rPr dirty="0" sz="1100" spc="-5" b="1">
                <a:latin typeface="Arial"/>
                <a:cs typeface="Arial"/>
              </a:rPr>
              <a:t>THEORY)</a:t>
            </a:r>
            <a:endParaRPr sz="1100">
              <a:latin typeface="Arial"/>
              <a:cs typeface="Arial"/>
            </a:endParaRPr>
          </a:p>
          <a:p>
            <a:pPr>
              <a:lnSpc>
                <a:spcPct val="100000"/>
              </a:lnSpc>
              <a:spcBef>
                <a:spcPts val="20"/>
              </a:spcBef>
            </a:pPr>
            <a:endParaRPr sz="1200">
              <a:latin typeface="Arial"/>
              <a:cs typeface="Arial"/>
            </a:endParaRPr>
          </a:p>
          <a:p>
            <a:pPr algn="just" marL="12700" marR="7620">
              <a:lnSpc>
                <a:spcPts val="1270"/>
              </a:lnSpc>
              <a:spcBef>
                <a:spcPts val="5"/>
              </a:spcBef>
            </a:pPr>
            <a:r>
              <a:rPr dirty="0" sz="1100" spc="-5">
                <a:latin typeface="Arial"/>
                <a:cs typeface="Arial"/>
              </a:rPr>
              <a:t>“Economic growth generated by factors within the production process (e.g., increasing returns  or induced technological change) that are studied as part of a growth</a:t>
            </a:r>
            <a:r>
              <a:rPr dirty="0" sz="1100" spc="85">
                <a:latin typeface="Arial"/>
                <a:cs typeface="Arial"/>
              </a:rPr>
              <a:t> </a:t>
            </a:r>
            <a:r>
              <a:rPr dirty="0" sz="1100" spc="-5">
                <a:latin typeface="Arial"/>
                <a:cs typeface="Arial"/>
              </a:rPr>
              <a:t>model.”</a:t>
            </a:r>
            <a:endParaRPr sz="1100">
              <a:latin typeface="Arial"/>
              <a:cs typeface="Arial"/>
            </a:endParaRPr>
          </a:p>
          <a:p>
            <a:pPr algn="just" marL="12700">
              <a:lnSpc>
                <a:spcPts val="1200"/>
              </a:lnSpc>
            </a:pPr>
            <a:r>
              <a:rPr dirty="0" sz="1100" spc="-5">
                <a:latin typeface="Arial"/>
                <a:cs typeface="Arial"/>
              </a:rPr>
              <a:t>The</a:t>
            </a:r>
            <a:r>
              <a:rPr dirty="0" sz="1100" spc="250">
                <a:latin typeface="Arial"/>
                <a:cs typeface="Arial"/>
              </a:rPr>
              <a:t> </a:t>
            </a:r>
            <a:r>
              <a:rPr dirty="0" sz="1100" spc="-5">
                <a:latin typeface="Arial"/>
                <a:cs typeface="Arial"/>
              </a:rPr>
              <a:t>new</a:t>
            </a:r>
            <a:r>
              <a:rPr dirty="0" sz="1100" spc="254">
                <a:latin typeface="Arial"/>
                <a:cs typeface="Arial"/>
              </a:rPr>
              <a:t> </a:t>
            </a:r>
            <a:r>
              <a:rPr dirty="0" sz="1100" spc="-5">
                <a:latin typeface="Arial"/>
                <a:cs typeface="Arial"/>
              </a:rPr>
              <a:t>growth</a:t>
            </a:r>
            <a:r>
              <a:rPr dirty="0" sz="1100" spc="254">
                <a:latin typeface="Arial"/>
                <a:cs typeface="Arial"/>
              </a:rPr>
              <a:t> </a:t>
            </a:r>
            <a:r>
              <a:rPr dirty="0" sz="1100" spc="-5">
                <a:latin typeface="Arial"/>
                <a:cs typeface="Arial"/>
              </a:rPr>
              <a:t>theory</a:t>
            </a:r>
            <a:r>
              <a:rPr dirty="0" sz="1100" spc="254">
                <a:latin typeface="Arial"/>
                <a:cs typeface="Arial"/>
              </a:rPr>
              <a:t> </a:t>
            </a:r>
            <a:r>
              <a:rPr dirty="0" sz="1100" spc="-5">
                <a:latin typeface="Arial"/>
                <a:cs typeface="Arial"/>
              </a:rPr>
              <a:t>provides</a:t>
            </a:r>
            <a:r>
              <a:rPr dirty="0" sz="1100" spc="250">
                <a:latin typeface="Arial"/>
                <a:cs typeface="Arial"/>
              </a:rPr>
              <a:t> </a:t>
            </a:r>
            <a:r>
              <a:rPr dirty="0" sz="1100" spc="-5">
                <a:latin typeface="Arial"/>
                <a:cs typeface="Arial"/>
              </a:rPr>
              <a:t>a</a:t>
            </a:r>
            <a:r>
              <a:rPr dirty="0" sz="1100" spc="254">
                <a:latin typeface="Arial"/>
                <a:cs typeface="Arial"/>
              </a:rPr>
              <a:t> </a:t>
            </a:r>
            <a:r>
              <a:rPr dirty="0" sz="1100" spc="-5">
                <a:latin typeface="Arial"/>
                <a:cs typeface="Arial"/>
              </a:rPr>
              <a:t>theoretical</a:t>
            </a:r>
            <a:r>
              <a:rPr dirty="0" sz="1100" spc="250">
                <a:latin typeface="Arial"/>
                <a:cs typeface="Arial"/>
              </a:rPr>
              <a:t> </a:t>
            </a:r>
            <a:r>
              <a:rPr dirty="0" sz="1100" spc="-5">
                <a:latin typeface="Arial"/>
                <a:cs typeface="Arial"/>
              </a:rPr>
              <a:t>framework</a:t>
            </a:r>
            <a:r>
              <a:rPr dirty="0" sz="1100" spc="260">
                <a:latin typeface="Arial"/>
                <a:cs typeface="Arial"/>
              </a:rPr>
              <a:t> </a:t>
            </a:r>
            <a:r>
              <a:rPr dirty="0" sz="1100" spc="-5">
                <a:latin typeface="Arial"/>
                <a:cs typeface="Arial"/>
              </a:rPr>
              <a:t>for</a:t>
            </a:r>
            <a:r>
              <a:rPr dirty="0" sz="1100" spc="250">
                <a:latin typeface="Arial"/>
                <a:cs typeface="Arial"/>
              </a:rPr>
              <a:t> </a:t>
            </a:r>
            <a:r>
              <a:rPr dirty="0" sz="1100" spc="-5">
                <a:latin typeface="Arial"/>
                <a:cs typeface="Arial"/>
              </a:rPr>
              <a:t>analyzing</a:t>
            </a:r>
            <a:r>
              <a:rPr dirty="0" sz="1100" spc="250">
                <a:latin typeface="Arial"/>
                <a:cs typeface="Arial"/>
              </a:rPr>
              <a:t> </a:t>
            </a:r>
            <a:r>
              <a:rPr dirty="0" sz="1100" spc="-5">
                <a:latin typeface="Arial"/>
                <a:cs typeface="Arial"/>
              </a:rPr>
              <a:t>endogenous</a:t>
            </a:r>
            <a:r>
              <a:rPr dirty="0" sz="1100" spc="250">
                <a:latin typeface="Arial"/>
                <a:cs typeface="Arial"/>
              </a:rPr>
              <a:t> </a:t>
            </a:r>
            <a:r>
              <a:rPr dirty="0" sz="1100" spc="-5">
                <a:latin typeface="Arial"/>
                <a:cs typeface="Arial"/>
              </a:rPr>
              <a:t>growth,</a:t>
            </a:r>
            <a:endParaRPr sz="1100">
              <a:latin typeface="Arial"/>
              <a:cs typeface="Arial"/>
            </a:endParaRPr>
          </a:p>
          <a:p>
            <a:pPr algn="just" marL="12700" marR="5080">
              <a:lnSpc>
                <a:spcPct val="95800"/>
              </a:lnSpc>
              <a:spcBef>
                <a:spcPts val="25"/>
              </a:spcBef>
            </a:pPr>
            <a:r>
              <a:rPr dirty="0" sz="1100" spc="-5">
                <a:latin typeface="Arial"/>
                <a:cs typeface="Arial"/>
              </a:rPr>
              <a:t>persistent GNI growth </a:t>
            </a:r>
            <a:r>
              <a:rPr dirty="0" sz="1100">
                <a:latin typeface="Arial"/>
                <a:cs typeface="Arial"/>
              </a:rPr>
              <a:t>that </a:t>
            </a:r>
            <a:r>
              <a:rPr dirty="0" sz="1100" spc="-5">
                <a:latin typeface="Arial"/>
                <a:cs typeface="Arial"/>
              </a:rPr>
              <a:t>is determined by the system governing the production process rather  than by forces outside that system. In contrast to traditional neoclassical theory, these models  hold GNI growth to be a natural consequence of long-run equilibrium. The principal motivations  of the new growth theory are to explain both growth rate differentials across countries and a  greater proportion of the growth observed. More succinctly, endogenous growth theorists seek  to explain </a:t>
            </a:r>
            <a:r>
              <a:rPr dirty="0" sz="1100">
                <a:latin typeface="Arial"/>
                <a:cs typeface="Arial"/>
              </a:rPr>
              <a:t>the </a:t>
            </a:r>
            <a:r>
              <a:rPr dirty="0" sz="1100" spc="-5">
                <a:latin typeface="Arial"/>
                <a:cs typeface="Arial"/>
              </a:rPr>
              <a:t>factors that determine the size of l, the rate of growth of GDP that is left  unexplained and exogenously determined in the Solow neoclassical growth equation (i.e., the  Solow residual).</a:t>
            </a:r>
            <a:endParaRPr sz="1100">
              <a:latin typeface="Arial"/>
              <a:cs typeface="Arial"/>
            </a:endParaRPr>
          </a:p>
          <a:p>
            <a:pPr algn="just" marL="469900" marR="5080" indent="-228600">
              <a:lnSpc>
                <a:spcPts val="1260"/>
              </a:lnSpc>
              <a:spcBef>
                <a:spcPts val="114"/>
              </a:spcBef>
              <a:buFont typeface="Symbol"/>
              <a:buChar char=""/>
              <a:tabLst>
                <a:tab pos="469900" algn="l"/>
              </a:tabLst>
            </a:pPr>
            <a:r>
              <a:rPr dirty="0" sz="1100" spc="-5" b="1">
                <a:latin typeface="Arial"/>
                <a:cs typeface="Arial"/>
              </a:rPr>
              <a:t>Complementary Investments: </a:t>
            </a:r>
            <a:r>
              <a:rPr dirty="0" sz="1100" spc="-5">
                <a:latin typeface="Arial"/>
                <a:cs typeface="Arial"/>
              </a:rPr>
              <a:t>Investments that complement and facilitate other  productive factors.</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spcBef>
                <a:spcPts val="5"/>
              </a:spcBef>
            </a:pPr>
            <a:r>
              <a:rPr dirty="0" sz="1100" spc="-5" b="1">
                <a:latin typeface="Arial"/>
                <a:cs typeface="Arial"/>
              </a:rPr>
              <a:t>THE ROMER</a:t>
            </a:r>
            <a:r>
              <a:rPr dirty="0" sz="1100" b="1">
                <a:latin typeface="Arial"/>
                <a:cs typeface="Arial"/>
              </a:rPr>
              <a:t> </a:t>
            </a:r>
            <a:r>
              <a:rPr dirty="0" sz="1100" spc="-5" b="1">
                <a:latin typeface="Arial"/>
                <a:cs typeface="Arial"/>
              </a:rPr>
              <a:t>MODEL</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To illustrate the endogenous growth approach, we examine the </a:t>
            </a:r>
            <a:r>
              <a:rPr dirty="0" sz="1100" spc="-5" b="1">
                <a:latin typeface="Arial"/>
                <a:cs typeface="Arial"/>
              </a:rPr>
              <a:t>Romer endogenous growth  model </a:t>
            </a:r>
            <a:r>
              <a:rPr dirty="0" sz="1100" spc="-5">
                <a:latin typeface="Arial"/>
                <a:cs typeface="Arial"/>
              </a:rPr>
              <a:t>in detail because it addresses technological spillovers that may be present in the  process of industrialization. Thus it is not only the seminal model of endogenous growth but </a:t>
            </a:r>
            <a:r>
              <a:rPr dirty="0" sz="1100">
                <a:latin typeface="Arial"/>
                <a:cs typeface="Arial"/>
              </a:rPr>
              <a:t>also  </a:t>
            </a:r>
            <a:r>
              <a:rPr dirty="0" sz="1100" spc="-5">
                <a:latin typeface="Arial"/>
                <a:cs typeface="Arial"/>
              </a:rPr>
              <a:t>one of particular relevance for developing</a:t>
            </a:r>
            <a:r>
              <a:rPr dirty="0" sz="1100" spc="30">
                <a:latin typeface="Arial"/>
                <a:cs typeface="Arial"/>
              </a:rPr>
              <a:t> </a:t>
            </a:r>
            <a:r>
              <a:rPr dirty="0" sz="1100" spc="-5">
                <a:latin typeface="Arial"/>
                <a:cs typeface="Arial"/>
              </a:rPr>
              <a:t>countries.</a:t>
            </a:r>
            <a:endParaRPr sz="1100">
              <a:latin typeface="Arial"/>
              <a:cs typeface="Arial"/>
            </a:endParaRPr>
          </a:p>
          <a:p>
            <a:pPr>
              <a:lnSpc>
                <a:spcPct val="100000"/>
              </a:lnSpc>
              <a:spcBef>
                <a:spcPts val="25"/>
              </a:spcBef>
            </a:pPr>
            <a:endParaRPr sz="1150">
              <a:latin typeface="Arial"/>
              <a:cs typeface="Arial"/>
            </a:endParaRPr>
          </a:p>
          <a:p>
            <a:pPr algn="just" marL="469900" marR="5715" indent="-228600">
              <a:lnSpc>
                <a:spcPct val="95800"/>
              </a:lnSpc>
              <a:buFont typeface="Symbol"/>
              <a:buChar char=""/>
              <a:tabLst>
                <a:tab pos="469900" algn="l"/>
              </a:tabLst>
            </a:pPr>
            <a:r>
              <a:rPr dirty="0" sz="1100" spc="-5" b="1">
                <a:latin typeface="Arial"/>
                <a:cs typeface="Arial"/>
              </a:rPr>
              <a:t>The Romer endogenous </a:t>
            </a:r>
            <a:r>
              <a:rPr dirty="0" sz="1100" b="1">
                <a:latin typeface="Arial"/>
                <a:cs typeface="Arial"/>
              </a:rPr>
              <a:t>growth </a:t>
            </a:r>
            <a:r>
              <a:rPr dirty="0" sz="1100" spc="-5" b="1">
                <a:latin typeface="Arial"/>
                <a:cs typeface="Arial"/>
              </a:rPr>
              <a:t>model: </a:t>
            </a:r>
            <a:r>
              <a:rPr dirty="0" sz="1100" spc="-5">
                <a:latin typeface="Arial"/>
                <a:cs typeface="Arial"/>
              </a:rPr>
              <a:t>An endogenous growth model in which  technological spillovers are present; the economy wide capital stock positively affects  output at the industry level, so there may be increasing returns to scale at the economy  wide level.</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Each firm’s capital stock includes its knowledge. The knowledge part of the firm’s capital stock  is essentially a public good, like A in the Solow model that is spilling over instantly to the </a:t>
            </a:r>
            <a:r>
              <a:rPr dirty="0" sz="1100">
                <a:latin typeface="Arial"/>
                <a:cs typeface="Arial"/>
              </a:rPr>
              <a:t>other  </a:t>
            </a:r>
            <a:r>
              <a:rPr dirty="0" sz="1100" spc="-5">
                <a:latin typeface="Arial"/>
                <a:cs typeface="Arial"/>
              </a:rPr>
              <a:t>firms in the</a:t>
            </a:r>
            <a:r>
              <a:rPr dirty="0" sz="1100">
                <a:latin typeface="Arial"/>
                <a:cs typeface="Arial"/>
              </a:rPr>
              <a:t> </a:t>
            </a:r>
            <a:r>
              <a:rPr dirty="0" sz="1100" spc="-5">
                <a:latin typeface="Arial"/>
                <a:cs typeface="Arial"/>
              </a:rPr>
              <a:t>economy.</a:t>
            </a:r>
            <a:endParaRPr sz="1100">
              <a:latin typeface="Arial"/>
              <a:cs typeface="Arial"/>
            </a:endParaRPr>
          </a:p>
          <a:p>
            <a:pPr>
              <a:lnSpc>
                <a:spcPct val="100000"/>
              </a:lnSpc>
              <a:spcBef>
                <a:spcPts val="55"/>
              </a:spcBef>
            </a:pPr>
            <a:endParaRPr sz="1050">
              <a:latin typeface="Arial"/>
              <a:cs typeface="Arial"/>
            </a:endParaRPr>
          </a:p>
          <a:p>
            <a:pPr algn="just" marL="12700" marR="5715">
              <a:lnSpc>
                <a:spcPts val="1260"/>
              </a:lnSpc>
            </a:pPr>
            <a:r>
              <a:rPr dirty="0" sz="1100" spc="-5">
                <a:latin typeface="Arial"/>
                <a:cs typeface="Arial"/>
              </a:rPr>
              <a:t>It is valuable to think of each firm’s capital stock as including its knowledge. The knowledge part  of</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firm’s</a:t>
            </a:r>
            <a:r>
              <a:rPr dirty="0" sz="1100" spc="30">
                <a:latin typeface="Arial"/>
                <a:cs typeface="Arial"/>
              </a:rPr>
              <a:t> </a:t>
            </a:r>
            <a:r>
              <a:rPr dirty="0" sz="1100" spc="-5">
                <a:latin typeface="Arial"/>
                <a:cs typeface="Arial"/>
              </a:rPr>
              <a:t>capital</a:t>
            </a:r>
            <a:r>
              <a:rPr dirty="0" sz="1100" spc="25">
                <a:latin typeface="Arial"/>
                <a:cs typeface="Arial"/>
              </a:rPr>
              <a:t> </a:t>
            </a:r>
            <a:r>
              <a:rPr dirty="0" sz="1100" spc="-5">
                <a:latin typeface="Arial"/>
                <a:cs typeface="Arial"/>
              </a:rPr>
              <a:t>stock</a:t>
            </a:r>
            <a:r>
              <a:rPr dirty="0" sz="1100" spc="25">
                <a:latin typeface="Arial"/>
                <a:cs typeface="Arial"/>
              </a:rPr>
              <a:t> </a:t>
            </a:r>
            <a:r>
              <a:rPr dirty="0" sz="1100" spc="-5">
                <a:latin typeface="Arial"/>
                <a:cs typeface="Arial"/>
              </a:rPr>
              <a:t>is</a:t>
            </a:r>
            <a:r>
              <a:rPr dirty="0" sz="1100" spc="20">
                <a:latin typeface="Arial"/>
                <a:cs typeface="Arial"/>
              </a:rPr>
              <a:t> </a:t>
            </a:r>
            <a:r>
              <a:rPr dirty="0" sz="1100" spc="-5">
                <a:latin typeface="Arial"/>
                <a:cs typeface="Arial"/>
              </a:rPr>
              <a:t>essentially</a:t>
            </a:r>
            <a:r>
              <a:rPr dirty="0" sz="1100" spc="25">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public</a:t>
            </a:r>
            <a:r>
              <a:rPr dirty="0" sz="1100" spc="25">
                <a:latin typeface="Arial"/>
                <a:cs typeface="Arial"/>
              </a:rPr>
              <a:t> </a:t>
            </a:r>
            <a:r>
              <a:rPr dirty="0" sz="1100" spc="-5">
                <a:latin typeface="Arial"/>
                <a:cs typeface="Arial"/>
              </a:rPr>
              <a:t>good,</a:t>
            </a:r>
            <a:r>
              <a:rPr dirty="0" sz="1100" spc="20">
                <a:latin typeface="Arial"/>
                <a:cs typeface="Arial"/>
              </a:rPr>
              <a:t> </a:t>
            </a:r>
            <a:r>
              <a:rPr dirty="0" sz="1100" spc="-5">
                <a:latin typeface="Arial"/>
                <a:cs typeface="Arial"/>
              </a:rPr>
              <a:t>like</a:t>
            </a:r>
            <a:r>
              <a:rPr dirty="0" sz="1100" spc="25">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in</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Solow</a:t>
            </a:r>
            <a:r>
              <a:rPr dirty="0" sz="1100" spc="30">
                <a:latin typeface="Arial"/>
                <a:cs typeface="Arial"/>
              </a:rPr>
              <a:t> </a:t>
            </a:r>
            <a:r>
              <a:rPr dirty="0" sz="1100" spc="-5">
                <a:latin typeface="Arial"/>
                <a:cs typeface="Arial"/>
              </a:rPr>
              <a:t>model,</a:t>
            </a:r>
            <a:r>
              <a:rPr dirty="0" sz="1100" spc="25">
                <a:latin typeface="Arial"/>
                <a:cs typeface="Arial"/>
              </a:rPr>
              <a:t> </a:t>
            </a:r>
            <a:r>
              <a:rPr dirty="0" sz="1100" spc="-5">
                <a:latin typeface="Arial"/>
                <a:cs typeface="Arial"/>
              </a:rPr>
              <a:t>which</a:t>
            </a:r>
            <a:r>
              <a:rPr dirty="0" sz="1100" spc="25">
                <a:latin typeface="Arial"/>
                <a:cs typeface="Arial"/>
              </a:rPr>
              <a:t> </a:t>
            </a:r>
            <a:r>
              <a:rPr dirty="0" sz="1100" spc="-5">
                <a:latin typeface="Arial"/>
                <a:cs typeface="Arial"/>
              </a:rPr>
              <a:t>is</a:t>
            </a:r>
            <a:r>
              <a:rPr dirty="0" sz="1100" spc="20">
                <a:latin typeface="Arial"/>
                <a:cs typeface="Arial"/>
              </a:rPr>
              <a:t> </a:t>
            </a:r>
            <a:r>
              <a:rPr dirty="0" sz="1100" spc="-5">
                <a:latin typeface="Arial"/>
                <a:cs typeface="Arial"/>
              </a:rPr>
              <a:t>spilling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127</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1396746"/>
            <a:ext cx="1095756" cy="246887"/>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914400" y="2617470"/>
            <a:ext cx="1038606" cy="228600"/>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914400" y="3649217"/>
            <a:ext cx="933450" cy="285750"/>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3941064" y="4289297"/>
            <a:ext cx="87630" cy="128777"/>
          </a:xfrm>
          <a:prstGeom prst="rect">
            <a:avLst/>
          </a:prstGeom>
          <a:blipFill>
            <a:blip r:embed="rId5" cstate="print"/>
            <a:stretch>
              <a:fillRect/>
            </a:stretch>
          </a:blipFill>
        </p:spPr>
        <p:txBody>
          <a:bodyPr wrap="square" lIns="0" tIns="0" rIns="0" bIns="0" rtlCol="0"/>
          <a:lstStyle/>
          <a:p/>
        </p:txBody>
      </p:sp>
      <p:sp>
        <p:nvSpPr>
          <p:cNvPr id="10" name="object 10"/>
          <p:cNvSpPr txBox="1"/>
          <p:nvPr/>
        </p:nvSpPr>
        <p:spPr>
          <a:xfrm>
            <a:off x="901689" y="891794"/>
            <a:ext cx="5970905" cy="5686425"/>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over instantly to the other firms in the economy. As a result, this model treats learning by doing  as “learning by investing.” You can think of Romer’s model as spelling out— endogenizing—the  reason why growth </a:t>
            </a:r>
            <a:r>
              <a:rPr dirty="0" sz="1100">
                <a:latin typeface="Arial"/>
                <a:cs typeface="Arial"/>
              </a:rPr>
              <a:t>might </a:t>
            </a:r>
            <a:r>
              <a:rPr dirty="0" sz="1100" spc="-5">
                <a:latin typeface="Arial"/>
                <a:cs typeface="Arial"/>
              </a:rPr>
              <a:t>depend on the rate of investment </a:t>
            </a:r>
            <a:r>
              <a:rPr dirty="0" sz="1100">
                <a:latin typeface="Arial"/>
                <a:cs typeface="Arial"/>
              </a:rPr>
              <a:t>(as </a:t>
            </a:r>
            <a:r>
              <a:rPr dirty="0" sz="1100" spc="-5">
                <a:latin typeface="Arial"/>
                <a:cs typeface="Arial"/>
              </a:rPr>
              <a:t>in the Harrod-Domar</a:t>
            </a:r>
            <a:r>
              <a:rPr dirty="0" sz="1100" spc="155">
                <a:latin typeface="Arial"/>
                <a:cs typeface="Arial"/>
              </a:rPr>
              <a:t> </a:t>
            </a:r>
            <a:r>
              <a:rPr dirty="0" sz="1100" spc="-5">
                <a:latin typeface="Arial"/>
                <a:cs typeface="Arial"/>
              </a:rPr>
              <a:t>model).</a:t>
            </a:r>
            <a:endParaRPr sz="1100">
              <a:latin typeface="Arial"/>
              <a:cs typeface="Arial"/>
            </a:endParaRPr>
          </a:p>
          <a:p>
            <a:pPr algn="just" marL="2988945">
              <a:lnSpc>
                <a:spcPct val="100000"/>
              </a:lnSpc>
              <a:spcBef>
                <a:spcPts val="530"/>
              </a:spcBef>
            </a:pPr>
            <a:r>
              <a:rPr dirty="0" sz="1100" spc="-5">
                <a:latin typeface="Arial"/>
                <a:cs typeface="Arial"/>
              </a:rPr>
              <a:t>(A 3.3.1)</a:t>
            </a:r>
            <a:endParaRPr sz="1100">
              <a:latin typeface="Arial"/>
              <a:cs typeface="Arial"/>
            </a:endParaRPr>
          </a:p>
          <a:p>
            <a:pPr>
              <a:lnSpc>
                <a:spcPct val="100000"/>
              </a:lnSpc>
              <a:spcBef>
                <a:spcPts val="55"/>
              </a:spcBef>
            </a:pPr>
            <a:endParaRPr sz="1200">
              <a:latin typeface="Arial"/>
              <a:cs typeface="Arial"/>
            </a:endParaRPr>
          </a:p>
          <a:p>
            <a:pPr algn="just" marL="469900" marR="7620" indent="-228600">
              <a:lnSpc>
                <a:spcPts val="1260"/>
              </a:lnSpc>
              <a:buFont typeface="Symbol"/>
              <a:buChar char=""/>
              <a:tabLst>
                <a:tab pos="469900" algn="l"/>
              </a:tabLst>
            </a:pPr>
            <a:r>
              <a:rPr dirty="0" sz="1100" spc="-5" b="1">
                <a:latin typeface="Arial"/>
                <a:cs typeface="Arial"/>
              </a:rPr>
              <a:t>Public Good</a:t>
            </a:r>
            <a:r>
              <a:rPr dirty="0" sz="1100" spc="-5">
                <a:latin typeface="Arial"/>
                <a:cs typeface="Arial"/>
              </a:rPr>
              <a:t>: An entity that provides benefits to all individuals simultaneously and  whose enjoyment by one person in no way diminishes that of anyone</a:t>
            </a:r>
            <a:r>
              <a:rPr dirty="0" sz="1100" spc="100">
                <a:latin typeface="Arial"/>
                <a:cs typeface="Arial"/>
              </a:rPr>
              <a:t> </a:t>
            </a:r>
            <a:r>
              <a:rPr dirty="0" sz="1100" spc="-5">
                <a:latin typeface="Arial"/>
                <a:cs typeface="Arial"/>
              </a:rPr>
              <a:t>else.</a:t>
            </a:r>
            <a:endParaRPr sz="1100">
              <a:latin typeface="Arial"/>
              <a:cs typeface="Arial"/>
            </a:endParaRPr>
          </a:p>
          <a:p>
            <a:pPr>
              <a:lnSpc>
                <a:spcPct val="100000"/>
              </a:lnSpc>
              <a:buFont typeface="Symbol"/>
              <a:buChar char=""/>
            </a:pPr>
            <a:endParaRPr sz="1100">
              <a:latin typeface="Arial"/>
              <a:cs typeface="Arial"/>
            </a:endParaRPr>
          </a:p>
          <a:p>
            <a:pPr algn="just" marL="12700" marR="6985">
              <a:lnSpc>
                <a:spcPts val="1270"/>
              </a:lnSpc>
            </a:pPr>
            <a:r>
              <a:rPr dirty="0" sz="1100" spc="-5">
                <a:latin typeface="Arial"/>
                <a:cs typeface="Arial"/>
              </a:rPr>
              <a:t>We assume symmetry across industries for simplicity, so each industry will use the same level  of capital and labor. Then we have </a:t>
            </a:r>
            <a:r>
              <a:rPr dirty="0" sz="1100">
                <a:latin typeface="Arial"/>
                <a:cs typeface="Arial"/>
              </a:rPr>
              <a:t>the </a:t>
            </a:r>
            <a:r>
              <a:rPr dirty="0" sz="1100" spc="-5">
                <a:latin typeface="Arial"/>
                <a:cs typeface="Arial"/>
              </a:rPr>
              <a:t>aggregate production</a:t>
            </a:r>
            <a:r>
              <a:rPr dirty="0" sz="1100" spc="55">
                <a:latin typeface="Arial"/>
                <a:cs typeface="Arial"/>
              </a:rPr>
              <a:t> </a:t>
            </a:r>
            <a:r>
              <a:rPr dirty="0" sz="1100" spc="-5">
                <a:latin typeface="Arial"/>
                <a:cs typeface="Arial"/>
              </a:rPr>
              <a:t>function:</a:t>
            </a:r>
            <a:endParaRPr sz="1100">
              <a:latin typeface="Arial"/>
              <a:cs typeface="Arial"/>
            </a:endParaRPr>
          </a:p>
          <a:p>
            <a:pPr algn="just" marL="2950210">
              <a:lnSpc>
                <a:spcPct val="100000"/>
              </a:lnSpc>
              <a:spcBef>
                <a:spcPts val="235"/>
              </a:spcBef>
            </a:pPr>
            <a:r>
              <a:rPr dirty="0" sz="1100" spc="-5">
                <a:latin typeface="Arial"/>
                <a:cs typeface="Arial"/>
              </a:rPr>
              <a:t>(A 3.3.2)</a:t>
            </a:r>
            <a:endParaRPr sz="1100">
              <a:latin typeface="Arial"/>
              <a:cs typeface="Arial"/>
            </a:endParaRPr>
          </a:p>
          <a:p>
            <a:pPr>
              <a:lnSpc>
                <a:spcPct val="100000"/>
              </a:lnSpc>
              <a:spcBef>
                <a:spcPts val="35"/>
              </a:spcBef>
            </a:pPr>
            <a:endParaRPr sz="1250">
              <a:latin typeface="Arial"/>
              <a:cs typeface="Arial"/>
            </a:endParaRPr>
          </a:p>
          <a:p>
            <a:pPr algn="just" marL="12700" marR="5080">
              <a:lnSpc>
                <a:spcPct val="95800"/>
              </a:lnSpc>
            </a:pPr>
            <a:r>
              <a:rPr dirty="0" sz="1100" spc="-5">
                <a:latin typeface="Arial"/>
                <a:cs typeface="Arial"/>
              </a:rPr>
              <a:t>To make endogenous growth stand out clearly, we assume that A is constant rather than rising  over time; </a:t>
            </a:r>
            <a:r>
              <a:rPr dirty="0" sz="1100">
                <a:latin typeface="Arial"/>
                <a:cs typeface="Arial"/>
              </a:rPr>
              <a:t>that </a:t>
            </a:r>
            <a:r>
              <a:rPr dirty="0" sz="1100" spc="-5">
                <a:latin typeface="Arial"/>
                <a:cs typeface="Arial"/>
              </a:rPr>
              <a:t>is, we assume for now that there is no technological progress. With a little  calculus, it can be shown that the resulting growth rate for per capita income in the economy  would be</a:t>
            </a:r>
            <a:endParaRPr sz="1100">
              <a:latin typeface="Arial"/>
              <a:cs typeface="Arial"/>
            </a:endParaRPr>
          </a:p>
          <a:p>
            <a:pPr algn="ctr" marL="426720">
              <a:lnSpc>
                <a:spcPct val="100000"/>
              </a:lnSpc>
              <a:spcBef>
                <a:spcPts val="325"/>
              </a:spcBef>
            </a:pPr>
            <a:r>
              <a:rPr dirty="0" sz="1100" spc="-5">
                <a:latin typeface="Arial"/>
                <a:cs typeface="Arial"/>
              </a:rPr>
              <a:t>(A3.3.3)</a:t>
            </a:r>
            <a:endParaRPr sz="1100">
              <a:latin typeface="Arial"/>
              <a:cs typeface="Arial"/>
            </a:endParaRPr>
          </a:p>
          <a:p>
            <a:pPr>
              <a:lnSpc>
                <a:spcPct val="100000"/>
              </a:lnSpc>
              <a:spcBef>
                <a:spcPts val="10"/>
              </a:spcBef>
            </a:pPr>
            <a:endParaRPr sz="1550">
              <a:latin typeface="Arial"/>
              <a:cs typeface="Arial"/>
            </a:endParaRPr>
          </a:p>
          <a:p>
            <a:pPr algn="just" marL="12700" marR="6350">
              <a:lnSpc>
                <a:spcPct val="101800"/>
              </a:lnSpc>
            </a:pPr>
            <a:r>
              <a:rPr dirty="0" sz="1100" spc="-5">
                <a:latin typeface="Arial"/>
                <a:cs typeface="Arial"/>
              </a:rPr>
              <a:t>Where g is the output growth rate and n is the population growth rate. Without spillovers, as in  the Solow model with constant returns to scale, = 0, and so per capita growth would be zero  (without technological</a:t>
            </a:r>
            <a:r>
              <a:rPr dirty="0" sz="1100">
                <a:latin typeface="Arial"/>
                <a:cs typeface="Arial"/>
              </a:rPr>
              <a:t> </a:t>
            </a:r>
            <a:r>
              <a:rPr dirty="0" sz="1100" spc="-5">
                <a:latin typeface="Arial"/>
                <a:cs typeface="Arial"/>
              </a:rPr>
              <a:t>progress).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CRITICISMS OF ENDOGENOUS GROWTH</a:t>
            </a:r>
            <a:r>
              <a:rPr dirty="0" sz="1100" spc="15" b="1">
                <a:latin typeface="Arial"/>
                <a:cs typeface="Arial"/>
              </a:rPr>
              <a:t> </a:t>
            </a:r>
            <a:r>
              <a:rPr dirty="0" sz="1100" b="1">
                <a:latin typeface="Arial"/>
                <a:cs typeface="Arial"/>
              </a:rPr>
              <a:t>THEORY</a:t>
            </a:r>
            <a:endParaRPr sz="1100">
              <a:latin typeface="Arial"/>
              <a:cs typeface="Arial"/>
            </a:endParaRPr>
          </a:p>
          <a:p>
            <a:pPr>
              <a:lnSpc>
                <a:spcPct val="100000"/>
              </a:lnSpc>
              <a:spcBef>
                <a:spcPts val="15"/>
              </a:spcBef>
            </a:pPr>
            <a:endParaRPr sz="1250">
              <a:latin typeface="Arial"/>
              <a:cs typeface="Arial"/>
            </a:endParaRPr>
          </a:p>
          <a:p>
            <a:pPr algn="just" marL="469900" marR="6350" indent="-228600">
              <a:lnSpc>
                <a:spcPct val="95700"/>
              </a:lnSpc>
              <a:buFont typeface="Symbol"/>
              <a:buChar char=""/>
              <a:tabLst>
                <a:tab pos="470534" algn="l"/>
              </a:tabLst>
            </a:pPr>
            <a:r>
              <a:rPr dirty="0" sz="1100" spc="-5">
                <a:latin typeface="Arial"/>
                <a:cs typeface="Arial"/>
              </a:rPr>
              <a:t>It remains dependent on a number of traditional neoclassical assumptions that are often  inappropriate for developing economies. For example, it assumes all sectors are  symmetrical.</a:t>
            </a:r>
            <a:endParaRPr sz="1100">
              <a:latin typeface="Arial"/>
              <a:cs typeface="Arial"/>
            </a:endParaRPr>
          </a:p>
          <a:p>
            <a:pPr algn="just" marL="469900" marR="6350" indent="-228600">
              <a:lnSpc>
                <a:spcPct val="95800"/>
              </a:lnSpc>
              <a:spcBef>
                <a:spcPts val="80"/>
              </a:spcBef>
              <a:buFont typeface="Symbol"/>
              <a:buChar char=""/>
              <a:tabLst>
                <a:tab pos="470534" algn="l"/>
              </a:tabLst>
            </a:pPr>
            <a:r>
              <a:rPr dirty="0" sz="1100" spc="-5">
                <a:latin typeface="Arial"/>
                <a:cs typeface="Arial"/>
              </a:rPr>
              <a:t>Allocational inefficiencies are common in economies undergoing the transition from  traditional to commercialized markets. However, their impact on short- and medium-term  growth has been neglected due to the new theory’s emphasis on the determinants of  long-term growth</a:t>
            </a:r>
            <a:r>
              <a:rPr dirty="0" sz="1100">
                <a:latin typeface="Arial"/>
                <a:cs typeface="Arial"/>
              </a:rPr>
              <a:t> </a:t>
            </a:r>
            <a:r>
              <a:rPr dirty="0" sz="1100" spc="-5">
                <a:latin typeface="Arial"/>
                <a:cs typeface="Arial"/>
              </a:rPr>
              <a:t>rates.</a:t>
            </a:r>
            <a:endParaRPr sz="1100">
              <a:latin typeface="Arial"/>
              <a:cs typeface="Arial"/>
            </a:endParaRPr>
          </a:p>
          <a:p>
            <a:pPr algn="just" marL="469900" marR="6985" indent="-228600">
              <a:lnSpc>
                <a:spcPts val="1260"/>
              </a:lnSpc>
              <a:spcBef>
                <a:spcPts val="114"/>
              </a:spcBef>
              <a:buFont typeface="Symbol"/>
              <a:buChar char=""/>
              <a:tabLst>
                <a:tab pos="470534" algn="l"/>
              </a:tabLst>
            </a:pPr>
            <a:r>
              <a:rPr dirty="0" sz="1100" spc="-5">
                <a:latin typeface="Arial"/>
                <a:cs typeface="Arial"/>
              </a:rPr>
              <a:t>Finally, empirical studies of the predictive value of endogenous growth theories have to  date offered only limited</a:t>
            </a:r>
            <a:r>
              <a:rPr dirty="0" sz="1100" spc="10">
                <a:latin typeface="Arial"/>
                <a:cs typeface="Arial"/>
              </a:rPr>
              <a:t> </a:t>
            </a:r>
            <a:r>
              <a:rPr dirty="0" sz="1100" spc="-5">
                <a:latin typeface="Arial"/>
                <a:cs typeface="Arial"/>
              </a:rPr>
              <a:t>support.</a:t>
            </a:r>
            <a:endParaRPr sz="1100">
              <a:latin typeface="Arial"/>
              <a:cs typeface="Arial"/>
            </a:endParaRPr>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2" name="object 12"/>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128</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891794"/>
            <a:ext cx="5969635" cy="458279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19</a:t>
            </a:r>
            <a:endParaRPr sz="1100">
              <a:latin typeface="Arial"/>
              <a:cs typeface="Arial"/>
            </a:endParaRPr>
          </a:p>
          <a:p>
            <a:pPr>
              <a:lnSpc>
                <a:spcPct val="100000"/>
              </a:lnSpc>
              <a:spcBef>
                <a:spcPts val="10"/>
              </a:spcBef>
            </a:pPr>
            <a:endParaRPr sz="1050">
              <a:latin typeface="Arial"/>
              <a:cs typeface="Arial"/>
            </a:endParaRPr>
          </a:p>
          <a:p>
            <a:pPr marL="407670">
              <a:lnSpc>
                <a:spcPct val="100000"/>
              </a:lnSpc>
            </a:pPr>
            <a:r>
              <a:rPr dirty="0" sz="1100" spc="-5" b="1">
                <a:latin typeface="Arial"/>
                <a:cs typeface="Arial"/>
              </a:rPr>
              <a:t>PRODUCTION FUNCTION APPROACH </a:t>
            </a:r>
            <a:r>
              <a:rPr dirty="0" sz="1100" b="1">
                <a:latin typeface="Arial"/>
                <a:cs typeface="Arial"/>
              </a:rPr>
              <a:t>TO THE ANALYSIS </a:t>
            </a:r>
            <a:r>
              <a:rPr dirty="0" sz="1100" spc="-5" b="1">
                <a:latin typeface="Arial"/>
                <a:cs typeface="Arial"/>
              </a:rPr>
              <a:t>OF</a:t>
            </a:r>
            <a:r>
              <a:rPr dirty="0" sz="1100" spc="20" b="1">
                <a:latin typeface="Arial"/>
                <a:cs typeface="Arial"/>
              </a:rPr>
              <a:t> </a:t>
            </a:r>
            <a:r>
              <a:rPr dirty="0" sz="1100" spc="-5" b="1">
                <a:latin typeface="Arial"/>
                <a:cs typeface="Arial"/>
              </a:rPr>
              <a:t>GROWTH</a:t>
            </a:r>
            <a:endParaRPr sz="1100">
              <a:latin typeface="Arial"/>
              <a:cs typeface="Arial"/>
            </a:endParaRPr>
          </a:p>
          <a:p>
            <a:pPr>
              <a:lnSpc>
                <a:spcPct val="100000"/>
              </a:lnSpc>
              <a:spcBef>
                <a:spcPts val="20"/>
              </a:spcBef>
            </a:pPr>
            <a:endParaRPr sz="1100">
              <a:latin typeface="Arial"/>
              <a:cs typeface="Arial"/>
            </a:endParaRPr>
          </a:p>
          <a:p>
            <a:pPr algn="just" marL="12700" marR="6350">
              <a:lnSpc>
                <a:spcPts val="1270"/>
              </a:lnSpc>
            </a:pPr>
            <a:r>
              <a:rPr dirty="0" sz="1100" spc="-5">
                <a:latin typeface="Arial"/>
                <a:cs typeface="Arial"/>
              </a:rPr>
              <a:t>The approach disaggregates the sources of growth into </a:t>
            </a:r>
            <a:r>
              <a:rPr dirty="0" sz="1100">
                <a:latin typeface="Arial"/>
                <a:cs typeface="Arial"/>
              </a:rPr>
              <a:t>the </a:t>
            </a:r>
            <a:r>
              <a:rPr dirty="0" sz="1100" spc="-5">
                <a:latin typeface="Arial"/>
                <a:cs typeface="Arial"/>
              </a:rPr>
              <a:t>contribution of labor, capital,  technical progress and other</a:t>
            </a:r>
            <a:r>
              <a:rPr dirty="0" sz="1100" spc="10">
                <a:latin typeface="Arial"/>
                <a:cs typeface="Arial"/>
              </a:rPr>
              <a:t> </a:t>
            </a:r>
            <a:r>
              <a:rPr dirty="0" sz="1100" spc="-5">
                <a:latin typeface="Arial"/>
                <a:cs typeface="Arial"/>
              </a:rPr>
              <a:t>factors.</a:t>
            </a:r>
            <a:endParaRPr sz="1100">
              <a:latin typeface="Arial"/>
              <a:cs typeface="Arial"/>
            </a:endParaRPr>
          </a:p>
          <a:p>
            <a:pPr>
              <a:lnSpc>
                <a:spcPct val="100000"/>
              </a:lnSpc>
              <a:spcBef>
                <a:spcPts val="45"/>
              </a:spcBef>
            </a:pPr>
            <a:endParaRPr sz="105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It is a supply-oriented</a:t>
            </a:r>
            <a:r>
              <a:rPr dirty="0" sz="1100" spc="15">
                <a:latin typeface="Arial"/>
                <a:cs typeface="Arial"/>
              </a:rPr>
              <a:t> </a:t>
            </a:r>
            <a:r>
              <a:rPr dirty="0" sz="1100" spc="-5">
                <a:latin typeface="Arial"/>
                <a:cs typeface="Arial"/>
              </a:rPr>
              <a:t>approach.</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The sources of growth are treated as</a:t>
            </a:r>
            <a:r>
              <a:rPr dirty="0" sz="1100" spc="30">
                <a:latin typeface="Arial"/>
                <a:cs typeface="Arial"/>
              </a:rPr>
              <a:t> </a:t>
            </a:r>
            <a:r>
              <a:rPr dirty="0" sz="1100" spc="-5">
                <a:latin typeface="Arial"/>
                <a:cs typeface="Arial"/>
              </a:rPr>
              <a:t>exogenous.</a:t>
            </a:r>
            <a:endParaRPr sz="1100">
              <a:latin typeface="Arial"/>
              <a:cs typeface="Arial"/>
            </a:endParaRPr>
          </a:p>
          <a:p>
            <a:pPr marL="469900" marR="6350" indent="-228600">
              <a:lnSpc>
                <a:spcPts val="1260"/>
              </a:lnSpc>
              <a:spcBef>
                <a:spcPts val="110"/>
              </a:spcBef>
              <a:buFont typeface="Symbol"/>
              <a:buChar char=""/>
              <a:tabLst>
                <a:tab pos="469265" algn="l"/>
                <a:tab pos="470534" algn="l"/>
                <a:tab pos="697865" algn="l"/>
                <a:tab pos="1818639" algn="l"/>
                <a:tab pos="2621280" algn="l"/>
                <a:tab pos="3168015" algn="l"/>
                <a:tab pos="3458210" algn="l"/>
                <a:tab pos="4222115" algn="l"/>
                <a:tab pos="4605020" algn="l"/>
                <a:tab pos="4973320" algn="l"/>
                <a:tab pos="5674995" algn="l"/>
              </a:tabLst>
            </a:pPr>
            <a:r>
              <a:rPr dirty="0" sz="1100" spc="-5">
                <a:latin typeface="Arial"/>
                <a:cs typeface="Arial"/>
              </a:rPr>
              <a:t>A</a:t>
            </a:r>
            <a:r>
              <a:rPr dirty="0" sz="1100" spc="-5">
                <a:latin typeface="Arial"/>
                <a:cs typeface="Arial"/>
              </a:rPr>
              <a:t>	</a:t>
            </a:r>
            <a:r>
              <a:rPr dirty="0" sz="1100" spc="-5">
                <a:latin typeface="Arial"/>
                <a:cs typeface="Arial"/>
              </a:rPr>
              <a:t>macroeconomic</a:t>
            </a:r>
            <a:r>
              <a:rPr dirty="0" sz="1100" spc="-5">
                <a:latin typeface="Arial"/>
                <a:cs typeface="Arial"/>
              </a:rPr>
              <a:t>	</a:t>
            </a:r>
            <a:r>
              <a:rPr dirty="0" sz="1100" spc="-5">
                <a:latin typeface="Arial"/>
                <a:cs typeface="Arial"/>
              </a:rPr>
              <a:t>hypothesis</a:t>
            </a:r>
            <a:r>
              <a:rPr dirty="0" sz="1100" spc="-5">
                <a:latin typeface="Arial"/>
                <a:cs typeface="Arial"/>
              </a:rPr>
              <a:t>	</a:t>
            </a:r>
            <a:r>
              <a:rPr dirty="0" sz="1100" spc="-5">
                <a:latin typeface="Arial"/>
                <a:cs typeface="Arial"/>
              </a:rPr>
              <a:t>should</a:t>
            </a:r>
            <a:r>
              <a:rPr dirty="0" sz="1100" spc="-5">
                <a:latin typeface="Arial"/>
                <a:cs typeface="Arial"/>
              </a:rPr>
              <a:t>	</a:t>
            </a:r>
            <a:r>
              <a:rPr dirty="0" sz="1100" spc="-5">
                <a:latin typeface="Arial"/>
                <a:cs typeface="Arial"/>
              </a:rPr>
              <a:t>be</a:t>
            </a:r>
            <a:r>
              <a:rPr dirty="0" sz="1100" spc="-5">
                <a:latin typeface="Arial"/>
                <a:cs typeface="Arial"/>
              </a:rPr>
              <a:t>	</a:t>
            </a:r>
            <a:r>
              <a:rPr dirty="0" sz="1100" spc="-5">
                <a:latin typeface="Arial"/>
                <a:cs typeface="Arial"/>
              </a:rPr>
              <a:t>consist</a:t>
            </a:r>
            <a:r>
              <a:rPr dirty="0" sz="1100" spc="-10">
                <a:latin typeface="Arial"/>
                <a:cs typeface="Arial"/>
              </a:rPr>
              <a:t>e</a:t>
            </a:r>
            <a:r>
              <a:rPr dirty="0" sz="1100" spc="-5">
                <a:latin typeface="Arial"/>
                <a:cs typeface="Arial"/>
              </a:rPr>
              <a:t>nt</a:t>
            </a:r>
            <a:r>
              <a:rPr dirty="0" sz="1100">
                <a:latin typeface="Arial"/>
                <a:cs typeface="Arial"/>
              </a:rPr>
              <a:t>	</a:t>
            </a:r>
            <a:r>
              <a:rPr dirty="0" sz="1100" spc="-5">
                <a:latin typeface="Arial"/>
                <a:cs typeface="Arial"/>
              </a:rPr>
              <a:t>with</a:t>
            </a:r>
            <a:r>
              <a:rPr dirty="0" sz="1100">
                <a:latin typeface="Arial"/>
                <a:cs typeface="Arial"/>
              </a:rPr>
              <a:t>	</a:t>
            </a:r>
            <a:r>
              <a:rPr dirty="0" sz="1100" spc="-5">
                <a:latin typeface="Arial"/>
                <a:cs typeface="Arial"/>
              </a:rPr>
              <a:t>and</a:t>
            </a:r>
            <a:r>
              <a:rPr dirty="0" sz="1100">
                <a:latin typeface="Arial"/>
                <a:cs typeface="Arial"/>
              </a:rPr>
              <a:t>	</a:t>
            </a:r>
            <a:r>
              <a:rPr dirty="0" sz="1100" spc="-5">
                <a:latin typeface="Arial"/>
                <a:cs typeface="Arial"/>
              </a:rPr>
              <a:t>derivable</a:t>
            </a:r>
            <a:r>
              <a:rPr dirty="0" sz="1100">
                <a:latin typeface="Arial"/>
                <a:cs typeface="Arial"/>
              </a:rPr>
              <a:t>	</a:t>
            </a:r>
            <a:r>
              <a:rPr dirty="0" sz="1100" spc="-5">
                <a:latin typeface="Arial"/>
                <a:cs typeface="Arial"/>
              </a:rPr>
              <a:t>from  </a:t>
            </a:r>
            <a:r>
              <a:rPr dirty="0" sz="1100" spc="-5">
                <a:latin typeface="Arial"/>
                <a:cs typeface="Arial"/>
              </a:rPr>
              <a:t>microeconomic theory.</a:t>
            </a:r>
            <a:endParaRPr sz="1100">
              <a:latin typeface="Arial"/>
              <a:cs typeface="Arial"/>
            </a:endParaRPr>
          </a:p>
          <a:p>
            <a:pPr>
              <a:lnSpc>
                <a:spcPct val="100000"/>
              </a:lnSpc>
              <a:spcBef>
                <a:spcPts val="30"/>
              </a:spcBef>
              <a:buFont typeface="Symbol"/>
              <a:buChar char=""/>
            </a:pPr>
            <a:endParaRPr sz="1000">
              <a:latin typeface="Arial"/>
              <a:cs typeface="Arial"/>
            </a:endParaRPr>
          </a:p>
          <a:p>
            <a:pPr algn="just" marL="12700">
              <a:lnSpc>
                <a:spcPts val="1295"/>
              </a:lnSpc>
            </a:pPr>
            <a:r>
              <a:rPr dirty="0" sz="1100" spc="-5">
                <a:latin typeface="Arial"/>
                <a:cs typeface="Arial"/>
              </a:rPr>
              <a:t>This is what we call the production function approach to the analysis of</a:t>
            </a:r>
            <a:r>
              <a:rPr dirty="0" sz="1100" spc="95">
                <a:latin typeface="Arial"/>
                <a:cs typeface="Arial"/>
              </a:rPr>
              <a:t> </a:t>
            </a:r>
            <a:r>
              <a:rPr dirty="0" sz="1100" spc="-5">
                <a:latin typeface="Arial"/>
                <a:cs typeface="Arial"/>
              </a:rPr>
              <a:t>growth.</a:t>
            </a:r>
            <a:endParaRPr sz="1100">
              <a:latin typeface="Arial"/>
              <a:cs typeface="Arial"/>
            </a:endParaRPr>
          </a:p>
          <a:p>
            <a:pPr marL="12700">
              <a:lnSpc>
                <a:spcPts val="1295"/>
              </a:lnSpc>
            </a:pPr>
            <a:r>
              <a:rPr dirty="0" sz="1100" spc="-5" b="1" i="1">
                <a:latin typeface="Arial"/>
                <a:cs typeface="Arial"/>
              </a:rPr>
              <a:t>Y=f(R, K, L,</a:t>
            </a:r>
            <a:r>
              <a:rPr dirty="0" sz="1100" spc="10" b="1" i="1">
                <a:latin typeface="Arial"/>
                <a:cs typeface="Arial"/>
              </a:rPr>
              <a:t> </a:t>
            </a:r>
            <a:r>
              <a:rPr dirty="0" sz="1100" spc="-5" b="1" i="1">
                <a:latin typeface="Arial"/>
                <a:cs typeface="Arial"/>
              </a:rPr>
              <a:t>T)</a:t>
            </a:r>
            <a:endParaRPr sz="1100">
              <a:latin typeface="Arial"/>
              <a:cs typeface="Arial"/>
            </a:endParaRPr>
          </a:p>
          <a:p>
            <a:pPr>
              <a:lnSpc>
                <a:spcPct val="100000"/>
              </a:lnSpc>
              <a:spcBef>
                <a:spcPts val="50"/>
              </a:spcBef>
            </a:pPr>
            <a:endParaRPr sz="1000">
              <a:latin typeface="Arial"/>
              <a:cs typeface="Arial"/>
            </a:endParaRPr>
          </a:p>
          <a:p>
            <a:pPr algn="just" marL="12700">
              <a:lnSpc>
                <a:spcPct val="100000"/>
              </a:lnSpc>
            </a:pPr>
            <a:r>
              <a:rPr dirty="0" sz="1100" spc="-5">
                <a:latin typeface="Arial"/>
                <a:cs typeface="Arial"/>
              </a:rPr>
              <a:t>Where R is land, K is capital, L is labor and T is</a:t>
            </a:r>
            <a:r>
              <a:rPr dirty="0" sz="1100" spc="75">
                <a:latin typeface="Arial"/>
                <a:cs typeface="Arial"/>
              </a:rPr>
              <a:t> </a:t>
            </a:r>
            <a:r>
              <a:rPr dirty="0" sz="1100" spc="-5">
                <a:latin typeface="Arial"/>
                <a:cs typeface="Arial"/>
              </a:rPr>
              <a:t>technology.</a:t>
            </a:r>
            <a:endParaRPr sz="1100">
              <a:latin typeface="Arial"/>
              <a:cs typeface="Arial"/>
            </a:endParaRPr>
          </a:p>
          <a:p>
            <a:pPr marL="469900" indent="-229235">
              <a:lnSpc>
                <a:spcPts val="1295"/>
              </a:lnSpc>
              <a:spcBef>
                <a:spcPts val="25"/>
              </a:spcBef>
              <a:buFont typeface="Symbol"/>
              <a:buChar char=""/>
              <a:tabLst>
                <a:tab pos="469265" algn="l"/>
                <a:tab pos="470534" algn="l"/>
              </a:tabLst>
            </a:pPr>
            <a:r>
              <a:rPr dirty="0" sz="1100" spc="-5">
                <a:latin typeface="Arial"/>
                <a:cs typeface="Arial"/>
              </a:rPr>
              <a:t>Commonly</a:t>
            </a:r>
            <a:endParaRPr sz="1100">
              <a:latin typeface="Arial"/>
              <a:cs typeface="Arial"/>
            </a:endParaRPr>
          </a:p>
          <a:p>
            <a:pPr marL="12700">
              <a:lnSpc>
                <a:spcPts val="1295"/>
              </a:lnSpc>
            </a:pPr>
            <a:r>
              <a:rPr dirty="0" sz="1100" spc="-5" b="1" i="1">
                <a:latin typeface="Arial"/>
                <a:cs typeface="Arial"/>
              </a:rPr>
              <a:t>Y = f(K,</a:t>
            </a:r>
            <a:r>
              <a:rPr dirty="0" sz="1100" spc="5" b="1" i="1">
                <a:latin typeface="Arial"/>
                <a:cs typeface="Arial"/>
              </a:rPr>
              <a:t> </a:t>
            </a:r>
            <a:r>
              <a:rPr dirty="0" sz="1100" spc="-5" b="1" i="1">
                <a:latin typeface="Arial"/>
                <a:cs typeface="Arial"/>
              </a:rPr>
              <a:t>L)</a:t>
            </a:r>
            <a:endParaRPr sz="1100">
              <a:latin typeface="Arial"/>
              <a:cs typeface="Arial"/>
            </a:endParaRPr>
          </a:p>
          <a:p>
            <a:pPr>
              <a:lnSpc>
                <a:spcPct val="100000"/>
              </a:lnSpc>
            </a:pPr>
            <a:endParaRPr sz="1050">
              <a:latin typeface="Arial"/>
              <a:cs typeface="Arial"/>
            </a:endParaRPr>
          </a:p>
          <a:p>
            <a:pPr marL="12700">
              <a:lnSpc>
                <a:spcPct val="100000"/>
              </a:lnSpc>
              <a:spcBef>
                <a:spcPts val="5"/>
              </a:spcBef>
            </a:pPr>
            <a:r>
              <a:rPr dirty="0" sz="1100" spc="-5" b="1">
                <a:latin typeface="Arial"/>
                <a:cs typeface="Arial"/>
              </a:rPr>
              <a:t>THE PRODUCTION</a:t>
            </a:r>
            <a:r>
              <a:rPr dirty="0" sz="1100" b="1">
                <a:latin typeface="Arial"/>
                <a:cs typeface="Arial"/>
              </a:rPr>
              <a:t> </a:t>
            </a:r>
            <a:r>
              <a:rPr dirty="0" sz="1100" spc="-5" b="1">
                <a:latin typeface="Arial"/>
                <a:cs typeface="Arial"/>
              </a:rPr>
              <a:t>FUNCTION</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Before going on to discuss the types of function that may be employed, however, let us examine  in a little more detail the properties of production function. We have established so far that the  aggregate production function expresses the functional relation between aggregate output and  stock of inputs. If land is submitted into capital, and technology is held constant, we are left </a:t>
            </a:r>
            <a:r>
              <a:rPr dirty="0" sz="1100">
                <a:latin typeface="Arial"/>
                <a:cs typeface="Arial"/>
              </a:rPr>
              <a:t>with  </a:t>
            </a:r>
            <a:r>
              <a:rPr dirty="0" sz="1100" spc="-5">
                <a:latin typeface="Arial"/>
                <a:cs typeface="Arial"/>
              </a:rPr>
              <a:t>two factors, and the production function may be drawn </a:t>
            </a:r>
            <a:r>
              <a:rPr dirty="0" sz="1100">
                <a:latin typeface="Arial"/>
                <a:cs typeface="Arial"/>
              </a:rPr>
              <a:t>on </a:t>
            </a:r>
            <a:r>
              <a:rPr dirty="0" sz="1100" spc="-5">
                <a:latin typeface="Arial"/>
                <a:cs typeface="Arial"/>
              </a:rPr>
              <a:t>a two-dimensional diagram, as in  figure 5.5. Capital (K) is measured on the vertical axis and labour (L) on horizontal axis and  each</a:t>
            </a:r>
            <a:r>
              <a:rPr dirty="0" sz="1100" spc="210">
                <a:latin typeface="Arial"/>
                <a:cs typeface="Arial"/>
              </a:rPr>
              <a:t> </a:t>
            </a:r>
            <a:r>
              <a:rPr dirty="0" sz="1100" spc="-5">
                <a:latin typeface="Arial"/>
                <a:cs typeface="Arial"/>
              </a:rPr>
              <a:t>function</a:t>
            </a:r>
            <a:r>
              <a:rPr dirty="0" sz="1100" spc="215">
                <a:latin typeface="Arial"/>
                <a:cs typeface="Arial"/>
              </a:rPr>
              <a:t> </a:t>
            </a:r>
            <a:r>
              <a:rPr dirty="0" sz="1100" spc="-5">
                <a:latin typeface="Arial"/>
                <a:cs typeface="Arial"/>
              </a:rPr>
              <a:t>represents</a:t>
            </a:r>
            <a:r>
              <a:rPr dirty="0" sz="1100" spc="215">
                <a:latin typeface="Arial"/>
                <a:cs typeface="Arial"/>
              </a:rPr>
              <a:t> </a:t>
            </a:r>
            <a:r>
              <a:rPr dirty="0" sz="1100" spc="-5">
                <a:latin typeface="Arial"/>
                <a:cs typeface="Arial"/>
              </a:rPr>
              <a:t>a</a:t>
            </a:r>
            <a:r>
              <a:rPr dirty="0" sz="1100" spc="215">
                <a:latin typeface="Arial"/>
                <a:cs typeface="Arial"/>
              </a:rPr>
              <a:t> </a:t>
            </a:r>
            <a:r>
              <a:rPr dirty="0" sz="1100" spc="-5">
                <a:latin typeface="Arial"/>
                <a:cs typeface="Arial"/>
              </a:rPr>
              <a:t>given</a:t>
            </a:r>
            <a:r>
              <a:rPr dirty="0" sz="1100" spc="215">
                <a:latin typeface="Arial"/>
                <a:cs typeface="Arial"/>
              </a:rPr>
              <a:t> </a:t>
            </a:r>
            <a:r>
              <a:rPr dirty="0" sz="1100" spc="-5">
                <a:latin typeface="Arial"/>
                <a:cs typeface="Arial"/>
              </a:rPr>
              <a:t>level</a:t>
            </a:r>
            <a:r>
              <a:rPr dirty="0" sz="1100" spc="215">
                <a:latin typeface="Arial"/>
                <a:cs typeface="Arial"/>
              </a:rPr>
              <a:t> </a:t>
            </a:r>
            <a:r>
              <a:rPr dirty="0" sz="1100" spc="-5">
                <a:latin typeface="Arial"/>
                <a:cs typeface="Arial"/>
              </a:rPr>
              <a:t>of</a:t>
            </a:r>
            <a:r>
              <a:rPr dirty="0" sz="1100" spc="215">
                <a:latin typeface="Arial"/>
                <a:cs typeface="Arial"/>
              </a:rPr>
              <a:t> </a:t>
            </a:r>
            <a:r>
              <a:rPr dirty="0" sz="1100" spc="-5">
                <a:latin typeface="Arial"/>
                <a:cs typeface="Arial"/>
              </a:rPr>
              <a:t>output</a:t>
            </a:r>
            <a:r>
              <a:rPr dirty="0" sz="1100" spc="215">
                <a:latin typeface="Arial"/>
                <a:cs typeface="Arial"/>
              </a:rPr>
              <a:t> </a:t>
            </a:r>
            <a:r>
              <a:rPr dirty="0" sz="1100" spc="-5">
                <a:latin typeface="Arial"/>
                <a:cs typeface="Arial"/>
              </a:rPr>
              <a:t>that</a:t>
            </a:r>
            <a:r>
              <a:rPr dirty="0" sz="1100" spc="215">
                <a:latin typeface="Arial"/>
                <a:cs typeface="Arial"/>
              </a:rPr>
              <a:t> </a:t>
            </a:r>
            <a:r>
              <a:rPr dirty="0" sz="1100" spc="-5">
                <a:latin typeface="Arial"/>
                <a:cs typeface="Arial"/>
              </a:rPr>
              <a:t>can</a:t>
            </a:r>
            <a:r>
              <a:rPr dirty="0" sz="1100" spc="215">
                <a:latin typeface="Arial"/>
                <a:cs typeface="Arial"/>
              </a:rPr>
              <a:t> </a:t>
            </a:r>
            <a:r>
              <a:rPr dirty="0" sz="1100" spc="-5">
                <a:latin typeface="Arial"/>
                <a:cs typeface="Arial"/>
              </a:rPr>
              <a:t>be</a:t>
            </a:r>
            <a:r>
              <a:rPr dirty="0" sz="1100" spc="215">
                <a:latin typeface="Arial"/>
                <a:cs typeface="Arial"/>
              </a:rPr>
              <a:t> </a:t>
            </a:r>
            <a:r>
              <a:rPr dirty="0" sz="1100" spc="-5">
                <a:latin typeface="Arial"/>
                <a:cs typeface="Arial"/>
              </a:rPr>
              <a:t>produced</a:t>
            </a:r>
            <a:r>
              <a:rPr dirty="0" sz="1100" spc="215">
                <a:latin typeface="Arial"/>
                <a:cs typeface="Arial"/>
              </a:rPr>
              <a:t> </a:t>
            </a:r>
            <a:r>
              <a:rPr dirty="0" sz="1100" spc="-5">
                <a:latin typeface="Arial"/>
                <a:cs typeface="Arial"/>
              </a:rPr>
              <a:t>with</a:t>
            </a:r>
            <a:r>
              <a:rPr dirty="0" sz="1100" spc="210">
                <a:latin typeface="Arial"/>
                <a:cs typeface="Arial"/>
              </a:rPr>
              <a:t> </a:t>
            </a:r>
            <a:r>
              <a:rPr dirty="0" sz="1100" spc="-5">
                <a:latin typeface="Arial"/>
                <a:cs typeface="Arial"/>
              </a:rPr>
              <a:t>different</a:t>
            </a:r>
            <a:endParaRPr sz="1100">
              <a:latin typeface="Arial"/>
              <a:cs typeface="Arial"/>
            </a:endParaRPr>
          </a:p>
        </p:txBody>
      </p:sp>
      <p:sp>
        <p:nvSpPr>
          <p:cNvPr id="7" name="object 7"/>
          <p:cNvSpPr txBox="1"/>
          <p:nvPr/>
        </p:nvSpPr>
        <p:spPr>
          <a:xfrm>
            <a:off x="901700" y="8738100"/>
            <a:ext cx="5969635" cy="353060"/>
          </a:xfrm>
          <a:prstGeom prst="rect">
            <a:avLst/>
          </a:prstGeom>
        </p:spPr>
        <p:txBody>
          <a:bodyPr wrap="square" lIns="0" tIns="24130" rIns="0" bIns="0" rtlCol="0" vert="horz">
            <a:spAutoFit/>
          </a:bodyPr>
          <a:lstStyle/>
          <a:p>
            <a:pPr marL="12700" marR="5080">
              <a:lnSpc>
                <a:spcPts val="1260"/>
              </a:lnSpc>
              <a:spcBef>
                <a:spcPts val="190"/>
              </a:spcBef>
            </a:pPr>
            <a:r>
              <a:rPr dirty="0" sz="1100" spc="-5">
                <a:latin typeface="Arial"/>
                <a:cs typeface="Arial"/>
              </a:rPr>
              <a:t>combinations of capital and labour. The function slope negatively from left to right on the  assumption</a:t>
            </a:r>
            <a:r>
              <a:rPr dirty="0" sz="1100" spc="75">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marginal</a:t>
            </a:r>
            <a:r>
              <a:rPr dirty="0" sz="1100" spc="80">
                <a:latin typeface="Arial"/>
                <a:cs typeface="Arial"/>
              </a:rPr>
              <a:t> </a:t>
            </a:r>
            <a:r>
              <a:rPr dirty="0" sz="1100" spc="-5">
                <a:latin typeface="Arial"/>
                <a:cs typeface="Arial"/>
              </a:rPr>
              <a:t>additions</a:t>
            </a:r>
            <a:r>
              <a:rPr dirty="0" sz="1100" spc="7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either</a:t>
            </a:r>
            <a:r>
              <a:rPr dirty="0" sz="1100" spc="75">
                <a:latin typeface="Arial"/>
                <a:cs typeface="Arial"/>
              </a:rPr>
              <a:t> </a:t>
            </a:r>
            <a:r>
              <a:rPr dirty="0" sz="1100" spc="-5">
                <a:latin typeface="Arial"/>
                <a:cs typeface="Arial"/>
              </a:rPr>
              <a:t>factor</a:t>
            </a:r>
            <a:r>
              <a:rPr dirty="0" sz="1100" spc="80">
                <a:latin typeface="Arial"/>
                <a:cs typeface="Arial"/>
              </a:rPr>
              <a:t> </a:t>
            </a:r>
            <a:r>
              <a:rPr dirty="0" sz="1100" spc="-5">
                <a:latin typeface="Arial"/>
                <a:cs typeface="Arial"/>
              </a:rPr>
              <a:t>will</a:t>
            </a:r>
            <a:r>
              <a:rPr dirty="0" sz="1100" spc="75">
                <a:latin typeface="Arial"/>
                <a:cs typeface="Arial"/>
              </a:rPr>
              <a:t> </a:t>
            </a:r>
            <a:r>
              <a:rPr dirty="0" sz="1100" spc="-5">
                <a:latin typeface="Arial"/>
                <a:cs typeface="Arial"/>
              </a:rPr>
              <a:t>increase</a:t>
            </a:r>
            <a:r>
              <a:rPr dirty="0" sz="1100" spc="80">
                <a:latin typeface="Arial"/>
                <a:cs typeface="Arial"/>
              </a:rPr>
              <a:t> </a:t>
            </a:r>
            <a:r>
              <a:rPr dirty="0" sz="1100" spc="-5">
                <a:latin typeface="Arial"/>
                <a:cs typeface="Arial"/>
              </a:rPr>
              <a:t>total</a:t>
            </a:r>
            <a:r>
              <a:rPr dirty="0" sz="1100" spc="75">
                <a:latin typeface="Arial"/>
                <a:cs typeface="Arial"/>
              </a:rPr>
              <a:t> </a:t>
            </a:r>
            <a:r>
              <a:rPr dirty="0" sz="1100" spc="-5">
                <a:latin typeface="Arial"/>
                <a:cs typeface="Arial"/>
              </a:rPr>
              <a:t>output</a:t>
            </a:r>
            <a:r>
              <a:rPr dirty="0" sz="1100" spc="80">
                <a:latin typeface="Arial"/>
                <a:cs typeface="Arial"/>
              </a:rPr>
              <a:t> </a:t>
            </a:r>
            <a:r>
              <a:rPr dirty="0" sz="1100" spc="-5">
                <a:latin typeface="Arial"/>
                <a:cs typeface="Arial"/>
              </a:rPr>
              <a:t>that</a:t>
            </a:r>
            <a:r>
              <a:rPr dirty="0" sz="1100" spc="75">
                <a:latin typeface="Arial"/>
                <a:cs typeface="Arial"/>
              </a:rPr>
              <a:t> </a:t>
            </a:r>
            <a:r>
              <a:rPr dirty="0" sz="1100" spc="-5">
                <a:latin typeface="Arial"/>
                <a:cs typeface="Arial"/>
              </a:rPr>
              <a:t>is,</a:t>
            </a:r>
            <a:r>
              <a:rPr dirty="0" sz="1100" spc="80">
                <a:latin typeface="Arial"/>
                <a:cs typeface="Arial"/>
              </a:rPr>
              <a:t> </a:t>
            </a:r>
            <a:r>
              <a:rPr dirty="0" sz="1100" spc="-5">
                <a:latin typeface="Arial"/>
                <a:cs typeface="Arial"/>
              </a:rPr>
              <a:t>factors</a:t>
            </a:r>
            <a:r>
              <a:rPr dirty="0" sz="1100" spc="75">
                <a:latin typeface="Arial"/>
                <a:cs typeface="Arial"/>
              </a:rPr>
              <a:t> </a:t>
            </a:r>
            <a:r>
              <a:rPr dirty="0" sz="1100" spc="-5">
                <a:latin typeface="Arial"/>
                <a:cs typeface="Arial"/>
              </a:rPr>
              <a:t>have</a:t>
            </a:r>
            <a:endParaRPr sz="1100">
              <a:latin typeface="Arial"/>
              <a:cs typeface="Arial"/>
            </a:endParaRPr>
          </a:p>
        </p:txBody>
      </p:sp>
      <p:sp>
        <p:nvSpPr>
          <p:cNvPr id="8" name="object 8"/>
          <p:cNvSpPr/>
          <p:nvPr/>
        </p:nvSpPr>
        <p:spPr>
          <a:xfrm>
            <a:off x="1863089" y="5513070"/>
            <a:ext cx="3890772" cy="3247643"/>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129</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50899" y="891794"/>
            <a:ext cx="6071870" cy="3244850"/>
          </a:xfrm>
          <a:prstGeom prst="rect">
            <a:avLst/>
          </a:prstGeom>
        </p:spPr>
        <p:txBody>
          <a:bodyPr wrap="square" lIns="0" tIns="19050" rIns="0" bIns="0" rtlCol="0" vert="horz">
            <a:spAutoFit/>
          </a:bodyPr>
          <a:lstStyle/>
          <a:p>
            <a:pPr algn="just" marL="63500" marR="56515">
              <a:lnSpc>
                <a:spcPct val="95800"/>
              </a:lnSpc>
              <a:spcBef>
                <a:spcPts val="150"/>
              </a:spcBef>
            </a:pPr>
            <a:r>
              <a:rPr dirty="0" sz="1100" spc="-5">
                <a:latin typeface="Arial"/>
                <a:cs typeface="Arial"/>
              </a:rPr>
              <a:t>positive marginal product and they are drawn convex to the origin on the assumption that  factors have a diminishing marginal productivity as their supply increases, so that if one unit </a:t>
            </a:r>
            <a:r>
              <a:rPr dirty="0" sz="1100">
                <a:latin typeface="Arial"/>
                <a:cs typeface="Arial"/>
              </a:rPr>
              <a:t>is  </a:t>
            </a:r>
            <a:r>
              <a:rPr dirty="0" sz="1100" spc="-5">
                <a:latin typeface="Arial"/>
                <a:cs typeface="Arial"/>
              </a:rPr>
              <a:t>withdrawn it needs to submitted by more and more of the other factor to keep output constant.  The position of the functions broadly reflects the level of technology. The more advanced the  technology, the greater the level of output per unit in total inputs, and the closer to the origins  will be the production function representing a given</a:t>
            </a:r>
            <a:r>
              <a:rPr dirty="0" sz="1100" spc="45">
                <a:latin typeface="Arial"/>
                <a:cs typeface="Arial"/>
              </a:rPr>
              <a:t> </a:t>
            </a:r>
            <a:r>
              <a:rPr dirty="0" sz="1100" spc="-5">
                <a:latin typeface="Arial"/>
                <a:cs typeface="Arial"/>
              </a:rPr>
              <a:t>output.</a:t>
            </a:r>
            <a:endParaRPr sz="1100">
              <a:latin typeface="Arial"/>
              <a:cs typeface="Arial"/>
            </a:endParaRPr>
          </a:p>
          <a:p>
            <a:pPr>
              <a:lnSpc>
                <a:spcPct val="100000"/>
              </a:lnSpc>
              <a:spcBef>
                <a:spcPts val="5"/>
              </a:spcBef>
            </a:pPr>
            <a:endParaRPr sz="1100">
              <a:latin typeface="Arial"/>
              <a:cs typeface="Arial"/>
            </a:endParaRPr>
          </a:p>
          <a:p>
            <a:pPr algn="just" marL="63500" marR="55880">
              <a:lnSpc>
                <a:spcPct val="95800"/>
              </a:lnSpc>
            </a:pPr>
            <a:r>
              <a:rPr dirty="0" sz="1100" spc="-5">
                <a:latin typeface="Arial"/>
                <a:cs typeface="Arial"/>
              </a:rPr>
              <a:t>From the simple production function diagram it is easy to see how output may increase. </a:t>
            </a:r>
            <a:r>
              <a:rPr dirty="0" sz="1100">
                <a:latin typeface="Arial"/>
                <a:cs typeface="Arial"/>
              </a:rPr>
              <a:t>First,  </a:t>
            </a:r>
            <a:r>
              <a:rPr dirty="0" sz="1100" spc="-5">
                <a:latin typeface="Arial"/>
                <a:cs typeface="Arial"/>
              </a:rPr>
              <a:t>there may be a physical increase in factor inputs, L and K, permitting a higher level of  production. Either or both factors may increase. If only one factor increases, the movement to a  higher production function will involve a change in the combination of factors and output will not  be able to increase forever, because ultimately the marginal product of the variable factor will  fall to zero. This is illustrated in fig 5.6, where, with a given stock of capital 0K</a:t>
            </a:r>
            <a:r>
              <a:rPr dirty="0" baseline="-11904" sz="1050" spc="-7">
                <a:latin typeface="Arial"/>
                <a:cs typeface="Arial"/>
              </a:rPr>
              <a:t>1</a:t>
            </a:r>
            <a:r>
              <a:rPr dirty="0" sz="1100" spc="-5">
                <a:latin typeface="Arial"/>
                <a:cs typeface="Arial"/>
              </a:rPr>
              <a:t>, output cannot  increase beyond 200 with increases in the supply of labour </a:t>
            </a:r>
            <a:r>
              <a:rPr dirty="0" sz="1100">
                <a:latin typeface="Arial"/>
                <a:cs typeface="Arial"/>
              </a:rPr>
              <a:t>(0L</a:t>
            </a:r>
            <a:r>
              <a:rPr dirty="0" baseline="-11904" sz="1050">
                <a:latin typeface="Arial"/>
                <a:cs typeface="Arial"/>
              </a:rPr>
              <a:t>1</a:t>
            </a:r>
            <a:r>
              <a:rPr dirty="0" sz="1100">
                <a:latin typeface="Arial"/>
                <a:cs typeface="Arial"/>
              </a:rPr>
              <a:t>, </a:t>
            </a:r>
            <a:r>
              <a:rPr dirty="0" sz="1100" spc="-5">
                <a:latin typeface="Arial"/>
                <a:cs typeface="Arial"/>
              </a:rPr>
              <a:t>0L</a:t>
            </a:r>
            <a:r>
              <a:rPr dirty="0" baseline="-11904" sz="1050" spc="-7">
                <a:latin typeface="Arial"/>
                <a:cs typeface="Arial"/>
              </a:rPr>
              <a:t>2 </a:t>
            </a:r>
            <a:r>
              <a:rPr dirty="0" sz="1100" spc="-5">
                <a:latin typeface="Arial"/>
                <a:cs typeface="Arial"/>
              </a:rPr>
              <a:t>and so on0 beyond the  limit indicated. the diminishing productivity of the variable factor, labour, with capital fixed, is  shown by the flatter and flatter slope of the production function is horizontal and the marginal  product of labour is</a:t>
            </a:r>
            <a:r>
              <a:rPr dirty="0" sz="1100" spc="10">
                <a:latin typeface="Arial"/>
                <a:cs typeface="Arial"/>
              </a:rPr>
              <a:t> </a:t>
            </a:r>
            <a:r>
              <a:rPr dirty="0" sz="1100" spc="-5">
                <a:latin typeface="Arial"/>
                <a:cs typeface="Arial"/>
              </a:rPr>
              <a:t>zero.</a:t>
            </a:r>
            <a:endParaRPr sz="1100">
              <a:latin typeface="Arial"/>
              <a:cs typeface="Arial"/>
            </a:endParaRPr>
          </a:p>
          <a:p>
            <a:pPr>
              <a:lnSpc>
                <a:spcPct val="100000"/>
              </a:lnSpc>
              <a:spcBef>
                <a:spcPts val="40"/>
              </a:spcBef>
            </a:pPr>
            <a:endParaRPr sz="1100">
              <a:latin typeface="Arial"/>
              <a:cs typeface="Arial"/>
            </a:endParaRPr>
          </a:p>
          <a:p>
            <a:pPr algn="just" marL="63500" marR="57150">
              <a:lnSpc>
                <a:spcPts val="1260"/>
              </a:lnSpc>
            </a:pPr>
            <a:r>
              <a:rPr dirty="0" sz="1100" spc="-5">
                <a:latin typeface="Arial"/>
                <a:cs typeface="Arial"/>
              </a:rPr>
              <a:t>If both factors increase in supply, however, </a:t>
            </a:r>
            <a:r>
              <a:rPr dirty="0" sz="1100">
                <a:latin typeface="Arial"/>
                <a:cs typeface="Arial"/>
              </a:rPr>
              <a:t>there </a:t>
            </a:r>
            <a:r>
              <a:rPr dirty="0" sz="1100" spc="-5">
                <a:latin typeface="Arial"/>
                <a:cs typeface="Arial"/>
              </a:rPr>
              <a:t>is no reason why output should not go on  increasing</a:t>
            </a:r>
            <a:r>
              <a:rPr dirty="0" sz="1100" spc="20">
                <a:latin typeface="Arial"/>
                <a:cs typeface="Arial"/>
              </a:rPr>
              <a:t> </a:t>
            </a:r>
            <a:r>
              <a:rPr dirty="0" sz="1100" spc="-5">
                <a:latin typeface="Arial"/>
                <a:cs typeface="Arial"/>
              </a:rPr>
              <a:t>indefinitely.</a:t>
            </a:r>
            <a:r>
              <a:rPr dirty="0" sz="1100" spc="20">
                <a:latin typeface="Arial"/>
                <a:cs typeface="Arial"/>
              </a:rPr>
              <a:t> </a:t>
            </a:r>
            <a:r>
              <a:rPr dirty="0" sz="1100" spc="-5">
                <a:latin typeface="Arial"/>
                <a:cs typeface="Arial"/>
              </a:rPr>
              <a:t>In</a:t>
            </a:r>
            <a:r>
              <a:rPr dirty="0" sz="1100" spc="25">
                <a:latin typeface="Arial"/>
                <a:cs typeface="Arial"/>
              </a:rPr>
              <a:t> </a:t>
            </a:r>
            <a:r>
              <a:rPr dirty="0" sz="1100" spc="-5">
                <a:latin typeface="Arial"/>
                <a:cs typeface="Arial"/>
              </a:rPr>
              <a:t>fact,</a:t>
            </a:r>
            <a:r>
              <a:rPr dirty="0" sz="1100" spc="20">
                <a:latin typeface="Arial"/>
                <a:cs typeface="Arial"/>
              </a:rPr>
              <a:t> </a:t>
            </a:r>
            <a:r>
              <a:rPr dirty="0" sz="1100" spc="-5">
                <a:latin typeface="Arial"/>
                <a:cs typeface="Arial"/>
              </a:rPr>
              <a:t>if</a:t>
            </a:r>
            <a:r>
              <a:rPr dirty="0" sz="1100" spc="20">
                <a:latin typeface="Arial"/>
                <a:cs typeface="Arial"/>
              </a:rPr>
              <a:t> </a:t>
            </a:r>
            <a:r>
              <a:rPr dirty="0" sz="1100" spc="-5">
                <a:latin typeface="Arial"/>
                <a:cs typeface="Arial"/>
              </a:rPr>
              <a:t>both</a:t>
            </a:r>
            <a:r>
              <a:rPr dirty="0" sz="1100" spc="25">
                <a:latin typeface="Arial"/>
                <a:cs typeface="Arial"/>
              </a:rPr>
              <a:t> </a:t>
            </a:r>
            <a:r>
              <a:rPr dirty="0" sz="1100" spc="-5">
                <a:latin typeface="Arial"/>
                <a:cs typeface="Arial"/>
              </a:rPr>
              <a:t>factors</a:t>
            </a:r>
            <a:r>
              <a:rPr dirty="0" sz="1100" spc="15">
                <a:latin typeface="Arial"/>
                <a:cs typeface="Arial"/>
              </a:rPr>
              <a:t> </a:t>
            </a:r>
            <a:r>
              <a:rPr dirty="0" sz="1100" spc="-5">
                <a:latin typeface="Arial"/>
                <a:cs typeface="Arial"/>
              </a:rPr>
              <a:t>increase</a:t>
            </a:r>
            <a:r>
              <a:rPr dirty="0" sz="1100" spc="25">
                <a:latin typeface="Arial"/>
                <a:cs typeface="Arial"/>
              </a:rPr>
              <a:t> </a:t>
            </a:r>
            <a:r>
              <a:rPr dirty="0" sz="1100" spc="-5">
                <a:latin typeface="Arial"/>
                <a:cs typeface="Arial"/>
              </a:rPr>
              <a:t>in</a:t>
            </a:r>
            <a:r>
              <a:rPr dirty="0" sz="1100" spc="15">
                <a:latin typeface="Arial"/>
                <a:cs typeface="Arial"/>
              </a:rPr>
              <a:t> </a:t>
            </a:r>
            <a:r>
              <a:rPr dirty="0" sz="1100" spc="-5">
                <a:latin typeface="Arial"/>
                <a:cs typeface="Arial"/>
              </a:rPr>
              <a:t>supply</a:t>
            </a:r>
            <a:r>
              <a:rPr dirty="0" sz="1100" spc="20">
                <a:latin typeface="Arial"/>
                <a:cs typeface="Arial"/>
              </a:rPr>
              <a:t> </a:t>
            </a:r>
            <a:r>
              <a:rPr dirty="0" sz="1100" spc="-5">
                <a:latin typeface="Arial"/>
                <a:cs typeface="Arial"/>
              </a:rPr>
              <a:t>there</a:t>
            </a:r>
            <a:r>
              <a:rPr dirty="0" sz="1100" spc="25">
                <a:latin typeface="Arial"/>
                <a:cs typeface="Arial"/>
              </a:rPr>
              <a:t> </a:t>
            </a:r>
            <a:r>
              <a:rPr dirty="0" sz="1100" spc="-5">
                <a:latin typeface="Arial"/>
                <a:cs typeface="Arial"/>
              </a:rPr>
              <a:t>is</a:t>
            </a:r>
            <a:r>
              <a:rPr dirty="0" sz="1100" spc="20">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possibility</a:t>
            </a:r>
            <a:r>
              <a:rPr dirty="0" sz="1100" spc="20">
                <a:latin typeface="Arial"/>
                <a:cs typeface="Arial"/>
              </a:rPr>
              <a:t> </a:t>
            </a:r>
            <a:r>
              <a:rPr dirty="0" sz="1100" spc="-5">
                <a:latin typeface="Arial"/>
                <a:cs typeface="Arial"/>
              </a:rPr>
              <a:t>that</a:t>
            </a:r>
            <a:endParaRPr sz="1100">
              <a:latin typeface="Arial"/>
              <a:cs typeface="Arial"/>
            </a:endParaRPr>
          </a:p>
        </p:txBody>
      </p:sp>
      <p:sp>
        <p:nvSpPr>
          <p:cNvPr id="7" name="object 7"/>
          <p:cNvSpPr txBox="1"/>
          <p:nvPr/>
        </p:nvSpPr>
        <p:spPr>
          <a:xfrm>
            <a:off x="901699" y="7838176"/>
            <a:ext cx="596963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production may be subject to increasing returns, such that output rises more </a:t>
            </a:r>
            <a:r>
              <a:rPr dirty="0" sz="1100">
                <a:latin typeface="Arial"/>
                <a:cs typeface="Arial"/>
              </a:rPr>
              <a:t>than  </a:t>
            </a:r>
            <a:r>
              <a:rPr dirty="0" sz="1100" spc="-5">
                <a:latin typeface="Arial"/>
                <a:cs typeface="Arial"/>
              </a:rPr>
              <a:t>proportionately to the increase in combination inputs. If this is the case, output per unit of total  inputs will increase and the production functions representing equal additional amounts </a:t>
            </a:r>
            <a:r>
              <a:rPr dirty="0" sz="1100">
                <a:latin typeface="Arial"/>
                <a:cs typeface="Arial"/>
              </a:rPr>
              <a:t>of  </a:t>
            </a:r>
            <a:r>
              <a:rPr dirty="0" sz="1100" spc="-5">
                <a:latin typeface="Arial"/>
                <a:cs typeface="Arial"/>
              </a:rPr>
              <a:t>production, for example 100, 200, 300 and so on, must be drawn closer and closer together, as  in Figure</a:t>
            </a:r>
            <a:r>
              <a:rPr dirty="0" sz="1100">
                <a:latin typeface="Arial"/>
                <a:cs typeface="Arial"/>
              </a:rPr>
              <a:t> </a:t>
            </a:r>
            <a:r>
              <a:rPr dirty="0" sz="1100" spc="-5">
                <a:latin typeface="Arial"/>
                <a:cs typeface="Arial"/>
              </a:rPr>
              <a:t>5.7.</a:t>
            </a:r>
            <a:endParaRPr sz="1100">
              <a:latin typeface="Arial"/>
              <a:cs typeface="Arial"/>
            </a:endParaRPr>
          </a:p>
        </p:txBody>
      </p:sp>
      <p:sp>
        <p:nvSpPr>
          <p:cNvPr id="8" name="object 8"/>
          <p:cNvSpPr/>
          <p:nvPr/>
        </p:nvSpPr>
        <p:spPr>
          <a:xfrm>
            <a:off x="1721357" y="4187952"/>
            <a:ext cx="4442460" cy="367284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130</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425191"/>
            <a:ext cx="3237865" cy="19304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THE COBB-DOUGLAS PRODUCTION</a:t>
            </a:r>
            <a:r>
              <a:rPr dirty="0" sz="1100" spc="-30" b="1">
                <a:latin typeface="Arial"/>
                <a:cs typeface="Arial"/>
              </a:rPr>
              <a:t> </a:t>
            </a:r>
            <a:r>
              <a:rPr dirty="0" sz="1100" spc="-5" b="1">
                <a:latin typeface="Arial"/>
                <a:cs typeface="Arial"/>
              </a:rPr>
              <a:t>FUNCTION</a:t>
            </a:r>
            <a:endParaRPr sz="1100">
              <a:latin typeface="Arial"/>
              <a:cs typeface="Arial"/>
            </a:endParaRPr>
          </a:p>
        </p:txBody>
      </p:sp>
      <p:sp>
        <p:nvSpPr>
          <p:cNvPr id="7" name="object 7"/>
          <p:cNvSpPr txBox="1"/>
          <p:nvPr/>
        </p:nvSpPr>
        <p:spPr>
          <a:xfrm>
            <a:off x="1130300" y="4770373"/>
            <a:ext cx="4812030" cy="193040"/>
          </a:xfrm>
          <a:prstGeom prst="rect">
            <a:avLst/>
          </a:prstGeom>
        </p:spPr>
        <p:txBody>
          <a:bodyPr wrap="square" lIns="0" tIns="12065" rIns="0" bIns="0" rtlCol="0" vert="horz">
            <a:spAutoFit/>
          </a:bodyPr>
          <a:lstStyle/>
          <a:p>
            <a:pPr marL="241300" indent="-229235">
              <a:lnSpc>
                <a:spcPct val="100000"/>
              </a:lnSpc>
              <a:spcBef>
                <a:spcPts val="95"/>
              </a:spcBef>
              <a:buFont typeface="Symbol"/>
              <a:buChar char=""/>
              <a:tabLst>
                <a:tab pos="240665" algn="l"/>
                <a:tab pos="241935" algn="l"/>
              </a:tabLst>
            </a:pPr>
            <a:r>
              <a:rPr dirty="0" sz="1100" spc="-5">
                <a:latin typeface="Arial"/>
                <a:cs typeface="Arial"/>
              </a:rPr>
              <a:t>Charles Cobb (a mathematician) and Paul Douglas (an economist)</a:t>
            </a:r>
            <a:r>
              <a:rPr dirty="0" sz="1100" spc="165">
                <a:latin typeface="Arial"/>
                <a:cs typeface="Arial"/>
              </a:rPr>
              <a:t> </a:t>
            </a:r>
            <a:r>
              <a:rPr dirty="0" sz="1100" spc="-5">
                <a:latin typeface="Arial"/>
                <a:cs typeface="Arial"/>
              </a:rPr>
              <a:t>(1928)</a:t>
            </a:r>
            <a:endParaRPr sz="1100">
              <a:latin typeface="Arial"/>
              <a:cs typeface="Arial"/>
            </a:endParaRPr>
          </a:p>
        </p:txBody>
      </p:sp>
      <p:sp>
        <p:nvSpPr>
          <p:cNvPr id="8" name="object 8"/>
          <p:cNvSpPr txBox="1"/>
          <p:nvPr/>
        </p:nvSpPr>
        <p:spPr>
          <a:xfrm>
            <a:off x="1130300" y="5421865"/>
            <a:ext cx="5019675" cy="703580"/>
          </a:xfrm>
          <a:prstGeom prst="rect">
            <a:avLst/>
          </a:prstGeom>
        </p:spPr>
        <p:txBody>
          <a:bodyPr wrap="square" lIns="0" tIns="12065" rIns="0" bIns="0" rtlCol="0" vert="horz">
            <a:spAutoFit/>
          </a:bodyPr>
          <a:lstStyle/>
          <a:p>
            <a:pPr marL="241300" indent="-229235">
              <a:lnSpc>
                <a:spcPct val="100000"/>
              </a:lnSpc>
              <a:spcBef>
                <a:spcPts val="95"/>
              </a:spcBef>
              <a:buFont typeface="Symbol"/>
              <a:buChar char=""/>
              <a:tabLst>
                <a:tab pos="240665" algn="l"/>
                <a:tab pos="241935" algn="l"/>
              </a:tabLst>
            </a:pPr>
            <a:r>
              <a:rPr dirty="0" sz="1100" spc="-5">
                <a:latin typeface="Arial"/>
                <a:cs typeface="Arial"/>
              </a:rPr>
              <a:t>The effect of technical progress is neutral on the factor intensity of</a:t>
            </a:r>
            <a:r>
              <a:rPr dirty="0" sz="1100" spc="195">
                <a:latin typeface="Arial"/>
                <a:cs typeface="Arial"/>
              </a:rPr>
              <a:t> </a:t>
            </a:r>
            <a:r>
              <a:rPr dirty="0" sz="1100" spc="-5">
                <a:latin typeface="Arial"/>
                <a:cs typeface="Arial"/>
              </a:rPr>
              <a:t>production</a:t>
            </a:r>
            <a:endParaRPr sz="1100">
              <a:latin typeface="Arial"/>
              <a:cs typeface="Arial"/>
            </a:endParaRPr>
          </a:p>
          <a:p>
            <a:pPr marL="241300" indent="-229235">
              <a:lnSpc>
                <a:spcPct val="100000"/>
              </a:lnSpc>
              <a:spcBef>
                <a:spcPts val="20"/>
              </a:spcBef>
              <a:buFont typeface="Symbol"/>
              <a:buChar char=""/>
              <a:tabLst>
                <a:tab pos="240665" algn="l"/>
                <a:tab pos="241935" algn="l"/>
              </a:tabLst>
            </a:pPr>
            <a:r>
              <a:rPr dirty="0" sz="1100" spc="-5">
                <a:latin typeface="Arial"/>
                <a:cs typeface="Arial"/>
              </a:rPr>
              <a:t>If α + β = 1 → constant returns to</a:t>
            </a:r>
            <a:r>
              <a:rPr dirty="0" sz="1100" spc="35">
                <a:latin typeface="Arial"/>
                <a:cs typeface="Arial"/>
              </a:rPr>
              <a:t> </a:t>
            </a:r>
            <a:r>
              <a:rPr dirty="0" sz="1100" spc="-5">
                <a:latin typeface="Arial"/>
                <a:cs typeface="Arial"/>
              </a:rPr>
              <a:t>scale</a:t>
            </a:r>
            <a:endParaRPr sz="1100">
              <a:latin typeface="Arial"/>
              <a:cs typeface="Arial"/>
            </a:endParaRPr>
          </a:p>
          <a:p>
            <a:pPr marL="241300" indent="-229235">
              <a:lnSpc>
                <a:spcPct val="100000"/>
              </a:lnSpc>
              <a:spcBef>
                <a:spcPts val="25"/>
              </a:spcBef>
              <a:buFont typeface="Symbol"/>
              <a:buChar char=""/>
              <a:tabLst>
                <a:tab pos="240665" algn="l"/>
                <a:tab pos="241935" algn="l"/>
              </a:tabLst>
            </a:pPr>
            <a:r>
              <a:rPr dirty="0" sz="1100" spc="-5">
                <a:latin typeface="Arial"/>
                <a:cs typeface="Arial"/>
              </a:rPr>
              <a:t>If α + β &lt; 1 → decreasing returns to</a:t>
            </a:r>
            <a:r>
              <a:rPr dirty="0" sz="1100" spc="40">
                <a:latin typeface="Arial"/>
                <a:cs typeface="Arial"/>
              </a:rPr>
              <a:t> </a:t>
            </a:r>
            <a:r>
              <a:rPr dirty="0" sz="1100" spc="-5">
                <a:latin typeface="Arial"/>
                <a:cs typeface="Arial"/>
              </a:rPr>
              <a:t>scale</a:t>
            </a:r>
            <a:endParaRPr sz="1100">
              <a:latin typeface="Arial"/>
              <a:cs typeface="Arial"/>
            </a:endParaRPr>
          </a:p>
          <a:p>
            <a:pPr marL="241300" indent="-229235">
              <a:lnSpc>
                <a:spcPct val="100000"/>
              </a:lnSpc>
              <a:spcBef>
                <a:spcPts val="15"/>
              </a:spcBef>
              <a:buFont typeface="Symbol"/>
              <a:buChar char=""/>
              <a:tabLst>
                <a:tab pos="240665" algn="l"/>
                <a:tab pos="241935" algn="l"/>
              </a:tabLst>
            </a:pPr>
            <a:r>
              <a:rPr dirty="0" sz="1100" spc="-5">
                <a:latin typeface="Arial"/>
                <a:cs typeface="Arial"/>
              </a:rPr>
              <a:t>If α + β &gt; 1 → increasing returns to</a:t>
            </a:r>
            <a:r>
              <a:rPr dirty="0" sz="1100" spc="35">
                <a:latin typeface="Arial"/>
                <a:cs typeface="Arial"/>
              </a:rPr>
              <a:t> </a:t>
            </a:r>
            <a:r>
              <a:rPr dirty="0" sz="1100" spc="-5">
                <a:latin typeface="Arial"/>
                <a:cs typeface="Arial"/>
              </a:rPr>
              <a:t>scale</a:t>
            </a:r>
            <a:endParaRPr sz="1100">
              <a:latin typeface="Arial"/>
              <a:cs typeface="Arial"/>
            </a:endParaRPr>
          </a:p>
        </p:txBody>
      </p:sp>
      <p:sp>
        <p:nvSpPr>
          <p:cNvPr id="9" name="object 9"/>
          <p:cNvSpPr txBox="1"/>
          <p:nvPr/>
        </p:nvSpPr>
        <p:spPr>
          <a:xfrm>
            <a:off x="3979411" y="5131083"/>
            <a:ext cx="493395" cy="204470"/>
          </a:xfrm>
          <a:prstGeom prst="rect">
            <a:avLst/>
          </a:prstGeom>
        </p:spPr>
        <p:txBody>
          <a:bodyPr wrap="square" lIns="0" tIns="15240" rIns="0" bIns="0" rtlCol="0" vert="horz">
            <a:spAutoFit/>
          </a:bodyPr>
          <a:lstStyle/>
          <a:p>
            <a:pPr marL="12700">
              <a:lnSpc>
                <a:spcPct val="100000"/>
              </a:lnSpc>
              <a:spcBef>
                <a:spcPts val="120"/>
              </a:spcBef>
              <a:tabLst>
                <a:tab pos="438150" algn="l"/>
              </a:tabLst>
            </a:pPr>
            <a:r>
              <a:rPr dirty="0" sz="1150" spc="5" i="1">
                <a:latin typeface="Times New Roman"/>
                <a:cs typeface="Times New Roman"/>
              </a:rPr>
              <a:t>t</a:t>
            </a:r>
            <a:r>
              <a:rPr dirty="0" sz="1150" spc="5" i="1">
                <a:latin typeface="Times New Roman"/>
                <a:cs typeface="Times New Roman"/>
              </a:rPr>
              <a:t>	</a:t>
            </a:r>
            <a:r>
              <a:rPr dirty="0" sz="1150" spc="5" i="1">
                <a:latin typeface="Times New Roman"/>
                <a:cs typeface="Times New Roman"/>
              </a:rPr>
              <a:t>t</a:t>
            </a:r>
            <a:endParaRPr sz="1150">
              <a:latin typeface="Times New Roman"/>
              <a:cs typeface="Times New Roman"/>
            </a:endParaRPr>
          </a:p>
        </p:txBody>
      </p:sp>
      <p:sp>
        <p:nvSpPr>
          <p:cNvPr id="10" name="object 10"/>
          <p:cNvSpPr txBox="1"/>
          <p:nvPr/>
        </p:nvSpPr>
        <p:spPr>
          <a:xfrm>
            <a:off x="3976121" y="4846294"/>
            <a:ext cx="556895" cy="332105"/>
          </a:xfrm>
          <a:prstGeom prst="rect">
            <a:avLst/>
          </a:prstGeom>
        </p:spPr>
        <p:txBody>
          <a:bodyPr wrap="square" lIns="0" tIns="13970" rIns="0" bIns="0" rtlCol="0" vert="horz">
            <a:spAutoFit/>
          </a:bodyPr>
          <a:lstStyle/>
          <a:p>
            <a:pPr marL="38100">
              <a:lnSpc>
                <a:spcPct val="100000"/>
              </a:lnSpc>
              <a:spcBef>
                <a:spcPts val="110"/>
              </a:spcBef>
            </a:pPr>
            <a:r>
              <a:rPr dirty="0" sz="1250" spc="-50" i="1">
                <a:latin typeface="Symbol"/>
                <a:cs typeface="Symbol"/>
              </a:rPr>
              <a:t></a:t>
            </a:r>
            <a:r>
              <a:rPr dirty="0" sz="1250" spc="-50" i="1">
                <a:latin typeface="Times New Roman"/>
                <a:cs typeface="Times New Roman"/>
              </a:rPr>
              <a:t> </a:t>
            </a:r>
            <a:r>
              <a:rPr dirty="0" baseline="-25000" sz="3000" spc="7" i="1">
                <a:latin typeface="Times New Roman"/>
                <a:cs typeface="Times New Roman"/>
              </a:rPr>
              <a:t>L</a:t>
            </a:r>
            <a:r>
              <a:rPr dirty="0" baseline="-25000" sz="3000" spc="-142" i="1">
                <a:latin typeface="Times New Roman"/>
                <a:cs typeface="Times New Roman"/>
              </a:rPr>
              <a:t> </a:t>
            </a:r>
            <a:r>
              <a:rPr dirty="0" sz="1250" spc="-45" i="1">
                <a:latin typeface="Symbol"/>
                <a:cs typeface="Symbol"/>
              </a:rPr>
              <a:t></a:t>
            </a:r>
            <a:endParaRPr sz="1250">
              <a:latin typeface="Symbol"/>
              <a:cs typeface="Symbol"/>
            </a:endParaRPr>
          </a:p>
        </p:txBody>
      </p:sp>
      <p:sp>
        <p:nvSpPr>
          <p:cNvPr id="11" name="object 11"/>
          <p:cNvSpPr txBox="1"/>
          <p:nvPr/>
        </p:nvSpPr>
        <p:spPr>
          <a:xfrm>
            <a:off x="2685300" y="4960594"/>
            <a:ext cx="1235075" cy="332105"/>
          </a:xfrm>
          <a:prstGeom prst="rect">
            <a:avLst/>
          </a:prstGeom>
        </p:spPr>
        <p:txBody>
          <a:bodyPr wrap="square" lIns="0" tIns="13970" rIns="0" bIns="0" rtlCol="0" vert="horz">
            <a:spAutoFit/>
          </a:bodyPr>
          <a:lstStyle/>
          <a:p>
            <a:pPr marL="38100">
              <a:lnSpc>
                <a:spcPct val="100000"/>
              </a:lnSpc>
              <a:spcBef>
                <a:spcPts val="110"/>
              </a:spcBef>
              <a:tabLst>
                <a:tab pos="440055" algn="l"/>
                <a:tab pos="721360" algn="l"/>
              </a:tabLst>
            </a:pPr>
            <a:r>
              <a:rPr dirty="0" sz="2000" spc="5" i="1">
                <a:latin typeface="Times New Roman"/>
                <a:cs typeface="Times New Roman"/>
              </a:rPr>
              <a:t>Y</a:t>
            </a:r>
            <a:r>
              <a:rPr dirty="0" sz="2000" spc="-90" i="1">
                <a:latin typeface="Times New Roman"/>
                <a:cs typeface="Times New Roman"/>
              </a:rPr>
              <a:t> </a:t>
            </a:r>
            <a:r>
              <a:rPr dirty="0" baseline="-24154" sz="1725" spc="7" i="1">
                <a:latin typeface="Times New Roman"/>
                <a:cs typeface="Times New Roman"/>
              </a:rPr>
              <a:t>t	</a:t>
            </a:r>
            <a:r>
              <a:rPr dirty="0" sz="2000" spc="5">
                <a:latin typeface="Symbol"/>
                <a:cs typeface="Symbol"/>
              </a:rPr>
              <a:t></a:t>
            </a:r>
            <a:r>
              <a:rPr dirty="0" sz="2000" spc="5">
                <a:latin typeface="Times New Roman"/>
                <a:cs typeface="Times New Roman"/>
              </a:rPr>
              <a:t>	</a:t>
            </a:r>
            <a:r>
              <a:rPr dirty="0" sz="2000" spc="5" i="1">
                <a:latin typeface="Times New Roman"/>
                <a:cs typeface="Times New Roman"/>
              </a:rPr>
              <a:t>T </a:t>
            </a:r>
            <a:r>
              <a:rPr dirty="0" baseline="-24154" sz="1725" spc="7" i="1">
                <a:latin typeface="Times New Roman"/>
                <a:cs typeface="Times New Roman"/>
              </a:rPr>
              <a:t>t</a:t>
            </a:r>
            <a:r>
              <a:rPr dirty="0" baseline="-24154" sz="1725" spc="127" i="1">
                <a:latin typeface="Times New Roman"/>
                <a:cs typeface="Times New Roman"/>
              </a:rPr>
              <a:t> </a:t>
            </a:r>
            <a:r>
              <a:rPr dirty="0" sz="2000" spc="5" i="1">
                <a:latin typeface="Times New Roman"/>
                <a:cs typeface="Times New Roman"/>
              </a:rPr>
              <a:t>K</a:t>
            </a:r>
            <a:endParaRPr sz="2000">
              <a:latin typeface="Times New Roman"/>
              <a:cs typeface="Times New Roman"/>
            </a:endParaRPr>
          </a:p>
        </p:txBody>
      </p:sp>
      <p:sp>
        <p:nvSpPr>
          <p:cNvPr id="12" name="object 12"/>
          <p:cNvSpPr/>
          <p:nvPr/>
        </p:nvSpPr>
        <p:spPr>
          <a:xfrm>
            <a:off x="2084070" y="976122"/>
            <a:ext cx="4268724" cy="3310128"/>
          </a:xfrm>
          <a:prstGeom prst="rect">
            <a:avLst/>
          </a:prstGeom>
          <a:blipFill>
            <a:blip r:embed="rId2" cstate="print"/>
            <a:stretch>
              <a:fillRect/>
            </a:stretch>
          </a:blipFill>
        </p:spPr>
        <p:txBody>
          <a:bodyPr wrap="square" lIns="0" tIns="0" rIns="0" bIns="0" rtlCol="0"/>
          <a:lstStyle/>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4" name="object 14"/>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131</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1082802"/>
            <a:ext cx="5943600" cy="541781"/>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01678" y="1633216"/>
            <a:ext cx="5969635" cy="6926580"/>
          </a:xfrm>
          <a:prstGeom prst="rect">
            <a:avLst/>
          </a:prstGeom>
        </p:spPr>
        <p:txBody>
          <a:bodyPr wrap="square" lIns="0" tIns="12065" rIns="0" bIns="0" rtlCol="0" vert="horz">
            <a:spAutoFit/>
          </a:bodyPr>
          <a:lstStyle/>
          <a:p>
            <a:pPr marL="12700">
              <a:lnSpc>
                <a:spcPts val="1295"/>
              </a:lnSpc>
              <a:spcBef>
                <a:spcPts val="95"/>
              </a:spcBef>
            </a:pPr>
            <a:r>
              <a:rPr dirty="0" sz="1100" spc="-5" b="1" i="1">
                <a:latin typeface="Arial"/>
                <a:cs typeface="Arial"/>
              </a:rPr>
              <a:t>Let</a:t>
            </a:r>
            <a:endParaRPr sz="1100">
              <a:latin typeface="Arial"/>
              <a:cs typeface="Arial"/>
            </a:endParaRPr>
          </a:p>
          <a:p>
            <a:pPr marL="12700">
              <a:lnSpc>
                <a:spcPts val="1295"/>
              </a:lnSpc>
            </a:pPr>
            <a:r>
              <a:rPr dirty="0" sz="1100" spc="-5" b="1" i="1">
                <a:latin typeface="Arial"/>
                <a:cs typeface="Arial"/>
              </a:rPr>
              <a:t>d [ln u]/dx = 1/u.</a:t>
            </a:r>
            <a:r>
              <a:rPr dirty="0" sz="1100" spc="10" b="1" i="1">
                <a:latin typeface="Arial"/>
                <a:cs typeface="Arial"/>
              </a:rPr>
              <a:t> </a:t>
            </a:r>
            <a:r>
              <a:rPr dirty="0" sz="1100" spc="-5" b="1" i="1">
                <a:latin typeface="Arial"/>
                <a:cs typeface="Arial"/>
              </a:rPr>
              <a:t>du/dx</a:t>
            </a:r>
            <a:endParaRPr sz="1100">
              <a:latin typeface="Arial"/>
              <a:cs typeface="Arial"/>
            </a:endParaRPr>
          </a:p>
          <a:p>
            <a:pPr>
              <a:lnSpc>
                <a:spcPct val="100000"/>
              </a:lnSpc>
            </a:pPr>
            <a:endParaRPr sz="1050">
              <a:latin typeface="Arial"/>
              <a:cs typeface="Arial"/>
            </a:endParaRPr>
          </a:p>
          <a:p>
            <a:pPr marL="12700">
              <a:lnSpc>
                <a:spcPct val="100000"/>
              </a:lnSpc>
            </a:pPr>
            <a:r>
              <a:rPr dirty="0" sz="1100" spc="-5" b="1" i="1">
                <a:latin typeface="Arial"/>
                <a:cs typeface="Arial"/>
              </a:rPr>
              <a:t>ry = rt + α rk + β</a:t>
            </a:r>
            <a:r>
              <a:rPr dirty="0" sz="1100" spc="25" b="1" i="1">
                <a:latin typeface="Arial"/>
                <a:cs typeface="Arial"/>
              </a:rPr>
              <a:t> </a:t>
            </a:r>
            <a:r>
              <a:rPr dirty="0" sz="1100" spc="-5" b="1" i="1">
                <a:latin typeface="Arial"/>
                <a:cs typeface="Arial"/>
              </a:rPr>
              <a:t>rL</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i="1">
                <a:latin typeface="Arial"/>
                <a:cs typeface="Arial"/>
              </a:rPr>
              <a:t>Example: 5.0 = rT + 0.25 (5.0) + 0.75</a:t>
            </a:r>
            <a:r>
              <a:rPr dirty="0" sz="1100" spc="40" b="1" i="1">
                <a:latin typeface="Arial"/>
                <a:cs typeface="Arial"/>
              </a:rPr>
              <a:t> </a:t>
            </a:r>
            <a:r>
              <a:rPr dirty="0" sz="1100" spc="-5" b="1" i="1">
                <a:latin typeface="Arial"/>
                <a:cs typeface="Arial"/>
              </a:rPr>
              <a:t>(1.0)</a:t>
            </a:r>
            <a:endParaRPr sz="1100">
              <a:latin typeface="Arial"/>
              <a:cs typeface="Arial"/>
            </a:endParaRPr>
          </a:p>
          <a:p>
            <a:pPr>
              <a:lnSpc>
                <a:spcPct val="100000"/>
              </a:lnSpc>
              <a:spcBef>
                <a:spcPts val="55"/>
              </a:spcBef>
            </a:pPr>
            <a:endParaRPr sz="1000">
              <a:latin typeface="Arial"/>
              <a:cs typeface="Arial"/>
            </a:endParaRPr>
          </a:p>
          <a:p>
            <a:pPr marL="12700">
              <a:lnSpc>
                <a:spcPct val="100000"/>
              </a:lnSpc>
            </a:pPr>
            <a:r>
              <a:rPr dirty="0" sz="1100" spc="-5" b="1">
                <a:latin typeface="Arial"/>
                <a:cs typeface="Arial"/>
              </a:rPr>
              <a:t>LIMITATIONS OF </a:t>
            </a:r>
            <a:r>
              <a:rPr dirty="0" sz="1100" b="1">
                <a:latin typeface="Arial"/>
                <a:cs typeface="Arial"/>
              </a:rPr>
              <a:t>THE </a:t>
            </a:r>
            <a:r>
              <a:rPr dirty="0" sz="1100" spc="-5" b="1">
                <a:latin typeface="Arial"/>
                <a:cs typeface="Arial"/>
              </a:rPr>
              <a:t>COBB-DOUGLAS PRODUCTION</a:t>
            </a:r>
            <a:r>
              <a:rPr dirty="0" sz="1100" spc="30" b="1">
                <a:latin typeface="Arial"/>
                <a:cs typeface="Arial"/>
              </a:rPr>
              <a:t> </a:t>
            </a:r>
            <a:r>
              <a:rPr dirty="0" sz="1100" spc="-5" b="1">
                <a:latin typeface="Arial"/>
                <a:cs typeface="Arial"/>
              </a:rPr>
              <a:t>FUNCTION</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Only one combination of factor inputs can be observed at one</a:t>
            </a:r>
            <a:r>
              <a:rPr dirty="0" sz="1100" spc="75">
                <a:latin typeface="Arial"/>
                <a:cs typeface="Arial"/>
              </a:rPr>
              <a:t> </a:t>
            </a:r>
            <a:r>
              <a:rPr dirty="0" sz="1100" spc="-5">
                <a:latin typeface="Arial"/>
                <a:cs typeface="Arial"/>
              </a:rPr>
              <a:t>time.</a:t>
            </a:r>
            <a:endParaRPr sz="1100">
              <a:latin typeface="Arial"/>
              <a:cs typeface="Arial"/>
            </a:endParaRPr>
          </a:p>
          <a:p>
            <a:pPr marL="469900" marR="5080" indent="-228600">
              <a:lnSpc>
                <a:spcPts val="1270"/>
              </a:lnSpc>
              <a:spcBef>
                <a:spcPts val="100"/>
              </a:spcBef>
              <a:buFont typeface="Symbol"/>
              <a:buChar char=""/>
              <a:tabLst>
                <a:tab pos="469265" algn="l"/>
                <a:tab pos="470534" algn="l"/>
              </a:tabLst>
            </a:pPr>
            <a:r>
              <a:rPr dirty="0" sz="1100" spc="-5">
                <a:latin typeface="Arial"/>
                <a:cs typeface="Arial"/>
              </a:rPr>
              <a:t>The assumption that technical progress is independent of increases in factor inputs has  been questioned.</a:t>
            </a:r>
            <a:endParaRPr sz="1100">
              <a:latin typeface="Arial"/>
              <a:cs typeface="Arial"/>
            </a:endParaRPr>
          </a:p>
          <a:p>
            <a:pPr marL="469900" indent="-229235">
              <a:lnSpc>
                <a:spcPts val="1300"/>
              </a:lnSpc>
              <a:buFont typeface="Symbol"/>
              <a:buChar char=""/>
              <a:tabLst>
                <a:tab pos="469265" algn="l"/>
                <a:tab pos="470534" algn="l"/>
              </a:tabLst>
            </a:pPr>
            <a:r>
              <a:rPr dirty="0" sz="1100" spc="-5">
                <a:latin typeface="Arial"/>
                <a:cs typeface="Arial"/>
              </a:rPr>
              <a:t>The production function assumes constant unit elasticity of substitution between</a:t>
            </a:r>
            <a:r>
              <a:rPr dirty="0" sz="1100" spc="210">
                <a:latin typeface="Arial"/>
                <a:cs typeface="Arial"/>
              </a:rPr>
              <a:t> </a:t>
            </a:r>
            <a:r>
              <a:rPr dirty="0" sz="1100" spc="-5">
                <a:latin typeface="Arial"/>
                <a:cs typeface="Arial"/>
              </a:rPr>
              <a:t>factors.</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Aggregation of heterogeneous factor inputs and</a:t>
            </a:r>
            <a:r>
              <a:rPr dirty="0" sz="1100" spc="20">
                <a:latin typeface="Arial"/>
                <a:cs typeface="Arial"/>
              </a:rPr>
              <a:t> </a:t>
            </a:r>
            <a:r>
              <a:rPr dirty="0" sz="1100" spc="-5">
                <a:latin typeface="Arial"/>
                <a:cs typeface="Arial"/>
              </a:rPr>
              <a:t>output.</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b="1">
                <a:latin typeface="Arial"/>
                <a:cs typeface="Arial"/>
              </a:rPr>
              <a:t>SCHOOLS </a:t>
            </a:r>
            <a:r>
              <a:rPr dirty="0" sz="1100" spc="-5" b="1">
                <a:latin typeface="Arial"/>
                <a:cs typeface="Arial"/>
              </a:rPr>
              <a:t>OF THOUGHT IN CONTEXT: SOUTH KOREA AND</a:t>
            </a:r>
            <a:r>
              <a:rPr dirty="0" sz="1100" spc="50" b="1">
                <a:latin typeface="Arial"/>
                <a:cs typeface="Arial"/>
              </a:rPr>
              <a:t> </a:t>
            </a:r>
            <a:r>
              <a:rPr dirty="0" sz="1100" spc="-5" b="1">
                <a:latin typeface="Arial"/>
                <a:cs typeface="Arial"/>
              </a:rPr>
              <a:t>ARGENTINA</a:t>
            </a:r>
            <a:endParaRPr sz="1100">
              <a:latin typeface="Arial"/>
              <a:cs typeface="Arial"/>
            </a:endParaRPr>
          </a:p>
          <a:p>
            <a:pPr>
              <a:lnSpc>
                <a:spcPct val="100000"/>
              </a:lnSpc>
              <a:spcBef>
                <a:spcPts val="10"/>
              </a:spcBef>
            </a:pPr>
            <a:endParaRPr sz="1250">
              <a:latin typeface="Arial"/>
              <a:cs typeface="Arial"/>
            </a:endParaRPr>
          </a:p>
          <a:p>
            <a:pPr algn="just" marL="469900" marR="5080" indent="-228600">
              <a:lnSpc>
                <a:spcPct val="95700"/>
              </a:lnSpc>
              <a:buFont typeface="Symbol"/>
              <a:buChar char=""/>
              <a:tabLst>
                <a:tab pos="470534" algn="l"/>
              </a:tabLst>
            </a:pPr>
            <a:r>
              <a:rPr dirty="0" sz="1100" spc="-5">
                <a:latin typeface="Arial"/>
                <a:cs typeface="Arial"/>
              </a:rPr>
              <a:t>Critical analysis of the two countries indicate that the first four broad approaches to  development—stages of growth, structural patterns of development, dependence, and  neoclassical—provides important insights about development processes and</a:t>
            </a:r>
            <a:r>
              <a:rPr dirty="0" sz="1100" spc="114">
                <a:latin typeface="Arial"/>
                <a:cs typeface="Arial"/>
              </a:rPr>
              <a:t> </a:t>
            </a:r>
            <a:r>
              <a:rPr dirty="0" sz="1100" spc="-5">
                <a:latin typeface="Arial"/>
                <a:cs typeface="Arial"/>
              </a:rPr>
              <a:t>policy.</a:t>
            </a:r>
            <a:endParaRPr sz="1100">
              <a:latin typeface="Arial"/>
              <a:cs typeface="Arial"/>
            </a:endParaRPr>
          </a:p>
          <a:p>
            <a:pPr algn="just" marL="469900" marR="5080" indent="-228600">
              <a:lnSpc>
                <a:spcPts val="1260"/>
              </a:lnSpc>
              <a:spcBef>
                <a:spcPts val="114"/>
              </a:spcBef>
              <a:buFont typeface="Symbol"/>
              <a:buChar char=""/>
              <a:tabLst>
                <a:tab pos="470534" algn="l"/>
              </a:tabLst>
            </a:pPr>
            <a:r>
              <a:rPr dirty="0" sz="1100" spc="-5">
                <a:latin typeface="Arial"/>
                <a:cs typeface="Arial"/>
              </a:rPr>
              <a:t>Both are midsize in population (40 million in Argentina and 49 million in South Korea in  2008).</a:t>
            </a:r>
            <a:endParaRPr sz="1100">
              <a:latin typeface="Arial"/>
              <a:cs typeface="Arial"/>
            </a:endParaRPr>
          </a:p>
          <a:p>
            <a:pPr algn="just" marL="469900" indent="-229235">
              <a:lnSpc>
                <a:spcPts val="1310"/>
              </a:lnSpc>
              <a:buFont typeface="Symbol"/>
              <a:buChar char=""/>
              <a:tabLst>
                <a:tab pos="470534" algn="l"/>
              </a:tabLst>
            </a:pPr>
            <a:r>
              <a:rPr dirty="0" sz="1100" spc="-5">
                <a:latin typeface="Arial"/>
                <a:cs typeface="Arial"/>
              </a:rPr>
              <a:t>Both were long classified as middle-income</a:t>
            </a:r>
            <a:r>
              <a:rPr dirty="0" sz="1100" spc="25">
                <a:latin typeface="Arial"/>
                <a:cs typeface="Arial"/>
              </a:rPr>
              <a:t> </a:t>
            </a:r>
            <a:r>
              <a:rPr dirty="0" sz="1100" spc="-5">
                <a:latin typeface="Arial"/>
                <a:cs typeface="Arial"/>
              </a:rPr>
              <a:t>countries.</a:t>
            </a:r>
            <a:endParaRPr sz="1100">
              <a:latin typeface="Arial"/>
              <a:cs typeface="Arial"/>
            </a:endParaRPr>
          </a:p>
          <a:p>
            <a:pPr algn="just" marL="469900" marR="5080" indent="-228600">
              <a:lnSpc>
                <a:spcPts val="1260"/>
              </a:lnSpc>
              <a:spcBef>
                <a:spcPts val="110"/>
              </a:spcBef>
              <a:buFont typeface="Symbol"/>
              <a:buChar char=""/>
              <a:tabLst>
                <a:tab pos="470534" algn="l"/>
              </a:tabLst>
            </a:pPr>
            <a:r>
              <a:rPr dirty="0" sz="1100" spc="-5">
                <a:latin typeface="Arial"/>
                <a:cs typeface="Arial"/>
              </a:rPr>
              <a:t>But South Korea, now designated by the </a:t>
            </a:r>
            <a:r>
              <a:rPr dirty="0" sz="1100">
                <a:latin typeface="Arial"/>
                <a:cs typeface="Arial"/>
              </a:rPr>
              <a:t>World </a:t>
            </a:r>
            <a:r>
              <a:rPr dirty="0" sz="1100" spc="-5">
                <a:latin typeface="Arial"/>
                <a:cs typeface="Arial"/>
              </a:rPr>
              <a:t>Bank as a high-income country with  about</a:t>
            </a:r>
            <a:r>
              <a:rPr dirty="0" sz="1100" spc="85">
                <a:latin typeface="Arial"/>
                <a:cs typeface="Arial"/>
              </a:rPr>
              <a:t> </a:t>
            </a:r>
            <a:r>
              <a:rPr dirty="0" sz="1100" spc="-5">
                <a:latin typeface="Arial"/>
                <a:cs typeface="Arial"/>
              </a:rPr>
              <a:t>$28,000</a:t>
            </a:r>
            <a:r>
              <a:rPr dirty="0" sz="1100" spc="90">
                <a:latin typeface="Arial"/>
                <a:cs typeface="Arial"/>
              </a:rPr>
              <a:t> </a:t>
            </a:r>
            <a:r>
              <a:rPr dirty="0" sz="1100" spc="-5">
                <a:latin typeface="Arial"/>
                <a:cs typeface="Arial"/>
              </a:rPr>
              <a:t>PPP</a:t>
            </a:r>
            <a:r>
              <a:rPr dirty="0" sz="1100" spc="85">
                <a:latin typeface="Arial"/>
                <a:cs typeface="Arial"/>
              </a:rPr>
              <a:t> </a:t>
            </a:r>
            <a:r>
              <a:rPr dirty="0" sz="1100" spc="-5">
                <a:latin typeface="Arial"/>
                <a:cs typeface="Arial"/>
              </a:rPr>
              <a:t>in</a:t>
            </a:r>
            <a:r>
              <a:rPr dirty="0" sz="1100" spc="90">
                <a:latin typeface="Arial"/>
                <a:cs typeface="Arial"/>
              </a:rPr>
              <a:t> </a:t>
            </a:r>
            <a:r>
              <a:rPr dirty="0" sz="1100" spc="-5">
                <a:latin typeface="Arial"/>
                <a:cs typeface="Arial"/>
              </a:rPr>
              <a:t>2008,</a:t>
            </a:r>
            <a:r>
              <a:rPr dirty="0" sz="1100" spc="90">
                <a:latin typeface="Arial"/>
                <a:cs typeface="Arial"/>
              </a:rPr>
              <a:t> </a:t>
            </a:r>
            <a:r>
              <a:rPr dirty="0" sz="1100" spc="-5">
                <a:latin typeface="Arial"/>
                <a:cs typeface="Arial"/>
              </a:rPr>
              <a:t>has</a:t>
            </a:r>
            <a:r>
              <a:rPr dirty="0" sz="1100" spc="85">
                <a:latin typeface="Arial"/>
                <a:cs typeface="Arial"/>
              </a:rPr>
              <a:t> </a:t>
            </a:r>
            <a:r>
              <a:rPr dirty="0" sz="1100" spc="-5">
                <a:latin typeface="Arial"/>
                <a:cs typeface="Arial"/>
              </a:rPr>
              <a:t>double</a:t>
            </a:r>
            <a:r>
              <a:rPr dirty="0" sz="1100" spc="90">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per</a:t>
            </a:r>
            <a:r>
              <a:rPr dirty="0" sz="1100" spc="85">
                <a:latin typeface="Arial"/>
                <a:cs typeface="Arial"/>
              </a:rPr>
              <a:t> </a:t>
            </a:r>
            <a:r>
              <a:rPr dirty="0" sz="1100" spc="-5">
                <a:latin typeface="Arial"/>
                <a:cs typeface="Arial"/>
              </a:rPr>
              <a:t>capita</a:t>
            </a:r>
            <a:r>
              <a:rPr dirty="0" sz="1100" spc="90">
                <a:latin typeface="Arial"/>
                <a:cs typeface="Arial"/>
              </a:rPr>
              <a:t> </a:t>
            </a:r>
            <a:r>
              <a:rPr dirty="0" sz="1100" spc="-5">
                <a:latin typeface="Arial"/>
                <a:cs typeface="Arial"/>
              </a:rPr>
              <a:t>income</a:t>
            </a:r>
            <a:r>
              <a:rPr dirty="0" sz="1100" spc="85">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Argentina,</a:t>
            </a:r>
            <a:r>
              <a:rPr dirty="0" sz="1100" spc="85">
                <a:latin typeface="Arial"/>
                <a:cs typeface="Arial"/>
              </a:rPr>
              <a:t> </a:t>
            </a:r>
            <a:r>
              <a:rPr dirty="0" sz="1100" spc="-5">
                <a:latin typeface="Arial"/>
                <a:cs typeface="Arial"/>
              </a:rPr>
              <a:t>with</a:t>
            </a:r>
            <a:r>
              <a:rPr dirty="0" sz="1100" spc="90">
                <a:latin typeface="Arial"/>
                <a:cs typeface="Arial"/>
              </a:rPr>
              <a:t> </a:t>
            </a:r>
            <a:r>
              <a:rPr dirty="0" sz="1100" spc="-5">
                <a:latin typeface="Arial"/>
                <a:cs typeface="Arial"/>
              </a:rPr>
              <a:t>about</a:t>
            </a:r>
            <a:endParaRPr sz="1100">
              <a:latin typeface="Arial"/>
              <a:cs typeface="Arial"/>
            </a:endParaRPr>
          </a:p>
          <a:p>
            <a:pPr algn="just" marL="469900">
              <a:lnSpc>
                <a:spcPts val="1235"/>
              </a:lnSpc>
            </a:pPr>
            <a:r>
              <a:rPr dirty="0" sz="1100" spc="-5">
                <a:latin typeface="Arial"/>
                <a:cs typeface="Arial"/>
              </a:rPr>
              <a:t>$14,000 PPP in</a:t>
            </a:r>
            <a:r>
              <a:rPr dirty="0" sz="1100" spc="5">
                <a:latin typeface="Arial"/>
                <a:cs typeface="Arial"/>
              </a:rPr>
              <a:t> </a:t>
            </a:r>
            <a:r>
              <a:rPr dirty="0" sz="1100" spc="-5">
                <a:latin typeface="Arial"/>
                <a:cs typeface="Arial"/>
              </a:rPr>
              <a:t>2008.</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SOUTH</a:t>
            </a:r>
            <a:r>
              <a:rPr dirty="0" sz="1100" spc="-10" b="1">
                <a:latin typeface="Arial"/>
                <a:cs typeface="Arial"/>
              </a:rPr>
              <a:t> </a:t>
            </a:r>
            <a:r>
              <a:rPr dirty="0" sz="1100" spc="-5" b="1">
                <a:latin typeface="Arial"/>
                <a:cs typeface="Arial"/>
              </a:rPr>
              <a:t>KOREA</a:t>
            </a:r>
            <a:endParaRPr sz="1100">
              <a:latin typeface="Arial"/>
              <a:cs typeface="Arial"/>
            </a:endParaRPr>
          </a:p>
          <a:p>
            <a:pPr>
              <a:lnSpc>
                <a:spcPct val="100000"/>
              </a:lnSpc>
              <a:spcBef>
                <a:spcPts val="15"/>
              </a:spcBef>
            </a:pPr>
            <a:endParaRPr sz="1100">
              <a:latin typeface="Arial"/>
              <a:cs typeface="Arial"/>
            </a:endParaRPr>
          </a:p>
          <a:p>
            <a:pPr algn="just" marL="469900" indent="-229235">
              <a:lnSpc>
                <a:spcPct val="100000"/>
              </a:lnSpc>
              <a:buFont typeface="Symbol"/>
              <a:buChar char=""/>
              <a:tabLst>
                <a:tab pos="470534" algn="l"/>
              </a:tabLst>
            </a:pPr>
            <a:r>
              <a:rPr dirty="0" sz="1100" spc="-5">
                <a:latin typeface="Arial"/>
                <a:cs typeface="Arial"/>
              </a:rPr>
              <a:t>Linear-stages, albeit in a limited</a:t>
            </a:r>
            <a:r>
              <a:rPr dirty="0" sz="1100" spc="10">
                <a:latin typeface="Arial"/>
                <a:cs typeface="Arial"/>
              </a:rPr>
              <a:t> </a:t>
            </a:r>
            <a:r>
              <a:rPr dirty="0" sz="1100" spc="-5">
                <a:latin typeface="Arial"/>
                <a:cs typeface="Arial"/>
              </a:rPr>
              <a:t>way.</a:t>
            </a:r>
            <a:endParaRPr sz="1100">
              <a:latin typeface="Arial"/>
              <a:cs typeface="Arial"/>
            </a:endParaRPr>
          </a:p>
          <a:p>
            <a:pPr algn="just" marL="469900" marR="6350" indent="-228600">
              <a:lnSpc>
                <a:spcPts val="1260"/>
              </a:lnSpc>
              <a:spcBef>
                <a:spcPts val="110"/>
              </a:spcBef>
              <a:buFont typeface="Symbol"/>
              <a:buChar char=""/>
              <a:tabLst>
                <a:tab pos="470534" algn="l"/>
              </a:tabLst>
            </a:pPr>
            <a:r>
              <a:rPr dirty="0" sz="1100" spc="-5">
                <a:latin typeface="Arial"/>
                <a:cs typeface="Arial"/>
              </a:rPr>
              <a:t>In recent years, its share of investment in national income has been among the highest  in the</a:t>
            </a:r>
            <a:r>
              <a:rPr dirty="0" sz="1100">
                <a:latin typeface="Arial"/>
                <a:cs typeface="Arial"/>
              </a:rPr>
              <a:t> </a:t>
            </a:r>
            <a:r>
              <a:rPr dirty="0" sz="1100" spc="-5">
                <a:latin typeface="Arial"/>
                <a:cs typeface="Arial"/>
              </a:rPr>
              <a:t>world.</a:t>
            </a:r>
            <a:endParaRPr sz="1100">
              <a:latin typeface="Arial"/>
              <a:cs typeface="Arial"/>
            </a:endParaRPr>
          </a:p>
          <a:p>
            <a:pPr algn="just" marL="469900" marR="5080" indent="-228600">
              <a:lnSpc>
                <a:spcPct val="95700"/>
              </a:lnSpc>
              <a:spcBef>
                <a:spcPts val="50"/>
              </a:spcBef>
              <a:buFont typeface="Symbol"/>
              <a:buChar char=""/>
              <a:tabLst>
                <a:tab pos="470534" algn="l"/>
              </a:tabLst>
            </a:pPr>
            <a:r>
              <a:rPr dirty="0" sz="1100" spc="-5">
                <a:latin typeface="Arial"/>
                <a:cs typeface="Arial"/>
              </a:rPr>
              <a:t>Investment rate which is 15%, was still below takeoff levels in 1965. Yet, it rose  dramatically to 37% of GNI </a:t>
            </a:r>
            <a:r>
              <a:rPr dirty="0" sz="1100">
                <a:latin typeface="Arial"/>
                <a:cs typeface="Arial"/>
              </a:rPr>
              <a:t>by 1990 </a:t>
            </a:r>
            <a:r>
              <a:rPr dirty="0" sz="1100" spc="-5">
                <a:latin typeface="Arial"/>
                <a:cs typeface="Arial"/>
              </a:rPr>
              <a:t>and remained close to 40% in the 2000–2007  period.</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STRUCTURAL </a:t>
            </a:r>
            <a:r>
              <a:rPr dirty="0" sz="1100" spc="-10" b="1">
                <a:latin typeface="Arial"/>
                <a:cs typeface="Arial"/>
              </a:rPr>
              <a:t>PATTERNS</a:t>
            </a:r>
            <a:endParaRPr sz="1100">
              <a:latin typeface="Arial"/>
              <a:cs typeface="Arial"/>
            </a:endParaRPr>
          </a:p>
          <a:p>
            <a:pPr>
              <a:lnSpc>
                <a:spcPct val="100000"/>
              </a:lnSpc>
              <a:spcBef>
                <a:spcPts val="25"/>
              </a:spcBef>
            </a:pPr>
            <a:endParaRPr sz="1200">
              <a:latin typeface="Arial"/>
              <a:cs typeface="Arial"/>
            </a:endParaRPr>
          </a:p>
          <a:p>
            <a:pPr marL="12700" marR="5080">
              <a:lnSpc>
                <a:spcPts val="1270"/>
              </a:lnSpc>
            </a:pPr>
            <a:r>
              <a:rPr dirty="0" sz="1100" spc="-5">
                <a:latin typeface="Arial"/>
                <a:cs typeface="Arial"/>
              </a:rPr>
              <a:t>South Korea also confirms some patterns-of-development structural-change models. South  Korea’s per capita income grew </a:t>
            </a:r>
            <a:r>
              <a:rPr dirty="0" sz="1100">
                <a:latin typeface="Arial"/>
                <a:cs typeface="Arial"/>
              </a:rPr>
              <a:t>by </a:t>
            </a:r>
            <a:r>
              <a:rPr dirty="0" sz="1100" spc="-5">
                <a:latin typeface="Arial"/>
                <a:cs typeface="Arial"/>
              </a:rPr>
              <a:t>more than 7% annually for the whole 1965–1990</a:t>
            </a:r>
            <a:r>
              <a:rPr dirty="0" sz="1100" spc="155">
                <a:latin typeface="Arial"/>
                <a:cs typeface="Arial"/>
              </a:rPr>
              <a:t> </a:t>
            </a:r>
            <a:r>
              <a:rPr dirty="0" sz="1100" spc="-5">
                <a:latin typeface="Arial"/>
                <a:cs typeface="Arial"/>
              </a:rPr>
              <a:t>period.</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DEPENDENCE REVOLUTION</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132</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810" cy="6706870"/>
          </a:xfrm>
          <a:prstGeom prst="rect">
            <a:avLst/>
          </a:prstGeom>
        </p:spPr>
        <p:txBody>
          <a:bodyPr wrap="square" lIns="0" tIns="22860" rIns="0" bIns="0" rtlCol="0" vert="horz">
            <a:spAutoFit/>
          </a:bodyPr>
          <a:lstStyle/>
          <a:p>
            <a:pPr algn="just" marL="12700" marR="8890">
              <a:lnSpc>
                <a:spcPts val="1270"/>
              </a:lnSpc>
              <a:spcBef>
                <a:spcPts val="180"/>
              </a:spcBef>
            </a:pPr>
            <a:r>
              <a:rPr dirty="0" sz="1100" spc="-5">
                <a:latin typeface="Arial"/>
                <a:cs typeface="Arial"/>
              </a:rPr>
              <a:t>It was strongly dependent in international relations—it was a Japanese colony until 1945 and  thereafter wholly dependent on maintaining the goodwill of the United States for defense against  invasion by North</a:t>
            </a:r>
            <a:r>
              <a:rPr dirty="0" sz="1100" spc="5">
                <a:latin typeface="Arial"/>
                <a:cs typeface="Arial"/>
              </a:rPr>
              <a:t> </a:t>
            </a:r>
            <a:r>
              <a:rPr dirty="0" sz="1100" spc="-5">
                <a:latin typeface="Arial"/>
                <a:cs typeface="Arial"/>
              </a:rPr>
              <a:t>Korea.</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NEOCLASSICAL COUNTERREVOLUTION</a:t>
            </a:r>
            <a:endParaRPr sz="1100">
              <a:latin typeface="Arial"/>
              <a:cs typeface="Arial"/>
            </a:endParaRPr>
          </a:p>
          <a:p>
            <a:pPr>
              <a:lnSpc>
                <a:spcPct val="100000"/>
              </a:lnSpc>
              <a:spcBef>
                <a:spcPts val="25"/>
              </a:spcBef>
            </a:pPr>
            <a:endParaRPr sz="1200">
              <a:latin typeface="Arial"/>
              <a:cs typeface="Arial"/>
            </a:endParaRPr>
          </a:p>
          <a:p>
            <a:pPr algn="just" marL="12700" marR="8255">
              <a:lnSpc>
                <a:spcPts val="1270"/>
              </a:lnSpc>
            </a:pPr>
            <a:r>
              <a:rPr dirty="0" sz="1100" spc="-5">
                <a:latin typeface="Arial"/>
                <a:cs typeface="Arial"/>
              </a:rPr>
              <a:t>South Korea likewise poses a strong challenge to the neoclassical counterrevolution models.  The nation was highly interventionist at home and in international trade, with the government  making extensive use of development planning, </a:t>
            </a:r>
            <a:r>
              <a:rPr dirty="0" sz="1100">
                <a:latin typeface="Arial"/>
                <a:cs typeface="Arial"/>
              </a:rPr>
              <a:t>using </a:t>
            </a:r>
            <a:r>
              <a:rPr dirty="0" sz="1100" spc="-5">
                <a:latin typeface="Arial"/>
                <a:cs typeface="Arial"/>
              </a:rPr>
              <a:t>a wide range of tax breaks and incentives  to induce firms to follow government directives and</a:t>
            </a:r>
            <a:r>
              <a:rPr dirty="0" sz="1100" spc="55">
                <a:latin typeface="Arial"/>
                <a:cs typeface="Arial"/>
              </a:rPr>
              <a:t> </a:t>
            </a:r>
            <a:r>
              <a:rPr dirty="0" sz="1100" spc="-5">
                <a:latin typeface="Arial"/>
                <a:cs typeface="Arial"/>
              </a:rPr>
              <a:t>interventions.</a:t>
            </a:r>
            <a:endParaRPr sz="1100">
              <a:latin typeface="Arial"/>
              <a:cs typeface="Arial"/>
            </a:endParaRPr>
          </a:p>
          <a:p>
            <a:pPr>
              <a:lnSpc>
                <a:spcPct val="100000"/>
              </a:lnSpc>
              <a:spcBef>
                <a:spcPts val="15"/>
              </a:spcBef>
            </a:pPr>
            <a:endParaRPr sz="1000">
              <a:latin typeface="Arial"/>
              <a:cs typeface="Arial"/>
            </a:endParaRPr>
          </a:p>
          <a:p>
            <a:pPr marL="12700">
              <a:lnSpc>
                <a:spcPct val="100000"/>
              </a:lnSpc>
            </a:pPr>
            <a:r>
              <a:rPr dirty="0" sz="1100" spc="-5" b="1">
                <a:latin typeface="Arial"/>
                <a:cs typeface="Arial"/>
              </a:rPr>
              <a:t>ARGENTINA</a:t>
            </a:r>
            <a:endParaRPr sz="1100">
              <a:latin typeface="Arial"/>
              <a:cs typeface="Arial"/>
            </a:endParaRPr>
          </a:p>
          <a:p>
            <a:pPr>
              <a:lnSpc>
                <a:spcPct val="100000"/>
              </a:lnSpc>
              <a:spcBef>
                <a:spcPts val="5"/>
              </a:spcBef>
            </a:pPr>
            <a:endParaRPr sz="1150">
              <a:latin typeface="Arial"/>
              <a:cs typeface="Arial"/>
            </a:endParaRPr>
          </a:p>
          <a:p>
            <a:pPr marL="12700">
              <a:lnSpc>
                <a:spcPct val="100000"/>
              </a:lnSpc>
            </a:pPr>
            <a:r>
              <a:rPr dirty="0" sz="1100" spc="-5" b="1">
                <a:latin typeface="Arial"/>
                <a:cs typeface="Arial"/>
              </a:rPr>
              <a:t>STAGES OF</a:t>
            </a:r>
            <a:r>
              <a:rPr dirty="0" sz="1100" b="1">
                <a:latin typeface="Arial"/>
                <a:cs typeface="Arial"/>
              </a:rPr>
              <a:t> </a:t>
            </a:r>
            <a:r>
              <a:rPr dirty="0" sz="1100" spc="-5" b="1">
                <a:latin typeface="Arial"/>
                <a:cs typeface="Arial"/>
              </a:rPr>
              <a:t>GROWTH</a:t>
            </a:r>
            <a:endParaRPr sz="1100">
              <a:latin typeface="Arial"/>
              <a:cs typeface="Arial"/>
            </a:endParaRPr>
          </a:p>
          <a:p>
            <a:pPr>
              <a:lnSpc>
                <a:spcPct val="100000"/>
              </a:lnSpc>
              <a:spcBef>
                <a:spcPts val="50"/>
              </a:spcBef>
            </a:pPr>
            <a:endParaRPr sz="1150">
              <a:latin typeface="Arial"/>
              <a:cs typeface="Arial"/>
            </a:endParaRPr>
          </a:p>
          <a:p>
            <a:pPr algn="just" marL="12700" marR="6985">
              <a:lnSpc>
                <a:spcPct val="95800"/>
              </a:lnSpc>
            </a:pPr>
            <a:r>
              <a:rPr dirty="0" sz="1100" spc="-5">
                <a:latin typeface="Arial"/>
                <a:cs typeface="Arial"/>
              </a:rPr>
              <a:t>Takeoff “in some sense” began in the First World War, but “in the mid 1930s. A sustained take-  off was inaugurated, which by and large can now [1960] be judged to have </a:t>
            </a:r>
            <a:r>
              <a:rPr dirty="0" sz="1100">
                <a:latin typeface="Arial"/>
                <a:cs typeface="Arial"/>
              </a:rPr>
              <a:t>been </a:t>
            </a:r>
            <a:r>
              <a:rPr dirty="0" sz="1100" spc="-5">
                <a:latin typeface="Arial"/>
                <a:cs typeface="Arial"/>
              </a:rPr>
              <a:t>successful.  According to World Bank data, Argentina had a negative growth rate throughout the 1965–1990  period, and in the 1980s, domestic investment shrank at a -8.3% rate, falling back well below  Rostow’s threshold takeoff investment</a:t>
            </a:r>
            <a:r>
              <a:rPr dirty="0" sz="1100" spc="15">
                <a:latin typeface="Arial"/>
                <a:cs typeface="Arial"/>
              </a:rPr>
              <a:t> </a:t>
            </a:r>
            <a:r>
              <a:rPr dirty="0" sz="1100" spc="-5">
                <a:latin typeface="Arial"/>
                <a:cs typeface="Arial"/>
              </a:rPr>
              <a:t>levels.</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STRUCTURAL </a:t>
            </a:r>
            <a:r>
              <a:rPr dirty="0" sz="1100" spc="-10" b="1">
                <a:latin typeface="Arial"/>
                <a:cs typeface="Arial"/>
              </a:rPr>
              <a:t>PATTERNS</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Argentina did exhibit many of </a:t>
            </a:r>
            <a:r>
              <a:rPr dirty="0" sz="1100">
                <a:latin typeface="Arial"/>
                <a:cs typeface="Arial"/>
              </a:rPr>
              <a:t>the </a:t>
            </a:r>
            <a:r>
              <a:rPr dirty="0" sz="1100" spc="-5">
                <a:latin typeface="Arial"/>
                <a:cs typeface="Arial"/>
              </a:rPr>
              <a:t>usual structural patterns of development as agricultural  productivity rose, industrial employment grew (albeit slowly), urbanization took place, fertility fell,  and so</a:t>
            </a:r>
            <a:r>
              <a:rPr dirty="0" sz="1100">
                <a:latin typeface="Arial"/>
                <a:cs typeface="Arial"/>
              </a:rPr>
              <a:t> </a:t>
            </a:r>
            <a:r>
              <a:rPr dirty="0" sz="1100" spc="-5">
                <a:latin typeface="Arial"/>
                <a:cs typeface="Arial"/>
              </a:rPr>
              <a:t>on.</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DEPENDENCE REVOLUTION</a:t>
            </a:r>
            <a:endParaRPr sz="1100">
              <a:latin typeface="Arial"/>
              <a:cs typeface="Arial"/>
            </a:endParaRPr>
          </a:p>
          <a:p>
            <a:pPr>
              <a:lnSpc>
                <a:spcPct val="100000"/>
              </a:lnSpc>
              <a:spcBef>
                <a:spcPts val="20"/>
              </a:spcBef>
            </a:pPr>
            <a:endParaRPr sz="1200">
              <a:latin typeface="Arial"/>
              <a:cs typeface="Arial"/>
            </a:endParaRPr>
          </a:p>
          <a:p>
            <a:pPr algn="just" marL="12700" marR="7620">
              <a:lnSpc>
                <a:spcPts val="1270"/>
              </a:lnSpc>
            </a:pPr>
            <a:r>
              <a:rPr dirty="0" sz="1100" spc="-5">
                <a:latin typeface="Arial"/>
                <a:cs typeface="Arial"/>
              </a:rPr>
              <a:t>In contrast to South Korea, the case of Argentina offers some vindication for dependence  theories in that the country relied to a large extent on exporting primary goods, and the real  prices of these goods fell compared to imports. Multinational corporations played a large role,  and Argentina was unable to create its own </a:t>
            </a:r>
            <a:r>
              <a:rPr dirty="0" sz="1100">
                <a:latin typeface="Arial"/>
                <a:cs typeface="Arial"/>
              </a:rPr>
              <a:t>viable </a:t>
            </a:r>
            <a:r>
              <a:rPr dirty="0" sz="1100" spc="-5">
                <a:latin typeface="Arial"/>
                <a:cs typeface="Arial"/>
              </a:rPr>
              <a:t>manufacturing export industries, ultimately  having to submit to stringent structural-adjustment programs, sell state industries to foreign  companies, and other</a:t>
            </a:r>
            <a:r>
              <a:rPr dirty="0" sz="1100" spc="5">
                <a:latin typeface="Arial"/>
                <a:cs typeface="Arial"/>
              </a:rPr>
              <a:t> </a:t>
            </a:r>
            <a:r>
              <a:rPr dirty="0" sz="1100" spc="-5">
                <a:latin typeface="Arial"/>
                <a:cs typeface="Arial"/>
              </a:rPr>
              <a:t>constraints.</a:t>
            </a:r>
            <a:endParaRPr sz="1100">
              <a:latin typeface="Arial"/>
              <a:cs typeface="Arial"/>
            </a:endParaRPr>
          </a:p>
          <a:p>
            <a:pPr>
              <a:lnSpc>
                <a:spcPct val="100000"/>
              </a:lnSpc>
              <a:spcBef>
                <a:spcPts val="10"/>
              </a:spcBef>
            </a:pPr>
            <a:endParaRPr sz="1000">
              <a:latin typeface="Arial"/>
              <a:cs typeface="Arial"/>
            </a:endParaRPr>
          </a:p>
          <a:p>
            <a:pPr marL="12700">
              <a:lnSpc>
                <a:spcPct val="100000"/>
              </a:lnSpc>
            </a:pPr>
            <a:r>
              <a:rPr dirty="0" sz="1100" spc="-5" b="1">
                <a:latin typeface="Arial"/>
                <a:cs typeface="Arial"/>
              </a:rPr>
              <a:t>NEOCLASSICAL COUNTERREVOLUTION</a:t>
            </a:r>
            <a:endParaRPr sz="1100">
              <a:latin typeface="Arial"/>
              <a:cs typeface="Arial"/>
            </a:endParaRPr>
          </a:p>
          <a:p>
            <a:pPr>
              <a:lnSpc>
                <a:spcPct val="100000"/>
              </a:lnSpc>
              <a:spcBef>
                <a:spcPts val="20"/>
              </a:spcBef>
            </a:pPr>
            <a:endParaRPr sz="1200">
              <a:latin typeface="Arial"/>
              <a:cs typeface="Arial"/>
            </a:endParaRPr>
          </a:p>
          <a:p>
            <a:pPr algn="just" marL="12700" marR="8255">
              <a:lnSpc>
                <a:spcPts val="1270"/>
              </a:lnSpc>
              <a:spcBef>
                <a:spcPts val="5"/>
              </a:spcBef>
            </a:pPr>
            <a:r>
              <a:rPr dirty="0" sz="1100" spc="-5">
                <a:latin typeface="Arial"/>
                <a:cs typeface="Arial"/>
              </a:rPr>
              <a:t>But Argentina also offers some vindication for neoclassical counterrevolution theory in that faulty  interventionist restrictions, inefficient state enterprise, bias against production for exports, and  unnecessary red tape ended up hurting industry and</a:t>
            </a:r>
            <a:r>
              <a:rPr dirty="0" sz="1100" spc="40">
                <a:latin typeface="Arial"/>
                <a:cs typeface="Arial"/>
              </a:rPr>
              <a:t> </a:t>
            </a:r>
            <a:r>
              <a:rPr dirty="0" sz="1100" spc="-5">
                <a:latin typeface="Arial"/>
                <a:cs typeface="Arial"/>
              </a:rPr>
              <a:t>entrepreneurship.</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133</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67080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20</a:t>
            </a:r>
            <a:endParaRPr sz="1100">
              <a:latin typeface="Arial"/>
              <a:cs typeface="Arial"/>
            </a:endParaRPr>
          </a:p>
          <a:p>
            <a:pPr marL="12700" marR="421005" indent="414020">
              <a:lnSpc>
                <a:spcPct val="191400"/>
              </a:lnSpc>
              <a:spcBef>
                <a:spcPts val="125"/>
              </a:spcBef>
            </a:pPr>
            <a:r>
              <a:rPr dirty="0" sz="1100" spc="-5" b="1">
                <a:latin typeface="Arial"/>
                <a:cs typeface="Arial"/>
              </a:rPr>
              <a:t>CONTEMPORARY </a:t>
            </a:r>
            <a:r>
              <a:rPr dirty="0" sz="1100" spc="-10" b="1">
                <a:latin typeface="Arial"/>
                <a:cs typeface="Arial"/>
              </a:rPr>
              <a:t>MODELS </a:t>
            </a:r>
            <a:r>
              <a:rPr dirty="0" sz="1100" spc="-5" b="1">
                <a:latin typeface="Arial"/>
                <a:cs typeface="Arial"/>
              </a:rPr>
              <a:t>OF DEVELOPMENT AND UNDERDEVELOPMENT  ECONOMIC AGENT</a:t>
            </a:r>
            <a:endParaRPr sz="1100">
              <a:latin typeface="Arial"/>
              <a:cs typeface="Arial"/>
            </a:endParaRPr>
          </a:p>
          <a:p>
            <a:pPr>
              <a:lnSpc>
                <a:spcPct val="100000"/>
              </a:lnSpc>
              <a:spcBef>
                <a:spcPts val="25"/>
              </a:spcBef>
            </a:pPr>
            <a:endParaRPr sz="1200">
              <a:latin typeface="Arial"/>
              <a:cs typeface="Arial"/>
            </a:endParaRPr>
          </a:p>
          <a:p>
            <a:pPr algn="just" marL="12700" marR="7620">
              <a:lnSpc>
                <a:spcPts val="1270"/>
              </a:lnSpc>
            </a:pPr>
            <a:r>
              <a:rPr dirty="0" sz="1100" spc="-5">
                <a:latin typeface="Arial"/>
                <a:cs typeface="Arial"/>
              </a:rPr>
              <a:t>An economic actor—usually a firm, worker, consumer or government official—that chooses  actions so as to maximize an objective. Underdevelopment </a:t>
            </a:r>
            <a:r>
              <a:rPr dirty="0" sz="1100">
                <a:latin typeface="Arial"/>
                <a:cs typeface="Arial"/>
              </a:rPr>
              <a:t>as </a:t>
            </a:r>
            <a:r>
              <a:rPr dirty="0" sz="1100" spc="-5">
                <a:latin typeface="Arial"/>
                <a:cs typeface="Arial"/>
              </a:rPr>
              <a:t>a Coordination</a:t>
            </a:r>
            <a:r>
              <a:rPr dirty="0" sz="1100" spc="110">
                <a:latin typeface="Arial"/>
                <a:cs typeface="Arial"/>
              </a:rPr>
              <a:t> </a:t>
            </a:r>
            <a:r>
              <a:rPr dirty="0" sz="1100" spc="-5">
                <a:latin typeface="Arial"/>
                <a:cs typeface="Arial"/>
              </a:rPr>
              <a:t>Failure.</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COMPLEMENTARITY</a:t>
            </a:r>
            <a:endParaRPr sz="1100">
              <a:latin typeface="Arial"/>
              <a:cs typeface="Arial"/>
            </a:endParaRPr>
          </a:p>
          <a:p>
            <a:pPr>
              <a:lnSpc>
                <a:spcPct val="100000"/>
              </a:lnSpc>
              <a:spcBef>
                <a:spcPts val="20"/>
              </a:spcBef>
            </a:pPr>
            <a:endParaRPr sz="1200">
              <a:latin typeface="Arial"/>
              <a:cs typeface="Arial"/>
            </a:endParaRPr>
          </a:p>
          <a:p>
            <a:pPr algn="just" marL="12700" marR="6985">
              <a:lnSpc>
                <a:spcPts val="1270"/>
              </a:lnSpc>
            </a:pPr>
            <a:r>
              <a:rPr dirty="0" sz="1100" spc="-5">
                <a:latin typeface="Arial"/>
                <a:cs typeface="Arial"/>
              </a:rPr>
              <a:t>An action taken by one firm, worker, or organization that increases the incentives for other  agents to take similar actions. Complementarities often involve investments whose return  depends on other investments being made by </a:t>
            </a:r>
            <a:r>
              <a:rPr dirty="0" sz="1100">
                <a:latin typeface="Arial"/>
                <a:cs typeface="Arial"/>
              </a:rPr>
              <a:t>other</a:t>
            </a:r>
            <a:r>
              <a:rPr dirty="0" sz="1100" spc="35">
                <a:latin typeface="Arial"/>
                <a:cs typeface="Arial"/>
              </a:rPr>
              <a:t> </a:t>
            </a:r>
            <a:r>
              <a:rPr dirty="0" sz="1100" spc="-5">
                <a:latin typeface="Arial"/>
                <a:cs typeface="Arial"/>
              </a:rPr>
              <a:t>agents.</a:t>
            </a:r>
            <a:endParaRPr sz="1100">
              <a:latin typeface="Arial"/>
              <a:cs typeface="Arial"/>
            </a:endParaRPr>
          </a:p>
          <a:p>
            <a:pPr>
              <a:lnSpc>
                <a:spcPct val="100000"/>
              </a:lnSpc>
              <a:spcBef>
                <a:spcPts val="15"/>
              </a:spcBef>
            </a:pPr>
            <a:endParaRPr sz="1050">
              <a:latin typeface="Arial"/>
              <a:cs typeface="Arial"/>
            </a:endParaRPr>
          </a:p>
          <a:p>
            <a:pPr algn="just" marL="12700" marR="5715">
              <a:lnSpc>
                <a:spcPct val="95800"/>
              </a:lnSpc>
            </a:pPr>
            <a:r>
              <a:rPr dirty="0" sz="1100" spc="-5">
                <a:latin typeface="Arial"/>
                <a:cs typeface="Arial"/>
              </a:rPr>
              <a:t>When complementarities are present, an action taken by one firm, worker, organization, or  government increases the incentives for other agents to take similar actions. In particular, these  complementarities often involve investments whose return depends on other investments being  made by </a:t>
            </a:r>
            <a:r>
              <a:rPr dirty="0" sz="1100">
                <a:latin typeface="Arial"/>
                <a:cs typeface="Arial"/>
              </a:rPr>
              <a:t>other</a:t>
            </a:r>
            <a:r>
              <a:rPr dirty="0" sz="1100" spc="5">
                <a:latin typeface="Arial"/>
                <a:cs typeface="Arial"/>
              </a:rPr>
              <a:t> </a:t>
            </a:r>
            <a:r>
              <a:rPr dirty="0" sz="1100" spc="-5">
                <a:latin typeface="Arial"/>
                <a:cs typeface="Arial"/>
              </a:rPr>
              <a:t>agents.</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BIG</a:t>
            </a:r>
            <a:r>
              <a:rPr dirty="0" sz="1100" spc="-10" b="1">
                <a:latin typeface="Arial"/>
                <a:cs typeface="Arial"/>
              </a:rPr>
              <a:t> </a:t>
            </a:r>
            <a:r>
              <a:rPr dirty="0" sz="1100" spc="-5" b="1">
                <a:latin typeface="Arial"/>
                <a:cs typeface="Arial"/>
              </a:rPr>
              <a:t>PUSH</a:t>
            </a:r>
            <a:endParaRPr sz="1100">
              <a:latin typeface="Arial"/>
              <a:cs typeface="Arial"/>
            </a:endParaRPr>
          </a:p>
          <a:p>
            <a:pPr>
              <a:lnSpc>
                <a:spcPct val="100000"/>
              </a:lnSpc>
              <a:spcBef>
                <a:spcPts val="30"/>
              </a:spcBef>
            </a:pPr>
            <a:endParaRPr sz="1200">
              <a:latin typeface="Arial"/>
              <a:cs typeface="Arial"/>
            </a:endParaRPr>
          </a:p>
          <a:p>
            <a:pPr algn="just" marL="12700" marR="6985">
              <a:lnSpc>
                <a:spcPts val="1260"/>
              </a:lnSpc>
            </a:pPr>
            <a:r>
              <a:rPr dirty="0" sz="1100" spc="-5">
                <a:latin typeface="Arial"/>
                <a:cs typeface="Arial"/>
              </a:rPr>
              <a:t>A concerted, economy wide and typically public policy–led effort to initiate or accelerate  economic development across a broad spectrum of new industries and</a:t>
            </a:r>
            <a:r>
              <a:rPr dirty="0" sz="1100" spc="80">
                <a:latin typeface="Arial"/>
                <a:cs typeface="Arial"/>
              </a:rPr>
              <a:t> </a:t>
            </a:r>
            <a:r>
              <a:rPr dirty="0" sz="1100" spc="-5">
                <a:latin typeface="Arial"/>
                <a:cs typeface="Arial"/>
              </a:rPr>
              <a:t>skills.</a:t>
            </a:r>
            <a:endParaRPr sz="1100">
              <a:latin typeface="Arial"/>
              <a:cs typeface="Arial"/>
            </a:endParaRPr>
          </a:p>
          <a:p>
            <a:pPr>
              <a:lnSpc>
                <a:spcPct val="100000"/>
              </a:lnSpc>
              <a:spcBef>
                <a:spcPts val="35"/>
              </a:spcBef>
            </a:pPr>
            <a:endParaRPr sz="1000">
              <a:latin typeface="Arial"/>
              <a:cs typeface="Arial"/>
            </a:endParaRPr>
          </a:p>
          <a:p>
            <a:pPr marL="12700">
              <a:lnSpc>
                <a:spcPct val="100000"/>
              </a:lnSpc>
            </a:pPr>
            <a:r>
              <a:rPr dirty="0" sz="1100" spc="-5" b="1">
                <a:latin typeface="Arial"/>
                <a:cs typeface="Arial"/>
              </a:rPr>
              <a:t>O-RING </a:t>
            </a:r>
            <a:r>
              <a:rPr dirty="0" sz="1100" spc="-10" b="1">
                <a:latin typeface="Arial"/>
                <a:cs typeface="Arial"/>
              </a:rPr>
              <a:t>MODEL</a:t>
            </a:r>
            <a:endParaRPr sz="1100">
              <a:latin typeface="Arial"/>
              <a:cs typeface="Arial"/>
            </a:endParaRPr>
          </a:p>
          <a:p>
            <a:pPr>
              <a:lnSpc>
                <a:spcPct val="100000"/>
              </a:lnSpc>
              <a:spcBef>
                <a:spcPts val="25"/>
              </a:spcBef>
            </a:pPr>
            <a:endParaRPr sz="1200">
              <a:latin typeface="Arial"/>
              <a:cs typeface="Arial"/>
            </a:endParaRPr>
          </a:p>
          <a:p>
            <a:pPr algn="just" marL="12700" marR="6350">
              <a:lnSpc>
                <a:spcPts val="1270"/>
              </a:lnSpc>
            </a:pPr>
            <a:r>
              <a:rPr dirty="0" sz="1100" spc="-5">
                <a:latin typeface="Arial"/>
                <a:cs typeface="Arial"/>
              </a:rPr>
              <a:t>An economic model in which production functions exhibit strong complementarities among  inputs and which has broader implications for impediments to achieving economic</a:t>
            </a:r>
            <a:r>
              <a:rPr dirty="0" sz="1100" spc="254">
                <a:latin typeface="Arial"/>
                <a:cs typeface="Arial"/>
              </a:rPr>
              <a:t> </a:t>
            </a:r>
            <a:r>
              <a:rPr dirty="0" sz="1100" spc="-5">
                <a:latin typeface="Arial"/>
                <a:cs typeface="Arial"/>
              </a:rPr>
              <a:t>development.</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COORDINATION FAILURE</a:t>
            </a:r>
            <a:endParaRPr sz="1100">
              <a:latin typeface="Arial"/>
              <a:cs typeface="Arial"/>
            </a:endParaRPr>
          </a:p>
          <a:p>
            <a:pPr>
              <a:lnSpc>
                <a:spcPct val="100000"/>
              </a:lnSpc>
              <a:spcBef>
                <a:spcPts val="25"/>
              </a:spcBef>
            </a:pPr>
            <a:endParaRPr sz="1200">
              <a:latin typeface="Arial"/>
              <a:cs typeface="Arial"/>
            </a:endParaRPr>
          </a:p>
          <a:p>
            <a:pPr algn="just" marL="12700" marR="6350">
              <a:lnSpc>
                <a:spcPts val="1270"/>
              </a:lnSpc>
            </a:pPr>
            <a:r>
              <a:rPr dirty="0" sz="1100" spc="-5">
                <a:latin typeface="Arial"/>
                <a:cs typeface="Arial"/>
              </a:rPr>
              <a:t>A state of affairs in which the inability of agents to coordinate their behavior (choices) leads to  an outcome (equilibrium) that leaves all agents worse off </a:t>
            </a:r>
            <a:r>
              <a:rPr dirty="0" sz="1100">
                <a:latin typeface="Arial"/>
                <a:cs typeface="Arial"/>
              </a:rPr>
              <a:t>than </a:t>
            </a:r>
            <a:r>
              <a:rPr dirty="0" sz="1100" spc="-5">
                <a:latin typeface="Arial"/>
                <a:cs typeface="Arial"/>
              </a:rPr>
              <a:t>in an alternative situation that is  also an</a:t>
            </a:r>
            <a:r>
              <a:rPr dirty="0" sz="1100">
                <a:latin typeface="Arial"/>
                <a:cs typeface="Arial"/>
              </a:rPr>
              <a:t> </a:t>
            </a:r>
            <a:r>
              <a:rPr dirty="0" sz="1100" spc="-5">
                <a:latin typeface="Arial"/>
                <a:cs typeface="Arial"/>
              </a:rPr>
              <a:t>equilibrium.</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900"/>
              </a:lnSpc>
            </a:pPr>
            <a:r>
              <a:rPr dirty="0" sz="1100" spc="-5">
                <a:latin typeface="Arial"/>
                <a:cs typeface="Arial"/>
              </a:rPr>
              <a:t>An important example of a complementarity is the presence of firms using specialized skills and  the availability of workers who have acquired those skills. Firms will not enter a market or locate  in an area if workers do not possess the skills the firms need, but workers will not acquire the  skills if there are no firms to employ them. This coordination problem can leave an economy  stuck in a bad equilibrium—that is, at a low average income or growth rate or with a class of  citizens trapped in extreme </a:t>
            </a:r>
            <a:r>
              <a:rPr dirty="0" sz="1100">
                <a:latin typeface="Arial"/>
                <a:cs typeface="Arial"/>
              </a:rPr>
              <a:t>poverty. </a:t>
            </a:r>
            <a:r>
              <a:rPr dirty="0" sz="1100" spc="-5">
                <a:latin typeface="Arial"/>
                <a:cs typeface="Arial"/>
              </a:rPr>
              <a:t>Even though all agents would be better off if workers  acquired skills and firms invested, it may not be possible to get to this better equilibrium without  the aid of government. As we will see, such coordination problems are also common in initial  industrialization, as well as in upgrading skills and technologies, and may extend </a:t>
            </a:r>
            <a:r>
              <a:rPr dirty="0" sz="1100">
                <a:latin typeface="Arial"/>
                <a:cs typeface="Arial"/>
              </a:rPr>
              <a:t>to </a:t>
            </a:r>
            <a:r>
              <a:rPr dirty="0" sz="1100" spc="-5">
                <a:latin typeface="Arial"/>
                <a:cs typeface="Arial"/>
              </a:rPr>
              <a:t>issues as  broad as changing behavior to modern “ways of doing things.” Such problems are further  compounded by other market failures, particularly those affecting capital</a:t>
            </a:r>
            <a:r>
              <a:rPr dirty="0" sz="1100" spc="85">
                <a:latin typeface="Arial"/>
                <a:cs typeface="Arial"/>
              </a:rPr>
              <a:t> </a:t>
            </a:r>
            <a:r>
              <a:rPr dirty="0" sz="1100" spc="-5">
                <a:latin typeface="Arial"/>
                <a:cs typeface="Arial"/>
              </a:rPr>
              <a:t>markets.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134</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3336"/>
            <a:ext cx="5970270" cy="768350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MIDDLE-INCOME </a:t>
            </a:r>
            <a:r>
              <a:rPr dirty="0" sz="1100" b="1">
                <a:latin typeface="Arial"/>
                <a:cs typeface="Arial"/>
              </a:rPr>
              <a:t>TRAP</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A condition in which an economy begins development to reach middle-income status but is  chronically unable to progress to high-income status. Often related to low capacity for original  innovation or for absorption of advanced technology, and may be compounded by high  inequality.</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UNDERDEVELOPMENT</a:t>
            </a:r>
            <a:r>
              <a:rPr dirty="0" sz="1100" spc="-10" b="1">
                <a:latin typeface="Arial"/>
                <a:cs typeface="Arial"/>
              </a:rPr>
              <a:t> TRAP</a:t>
            </a:r>
            <a:endParaRPr sz="1100">
              <a:latin typeface="Arial"/>
              <a:cs typeface="Arial"/>
            </a:endParaRPr>
          </a:p>
          <a:p>
            <a:pPr>
              <a:lnSpc>
                <a:spcPct val="100000"/>
              </a:lnSpc>
              <a:spcBef>
                <a:spcPts val="15"/>
              </a:spcBef>
            </a:pPr>
            <a:endParaRPr sz="1200">
              <a:latin typeface="Arial"/>
              <a:cs typeface="Arial"/>
            </a:endParaRPr>
          </a:p>
          <a:p>
            <a:pPr algn="just" marL="12700" marR="6350">
              <a:lnSpc>
                <a:spcPts val="1270"/>
              </a:lnSpc>
              <a:spcBef>
                <a:spcPts val="5"/>
              </a:spcBef>
            </a:pPr>
            <a:r>
              <a:rPr dirty="0" sz="1100" spc="-5">
                <a:latin typeface="Arial"/>
                <a:cs typeface="Arial"/>
              </a:rPr>
              <a:t>A poverty trap at the regional or national level in which underdevelopment tends to perpetuate  itself over</a:t>
            </a:r>
            <a:r>
              <a:rPr dirty="0" sz="1100">
                <a:latin typeface="Arial"/>
                <a:cs typeface="Arial"/>
              </a:rPr>
              <a:t> </a:t>
            </a:r>
            <a:r>
              <a:rPr dirty="0" sz="1100" spc="-5">
                <a:latin typeface="Arial"/>
                <a:cs typeface="Arial"/>
              </a:rPr>
              <a:t>time.</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DEEP </a:t>
            </a:r>
            <a:r>
              <a:rPr dirty="0" sz="1100" b="1">
                <a:latin typeface="Arial"/>
                <a:cs typeface="Arial"/>
              </a:rPr>
              <a:t>INTERVENTION</a:t>
            </a:r>
            <a:endParaRPr sz="1100">
              <a:latin typeface="Arial"/>
              <a:cs typeface="Arial"/>
            </a:endParaRPr>
          </a:p>
          <a:p>
            <a:pPr>
              <a:lnSpc>
                <a:spcPct val="100000"/>
              </a:lnSpc>
              <a:spcBef>
                <a:spcPts val="50"/>
              </a:spcBef>
            </a:pPr>
            <a:endParaRPr sz="1150">
              <a:latin typeface="Arial"/>
              <a:cs typeface="Arial"/>
            </a:endParaRPr>
          </a:p>
          <a:p>
            <a:pPr algn="just" marL="12700" marR="6985">
              <a:lnSpc>
                <a:spcPct val="95700"/>
              </a:lnSpc>
              <a:spcBef>
                <a:spcPts val="5"/>
              </a:spcBef>
            </a:pPr>
            <a:r>
              <a:rPr dirty="0" sz="1100" spc="-5">
                <a:latin typeface="Arial"/>
                <a:cs typeface="Arial"/>
              </a:rPr>
              <a:t>A government policy that can </a:t>
            </a:r>
            <a:r>
              <a:rPr dirty="0" sz="1100">
                <a:latin typeface="Arial"/>
                <a:cs typeface="Arial"/>
              </a:rPr>
              <a:t>move </a:t>
            </a:r>
            <a:r>
              <a:rPr dirty="0" sz="1100" spc="-5">
                <a:latin typeface="Arial"/>
                <a:cs typeface="Arial"/>
              </a:rPr>
              <a:t>the economy to a preferred equilibrium or even to a higher  permanent rate of growth that can then be self-sustaining so that the policy need no longer be  enforced because the better equilibrium will then prevail without further</a:t>
            </a:r>
            <a:r>
              <a:rPr dirty="0" sz="1100" spc="105">
                <a:latin typeface="Arial"/>
                <a:cs typeface="Arial"/>
              </a:rPr>
              <a:t> </a:t>
            </a:r>
            <a:r>
              <a:rPr dirty="0" sz="1100" spc="-5">
                <a:latin typeface="Arial"/>
                <a:cs typeface="Arial"/>
              </a:rPr>
              <a:t>intervention.</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CONGESTION</a:t>
            </a:r>
            <a:endParaRPr sz="1100">
              <a:latin typeface="Arial"/>
              <a:cs typeface="Arial"/>
            </a:endParaRPr>
          </a:p>
          <a:p>
            <a:pPr>
              <a:lnSpc>
                <a:spcPct val="100000"/>
              </a:lnSpc>
              <a:spcBef>
                <a:spcPts val="20"/>
              </a:spcBef>
            </a:pPr>
            <a:endParaRPr sz="1200">
              <a:latin typeface="Arial"/>
              <a:cs typeface="Arial"/>
            </a:endParaRPr>
          </a:p>
          <a:p>
            <a:pPr algn="just" marL="12700" marR="7620">
              <a:lnSpc>
                <a:spcPts val="1270"/>
              </a:lnSpc>
              <a:spcBef>
                <a:spcPts val="5"/>
              </a:spcBef>
            </a:pPr>
            <a:r>
              <a:rPr dirty="0" sz="1100" spc="-5">
                <a:latin typeface="Arial"/>
                <a:cs typeface="Arial"/>
              </a:rPr>
              <a:t>The opposite of a complementarity; an action taken by one agent that decreases the incentives  for other agents to take similar</a:t>
            </a:r>
            <a:r>
              <a:rPr dirty="0" sz="1100" spc="20">
                <a:latin typeface="Arial"/>
                <a:cs typeface="Arial"/>
              </a:rPr>
              <a:t> </a:t>
            </a:r>
            <a:r>
              <a:rPr dirty="0" sz="1100" spc="-5">
                <a:latin typeface="Arial"/>
                <a:cs typeface="Arial"/>
              </a:rPr>
              <a:t>actions.</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WHERE-TO-MEET</a:t>
            </a:r>
            <a:r>
              <a:rPr dirty="0" sz="1100" b="1">
                <a:latin typeface="Arial"/>
                <a:cs typeface="Arial"/>
              </a:rPr>
              <a:t> </a:t>
            </a:r>
            <a:r>
              <a:rPr dirty="0" sz="1100" spc="-5" b="1">
                <a:latin typeface="Arial"/>
                <a:cs typeface="Arial"/>
              </a:rPr>
              <a:t>DILEMMA</a:t>
            </a:r>
            <a:endParaRPr sz="1100">
              <a:latin typeface="Arial"/>
              <a:cs typeface="Arial"/>
            </a:endParaRPr>
          </a:p>
          <a:p>
            <a:pPr>
              <a:lnSpc>
                <a:spcPct val="100000"/>
              </a:lnSpc>
              <a:spcBef>
                <a:spcPts val="25"/>
              </a:spcBef>
            </a:pPr>
            <a:endParaRPr sz="1200">
              <a:latin typeface="Arial"/>
              <a:cs typeface="Arial"/>
            </a:endParaRPr>
          </a:p>
          <a:p>
            <a:pPr algn="just" marL="12700" marR="6350">
              <a:lnSpc>
                <a:spcPts val="1270"/>
              </a:lnSpc>
            </a:pPr>
            <a:r>
              <a:rPr dirty="0" sz="1100" spc="-5">
                <a:latin typeface="Arial"/>
                <a:cs typeface="Arial"/>
              </a:rPr>
              <a:t>A situation in which all parties would be better off cooperating than competing but lack  information about how to do so. If cooperation can be achieved, there is no subsequent  incentive to defect or</a:t>
            </a:r>
            <a:r>
              <a:rPr dirty="0" sz="1100" spc="5">
                <a:latin typeface="Arial"/>
                <a:cs typeface="Arial"/>
              </a:rPr>
              <a:t> </a:t>
            </a:r>
            <a:r>
              <a:rPr dirty="0" sz="1100" spc="-5">
                <a:latin typeface="Arial"/>
                <a:cs typeface="Arial"/>
              </a:rPr>
              <a:t>cheat.</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PRISONERS’ DILEMMA</a:t>
            </a:r>
            <a:endParaRPr sz="1100">
              <a:latin typeface="Arial"/>
              <a:cs typeface="Arial"/>
            </a:endParaRPr>
          </a:p>
          <a:p>
            <a:pPr>
              <a:lnSpc>
                <a:spcPct val="100000"/>
              </a:lnSpc>
              <a:spcBef>
                <a:spcPts val="25"/>
              </a:spcBef>
            </a:pPr>
            <a:endParaRPr sz="1200">
              <a:latin typeface="Arial"/>
              <a:cs typeface="Arial"/>
            </a:endParaRPr>
          </a:p>
          <a:p>
            <a:pPr algn="just" marL="12700" marR="6985">
              <a:lnSpc>
                <a:spcPts val="1270"/>
              </a:lnSpc>
            </a:pPr>
            <a:r>
              <a:rPr dirty="0" sz="1100" spc="-5">
                <a:latin typeface="Arial"/>
                <a:cs typeface="Arial"/>
              </a:rPr>
              <a:t>A situation in which all parties would be better off cooperating than competing but once  cooperation has been achieved, each party would gain the most </a:t>
            </a:r>
            <a:r>
              <a:rPr dirty="0" sz="1100">
                <a:latin typeface="Arial"/>
                <a:cs typeface="Arial"/>
              </a:rPr>
              <a:t>by </a:t>
            </a:r>
            <a:r>
              <a:rPr dirty="0" sz="1100" spc="-5">
                <a:latin typeface="Arial"/>
                <a:cs typeface="Arial"/>
              </a:rPr>
              <a:t>cheating, provided that  others stick to cooperative agreements— thus causing any agreement to</a:t>
            </a:r>
            <a:r>
              <a:rPr dirty="0" sz="1100" spc="90">
                <a:latin typeface="Arial"/>
                <a:cs typeface="Arial"/>
              </a:rPr>
              <a:t> </a:t>
            </a:r>
            <a:r>
              <a:rPr dirty="0" sz="1100" spc="-5">
                <a:latin typeface="Arial"/>
                <a:cs typeface="Arial"/>
              </a:rPr>
              <a:t>unravel.</a:t>
            </a:r>
            <a:endParaRPr sz="1100">
              <a:latin typeface="Arial"/>
              <a:cs typeface="Arial"/>
            </a:endParaRPr>
          </a:p>
          <a:p>
            <a:pPr marL="12700" marR="2232660">
              <a:lnSpc>
                <a:spcPts val="2530"/>
              </a:lnSpc>
              <a:spcBef>
                <a:spcPts val="245"/>
              </a:spcBef>
            </a:pPr>
            <a:r>
              <a:rPr dirty="0" sz="1100" spc="-5" b="1">
                <a:latin typeface="Arial"/>
                <a:cs typeface="Arial"/>
              </a:rPr>
              <a:t>MULTIPLE EQUILIBRIA: A DIAGRAMMATIC APPROACH  MULTIPLE EQUILIBRIA</a:t>
            </a:r>
            <a:endParaRPr sz="1100">
              <a:latin typeface="Arial"/>
              <a:cs typeface="Arial"/>
            </a:endParaRPr>
          </a:p>
          <a:p>
            <a:pPr>
              <a:lnSpc>
                <a:spcPct val="100000"/>
              </a:lnSpc>
              <a:spcBef>
                <a:spcPts val="5"/>
              </a:spcBef>
            </a:pPr>
            <a:endParaRPr sz="950">
              <a:latin typeface="Arial"/>
              <a:cs typeface="Arial"/>
            </a:endParaRPr>
          </a:p>
          <a:p>
            <a:pPr algn="just" marL="12700" marR="5080">
              <a:lnSpc>
                <a:spcPct val="95700"/>
              </a:lnSpc>
            </a:pPr>
            <a:r>
              <a:rPr dirty="0" sz="1100" spc="-5" i="1">
                <a:latin typeface="Arial"/>
                <a:cs typeface="Arial"/>
              </a:rPr>
              <a:t>"A condition in which more than one equilibrium exist. These equilibria may sometimes be  </a:t>
            </a:r>
            <a:r>
              <a:rPr dirty="0" sz="1100" spc="-5" i="1">
                <a:latin typeface="Arial"/>
                <a:cs typeface="Arial"/>
              </a:rPr>
              <a:t>ranked, in the sense that one is preferred to another, but the unaided market will not move </a:t>
            </a:r>
            <a:r>
              <a:rPr dirty="0" sz="1100" i="1">
                <a:latin typeface="Arial"/>
                <a:cs typeface="Arial"/>
              </a:rPr>
              <a:t>the  </a:t>
            </a:r>
            <a:r>
              <a:rPr dirty="0" sz="1100" spc="-5" i="1">
                <a:latin typeface="Arial"/>
                <a:cs typeface="Arial"/>
              </a:rPr>
              <a:t>economy to the preferred</a:t>
            </a:r>
            <a:r>
              <a:rPr dirty="0" sz="1100" spc="15" i="1">
                <a:latin typeface="Arial"/>
                <a:cs typeface="Arial"/>
              </a:rPr>
              <a:t> </a:t>
            </a:r>
            <a:r>
              <a:rPr dirty="0" sz="1100" spc="-5" i="1">
                <a:latin typeface="Arial"/>
                <a:cs typeface="Arial"/>
              </a:rPr>
              <a:t>outcome."</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standard diagram to illustrate multiple equilibria with possible coordination failure is shown  in Figure 4.1. This diagram, in one version or another, has become almost as ubiquitous in  discussions of multiple equilibria as the famous supply-and-demand (“Marshallian scissors”)  diagram in discussions of single equilibrium</a:t>
            </a:r>
            <a:r>
              <a:rPr dirty="0" sz="1100" spc="30">
                <a:latin typeface="Arial"/>
                <a:cs typeface="Arial"/>
              </a:rPr>
              <a:t> </a:t>
            </a:r>
            <a:r>
              <a:rPr dirty="0" sz="1100" spc="-5">
                <a:latin typeface="Arial"/>
                <a:cs typeface="Arial"/>
              </a:rPr>
              <a:t>analysis.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135</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basic idea reflected in the S-shaped function of Figure 4.1 is that the benefits an agent  receives from taking an action depend positively on how many other agents are expected to  take the action or on </a:t>
            </a:r>
            <a:r>
              <a:rPr dirty="0" sz="1100">
                <a:latin typeface="Arial"/>
                <a:cs typeface="Arial"/>
              </a:rPr>
              <a:t>the </a:t>
            </a:r>
            <a:r>
              <a:rPr dirty="0" sz="1100" spc="-5">
                <a:latin typeface="Arial"/>
                <a:cs typeface="Arial"/>
              </a:rPr>
              <a:t>extent of those actions. For example, the price a farmer can hope to  receive for his produce depends on the number of middlemen who are active in the region,  which in turn depends on the number of other farmers who specialize in the same</a:t>
            </a:r>
            <a:r>
              <a:rPr dirty="0" sz="1100" spc="170">
                <a:latin typeface="Arial"/>
                <a:cs typeface="Arial"/>
              </a:rPr>
              <a:t> </a:t>
            </a:r>
            <a:r>
              <a:rPr dirty="0" sz="1100" spc="-5">
                <a:latin typeface="Arial"/>
                <a:cs typeface="Arial"/>
              </a:rPr>
              <a:t>product.</a:t>
            </a:r>
            <a:endParaRPr sz="1100">
              <a:latin typeface="Arial"/>
              <a:cs typeface="Arial"/>
            </a:endParaRPr>
          </a:p>
        </p:txBody>
      </p:sp>
      <p:sp>
        <p:nvSpPr>
          <p:cNvPr id="7" name="object 7"/>
          <p:cNvSpPr txBox="1"/>
          <p:nvPr/>
        </p:nvSpPr>
        <p:spPr>
          <a:xfrm>
            <a:off x="901700" y="6426196"/>
            <a:ext cx="5970270" cy="260223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How do we find the equilibria in this type of problem? In the Marshallian supply-and-demand  scissors diagram, equilibrium is found where the supply and demand curves cross. In the  multiple-equilibrium diagram, equilibrium is found where the “privately rational decision function”  (the S-shaped curve in Figure 4.1) crosses the 45-degree line. This is because in these cases,  agents observe what they expected to observe. Suppose that firms expected no other firms to  make investments, but some firms did anyway (implying a positive vertical intercept in the  diagram). But then, seeing that some firms did make investments, it would not be reasonable to  continue to expect no</a:t>
            </a:r>
            <a:r>
              <a:rPr dirty="0" sz="1100" spc="10">
                <a:latin typeface="Arial"/>
                <a:cs typeface="Arial"/>
              </a:rPr>
              <a:t> </a:t>
            </a:r>
            <a:r>
              <a:rPr dirty="0" sz="1100" spc="-5">
                <a:latin typeface="Arial"/>
                <a:cs typeface="Arial"/>
              </a:rPr>
              <a:t>investment!</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Firms would have to </a:t>
            </a:r>
            <a:r>
              <a:rPr dirty="0" sz="1100">
                <a:latin typeface="Arial"/>
                <a:cs typeface="Arial"/>
              </a:rPr>
              <a:t>revise </a:t>
            </a:r>
            <a:r>
              <a:rPr dirty="0" sz="1100" spc="-5">
                <a:latin typeface="Arial"/>
                <a:cs typeface="Arial"/>
              </a:rPr>
              <a:t>their expectations upward, matching their expectations to the level of  investment they actually see. But if firms now expect this higher level of investment, firms would  want to invest even more. This process of adjustment of expectations would continue until the  level of actual investment would just equal the level of expected investment: At </a:t>
            </a:r>
            <a:r>
              <a:rPr dirty="0" sz="1100">
                <a:latin typeface="Arial"/>
                <a:cs typeface="Arial"/>
              </a:rPr>
              <a:t>that </a:t>
            </a:r>
            <a:r>
              <a:rPr dirty="0" sz="1100" spc="-5">
                <a:latin typeface="Arial"/>
                <a:cs typeface="Arial"/>
              </a:rPr>
              <a:t>level, there  is no reason for firms to adjust their expectations any further. So the general idea of an  equilibrium in such cases is one in which all participants are doing </a:t>
            </a:r>
            <a:r>
              <a:rPr dirty="0" sz="1100">
                <a:latin typeface="Arial"/>
                <a:cs typeface="Arial"/>
              </a:rPr>
              <a:t>what </a:t>
            </a:r>
            <a:r>
              <a:rPr dirty="0" sz="1100" spc="-5">
                <a:latin typeface="Arial"/>
                <a:cs typeface="Arial"/>
              </a:rPr>
              <a:t>is best for them, given  what they expect others to do, which in turn matches what others are actually doing.</a:t>
            </a:r>
            <a:r>
              <a:rPr dirty="0" sz="1100" spc="-75">
                <a:latin typeface="Arial"/>
                <a:cs typeface="Arial"/>
              </a:rPr>
              <a:t> </a:t>
            </a:r>
            <a:r>
              <a:rPr dirty="0" sz="1100" spc="-5">
                <a:latin typeface="Arial"/>
                <a:cs typeface="Arial"/>
              </a:rPr>
              <a:t>This</a:t>
            </a:r>
            <a:endParaRPr sz="1100">
              <a:latin typeface="Arial"/>
              <a:cs typeface="Arial"/>
            </a:endParaRPr>
          </a:p>
        </p:txBody>
      </p:sp>
      <p:sp>
        <p:nvSpPr>
          <p:cNvPr id="8" name="object 8"/>
          <p:cNvSpPr/>
          <p:nvPr/>
        </p:nvSpPr>
        <p:spPr>
          <a:xfrm>
            <a:off x="1293875" y="1997201"/>
            <a:ext cx="5081778" cy="445160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136</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75843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happens when the function crosses the 45-degree line. At these points, the values on the x-axis  and y-axis are equal, implying in our example </a:t>
            </a:r>
            <a:r>
              <a:rPr dirty="0" sz="1100">
                <a:latin typeface="Arial"/>
                <a:cs typeface="Arial"/>
              </a:rPr>
              <a:t>that </a:t>
            </a:r>
            <a:r>
              <a:rPr dirty="0" sz="1100" spc="-5">
                <a:latin typeface="Arial"/>
                <a:cs typeface="Arial"/>
              </a:rPr>
              <a:t>the level of investment expected is equal to  the level that all agents find best (e.g., the profit-maximizing</a:t>
            </a:r>
            <a:r>
              <a:rPr dirty="0" sz="1100" spc="65">
                <a:latin typeface="Arial"/>
                <a:cs typeface="Arial"/>
              </a:rPr>
              <a:t> </a:t>
            </a:r>
            <a:r>
              <a:rPr dirty="0" sz="1100" spc="-5">
                <a:latin typeface="Arial"/>
                <a:cs typeface="Arial"/>
              </a:rPr>
              <a:t>level).</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a:latin typeface="Arial"/>
                <a:cs typeface="Arial"/>
              </a:rPr>
              <a:t>In the diagram, the function cuts the 45-degree line three times. Any of these points could be  equilibrium: That is what we mean </a:t>
            </a:r>
            <a:r>
              <a:rPr dirty="0" sz="1100">
                <a:latin typeface="Arial"/>
                <a:cs typeface="Arial"/>
              </a:rPr>
              <a:t>by </a:t>
            </a:r>
            <a:r>
              <a:rPr dirty="0" sz="1100" spc="-5">
                <a:latin typeface="Arial"/>
                <a:cs typeface="Arial"/>
              </a:rPr>
              <a:t>the possibility of multiple equilibria. Of the three, D1 and  D3 are “stable” equilibria. They are stable because if expectations were slightly changed to a  little above or below these levels, firms would adjust their behavior—increase or decrease their  investment levels—in a way to bring us back to the original equilibrium. Note that in each of  these two stable equilibria, the S-shaped function cuts the 45-degree line from above—a  hallmark of a stable equilibrium. At the middle equilibrium at D2, the function cuts the 45-degree  line from below, and so it is unstable. This is because in our example, if a little less investment  were expected, the equilibrium </a:t>
            </a:r>
            <a:r>
              <a:rPr dirty="0" sz="1100">
                <a:latin typeface="Arial"/>
                <a:cs typeface="Arial"/>
              </a:rPr>
              <a:t>would </a:t>
            </a:r>
            <a:r>
              <a:rPr dirty="0" sz="1100" spc="-5">
                <a:latin typeface="Arial"/>
                <a:cs typeface="Arial"/>
              </a:rPr>
              <a:t>be D1, </a:t>
            </a:r>
            <a:r>
              <a:rPr dirty="0" sz="1100">
                <a:latin typeface="Arial"/>
                <a:cs typeface="Arial"/>
              </a:rPr>
              <a:t>and </a:t>
            </a:r>
            <a:r>
              <a:rPr dirty="0" sz="1100" spc="-5">
                <a:latin typeface="Arial"/>
                <a:cs typeface="Arial"/>
              </a:rPr>
              <a:t>if a little more, the equilibrium would </a:t>
            </a:r>
            <a:r>
              <a:rPr dirty="0" sz="1100">
                <a:latin typeface="Arial"/>
                <a:cs typeface="Arial"/>
              </a:rPr>
              <a:t>move </a:t>
            </a:r>
            <a:r>
              <a:rPr dirty="0" sz="1100" spc="-5">
                <a:latin typeface="Arial"/>
                <a:cs typeface="Arial"/>
              </a:rPr>
              <a:t>to  D3. D2 could therefore be equilibrium only </a:t>
            </a:r>
            <a:r>
              <a:rPr dirty="0" sz="1100">
                <a:latin typeface="Arial"/>
                <a:cs typeface="Arial"/>
              </a:rPr>
              <a:t>by </a:t>
            </a:r>
            <a:r>
              <a:rPr dirty="0" sz="1100" spc="-5">
                <a:latin typeface="Arial"/>
                <a:cs typeface="Arial"/>
              </a:rPr>
              <a:t>chance. Thus in practice, we think of an unstable  equilibrium such as D2 as a way of dividing ranges of expectations over which a higher or lower  stable equilibrium will hold</a:t>
            </a:r>
            <a:r>
              <a:rPr dirty="0" sz="1100" spc="15">
                <a:latin typeface="Arial"/>
                <a:cs typeface="Arial"/>
              </a:rPr>
              <a:t> </a:t>
            </a:r>
            <a:r>
              <a:rPr dirty="0" sz="1100" spc="-5">
                <a:latin typeface="Arial"/>
                <a:cs typeface="Arial"/>
              </a:rPr>
              <a:t>sway.</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Typically, the S-shaped “privately rational decision function” first increases at an increasing rate  and then at a decreasing rate, as in the diagram. This shape reflects what is thought to be the  typical nature of complementarities. In general, some agents may take the complementary  action (such as investing) even if others in the economy do not, particularly when interactions  are expected to be with foreigners, such as through exporting to other countries. If only a </a:t>
            </a:r>
            <a:r>
              <a:rPr dirty="0" sz="1100">
                <a:latin typeface="Arial"/>
                <a:cs typeface="Arial"/>
              </a:rPr>
              <a:t>few  </a:t>
            </a:r>
            <a:r>
              <a:rPr dirty="0" sz="1100" spc="-5">
                <a:latin typeface="Arial"/>
                <a:cs typeface="Arial"/>
              </a:rPr>
              <a:t>agents take the action, each agent may be isolated from the others, so spillovers may </a:t>
            </a:r>
            <a:r>
              <a:rPr dirty="0" sz="1100">
                <a:latin typeface="Arial"/>
                <a:cs typeface="Arial"/>
              </a:rPr>
              <a:t>be  </a:t>
            </a:r>
            <a:r>
              <a:rPr dirty="0" sz="1100" spc="-5">
                <a:latin typeface="Arial"/>
                <a:cs typeface="Arial"/>
              </a:rPr>
              <a:t>minimal. Thus the curve does not rise quickly at first as more agents take the action. But after  enough invest, there </a:t>
            </a:r>
            <a:r>
              <a:rPr dirty="0" sz="1100">
                <a:latin typeface="Arial"/>
                <a:cs typeface="Arial"/>
              </a:rPr>
              <a:t>may </a:t>
            </a:r>
            <a:r>
              <a:rPr dirty="0" sz="1100" spc="-5">
                <a:latin typeface="Arial"/>
                <a:cs typeface="Arial"/>
              </a:rPr>
              <a:t>be a snowball effect, in which </a:t>
            </a:r>
            <a:r>
              <a:rPr dirty="0" sz="1100">
                <a:latin typeface="Arial"/>
                <a:cs typeface="Arial"/>
              </a:rPr>
              <a:t>many </a:t>
            </a:r>
            <a:r>
              <a:rPr dirty="0" sz="1100" spc="-5">
                <a:latin typeface="Arial"/>
                <a:cs typeface="Arial"/>
              </a:rPr>
              <a:t>agents </a:t>
            </a:r>
            <a:r>
              <a:rPr dirty="0" sz="1100">
                <a:latin typeface="Arial"/>
                <a:cs typeface="Arial"/>
              </a:rPr>
              <a:t>begin </a:t>
            </a:r>
            <a:r>
              <a:rPr dirty="0" sz="1100" spc="-5">
                <a:latin typeface="Arial"/>
                <a:cs typeface="Arial"/>
              </a:rPr>
              <a:t>to provide spillover  benefits to neighboring agents, and the curve increases at a much faster rate. Finally, after most  potential investors have been positively affected and the most important gains have been  realized, the rate of increase starts to slow</a:t>
            </a:r>
            <a:r>
              <a:rPr dirty="0" sz="1100" spc="30">
                <a:latin typeface="Arial"/>
                <a:cs typeface="Arial"/>
              </a:rPr>
              <a:t> </a:t>
            </a:r>
            <a:r>
              <a:rPr dirty="0" sz="1100" spc="-5">
                <a:latin typeface="Arial"/>
                <a:cs typeface="Arial"/>
              </a:rPr>
              <a:t>down.</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In general, when jointly profitable investments may not be made without coordination, multiple  equilibria may exist in which the same individuals with access to the same resources and  technologies could find themselves in either a good or a bad situation. In the </a:t>
            </a:r>
            <a:r>
              <a:rPr dirty="0" sz="1100">
                <a:latin typeface="Arial"/>
                <a:cs typeface="Arial"/>
              </a:rPr>
              <a:t>view </a:t>
            </a:r>
            <a:r>
              <a:rPr dirty="0" sz="1100" spc="-5">
                <a:latin typeface="Arial"/>
                <a:cs typeface="Arial"/>
              </a:rPr>
              <a:t>of many  development economists, it is very plausible that </a:t>
            </a:r>
            <a:r>
              <a:rPr dirty="0" sz="1100">
                <a:latin typeface="Arial"/>
                <a:cs typeface="Arial"/>
              </a:rPr>
              <a:t>many </a:t>
            </a:r>
            <a:r>
              <a:rPr dirty="0" sz="1100" spc="-5">
                <a:latin typeface="Arial"/>
                <a:cs typeface="Arial"/>
              </a:rPr>
              <a:t>of the least developed countries,  including many in sub-Saharan Africa, are </a:t>
            </a:r>
            <a:r>
              <a:rPr dirty="0" sz="1100">
                <a:latin typeface="Arial"/>
                <a:cs typeface="Arial"/>
              </a:rPr>
              <a:t>essentially </a:t>
            </a:r>
            <a:r>
              <a:rPr dirty="0" sz="1100" spc="-5">
                <a:latin typeface="Arial"/>
                <a:cs typeface="Arial"/>
              </a:rPr>
              <a:t>caught in such circumstances. Of course,  other problems are also present. For example, political pressures from potential losers in the  modernization process can also prevent shifts to better equilibria. In addition, modern  technology may not yet be available in the country. The technology transfer problem is another  important concern in economic development. In fact, another problem illustrated by the graph in  Figure 4.1 could be that the amount of effort each firm in a developing region expends to  increase the rate of technology transfer depends on the effort undertaken by other </a:t>
            </a:r>
            <a:r>
              <a:rPr dirty="0" sz="1100">
                <a:latin typeface="Arial"/>
                <a:cs typeface="Arial"/>
              </a:rPr>
              <a:t>firms;  </a:t>
            </a:r>
            <a:r>
              <a:rPr dirty="0" sz="1100" spc="-5">
                <a:latin typeface="Arial"/>
                <a:cs typeface="Arial"/>
              </a:rPr>
              <a:t>bringing in modern technology from abroad often has spillover effects for other firms. But the  possibility of multiple equilibria shows that making better technology available is generally a  necessary but not a sufficient condition for achieving development</a:t>
            </a:r>
            <a:r>
              <a:rPr dirty="0" sz="1100" spc="65">
                <a:latin typeface="Arial"/>
                <a:cs typeface="Arial"/>
              </a:rPr>
              <a:t> </a:t>
            </a:r>
            <a:r>
              <a:rPr dirty="0" sz="1100" spc="-5">
                <a:latin typeface="Arial"/>
                <a:cs typeface="Arial"/>
              </a:rPr>
              <a:t>goals.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spcBef>
                <a:spcPts val="5"/>
              </a:spcBef>
            </a:pPr>
            <a:r>
              <a:rPr dirty="0" sz="1100" spc="-5" b="1">
                <a:latin typeface="Arial"/>
                <a:cs typeface="Arial"/>
              </a:rPr>
              <a:t>PARE </a:t>
            </a:r>
            <a:r>
              <a:rPr dirty="0" sz="1100" b="1">
                <a:latin typeface="Arial"/>
                <a:cs typeface="Arial"/>
              </a:rPr>
              <a:t>TO</a:t>
            </a:r>
            <a:r>
              <a:rPr dirty="0" sz="1100" spc="-5" b="1">
                <a:latin typeface="Arial"/>
                <a:cs typeface="Arial"/>
              </a:rPr>
              <a:t> IMPROVEMENT</a:t>
            </a:r>
            <a:endParaRPr sz="1100">
              <a:latin typeface="Arial"/>
              <a:cs typeface="Arial"/>
            </a:endParaRPr>
          </a:p>
          <a:p>
            <a:pPr>
              <a:lnSpc>
                <a:spcPct val="100000"/>
              </a:lnSpc>
              <a:spcBef>
                <a:spcPts val="35"/>
              </a:spcBef>
            </a:pPr>
            <a:endParaRPr sz="1200">
              <a:latin typeface="Arial"/>
              <a:cs typeface="Arial"/>
            </a:endParaRPr>
          </a:p>
          <a:p>
            <a:pPr algn="just" marL="12700" marR="6985">
              <a:lnSpc>
                <a:spcPts val="1260"/>
              </a:lnSpc>
            </a:pPr>
            <a:r>
              <a:rPr dirty="0" sz="1100" spc="-5" i="1">
                <a:latin typeface="Arial"/>
                <a:cs typeface="Arial"/>
              </a:rPr>
              <a:t>"A situation in which one or more persons may </a:t>
            </a:r>
            <a:r>
              <a:rPr dirty="0" sz="1100" i="1">
                <a:latin typeface="Arial"/>
                <a:cs typeface="Arial"/>
              </a:rPr>
              <a:t>be </a:t>
            </a:r>
            <a:r>
              <a:rPr dirty="0" sz="1100" spc="-5" i="1">
                <a:latin typeface="Arial"/>
                <a:cs typeface="Arial"/>
              </a:rPr>
              <a:t>made </a:t>
            </a:r>
            <a:r>
              <a:rPr dirty="0" sz="1100" i="1">
                <a:latin typeface="Arial"/>
                <a:cs typeface="Arial"/>
              </a:rPr>
              <a:t>better </a:t>
            </a:r>
            <a:r>
              <a:rPr dirty="0" sz="1100" spc="-5" i="1">
                <a:latin typeface="Arial"/>
                <a:cs typeface="Arial"/>
              </a:rPr>
              <a:t>off without making anyone worse  </a:t>
            </a:r>
            <a:r>
              <a:rPr dirty="0" sz="1100" spc="-5" i="1">
                <a:latin typeface="Arial"/>
                <a:cs typeface="Arial"/>
              </a:rPr>
              <a:t>off."</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137</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905" cy="3449954"/>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THE BIG PUSH: A GRAPHICAL</a:t>
            </a:r>
            <a:r>
              <a:rPr dirty="0" sz="1100" spc="20" b="1">
                <a:latin typeface="Arial"/>
                <a:cs typeface="Arial"/>
              </a:rPr>
              <a:t> </a:t>
            </a:r>
            <a:r>
              <a:rPr dirty="0" sz="1100" spc="-10" b="1">
                <a:latin typeface="Arial"/>
                <a:cs typeface="Arial"/>
              </a:rPr>
              <a:t>MODEL</a:t>
            </a:r>
            <a:endParaRPr sz="1100">
              <a:latin typeface="Arial"/>
              <a:cs typeface="Arial"/>
            </a:endParaRPr>
          </a:p>
          <a:p>
            <a:pPr>
              <a:lnSpc>
                <a:spcPct val="100000"/>
              </a:lnSpc>
              <a:spcBef>
                <a:spcPts val="5"/>
              </a:spcBef>
            </a:pPr>
            <a:endParaRPr sz="1150">
              <a:latin typeface="Arial"/>
              <a:cs typeface="Arial"/>
            </a:endParaRPr>
          </a:p>
          <a:p>
            <a:pPr marL="12700">
              <a:lnSpc>
                <a:spcPct val="100000"/>
              </a:lnSpc>
            </a:pPr>
            <a:r>
              <a:rPr dirty="0" sz="1100" spc="-10" b="1">
                <a:latin typeface="Arial"/>
                <a:cs typeface="Arial"/>
              </a:rPr>
              <a:t>ASSUMPTIONS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In any model (indeed, in any careful thinking), we need to </a:t>
            </a:r>
            <a:r>
              <a:rPr dirty="0" sz="1100">
                <a:latin typeface="Arial"/>
                <a:cs typeface="Arial"/>
              </a:rPr>
              <a:t>make </a:t>
            </a:r>
            <a:r>
              <a:rPr dirty="0" sz="1100" spc="-5">
                <a:latin typeface="Arial"/>
                <a:cs typeface="Arial"/>
              </a:rPr>
              <a:t>some assumptions, sometimes  seemingly large assumptions, to make any progress in our understanding. The analysis of the  big push is no exception to this rule. The assumptions we use for the big push analysis here can  be relaxed somewhat, though at the expense of requiring more mathematical technique, but it  should be noted that we cannot relax our assumptions as much as we are accustomed to doing  in simpler microeconomic problems, such as those that assume perfect competition. Here, we  cannot meaningfully assume perfect competition in the modern sector, where increasing returns  to scale and hence natural monopoly, or at least monopolistic competition, prevail. </a:t>
            </a:r>
            <a:r>
              <a:rPr dirty="0" sz="1100">
                <a:latin typeface="Arial"/>
                <a:cs typeface="Arial"/>
              </a:rPr>
              <a:t>To  </a:t>
            </a:r>
            <a:r>
              <a:rPr dirty="0" sz="1100" spc="-5">
                <a:latin typeface="Arial"/>
                <a:cs typeface="Arial"/>
              </a:rPr>
              <a:t>paraphrase Paul Krugman, if we think development has something significant to do with  increasing returns to scale, then we will have to sacrifice some generality to address it. We will  make six types of</a:t>
            </a:r>
            <a:r>
              <a:rPr dirty="0" sz="1100" spc="5">
                <a:latin typeface="Arial"/>
                <a:cs typeface="Arial"/>
              </a:rPr>
              <a:t> </a:t>
            </a:r>
            <a:r>
              <a:rPr dirty="0" sz="1100" spc="-5">
                <a:latin typeface="Arial"/>
                <a:cs typeface="Arial"/>
              </a:rPr>
              <a:t>assumptions.</a:t>
            </a:r>
            <a:endParaRPr sz="1100">
              <a:latin typeface="Arial"/>
              <a:cs typeface="Arial"/>
            </a:endParaRPr>
          </a:p>
          <a:p>
            <a:pPr>
              <a:lnSpc>
                <a:spcPct val="100000"/>
              </a:lnSpc>
            </a:pPr>
            <a:endParaRPr sz="1050">
              <a:latin typeface="Arial"/>
              <a:cs typeface="Arial"/>
            </a:endParaRPr>
          </a:p>
          <a:p>
            <a:pPr marL="469265" indent="-229235">
              <a:lnSpc>
                <a:spcPct val="100000"/>
              </a:lnSpc>
              <a:spcBef>
                <a:spcPts val="5"/>
              </a:spcBef>
              <a:buAutoNum type="arabicPeriod"/>
              <a:tabLst>
                <a:tab pos="469900" algn="l"/>
              </a:tabLst>
            </a:pPr>
            <a:r>
              <a:rPr dirty="0" sz="1100" spc="-5" b="1">
                <a:latin typeface="Arial"/>
                <a:cs typeface="Arial"/>
              </a:rPr>
              <a:t>Factor</a:t>
            </a:r>
            <a:endParaRPr sz="1100">
              <a:latin typeface="Arial"/>
              <a:cs typeface="Arial"/>
            </a:endParaRPr>
          </a:p>
          <a:p>
            <a:pPr>
              <a:lnSpc>
                <a:spcPct val="100000"/>
              </a:lnSpc>
              <a:spcBef>
                <a:spcPts val="50"/>
              </a:spcBef>
              <a:buFont typeface="Arial"/>
              <a:buAutoNum type="arabicPeriod"/>
            </a:pPr>
            <a:endParaRPr sz="1100">
              <a:latin typeface="Arial"/>
              <a:cs typeface="Arial"/>
            </a:endParaRPr>
          </a:p>
          <a:p>
            <a:pPr algn="just" marL="51435">
              <a:lnSpc>
                <a:spcPct val="100000"/>
              </a:lnSpc>
              <a:spcBef>
                <a:spcPts val="5"/>
              </a:spcBef>
            </a:pPr>
            <a:r>
              <a:rPr dirty="0" sz="1100" spc="-5">
                <a:latin typeface="Arial"/>
                <a:cs typeface="Arial"/>
              </a:rPr>
              <a:t>We assume that there is only one factor of production—labor. It has a fixed total supply,</a:t>
            </a:r>
            <a:r>
              <a:rPr dirty="0" sz="1100" spc="190">
                <a:latin typeface="Arial"/>
                <a:cs typeface="Arial"/>
              </a:rPr>
              <a:t> </a:t>
            </a:r>
            <a:r>
              <a:rPr dirty="0" sz="1100" spc="-5">
                <a:latin typeface="Arial"/>
                <a:cs typeface="Arial"/>
              </a:rPr>
              <a:t>L.</a:t>
            </a:r>
            <a:endParaRPr sz="1100">
              <a:latin typeface="Arial"/>
              <a:cs typeface="Arial"/>
            </a:endParaRPr>
          </a:p>
          <a:p>
            <a:pPr>
              <a:lnSpc>
                <a:spcPct val="100000"/>
              </a:lnSpc>
              <a:spcBef>
                <a:spcPts val="10"/>
              </a:spcBef>
            </a:pPr>
            <a:endParaRPr sz="1050">
              <a:latin typeface="Arial"/>
              <a:cs typeface="Arial"/>
            </a:endParaRPr>
          </a:p>
          <a:p>
            <a:pPr marL="469265" indent="-229235">
              <a:lnSpc>
                <a:spcPct val="100000"/>
              </a:lnSpc>
              <a:buAutoNum type="arabicPeriod" startAt="2"/>
              <a:tabLst>
                <a:tab pos="469900" algn="l"/>
              </a:tabLst>
            </a:pPr>
            <a:r>
              <a:rPr dirty="0" sz="1100" spc="-5" b="1">
                <a:latin typeface="Arial"/>
                <a:cs typeface="Arial"/>
              </a:rPr>
              <a:t>Factor payments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138</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6464300"/>
            <a:ext cx="5969635" cy="260223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labor market has two sectors. We assume that workers in the traditional sector receive a  wage of 1 (or normalized to 1, treating the wage as the numeraire; that is, if the wage is 19  pesos per day, we simply call this amount of money “1” to facilitate analysis using the geometry  in Figure 4.2). Workers in the modern sector receive a wage W1. As a stylized fact, this wage  differential is found in every </a:t>
            </a:r>
            <a:r>
              <a:rPr dirty="0" sz="1100">
                <a:latin typeface="Arial"/>
                <a:cs typeface="Arial"/>
              </a:rPr>
              <a:t>developing </a:t>
            </a:r>
            <a:r>
              <a:rPr dirty="0" sz="1100" spc="-5">
                <a:latin typeface="Arial"/>
                <a:cs typeface="Arial"/>
              </a:rPr>
              <a:t>country, even if it needs some explanation (see Chapter  7).</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The underlying reason for this differential may </a:t>
            </a:r>
            <a:r>
              <a:rPr dirty="0" sz="1100">
                <a:latin typeface="Arial"/>
                <a:cs typeface="Arial"/>
              </a:rPr>
              <a:t>be </a:t>
            </a:r>
            <a:r>
              <a:rPr dirty="0" sz="1100" spc="-5">
                <a:latin typeface="Arial"/>
                <a:cs typeface="Arial"/>
              </a:rPr>
              <a:t>a compensation for disutility of modern factory  types of work. If so, in equilibrium, workers would receive no net utility benefits from switching  sectors during industrialization; but if economic profits are generated, this will represent a  Pareto improvement (in this case because investors are better off and </a:t>
            </a:r>
            <a:r>
              <a:rPr dirty="0" sz="1100">
                <a:latin typeface="Arial"/>
                <a:cs typeface="Arial"/>
              </a:rPr>
              <a:t>no </a:t>
            </a:r>
            <a:r>
              <a:rPr dirty="0" sz="1100" spc="-5">
                <a:latin typeface="Arial"/>
                <a:cs typeface="Arial"/>
              </a:rPr>
              <a:t>one is worse off), and  average income would rise (there can also be income redistribution so that everyone </a:t>
            </a:r>
            <a:r>
              <a:rPr dirty="0" sz="1100">
                <a:latin typeface="Arial"/>
                <a:cs typeface="Arial"/>
              </a:rPr>
              <a:t>may </a:t>
            </a:r>
            <a:r>
              <a:rPr dirty="0" sz="1100" spc="-5">
                <a:latin typeface="Arial"/>
                <a:cs typeface="Arial"/>
              </a:rPr>
              <a:t>be  made better off, not just no one worse off). Moreover, if there is surplus labor in the economy or  if modern wages are higher than opportunity costs of labor for some other reason, the social  benefits of industrialization are all the greater. </a:t>
            </a:r>
            <a:r>
              <a:rPr dirty="0" sz="1100">
                <a:latin typeface="Arial"/>
                <a:cs typeface="Arial"/>
              </a:rPr>
              <a:t>Finally, </a:t>
            </a:r>
            <a:r>
              <a:rPr dirty="0" sz="1100" spc="-5">
                <a:latin typeface="Arial"/>
                <a:cs typeface="Arial"/>
              </a:rPr>
              <a:t>note that we are examining </a:t>
            </a:r>
            <a:r>
              <a:rPr dirty="0" sz="1100">
                <a:latin typeface="Arial"/>
                <a:cs typeface="Arial"/>
              </a:rPr>
              <a:t>one </a:t>
            </a:r>
            <a:r>
              <a:rPr dirty="0" sz="1100" spc="-5">
                <a:latin typeface="Arial"/>
                <a:cs typeface="Arial"/>
              </a:rPr>
              <a:t>example  of</a:t>
            </a:r>
            <a:r>
              <a:rPr dirty="0" sz="1100" spc="135">
                <a:latin typeface="Arial"/>
                <a:cs typeface="Arial"/>
              </a:rPr>
              <a:t> </a:t>
            </a:r>
            <a:r>
              <a:rPr dirty="0" sz="1100" spc="-5">
                <a:latin typeface="Arial"/>
                <a:cs typeface="Arial"/>
              </a:rPr>
              <a:t>a</a:t>
            </a:r>
            <a:r>
              <a:rPr dirty="0" sz="1100" spc="140">
                <a:latin typeface="Arial"/>
                <a:cs typeface="Arial"/>
              </a:rPr>
              <a:t> </a:t>
            </a:r>
            <a:r>
              <a:rPr dirty="0" sz="1100" spc="-5">
                <a:latin typeface="Arial"/>
                <a:cs typeface="Arial"/>
              </a:rPr>
              <a:t>model</a:t>
            </a:r>
            <a:r>
              <a:rPr dirty="0" sz="1100" spc="135">
                <a:latin typeface="Arial"/>
                <a:cs typeface="Arial"/>
              </a:rPr>
              <a:t> </a:t>
            </a:r>
            <a:r>
              <a:rPr dirty="0" sz="1100" spc="-5">
                <a:latin typeface="Arial"/>
                <a:cs typeface="Arial"/>
              </a:rPr>
              <a:t>in</a:t>
            </a:r>
            <a:r>
              <a:rPr dirty="0" sz="1100" spc="140">
                <a:latin typeface="Arial"/>
                <a:cs typeface="Arial"/>
              </a:rPr>
              <a:t> </a:t>
            </a:r>
            <a:r>
              <a:rPr dirty="0" sz="1100" spc="-5">
                <a:latin typeface="Arial"/>
                <a:cs typeface="Arial"/>
              </a:rPr>
              <a:t>which</a:t>
            </a:r>
            <a:r>
              <a:rPr dirty="0" sz="1100" spc="135">
                <a:latin typeface="Arial"/>
                <a:cs typeface="Arial"/>
              </a:rPr>
              <a:t> </a:t>
            </a:r>
            <a:r>
              <a:rPr dirty="0" sz="1100" spc="-5">
                <a:latin typeface="Arial"/>
                <a:cs typeface="Arial"/>
              </a:rPr>
              <a:t>a</a:t>
            </a:r>
            <a:r>
              <a:rPr dirty="0" sz="1100" spc="130">
                <a:latin typeface="Arial"/>
                <a:cs typeface="Arial"/>
              </a:rPr>
              <a:t> </a:t>
            </a:r>
            <a:r>
              <a:rPr dirty="0" sz="1100" spc="-5">
                <a:latin typeface="Arial"/>
                <a:cs typeface="Arial"/>
              </a:rPr>
              <a:t>driving</a:t>
            </a:r>
            <a:r>
              <a:rPr dirty="0" sz="1100" spc="140">
                <a:latin typeface="Arial"/>
                <a:cs typeface="Arial"/>
              </a:rPr>
              <a:t> </a:t>
            </a:r>
            <a:r>
              <a:rPr dirty="0" sz="1100" spc="-5">
                <a:latin typeface="Arial"/>
                <a:cs typeface="Arial"/>
              </a:rPr>
              <a:t>force</a:t>
            </a:r>
            <a:r>
              <a:rPr dirty="0" sz="1100" spc="130">
                <a:latin typeface="Arial"/>
                <a:cs typeface="Arial"/>
              </a:rPr>
              <a:t> </a:t>
            </a:r>
            <a:r>
              <a:rPr dirty="0" sz="1100" spc="-5">
                <a:latin typeface="Arial"/>
                <a:cs typeface="Arial"/>
              </a:rPr>
              <a:t>for</a:t>
            </a:r>
            <a:r>
              <a:rPr dirty="0" sz="1100" spc="140">
                <a:latin typeface="Arial"/>
                <a:cs typeface="Arial"/>
              </a:rPr>
              <a:t> </a:t>
            </a:r>
            <a:r>
              <a:rPr dirty="0" sz="1100" spc="-5">
                <a:latin typeface="Arial"/>
                <a:cs typeface="Arial"/>
              </a:rPr>
              <a:t>an</a:t>
            </a:r>
            <a:r>
              <a:rPr dirty="0" sz="1100" spc="135">
                <a:latin typeface="Arial"/>
                <a:cs typeface="Arial"/>
              </a:rPr>
              <a:t> </a:t>
            </a:r>
            <a:r>
              <a:rPr dirty="0" sz="1100" spc="-5">
                <a:latin typeface="Arial"/>
                <a:cs typeface="Arial"/>
              </a:rPr>
              <a:t>underdevelopment</a:t>
            </a:r>
            <a:r>
              <a:rPr dirty="0" sz="1100" spc="140">
                <a:latin typeface="Arial"/>
                <a:cs typeface="Arial"/>
              </a:rPr>
              <a:t> </a:t>
            </a:r>
            <a:r>
              <a:rPr dirty="0" sz="1100" spc="-5">
                <a:latin typeface="Arial"/>
                <a:cs typeface="Arial"/>
              </a:rPr>
              <a:t>trap</a:t>
            </a:r>
            <a:r>
              <a:rPr dirty="0" sz="1100" spc="135">
                <a:latin typeface="Arial"/>
                <a:cs typeface="Arial"/>
              </a:rPr>
              <a:t> </a:t>
            </a:r>
            <a:r>
              <a:rPr dirty="0" sz="1100" spc="-5">
                <a:latin typeface="Arial"/>
                <a:cs typeface="Arial"/>
              </a:rPr>
              <a:t>is</a:t>
            </a:r>
            <a:r>
              <a:rPr dirty="0" sz="1100" spc="140">
                <a:latin typeface="Arial"/>
                <a:cs typeface="Arial"/>
              </a:rPr>
              <a:t> </a:t>
            </a:r>
            <a:r>
              <a:rPr dirty="0" sz="1100" spc="-5">
                <a:latin typeface="Arial"/>
                <a:cs typeface="Arial"/>
              </a:rPr>
              <a:t>the</a:t>
            </a:r>
            <a:r>
              <a:rPr dirty="0" sz="1100" spc="135">
                <a:latin typeface="Arial"/>
                <a:cs typeface="Arial"/>
              </a:rPr>
              <a:t> </a:t>
            </a:r>
            <a:r>
              <a:rPr dirty="0" sz="1100" spc="-5">
                <a:latin typeface="Arial"/>
                <a:cs typeface="Arial"/>
              </a:rPr>
              <a:t>relatively</a:t>
            </a:r>
            <a:r>
              <a:rPr dirty="0" sz="1100" spc="135">
                <a:latin typeface="Arial"/>
                <a:cs typeface="Arial"/>
              </a:rPr>
              <a:t> </a:t>
            </a:r>
            <a:r>
              <a:rPr dirty="0" sz="1100" spc="-5">
                <a:latin typeface="Arial"/>
                <a:cs typeface="Arial"/>
              </a:rPr>
              <a:t>high</a:t>
            </a:r>
            <a:r>
              <a:rPr dirty="0" sz="1100" spc="135">
                <a:latin typeface="Arial"/>
                <a:cs typeface="Arial"/>
              </a:rPr>
              <a:t> </a:t>
            </a:r>
            <a:r>
              <a:rPr dirty="0" sz="1100" spc="-5">
                <a:latin typeface="Arial"/>
                <a:cs typeface="Arial"/>
              </a:rPr>
              <a:t>wages</a:t>
            </a:r>
            <a:endParaRPr sz="1100">
              <a:latin typeface="Arial"/>
              <a:cs typeface="Arial"/>
            </a:endParaRPr>
          </a:p>
        </p:txBody>
      </p:sp>
      <p:sp>
        <p:nvSpPr>
          <p:cNvPr id="7" name="object 7"/>
          <p:cNvSpPr/>
          <p:nvPr/>
        </p:nvSpPr>
        <p:spPr>
          <a:xfrm>
            <a:off x="933450" y="914400"/>
            <a:ext cx="5800344" cy="5495549"/>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139</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810" cy="7626350"/>
          </a:xfrm>
          <a:prstGeom prst="rect">
            <a:avLst/>
          </a:prstGeom>
        </p:spPr>
        <p:txBody>
          <a:bodyPr wrap="square" lIns="0" tIns="19050" rIns="0" bIns="0" rtlCol="0" vert="horz">
            <a:spAutoFit/>
          </a:bodyPr>
          <a:lstStyle/>
          <a:p>
            <a:pPr algn="just" marL="12700" marR="8255">
              <a:lnSpc>
                <a:spcPct val="95800"/>
              </a:lnSpc>
              <a:spcBef>
                <a:spcPts val="150"/>
              </a:spcBef>
            </a:pPr>
            <a:r>
              <a:rPr dirty="0" sz="1100" spc="-5">
                <a:latin typeface="Arial"/>
                <a:cs typeface="Arial"/>
              </a:rPr>
              <a:t>that have to be paid in the modern sector. We do this because it is an approach that is easy to  characterize graphically and that has received a lot of attention. As will be described later,  however, high modern wages is only one circumstance in which a coordination problem </a:t>
            </a:r>
            <a:r>
              <a:rPr dirty="0" sz="1100">
                <a:latin typeface="Arial"/>
                <a:cs typeface="Arial"/>
              </a:rPr>
              <a:t>may  </a:t>
            </a:r>
            <a:r>
              <a:rPr dirty="0" sz="1100" spc="-5">
                <a:latin typeface="Arial"/>
                <a:cs typeface="Arial"/>
              </a:rPr>
              <a:t>exist. In fact, we will see that there may be coordination failure problems even if modern-sector  wages are no higher than those in the traditional</a:t>
            </a:r>
            <a:r>
              <a:rPr dirty="0" sz="1100" spc="45">
                <a:latin typeface="Arial"/>
                <a:cs typeface="Arial"/>
              </a:rPr>
              <a:t> </a:t>
            </a:r>
            <a:r>
              <a:rPr dirty="0" sz="1100" spc="-5">
                <a:latin typeface="Arial"/>
                <a:cs typeface="Arial"/>
              </a:rPr>
              <a:t>sector.</a:t>
            </a:r>
            <a:endParaRPr sz="1100">
              <a:latin typeface="Arial"/>
              <a:cs typeface="Arial"/>
            </a:endParaRPr>
          </a:p>
          <a:p>
            <a:pPr>
              <a:lnSpc>
                <a:spcPct val="100000"/>
              </a:lnSpc>
              <a:spcBef>
                <a:spcPts val="10"/>
              </a:spcBef>
            </a:pPr>
            <a:endParaRPr sz="1050">
              <a:latin typeface="Arial"/>
              <a:cs typeface="Arial"/>
            </a:endParaRPr>
          </a:p>
          <a:p>
            <a:pPr marL="469900" indent="-229870">
              <a:lnSpc>
                <a:spcPct val="100000"/>
              </a:lnSpc>
              <a:spcBef>
                <a:spcPts val="5"/>
              </a:spcBef>
              <a:buAutoNum type="arabicPeriod" startAt="3"/>
              <a:tabLst>
                <a:tab pos="470534" algn="l"/>
              </a:tabLst>
            </a:pPr>
            <a:r>
              <a:rPr dirty="0" sz="1100" spc="-5" b="1">
                <a:latin typeface="Arial"/>
                <a:cs typeface="Arial"/>
              </a:rPr>
              <a:t>Technology</a:t>
            </a:r>
            <a:endParaRPr sz="1100">
              <a:latin typeface="Arial"/>
              <a:cs typeface="Arial"/>
            </a:endParaRPr>
          </a:p>
          <a:p>
            <a:pPr>
              <a:lnSpc>
                <a:spcPct val="100000"/>
              </a:lnSpc>
              <a:spcBef>
                <a:spcPts val="50"/>
              </a:spcBef>
              <a:buFont typeface="Arial"/>
              <a:buAutoNum type="arabicPeriod" startAt="3"/>
            </a:pPr>
            <a:endParaRPr sz="1150">
              <a:latin typeface="Arial"/>
              <a:cs typeface="Arial"/>
            </a:endParaRPr>
          </a:p>
          <a:p>
            <a:pPr algn="just" marL="12700" marR="5080" indent="38735">
              <a:lnSpc>
                <a:spcPct val="95800"/>
              </a:lnSpc>
            </a:pPr>
            <a:r>
              <a:rPr dirty="0" sz="1100" spc="-5">
                <a:latin typeface="Arial"/>
                <a:cs typeface="Arial"/>
              </a:rPr>
              <a:t>We assume that there are N types of products, where N is a large number.16 For each product  in the traditional sector, one worker produces one unit of output (this is a less stringent  assumption than it appears because again we have a certain freedom in choosing our unit of  measurement; if a worker produces three pairs of shoes per day, we call this quantity one unit).  This is a very simple example of constant-returns to- scale production. In the modern sector,  there are increasing returns to scale. We want to introduce increasing returns in a very simple  way. Assume that no product can be produced unless a minimum of, say, F workers are  employed. </a:t>
            </a:r>
            <a:r>
              <a:rPr dirty="0" sz="1100">
                <a:latin typeface="Arial"/>
                <a:cs typeface="Arial"/>
              </a:rPr>
              <a:t>This </a:t>
            </a:r>
            <a:r>
              <a:rPr dirty="0" sz="1100" spc="-5">
                <a:latin typeface="Arial"/>
                <a:cs typeface="Arial"/>
              </a:rPr>
              <a:t>is a fixed cost. Because we are keeping things simple to facilitate analysis of the  core issues, we have not put capital explicitly in the model; thus the only way to introduce a  fixed cost is to require a minimum number of workers. After that, there is a linear production  function in which workers are more productive than those in the traditional sector. Thus labor  requirements</a:t>
            </a:r>
            <a:r>
              <a:rPr dirty="0" sz="1100" spc="40">
                <a:latin typeface="Arial"/>
                <a:cs typeface="Arial"/>
              </a:rPr>
              <a:t> </a:t>
            </a:r>
            <a:r>
              <a:rPr dirty="0" sz="1100" spc="-5">
                <a:latin typeface="Arial"/>
                <a:cs typeface="Arial"/>
              </a:rPr>
              <a:t>for</a:t>
            </a:r>
            <a:r>
              <a:rPr dirty="0" sz="1100" spc="40">
                <a:latin typeface="Arial"/>
                <a:cs typeface="Arial"/>
              </a:rPr>
              <a:t> </a:t>
            </a:r>
            <a:r>
              <a:rPr dirty="0" sz="1100" spc="-5">
                <a:latin typeface="Arial"/>
                <a:cs typeface="Arial"/>
              </a:rPr>
              <a:t>producing</a:t>
            </a:r>
            <a:r>
              <a:rPr dirty="0" sz="1100" spc="40">
                <a:latin typeface="Arial"/>
                <a:cs typeface="Arial"/>
              </a:rPr>
              <a:t> </a:t>
            </a:r>
            <a:r>
              <a:rPr dirty="0" sz="1100" spc="-5">
                <a:latin typeface="Arial"/>
                <a:cs typeface="Arial"/>
              </a:rPr>
              <a:t>any</a:t>
            </a:r>
            <a:r>
              <a:rPr dirty="0" sz="1100" spc="40">
                <a:latin typeface="Arial"/>
                <a:cs typeface="Arial"/>
              </a:rPr>
              <a:t> </a:t>
            </a:r>
            <a:r>
              <a:rPr dirty="0" sz="1100" spc="-5">
                <a:latin typeface="Arial"/>
                <a:cs typeface="Arial"/>
              </a:rPr>
              <a:t>product</a:t>
            </a:r>
            <a:r>
              <a:rPr dirty="0" sz="1100" spc="40">
                <a:latin typeface="Arial"/>
                <a:cs typeface="Arial"/>
              </a:rPr>
              <a:t> </a:t>
            </a:r>
            <a:r>
              <a:rPr dirty="0" sz="1100" spc="-5">
                <a:latin typeface="Arial"/>
                <a:cs typeface="Arial"/>
              </a:rPr>
              <a:t>in</a:t>
            </a:r>
            <a:r>
              <a:rPr dirty="0" sz="1100" spc="4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modern</a:t>
            </a:r>
            <a:r>
              <a:rPr dirty="0" sz="1100" spc="40">
                <a:latin typeface="Arial"/>
                <a:cs typeface="Arial"/>
              </a:rPr>
              <a:t> </a:t>
            </a:r>
            <a:r>
              <a:rPr dirty="0" sz="1100" spc="-5">
                <a:latin typeface="Arial"/>
                <a:cs typeface="Arial"/>
              </a:rPr>
              <a:t>sector</a:t>
            </a:r>
            <a:r>
              <a:rPr dirty="0" sz="1100" spc="40">
                <a:latin typeface="Arial"/>
                <a:cs typeface="Arial"/>
              </a:rPr>
              <a:t> </a:t>
            </a:r>
            <a:r>
              <a:rPr dirty="0" sz="1100" spc="-5">
                <a:latin typeface="Arial"/>
                <a:cs typeface="Arial"/>
              </a:rPr>
              <a:t>take</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form</a:t>
            </a:r>
            <a:r>
              <a:rPr dirty="0" sz="1100" spc="45">
                <a:latin typeface="Arial"/>
                <a:cs typeface="Arial"/>
              </a:rPr>
              <a:t> </a:t>
            </a:r>
            <a:r>
              <a:rPr dirty="0" sz="1100" spc="-5">
                <a:latin typeface="Arial"/>
                <a:cs typeface="Arial"/>
              </a:rPr>
              <a:t>L</a:t>
            </a:r>
            <a:r>
              <a:rPr dirty="0" sz="1100" spc="40">
                <a:latin typeface="Arial"/>
                <a:cs typeface="Arial"/>
              </a:rPr>
              <a:t> </a:t>
            </a:r>
            <a:r>
              <a:rPr dirty="0" sz="1100" spc="-5">
                <a:latin typeface="Arial"/>
                <a:cs typeface="Arial"/>
              </a:rPr>
              <a:t>=</a:t>
            </a:r>
            <a:r>
              <a:rPr dirty="0" sz="1100" spc="40">
                <a:latin typeface="Arial"/>
                <a:cs typeface="Arial"/>
              </a:rPr>
              <a:t> </a:t>
            </a:r>
            <a:r>
              <a:rPr dirty="0" sz="1100" spc="-5">
                <a:latin typeface="Arial"/>
                <a:cs typeface="Arial"/>
              </a:rPr>
              <a:t>F</a:t>
            </a:r>
            <a:r>
              <a:rPr dirty="0" sz="1100" spc="40">
                <a:latin typeface="Arial"/>
                <a:cs typeface="Arial"/>
              </a:rPr>
              <a:t> </a:t>
            </a:r>
            <a:r>
              <a:rPr dirty="0" sz="1100" spc="-5">
                <a:latin typeface="Arial"/>
                <a:cs typeface="Arial"/>
              </a:rPr>
              <a:t>+</a:t>
            </a:r>
            <a:r>
              <a:rPr dirty="0" sz="1100" spc="40">
                <a:latin typeface="Arial"/>
                <a:cs typeface="Arial"/>
              </a:rPr>
              <a:t> </a:t>
            </a:r>
            <a:r>
              <a:rPr dirty="0" sz="1100" spc="-5">
                <a:latin typeface="Arial"/>
                <a:cs typeface="Arial"/>
              </a:rPr>
              <a:t>cQ,</a:t>
            </a:r>
            <a:r>
              <a:rPr dirty="0" sz="1100" spc="45">
                <a:latin typeface="Arial"/>
                <a:cs typeface="Arial"/>
              </a:rPr>
              <a:t> </a:t>
            </a:r>
            <a:r>
              <a:rPr dirty="0" sz="1100" spc="-5">
                <a:latin typeface="Arial"/>
                <a:cs typeface="Arial"/>
              </a:rPr>
              <a:t>where</a:t>
            </a:r>
            <a:r>
              <a:rPr dirty="0" sz="1100" spc="45">
                <a:latin typeface="Arial"/>
                <a:cs typeface="Arial"/>
              </a:rPr>
              <a:t> </a:t>
            </a:r>
            <a:r>
              <a:rPr dirty="0" sz="1100" spc="-5">
                <a:latin typeface="Arial"/>
                <a:cs typeface="Arial"/>
              </a:rPr>
              <a:t>c</a:t>
            </a:r>
            <a:endParaRPr sz="1100">
              <a:latin typeface="Arial"/>
              <a:cs typeface="Arial"/>
            </a:endParaRPr>
          </a:p>
          <a:p>
            <a:pPr algn="just" marL="12700" marR="8255">
              <a:lnSpc>
                <a:spcPts val="1270"/>
              </a:lnSpc>
              <a:spcBef>
                <a:spcPts val="25"/>
              </a:spcBef>
            </a:pPr>
            <a:r>
              <a:rPr dirty="0" sz="1100" spc="-5">
                <a:latin typeface="Arial"/>
                <a:cs typeface="Arial"/>
              </a:rPr>
              <a:t>&lt; 1 is the marginal labor required for an extra unit of output. The trade-off is that modern  workers are more productive, but only if a significant cost is paid up front. As this fixed cost is  amortized over more </a:t>
            </a:r>
            <a:r>
              <a:rPr dirty="0" sz="1100">
                <a:latin typeface="Arial"/>
                <a:cs typeface="Arial"/>
              </a:rPr>
              <a:t>units </a:t>
            </a:r>
            <a:r>
              <a:rPr dirty="0" sz="1100" spc="-5">
                <a:latin typeface="Arial"/>
                <a:cs typeface="Arial"/>
              </a:rPr>
              <a:t>of output, average cost declines, which is the effect of increasing  returns to scale. We assume symmetry: The same production function holds for producing any  product in the modern</a:t>
            </a:r>
            <a:r>
              <a:rPr dirty="0" sz="1100" spc="10">
                <a:latin typeface="Arial"/>
                <a:cs typeface="Arial"/>
              </a:rPr>
              <a:t> </a:t>
            </a:r>
            <a:r>
              <a:rPr dirty="0" sz="1100" spc="-5">
                <a:latin typeface="Arial"/>
                <a:cs typeface="Arial"/>
              </a:rPr>
              <a:t>sector.</a:t>
            </a:r>
            <a:endParaRPr sz="1100">
              <a:latin typeface="Arial"/>
              <a:cs typeface="Arial"/>
            </a:endParaRPr>
          </a:p>
          <a:p>
            <a:pPr>
              <a:lnSpc>
                <a:spcPct val="100000"/>
              </a:lnSpc>
              <a:spcBef>
                <a:spcPts val="10"/>
              </a:spcBef>
            </a:pPr>
            <a:endParaRPr sz="1000">
              <a:latin typeface="Arial"/>
              <a:cs typeface="Arial"/>
            </a:endParaRPr>
          </a:p>
          <a:p>
            <a:pPr marL="469900" indent="-229235">
              <a:lnSpc>
                <a:spcPct val="100000"/>
              </a:lnSpc>
              <a:buAutoNum type="arabicPeriod" startAt="4"/>
              <a:tabLst>
                <a:tab pos="469900" algn="l"/>
              </a:tabLst>
            </a:pPr>
            <a:r>
              <a:rPr dirty="0" sz="1100" spc="-5" b="1">
                <a:latin typeface="Arial"/>
                <a:cs typeface="Arial"/>
              </a:rPr>
              <a:t>Domestic demand</a:t>
            </a:r>
            <a:endParaRPr sz="1100">
              <a:latin typeface="Arial"/>
              <a:cs typeface="Arial"/>
            </a:endParaRPr>
          </a:p>
          <a:p>
            <a:pPr>
              <a:lnSpc>
                <a:spcPct val="100000"/>
              </a:lnSpc>
              <a:spcBef>
                <a:spcPts val="25"/>
              </a:spcBef>
              <a:buFont typeface="Arial"/>
              <a:buAutoNum type="arabicPeriod" startAt="4"/>
            </a:pPr>
            <a:endParaRPr sz="1200">
              <a:latin typeface="Arial"/>
              <a:cs typeface="Arial"/>
            </a:endParaRPr>
          </a:p>
          <a:p>
            <a:pPr algn="just" marL="12700" marR="8255">
              <a:lnSpc>
                <a:spcPts val="1270"/>
              </a:lnSpc>
            </a:pPr>
            <a:r>
              <a:rPr dirty="0" sz="1100" spc="-5">
                <a:latin typeface="Arial"/>
                <a:cs typeface="Arial"/>
              </a:rPr>
              <a:t>We assume that each good receives a constant and equal share of consumption out of national  income. The model has only one period and no assets; thus there is no saving in the  conventional sense. As a result, if national income is Y, then consumers spend an equal  amount, Y/N, on each</a:t>
            </a:r>
            <a:r>
              <a:rPr dirty="0" sz="1100" spc="10">
                <a:latin typeface="Arial"/>
                <a:cs typeface="Arial"/>
              </a:rPr>
              <a:t> </a:t>
            </a:r>
            <a:r>
              <a:rPr dirty="0" sz="1100" spc="-5">
                <a:latin typeface="Arial"/>
                <a:cs typeface="Arial"/>
              </a:rPr>
              <a:t>good.</a:t>
            </a:r>
            <a:endParaRPr sz="1100">
              <a:latin typeface="Arial"/>
              <a:cs typeface="Arial"/>
            </a:endParaRPr>
          </a:p>
          <a:p>
            <a:pPr>
              <a:lnSpc>
                <a:spcPct val="100000"/>
              </a:lnSpc>
              <a:spcBef>
                <a:spcPts val="15"/>
              </a:spcBef>
            </a:pPr>
            <a:endParaRPr sz="1000">
              <a:latin typeface="Arial"/>
              <a:cs typeface="Arial"/>
            </a:endParaRPr>
          </a:p>
          <a:p>
            <a:pPr marL="469900" indent="-229235">
              <a:lnSpc>
                <a:spcPct val="100000"/>
              </a:lnSpc>
              <a:buAutoNum type="arabicPeriod" startAt="5"/>
              <a:tabLst>
                <a:tab pos="469900" algn="l"/>
              </a:tabLst>
            </a:pPr>
            <a:r>
              <a:rPr dirty="0" sz="1100" spc="-5" b="1">
                <a:latin typeface="Arial"/>
                <a:cs typeface="Arial"/>
              </a:rPr>
              <a:t>International supply </a:t>
            </a:r>
            <a:r>
              <a:rPr dirty="0" sz="1100" b="1">
                <a:latin typeface="Arial"/>
                <a:cs typeface="Arial"/>
              </a:rPr>
              <a:t>and </a:t>
            </a:r>
            <a:r>
              <a:rPr dirty="0" sz="1100" spc="-5" b="1">
                <a:latin typeface="Arial"/>
                <a:cs typeface="Arial"/>
              </a:rPr>
              <a:t>demand</a:t>
            </a:r>
            <a:endParaRPr sz="1100">
              <a:latin typeface="Arial"/>
              <a:cs typeface="Arial"/>
            </a:endParaRPr>
          </a:p>
          <a:p>
            <a:pPr>
              <a:lnSpc>
                <a:spcPct val="100000"/>
              </a:lnSpc>
              <a:spcBef>
                <a:spcPts val="55"/>
              </a:spcBef>
            </a:pPr>
            <a:endParaRPr sz="1150">
              <a:latin typeface="Arial"/>
              <a:cs typeface="Arial"/>
            </a:endParaRPr>
          </a:p>
          <a:p>
            <a:pPr algn="just" marL="12700" marR="7620">
              <a:lnSpc>
                <a:spcPct val="95800"/>
              </a:lnSpc>
            </a:pPr>
            <a:r>
              <a:rPr dirty="0" sz="1100" spc="-5">
                <a:latin typeface="Arial"/>
                <a:cs typeface="Arial"/>
              </a:rPr>
              <a:t>We assume that the economy is closed. This makes the model easy to develop. The </a:t>
            </a:r>
            <a:r>
              <a:rPr dirty="0" sz="1100">
                <a:latin typeface="Arial"/>
                <a:cs typeface="Arial"/>
              </a:rPr>
              <a:t>most  </a:t>
            </a:r>
            <a:r>
              <a:rPr dirty="0" sz="1100" spc="-5">
                <a:latin typeface="Arial"/>
                <a:cs typeface="Arial"/>
              </a:rPr>
              <a:t>important conclusions will remain </a:t>
            </a:r>
            <a:r>
              <a:rPr dirty="0" sz="1100">
                <a:latin typeface="Arial"/>
                <a:cs typeface="Arial"/>
              </a:rPr>
              <a:t>when </a:t>
            </a:r>
            <a:r>
              <a:rPr dirty="0" sz="1100" spc="-5">
                <a:latin typeface="Arial"/>
                <a:cs typeface="Arial"/>
              </a:rPr>
              <a:t>trade is allowed, provided that there are advantages to  having a domestic market. These advantages likely include initial economies of scale and  learning to achieve sufficient quality, favorable product characteristics, and better customer  support before having to produce for distant and unknown consumers. These are very realistic  considerations: Evidence suggests that export-led economies such as South Korea have  benefited enormously from the presence of a substantial domestic market to which early sales  are directed. Moreover, export-led economies have benefited from active industrial policy aimed  at overcoming coordination failures (see Chapter 12). The points will also hold if there are  necessary inputs that are not tradable, such as certain types of services. Alternative models  focusing on infrastructure investments can also imply the need for a big push even with a fully  open world</a:t>
            </a:r>
            <a:r>
              <a:rPr dirty="0" sz="1100">
                <a:latin typeface="Arial"/>
                <a:cs typeface="Arial"/>
              </a:rPr>
              <a:t> </a:t>
            </a:r>
            <a:r>
              <a:rPr dirty="0" sz="1100" spc="-5">
                <a:latin typeface="Arial"/>
                <a:cs typeface="Arial"/>
              </a:rPr>
              <a:t>economy.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140</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1540" cy="8253730"/>
          </a:xfrm>
          <a:prstGeom prst="rect">
            <a:avLst/>
          </a:prstGeom>
        </p:spPr>
        <p:txBody>
          <a:bodyPr wrap="square" lIns="0" tIns="12065" rIns="0" bIns="0" rtlCol="0" vert="horz">
            <a:spAutoFit/>
          </a:bodyPr>
          <a:lstStyle/>
          <a:p>
            <a:pPr marL="241300">
              <a:lnSpc>
                <a:spcPct val="100000"/>
              </a:lnSpc>
              <a:spcBef>
                <a:spcPts val="95"/>
              </a:spcBef>
            </a:pPr>
            <a:r>
              <a:rPr dirty="0" sz="1100" spc="-5" b="1">
                <a:latin typeface="Arial"/>
                <a:cs typeface="Arial"/>
              </a:rPr>
              <a:t>6. Market</a:t>
            </a:r>
            <a:r>
              <a:rPr dirty="0" sz="1100" spc="-25" b="1">
                <a:latin typeface="Arial"/>
                <a:cs typeface="Arial"/>
              </a:rPr>
              <a:t> </a:t>
            </a:r>
            <a:r>
              <a:rPr dirty="0" sz="1100" spc="-5" b="1">
                <a:latin typeface="Arial"/>
                <a:cs typeface="Arial"/>
              </a:rPr>
              <a:t>structure</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We assume perfect competition in the traditional (cottage industry) sector, with free </a:t>
            </a:r>
            <a:r>
              <a:rPr dirty="0" sz="1100">
                <a:latin typeface="Arial"/>
                <a:cs typeface="Arial"/>
              </a:rPr>
              <a:t>entry </a:t>
            </a:r>
            <a:r>
              <a:rPr dirty="0" sz="1100" spc="-5">
                <a:latin typeface="Arial"/>
                <a:cs typeface="Arial"/>
              </a:rPr>
              <a:t>and </a:t>
            </a:r>
            <a:r>
              <a:rPr dirty="0" sz="1100">
                <a:latin typeface="Arial"/>
                <a:cs typeface="Arial"/>
              </a:rPr>
              <a:t>no  </a:t>
            </a:r>
            <a:r>
              <a:rPr dirty="0" sz="1100" spc="-5">
                <a:latin typeface="Arial"/>
                <a:cs typeface="Arial"/>
              </a:rPr>
              <a:t>economic profits. Therefore, the price of each good will be 1, the marginal cost of labor (which is  the only input). We assume that at most, one modern-sector firm can enter each market. This  limitation is a consequence of increasing returns to scale. Given the assumptions about  preferences, the monopolist faces unit-elastic demand, so if this monopolist could raise its price  above 1, it would be profitable to do so. However, if price is raised above 1, competition from  the traditional sector producers will cause the modern-sector firm to </a:t>
            </a:r>
            <a:r>
              <a:rPr dirty="0" sz="1100">
                <a:latin typeface="Arial"/>
                <a:cs typeface="Arial"/>
              </a:rPr>
              <a:t>lose </a:t>
            </a:r>
            <a:r>
              <a:rPr dirty="0" sz="1100" spc="-5">
                <a:latin typeface="Arial"/>
                <a:cs typeface="Arial"/>
              </a:rPr>
              <a:t>all of its business.  Therefore, the monopolist will also charge a price of 1 if it decides to enter the market. Because  the monopolist charges the same price, it will monopolize this particular market if it enters but  will also produce the same quantity that was produced by the traditional producers. Because  this firm is the only one using modern techniques and in producing all other products workers  receives a wage of 1, national income will be essentially the same, so more units of output  cannot be sold. We also assume that at the point the monopolist would choose to produce, it is  able to produce at least as much output as the traditional producers for that same level of labor;  otherwise, it would make no sense to switch out of the traditional</a:t>
            </a:r>
            <a:r>
              <a:rPr dirty="0" sz="1100" spc="85">
                <a:latin typeface="Arial"/>
                <a:cs typeface="Arial"/>
              </a:rPr>
              <a:t> </a:t>
            </a:r>
            <a:r>
              <a:rPr dirty="0" sz="1100" spc="-5">
                <a:latin typeface="Arial"/>
                <a:cs typeface="Arial"/>
              </a:rPr>
              <a:t>techniques.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CONDITIONS FOR MULTIPLE</a:t>
            </a:r>
            <a:r>
              <a:rPr dirty="0" sz="1100" spc="10" b="1">
                <a:latin typeface="Arial"/>
                <a:cs typeface="Arial"/>
              </a:rPr>
              <a:t> </a:t>
            </a:r>
            <a:r>
              <a:rPr dirty="0" sz="1100" spc="-5" b="1">
                <a:latin typeface="Arial"/>
                <a:cs typeface="Arial"/>
              </a:rPr>
              <a:t>EQUILIBRIA</a:t>
            </a:r>
            <a:endParaRPr sz="1100">
              <a:latin typeface="Arial"/>
              <a:cs typeface="Arial"/>
            </a:endParaRPr>
          </a:p>
          <a:p>
            <a:pPr>
              <a:lnSpc>
                <a:spcPct val="100000"/>
              </a:lnSpc>
              <a:spcBef>
                <a:spcPts val="50"/>
              </a:spcBef>
            </a:pPr>
            <a:endParaRPr sz="1150">
              <a:latin typeface="Arial"/>
              <a:cs typeface="Arial"/>
            </a:endParaRPr>
          </a:p>
          <a:p>
            <a:pPr algn="just" marL="12700" marR="6985">
              <a:lnSpc>
                <a:spcPct val="95800"/>
              </a:lnSpc>
              <a:spcBef>
                <a:spcPts val="5"/>
              </a:spcBef>
            </a:pPr>
            <a:r>
              <a:rPr dirty="0" sz="1100" spc="-5">
                <a:latin typeface="Arial"/>
                <a:cs typeface="Arial"/>
              </a:rPr>
              <a:t>With these six assumptions, we can characterize cases that will require a big push. To begin,  suppose that we </a:t>
            </a:r>
            <a:r>
              <a:rPr dirty="0" sz="1100">
                <a:latin typeface="Arial"/>
                <a:cs typeface="Arial"/>
              </a:rPr>
              <a:t>have </a:t>
            </a:r>
            <a:r>
              <a:rPr dirty="0" sz="1100" spc="-5">
                <a:latin typeface="Arial"/>
                <a:cs typeface="Arial"/>
              </a:rPr>
              <a:t>a traditional economy with no modern production in any market. A  potential producer with modern technology (i.e., a technology like the one described previously,  with fixed costs and increasing returns) considers whether it is profitable to enter the market.  Given the size of the fixed cost, the answer depends on two considerations: (1) how much more  efficient the modern sector is than the traditional sector and (2) how </a:t>
            </a:r>
            <a:r>
              <a:rPr dirty="0" sz="1100">
                <a:latin typeface="Arial"/>
                <a:cs typeface="Arial"/>
              </a:rPr>
              <a:t>much </a:t>
            </a:r>
            <a:r>
              <a:rPr dirty="0" sz="1100" spc="-5">
                <a:latin typeface="Arial"/>
                <a:cs typeface="Arial"/>
              </a:rPr>
              <a:t>higher wages are in  the modern sector than in the traditional</a:t>
            </a:r>
            <a:r>
              <a:rPr dirty="0" sz="1100" spc="35">
                <a:latin typeface="Arial"/>
                <a:cs typeface="Arial"/>
              </a:rPr>
              <a:t> </a:t>
            </a:r>
            <a:r>
              <a:rPr dirty="0" sz="1100" spc="-5">
                <a:latin typeface="Arial"/>
                <a:cs typeface="Arial"/>
              </a:rPr>
              <a:t>sector.</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In Figure 4.2, production functions are represented for the two types of firms for any industry.  The traditional producers use a linear technique with slope 1, with </a:t>
            </a:r>
            <a:r>
              <a:rPr dirty="0" sz="1100">
                <a:latin typeface="Arial"/>
                <a:cs typeface="Arial"/>
              </a:rPr>
              <a:t>each </a:t>
            </a:r>
            <a:r>
              <a:rPr dirty="0" sz="1100" spc="-5">
                <a:latin typeface="Arial"/>
                <a:cs typeface="Arial"/>
              </a:rPr>
              <a:t>worker producing one  unit of output. The modern firm requires F workers before it can produce anything, but after </a:t>
            </a:r>
            <a:r>
              <a:rPr dirty="0" sz="1100">
                <a:latin typeface="Arial"/>
                <a:cs typeface="Arial"/>
              </a:rPr>
              <a:t>that,  </a:t>
            </a:r>
            <a:r>
              <a:rPr dirty="0" sz="1100" spc="-5">
                <a:latin typeface="Arial"/>
                <a:cs typeface="Arial"/>
              </a:rPr>
              <a:t>it has a linear technique with slope 1/c 7 1. Price is 1, so revenues PQ can be read off the Q  axis. For the traditional firm, the wage bill line lies coincident with the production line (both start  at the origin and have a slope of 1). For the modern firm, the wage bill line has slope W 7 1. At  point A, we see the output that the modern </a:t>
            </a:r>
            <a:r>
              <a:rPr dirty="0" sz="1100">
                <a:latin typeface="Arial"/>
                <a:cs typeface="Arial"/>
              </a:rPr>
              <a:t>firm </a:t>
            </a:r>
            <a:r>
              <a:rPr dirty="0" sz="1100" spc="-5">
                <a:latin typeface="Arial"/>
                <a:cs typeface="Arial"/>
              </a:rPr>
              <a:t>will produce if it enters, provided there are  traditional firms operating in the rest of the economy. Whether the modern firm enters depends,  of course, on whether it is profitable to do</a:t>
            </a:r>
            <a:r>
              <a:rPr dirty="0" sz="1100" spc="40">
                <a:latin typeface="Arial"/>
                <a:cs typeface="Arial"/>
              </a:rPr>
              <a:t> </a:t>
            </a:r>
            <a:r>
              <a:rPr dirty="0" sz="1100" spc="-5">
                <a:latin typeface="Arial"/>
                <a:cs typeface="Arial"/>
              </a:rPr>
              <a:t>so.</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900"/>
              </a:lnSpc>
            </a:pPr>
            <a:r>
              <a:rPr dirty="0" sz="1100" spc="-5">
                <a:latin typeface="Arial"/>
                <a:cs typeface="Arial"/>
              </a:rPr>
              <a:t>Using Figure 4.2, first consider a wage bill line like W1 passing below point A. With this  relatively low modern wage, revenues exceed costs, and the modern firm will pay the fixed cost  F and enter the market. In general, this outcome is more likely if the firm </a:t>
            </a:r>
            <a:r>
              <a:rPr dirty="0" sz="1100">
                <a:latin typeface="Arial"/>
                <a:cs typeface="Arial"/>
              </a:rPr>
              <a:t>has </a:t>
            </a:r>
            <a:r>
              <a:rPr dirty="0" sz="1100" spc="-5">
                <a:latin typeface="Arial"/>
                <a:cs typeface="Arial"/>
              </a:rPr>
              <a:t>lower fixed costs or  lower marginal labor requirements as well as if it pays a lower wage. By assumption, production  functions are the same for each good, so if a modern firm finds it profitable to produce one  good, the same incentives will be present for producing all goods, and the whole economy will  industrialize through market forces alone; demand is now </a:t>
            </a:r>
            <a:r>
              <a:rPr dirty="0" sz="1100">
                <a:latin typeface="Arial"/>
                <a:cs typeface="Arial"/>
              </a:rPr>
              <a:t>high </a:t>
            </a:r>
            <a:r>
              <a:rPr dirty="0" sz="1100" spc="-5">
                <a:latin typeface="Arial"/>
                <a:cs typeface="Arial"/>
              </a:rPr>
              <a:t>enough that we end </a:t>
            </a:r>
            <a:r>
              <a:rPr dirty="0" sz="1100">
                <a:latin typeface="Arial"/>
                <a:cs typeface="Arial"/>
              </a:rPr>
              <a:t>up </a:t>
            </a:r>
            <a:r>
              <a:rPr dirty="0" sz="1100" spc="-5">
                <a:latin typeface="Arial"/>
                <a:cs typeface="Arial"/>
              </a:rPr>
              <a:t>at point B  for each product. This shows that a coordination failure need not always happen: It depends on  the technology and prices (including wages) prevailing in the</a:t>
            </a:r>
            <a:r>
              <a:rPr dirty="0" sz="1100" spc="50">
                <a:latin typeface="Arial"/>
                <a:cs typeface="Arial"/>
              </a:rPr>
              <a:t> </a:t>
            </a:r>
            <a:r>
              <a:rPr dirty="0" sz="1100" spc="-5">
                <a:latin typeface="Arial"/>
                <a:cs typeface="Arial"/>
              </a:rPr>
              <a:t>economy.</a:t>
            </a:r>
            <a:endParaRPr sz="1100">
              <a:latin typeface="Arial"/>
              <a:cs typeface="Arial"/>
            </a:endParaRPr>
          </a:p>
          <a:p>
            <a:pPr>
              <a:lnSpc>
                <a:spcPct val="100000"/>
              </a:lnSpc>
              <a:spcBef>
                <a:spcPts val="25"/>
              </a:spcBef>
            </a:pPr>
            <a:endParaRPr sz="1100">
              <a:latin typeface="Arial"/>
              <a:cs typeface="Arial"/>
            </a:endParaRPr>
          </a:p>
          <a:p>
            <a:pPr algn="just" marL="12700" marR="6985">
              <a:lnSpc>
                <a:spcPts val="1270"/>
              </a:lnSpc>
            </a:pPr>
            <a:r>
              <a:rPr dirty="0" sz="1100" spc="-5">
                <a:latin typeface="Arial"/>
                <a:cs typeface="Arial"/>
              </a:rPr>
              <a:t>If a wage bill line like W2 holds, passing between points A and B, the firm would not enter if it  were the only modern firm to do so in the economy because it would incur losses. But if modern  firms</a:t>
            </a:r>
            <a:r>
              <a:rPr dirty="0" sz="1100" spc="15">
                <a:latin typeface="Arial"/>
                <a:cs typeface="Arial"/>
              </a:rPr>
              <a:t> </a:t>
            </a:r>
            <a:r>
              <a:rPr dirty="0" sz="1100" spc="-5">
                <a:latin typeface="Arial"/>
                <a:cs typeface="Arial"/>
              </a:rPr>
              <a:t>enter</a:t>
            </a:r>
            <a:r>
              <a:rPr dirty="0" sz="1100" spc="15">
                <a:latin typeface="Arial"/>
                <a:cs typeface="Arial"/>
              </a:rPr>
              <a:t> </a:t>
            </a:r>
            <a:r>
              <a:rPr dirty="0" sz="1100" spc="-5">
                <a:latin typeface="Arial"/>
                <a:cs typeface="Arial"/>
              </a:rPr>
              <a:t>in</a:t>
            </a:r>
            <a:r>
              <a:rPr dirty="0" sz="1100" spc="15">
                <a:latin typeface="Arial"/>
                <a:cs typeface="Arial"/>
              </a:rPr>
              <a:t> </a:t>
            </a:r>
            <a:r>
              <a:rPr dirty="0" sz="1100" spc="-5">
                <a:latin typeface="Arial"/>
                <a:cs typeface="Arial"/>
              </a:rPr>
              <a:t>each</a:t>
            </a:r>
            <a:r>
              <a:rPr dirty="0" sz="1100" spc="1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the</a:t>
            </a:r>
            <a:r>
              <a:rPr dirty="0" sz="1100" spc="15">
                <a:latin typeface="Arial"/>
                <a:cs typeface="Arial"/>
              </a:rPr>
              <a:t> </a:t>
            </a:r>
            <a:r>
              <a:rPr dirty="0" sz="1100" spc="-5">
                <a:latin typeface="Arial"/>
                <a:cs typeface="Arial"/>
              </a:rPr>
              <a:t>markets,</a:t>
            </a:r>
            <a:r>
              <a:rPr dirty="0" sz="1100" spc="15">
                <a:latin typeface="Arial"/>
                <a:cs typeface="Arial"/>
              </a:rPr>
              <a:t> </a:t>
            </a:r>
            <a:r>
              <a:rPr dirty="0" sz="1100">
                <a:latin typeface="Arial"/>
                <a:cs typeface="Arial"/>
              </a:rPr>
              <a:t>then</a:t>
            </a:r>
            <a:r>
              <a:rPr dirty="0" sz="1100" spc="15">
                <a:latin typeface="Arial"/>
                <a:cs typeface="Arial"/>
              </a:rPr>
              <a:t> </a:t>
            </a:r>
            <a:r>
              <a:rPr dirty="0" sz="1100" spc="-5">
                <a:latin typeface="Arial"/>
                <a:cs typeface="Arial"/>
              </a:rPr>
              <a:t>wages</a:t>
            </a:r>
            <a:r>
              <a:rPr dirty="0" sz="1100" spc="25">
                <a:latin typeface="Arial"/>
                <a:cs typeface="Arial"/>
              </a:rPr>
              <a:t> </a:t>
            </a:r>
            <a:r>
              <a:rPr dirty="0" sz="1100" spc="-5">
                <a:latin typeface="Arial"/>
                <a:cs typeface="Arial"/>
              </a:rPr>
              <a:t>are</a:t>
            </a:r>
            <a:r>
              <a:rPr dirty="0" sz="1100" spc="15">
                <a:latin typeface="Arial"/>
                <a:cs typeface="Arial"/>
              </a:rPr>
              <a:t> </a:t>
            </a:r>
            <a:r>
              <a:rPr dirty="0" sz="1100" spc="-5">
                <a:latin typeface="Arial"/>
                <a:cs typeface="Arial"/>
              </a:rPr>
              <a:t>increased</a:t>
            </a:r>
            <a:r>
              <a:rPr dirty="0" sz="1100" spc="15">
                <a:latin typeface="Arial"/>
                <a:cs typeface="Arial"/>
              </a:rPr>
              <a:t> </a:t>
            </a:r>
            <a:r>
              <a:rPr dirty="0" sz="1100" spc="-5">
                <a:latin typeface="Arial"/>
                <a:cs typeface="Arial"/>
              </a:rPr>
              <a:t>to</a:t>
            </a:r>
            <a:r>
              <a:rPr dirty="0" sz="1100" spc="15">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modern</a:t>
            </a:r>
            <a:r>
              <a:rPr dirty="0" sz="1100" spc="15">
                <a:latin typeface="Arial"/>
                <a:cs typeface="Arial"/>
              </a:rPr>
              <a:t> </a:t>
            </a:r>
            <a:r>
              <a:rPr dirty="0" sz="1100" spc="-5">
                <a:latin typeface="Arial"/>
                <a:cs typeface="Arial"/>
              </a:rPr>
              <a:t>wage</a:t>
            </a:r>
            <a:r>
              <a:rPr dirty="0" sz="1100" spc="15">
                <a:latin typeface="Arial"/>
                <a:cs typeface="Arial"/>
              </a:rPr>
              <a:t> </a:t>
            </a:r>
            <a:r>
              <a:rPr dirty="0" sz="1100">
                <a:latin typeface="Arial"/>
                <a:cs typeface="Arial"/>
              </a:rPr>
              <a:t>in</a:t>
            </a:r>
            <a:r>
              <a:rPr dirty="0" sz="1100" spc="15">
                <a:latin typeface="Arial"/>
                <a:cs typeface="Arial"/>
              </a:rPr>
              <a:t> </a:t>
            </a:r>
            <a:r>
              <a:rPr dirty="0" sz="1100" spc="-5">
                <a:latin typeface="Arial"/>
                <a:cs typeface="Arial"/>
              </a:rPr>
              <a:t>all</a:t>
            </a:r>
            <a:r>
              <a:rPr dirty="0" sz="1100" spc="15">
                <a:latin typeface="Arial"/>
                <a:cs typeface="Arial"/>
              </a:rPr>
              <a:t> </a:t>
            </a:r>
            <a:r>
              <a:rPr dirty="0" sz="1100" spc="-5">
                <a:latin typeface="Arial"/>
                <a:cs typeface="Arial"/>
              </a:rPr>
              <a:t>markets,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141</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175" cy="79324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and income expands. We may assume that price remains 1 after industrialization. Note that the  traditional technique still exists and would be profitable with a price higher than 1. So </a:t>
            </a:r>
            <a:r>
              <a:rPr dirty="0" sz="1100">
                <a:latin typeface="Arial"/>
                <a:cs typeface="Arial"/>
              </a:rPr>
              <a:t>to </a:t>
            </a:r>
            <a:r>
              <a:rPr dirty="0" sz="1100" spc="-5">
                <a:latin typeface="Arial"/>
                <a:cs typeface="Arial"/>
              </a:rPr>
              <a:t>prevent  traditional firms from entering, modern firms cannot raise prices above 1.24 The modern firm  can now sell all of its expanded output (at point B), produced by using all of its available labor  allocation (L/N), because it has sufficient demand from workers and entrepreneurs in the other  industrializing product sectors. As can be seen in Figure 4.2, with prevailing wage W2, point B is  profitable after industrialization because it lies above the W2 line. Workers are also at least as  well off as when they worked in the traditional sector because they can afford to purchase an  additional quantity of goods in proportion to their increased wage, and they have changed  sectors voluntarily. All of the output is purchased because all of national income is spent on  output; national income is equal to wages plus profits, the value of which is output of each  product times the number of products</a:t>
            </a:r>
            <a:r>
              <a:rPr dirty="0" sz="1100" spc="25">
                <a:latin typeface="Arial"/>
                <a:cs typeface="Arial"/>
              </a:rPr>
              <a:t> </a:t>
            </a:r>
            <a:r>
              <a:rPr dirty="0" sz="1100" spc="-5">
                <a:latin typeface="Arial"/>
                <a:cs typeface="Arial"/>
              </a:rPr>
              <a:t>N.</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A final possibility is found in a wage bill line like W3, passing above point B. In this case, even if  a modern producer entered in all product sectors, all of these firms </a:t>
            </a:r>
            <a:r>
              <a:rPr dirty="0" sz="1100">
                <a:latin typeface="Arial"/>
                <a:cs typeface="Arial"/>
              </a:rPr>
              <a:t>would </a:t>
            </a:r>
            <a:r>
              <a:rPr dirty="0" sz="1100" spc="-5">
                <a:latin typeface="Arial"/>
                <a:cs typeface="Arial"/>
              </a:rPr>
              <a:t>still lose money, so  again the traditional technique would continue to be used. In general, whenever the wage bill  line passes below point A, the market will lead the economy to modernize, and whenever </a:t>
            </a:r>
            <a:r>
              <a:rPr dirty="0" sz="1100">
                <a:latin typeface="Arial"/>
                <a:cs typeface="Arial"/>
              </a:rPr>
              <a:t>it  </a:t>
            </a:r>
            <a:r>
              <a:rPr dirty="0" sz="1100" spc="-5">
                <a:latin typeface="Arial"/>
                <a:cs typeface="Arial"/>
              </a:rPr>
              <a:t>passes above A, it will not. The steeper (i.e., more efficient) the modern-sector production  technique or the lower the fixed costs, the more likely it is that the wage bill will pass below the  corresponding point A. If the line passes above B, it makes no sense to industrialize. But if the  wage line passes between points A and B, it is efficient to industrialize, but the market will not  achieve this on its own. Be sure to note that these are three different wages that might exist  depending on conditions in a particular economy at one point in time, not three wages that occur  successively.</a:t>
            </a:r>
            <a:endParaRPr sz="1100">
              <a:latin typeface="Arial"/>
              <a:cs typeface="Arial"/>
            </a:endParaRPr>
          </a:p>
          <a:p>
            <a:pPr>
              <a:lnSpc>
                <a:spcPct val="100000"/>
              </a:lnSpc>
              <a:spcBef>
                <a:spcPts val="50"/>
              </a:spcBef>
            </a:pPr>
            <a:endParaRPr sz="1050">
              <a:latin typeface="Arial"/>
              <a:cs typeface="Arial"/>
            </a:endParaRPr>
          </a:p>
          <a:p>
            <a:pPr algn="just" marL="12700" marR="6985">
              <a:lnSpc>
                <a:spcPct val="95900"/>
              </a:lnSpc>
            </a:pPr>
            <a:r>
              <a:rPr dirty="0" sz="1100" spc="-5">
                <a:latin typeface="Arial"/>
                <a:cs typeface="Arial"/>
              </a:rPr>
              <a:t>We could also have cases of semi-industrialization, in which benefits or costs accrue in different  amounts to different product sectors or in which there are different types of spillovers from firm  to firm. For example, </a:t>
            </a:r>
            <a:r>
              <a:rPr dirty="0" sz="1100">
                <a:latin typeface="Arial"/>
                <a:cs typeface="Arial"/>
              </a:rPr>
              <a:t>this </a:t>
            </a:r>
            <a:r>
              <a:rPr dirty="0" sz="1100" spc="-5">
                <a:latin typeface="Arial"/>
                <a:cs typeface="Arial"/>
              </a:rPr>
              <a:t>is plausible when the level of required fixed costs declines the more  product sectors industrialize, because there are more local examples from which to learn.28  With this alternative type of externality, no wage premium </a:t>
            </a:r>
            <a:r>
              <a:rPr dirty="0" sz="1100">
                <a:latin typeface="Arial"/>
                <a:cs typeface="Arial"/>
              </a:rPr>
              <a:t>is </a:t>
            </a:r>
            <a:r>
              <a:rPr dirty="0" sz="1100" spc="-5">
                <a:latin typeface="Arial"/>
                <a:cs typeface="Arial"/>
              </a:rPr>
              <a:t>necessary for multiple equilibria to  be present. In this case, if there are clusters of two or more firms that have large effects on each  other’s fixed costs F but not on firms outside of the cluster, the result could be an equilibrium in  which only the industries in this cluster change to modern techniques. Thus in </a:t>
            </a:r>
            <a:r>
              <a:rPr dirty="0" sz="1100">
                <a:latin typeface="Arial"/>
                <a:cs typeface="Arial"/>
              </a:rPr>
              <a:t>this  </a:t>
            </a:r>
            <a:r>
              <a:rPr dirty="0" sz="1100" spc="-5">
                <a:latin typeface="Arial"/>
                <a:cs typeface="Arial"/>
              </a:rPr>
              <a:t>circumstance, we could have three or more equilibria; we could also have enclave economies,  in which a modern sector exists side by side </a:t>
            </a:r>
            <a:r>
              <a:rPr dirty="0" sz="1100">
                <a:latin typeface="Arial"/>
                <a:cs typeface="Arial"/>
              </a:rPr>
              <a:t>with </a:t>
            </a:r>
            <a:r>
              <a:rPr dirty="0" sz="1100" spc="-5">
                <a:latin typeface="Arial"/>
                <a:cs typeface="Arial"/>
              </a:rPr>
              <a:t>traditional cottage industries in other product  sectors.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TECHNOLOGICAL EXTERNALITY</a:t>
            </a:r>
            <a:endParaRPr sz="1100">
              <a:latin typeface="Arial"/>
              <a:cs typeface="Arial"/>
            </a:endParaRPr>
          </a:p>
          <a:p>
            <a:pPr>
              <a:lnSpc>
                <a:spcPct val="100000"/>
              </a:lnSpc>
              <a:spcBef>
                <a:spcPts val="30"/>
              </a:spcBef>
            </a:pPr>
            <a:endParaRPr sz="1200">
              <a:latin typeface="Arial"/>
              <a:cs typeface="Arial"/>
            </a:endParaRPr>
          </a:p>
          <a:p>
            <a:pPr algn="just" marL="12700" marR="5715">
              <a:lnSpc>
                <a:spcPts val="1270"/>
              </a:lnSpc>
            </a:pPr>
            <a:r>
              <a:rPr dirty="0" sz="1100" spc="-5" i="1">
                <a:latin typeface="Arial"/>
                <a:cs typeface="Arial"/>
              </a:rPr>
              <a:t>"A positive or negative spillover effect on a firm’s production function through some means other  </a:t>
            </a:r>
            <a:r>
              <a:rPr dirty="0" sz="1100" spc="-5" i="1">
                <a:latin typeface="Arial"/>
                <a:cs typeface="Arial"/>
              </a:rPr>
              <a:t>than market</a:t>
            </a:r>
            <a:r>
              <a:rPr dirty="0" sz="1100" spc="5" i="1">
                <a:latin typeface="Arial"/>
                <a:cs typeface="Arial"/>
              </a:rPr>
              <a:t> </a:t>
            </a:r>
            <a:r>
              <a:rPr dirty="0" sz="1100" spc="-5" i="1">
                <a:latin typeface="Arial"/>
                <a:cs typeface="Arial"/>
              </a:rPr>
              <a:t>exchange."</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a:latin typeface="Arial"/>
                <a:cs typeface="Arial"/>
              </a:rPr>
              <a:t>WHY THE PROBLEM CANNOT BE SOLVED BY A</a:t>
            </a:r>
            <a:r>
              <a:rPr dirty="0" sz="1100" spc="55" b="1">
                <a:latin typeface="Arial"/>
                <a:cs typeface="Arial"/>
              </a:rPr>
              <a:t> </a:t>
            </a:r>
            <a:r>
              <a:rPr dirty="0" sz="1100" spc="-5" b="1">
                <a:latin typeface="Arial"/>
                <a:cs typeface="Arial"/>
              </a:rPr>
              <a:t>SUPER-ENTREPRENEUR</a:t>
            </a:r>
            <a:endParaRPr sz="1100">
              <a:latin typeface="Arial"/>
              <a:cs typeface="Arial"/>
            </a:endParaRPr>
          </a:p>
          <a:p>
            <a:pPr>
              <a:lnSpc>
                <a:spcPct val="100000"/>
              </a:lnSpc>
              <a:spcBef>
                <a:spcPts val="55"/>
              </a:spcBef>
            </a:pPr>
            <a:endParaRPr sz="1100">
              <a:latin typeface="Arial"/>
              <a:cs typeface="Arial"/>
            </a:endParaRPr>
          </a:p>
          <a:p>
            <a:pPr algn="just" marL="12700">
              <a:lnSpc>
                <a:spcPts val="1295"/>
              </a:lnSpc>
            </a:pPr>
            <a:r>
              <a:rPr dirty="0" sz="1100" spc="-5">
                <a:latin typeface="Arial"/>
                <a:cs typeface="Arial"/>
              </a:rPr>
              <a:t>There are at least four significant theoretical answers and one decisive empirical</a:t>
            </a:r>
            <a:r>
              <a:rPr dirty="0" sz="1100" spc="150">
                <a:latin typeface="Arial"/>
                <a:cs typeface="Arial"/>
              </a:rPr>
              <a:t> </a:t>
            </a:r>
            <a:r>
              <a:rPr dirty="0" sz="1100" spc="-5">
                <a:latin typeface="Arial"/>
                <a:cs typeface="Arial"/>
              </a:rPr>
              <a:t>answer.</a:t>
            </a:r>
            <a:endParaRPr sz="1100">
              <a:latin typeface="Arial"/>
              <a:cs typeface="Arial"/>
            </a:endParaRPr>
          </a:p>
          <a:p>
            <a:pPr algn="just" marL="12700" marR="7620">
              <a:lnSpc>
                <a:spcPct val="95800"/>
              </a:lnSpc>
              <a:spcBef>
                <a:spcPts val="30"/>
              </a:spcBef>
            </a:pPr>
            <a:r>
              <a:rPr dirty="0" sz="1100" spc="-5" b="1">
                <a:latin typeface="Arial"/>
                <a:cs typeface="Arial"/>
              </a:rPr>
              <a:t>First, </a:t>
            </a:r>
            <a:r>
              <a:rPr dirty="0" sz="1100" spc="-5">
                <a:latin typeface="Arial"/>
                <a:cs typeface="Arial"/>
              </a:rPr>
              <a:t>there may be capital market failures. How could one agent assemble all the capital  needed to play the super-entrepreneur role? Even if this were logistically imaginable, how would  lenders have confidence in their investments? In particular, how could a penalty </a:t>
            </a:r>
            <a:r>
              <a:rPr dirty="0" sz="1100">
                <a:latin typeface="Arial"/>
                <a:cs typeface="Arial"/>
              </a:rPr>
              <a:t>for </a:t>
            </a:r>
            <a:r>
              <a:rPr dirty="0" sz="1100" spc="-5">
                <a:latin typeface="Arial"/>
                <a:cs typeface="Arial"/>
              </a:rPr>
              <a:t>default be  imposed?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142</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501205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b="1">
                <a:latin typeface="Arial"/>
                <a:cs typeface="Arial"/>
              </a:rPr>
              <a:t>Second, </a:t>
            </a:r>
            <a:r>
              <a:rPr dirty="0" sz="1100" spc="-5">
                <a:latin typeface="Arial"/>
                <a:cs typeface="Arial"/>
              </a:rPr>
              <a:t>there may be costs of monitoring managers and other agents and designing and  implementing schemes to ensure compliance or provide incentives to follow the wishes of the  employer; </a:t>
            </a:r>
            <a:r>
              <a:rPr dirty="0" sz="1100">
                <a:latin typeface="Arial"/>
                <a:cs typeface="Arial"/>
              </a:rPr>
              <a:t>these </a:t>
            </a:r>
            <a:r>
              <a:rPr dirty="0" sz="1100" spc="-5">
                <a:latin typeface="Arial"/>
                <a:cs typeface="Arial"/>
              </a:rPr>
              <a:t>are often referred to as agency costs. Monitoring is too expensive once the  scale of a firm gets too large. Even if the plan is to sell off the industries, these industries must  be developed simultaneously. The super-entrepreneur is likely to know more </a:t>
            </a:r>
            <a:r>
              <a:rPr dirty="0" sz="1100">
                <a:latin typeface="Arial"/>
                <a:cs typeface="Arial"/>
              </a:rPr>
              <a:t>about </a:t>
            </a:r>
            <a:r>
              <a:rPr dirty="0" sz="1100" spc="-5">
                <a:latin typeface="Arial"/>
                <a:cs typeface="Arial"/>
              </a:rPr>
              <a:t>the firms  than the potential buyers will. In other words, if </a:t>
            </a:r>
            <a:r>
              <a:rPr dirty="0" sz="1100">
                <a:latin typeface="Arial"/>
                <a:cs typeface="Arial"/>
              </a:rPr>
              <a:t>the </a:t>
            </a:r>
            <a:r>
              <a:rPr dirty="0" sz="1100" spc="-5">
                <a:latin typeface="Arial"/>
                <a:cs typeface="Arial"/>
              </a:rPr>
              <a:t>firm is so profitable, why would its owners be  selling? Thus potential purchasers of the industries face a problem of asymmetric information,  often known as the “lemons</a:t>
            </a:r>
            <a:r>
              <a:rPr dirty="0" sz="1100" spc="20">
                <a:latin typeface="Arial"/>
                <a:cs typeface="Arial"/>
              </a:rPr>
              <a:t> </a:t>
            </a:r>
            <a:r>
              <a:rPr dirty="0" sz="1100" spc="-5">
                <a:latin typeface="Arial"/>
                <a:cs typeface="Arial"/>
              </a:rPr>
              <a:t>problem".</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b="1">
                <a:latin typeface="Arial"/>
                <a:cs typeface="Arial"/>
              </a:rPr>
              <a:t>Third, </a:t>
            </a:r>
            <a:r>
              <a:rPr dirty="0" sz="1100" spc="-5">
                <a:latin typeface="Arial"/>
                <a:cs typeface="Arial"/>
              </a:rPr>
              <a:t>there may be communication failures. Suppose someone says to you, “I am coordinating  investments, so work with me.” Should you do so? How do you know this person will eventually  be the coordinator? There is a potentially huge profit to be made </a:t>
            </a:r>
            <a:r>
              <a:rPr dirty="0" sz="1100">
                <a:latin typeface="Arial"/>
                <a:cs typeface="Arial"/>
              </a:rPr>
              <a:t>by </a:t>
            </a:r>
            <a:r>
              <a:rPr dirty="0" sz="1100" spc="-5">
                <a:latin typeface="Arial"/>
                <a:cs typeface="Arial"/>
              </a:rPr>
              <a:t>assuming the super-  entrepreneur role; so many agents might wish </a:t>
            </a:r>
            <a:r>
              <a:rPr dirty="0" sz="1100">
                <a:latin typeface="Arial"/>
                <a:cs typeface="Arial"/>
              </a:rPr>
              <a:t>to </a:t>
            </a:r>
            <a:r>
              <a:rPr dirty="0" sz="1100" spc="-5">
                <a:latin typeface="Arial"/>
                <a:cs typeface="Arial"/>
              </a:rPr>
              <a:t>play it. If many try to claim the role, with which  one should you coordinate? Even if each agent personally encounters only one pretender to the  super-entrepreneur role, that pretender </a:t>
            </a:r>
            <a:r>
              <a:rPr dirty="0" sz="1100">
                <a:latin typeface="Arial"/>
                <a:cs typeface="Arial"/>
              </a:rPr>
              <a:t>may </a:t>
            </a:r>
            <a:r>
              <a:rPr dirty="0" sz="1100" spc="-5">
                <a:latin typeface="Arial"/>
                <a:cs typeface="Arial"/>
              </a:rPr>
              <a:t>still not be the right one (i.e., the coordinator with  </a:t>
            </a:r>
            <a:r>
              <a:rPr dirty="0" sz="1100" spc="-10">
                <a:latin typeface="Arial"/>
                <a:cs typeface="Arial"/>
              </a:rPr>
              <a:t>whom </a:t>
            </a:r>
            <a:r>
              <a:rPr dirty="0" sz="1100" spc="-5">
                <a:latin typeface="Arial"/>
                <a:cs typeface="Arial"/>
              </a:rPr>
              <a:t>you can make</a:t>
            </a:r>
            <a:r>
              <a:rPr dirty="0" sz="1100" spc="20">
                <a:latin typeface="Arial"/>
                <a:cs typeface="Arial"/>
              </a:rPr>
              <a:t> </a:t>
            </a:r>
            <a:r>
              <a:rPr dirty="0" sz="1100" spc="-5">
                <a:latin typeface="Arial"/>
                <a:cs typeface="Arial"/>
              </a:rPr>
              <a:t>money).</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700"/>
              </a:lnSpc>
            </a:pPr>
            <a:r>
              <a:rPr dirty="0" sz="1100" spc="-5" b="1">
                <a:latin typeface="Arial"/>
                <a:cs typeface="Arial"/>
              </a:rPr>
              <a:t>Fourth, </a:t>
            </a:r>
            <a:r>
              <a:rPr dirty="0" sz="1100" spc="-5">
                <a:latin typeface="Arial"/>
                <a:cs typeface="Arial"/>
              </a:rPr>
              <a:t>there are limits to knowledge. Even if we stipulate that the economy as a whole has  access to modern technology ideas, this does not mean </a:t>
            </a:r>
            <a:r>
              <a:rPr dirty="0" sz="1100">
                <a:latin typeface="Arial"/>
                <a:cs typeface="Arial"/>
              </a:rPr>
              <a:t>that </a:t>
            </a:r>
            <a:r>
              <a:rPr dirty="0" sz="1100" spc="-5">
                <a:latin typeface="Arial"/>
                <a:cs typeface="Arial"/>
              </a:rPr>
              <a:t>one individual can gain sufficient  knowledge to industrialize (or even gain enough knowledge about whom to hire to</a:t>
            </a:r>
            <a:r>
              <a:rPr dirty="0" sz="1100" spc="250">
                <a:latin typeface="Arial"/>
                <a:cs typeface="Arial"/>
              </a:rPr>
              <a:t> </a:t>
            </a:r>
            <a:r>
              <a:rPr dirty="0" sz="1100" spc="-5">
                <a:latin typeface="Arial"/>
                <a:cs typeface="Arial"/>
              </a:rPr>
              <a:t>industrialize).</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Finally, there is the empirical reason that no private agent has been observed playing the role of  super-entrepreneur. Whether because of problems of monitoring, knowledge, capital markets,  or other diseconomies of scope, “solving” problems with ever-larger firms clearly provides no  answer. For example, it is rare enough to find a firm producing steel and even a significant  fraction of the products using steel, let alone one firm owning all the industries backwardly  linked from steel or forwardly linked from steel-using industries into industries further down </a:t>
            </a:r>
            <a:r>
              <a:rPr dirty="0" sz="1100">
                <a:latin typeface="Arial"/>
                <a:cs typeface="Arial"/>
              </a:rPr>
              <a:t>the  </a:t>
            </a:r>
            <a:r>
              <a:rPr dirty="0" sz="1100" spc="-5">
                <a:latin typeface="Arial"/>
                <a:cs typeface="Arial"/>
              </a:rPr>
              <a:t>production chain. Nor can the problem be solved by </a:t>
            </a:r>
            <a:r>
              <a:rPr dirty="0" sz="1100">
                <a:latin typeface="Arial"/>
                <a:cs typeface="Arial"/>
              </a:rPr>
              <a:t>direct </a:t>
            </a:r>
            <a:r>
              <a:rPr dirty="0" sz="1100" spc="-5">
                <a:latin typeface="Arial"/>
                <a:cs typeface="Arial"/>
              </a:rPr>
              <a:t>government production (at least  without unacceptable cost), as the extreme case of the former Soviet Union demonstrates.  Rather, public coordination of actions of private investors is generally needed </a:t>
            </a:r>
            <a:r>
              <a:rPr dirty="0" sz="1100">
                <a:latin typeface="Arial"/>
                <a:cs typeface="Arial"/>
              </a:rPr>
              <a:t>to </a:t>
            </a:r>
            <a:r>
              <a:rPr dirty="0" sz="1100" spc="-5">
                <a:latin typeface="Arial"/>
                <a:cs typeface="Arial"/>
              </a:rPr>
              <a:t>solve </a:t>
            </a:r>
            <a:r>
              <a:rPr dirty="0" sz="1100">
                <a:latin typeface="Arial"/>
                <a:cs typeface="Arial"/>
              </a:rPr>
              <a:t>the  </a:t>
            </a:r>
            <a:r>
              <a:rPr dirty="0" sz="1100" spc="-5">
                <a:latin typeface="Arial"/>
                <a:cs typeface="Arial"/>
              </a:rPr>
              <a:t>problem, a common interpretation of the role of industrial policy in East</a:t>
            </a:r>
            <a:r>
              <a:rPr dirty="0" sz="1100" spc="95">
                <a:latin typeface="Arial"/>
                <a:cs typeface="Arial"/>
              </a:rPr>
              <a:t> </a:t>
            </a:r>
            <a:r>
              <a:rPr dirty="0" sz="1100" spc="-5">
                <a:latin typeface="Arial"/>
                <a:cs typeface="Arial"/>
              </a:rPr>
              <a:t>Asia.</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143</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7962265"/>
          </a:xfrm>
          <a:prstGeom prst="rect">
            <a:avLst/>
          </a:prstGeom>
        </p:spPr>
        <p:txBody>
          <a:bodyPr wrap="square" lIns="0" tIns="12065" rIns="0" bIns="0" rtlCol="0" vert="horz">
            <a:spAutoFit/>
          </a:bodyPr>
          <a:lstStyle/>
          <a:p>
            <a:pPr algn="r" marR="635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21</a:t>
            </a:r>
            <a:endParaRPr sz="1100">
              <a:latin typeface="Arial"/>
              <a:cs typeface="Arial"/>
            </a:endParaRPr>
          </a:p>
          <a:p>
            <a:pPr>
              <a:lnSpc>
                <a:spcPct val="100000"/>
              </a:lnSpc>
              <a:spcBef>
                <a:spcPts val="45"/>
              </a:spcBef>
            </a:pPr>
            <a:endParaRPr sz="1100">
              <a:latin typeface="Arial"/>
              <a:cs typeface="Arial"/>
            </a:endParaRPr>
          </a:p>
          <a:p>
            <a:pPr marL="2522220" marR="422275" indent="-2095500">
              <a:lnSpc>
                <a:spcPts val="1260"/>
              </a:lnSpc>
            </a:pPr>
            <a:r>
              <a:rPr dirty="0" sz="1100" spc="-5" b="1">
                <a:latin typeface="Arial"/>
                <a:cs typeface="Arial"/>
              </a:rPr>
              <a:t>CONTEMPORARY </a:t>
            </a:r>
            <a:r>
              <a:rPr dirty="0" sz="1100" spc="-10" b="1">
                <a:latin typeface="Arial"/>
                <a:cs typeface="Arial"/>
              </a:rPr>
              <a:t>MODELS </a:t>
            </a:r>
            <a:r>
              <a:rPr dirty="0" sz="1100" spc="-5" b="1">
                <a:latin typeface="Arial"/>
                <a:cs typeface="Arial"/>
              </a:rPr>
              <a:t>OF DEVELOPMENT AND UNDERDEVELOPMENT  (CONTINUED)</a:t>
            </a:r>
            <a:endParaRPr sz="1100">
              <a:latin typeface="Arial"/>
              <a:cs typeface="Arial"/>
            </a:endParaRPr>
          </a:p>
          <a:p>
            <a:pPr>
              <a:lnSpc>
                <a:spcPct val="100000"/>
              </a:lnSpc>
              <a:spcBef>
                <a:spcPts val="30"/>
              </a:spcBef>
            </a:pPr>
            <a:endParaRPr sz="1100">
              <a:latin typeface="Arial"/>
              <a:cs typeface="Arial"/>
            </a:endParaRPr>
          </a:p>
          <a:p>
            <a:pPr marL="12700">
              <a:lnSpc>
                <a:spcPct val="100000"/>
              </a:lnSpc>
            </a:pPr>
            <a:r>
              <a:rPr dirty="0" sz="1100" spc="-5" b="1">
                <a:latin typeface="Arial"/>
                <a:cs typeface="Arial"/>
              </a:rPr>
              <a:t>MICHAEL KREMER’S O-RING THEORY OF ECONOMIC</a:t>
            </a:r>
            <a:r>
              <a:rPr dirty="0" sz="1100" spc="4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25"/>
              </a:spcBef>
            </a:pPr>
            <a:endParaRPr sz="1200">
              <a:latin typeface="Arial"/>
              <a:cs typeface="Arial"/>
            </a:endParaRPr>
          </a:p>
          <a:p>
            <a:pPr algn="just" marL="12700" marR="5715">
              <a:lnSpc>
                <a:spcPts val="1270"/>
              </a:lnSpc>
            </a:pPr>
            <a:r>
              <a:rPr dirty="0" sz="1100" spc="-5">
                <a:latin typeface="Arial"/>
                <a:cs typeface="Arial"/>
              </a:rPr>
              <a:t>The name comes from the 1986 </a:t>
            </a:r>
            <a:r>
              <a:rPr dirty="0" u="sng" sz="1100" spc="-5">
                <a:solidFill>
                  <a:srgbClr val="0000FF"/>
                </a:solidFill>
                <a:uFill>
                  <a:solidFill>
                    <a:srgbClr val="0000FF"/>
                  </a:solidFill>
                </a:uFill>
                <a:latin typeface="Arial"/>
                <a:cs typeface="Arial"/>
              </a:rPr>
              <a:t>Challenger shuttle disaster</a:t>
            </a:r>
            <a:r>
              <a:rPr dirty="0" sz="1100" spc="-5">
                <a:latin typeface="Arial"/>
                <a:cs typeface="Arial"/>
              </a:rPr>
              <a:t>, a catastrophe caused by the failure  of a single</a:t>
            </a:r>
            <a:r>
              <a:rPr dirty="0" sz="1100">
                <a:latin typeface="Arial"/>
                <a:cs typeface="Arial"/>
              </a:rPr>
              <a:t> </a:t>
            </a:r>
            <a:r>
              <a:rPr dirty="0" u="sng" sz="1100" spc="-5">
                <a:solidFill>
                  <a:srgbClr val="0000FF"/>
                </a:solidFill>
                <a:uFill>
                  <a:solidFill>
                    <a:srgbClr val="0000FF"/>
                  </a:solidFill>
                </a:uFill>
                <a:latin typeface="Arial"/>
                <a:cs typeface="Arial"/>
              </a:rPr>
              <a:t>O-ring</a:t>
            </a:r>
            <a:r>
              <a:rPr dirty="0" sz="1100" spc="-5">
                <a:latin typeface="Arial"/>
                <a:cs typeface="Arial"/>
              </a:rPr>
              <a:t>.</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THE O-RING MODEL</a:t>
            </a:r>
            <a:endParaRPr sz="1100">
              <a:latin typeface="Arial"/>
              <a:cs typeface="Arial"/>
            </a:endParaRPr>
          </a:p>
          <a:p>
            <a:pPr>
              <a:lnSpc>
                <a:spcPct val="100000"/>
              </a:lnSpc>
              <a:spcBef>
                <a:spcPts val="20"/>
              </a:spcBef>
            </a:pPr>
            <a:endParaRPr sz="1200">
              <a:latin typeface="Arial"/>
              <a:cs typeface="Arial"/>
            </a:endParaRPr>
          </a:p>
          <a:p>
            <a:pPr algn="just" marL="12700" marR="6985">
              <a:lnSpc>
                <a:spcPts val="1270"/>
              </a:lnSpc>
              <a:spcBef>
                <a:spcPts val="5"/>
              </a:spcBef>
            </a:pPr>
            <a:r>
              <a:rPr dirty="0" sz="1100" spc="-5">
                <a:latin typeface="Arial"/>
                <a:cs typeface="Arial"/>
              </a:rPr>
              <a:t>The key feature of the O-ring model is the way it models production with strong  complementarities among inputs. We start by thinking of the model as describing what is going  on inside a firm, but as we will see, this model also provides valuable insights into the impact of  complementarities across firms or industrial sectors of the</a:t>
            </a:r>
            <a:r>
              <a:rPr dirty="0" sz="1100" spc="50">
                <a:latin typeface="Arial"/>
                <a:cs typeface="Arial"/>
              </a:rPr>
              <a:t> </a:t>
            </a:r>
            <a:r>
              <a:rPr dirty="0" sz="1100" spc="-5">
                <a:latin typeface="Arial"/>
                <a:cs typeface="Arial"/>
              </a:rPr>
              <a:t>economy.</a:t>
            </a:r>
            <a:endParaRPr sz="1100">
              <a:latin typeface="Arial"/>
              <a:cs typeface="Arial"/>
            </a:endParaRPr>
          </a:p>
          <a:p>
            <a:pPr>
              <a:lnSpc>
                <a:spcPct val="100000"/>
              </a:lnSpc>
              <a:spcBef>
                <a:spcPts val="15"/>
              </a:spcBef>
            </a:pPr>
            <a:endParaRPr sz="1000">
              <a:latin typeface="Arial"/>
              <a:cs typeface="Arial"/>
            </a:endParaRPr>
          </a:p>
          <a:p>
            <a:pPr marL="12700">
              <a:lnSpc>
                <a:spcPct val="100000"/>
              </a:lnSpc>
            </a:pPr>
            <a:r>
              <a:rPr dirty="0" sz="1100" spc="-5" b="1">
                <a:latin typeface="Arial"/>
                <a:cs typeface="Arial"/>
              </a:rPr>
              <a:t>O-RING PRODUCTION</a:t>
            </a:r>
            <a:r>
              <a:rPr dirty="0" sz="1100" spc="5" b="1">
                <a:latin typeface="Arial"/>
                <a:cs typeface="Arial"/>
              </a:rPr>
              <a:t> </a:t>
            </a:r>
            <a:r>
              <a:rPr dirty="0" sz="1100" spc="-5" b="1">
                <a:latin typeface="Arial"/>
                <a:cs typeface="Arial"/>
              </a:rPr>
              <a:t>FUNCTION</a:t>
            </a:r>
            <a:endParaRPr sz="1100">
              <a:latin typeface="Arial"/>
              <a:cs typeface="Arial"/>
            </a:endParaRPr>
          </a:p>
          <a:p>
            <a:pPr>
              <a:lnSpc>
                <a:spcPct val="100000"/>
              </a:lnSpc>
              <a:spcBef>
                <a:spcPts val="30"/>
              </a:spcBef>
            </a:pPr>
            <a:endParaRPr sz="1200">
              <a:latin typeface="Arial"/>
              <a:cs typeface="Arial"/>
            </a:endParaRPr>
          </a:p>
          <a:p>
            <a:pPr algn="just" marL="12700" marR="6350">
              <a:lnSpc>
                <a:spcPts val="1270"/>
              </a:lnSpc>
            </a:pPr>
            <a:r>
              <a:rPr dirty="0" sz="1100" spc="-5" i="1">
                <a:latin typeface="Arial"/>
                <a:cs typeface="Arial"/>
              </a:rPr>
              <a:t>"A production function with strong complementarities among inputs, based on the products of  </a:t>
            </a:r>
            <a:r>
              <a:rPr dirty="0" sz="1100" spc="-5" i="1">
                <a:latin typeface="Arial"/>
                <a:cs typeface="Arial"/>
              </a:rPr>
              <a:t>the input</a:t>
            </a:r>
            <a:r>
              <a:rPr dirty="0" sz="1100" i="1">
                <a:latin typeface="Arial"/>
                <a:cs typeface="Arial"/>
              </a:rPr>
              <a:t> </a:t>
            </a:r>
            <a:r>
              <a:rPr dirty="0" sz="1100" spc="-5" i="1">
                <a:latin typeface="Arial"/>
                <a:cs typeface="Arial"/>
              </a:rPr>
              <a:t>qualities"</a:t>
            </a:r>
            <a:endParaRPr sz="1100">
              <a:latin typeface="Arial"/>
              <a:cs typeface="Arial"/>
            </a:endParaRPr>
          </a:p>
          <a:p>
            <a:pPr>
              <a:lnSpc>
                <a:spcPct val="100000"/>
              </a:lnSpc>
              <a:spcBef>
                <a:spcPts val="15"/>
              </a:spcBef>
            </a:pPr>
            <a:endParaRPr sz="1050">
              <a:latin typeface="Arial"/>
              <a:cs typeface="Arial"/>
            </a:endParaRPr>
          </a:p>
          <a:p>
            <a:pPr algn="just" marL="12700" marR="6350">
              <a:lnSpc>
                <a:spcPct val="95800"/>
              </a:lnSpc>
            </a:pPr>
            <a:r>
              <a:rPr dirty="0" sz="1100" spc="-5">
                <a:latin typeface="Arial"/>
                <a:cs typeface="Arial"/>
              </a:rPr>
              <a:t>Suppose that a production process is broken down into n tasks. There are many ways of  carrying out these tasks, which for simplicity we order strictly by level of skill q required, where.  The higher the skill, the higher the probability that the </a:t>
            </a:r>
            <a:r>
              <a:rPr dirty="0" sz="1100">
                <a:latin typeface="Arial"/>
                <a:cs typeface="Arial"/>
              </a:rPr>
              <a:t>task </a:t>
            </a:r>
            <a:r>
              <a:rPr dirty="0" sz="1100" spc="-5">
                <a:latin typeface="Arial"/>
                <a:cs typeface="Arial"/>
              </a:rPr>
              <a:t>will be “successfully completed”  (which may mean, for example, that the part created in this task will not fail). Kremer’s concept  of q is quite flexible. </a:t>
            </a:r>
            <a:r>
              <a:rPr dirty="0" sz="1100">
                <a:latin typeface="Arial"/>
                <a:cs typeface="Arial"/>
              </a:rPr>
              <a:t>Other </a:t>
            </a:r>
            <a:r>
              <a:rPr dirty="0" sz="1100" spc="-5">
                <a:latin typeface="Arial"/>
                <a:cs typeface="Arial"/>
              </a:rPr>
              <a:t>interpretations may include a quality index </a:t>
            </a:r>
            <a:r>
              <a:rPr dirty="0" sz="1100">
                <a:latin typeface="Arial"/>
                <a:cs typeface="Arial"/>
              </a:rPr>
              <a:t>for </a:t>
            </a:r>
            <a:r>
              <a:rPr dirty="0" sz="1100" spc="-5">
                <a:latin typeface="Arial"/>
                <a:cs typeface="Arial"/>
              </a:rPr>
              <a:t>characteristics of the  good: Consumers would be willing to pay more for higher-quality characteristics. For example,  suppose that q =</a:t>
            </a:r>
            <a:r>
              <a:rPr dirty="0" sz="1100" spc="10">
                <a:latin typeface="Arial"/>
                <a:cs typeface="Arial"/>
              </a:rPr>
              <a:t> </a:t>
            </a:r>
            <a:r>
              <a:rPr dirty="0" sz="1100" spc="-5">
                <a:latin typeface="Arial"/>
                <a:cs typeface="Arial"/>
              </a:rPr>
              <a:t>0.95.</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Among </a:t>
            </a:r>
            <a:r>
              <a:rPr dirty="0" sz="1100">
                <a:latin typeface="Arial"/>
                <a:cs typeface="Arial"/>
              </a:rPr>
              <a:t>other </a:t>
            </a:r>
            <a:r>
              <a:rPr dirty="0" sz="1100" spc="-5">
                <a:latin typeface="Arial"/>
                <a:cs typeface="Arial"/>
              </a:rPr>
              <a:t>interpretations, this could mean </a:t>
            </a:r>
            <a:r>
              <a:rPr dirty="0" sz="1100">
                <a:latin typeface="Arial"/>
                <a:cs typeface="Arial"/>
              </a:rPr>
              <a:t>(1) </a:t>
            </a:r>
            <a:r>
              <a:rPr dirty="0" sz="1100" spc="-5">
                <a:latin typeface="Arial"/>
                <a:cs typeface="Arial"/>
              </a:rPr>
              <a:t>that there is a 95% chance that the task is  completed perfectly, so the product keeps maximum value, and a 5% chance that it is  completed so poorly that it has no value; (2) that the task is always completed well enough that  it keeps 95% of its </a:t>
            </a:r>
            <a:r>
              <a:rPr dirty="0" sz="1100">
                <a:latin typeface="Arial"/>
                <a:cs typeface="Arial"/>
              </a:rPr>
              <a:t>maximum </a:t>
            </a:r>
            <a:r>
              <a:rPr dirty="0" sz="1100" spc="-5">
                <a:latin typeface="Arial"/>
                <a:cs typeface="Arial"/>
              </a:rPr>
              <a:t>value; or (3) that the product has a 50% chance of having full  value and a 50% chance of an </a:t>
            </a:r>
            <a:r>
              <a:rPr dirty="0" sz="1100">
                <a:latin typeface="Arial"/>
                <a:cs typeface="Arial"/>
              </a:rPr>
              <a:t>error </a:t>
            </a:r>
            <a:r>
              <a:rPr dirty="0" sz="1100" spc="-5">
                <a:latin typeface="Arial"/>
                <a:cs typeface="Arial"/>
              </a:rPr>
              <a:t>reducing the value of the product to 90%. For simplicity,  assume that the probability of mistakes by different workers is strictly independent. The  production function assumed is a simple one: Output is given by multiplying the q values of each  of the n tasks together, in turn multiplied by a term, say, B, that depends on the characteristics  of the firm and is generally larger with a larger number of tasks. Suppose also that each firm  hires only two workers. Then the O-ring production function looks like</a:t>
            </a:r>
            <a:r>
              <a:rPr dirty="0" sz="1100" spc="85">
                <a:latin typeface="Arial"/>
                <a:cs typeface="Arial"/>
              </a:rPr>
              <a:t> </a:t>
            </a:r>
            <a:r>
              <a:rPr dirty="0" sz="1100" spc="-5">
                <a:latin typeface="Arial"/>
                <a:cs typeface="Arial"/>
              </a:rPr>
              <a:t>this: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spcBef>
                <a:spcPts val="5"/>
              </a:spcBef>
            </a:pPr>
            <a:r>
              <a:rPr dirty="0" sz="1100" spc="-5" b="1" i="1">
                <a:latin typeface="Arial"/>
                <a:cs typeface="Arial"/>
              </a:rPr>
              <a:t>BF(qi qj) = qi</a:t>
            </a:r>
            <a:r>
              <a:rPr dirty="0" sz="1100" spc="10" b="1" i="1">
                <a:latin typeface="Arial"/>
                <a:cs typeface="Arial"/>
              </a:rPr>
              <a:t> </a:t>
            </a:r>
            <a:r>
              <a:rPr dirty="0" sz="1100" spc="-5" b="1" i="1">
                <a:latin typeface="Arial"/>
                <a:cs typeface="Arial"/>
              </a:rPr>
              <a:t>qj</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pPr>
            <a:r>
              <a:rPr dirty="0" sz="1100" spc="-5">
                <a:latin typeface="Arial"/>
                <a:cs typeface="Arial"/>
              </a:rPr>
              <a:t>That is to make things simple, for this exposition we let the multiplier, B, equal 1. In addition to  the form of the production function, we </a:t>
            </a:r>
            <a:r>
              <a:rPr dirty="0" sz="1100">
                <a:latin typeface="Arial"/>
                <a:cs typeface="Arial"/>
              </a:rPr>
              <a:t>make </a:t>
            </a:r>
            <a:r>
              <a:rPr dirty="0" sz="1100" spc="-5">
                <a:latin typeface="Arial"/>
                <a:cs typeface="Arial"/>
              </a:rPr>
              <a:t>three other significant types of simplifying  assumptions: (1) Firms are risk-neutral, (2) labor markets are competitive and (3) workers  supply labor inelastically (i.e., they work regardless of the wage). If we consider capital markets,  we assume that they </a:t>
            </a:r>
            <a:r>
              <a:rPr dirty="0" sz="1100">
                <a:latin typeface="Arial"/>
                <a:cs typeface="Arial"/>
              </a:rPr>
              <a:t>are </a:t>
            </a:r>
            <a:r>
              <a:rPr dirty="0" sz="1100" spc="-5">
                <a:latin typeface="Arial"/>
                <a:cs typeface="Arial"/>
              </a:rPr>
              <a:t>competitive as well. For now, we also assume that the economy is  closed.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144</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175" cy="292417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One of the most prominent features of this type of production function is what is termed positive  assortative matching. This means that workers with high skills will work together and workers  with low skills will work together. When we use the model to compare economies, this type of  matching means that high-value products will be concentrated in countries with high-value skills.  In this model, everyone would like to work with the more productive workers, because if your  efforts are multiplied by those of someone else, as they are in Equation 4.1, you will be more  productive when working with a more productive person. In competitive markets, your pay is  based on how productive you</a:t>
            </a:r>
            <a:r>
              <a:rPr dirty="0" sz="1100" spc="20">
                <a:latin typeface="Arial"/>
                <a:cs typeface="Arial"/>
              </a:rPr>
              <a:t> </a:t>
            </a:r>
            <a:r>
              <a:rPr dirty="0" sz="1100" spc="-5">
                <a:latin typeface="Arial"/>
                <a:cs typeface="Arial"/>
              </a:rPr>
              <a:t>are.</a:t>
            </a:r>
            <a:endParaRPr sz="1100">
              <a:latin typeface="Arial"/>
              <a:cs typeface="Arial"/>
            </a:endParaRPr>
          </a:p>
          <a:p>
            <a:pPr>
              <a:lnSpc>
                <a:spcPct val="100000"/>
              </a:lnSpc>
              <a:spcBef>
                <a:spcPts val="25"/>
              </a:spcBef>
            </a:pPr>
            <a:endParaRPr sz="1100">
              <a:latin typeface="Arial"/>
              <a:cs typeface="Arial"/>
            </a:endParaRPr>
          </a:p>
          <a:p>
            <a:pPr algn="just" marL="12700" marR="8255">
              <a:lnSpc>
                <a:spcPts val="1270"/>
              </a:lnSpc>
            </a:pPr>
            <a:r>
              <a:rPr dirty="0" sz="1100" spc="-5">
                <a:latin typeface="Arial"/>
                <a:cs typeface="Arial"/>
              </a:rPr>
              <a:t>A firm with a higher-productivity worker can more afford to pay a higher wage and has the  incentive to bid higher to do so, because the value of output will be higher with two productive  workers, say, than with one low- and one high-productivity worker. As a result, there will be a  strong tendency for the most productive workers to work</a:t>
            </a:r>
            <a:r>
              <a:rPr dirty="0" sz="1100" spc="55">
                <a:latin typeface="Arial"/>
                <a:cs typeface="Arial"/>
              </a:rPr>
              <a:t> </a:t>
            </a:r>
            <a:r>
              <a:rPr dirty="0" sz="1100" spc="-5">
                <a:latin typeface="Arial"/>
                <a:cs typeface="Arial"/>
              </a:rPr>
              <a:t>together.</a:t>
            </a:r>
            <a:endParaRPr sz="1100">
              <a:latin typeface="Arial"/>
              <a:cs typeface="Arial"/>
            </a:endParaRPr>
          </a:p>
          <a:p>
            <a:pPr>
              <a:lnSpc>
                <a:spcPct val="100000"/>
              </a:lnSpc>
              <a:spcBef>
                <a:spcPts val="40"/>
              </a:spcBef>
            </a:pPr>
            <a:endParaRPr sz="1050">
              <a:latin typeface="Arial"/>
              <a:cs typeface="Arial"/>
            </a:endParaRPr>
          </a:p>
          <a:p>
            <a:pPr algn="just" marL="12700" marR="8255">
              <a:lnSpc>
                <a:spcPts val="1270"/>
              </a:lnSpc>
            </a:pPr>
            <a:r>
              <a:rPr dirty="0" sz="1100" spc="-5">
                <a:latin typeface="Arial"/>
                <a:cs typeface="Arial"/>
              </a:rPr>
              <a:t>This can be seen easily if we imagine a four-person economy. Suppose that this economy has  two high-skill qH workers and two low-skill qL workers. The four workers can be arranged either  as matched skill pairs or unmatched skill pairs. Total output will always be higher under a  matching scheme</a:t>
            </a:r>
            <a:r>
              <a:rPr dirty="0" sz="1100">
                <a:latin typeface="Arial"/>
                <a:cs typeface="Arial"/>
              </a:rPr>
              <a:t> </a:t>
            </a:r>
            <a:r>
              <a:rPr dirty="0" sz="1100" spc="-5">
                <a:latin typeface="Arial"/>
                <a:cs typeface="Arial"/>
              </a:rPr>
              <a:t>because</a:t>
            </a:r>
            <a:endParaRPr sz="1100">
              <a:latin typeface="Arial"/>
              <a:cs typeface="Arial"/>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145</a:t>
            </a:r>
          </a:p>
        </p:txBody>
      </p:sp>
      <p:sp>
        <p:nvSpPr>
          <p:cNvPr id="7" name="object 7"/>
          <p:cNvSpPr txBox="1"/>
          <p:nvPr/>
        </p:nvSpPr>
        <p:spPr>
          <a:xfrm>
            <a:off x="3211853" y="3784322"/>
            <a:ext cx="807720" cy="193040"/>
          </a:xfrm>
          <a:prstGeom prst="rect">
            <a:avLst/>
          </a:prstGeom>
        </p:spPr>
        <p:txBody>
          <a:bodyPr wrap="square" lIns="0" tIns="12065" rIns="0" bIns="0" rtlCol="0" vert="horz">
            <a:spAutoFit/>
          </a:bodyPr>
          <a:lstStyle/>
          <a:p>
            <a:pPr marL="38100">
              <a:lnSpc>
                <a:spcPct val="100000"/>
              </a:lnSpc>
              <a:spcBef>
                <a:spcPts val="95"/>
              </a:spcBef>
            </a:pPr>
            <a:r>
              <a:rPr dirty="0" sz="1100" spc="-5" b="1" i="1">
                <a:latin typeface="Arial"/>
                <a:cs typeface="Arial"/>
              </a:rPr>
              <a:t>q </a:t>
            </a:r>
            <a:r>
              <a:rPr dirty="0" baseline="39682" sz="1050" spc="-7" b="1" i="1">
                <a:latin typeface="Arial"/>
                <a:cs typeface="Arial"/>
              </a:rPr>
              <a:t>2</a:t>
            </a:r>
            <a:r>
              <a:rPr dirty="0" sz="1100" spc="-5" b="1" i="1">
                <a:latin typeface="Arial"/>
                <a:cs typeface="Arial"/>
              </a:rPr>
              <a:t>H + q</a:t>
            </a:r>
            <a:r>
              <a:rPr dirty="0" sz="1100" spc="-50" b="1" i="1">
                <a:latin typeface="Arial"/>
                <a:cs typeface="Arial"/>
              </a:rPr>
              <a:t> </a:t>
            </a:r>
            <a:r>
              <a:rPr dirty="0" baseline="39682" sz="1050" spc="-7" b="1" i="1">
                <a:latin typeface="Arial"/>
                <a:cs typeface="Arial"/>
              </a:rPr>
              <a:t>2</a:t>
            </a:r>
            <a:r>
              <a:rPr dirty="0" sz="1100" spc="-5" b="1" i="1">
                <a:latin typeface="Arial"/>
                <a:cs typeface="Arial"/>
              </a:rPr>
              <a:t>L</a:t>
            </a:r>
            <a:endParaRPr sz="1100">
              <a:latin typeface="Arial"/>
              <a:cs typeface="Arial"/>
            </a:endParaRPr>
          </a:p>
        </p:txBody>
      </p:sp>
      <p:sp>
        <p:nvSpPr>
          <p:cNvPr id="8" name="object 8"/>
          <p:cNvSpPr txBox="1"/>
          <p:nvPr/>
        </p:nvSpPr>
        <p:spPr>
          <a:xfrm>
            <a:off x="4021138" y="3803395"/>
            <a:ext cx="539750" cy="193040"/>
          </a:xfrm>
          <a:prstGeom prst="rect">
            <a:avLst/>
          </a:prstGeom>
        </p:spPr>
        <p:txBody>
          <a:bodyPr wrap="square" lIns="0" tIns="12065" rIns="0" bIns="0" rtlCol="0" vert="horz">
            <a:spAutoFit/>
          </a:bodyPr>
          <a:lstStyle/>
          <a:p>
            <a:pPr marL="38100">
              <a:lnSpc>
                <a:spcPct val="100000"/>
              </a:lnSpc>
              <a:spcBef>
                <a:spcPts val="95"/>
              </a:spcBef>
            </a:pPr>
            <a:r>
              <a:rPr dirty="0" baseline="7575" sz="1650" spc="-7" b="1" i="1">
                <a:latin typeface="Arial"/>
                <a:cs typeface="Arial"/>
              </a:rPr>
              <a:t>&gt;</a:t>
            </a:r>
            <a:r>
              <a:rPr dirty="0" baseline="7575" sz="1650" spc="367" b="1" i="1">
                <a:latin typeface="Arial"/>
                <a:cs typeface="Arial"/>
              </a:rPr>
              <a:t> </a:t>
            </a:r>
            <a:r>
              <a:rPr dirty="0" baseline="7575" sz="1650" spc="-7" b="1" i="1">
                <a:latin typeface="Arial"/>
                <a:cs typeface="Arial"/>
              </a:rPr>
              <a:t>2</a:t>
            </a:r>
            <a:r>
              <a:rPr dirty="0" sz="700" spc="-5" b="1" i="1">
                <a:latin typeface="Arial"/>
                <a:cs typeface="Arial"/>
              </a:rPr>
              <a:t>qHqL</a:t>
            </a:r>
            <a:endParaRPr sz="700">
              <a:latin typeface="Arial"/>
              <a:cs typeface="Arial"/>
            </a:endParaRPr>
          </a:p>
        </p:txBody>
      </p:sp>
      <p:sp>
        <p:nvSpPr>
          <p:cNvPr id="9" name="object 9"/>
          <p:cNvSpPr txBox="1"/>
          <p:nvPr/>
        </p:nvSpPr>
        <p:spPr>
          <a:xfrm>
            <a:off x="901700" y="4104380"/>
            <a:ext cx="5970905" cy="475297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The O-ring result of positive assortative matching relies on some </a:t>
            </a:r>
            <a:r>
              <a:rPr dirty="0" sz="1100">
                <a:latin typeface="Arial"/>
                <a:cs typeface="Arial"/>
              </a:rPr>
              <a:t>rather </a:t>
            </a:r>
            <a:r>
              <a:rPr dirty="0" sz="1100" spc="-5">
                <a:latin typeface="Arial"/>
                <a:cs typeface="Arial"/>
              </a:rPr>
              <a:t>strong assumptions.  How</a:t>
            </a:r>
            <a:r>
              <a:rPr dirty="0" sz="1100" spc="95">
                <a:latin typeface="Arial"/>
                <a:cs typeface="Arial"/>
              </a:rPr>
              <a:t> </a:t>
            </a:r>
            <a:r>
              <a:rPr dirty="0" sz="1100" spc="-5">
                <a:latin typeface="Arial"/>
                <a:cs typeface="Arial"/>
              </a:rPr>
              <a:t>important</a:t>
            </a:r>
            <a:r>
              <a:rPr dirty="0" sz="1100" spc="95">
                <a:latin typeface="Arial"/>
                <a:cs typeface="Arial"/>
              </a:rPr>
              <a:t> </a:t>
            </a:r>
            <a:r>
              <a:rPr dirty="0" sz="1100" spc="-5">
                <a:latin typeface="Arial"/>
                <a:cs typeface="Arial"/>
              </a:rPr>
              <a:t>are</a:t>
            </a:r>
            <a:r>
              <a:rPr dirty="0" sz="1100" spc="100">
                <a:latin typeface="Arial"/>
                <a:cs typeface="Arial"/>
              </a:rPr>
              <a:t> </a:t>
            </a:r>
            <a:r>
              <a:rPr dirty="0" sz="1100" spc="-5">
                <a:latin typeface="Arial"/>
                <a:cs typeface="Arial"/>
              </a:rPr>
              <a:t>each</a:t>
            </a:r>
            <a:r>
              <a:rPr dirty="0" sz="1100" spc="95">
                <a:latin typeface="Arial"/>
                <a:cs typeface="Arial"/>
              </a:rPr>
              <a:t> </a:t>
            </a:r>
            <a:r>
              <a:rPr dirty="0" sz="1100" spc="-5">
                <a:latin typeface="Arial"/>
                <a:cs typeface="Arial"/>
              </a:rPr>
              <a:t>of</a:t>
            </a:r>
            <a:r>
              <a:rPr dirty="0" sz="1100" spc="95">
                <a:latin typeface="Arial"/>
                <a:cs typeface="Arial"/>
              </a:rPr>
              <a:t> </a:t>
            </a:r>
            <a:r>
              <a:rPr dirty="0" sz="1100" spc="-5">
                <a:latin typeface="Arial"/>
                <a:cs typeface="Arial"/>
              </a:rPr>
              <a:t>these,</a:t>
            </a:r>
            <a:r>
              <a:rPr dirty="0" sz="1100" spc="90">
                <a:latin typeface="Arial"/>
                <a:cs typeface="Arial"/>
              </a:rPr>
              <a:t> </a:t>
            </a:r>
            <a:r>
              <a:rPr dirty="0" sz="1100" spc="-5">
                <a:latin typeface="Arial"/>
                <a:cs typeface="Arial"/>
              </a:rPr>
              <a:t>and</a:t>
            </a:r>
            <a:r>
              <a:rPr dirty="0" sz="1100" spc="95">
                <a:latin typeface="Arial"/>
                <a:cs typeface="Arial"/>
              </a:rPr>
              <a:t> </a:t>
            </a:r>
            <a:r>
              <a:rPr dirty="0" sz="1100" spc="-5">
                <a:latin typeface="Arial"/>
                <a:cs typeface="Arial"/>
              </a:rPr>
              <a:t>how</a:t>
            </a:r>
            <a:r>
              <a:rPr dirty="0" sz="1100" spc="95">
                <a:latin typeface="Arial"/>
                <a:cs typeface="Arial"/>
              </a:rPr>
              <a:t> </a:t>
            </a:r>
            <a:r>
              <a:rPr dirty="0" sz="1100" spc="-5">
                <a:latin typeface="Arial"/>
                <a:cs typeface="Arial"/>
              </a:rPr>
              <a:t>much</a:t>
            </a:r>
            <a:r>
              <a:rPr dirty="0" sz="1100" spc="105">
                <a:latin typeface="Arial"/>
                <a:cs typeface="Arial"/>
              </a:rPr>
              <a:t> </a:t>
            </a:r>
            <a:r>
              <a:rPr dirty="0" sz="1100" spc="-5">
                <a:latin typeface="Arial"/>
                <a:cs typeface="Arial"/>
              </a:rPr>
              <a:t>can</a:t>
            </a:r>
            <a:r>
              <a:rPr dirty="0" sz="1100" spc="90">
                <a:latin typeface="Arial"/>
                <a:cs typeface="Arial"/>
              </a:rPr>
              <a:t> </a:t>
            </a:r>
            <a:r>
              <a:rPr dirty="0" sz="1100" spc="-5">
                <a:latin typeface="Arial"/>
                <a:cs typeface="Arial"/>
              </a:rPr>
              <a:t>they</a:t>
            </a:r>
            <a:r>
              <a:rPr dirty="0" sz="1100" spc="90">
                <a:latin typeface="Arial"/>
                <a:cs typeface="Arial"/>
              </a:rPr>
              <a:t> </a:t>
            </a:r>
            <a:r>
              <a:rPr dirty="0" sz="1100" spc="-5">
                <a:latin typeface="Arial"/>
                <a:cs typeface="Arial"/>
              </a:rPr>
              <a:t>be</a:t>
            </a:r>
            <a:r>
              <a:rPr dirty="0" sz="1100" spc="100">
                <a:latin typeface="Arial"/>
                <a:cs typeface="Arial"/>
              </a:rPr>
              <a:t> </a:t>
            </a:r>
            <a:r>
              <a:rPr dirty="0" sz="1100" spc="-5">
                <a:latin typeface="Arial"/>
                <a:cs typeface="Arial"/>
              </a:rPr>
              <a:t>relaxed?</a:t>
            </a:r>
            <a:r>
              <a:rPr dirty="0" sz="1100" spc="95">
                <a:latin typeface="Arial"/>
                <a:cs typeface="Arial"/>
              </a:rPr>
              <a:t> </a:t>
            </a:r>
            <a:r>
              <a:rPr dirty="0" sz="1100" spc="-5">
                <a:latin typeface="Arial"/>
                <a:cs typeface="Arial"/>
              </a:rPr>
              <a:t>Two</a:t>
            </a:r>
            <a:r>
              <a:rPr dirty="0" sz="1100" spc="100">
                <a:latin typeface="Arial"/>
                <a:cs typeface="Arial"/>
              </a:rPr>
              <a:t> </a:t>
            </a:r>
            <a:r>
              <a:rPr dirty="0" sz="1100" spc="-5">
                <a:latin typeface="Arial"/>
                <a:cs typeface="Arial"/>
              </a:rPr>
              <a:t>points</a:t>
            </a:r>
            <a:r>
              <a:rPr dirty="0" sz="1100" spc="95">
                <a:latin typeface="Arial"/>
                <a:cs typeface="Arial"/>
              </a:rPr>
              <a:t> </a:t>
            </a:r>
            <a:r>
              <a:rPr dirty="0" sz="1100" spc="-5">
                <a:latin typeface="Arial"/>
                <a:cs typeface="Arial"/>
              </a:rPr>
              <a:t>are</a:t>
            </a:r>
            <a:r>
              <a:rPr dirty="0" sz="1100" spc="85">
                <a:latin typeface="Arial"/>
                <a:cs typeface="Arial"/>
              </a:rPr>
              <a:t> </a:t>
            </a:r>
            <a:r>
              <a:rPr dirty="0" sz="1100" spc="-5">
                <a:latin typeface="Arial"/>
                <a:cs typeface="Arial"/>
              </a:rPr>
              <a:t>crucial:</a:t>
            </a:r>
            <a:endParaRPr sz="1100">
              <a:latin typeface="Arial"/>
              <a:cs typeface="Arial"/>
            </a:endParaRPr>
          </a:p>
          <a:p>
            <a:pPr marL="246379" indent="-234315">
              <a:lnSpc>
                <a:spcPts val="1200"/>
              </a:lnSpc>
              <a:buAutoNum type="arabicParenBoth"/>
              <a:tabLst>
                <a:tab pos="247015" algn="l"/>
              </a:tabLst>
            </a:pPr>
            <a:r>
              <a:rPr dirty="0" sz="1100" spc="-5">
                <a:latin typeface="Arial"/>
                <a:cs typeface="Arial"/>
              </a:rPr>
              <a:t>Workers</a:t>
            </a:r>
            <a:r>
              <a:rPr dirty="0" sz="1100" spc="204">
                <a:latin typeface="Arial"/>
                <a:cs typeface="Arial"/>
              </a:rPr>
              <a:t> </a:t>
            </a:r>
            <a:r>
              <a:rPr dirty="0" sz="1100" spc="-5">
                <a:latin typeface="Arial"/>
                <a:cs typeface="Arial"/>
              </a:rPr>
              <a:t>must</a:t>
            </a:r>
            <a:r>
              <a:rPr dirty="0" sz="1100" spc="204">
                <a:latin typeface="Arial"/>
                <a:cs typeface="Arial"/>
              </a:rPr>
              <a:t> </a:t>
            </a:r>
            <a:r>
              <a:rPr dirty="0" sz="1100" spc="-5">
                <a:latin typeface="Arial"/>
                <a:cs typeface="Arial"/>
              </a:rPr>
              <a:t>be</a:t>
            </a:r>
            <a:r>
              <a:rPr dirty="0" sz="1100" spc="204">
                <a:latin typeface="Arial"/>
                <a:cs typeface="Arial"/>
              </a:rPr>
              <a:t> </a:t>
            </a:r>
            <a:r>
              <a:rPr dirty="0" sz="1100" spc="-5">
                <a:latin typeface="Arial"/>
                <a:cs typeface="Arial"/>
              </a:rPr>
              <a:t>sufficiently</a:t>
            </a:r>
            <a:r>
              <a:rPr dirty="0" sz="1100" spc="204">
                <a:latin typeface="Arial"/>
                <a:cs typeface="Arial"/>
              </a:rPr>
              <a:t> </a:t>
            </a:r>
            <a:r>
              <a:rPr dirty="0" sz="1100" spc="-5">
                <a:latin typeface="Arial"/>
                <a:cs typeface="Arial"/>
              </a:rPr>
              <a:t>imperfect</a:t>
            </a:r>
            <a:r>
              <a:rPr dirty="0" sz="1100" spc="204">
                <a:latin typeface="Arial"/>
                <a:cs typeface="Arial"/>
              </a:rPr>
              <a:t> </a:t>
            </a:r>
            <a:r>
              <a:rPr dirty="0" sz="1100" spc="-5">
                <a:latin typeface="Arial"/>
                <a:cs typeface="Arial"/>
              </a:rPr>
              <a:t>substitutes</a:t>
            </a:r>
            <a:r>
              <a:rPr dirty="0" sz="1100" spc="210">
                <a:latin typeface="Arial"/>
                <a:cs typeface="Arial"/>
              </a:rPr>
              <a:t> </a:t>
            </a:r>
            <a:r>
              <a:rPr dirty="0" sz="1100" spc="-5">
                <a:latin typeface="Arial"/>
                <a:cs typeface="Arial"/>
              </a:rPr>
              <a:t>for</a:t>
            </a:r>
            <a:r>
              <a:rPr dirty="0" sz="1100" spc="200">
                <a:latin typeface="Arial"/>
                <a:cs typeface="Arial"/>
              </a:rPr>
              <a:t> </a:t>
            </a:r>
            <a:r>
              <a:rPr dirty="0" sz="1100" spc="-5">
                <a:latin typeface="Arial"/>
                <a:cs typeface="Arial"/>
              </a:rPr>
              <a:t>each</a:t>
            </a:r>
            <a:r>
              <a:rPr dirty="0" sz="1100" spc="204">
                <a:latin typeface="Arial"/>
                <a:cs typeface="Arial"/>
              </a:rPr>
              <a:t> </a:t>
            </a:r>
            <a:r>
              <a:rPr dirty="0" sz="1100" spc="-5">
                <a:latin typeface="Arial"/>
                <a:cs typeface="Arial"/>
              </a:rPr>
              <a:t>other,</a:t>
            </a:r>
            <a:r>
              <a:rPr dirty="0" sz="1100" spc="204">
                <a:latin typeface="Arial"/>
                <a:cs typeface="Arial"/>
              </a:rPr>
              <a:t> </a:t>
            </a:r>
            <a:r>
              <a:rPr dirty="0" sz="1100" spc="-5">
                <a:latin typeface="Arial"/>
                <a:cs typeface="Arial"/>
              </a:rPr>
              <a:t>and</a:t>
            </a:r>
            <a:r>
              <a:rPr dirty="0" sz="1100" spc="204">
                <a:latin typeface="Arial"/>
                <a:cs typeface="Arial"/>
              </a:rPr>
              <a:t> </a:t>
            </a:r>
            <a:r>
              <a:rPr dirty="0" sz="1100" spc="-5">
                <a:latin typeface="Arial"/>
                <a:cs typeface="Arial"/>
              </a:rPr>
              <a:t>(2)</a:t>
            </a:r>
            <a:r>
              <a:rPr dirty="0" sz="1100" spc="204">
                <a:latin typeface="Arial"/>
                <a:cs typeface="Arial"/>
              </a:rPr>
              <a:t> </a:t>
            </a:r>
            <a:r>
              <a:rPr dirty="0" sz="1100" spc="-5">
                <a:latin typeface="Arial"/>
                <a:cs typeface="Arial"/>
              </a:rPr>
              <a:t>we</a:t>
            </a:r>
            <a:r>
              <a:rPr dirty="0" sz="1100" spc="204">
                <a:latin typeface="Arial"/>
                <a:cs typeface="Arial"/>
              </a:rPr>
              <a:t> </a:t>
            </a:r>
            <a:r>
              <a:rPr dirty="0" sz="1100" spc="-5">
                <a:latin typeface="Arial"/>
                <a:cs typeface="Arial"/>
              </a:rPr>
              <a:t>must</a:t>
            </a:r>
            <a:r>
              <a:rPr dirty="0" sz="1100" spc="210">
                <a:latin typeface="Arial"/>
                <a:cs typeface="Arial"/>
              </a:rPr>
              <a:t> </a:t>
            </a:r>
            <a:r>
              <a:rPr dirty="0" sz="1100" spc="-5">
                <a:latin typeface="Arial"/>
                <a:cs typeface="Arial"/>
              </a:rPr>
              <a:t>have</a:t>
            </a:r>
            <a:endParaRPr sz="1100">
              <a:latin typeface="Arial"/>
              <a:cs typeface="Arial"/>
            </a:endParaRPr>
          </a:p>
          <a:p>
            <a:pPr marL="12700" marR="6350">
              <a:lnSpc>
                <a:spcPts val="1270"/>
              </a:lnSpc>
              <a:spcBef>
                <a:spcPts val="55"/>
              </a:spcBef>
            </a:pPr>
            <a:r>
              <a:rPr dirty="0" sz="1100" spc="-5">
                <a:latin typeface="Arial"/>
                <a:cs typeface="Arial"/>
              </a:rPr>
              <a:t>sufficient complementarity of tasks. As long as these conditions hold, the basic results will  follow.</a:t>
            </a:r>
            <a:endParaRPr sz="1100">
              <a:latin typeface="Arial"/>
              <a:cs typeface="Arial"/>
            </a:endParaRPr>
          </a:p>
          <a:p>
            <a:pPr>
              <a:lnSpc>
                <a:spcPct val="100000"/>
              </a:lnSpc>
              <a:spcBef>
                <a:spcPts val="45"/>
              </a:spcBef>
            </a:pPr>
            <a:endParaRPr sz="1050">
              <a:latin typeface="Arial"/>
              <a:cs typeface="Arial"/>
            </a:endParaRPr>
          </a:p>
          <a:p>
            <a:pPr algn="just" marL="12700" marR="5715">
              <a:lnSpc>
                <a:spcPts val="1270"/>
              </a:lnSpc>
            </a:pPr>
            <a:r>
              <a:rPr dirty="0" sz="1100" spc="-5">
                <a:latin typeface="Arial"/>
                <a:cs typeface="Arial"/>
              </a:rPr>
              <a:t>To see why we must have complementarity of tasks, suppose that there are two tasks indexed  by g and h but with no complementarity between them. To be specific, suppose that our qH  worker is hired for the g task, and a qL worker is hired for the h task;</a:t>
            </a:r>
            <a:r>
              <a:rPr dirty="0" sz="1100" spc="105">
                <a:latin typeface="Arial"/>
                <a:cs typeface="Arial"/>
              </a:rPr>
              <a:t> </a:t>
            </a:r>
            <a:r>
              <a:rPr dirty="0" sz="1100" spc="-5">
                <a:latin typeface="Arial"/>
                <a:cs typeface="Arial"/>
              </a:rPr>
              <a:t>then</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i="1">
                <a:latin typeface="Arial"/>
                <a:cs typeface="Arial"/>
              </a:rPr>
              <a:t>F(qHqL) = g(qH) +</a:t>
            </a:r>
            <a:r>
              <a:rPr dirty="0" sz="1100" spc="10" b="1" i="1">
                <a:latin typeface="Arial"/>
                <a:cs typeface="Arial"/>
              </a:rPr>
              <a:t> </a:t>
            </a:r>
            <a:r>
              <a:rPr dirty="0" sz="1100" spc="-5" b="1" i="1">
                <a:latin typeface="Arial"/>
                <a:cs typeface="Arial"/>
              </a:rPr>
              <a:t>h(qL)</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Here, skills are imperfect substitutes for each other, because only one type of worker can be  hired for each task (i.e., no two-for-one type of substitution is possible here). However, because  tasks are not complementary, the optimal choice of skill for the g task is independent of that of  the h task, and again no strategic complementarities are</a:t>
            </a:r>
            <a:r>
              <a:rPr dirty="0" sz="1100" spc="45">
                <a:latin typeface="Arial"/>
                <a:cs typeface="Arial"/>
              </a:rPr>
              <a:t> </a:t>
            </a:r>
            <a:r>
              <a:rPr dirty="0" sz="1100" spc="-5">
                <a:latin typeface="Arial"/>
                <a:cs typeface="Arial"/>
              </a:rPr>
              <a:t>present.</a:t>
            </a:r>
            <a:endParaRPr sz="1100">
              <a:latin typeface="Arial"/>
              <a:cs typeface="Arial"/>
            </a:endParaRPr>
          </a:p>
          <a:p>
            <a:pPr>
              <a:lnSpc>
                <a:spcPct val="100000"/>
              </a:lnSpc>
              <a:spcBef>
                <a:spcPts val="15"/>
              </a:spcBef>
            </a:pPr>
            <a:endParaRPr sz="1000">
              <a:latin typeface="Arial"/>
              <a:cs typeface="Arial"/>
            </a:endParaRPr>
          </a:p>
          <a:p>
            <a:pPr algn="just" marL="12700">
              <a:lnSpc>
                <a:spcPct val="100000"/>
              </a:lnSpc>
              <a:spcBef>
                <a:spcPts val="5"/>
              </a:spcBef>
            </a:pPr>
            <a:r>
              <a:rPr dirty="0" sz="1100" spc="-5" b="1">
                <a:latin typeface="Arial"/>
                <a:cs typeface="Arial"/>
              </a:rPr>
              <a:t>IMPLICATIONS OF THE O-RING</a:t>
            </a:r>
            <a:r>
              <a:rPr dirty="0" sz="1100" spc="15" b="1">
                <a:latin typeface="Arial"/>
                <a:cs typeface="Arial"/>
              </a:rPr>
              <a:t> </a:t>
            </a:r>
            <a:r>
              <a:rPr dirty="0" sz="1100" spc="-5" b="1">
                <a:latin typeface="Arial"/>
                <a:cs typeface="Arial"/>
              </a:rPr>
              <a:t>THEORY</a:t>
            </a:r>
            <a:endParaRPr sz="11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sz="1100" spc="-5">
                <a:latin typeface="Arial"/>
                <a:cs typeface="Arial"/>
              </a:rPr>
              <a:t>The analysis has several important</a:t>
            </a:r>
            <a:r>
              <a:rPr dirty="0" sz="1100" spc="20">
                <a:latin typeface="Arial"/>
                <a:cs typeface="Arial"/>
              </a:rPr>
              <a:t> </a:t>
            </a:r>
            <a:r>
              <a:rPr dirty="0" sz="1100" spc="-5">
                <a:latin typeface="Arial"/>
                <a:cs typeface="Arial"/>
              </a:rPr>
              <a:t>implications:</a:t>
            </a:r>
            <a:endParaRPr sz="1100">
              <a:latin typeface="Arial"/>
              <a:cs typeface="Arial"/>
            </a:endParaRPr>
          </a:p>
          <a:p>
            <a:pPr algn="just" lvl="1" marL="469900" indent="-229870">
              <a:lnSpc>
                <a:spcPct val="100000"/>
              </a:lnSpc>
              <a:spcBef>
                <a:spcPts val="25"/>
              </a:spcBef>
              <a:buFont typeface="Symbol"/>
              <a:buChar char=""/>
              <a:tabLst>
                <a:tab pos="470534" algn="l"/>
              </a:tabLst>
            </a:pPr>
            <a:r>
              <a:rPr dirty="0" sz="1100" spc="-5">
                <a:latin typeface="Arial"/>
                <a:cs typeface="Arial"/>
              </a:rPr>
              <a:t>Where higher levels of technology uses they will involving people with higher</a:t>
            </a:r>
            <a:r>
              <a:rPr dirty="0" sz="1100" spc="150">
                <a:latin typeface="Arial"/>
                <a:cs typeface="Arial"/>
              </a:rPr>
              <a:t> </a:t>
            </a:r>
            <a:r>
              <a:rPr dirty="0" sz="1100" spc="-5">
                <a:latin typeface="Arial"/>
                <a:cs typeface="Arial"/>
              </a:rPr>
              <a:t>skills.</a:t>
            </a:r>
            <a:endParaRPr sz="1100">
              <a:latin typeface="Arial"/>
              <a:cs typeface="Arial"/>
            </a:endParaRPr>
          </a:p>
          <a:p>
            <a:pPr algn="just" lvl="1" marL="469900" indent="-229870">
              <a:lnSpc>
                <a:spcPct val="100000"/>
              </a:lnSpc>
              <a:spcBef>
                <a:spcPts val="15"/>
              </a:spcBef>
              <a:buFont typeface="Symbol"/>
              <a:buChar char=""/>
              <a:tabLst>
                <a:tab pos="470534" algn="l"/>
              </a:tabLst>
            </a:pPr>
            <a:r>
              <a:rPr dirty="0" sz="1100" spc="-5">
                <a:latin typeface="Arial"/>
                <a:cs typeface="Arial"/>
              </a:rPr>
              <a:t>Higher level of wages for higher levels of</a:t>
            </a:r>
            <a:r>
              <a:rPr dirty="0" sz="1100" spc="40">
                <a:latin typeface="Arial"/>
                <a:cs typeface="Arial"/>
              </a:rPr>
              <a:t> </a:t>
            </a:r>
            <a:r>
              <a:rPr dirty="0" sz="1100" spc="-5">
                <a:latin typeface="Arial"/>
                <a:cs typeface="Arial"/>
              </a:rPr>
              <a:t>skills.</a:t>
            </a:r>
            <a:endParaRPr sz="1100">
              <a:latin typeface="Arial"/>
              <a:cs typeface="Arial"/>
            </a:endParaRPr>
          </a:p>
          <a:p>
            <a:pPr algn="just" lvl="1" marL="469265" marR="5080" indent="-228600">
              <a:lnSpc>
                <a:spcPct val="95700"/>
              </a:lnSpc>
              <a:spcBef>
                <a:spcPts val="75"/>
              </a:spcBef>
              <a:buFont typeface="Symbol"/>
              <a:buChar char=""/>
              <a:tabLst>
                <a:tab pos="470534" algn="l"/>
              </a:tabLst>
            </a:pPr>
            <a:r>
              <a:rPr dirty="0" sz="1100" spc="-5">
                <a:latin typeface="Arial"/>
                <a:cs typeface="Arial"/>
              </a:rPr>
              <a:t>Workers performing in a certain production unit are able </a:t>
            </a:r>
            <a:r>
              <a:rPr dirty="0" sz="1100">
                <a:latin typeface="Arial"/>
                <a:cs typeface="Arial"/>
              </a:rPr>
              <a:t>to </a:t>
            </a:r>
            <a:r>
              <a:rPr dirty="0" sz="1100" spc="-5">
                <a:latin typeface="Arial"/>
                <a:cs typeface="Arial"/>
              </a:rPr>
              <a:t>generate more money as  compared to the other people then workers will strived to acquire those skills that will  enable them to earn relatively higher</a:t>
            </a:r>
            <a:r>
              <a:rPr dirty="0" sz="1100" spc="25">
                <a:latin typeface="Arial"/>
                <a:cs typeface="Arial"/>
              </a:rPr>
              <a:t> </a:t>
            </a:r>
            <a:r>
              <a:rPr dirty="0" sz="1100" spc="-5">
                <a:latin typeface="Arial"/>
                <a:cs typeface="Arial"/>
              </a:rPr>
              <a:t>money.</a:t>
            </a:r>
            <a:endParaRPr sz="1100">
              <a:latin typeface="Arial"/>
              <a:cs typeface="Arial"/>
            </a:endParaRPr>
          </a:p>
          <a:p>
            <a:pPr algn="just" lvl="1" marL="469265" marR="6985" indent="-228600">
              <a:lnSpc>
                <a:spcPts val="1260"/>
              </a:lnSpc>
              <a:spcBef>
                <a:spcPts val="114"/>
              </a:spcBef>
              <a:buFont typeface="Symbol"/>
              <a:buChar char=""/>
              <a:tabLst>
                <a:tab pos="470534" algn="l"/>
              </a:tabLst>
            </a:pPr>
            <a:r>
              <a:rPr dirty="0" sz="1100" spc="-5">
                <a:latin typeface="Arial"/>
                <a:cs typeface="Arial"/>
              </a:rPr>
              <a:t>Because wages increase at an increasing rate, wages will be more </a:t>
            </a:r>
            <a:r>
              <a:rPr dirty="0" sz="1100">
                <a:latin typeface="Arial"/>
                <a:cs typeface="Arial"/>
              </a:rPr>
              <a:t>than </a:t>
            </a:r>
            <a:r>
              <a:rPr dirty="0" sz="1100" spc="-5">
                <a:latin typeface="Arial"/>
                <a:cs typeface="Arial"/>
              </a:rPr>
              <a:t>proportionally  higher in developed countries than would be predicted from standard measures of</a:t>
            </a:r>
            <a:r>
              <a:rPr dirty="0" sz="1100" spc="200">
                <a:latin typeface="Arial"/>
                <a:cs typeface="Arial"/>
              </a:rPr>
              <a:t> </a:t>
            </a:r>
            <a:r>
              <a:rPr dirty="0" sz="1100" spc="-5">
                <a:latin typeface="Arial"/>
                <a:cs typeface="Arial"/>
              </a:rPr>
              <a:t>skill.</a:t>
            </a:r>
            <a:endParaRPr sz="1100">
              <a:latin typeface="Arial"/>
              <a:cs typeface="Arial"/>
            </a:endParaRPr>
          </a:p>
          <a:p>
            <a:pPr algn="just" lvl="1" marL="469265" marR="6985" indent="-228600">
              <a:lnSpc>
                <a:spcPts val="1260"/>
              </a:lnSpc>
              <a:spcBef>
                <a:spcPts val="85"/>
              </a:spcBef>
              <a:buFont typeface="Symbol"/>
              <a:buChar char=""/>
              <a:tabLst>
                <a:tab pos="470534" algn="l"/>
              </a:tabLst>
            </a:pPr>
            <a:r>
              <a:rPr dirty="0" sz="1100" spc="-5">
                <a:latin typeface="Arial"/>
                <a:cs typeface="Arial"/>
              </a:rPr>
              <a:t>Workers performing the same task earn higher wages in a high-skill firm than in a low-  skill firm.</a:t>
            </a:r>
            <a:endParaRPr sz="1100">
              <a:latin typeface="Arial"/>
              <a:cs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5970905" cy="8130540"/>
          </a:xfrm>
          <a:prstGeom prst="rect">
            <a:avLst/>
          </a:prstGeom>
        </p:spPr>
        <p:txBody>
          <a:bodyPr wrap="square" lIns="0" tIns="24130" rIns="0" bIns="0" rtlCol="0" vert="horz">
            <a:spAutoFit/>
          </a:bodyPr>
          <a:lstStyle/>
          <a:p>
            <a:pPr marL="469900" marR="8255" indent="-228600">
              <a:lnSpc>
                <a:spcPts val="1260"/>
              </a:lnSpc>
              <a:spcBef>
                <a:spcPts val="190"/>
              </a:spcBef>
              <a:buFont typeface="Symbol"/>
              <a:buChar char=""/>
              <a:tabLst>
                <a:tab pos="469265" algn="l"/>
                <a:tab pos="470534" algn="l"/>
              </a:tabLst>
            </a:pPr>
            <a:r>
              <a:rPr dirty="0" sz="1100" spc="-5">
                <a:latin typeface="Arial"/>
                <a:cs typeface="Arial"/>
              </a:rPr>
              <a:t>The overall productivity level can be increased by making people aware that they will be  able to generate more money if they enrich them with high levels of</a:t>
            </a:r>
            <a:r>
              <a:rPr dirty="0" sz="1100" spc="114">
                <a:latin typeface="Arial"/>
                <a:cs typeface="Arial"/>
              </a:rPr>
              <a:t> </a:t>
            </a:r>
            <a:r>
              <a:rPr dirty="0" sz="1100" spc="-5">
                <a:latin typeface="Arial"/>
                <a:cs typeface="Arial"/>
              </a:rPr>
              <a:t>skills.</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The Presence of complementarities in the factor inputs of the production</a:t>
            </a:r>
            <a:r>
              <a:rPr dirty="0" sz="1100" spc="125">
                <a:latin typeface="Arial"/>
                <a:cs typeface="Arial"/>
              </a:rPr>
              <a:t> </a:t>
            </a:r>
            <a:r>
              <a:rPr dirty="0" sz="1100" spc="-5">
                <a:latin typeface="Arial"/>
                <a:cs typeface="Arial"/>
              </a:rPr>
              <a:t>function.</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The Presence of low productivity</a:t>
            </a:r>
            <a:r>
              <a:rPr dirty="0" sz="1100" spc="20">
                <a:latin typeface="Arial"/>
                <a:cs typeface="Arial"/>
              </a:rPr>
              <a:t> </a:t>
            </a:r>
            <a:r>
              <a:rPr dirty="0" sz="1100" spc="-5">
                <a:latin typeface="Arial"/>
                <a:cs typeface="Arial"/>
              </a:rPr>
              <a:t>bottlenecks.</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Such bottlenecks have a multiplicative effect on other production</a:t>
            </a:r>
            <a:r>
              <a:rPr dirty="0" sz="1100" spc="65">
                <a:latin typeface="Arial"/>
                <a:cs typeface="Arial"/>
              </a:rPr>
              <a:t> </a:t>
            </a:r>
            <a:r>
              <a:rPr dirty="0" sz="1100" spc="-5">
                <a:latin typeface="Arial"/>
                <a:cs typeface="Arial"/>
              </a:rPr>
              <a:t>levels.</a:t>
            </a:r>
            <a:endParaRPr sz="1100">
              <a:latin typeface="Arial"/>
              <a:cs typeface="Arial"/>
            </a:endParaRPr>
          </a:p>
          <a:p>
            <a:pPr marL="469900" marR="6985" indent="-228600">
              <a:lnSpc>
                <a:spcPts val="1270"/>
              </a:lnSpc>
              <a:spcBef>
                <a:spcPts val="100"/>
              </a:spcBef>
              <a:buFont typeface="Symbol"/>
              <a:buChar char=""/>
              <a:tabLst>
                <a:tab pos="469265" algn="l"/>
                <a:tab pos="470534" algn="l"/>
              </a:tabLst>
            </a:pPr>
            <a:r>
              <a:rPr dirty="0" sz="1100" spc="-5">
                <a:latin typeface="Arial"/>
                <a:cs typeface="Arial"/>
              </a:rPr>
              <a:t>Bottlenecks also reduce the incentive for workers to invest in skills by lowering the  expected return to these</a:t>
            </a:r>
            <a:r>
              <a:rPr dirty="0" sz="1100" spc="10">
                <a:latin typeface="Arial"/>
                <a:cs typeface="Arial"/>
              </a:rPr>
              <a:t> </a:t>
            </a:r>
            <a:r>
              <a:rPr dirty="0" sz="1100" spc="-5">
                <a:latin typeface="Arial"/>
                <a:cs typeface="Arial"/>
              </a:rPr>
              <a:t>skills.</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ECONOMIC DEVELOPMENT AS</a:t>
            </a:r>
            <a:r>
              <a:rPr dirty="0" sz="1100" spc="15" b="1">
                <a:latin typeface="Arial"/>
                <a:cs typeface="Arial"/>
              </a:rPr>
              <a:t> </a:t>
            </a:r>
            <a:r>
              <a:rPr dirty="0" sz="1100" spc="-5" b="1">
                <a:latin typeface="Arial"/>
                <a:cs typeface="Arial"/>
              </a:rPr>
              <a:t>SELF-DISCOVERY</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In simple models with perfect information, it is assumed that firms, and developing economies  as a whole, already know their comparative advantage. But individuals must discover their own  comparative advantage in labor markets; for example, no </a:t>
            </a:r>
            <a:r>
              <a:rPr dirty="0" sz="1100">
                <a:latin typeface="Arial"/>
                <a:cs typeface="Arial"/>
              </a:rPr>
              <a:t>one </a:t>
            </a:r>
            <a:r>
              <a:rPr dirty="0" sz="1100" spc="-5">
                <a:latin typeface="Arial"/>
                <a:cs typeface="Arial"/>
              </a:rPr>
              <a:t>is born knowing they are well  suited to become an economist or international development specialist. Somewhat analogously,  nations must learn what activities are most advantageous to specialize in. As Ricardo  Hausmann and Dani Rodrik show, this is a complex task—and one prone to market failure.49 It  is not enough to tell a developing nation to specialize in “labor- intensive products,” because  even if this were always true, there are a vast number of such products in the world economy </a:t>
            </a:r>
            <a:r>
              <a:rPr dirty="0" sz="1100">
                <a:latin typeface="Arial"/>
                <a:cs typeface="Arial"/>
              </a:rPr>
              <a:t>of  </a:t>
            </a:r>
            <a:r>
              <a:rPr dirty="0" sz="1100" spc="-5">
                <a:latin typeface="Arial"/>
                <a:cs typeface="Arial"/>
              </a:rPr>
              <a:t>today, and underlying costs of production of specific products can differ greatly </a:t>
            </a:r>
            <a:r>
              <a:rPr dirty="0" sz="1100">
                <a:latin typeface="Arial"/>
                <a:cs typeface="Arial"/>
              </a:rPr>
              <a:t>from </a:t>
            </a:r>
            <a:r>
              <a:rPr dirty="0" sz="1100" spc="-5">
                <a:latin typeface="Arial"/>
                <a:cs typeface="Arial"/>
              </a:rPr>
              <a:t>country </a:t>
            </a:r>
            <a:r>
              <a:rPr dirty="0" sz="1100">
                <a:latin typeface="Arial"/>
                <a:cs typeface="Arial"/>
              </a:rPr>
              <a:t>to  </a:t>
            </a:r>
            <a:r>
              <a:rPr dirty="0" sz="1100" spc="-5">
                <a:latin typeface="Arial"/>
                <a:cs typeface="Arial"/>
              </a:rPr>
              <a:t>country. So it is socially valuable to discover that the true direct and indirect domestic costs of  producing a particular product or service in a given country are low or can be brought down to a  low level. It is valuable in part because once an activity is shown to be profitable, it can usually  be imitated, at least after some lag, spawning a new domestic</a:t>
            </a:r>
            <a:r>
              <a:rPr dirty="0" sz="1100" spc="75">
                <a:latin typeface="Arial"/>
                <a:cs typeface="Arial"/>
              </a:rPr>
              <a:t> </a:t>
            </a:r>
            <a:r>
              <a:rPr dirty="0" sz="1100" spc="-5">
                <a:latin typeface="Arial"/>
                <a:cs typeface="Arial"/>
              </a:rPr>
              <a:t>industry.</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An example is the ready-made garment industry in Bangladesh, which spread from the first  pioneers as dozens of entrepreneurs entered the market. But as markets are eventually open to  competing firms, they </a:t>
            </a:r>
            <a:r>
              <a:rPr dirty="0" sz="1100">
                <a:latin typeface="Arial"/>
                <a:cs typeface="Arial"/>
              </a:rPr>
              <a:t>will </a:t>
            </a:r>
            <a:r>
              <a:rPr dirty="0" sz="1100" spc="-5">
                <a:latin typeface="Arial"/>
                <a:cs typeface="Arial"/>
              </a:rPr>
              <a:t>take away potential profits from </a:t>
            </a:r>
            <a:r>
              <a:rPr dirty="0" sz="1100">
                <a:latin typeface="Arial"/>
                <a:cs typeface="Arial"/>
              </a:rPr>
              <a:t>the </a:t>
            </a:r>
            <a:r>
              <a:rPr dirty="0" sz="1100" spc="-5">
                <a:latin typeface="Arial"/>
                <a:cs typeface="Arial"/>
              </a:rPr>
              <a:t>original innovator. </a:t>
            </a:r>
            <a:r>
              <a:rPr dirty="0" sz="1100">
                <a:latin typeface="Arial"/>
                <a:cs typeface="Arial"/>
              </a:rPr>
              <a:t>And </a:t>
            </a:r>
            <a:r>
              <a:rPr dirty="0" sz="1100" spc="-5">
                <a:latin typeface="Arial"/>
                <a:cs typeface="Arial"/>
              </a:rPr>
              <a:t>since due  to this information externality innovators do not reap the full returns generated by their search  for profitable activities, there will be too little searching for the nation’s comparative advantage—  too much time carrying on with business as usual and too little time devoted to “self-discovery.”  The term self-discovery somewhat whimsically expresses the assumption that the products in  question have already been discovered by someone else (either long ago, or recently in a  developed economy); what remains to be discovered is which of these products a local  economy is relatively good at making</a:t>
            </a:r>
            <a:r>
              <a:rPr dirty="0" sz="1100" spc="25">
                <a:latin typeface="Arial"/>
                <a:cs typeface="Arial"/>
              </a:rPr>
              <a:t> </a:t>
            </a:r>
            <a:r>
              <a:rPr dirty="0" sz="1100" spc="-5">
                <a:latin typeface="Arial"/>
                <a:cs typeface="Arial"/>
              </a:rPr>
              <a:t>itself.</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INFORMATION EXTERNALITY</a:t>
            </a:r>
            <a:endParaRPr sz="1100">
              <a:latin typeface="Arial"/>
              <a:cs typeface="Arial"/>
            </a:endParaRPr>
          </a:p>
          <a:p>
            <a:pPr>
              <a:lnSpc>
                <a:spcPct val="100000"/>
              </a:lnSpc>
              <a:spcBef>
                <a:spcPts val="30"/>
              </a:spcBef>
            </a:pPr>
            <a:endParaRPr sz="1200">
              <a:latin typeface="Arial"/>
              <a:cs typeface="Arial"/>
            </a:endParaRPr>
          </a:p>
          <a:p>
            <a:pPr algn="just" marL="12700" marR="6350">
              <a:lnSpc>
                <a:spcPts val="1270"/>
              </a:lnSpc>
            </a:pPr>
            <a:r>
              <a:rPr dirty="0" sz="1100" spc="-5" i="1">
                <a:latin typeface="Arial"/>
                <a:cs typeface="Arial"/>
              </a:rPr>
              <a:t>The spillover of information— such as knowledge of a production process—from </a:t>
            </a:r>
            <a:r>
              <a:rPr dirty="0" sz="1100" i="1">
                <a:latin typeface="Arial"/>
                <a:cs typeface="Arial"/>
              </a:rPr>
              <a:t>one </a:t>
            </a:r>
            <a:r>
              <a:rPr dirty="0" sz="1100" spc="-5" i="1">
                <a:latin typeface="Arial"/>
                <a:cs typeface="Arial"/>
              </a:rPr>
              <a:t>agent to  </a:t>
            </a:r>
            <a:r>
              <a:rPr dirty="0" sz="1100" spc="-5" i="1">
                <a:latin typeface="Arial"/>
                <a:cs typeface="Arial"/>
              </a:rPr>
              <a:t>another, without intermediation of a market transaction; reflects the public good characteristic of  information (and susceptibility to free riding)—it is neither fully excludable </a:t>
            </a:r>
            <a:r>
              <a:rPr dirty="0" sz="1100" i="1">
                <a:latin typeface="Arial"/>
                <a:cs typeface="Arial"/>
              </a:rPr>
              <a:t>from </a:t>
            </a:r>
            <a:r>
              <a:rPr dirty="0" sz="1100" spc="-5" i="1">
                <a:latin typeface="Arial"/>
                <a:cs typeface="Arial"/>
              </a:rPr>
              <a:t>other uses, </a:t>
            </a:r>
            <a:r>
              <a:rPr dirty="0" sz="1100" i="1">
                <a:latin typeface="Arial"/>
                <a:cs typeface="Arial"/>
              </a:rPr>
              <a:t>nor  </a:t>
            </a:r>
            <a:r>
              <a:rPr dirty="0" sz="1100" spc="-5" i="1">
                <a:latin typeface="Arial"/>
                <a:cs typeface="Arial"/>
              </a:rPr>
              <a:t>non-rival (one agent’s </a:t>
            </a:r>
            <a:r>
              <a:rPr dirty="0" sz="1100" i="1">
                <a:latin typeface="Arial"/>
                <a:cs typeface="Arial"/>
              </a:rPr>
              <a:t>use </a:t>
            </a:r>
            <a:r>
              <a:rPr dirty="0" sz="1100" spc="-5" i="1">
                <a:latin typeface="Arial"/>
                <a:cs typeface="Arial"/>
              </a:rPr>
              <a:t>of information does not prevent others from using</a:t>
            </a:r>
            <a:r>
              <a:rPr dirty="0" sz="1100" spc="75" i="1">
                <a:latin typeface="Arial"/>
                <a:cs typeface="Arial"/>
              </a:rPr>
              <a:t> </a:t>
            </a:r>
            <a:r>
              <a:rPr dirty="0" sz="1100" spc="-5" i="1">
                <a:latin typeface="Arial"/>
                <a:cs typeface="Arial"/>
              </a:rPr>
              <a:t>it).</a:t>
            </a:r>
            <a:endParaRPr sz="1100">
              <a:latin typeface="Arial"/>
              <a:cs typeface="Arial"/>
            </a:endParaRPr>
          </a:p>
          <a:p>
            <a:pPr>
              <a:lnSpc>
                <a:spcPct val="100000"/>
              </a:lnSpc>
              <a:spcBef>
                <a:spcPts val="10"/>
              </a:spcBef>
            </a:pPr>
            <a:endParaRPr sz="1000">
              <a:latin typeface="Arial"/>
              <a:cs typeface="Arial"/>
            </a:endParaRPr>
          </a:p>
          <a:p>
            <a:pPr marL="12700">
              <a:lnSpc>
                <a:spcPct val="100000"/>
              </a:lnSpc>
            </a:pPr>
            <a:r>
              <a:rPr dirty="0" sz="1100" spc="-5" b="1">
                <a:latin typeface="Arial"/>
                <a:cs typeface="Arial"/>
              </a:rPr>
              <a:t>THE HAUSMANN-RODRIK-VELASCO GROWTH DIAGNOSTICS</a:t>
            </a:r>
            <a:r>
              <a:rPr dirty="0" sz="1100" spc="20" b="1">
                <a:latin typeface="Arial"/>
                <a:cs typeface="Arial"/>
              </a:rPr>
              <a:t> </a:t>
            </a:r>
            <a:r>
              <a:rPr dirty="0" sz="1100" spc="-5" b="1">
                <a:latin typeface="Arial"/>
                <a:cs typeface="Arial"/>
              </a:rPr>
              <a:t>FRAMEWORK</a:t>
            </a:r>
            <a:endParaRPr sz="1100">
              <a:latin typeface="Arial"/>
              <a:cs typeface="Arial"/>
            </a:endParaRPr>
          </a:p>
          <a:p>
            <a:pPr>
              <a:lnSpc>
                <a:spcPct val="100000"/>
              </a:lnSpc>
              <a:spcBef>
                <a:spcPts val="55"/>
              </a:spcBef>
            </a:pPr>
            <a:endParaRPr sz="1150">
              <a:latin typeface="Arial"/>
              <a:cs typeface="Arial"/>
            </a:endParaRPr>
          </a:p>
          <a:p>
            <a:pPr algn="just" marL="12700" marR="6985">
              <a:lnSpc>
                <a:spcPct val="95800"/>
              </a:lnSpc>
            </a:pPr>
            <a:r>
              <a:rPr dirty="0" sz="1100" spc="-5">
                <a:latin typeface="Arial"/>
                <a:cs typeface="Arial"/>
              </a:rPr>
              <a:t>Encouraging efficient investment and widespread entrepreneurship plays a prominent role in  accelerating growth and promoting development more broadly. But the once popular idea of  finding a “one size fits all” policy for economic development is now generally recognized as a  myth. Different countries face different binding constraints on achieving faster rates of growth  and economic development. A key mission for economic development specialists is to help  determine</a:t>
            </a:r>
            <a:r>
              <a:rPr dirty="0" sz="1100" spc="85">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nature</a:t>
            </a:r>
            <a:r>
              <a:rPr dirty="0" sz="1100" spc="85">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constraints</a:t>
            </a:r>
            <a:r>
              <a:rPr dirty="0" sz="1100" spc="85">
                <a:latin typeface="Arial"/>
                <a:cs typeface="Arial"/>
              </a:rPr>
              <a:t> </a:t>
            </a:r>
            <a:r>
              <a:rPr dirty="0" sz="1100" spc="-5">
                <a:latin typeface="Arial"/>
                <a:cs typeface="Arial"/>
              </a:rPr>
              <a:t>for</a:t>
            </a:r>
            <a:r>
              <a:rPr dirty="0" sz="1100" spc="90">
                <a:latin typeface="Arial"/>
                <a:cs typeface="Arial"/>
              </a:rPr>
              <a:t> </a:t>
            </a:r>
            <a:r>
              <a:rPr dirty="0" sz="1100" spc="-5">
                <a:latin typeface="Arial"/>
                <a:cs typeface="Arial"/>
              </a:rPr>
              <a:t>each</a:t>
            </a:r>
            <a:r>
              <a:rPr dirty="0" sz="1100" spc="80">
                <a:latin typeface="Arial"/>
                <a:cs typeface="Arial"/>
              </a:rPr>
              <a:t> </a:t>
            </a:r>
            <a:r>
              <a:rPr dirty="0" sz="1100" spc="-5">
                <a:latin typeface="Arial"/>
                <a:cs typeface="Arial"/>
              </a:rPr>
              <a:t>country.</a:t>
            </a:r>
            <a:r>
              <a:rPr dirty="0" sz="1100" spc="85">
                <a:latin typeface="Arial"/>
                <a:cs typeface="Arial"/>
              </a:rPr>
              <a:t> </a:t>
            </a:r>
            <a:r>
              <a:rPr dirty="0" sz="1100" spc="-5">
                <a:latin typeface="Arial"/>
                <a:cs typeface="Arial"/>
              </a:rPr>
              <a:t>Ricardo</a:t>
            </a:r>
            <a:r>
              <a:rPr dirty="0" sz="1100" spc="85">
                <a:latin typeface="Arial"/>
                <a:cs typeface="Arial"/>
              </a:rPr>
              <a:t> </a:t>
            </a:r>
            <a:r>
              <a:rPr dirty="0" sz="1100" spc="-5">
                <a:latin typeface="Arial"/>
                <a:cs typeface="Arial"/>
              </a:rPr>
              <a:t>Hausmann,</a:t>
            </a:r>
            <a:r>
              <a:rPr dirty="0" sz="1100" spc="90">
                <a:latin typeface="Arial"/>
                <a:cs typeface="Arial"/>
              </a:rPr>
              <a:t> </a:t>
            </a:r>
            <a:r>
              <a:rPr dirty="0" sz="1100" spc="-5">
                <a:latin typeface="Arial"/>
                <a:cs typeface="Arial"/>
              </a:rPr>
              <a:t>Dani</a:t>
            </a:r>
            <a:r>
              <a:rPr dirty="0" sz="1100" spc="90">
                <a:latin typeface="Arial"/>
                <a:cs typeface="Arial"/>
              </a:rPr>
              <a:t> </a:t>
            </a:r>
            <a:r>
              <a:rPr dirty="0" sz="1100" spc="-5">
                <a:latin typeface="Arial"/>
                <a:cs typeface="Arial"/>
              </a:rPr>
              <a:t>Rodrik,</a:t>
            </a:r>
            <a:r>
              <a:rPr dirty="0" sz="1100" spc="85">
                <a:latin typeface="Arial"/>
                <a:cs typeface="Arial"/>
              </a:rPr>
              <a:t> </a:t>
            </a:r>
            <a:r>
              <a:rPr dirty="0" sz="1100" spc="-5">
                <a:latin typeface="Arial"/>
                <a:cs typeface="Arial"/>
              </a:rPr>
              <a:t>and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146</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000" cy="343535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Andrés Velasco (HRV) propose a growth diagnostics decision tree framework for zeroing in on a  country’s most binding constraints on economic growth. HRV explain that targeting the most  binding constraint has important advantages over other approaches to policy</a:t>
            </a:r>
            <a:r>
              <a:rPr dirty="0" sz="1100" spc="114">
                <a:latin typeface="Arial"/>
                <a:cs typeface="Arial"/>
              </a:rPr>
              <a:t> </a:t>
            </a:r>
            <a:r>
              <a:rPr dirty="0" sz="1100" spc="-5">
                <a:latin typeface="Arial"/>
                <a:cs typeface="Arial"/>
              </a:rPr>
              <a:t>selection.</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a:latin typeface="Arial"/>
                <a:cs typeface="Arial"/>
              </a:rPr>
              <a:t>GROWTH DIAGNOSTICS</a:t>
            </a:r>
            <a:endParaRPr sz="1100">
              <a:latin typeface="Arial"/>
              <a:cs typeface="Arial"/>
            </a:endParaRPr>
          </a:p>
          <a:p>
            <a:pPr>
              <a:lnSpc>
                <a:spcPct val="100000"/>
              </a:lnSpc>
              <a:spcBef>
                <a:spcPts val="30"/>
              </a:spcBef>
            </a:pPr>
            <a:endParaRPr sz="1200">
              <a:latin typeface="Arial"/>
              <a:cs typeface="Arial"/>
            </a:endParaRPr>
          </a:p>
          <a:p>
            <a:pPr algn="just" marL="12700" marR="5715">
              <a:lnSpc>
                <a:spcPts val="1270"/>
              </a:lnSpc>
            </a:pPr>
            <a:r>
              <a:rPr dirty="0" sz="1100" spc="-5" i="1">
                <a:latin typeface="Arial"/>
                <a:cs typeface="Arial"/>
              </a:rPr>
              <a:t>A decision tree framework for identifying a country’s </a:t>
            </a:r>
            <a:r>
              <a:rPr dirty="0" sz="1100" i="1">
                <a:latin typeface="Arial"/>
                <a:cs typeface="Arial"/>
              </a:rPr>
              <a:t>most </a:t>
            </a:r>
            <a:r>
              <a:rPr dirty="0" sz="1100" spc="-5" i="1">
                <a:latin typeface="Arial"/>
                <a:cs typeface="Arial"/>
              </a:rPr>
              <a:t>binding constraints on economic  </a:t>
            </a:r>
            <a:r>
              <a:rPr dirty="0" sz="1100" spc="-5" i="1">
                <a:latin typeface="Arial"/>
                <a:cs typeface="Arial"/>
              </a:rPr>
              <a:t>growth.</a:t>
            </a:r>
            <a:endParaRPr sz="1100">
              <a:latin typeface="Arial"/>
              <a:cs typeface="Arial"/>
            </a:endParaRPr>
          </a:p>
          <a:p>
            <a:pPr>
              <a:lnSpc>
                <a:spcPct val="100000"/>
              </a:lnSpc>
              <a:spcBef>
                <a:spcPts val="25"/>
              </a:spcBef>
            </a:pPr>
            <a:endParaRPr sz="1000">
              <a:latin typeface="Arial"/>
              <a:cs typeface="Arial"/>
            </a:endParaRPr>
          </a:p>
          <a:p>
            <a:pPr algn="just" marL="12700">
              <a:lnSpc>
                <a:spcPct val="100000"/>
              </a:lnSpc>
            </a:pPr>
            <a:r>
              <a:rPr dirty="0" sz="1100" spc="-5" b="1">
                <a:latin typeface="Arial"/>
                <a:cs typeface="Arial"/>
              </a:rPr>
              <a:t>SOCIAL RETURNS</a:t>
            </a:r>
            <a:endParaRPr sz="1100">
              <a:latin typeface="Arial"/>
              <a:cs typeface="Arial"/>
            </a:endParaRPr>
          </a:p>
          <a:p>
            <a:pPr>
              <a:lnSpc>
                <a:spcPct val="100000"/>
              </a:lnSpc>
              <a:spcBef>
                <a:spcPts val="25"/>
              </a:spcBef>
            </a:pPr>
            <a:endParaRPr sz="1200">
              <a:latin typeface="Arial"/>
              <a:cs typeface="Arial"/>
            </a:endParaRPr>
          </a:p>
          <a:p>
            <a:pPr algn="just" marL="12700" marR="5080">
              <a:lnSpc>
                <a:spcPts val="1270"/>
              </a:lnSpc>
            </a:pPr>
            <a:r>
              <a:rPr dirty="0" sz="1100" spc="-5" i="1">
                <a:latin typeface="Arial"/>
                <a:cs typeface="Arial"/>
              </a:rPr>
              <a:t>The profitability of an investment in which both costs and benefits are accounted for from the  </a:t>
            </a:r>
            <a:r>
              <a:rPr dirty="0" sz="1100" spc="-5" i="1">
                <a:latin typeface="Arial"/>
                <a:cs typeface="Arial"/>
              </a:rPr>
              <a:t>perspective of the society as a</a:t>
            </a:r>
            <a:r>
              <a:rPr dirty="0" sz="1100" spc="20" i="1">
                <a:latin typeface="Arial"/>
                <a:cs typeface="Arial"/>
              </a:rPr>
              <a:t> </a:t>
            </a:r>
            <a:r>
              <a:rPr dirty="0" sz="1100" spc="-5" i="1">
                <a:latin typeface="Arial"/>
                <a:cs typeface="Arial"/>
              </a:rPr>
              <a:t>whole.</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If a developing nation experiences a relatively low level of private investment and  entrepreneurship, what steps should it take? The basic decision tree for addressing this  question is seen in Figure 4.3, with arrows leading to the ten bottom boxes (that is, the boxes  from which no arrows extend further). At the first stage of the tree, the analyst seeks to divide  countries between those for which the main problem is a low underlying rate of return and those  for which </a:t>
            </a:r>
            <a:r>
              <a:rPr dirty="0" sz="1100">
                <a:latin typeface="Arial"/>
                <a:cs typeface="Arial"/>
              </a:rPr>
              <a:t>the </a:t>
            </a:r>
            <a:r>
              <a:rPr dirty="0" sz="1100" spc="-5">
                <a:latin typeface="Arial"/>
                <a:cs typeface="Arial"/>
              </a:rPr>
              <a:t>problem </a:t>
            </a:r>
            <a:r>
              <a:rPr dirty="0" sz="1100">
                <a:latin typeface="Arial"/>
                <a:cs typeface="Arial"/>
              </a:rPr>
              <a:t>is </a:t>
            </a:r>
            <a:r>
              <a:rPr dirty="0" sz="1100" spc="-5">
                <a:latin typeface="Arial"/>
                <a:cs typeface="Arial"/>
              </a:rPr>
              <a:t>an abnormally high </a:t>
            </a:r>
            <a:r>
              <a:rPr dirty="0" sz="1100">
                <a:latin typeface="Arial"/>
                <a:cs typeface="Arial"/>
              </a:rPr>
              <a:t>cost </a:t>
            </a:r>
            <a:r>
              <a:rPr dirty="0" sz="1100" spc="-5">
                <a:latin typeface="Arial"/>
                <a:cs typeface="Arial"/>
              </a:rPr>
              <a:t>of finance. Let us consider the former case  first, following the left arrow pointing to Low return to economic</a:t>
            </a:r>
            <a:r>
              <a:rPr dirty="0" sz="1100" spc="75">
                <a:latin typeface="Arial"/>
                <a:cs typeface="Arial"/>
              </a:rPr>
              <a:t> </a:t>
            </a:r>
            <a:r>
              <a:rPr dirty="0" sz="1100" spc="-5">
                <a:latin typeface="Arial"/>
                <a:cs typeface="Arial"/>
              </a:rPr>
              <a:t>activity.</a:t>
            </a:r>
            <a:endParaRPr sz="1100">
              <a:latin typeface="Arial"/>
              <a:cs typeface="Arial"/>
            </a:endParaRPr>
          </a:p>
        </p:txBody>
      </p:sp>
      <p:sp>
        <p:nvSpPr>
          <p:cNvPr id="7" name="object 7"/>
          <p:cNvSpPr/>
          <p:nvPr/>
        </p:nvSpPr>
        <p:spPr>
          <a:xfrm>
            <a:off x="914400" y="4477511"/>
            <a:ext cx="5935980" cy="3275076"/>
          </a:xfrm>
          <a:prstGeom prst="rect">
            <a:avLst/>
          </a:prstGeom>
          <a:blipFill>
            <a:blip r:embed="rId2" cstate="print"/>
            <a:stretch>
              <a:fillRect/>
            </a:stretch>
          </a:blipFill>
        </p:spPr>
        <p:txBody>
          <a:bodyPr wrap="square" lIns="0" tIns="0" rIns="0" bIns="0" rtlCol="0"/>
          <a:lstStyle/>
          <a:p/>
        </p:txBody>
      </p:sp>
      <p:sp>
        <p:nvSpPr>
          <p:cNvPr id="8" name="object 8"/>
          <p:cNvSpPr txBox="1"/>
          <p:nvPr/>
        </p:nvSpPr>
        <p:spPr>
          <a:xfrm>
            <a:off x="901700" y="7729225"/>
            <a:ext cx="5970270" cy="131762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Low returns to investors may be due to the fact that there are intrinsically low underlying social  returns to economic activities. Alternatively, low returns </a:t>
            </a:r>
            <a:r>
              <a:rPr dirty="0" sz="1100">
                <a:latin typeface="Arial"/>
                <a:cs typeface="Arial"/>
              </a:rPr>
              <a:t>may </a:t>
            </a:r>
            <a:r>
              <a:rPr dirty="0" sz="1100" spc="-5">
                <a:latin typeface="Arial"/>
                <a:cs typeface="Arial"/>
              </a:rPr>
              <a:t>be caused by what is termed low  private appropriability,</a:t>
            </a:r>
            <a:r>
              <a:rPr dirty="0" sz="1100">
                <a:latin typeface="Arial"/>
                <a:cs typeface="Arial"/>
              </a:rPr>
              <a:t> </a:t>
            </a:r>
            <a:r>
              <a:rPr dirty="0" sz="1100" spc="-5">
                <a:latin typeface="Arial"/>
                <a:cs typeface="Arial"/>
              </a:rPr>
              <a:t>meaning.</a:t>
            </a:r>
            <a:endParaRPr sz="1100">
              <a:latin typeface="Arial"/>
              <a:cs typeface="Arial"/>
            </a:endParaRPr>
          </a:p>
          <a:p>
            <a:pPr>
              <a:lnSpc>
                <a:spcPct val="100000"/>
              </a:lnSpc>
              <a:spcBef>
                <a:spcPts val="40"/>
              </a:spcBef>
            </a:pPr>
            <a:endParaRPr sz="1050">
              <a:latin typeface="Arial"/>
              <a:cs typeface="Arial"/>
            </a:endParaRPr>
          </a:p>
          <a:p>
            <a:pPr algn="just" marL="12700" marR="5080">
              <a:lnSpc>
                <a:spcPts val="1270"/>
              </a:lnSpc>
            </a:pPr>
            <a:r>
              <a:rPr dirty="0" sz="1100" spc="-5">
                <a:latin typeface="Arial"/>
                <a:cs typeface="Arial"/>
              </a:rPr>
              <a:t>First, as noted in Chapter 2, poor geography such as tropical pests, mountains and other  physical barriers, distance to world markets, and landlocked status (which may render port  access politically dubious or economically costly) </a:t>
            </a:r>
            <a:r>
              <a:rPr dirty="0" sz="1100">
                <a:latin typeface="Arial"/>
                <a:cs typeface="Arial"/>
              </a:rPr>
              <a:t>may </a:t>
            </a:r>
            <a:r>
              <a:rPr dirty="0" sz="1100" spc="-5">
                <a:latin typeface="Arial"/>
                <a:cs typeface="Arial"/>
              </a:rPr>
              <a:t>limit </a:t>
            </a:r>
            <a:r>
              <a:rPr dirty="0" sz="1100">
                <a:latin typeface="Arial"/>
                <a:cs typeface="Arial"/>
              </a:rPr>
              <a:t>the </a:t>
            </a:r>
            <a:r>
              <a:rPr dirty="0" sz="1100" spc="-5">
                <a:latin typeface="Arial"/>
                <a:cs typeface="Arial"/>
              </a:rPr>
              <a:t>ability of a low-income country to  initiate and sustain economic development, especially when other compounding factors</a:t>
            </a:r>
            <a:r>
              <a:rPr dirty="0" sz="1100" spc="5">
                <a:latin typeface="Arial"/>
                <a:cs typeface="Arial"/>
              </a:rPr>
              <a:t> </a:t>
            </a:r>
            <a:r>
              <a:rPr dirty="0" sz="1100" spc="-5">
                <a:latin typeface="Arial"/>
                <a:cs typeface="Arial"/>
              </a:rPr>
              <a:t>are</a:t>
            </a:r>
            <a:endParaRPr sz="11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p:nvPr/>
        </p:nvSpPr>
        <p:spPr>
          <a:xfrm>
            <a:off x="6632707" y="9275125"/>
            <a:ext cx="238125" cy="165100"/>
          </a:xfrm>
          <a:prstGeom prst="rect">
            <a:avLst/>
          </a:prstGeom>
        </p:spPr>
        <p:txBody>
          <a:bodyPr wrap="square" lIns="0" tIns="0" rIns="0" bIns="0" rtlCol="0" vert="horz">
            <a:spAutoFit/>
          </a:bodyPr>
          <a:lstStyle/>
          <a:p>
            <a:pPr marL="12700">
              <a:lnSpc>
                <a:spcPts val="1145"/>
              </a:lnSpc>
            </a:pPr>
            <a:r>
              <a:rPr dirty="0" sz="1100" spc="-5">
                <a:latin typeface="Carlito"/>
                <a:cs typeface="Carlito"/>
              </a:rPr>
              <a:t>147</a:t>
            </a:r>
            <a:endParaRPr sz="1100">
              <a:latin typeface="Carlito"/>
              <a:cs typeface="Carlito"/>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07910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present. When these constraints are most binding, development policy must initially focus on  strategies for overcoming them. Second, low human capital— skills and education as well as  health of workers—are complementary with other factors in production, affecting the returns to  economic activity. For example, if economic returns are most affected by lack of literacy and  numeracy, this becomes a development policy priority. (The importance of health and education  was also stressed in Chapter 2, and this will be examined in depth in Chapter 8.) Third, every  developing nation must provide the vital infrastructure needed to achieve and sustain a modern  economy, beginning with basic physical structures such as roads, bridges, railroads, ports,  telecommunications, and other utilities. With bad infrastructure, otherwise high-return economic  activities may prove unprofitable. In some countries, inadequate and imbalanced infrastructure  is the main factor preventing acceleration of growth, and in such cases, policies focusing on  providing it would boost investment and growth the</a:t>
            </a:r>
            <a:r>
              <a:rPr dirty="0" sz="1100" spc="35">
                <a:latin typeface="Arial"/>
                <a:cs typeface="Arial"/>
              </a:rPr>
              <a:t> </a:t>
            </a:r>
            <a:r>
              <a:rPr dirty="0" sz="1100" spc="-5">
                <a:latin typeface="Arial"/>
                <a:cs typeface="Arial"/>
              </a:rPr>
              <a:t>most.</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But the problem may lie not with the underlying social return to economic activities but with low  appropriability, meaning that investors cannot reap an adequate share of returns to investment.  Low appropriability takes us to the box below the right arrow emanating from Low return to  economic activity. In turn, appropriability problems could be due to </a:t>
            </a:r>
            <a:r>
              <a:rPr dirty="0" sz="1100">
                <a:latin typeface="Arial"/>
                <a:cs typeface="Arial"/>
              </a:rPr>
              <a:t>either </a:t>
            </a:r>
            <a:r>
              <a:rPr dirty="0" sz="1100" spc="-5">
                <a:latin typeface="Arial"/>
                <a:cs typeface="Arial"/>
              </a:rPr>
              <a:t>government failures or  market failures. In the HRV diagram, government failures are divided between </a:t>
            </a:r>
            <a:r>
              <a:rPr dirty="0" sz="1100">
                <a:latin typeface="Arial"/>
                <a:cs typeface="Arial"/>
              </a:rPr>
              <a:t>micro </a:t>
            </a:r>
            <a:r>
              <a:rPr dirty="0" sz="1100" spc="-5">
                <a:latin typeface="Arial"/>
                <a:cs typeface="Arial"/>
              </a:rPr>
              <a:t>risks and  macro risks. Micro risks address fundamental institutional weaknesses such as inadequacy of  property rights, government corruption, and excessively high effective taxation. That is, </a:t>
            </a:r>
            <a:r>
              <a:rPr dirty="0" sz="1100">
                <a:latin typeface="Arial"/>
                <a:cs typeface="Arial"/>
              </a:rPr>
              <a:t>the  </a:t>
            </a:r>
            <a:r>
              <a:rPr dirty="0" sz="1100" spc="-5">
                <a:latin typeface="Arial"/>
                <a:cs typeface="Arial"/>
              </a:rPr>
              <a:t>return to economic activity </a:t>
            </a:r>
            <a:r>
              <a:rPr dirty="0" sz="1100">
                <a:latin typeface="Arial"/>
                <a:cs typeface="Arial"/>
              </a:rPr>
              <a:t>may </a:t>
            </a:r>
            <a:r>
              <a:rPr dirty="0" sz="1100" spc="-5">
                <a:latin typeface="Arial"/>
                <a:cs typeface="Arial"/>
              </a:rPr>
              <a:t>be high enough, but elites rather than investors </a:t>
            </a:r>
            <a:r>
              <a:rPr dirty="0" sz="1100">
                <a:latin typeface="Arial"/>
                <a:cs typeface="Arial"/>
              </a:rPr>
              <a:t>may </a:t>
            </a:r>
            <a:r>
              <a:rPr dirty="0" sz="1100" spc="-5">
                <a:latin typeface="Arial"/>
                <a:cs typeface="Arial"/>
              </a:rPr>
              <a:t>capture a  large fraction of the returns and make investments unattractive. Despite the difficulty of  effectively reforming institutions when reform threatens the interests of elites (see Chapter 2),  such reform must become the development priority when micro risks are</a:t>
            </a:r>
            <a:r>
              <a:rPr dirty="0" sz="1100" spc="100">
                <a:latin typeface="Arial"/>
                <a:cs typeface="Arial"/>
              </a:rPr>
              <a:t> </a:t>
            </a:r>
            <a:r>
              <a:rPr dirty="0" sz="1100" spc="-5">
                <a:latin typeface="Arial"/>
                <a:cs typeface="Arial"/>
              </a:rPr>
              <a:t>binding.</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900"/>
              </a:lnSpc>
            </a:pPr>
            <a:r>
              <a:rPr dirty="0" sz="1100" spc="-5">
                <a:latin typeface="Arial"/>
                <a:cs typeface="Arial"/>
              </a:rPr>
              <a:t>In sum, </a:t>
            </a:r>
            <a:r>
              <a:rPr dirty="0" sz="1100">
                <a:latin typeface="Arial"/>
                <a:cs typeface="Arial"/>
              </a:rPr>
              <a:t>one </a:t>
            </a:r>
            <a:r>
              <a:rPr dirty="0" sz="1100" spc="-5">
                <a:latin typeface="Arial"/>
                <a:cs typeface="Arial"/>
              </a:rPr>
              <a:t>size does not fit all in development policy. Economic development strategies  focusing on resource mobilization through foreign assistance and other capital flows, along with  increased domestic national saving, can be </a:t>
            </a:r>
            <a:r>
              <a:rPr dirty="0" sz="1100">
                <a:latin typeface="Arial"/>
                <a:cs typeface="Arial"/>
              </a:rPr>
              <a:t>most </a:t>
            </a:r>
            <a:r>
              <a:rPr dirty="0" sz="1100" spc="-5">
                <a:latin typeface="Arial"/>
                <a:cs typeface="Arial"/>
              </a:rPr>
              <a:t>effective when domestic returns are both high  and privately appropriable. In contrast, strategies focusing on market liberalization and opening  up the economy can be most effective when social returns are high and the most serious  obstacle to private appropriation is government-imposed excessive taxes and restrictions.  Finally, strategies focusing on industrial policy (elaborated on in Chapter 12), can be </a:t>
            </a:r>
            <a:r>
              <a:rPr dirty="0" sz="1100">
                <a:latin typeface="Arial"/>
                <a:cs typeface="Arial"/>
              </a:rPr>
              <a:t>most  </a:t>
            </a:r>
            <a:r>
              <a:rPr dirty="0" sz="1100" spc="-5">
                <a:latin typeface="Arial"/>
                <a:cs typeface="Arial"/>
              </a:rPr>
              <a:t>effective when private returns are low not because of what a government does (errors of  commission) but because of what a government does not do (errors of</a:t>
            </a:r>
            <a:r>
              <a:rPr dirty="0" sz="1100" spc="105">
                <a:latin typeface="Arial"/>
                <a:cs typeface="Arial"/>
              </a:rPr>
              <a:t> </a:t>
            </a:r>
            <a:r>
              <a:rPr dirty="0" sz="1100" spc="-5">
                <a:latin typeface="Arial"/>
                <a:cs typeface="Arial"/>
              </a:rPr>
              <a:t>omission).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Growth diagnostics has already had an effect on the work of development agencies. For  example, the Inter-American Development Bank (IDB), the regional development bank for the  western hemisphere, has been commissioning growth diagnostic studies of many member  economies while training staff and nationals in the skills needed to conduct their own growth  diagnostics. World Bank economists have applied the method in a series of a dozen country  pilot studies in Africa, Asia, and Latin America. And developing country scholars have applied  the approach to their countries. Although growth diagnostics might be criticized as “more art  than science,” at the very least this new approach forces the analyst to focus on country-specific  circumstances and thus to get to know the individual country very well. This is one of the  reasons that growth diagnostics offers a valuable complement to econometric</a:t>
            </a:r>
            <a:r>
              <a:rPr dirty="0" sz="1100" spc="100">
                <a:latin typeface="Arial"/>
                <a:cs typeface="Arial"/>
              </a:rPr>
              <a:t> </a:t>
            </a:r>
            <a:r>
              <a:rPr dirty="0" sz="1100" spc="-5">
                <a:latin typeface="Arial"/>
                <a:cs typeface="Arial"/>
              </a:rPr>
              <a:t>studies.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CASE OF </a:t>
            </a:r>
            <a:r>
              <a:rPr dirty="0" sz="1100" b="1">
                <a:latin typeface="Arial"/>
                <a:cs typeface="Arial"/>
              </a:rPr>
              <a:t>EL</a:t>
            </a:r>
            <a:r>
              <a:rPr dirty="0" sz="1100" spc="10" b="1">
                <a:latin typeface="Arial"/>
                <a:cs typeface="Arial"/>
              </a:rPr>
              <a:t> </a:t>
            </a:r>
            <a:r>
              <a:rPr dirty="0" sz="1100" spc="-5" b="1">
                <a:latin typeface="Arial"/>
                <a:cs typeface="Arial"/>
              </a:rPr>
              <a:t>SALVADOR</a:t>
            </a:r>
            <a:endParaRPr sz="1100">
              <a:latin typeface="Arial"/>
              <a:cs typeface="Arial"/>
            </a:endParaRPr>
          </a:p>
          <a:p>
            <a:pPr>
              <a:lnSpc>
                <a:spcPct val="100000"/>
              </a:lnSpc>
              <a:spcBef>
                <a:spcPts val="20"/>
              </a:spcBef>
            </a:pPr>
            <a:endParaRPr sz="1200">
              <a:latin typeface="Arial"/>
              <a:cs typeface="Arial"/>
            </a:endParaRPr>
          </a:p>
          <a:p>
            <a:pPr algn="just" marL="12700" marR="5080">
              <a:lnSpc>
                <a:spcPts val="1270"/>
              </a:lnSpc>
            </a:pPr>
            <a:r>
              <a:rPr dirty="0" sz="1100" spc="-5">
                <a:latin typeface="Arial"/>
                <a:cs typeface="Arial"/>
              </a:rPr>
              <a:t>HRV argue that this economy is constrained by a lack of productive ideas. The binding  constraint</a:t>
            </a:r>
            <a:r>
              <a:rPr dirty="0" sz="1100" spc="145">
                <a:latin typeface="Arial"/>
                <a:cs typeface="Arial"/>
              </a:rPr>
              <a:t> </a:t>
            </a:r>
            <a:r>
              <a:rPr dirty="0" sz="1100" spc="-5">
                <a:latin typeface="Arial"/>
                <a:cs typeface="Arial"/>
              </a:rPr>
              <a:t>is</a:t>
            </a:r>
            <a:r>
              <a:rPr dirty="0" sz="1100" spc="150">
                <a:latin typeface="Arial"/>
                <a:cs typeface="Arial"/>
              </a:rPr>
              <a:t> </a:t>
            </a:r>
            <a:r>
              <a:rPr dirty="0" sz="1100" spc="-5">
                <a:latin typeface="Arial"/>
                <a:cs typeface="Arial"/>
              </a:rPr>
              <a:t>a</a:t>
            </a:r>
            <a:r>
              <a:rPr dirty="0" sz="1100" spc="150">
                <a:latin typeface="Arial"/>
                <a:cs typeface="Arial"/>
              </a:rPr>
              <a:t> </a:t>
            </a:r>
            <a:r>
              <a:rPr dirty="0" sz="1100" spc="-5">
                <a:latin typeface="Arial"/>
                <a:cs typeface="Arial"/>
              </a:rPr>
              <a:t>lack</a:t>
            </a:r>
            <a:r>
              <a:rPr dirty="0" sz="1100" spc="150">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innovation</a:t>
            </a:r>
            <a:r>
              <a:rPr dirty="0" sz="1100" spc="150">
                <a:latin typeface="Arial"/>
                <a:cs typeface="Arial"/>
              </a:rPr>
              <a:t> </a:t>
            </a:r>
            <a:r>
              <a:rPr dirty="0" sz="1100" spc="-5">
                <a:latin typeface="Arial"/>
                <a:cs typeface="Arial"/>
              </a:rPr>
              <a:t>and</a:t>
            </a:r>
            <a:r>
              <a:rPr dirty="0" sz="1100" spc="150">
                <a:latin typeface="Arial"/>
                <a:cs typeface="Arial"/>
              </a:rPr>
              <a:t> </a:t>
            </a:r>
            <a:r>
              <a:rPr dirty="0" sz="1100" spc="-5">
                <a:latin typeface="Arial"/>
                <a:cs typeface="Arial"/>
              </a:rPr>
              <a:t>demand</a:t>
            </a:r>
            <a:r>
              <a:rPr dirty="0" sz="1100" spc="150">
                <a:latin typeface="Arial"/>
                <a:cs typeface="Arial"/>
              </a:rPr>
              <a:t> </a:t>
            </a:r>
            <a:r>
              <a:rPr dirty="0" sz="1100" spc="-5">
                <a:latin typeface="Arial"/>
                <a:cs typeface="Arial"/>
              </a:rPr>
              <a:t>for</a:t>
            </a:r>
            <a:r>
              <a:rPr dirty="0" sz="1100" spc="155">
                <a:latin typeface="Arial"/>
                <a:cs typeface="Arial"/>
              </a:rPr>
              <a:t> </a:t>
            </a:r>
            <a:r>
              <a:rPr dirty="0" sz="1100" spc="-5">
                <a:latin typeface="Arial"/>
                <a:cs typeface="Arial"/>
              </a:rPr>
              <a:t>investment</a:t>
            </a:r>
            <a:r>
              <a:rPr dirty="0" sz="1100" spc="150">
                <a:latin typeface="Arial"/>
                <a:cs typeface="Arial"/>
              </a:rPr>
              <a:t> </a:t>
            </a:r>
            <a:r>
              <a:rPr dirty="0" sz="1100" spc="-5">
                <a:latin typeface="Arial"/>
                <a:cs typeface="Arial"/>
              </a:rPr>
              <a:t>to</a:t>
            </a:r>
            <a:r>
              <a:rPr dirty="0" sz="1100" spc="155">
                <a:latin typeface="Arial"/>
                <a:cs typeface="Arial"/>
              </a:rPr>
              <a:t> </a:t>
            </a:r>
            <a:r>
              <a:rPr dirty="0" sz="1100" spc="-5">
                <a:latin typeface="Arial"/>
                <a:cs typeface="Arial"/>
              </a:rPr>
              <a:t>replace</a:t>
            </a:r>
            <a:r>
              <a:rPr dirty="0" sz="1100" spc="150">
                <a:latin typeface="Arial"/>
                <a:cs typeface="Arial"/>
              </a:rPr>
              <a:t> </a:t>
            </a:r>
            <a:r>
              <a:rPr dirty="0" sz="1100" spc="-5">
                <a:latin typeface="Arial"/>
                <a:cs typeface="Arial"/>
              </a:rPr>
              <a:t>the</a:t>
            </a:r>
            <a:r>
              <a:rPr dirty="0" sz="1100" spc="150">
                <a:latin typeface="Arial"/>
                <a:cs typeface="Arial"/>
              </a:rPr>
              <a:t> </a:t>
            </a:r>
            <a:r>
              <a:rPr dirty="0" sz="1100" spc="-5">
                <a:latin typeface="Arial"/>
                <a:cs typeface="Arial"/>
              </a:rPr>
              <a:t>traditional</a:t>
            </a:r>
            <a:r>
              <a:rPr dirty="0" sz="1100" spc="150">
                <a:latin typeface="Arial"/>
                <a:cs typeface="Arial"/>
              </a:rPr>
              <a:t> </a:t>
            </a:r>
            <a:r>
              <a:rPr dirty="0" sz="1100" spc="-5">
                <a:latin typeface="Arial"/>
                <a:cs typeface="Arial"/>
              </a:rPr>
              <a:t>cotton,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148</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8244840"/>
          </a:xfrm>
          <a:prstGeom prst="rect">
            <a:avLst/>
          </a:prstGeom>
        </p:spPr>
        <p:txBody>
          <a:bodyPr wrap="square" lIns="0" tIns="19050" rIns="0" bIns="0" rtlCol="0" vert="horz">
            <a:spAutoFit/>
          </a:bodyPr>
          <a:lstStyle/>
          <a:p>
            <a:pPr marL="12700" marR="5080">
              <a:lnSpc>
                <a:spcPct val="95800"/>
              </a:lnSpc>
              <a:spcBef>
                <a:spcPts val="150"/>
              </a:spcBef>
            </a:pPr>
            <a:r>
              <a:rPr dirty="0" sz="1100" spc="-5">
                <a:latin typeface="Arial"/>
                <a:cs typeface="Arial"/>
              </a:rPr>
              <a:t>coffee, and sugar sectors, or low “self-discovery.” So the best strategy focus for El Salvador  would be to encourage more entrepreneurship and development of new business opportunities.  Conclusion: They need to generate investments, innovation and adaptation of new ideas in  order to utilize available</a:t>
            </a:r>
            <a:r>
              <a:rPr dirty="0" sz="1100" spc="10">
                <a:latin typeface="Arial"/>
                <a:cs typeface="Arial"/>
              </a:rPr>
              <a:t> </a:t>
            </a:r>
            <a:r>
              <a:rPr dirty="0" sz="1100" spc="-5">
                <a:latin typeface="Arial"/>
                <a:cs typeface="Arial"/>
              </a:rPr>
              <a:t>resources.</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10" b="1">
                <a:latin typeface="Arial"/>
                <a:cs typeface="Arial"/>
              </a:rPr>
              <a:t>CASE </a:t>
            </a:r>
            <a:r>
              <a:rPr dirty="0" sz="1100" spc="-5" b="1">
                <a:latin typeface="Arial"/>
                <a:cs typeface="Arial"/>
              </a:rPr>
              <a:t>OF</a:t>
            </a:r>
            <a:r>
              <a:rPr dirty="0" sz="1100" spc="10" b="1">
                <a:latin typeface="Arial"/>
                <a:cs typeface="Arial"/>
              </a:rPr>
              <a:t> </a:t>
            </a:r>
            <a:r>
              <a:rPr dirty="0" sz="1100" spc="-5" b="1">
                <a:latin typeface="Arial"/>
                <a:cs typeface="Arial"/>
              </a:rPr>
              <a:t>BRAZIL</a:t>
            </a:r>
            <a:endParaRPr sz="1100">
              <a:latin typeface="Arial"/>
              <a:cs typeface="Arial"/>
            </a:endParaRPr>
          </a:p>
          <a:p>
            <a:pPr>
              <a:lnSpc>
                <a:spcPct val="100000"/>
              </a:lnSpc>
              <a:spcBef>
                <a:spcPts val="50"/>
              </a:spcBef>
            </a:pPr>
            <a:endParaRPr sz="1250">
              <a:latin typeface="Arial"/>
              <a:cs typeface="Arial"/>
            </a:endParaRPr>
          </a:p>
          <a:p>
            <a:pPr algn="just" marL="469900" marR="6985" indent="-228600">
              <a:lnSpc>
                <a:spcPts val="1260"/>
              </a:lnSpc>
              <a:buFont typeface="Symbol"/>
              <a:buChar char=""/>
              <a:tabLst>
                <a:tab pos="470534" algn="l"/>
              </a:tabLst>
            </a:pPr>
            <a:r>
              <a:rPr dirty="0" sz="1100" spc="-5">
                <a:latin typeface="Arial"/>
                <a:cs typeface="Arial"/>
              </a:rPr>
              <a:t>HRV identify the country’s binding constraint as lack of sufficient funds to invest despite  an abundance of productive</a:t>
            </a:r>
            <a:r>
              <a:rPr dirty="0" sz="1100" spc="15">
                <a:latin typeface="Arial"/>
                <a:cs typeface="Arial"/>
              </a:rPr>
              <a:t> </a:t>
            </a:r>
            <a:r>
              <a:rPr dirty="0" sz="1100" spc="-5">
                <a:latin typeface="Arial"/>
                <a:cs typeface="Arial"/>
              </a:rPr>
              <a:t>ideas.</a:t>
            </a:r>
            <a:endParaRPr sz="1100">
              <a:latin typeface="Arial"/>
              <a:cs typeface="Arial"/>
            </a:endParaRPr>
          </a:p>
          <a:p>
            <a:pPr algn="just" marL="469900" marR="5715" indent="-228600">
              <a:lnSpc>
                <a:spcPts val="1260"/>
              </a:lnSpc>
              <a:spcBef>
                <a:spcPts val="85"/>
              </a:spcBef>
              <a:buFont typeface="Symbol"/>
              <a:buChar char=""/>
              <a:tabLst>
                <a:tab pos="470534" algn="l"/>
              </a:tabLst>
            </a:pPr>
            <a:r>
              <a:rPr dirty="0" sz="1100" spc="-5">
                <a:latin typeface="Arial"/>
                <a:cs typeface="Arial"/>
              </a:rPr>
              <a:t>Importance of “creating a financially viable state that does not over-borrow, over-tax </a:t>
            </a:r>
            <a:r>
              <a:rPr dirty="0" sz="1100">
                <a:latin typeface="Arial"/>
                <a:cs typeface="Arial"/>
              </a:rPr>
              <a:t>or  </a:t>
            </a:r>
            <a:r>
              <a:rPr dirty="0" sz="1100" spc="-5">
                <a:latin typeface="Arial"/>
                <a:cs typeface="Arial"/>
              </a:rPr>
              <a:t>under-invest” to successfully raise domestic</a:t>
            </a:r>
            <a:r>
              <a:rPr dirty="0" sz="1100" spc="25">
                <a:latin typeface="Arial"/>
                <a:cs typeface="Arial"/>
              </a:rPr>
              <a:t> </a:t>
            </a:r>
            <a:r>
              <a:rPr dirty="0" sz="1100" spc="-5">
                <a:latin typeface="Arial"/>
                <a:cs typeface="Arial"/>
              </a:rPr>
              <a:t>savings.</a:t>
            </a:r>
            <a:endParaRPr sz="1100">
              <a:latin typeface="Arial"/>
              <a:cs typeface="Arial"/>
            </a:endParaRPr>
          </a:p>
          <a:p>
            <a:pPr algn="just" marL="469900" marR="5080" indent="-228600">
              <a:lnSpc>
                <a:spcPct val="95800"/>
              </a:lnSpc>
              <a:spcBef>
                <a:spcPts val="45"/>
              </a:spcBef>
              <a:buFont typeface="Symbol"/>
              <a:buChar char=""/>
              <a:tabLst>
                <a:tab pos="470534" algn="l"/>
              </a:tabLst>
            </a:pPr>
            <a:r>
              <a:rPr dirty="0" sz="1100" spc="-5">
                <a:latin typeface="Arial"/>
                <a:cs typeface="Arial"/>
              </a:rPr>
              <a:t>Although Brazil could increase national savings to a degree by reducing government  expenditure, this may not be politically feasible. If so, HRV suggest that higher taxes and  user fees and lower infrastructure and human capital subsidies might work. “If the  country can </a:t>
            </a:r>
            <a:r>
              <a:rPr dirty="0" sz="1100">
                <a:latin typeface="Arial"/>
                <a:cs typeface="Arial"/>
              </a:rPr>
              <a:t>move </a:t>
            </a:r>
            <a:r>
              <a:rPr dirty="0" sz="1100" spc="-5">
                <a:latin typeface="Arial"/>
                <a:cs typeface="Arial"/>
              </a:rPr>
              <a:t>to a </a:t>
            </a:r>
            <a:r>
              <a:rPr dirty="0" sz="1100">
                <a:latin typeface="Arial"/>
                <a:cs typeface="Arial"/>
              </a:rPr>
              <a:t>faster </a:t>
            </a:r>
            <a:r>
              <a:rPr dirty="0" sz="1100" spc="-5">
                <a:latin typeface="Arial"/>
                <a:cs typeface="Arial"/>
              </a:rPr>
              <a:t>growth path and if waste does not grow with GDP, it </a:t>
            </a:r>
            <a:r>
              <a:rPr dirty="0" sz="1100">
                <a:latin typeface="Arial"/>
                <a:cs typeface="Arial"/>
              </a:rPr>
              <a:t>may  </a:t>
            </a:r>
            <a:r>
              <a:rPr dirty="0" sz="1100" spc="-5">
                <a:latin typeface="Arial"/>
                <a:cs typeface="Arial"/>
              </a:rPr>
              <a:t>outgrow its burdens and gradually improve its tax and spending system as fiscal  resources become more abundant.” In subsequent work, Hausmann has emphasized  the importance of “creating a financially viable state that does not over-borrow, over-tax  or under-invest” to successfully raise domestic</a:t>
            </a:r>
            <a:r>
              <a:rPr dirty="0" sz="1100" spc="30">
                <a:latin typeface="Arial"/>
                <a:cs typeface="Arial"/>
              </a:rPr>
              <a:t> </a:t>
            </a:r>
            <a:r>
              <a:rPr dirty="0" sz="1100" spc="-5">
                <a:latin typeface="Arial"/>
                <a:cs typeface="Arial"/>
              </a:rPr>
              <a:t>savings.</a:t>
            </a:r>
            <a:endParaRPr sz="1100">
              <a:latin typeface="Arial"/>
              <a:cs typeface="Arial"/>
            </a:endParaRPr>
          </a:p>
          <a:p>
            <a:pPr>
              <a:lnSpc>
                <a:spcPct val="100000"/>
              </a:lnSpc>
              <a:spcBef>
                <a:spcPts val="10"/>
              </a:spcBef>
              <a:buFont typeface="Symbol"/>
              <a:buChar char=""/>
            </a:pPr>
            <a:endParaRPr sz="1050">
              <a:latin typeface="Arial"/>
              <a:cs typeface="Arial"/>
            </a:endParaRPr>
          </a:p>
          <a:p>
            <a:pPr marL="12700">
              <a:lnSpc>
                <a:spcPct val="100000"/>
              </a:lnSpc>
            </a:pPr>
            <a:r>
              <a:rPr dirty="0" sz="1100" spc="-10" b="1">
                <a:latin typeface="Arial"/>
                <a:cs typeface="Arial"/>
              </a:rPr>
              <a:t>CASE </a:t>
            </a:r>
            <a:r>
              <a:rPr dirty="0" sz="1100" spc="-5" b="1">
                <a:latin typeface="Arial"/>
                <a:cs typeface="Arial"/>
              </a:rPr>
              <a:t>OF DOMINICAN</a:t>
            </a:r>
            <a:r>
              <a:rPr dirty="0" sz="1100" spc="20" b="1">
                <a:latin typeface="Arial"/>
                <a:cs typeface="Arial"/>
              </a:rPr>
              <a:t> </a:t>
            </a:r>
            <a:r>
              <a:rPr dirty="0" sz="1100" spc="-10" b="1">
                <a:latin typeface="Arial"/>
                <a:cs typeface="Arial"/>
              </a:rPr>
              <a:t>REPUBLIC</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HRV conclude that the Dominican Republic is constrained by core public goods in sectors key  for growth. The country began a </a:t>
            </a:r>
            <a:r>
              <a:rPr dirty="0" sz="1100">
                <a:latin typeface="Arial"/>
                <a:cs typeface="Arial"/>
              </a:rPr>
              <a:t>new </a:t>
            </a:r>
            <a:r>
              <a:rPr dirty="0" sz="1100" spc="-5">
                <a:latin typeface="Arial"/>
                <a:cs typeface="Arial"/>
              </a:rPr>
              <a:t>reform sequence during the 1980s, after it could no longer  rely on </a:t>
            </a:r>
            <a:r>
              <a:rPr dirty="0" sz="1100">
                <a:latin typeface="Arial"/>
                <a:cs typeface="Arial"/>
              </a:rPr>
              <a:t>sugar </a:t>
            </a:r>
            <a:r>
              <a:rPr dirty="0" sz="1100" spc="-5">
                <a:latin typeface="Arial"/>
                <a:cs typeface="Arial"/>
              </a:rPr>
              <a:t>and gold exports. It followed a narrow strategy of investing in needed public goods  for two emerging sectors with high potential, tourism and maquila assembly manufacturing. The  keys were security and infrastructure near the main tourist destinations and special trade policy  benefits for the light manufacturing assembly (maquila)</a:t>
            </a:r>
            <a:r>
              <a:rPr dirty="0" sz="1100" spc="40">
                <a:latin typeface="Arial"/>
                <a:cs typeface="Arial"/>
              </a:rPr>
              <a:t> </a:t>
            </a:r>
            <a:r>
              <a:rPr dirty="0" sz="1100" spc="-5">
                <a:latin typeface="Arial"/>
                <a:cs typeface="Arial"/>
              </a:rPr>
              <a:t>sector.</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10" b="1">
                <a:latin typeface="Arial"/>
                <a:cs typeface="Arial"/>
              </a:rPr>
              <a:t>CASE </a:t>
            </a:r>
            <a:r>
              <a:rPr dirty="0" sz="1100" spc="-5" b="1">
                <a:latin typeface="Arial"/>
                <a:cs typeface="Arial"/>
              </a:rPr>
              <a:t>STUDY: UNDERSTANDING A DEVELOPMENT MIRACLE:</a:t>
            </a:r>
            <a:r>
              <a:rPr dirty="0" sz="1100" spc="35" b="1">
                <a:latin typeface="Arial"/>
                <a:cs typeface="Arial"/>
              </a:rPr>
              <a:t> </a:t>
            </a:r>
            <a:r>
              <a:rPr dirty="0" sz="1100" spc="-5" b="1">
                <a:latin typeface="Arial"/>
                <a:cs typeface="Arial"/>
              </a:rPr>
              <a:t>CHINA</a:t>
            </a:r>
            <a:endParaRPr sz="1100">
              <a:latin typeface="Arial"/>
              <a:cs typeface="Arial"/>
            </a:endParaRPr>
          </a:p>
          <a:p>
            <a:pPr>
              <a:lnSpc>
                <a:spcPct val="100000"/>
              </a:lnSpc>
              <a:spcBef>
                <a:spcPts val="50"/>
              </a:spcBef>
            </a:pPr>
            <a:endParaRPr sz="1250">
              <a:latin typeface="Arial"/>
              <a:cs typeface="Arial"/>
            </a:endParaRPr>
          </a:p>
          <a:p>
            <a:pPr marL="469900" marR="8255" indent="-228600">
              <a:lnSpc>
                <a:spcPts val="1260"/>
              </a:lnSpc>
              <a:spcBef>
                <a:spcPts val="5"/>
              </a:spcBef>
              <a:buFont typeface="Symbol"/>
              <a:buChar char=""/>
              <a:tabLst>
                <a:tab pos="469265" algn="l"/>
                <a:tab pos="470534" algn="l"/>
              </a:tabLst>
            </a:pPr>
            <a:r>
              <a:rPr dirty="0" sz="1100" spc="-5">
                <a:latin typeface="Arial"/>
                <a:cs typeface="Arial"/>
              </a:rPr>
              <a:t>From 1978 </a:t>
            </a:r>
            <a:r>
              <a:rPr dirty="0" sz="1100">
                <a:latin typeface="Arial"/>
                <a:cs typeface="Arial"/>
              </a:rPr>
              <a:t>to </a:t>
            </a:r>
            <a:r>
              <a:rPr dirty="0" sz="1100" spc="-5">
                <a:latin typeface="Arial"/>
                <a:cs typeface="Arial"/>
              </a:rPr>
              <a:t>2008, the economy of China grew at an average rate of approximately 9%  a year.</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Dramatic reductions in</a:t>
            </a:r>
            <a:r>
              <a:rPr dirty="0" sz="1100">
                <a:latin typeface="Arial"/>
                <a:cs typeface="Arial"/>
              </a:rPr>
              <a:t> </a:t>
            </a:r>
            <a:r>
              <a:rPr dirty="0" sz="1100" spc="-5">
                <a:latin typeface="Arial"/>
                <a:cs typeface="Arial"/>
              </a:rPr>
              <a:t>poverty.</a:t>
            </a:r>
            <a:endParaRPr sz="1100">
              <a:latin typeface="Arial"/>
              <a:cs typeface="Arial"/>
            </a:endParaRPr>
          </a:p>
          <a:p>
            <a:pPr marL="469900" marR="5715" indent="-228600">
              <a:lnSpc>
                <a:spcPts val="1260"/>
              </a:lnSpc>
              <a:spcBef>
                <a:spcPts val="110"/>
              </a:spcBef>
              <a:buFont typeface="Symbol"/>
              <a:buChar char=""/>
              <a:tabLst>
                <a:tab pos="469265" algn="l"/>
                <a:tab pos="470534" algn="l"/>
              </a:tabLst>
            </a:pPr>
            <a:r>
              <a:rPr dirty="0" sz="1100" spc="-5">
                <a:latin typeface="Arial"/>
                <a:cs typeface="Arial"/>
              </a:rPr>
              <a:t>Study </a:t>
            </a:r>
            <a:r>
              <a:rPr dirty="0" sz="1100">
                <a:latin typeface="Arial"/>
                <a:cs typeface="Arial"/>
              </a:rPr>
              <a:t>by World </a:t>
            </a:r>
            <a:r>
              <a:rPr dirty="0" sz="1100" spc="-5">
                <a:latin typeface="Arial"/>
                <a:cs typeface="Arial"/>
              </a:rPr>
              <a:t>Bank indicates the number of </a:t>
            </a:r>
            <a:r>
              <a:rPr dirty="0" sz="1100">
                <a:latin typeface="Arial"/>
                <a:cs typeface="Arial"/>
              </a:rPr>
              <a:t>poor </a:t>
            </a:r>
            <a:r>
              <a:rPr dirty="0" sz="1100" spc="-5">
                <a:latin typeface="Arial"/>
                <a:cs typeface="Arial"/>
              </a:rPr>
              <a:t>in China falling from 53% in </a:t>
            </a:r>
            <a:r>
              <a:rPr dirty="0" sz="1100">
                <a:latin typeface="Arial"/>
                <a:cs typeface="Arial"/>
              </a:rPr>
              <a:t>1981 </a:t>
            </a:r>
            <a:r>
              <a:rPr dirty="0" sz="1100" spc="-5">
                <a:latin typeface="Arial"/>
                <a:cs typeface="Arial"/>
              </a:rPr>
              <a:t>to  just 8% in</a:t>
            </a:r>
            <a:r>
              <a:rPr dirty="0" sz="1100" spc="5">
                <a:latin typeface="Arial"/>
                <a:cs typeface="Arial"/>
              </a:rPr>
              <a:t> </a:t>
            </a:r>
            <a:r>
              <a:rPr dirty="0" sz="1100" spc="-5">
                <a:latin typeface="Arial"/>
                <a:cs typeface="Arial"/>
              </a:rPr>
              <a:t>2001.</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HOW?</a:t>
            </a:r>
            <a:endParaRPr sz="1100">
              <a:latin typeface="Arial"/>
              <a:cs typeface="Arial"/>
            </a:endParaRPr>
          </a:p>
          <a:p>
            <a:pPr>
              <a:lnSpc>
                <a:spcPct val="100000"/>
              </a:lnSpc>
              <a:spcBef>
                <a:spcPts val="50"/>
              </a:spcBef>
            </a:pPr>
            <a:endParaRPr sz="1250">
              <a:latin typeface="Arial"/>
              <a:cs typeface="Arial"/>
            </a:endParaRPr>
          </a:p>
          <a:p>
            <a:pPr marL="469900" marR="6350" indent="-229235">
              <a:lnSpc>
                <a:spcPts val="1260"/>
              </a:lnSpc>
              <a:buFont typeface="Symbol"/>
              <a:buChar char=""/>
              <a:tabLst>
                <a:tab pos="469265" algn="l"/>
                <a:tab pos="470534" algn="l"/>
              </a:tabLst>
            </a:pPr>
            <a:r>
              <a:rPr dirty="0" sz="1100" spc="-5">
                <a:latin typeface="Arial"/>
                <a:cs typeface="Arial"/>
              </a:rPr>
              <a:t>Manufactured exports are a key to China’s growth, and market incentives have played a  primary motivational role in business</a:t>
            </a:r>
            <a:r>
              <a:rPr dirty="0" sz="1100" spc="20">
                <a:latin typeface="Arial"/>
                <a:cs typeface="Arial"/>
              </a:rPr>
              <a:t> </a:t>
            </a:r>
            <a:r>
              <a:rPr dirty="0" sz="1100" spc="-5">
                <a:latin typeface="Arial"/>
                <a:cs typeface="Arial"/>
              </a:rPr>
              <a:t>decisions.</a:t>
            </a:r>
            <a:endParaRPr sz="1100">
              <a:latin typeface="Arial"/>
              <a:cs typeface="Arial"/>
            </a:endParaRPr>
          </a:p>
          <a:p>
            <a:pPr marL="469900" marR="6350" indent="-228600">
              <a:lnSpc>
                <a:spcPts val="1260"/>
              </a:lnSpc>
              <a:spcBef>
                <a:spcPts val="85"/>
              </a:spcBef>
              <a:buFont typeface="Symbol"/>
              <a:buChar char=""/>
              <a:tabLst>
                <a:tab pos="469265" algn="l"/>
                <a:tab pos="470534" algn="l"/>
              </a:tabLst>
            </a:pPr>
            <a:r>
              <a:rPr dirty="0" sz="1100" spc="-5">
                <a:latin typeface="Arial"/>
                <a:cs typeface="Arial"/>
              </a:rPr>
              <a:t>The presence of regional “demonstration” models has been crucial. Japan, Hong Kong,  Taiwan, South Korea focused on export-oriented</a:t>
            </a:r>
            <a:r>
              <a:rPr dirty="0" sz="1100" spc="35">
                <a:latin typeface="Arial"/>
                <a:cs typeface="Arial"/>
              </a:rPr>
              <a:t> </a:t>
            </a:r>
            <a:r>
              <a:rPr dirty="0" sz="1100" spc="-5">
                <a:latin typeface="Arial"/>
                <a:cs typeface="Arial"/>
              </a:rPr>
              <a:t>industrialization.</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China’s one-child</a:t>
            </a:r>
            <a:r>
              <a:rPr dirty="0" sz="1100">
                <a:latin typeface="Arial"/>
                <a:cs typeface="Arial"/>
              </a:rPr>
              <a:t> </a:t>
            </a:r>
            <a:r>
              <a:rPr dirty="0" sz="1100" spc="-5">
                <a:latin typeface="Arial"/>
                <a:cs typeface="Arial"/>
              </a:rPr>
              <a:t>policy.</a:t>
            </a:r>
            <a:endParaRPr sz="1100">
              <a:latin typeface="Arial"/>
              <a:cs typeface="Arial"/>
            </a:endParaRPr>
          </a:p>
          <a:p>
            <a:pPr marL="469900" marR="6350" indent="-228600">
              <a:lnSpc>
                <a:spcPts val="1260"/>
              </a:lnSpc>
              <a:spcBef>
                <a:spcPts val="110"/>
              </a:spcBef>
              <a:buFont typeface="Symbol"/>
              <a:buChar char=""/>
              <a:tabLst>
                <a:tab pos="469265" algn="l"/>
                <a:tab pos="470534" algn="l"/>
              </a:tabLst>
            </a:pPr>
            <a:r>
              <a:rPr dirty="0" sz="1100" spc="-5">
                <a:latin typeface="Arial"/>
                <a:cs typeface="Arial"/>
              </a:rPr>
              <a:t>Education, health, and eventually fertility helped set the stage for growth and poverty  reduction when later combined with market</a:t>
            </a:r>
            <a:r>
              <a:rPr dirty="0" sz="1100" spc="30">
                <a:latin typeface="Arial"/>
                <a:cs typeface="Arial"/>
              </a:rPr>
              <a:t> </a:t>
            </a:r>
            <a:r>
              <a:rPr dirty="0" sz="1100" spc="-5">
                <a:latin typeface="Arial"/>
                <a:cs typeface="Arial"/>
              </a:rPr>
              <a:t>incentives.</a:t>
            </a:r>
            <a:endParaRPr sz="1100">
              <a:latin typeface="Arial"/>
              <a:cs typeface="Arial"/>
            </a:endParaRPr>
          </a:p>
          <a:p>
            <a:pPr marL="469900" indent="-229235">
              <a:lnSpc>
                <a:spcPts val="1310"/>
              </a:lnSpc>
              <a:buFont typeface="Symbol"/>
              <a:buChar char=""/>
              <a:tabLst>
                <a:tab pos="469265" algn="l"/>
                <a:tab pos="470534" algn="l"/>
              </a:tabLst>
            </a:pPr>
            <a:r>
              <a:rPr dirty="0" sz="1100" spc="-5">
                <a:latin typeface="Arial"/>
                <a:cs typeface="Arial"/>
              </a:rPr>
              <a:t>The China case also illuminates</a:t>
            </a:r>
            <a:r>
              <a:rPr dirty="0" sz="1100" spc="20">
                <a:latin typeface="Arial"/>
                <a:cs typeface="Arial"/>
              </a:rPr>
              <a:t> </a:t>
            </a:r>
            <a:r>
              <a:rPr dirty="0" sz="1100" spc="-5">
                <a:latin typeface="Arial"/>
                <a:cs typeface="Arial"/>
              </a:rPr>
              <a:t>complementarities.</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Reallocation of labor, particularly from agriculture to other</a:t>
            </a:r>
            <a:r>
              <a:rPr dirty="0" sz="1100" spc="50">
                <a:latin typeface="Arial"/>
                <a:cs typeface="Arial"/>
              </a:rPr>
              <a:t> </a:t>
            </a:r>
            <a:r>
              <a:rPr dirty="0" sz="1100" spc="-5">
                <a:latin typeface="Arial"/>
                <a:cs typeface="Arial"/>
              </a:rPr>
              <a:t>activities.</a:t>
            </a:r>
            <a:endParaRPr sz="1100">
              <a:latin typeface="Arial"/>
              <a:cs typeface="Arial"/>
            </a:endParaRPr>
          </a:p>
          <a:p>
            <a:pPr marL="469900" marR="5080" indent="-228600">
              <a:lnSpc>
                <a:spcPts val="1260"/>
              </a:lnSpc>
              <a:spcBef>
                <a:spcPts val="110"/>
              </a:spcBef>
              <a:buFont typeface="Symbol"/>
              <a:buChar char=""/>
              <a:tabLst>
                <a:tab pos="469265" algn="l"/>
                <a:tab pos="470534" algn="l"/>
              </a:tabLst>
            </a:pPr>
            <a:r>
              <a:rPr dirty="0" sz="1100" spc="-5">
                <a:latin typeface="Arial"/>
                <a:cs typeface="Arial"/>
              </a:rPr>
              <a:t>For the first nearly two decades of reform, from the late 1970s to the mid-1990s, at the  local level, township and village enterprises (TVEs) were</a:t>
            </a:r>
            <a:r>
              <a:rPr dirty="0" sz="1100" spc="55">
                <a:latin typeface="Arial"/>
                <a:cs typeface="Arial"/>
              </a:rPr>
              <a:t> </a:t>
            </a:r>
            <a:r>
              <a:rPr dirty="0" sz="1100" spc="-5">
                <a:latin typeface="Arial"/>
                <a:cs typeface="Arial"/>
              </a:rPr>
              <a:t>encouraged.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149</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1699"/>
            <a:ext cx="2123440" cy="1351280"/>
          </a:xfrm>
          <a:prstGeom prst="rect">
            <a:avLst/>
          </a:prstGeom>
        </p:spPr>
        <p:txBody>
          <a:bodyPr wrap="square" lIns="0" tIns="12065" rIns="0" bIns="0" rtlCol="0" vert="horz">
            <a:spAutoFit/>
          </a:bodyPr>
          <a:lstStyle/>
          <a:p>
            <a:pPr marL="469900" indent="-229235">
              <a:lnSpc>
                <a:spcPct val="100000"/>
              </a:lnSpc>
              <a:spcBef>
                <a:spcPts val="95"/>
              </a:spcBef>
              <a:buFont typeface="Symbol"/>
              <a:buChar char=""/>
              <a:tabLst>
                <a:tab pos="469265" algn="l"/>
                <a:tab pos="470534" algn="l"/>
              </a:tabLst>
            </a:pPr>
            <a:r>
              <a:rPr dirty="0" sz="1100" spc="-5">
                <a:latin typeface="Arial"/>
                <a:cs typeface="Arial"/>
              </a:rPr>
              <a:t>Land reforms.</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LIMITATIONS</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Environmental</a:t>
            </a:r>
            <a:r>
              <a:rPr dirty="0" sz="1100" spc="-25">
                <a:latin typeface="Arial"/>
                <a:cs typeface="Arial"/>
              </a:rPr>
              <a:t> </a:t>
            </a:r>
            <a:r>
              <a:rPr dirty="0" sz="1100" spc="-5">
                <a:latin typeface="Arial"/>
                <a:cs typeface="Arial"/>
              </a:rPr>
              <a:t>Issues</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middle income</a:t>
            </a:r>
            <a:r>
              <a:rPr dirty="0" sz="1100" spc="-40">
                <a:latin typeface="Arial"/>
                <a:cs typeface="Arial"/>
              </a:rPr>
              <a:t> </a:t>
            </a:r>
            <a:r>
              <a:rPr dirty="0" sz="1100" spc="-5">
                <a:latin typeface="Arial"/>
                <a:cs typeface="Arial"/>
              </a:rPr>
              <a:t>trap</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i="1">
                <a:latin typeface="Arial"/>
                <a:cs typeface="Arial"/>
              </a:rPr>
              <a:t>“Real development is</a:t>
            </a:r>
            <a:r>
              <a:rPr dirty="0" sz="1100" spc="15" b="1" i="1">
                <a:latin typeface="Arial"/>
                <a:cs typeface="Arial"/>
              </a:rPr>
              <a:t> </a:t>
            </a:r>
            <a:r>
              <a:rPr dirty="0" sz="1100" spc="-5" b="1" i="1">
                <a:latin typeface="Arial"/>
                <a:cs typeface="Arial"/>
              </a:rPr>
              <a:t>possible”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150</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471995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22</a:t>
            </a:r>
            <a:endParaRPr sz="1100">
              <a:latin typeface="Arial"/>
              <a:cs typeface="Arial"/>
            </a:endParaRPr>
          </a:p>
          <a:p>
            <a:pPr marL="12700" marR="536575" indent="530860">
              <a:lnSpc>
                <a:spcPct val="191400"/>
              </a:lnSpc>
              <a:spcBef>
                <a:spcPts val="15"/>
              </a:spcBef>
            </a:pPr>
            <a:r>
              <a:rPr dirty="0" sz="1100" spc="-5" b="1">
                <a:latin typeface="Arial"/>
                <a:cs typeface="Arial"/>
              </a:rPr>
              <a:t>URBANIZATION AND RURAL URBAN MIGRATION: THEORY AND </a:t>
            </a:r>
            <a:r>
              <a:rPr dirty="0" sz="1100" spc="-10" b="1">
                <a:latin typeface="Arial"/>
                <a:cs typeface="Arial"/>
              </a:rPr>
              <a:t>POLICY  </a:t>
            </a:r>
            <a:r>
              <a:rPr dirty="0" sz="1100" spc="-5" b="1">
                <a:latin typeface="Arial"/>
                <a:cs typeface="Arial"/>
              </a:rPr>
              <a:t>THE MIGRATION AND URBANIZATION</a:t>
            </a:r>
            <a:r>
              <a:rPr dirty="0" sz="1100" spc="20" b="1">
                <a:latin typeface="Arial"/>
                <a:cs typeface="Arial"/>
              </a:rPr>
              <a:t> </a:t>
            </a:r>
            <a:r>
              <a:rPr dirty="0" sz="1100" spc="-5" b="1">
                <a:latin typeface="Arial"/>
                <a:cs typeface="Arial"/>
              </a:rPr>
              <a:t>DILEMMA</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In this chapter, we focus on one of the most complex and nuanced dilemmas of </a:t>
            </a:r>
            <a:r>
              <a:rPr dirty="0" sz="1100">
                <a:latin typeface="Arial"/>
                <a:cs typeface="Arial"/>
              </a:rPr>
              <a:t>the  </a:t>
            </a:r>
            <a:r>
              <a:rPr dirty="0" sz="1100" spc="-5">
                <a:latin typeface="Arial"/>
                <a:cs typeface="Arial"/>
              </a:rPr>
              <a:t>development process: the phenomenon of massive and historically unprecedented movements  of people from the rural countryside to the burgeoning cities of Africa, Asia, and Latin America.  In Chapter 6, we documented the extraordinary increase in world and especially developing-  country population over the past few decades. By 2050, </a:t>
            </a:r>
            <a:r>
              <a:rPr dirty="0" sz="1100">
                <a:latin typeface="Arial"/>
                <a:cs typeface="Arial"/>
              </a:rPr>
              <a:t>world </a:t>
            </a:r>
            <a:r>
              <a:rPr dirty="0" sz="1100" spc="-5">
                <a:latin typeface="Arial"/>
                <a:cs typeface="Arial"/>
              </a:rPr>
              <a:t>population is expected to exceed  9 billion people, and nowhere will population growth be </a:t>
            </a:r>
            <a:r>
              <a:rPr dirty="0" sz="1100">
                <a:latin typeface="Arial"/>
                <a:cs typeface="Arial"/>
              </a:rPr>
              <a:t>more </a:t>
            </a:r>
            <a:r>
              <a:rPr dirty="0" sz="1100" spc="-5">
                <a:latin typeface="Arial"/>
                <a:cs typeface="Arial"/>
              </a:rPr>
              <a:t>dramatic than in the cities of the  developing world. Indeed, according to United Nations estimates, the world became more urban  than rural in 2008, for the first time in human</a:t>
            </a:r>
            <a:r>
              <a:rPr dirty="0" sz="1100" spc="50">
                <a:latin typeface="Arial"/>
                <a:cs typeface="Arial"/>
              </a:rPr>
              <a:t> </a:t>
            </a:r>
            <a:r>
              <a:rPr dirty="0" sz="1100" spc="-5">
                <a:latin typeface="Arial"/>
                <a:cs typeface="Arial"/>
              </a:rPr>
              <a:t>history.</a:t>
            </a:r>
            <a:endParaRPr sz="1100">
              <a:latin typeface="Arial"/>
              <a:cs typeface="Arial"/>
            </a:endParaRPr>
          </a:p>
          <a:p>
            <a:pPr>
              <a:lnSpc>
                <a:spcPct val="100000"/>
              </a:lnSpc>
              <a:spcBef>
                <a:spcPts val="55"/>
              </a:spcBef>
            </a:pPr>
            <a:endParaRPr sz="1050">
              <a:latin typeface="Arial"/>
              <a:cs typeface="Arial"/>
            </a:endParaRPr>
          </a:p>
          <a:p>
            <a:pPr algn="just" marL="12700" marR="5080" indent="38735">
              <a:lnSpc>
                <a:spcPct val="95800"/>
              </a:lnSpc>
            </a:pPr>
            <a:r>
              <a:rPr dirty="0" sz="1100" spc="-5">
                <a:latin typeface="Arial"/>
                <a:cs typeface="Arial"/>
              </a:rPr>
              <a:t>After reviewing trends and prospects for overall urban population growth, we examine in this  chapter the potential role of cities—both the modern sector and the </a:t>
            </a:r>
            <a:r>
              <a:rPr dirty="0" sz="1100">
                <a:latin typeface="Arial"/>
                <a:cs typeface="Arial"/>
              </a:rPr>
              <a:t>urban </a:t>
            </a:r>
            <a:r>
              <a:rPr dirty="0" sz="1100" spc="-5">
                <a:latin typeface="Arial"/>
                <a:cs typeface="Arial"/>
              </a:rPr>
              <a:t>informal sector—in  fostering economic development. We then turn to a well-known theoretical model of rural-urban  labor transfer in the context of </a:t>
            </a:r>
            <a:r>
              <a:rPr dirty="0" sz="1100">
                <a:latin typeface="Arial"/>
                <a:cs typeface="Arial"/>
              </a:rPr>
              <a:t>rapid </a:t>
            </a:r>
            <a:r>
              <a:rPr dirty="0" sz="1100" spc="-5">
                <a:latin typeface="Arial"/>
                <a:cs typeface="Arial"/>
              </a:rPr>
              <a:t>growth </a:t>
            </a:r>
            <a:r>
              <a:rPr dirty="0" sz="1100">
                <a:latin typeface="Arial"/>
                <a:cs typeface="Arial"/>
              </a:rPr>
              <a:t>and </a:t>
            </a:r>
            <a:r>
              <a:rPr dirty="0" sz="1100" spc="-5">
                <a:latin typeface="Arial"/>
                <a:cs typeface="Arial"/>
              </a:rPr>
              <a:t>high urban unemployment. In the final section,  we evaluate various </a:t>
            </a:r>
            <a:r>
              <a:rPr dirty="0" sz="1100">
                <a:latin typeface="Arial"/>
                <a:cs typeface="Arial"/>
              </a:rPr>
              <a:t>policy </a:t>
            </a:r>
            <a:r>
              <a:rPr dirty="0" sz="1100" spc="-5">
                <a:latin typeface="Arial"/>
                <a:cs typeface="Arial"/>
              </a:rPr>
              <a:t>options that governments in developing countries may wish to  pursue in their attempts to moderate the heavy flow of rural-to-urban migration and to  ameliorate the serious unemployment problems that continue to plague their crowded cities.  This chapter’s case study looks at patterns of migration in India and</a:t>
            </a:r>
            <a:r>
              <a:rPr dirty="0" sz="1100" spc="90">
                <a:latin typeface="Arial"/>
                <a:cs typeface="Arial"/>
              </a:rPr>
              <a:t> </a:t>
            </a:r>
            <a:r>
              <a:rPr dirty="0" sz="1100" spc="-5">
                <a:latin typeface="Arial"/>
                <a:cs typeface="Arial"/>
              </a:rPr>
              <a:t>Botswana.</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URBANIZATION: </a:t>
            </a:r>
            <a:r>
              <a:rPr dirty="0" sz="1100" b="1">
                <a:latin typeface="Arial"/>
                <a:cs typeface="Arial"/>
              </a:rPr>
              <a:t>TRENDS AND</a:t>
            </a:r>
            <a:r>
              <a:rPr dirty="0" sz="1100" spc="5" b="1">
                <a:latin typeface="Arial"/>
                <a:cs typeface="Arial"/>
              </a:rPr>
              <a:t> </a:t>
            </a:r>
            <a:r>
              <a:rPr dirty="0" sz="1100" spc="-5" b="1">
                <a:latin typeface="Arial"/>
                <a:cs typeface="Arial"/>
              </a:rPr>
              <a:t>PROJECTIONS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700"/>
              </a:lnSpc>
            </a:pPr>
            <a:r>
              <a:rPr dirty="0" sz="1100" spc="-5">
                <a:latin typeface="Arial"/>
                <a:cs typeface="Arial"/>
              </a:rPr>
              <a:t>The positive association between urbanization and per capita income is one of the most obvious  and striking “stylized facts” of the development process. Generally, </a:t>
            </a:r>
            <a:r>
              <a:rPr dirty="0" sz="1100">
                <a:latin typeface="Arial"/>
                <a:cs typeface="Arial"/>
              </a:rPr>
              <a:t>the </a:t>
            </a:r>
            <a:r>
              <a:rPr dirty="0" sz="1100" spc="-5">
                <a:latin typeface="Arial"/>
                <a:cs typeface="Arial"/>
              </a:rPr>
              <a:t>more developed the  country,</a:t>
            </a:r>
            <a:r>
              <a:rPr dirty="0" sz="1100" spc="200">
                <a:latin typeface="Arial"/>
                <a:cs typeface="Arial"/>
              </a:rPr>
              <a:t> </a:t>
            </a:r>
            <a:r>
              <a:rPr dirty="0" sz="1100" spc="-5">
                <a:latin typeface="Arial"/>
                <a:cs typeface="Arial"/>
              </a:rPr>
              <a:t>measured</a:t>
            </a:r>
            <a:r>
              <a:rPr dirty="0" sz="1100" spc="204">
                <a:latin typeface="Arial"/>
                <a:cs typeface="Arial"/>
              </a:rPr>
              <a:t> </a:t>
            </a:r>
            <a:r>
              <a:rPr dirty="0" sz="1100" spc="-5">
                <a:latin typeface="Arial"/>
                <a:cs typeface="Arial"/>
              </a:rPr>
              <a:t>by</a:t>
            </a:r>
            <a:r>
              <a:rPr dirty="0" sz="1100" spc="204">
                <a:latin typeface="Arial"/>
                <a:cs typeface="Arial"/>
              </a:rPr>
              <a:t> </a:t>
            </a:r>
            <a:r>
              <a:rPr dirty="0" sz="1100">
                <a:latin typeface="Arial"/>
                <a:cs typeface="Arial"/>
              </a:rPr>
              <a:t>per</a:t>
            </a:r>
            <a:r>
              <a:rPr dirty="0" sz="1100" spc="204">
                <a:latin typeface="Arial"/>
                <a:cs typeface="Arial"/>
              </a:rPr>
              <a:t> </a:t>
            </a:r>
            <a:r>
              <a:rPr dirty="0" sz="1100" spc="-5">
                <a:latin typeface="Arial"/>
                <a:cs typeface="Arial"/>
              </a:rPr>
              <a:t>capita</a:t>
            </a:r>
            <a:r>
              <a:rPr dirty="0" sz="1100" spc="204">
                <a:latin typeface="Arial"/>
                <a:cs typeface="Arial"/>
              </a:rPr>
              <a:t> </a:t>
            </a:r>
            <a:r>
              <a:rPr dirty="0" sz="1100" spc="-5">
                <a:latin typeface="Arial"/>
                <a:cs typeface="Arial"/>
              </a:rPr>
              <a:t>income,</a:t>
            </a:r>
            <a:r>
              <a:rPr dirty="0" sz="1100" spc="204">
                <a:latin typeface="Arial"/>
                <a:cs typeface="Arial"/>
              </a:rPr>
              <a:t> </a:t>
            </a:r>
            <a:r>
              <a:rPr dirty="0" sz="1100" spc="-5">
                <a:latin typeface="Arial"/>
                <a:cs typeface="Arial"/>
              </a:rPr>
              <a:t>the</a:t>
            </a:r>
            <a:r>
              <a:rPr dirty="0" sz="1100" spc="204">
                <a:latin typeface="Arial"/>
                <a:cs typeface="Arial"/>
              </a:rPr>
              <a:t> </a:t>
            </a:r>
            <a:r>
              <a:rPr dirty="0" sz="1100" spc="-5">
                <a:latin typeface="Arial"/>
                <a:cs typeface="Arial"/>
              </a:rPr>
              <a:t>greater</a:t>
            </a:r>
            <a:r>
              <a:rPr dirty="0" sz="1100" spc="204">
                <a:latin typeface="Arial"/>
                <a:cs typeface="Arial"/>
              </a:rPr>
              <a:t> </a:t>
            </a:r>
            <a:r>
              <a:rPr dirty="0" sz="1100" spc="-5">
                <a:latin typeface="Arial"/>
                <a:cs typeface="Arial"/>
              </a:rPr>
              <a:t>the</a:t>
            </a:r>
            <a:r>
              <a:rPr dirty="0" sz="1100" spc="204">
                <a:latin typeface="Arial"/>
                <a:cs typeface="Arial"/>
              </a:rPr>
              <a:t> </a:t>
            </a:r>
            <a:r>
              <a:rPr dirty="0" sz="1100" spc="-5">
                <a:latin typeface="Arial"/>
                <a:cs typeface="Arial"/>
              </a:rPr>
              <a:t>share</a:t>
            </a:r>
            <a:r>
              <a:rPr dirty="0" sz="1100" spc="200">
                <a:latin typeface="Arial"/>
                <a:cs typeface="Arial"/>
              </a:rPr>
              <a:t> </a:t>
            </a:r>
            <a:r>
              <a:rPr dirty="0" sz="1100" spc="-5">
                <a:latin typeface="Arial"/>
                <a:cs typeface="Arial"/>
              </a:rPr>
              <a:t>of</a:t>
            </a:r>
            <a:r>
              <a:rPr dirty="0" sz="1100" spc="204">
                <a:latin typeface="Arial"/>
                <a:cs typeface="Arial"/>
              </a:rPr>
              <a:t> </a:t>
            </a:r>
            <a:r>
              <a:rPr dirty="0" sz="1100" spc="-5">
                <a:latin typeface="Arial"/>
                <a:cs typeface="Arial"/>
              </a:rPr>
              <a:t>population</a:t>
            </a:r>
            <a:r>
              <a:rPr dirty="0" sz="1100" spc="204">
                <a:latin typeface="Arial"/>
                <a:cs typeface="Arial"/>
              </a:rPr>
              <a:t> </a:t>
            </a:r>
            <a:r>
              <a:rPr dirty="0" sz="1100" spc="-5">
                <a:latin typeface="Arial"/>
                <a:cs typeface="Arial"/>
              </a:rPr>
              <a:t>living</a:t>
            </a:r>
            <a:r>
              <a:rPr dirty="0" sz="1100" spc="204">
                <a:latin typeface="Arial"/>
                <a:cs typeface="Arial"/>
              </a:rPr>
              <a:t> </a:t>
            </a:r>
            <a:r>
              <a:rPr dirty="0" sz="1100" spc="-5">
                <a:latin typeface="Arial"/>
                <a:cs typeface="Arial"/>
              </a:rPr>
              <a:t>in</a:t>
            </a:r>
            <a:r>
              <a:rPr dirty="0" sz="1100" spc="204">
                <a:latin typeface="Arial"/>
                <a:cs typeface="Arial"/>
              </a:rPr>
              <a:t> </a:t>
            </a:r>
            <a:r>
              <a:rPr dirty="0" sz="1100" spc="-5">
                <a:latin typeface="Arial"/>
                <a:cs typeface="Arial"/>
              </a:rPr>
              <a:t>urban</a:t>
            </a:r>
            <a:endParaRPr sz="1100">
              <a:latin typeface="Arial"/>
              <a:cs typeface="Arial"/>
            </a:endParaRPr>
          </a:p>
        </p:txBody>
      </p:sp>
      <p:sp>
        <p:nvSpPr>
          <p:cNvPr id="7" name="object 7"/>
          <p:cNvSpPr/>
          <p:nvPr/>
        </p:nvSpPr>
        <p:spPr>
          <a:xfrm>
            <a:off x="1492758" y="5682234"/>
            <a:ext cx="4847844" cy="3411948"/>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151</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areas. Figure 7.1 shows urbanization versus GNI per capita; the highest-income countries, such  as Denmark, are also among the most urbanized, while the very poorest countries, such as  Rwanda, are among </a:t>
            </a:r>
            <a:r>
              <a:rPr dirty="0" sz="1100">
                <a:latin typeface="Arial"/>
                <a:cs typeface="Arial"/>
              </a:rPr>
              <a:t>the </a:t>
            </a:r>
            <a:r>
              <a:rPr dirty="0" sz="1100" spc="-5">
                <a:latin typeface="Arial"/>
                <a:cs typeface="Arial"/>
              </a:rPr>
              <a:t>least urbanized. At the same time, while individual countries become  more urbanized as they develop, today’s poorest countries are far more urbanized than today’s  developed countries were when they were at a comparable level of development, as measured  by income per capita, and on average developing countries are urbanizing at a faster</a:t>
            </a:r>
            <a:r>
              <a:rPr dirty="0" sz="1100" spc="170">
                <a:latin typeface="Arial"/>
                <a:cs typeface="Arial"/>
              </a:rPr>
              <a:t> </a:t>
            </a:r>
            <a:r>
              <a:rPr dirty="0" sz="1100" spc="-5">
                <a:latin typeface="Arial"/>
                <a:cs typeface="Arial"/>
              </a:rPr>
              <a:t>rate.</a:t>
            </a:r>
            <a:endParaRPr sz="1100">
              <a:latin typeface="Arial"/>
              <a:cs typeface="Arial"/>
            </a:endParaRPr>
          </a:p>
        </p:txBody>
      </p:sp>
      <p:sp>
        <p:nvSpPr>
          <p:cNvPr id="7" name="object 7"/>
          <p:cNvSpPr txBox="1"/>
          <p:nvPr/>
        </p:nvSpPr>
        <p:spPr>
          <a:xfrm>
            <a:off x="901700" y="5476736"/>
            <a:ext cx="5970270" cy="292417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Figure 7.2 shows urbanization over time and across income levels over the quarter century </a:t>
            </a:r>
            <a:r>
              <a:rPr dirty="0" sz="1100">
                <a:latin typeface="Arial"/>
                <a:cs typeface="Arial"/>
              </a:rPr>
              <a:t>from  </a:t>
            </a:r>
            <a:r>
              <a:rPr dirty="0" sz="1100" spc="-5">
                <a:latin typeface="Arial"/>
                <a:cs typeface="Arial"/>
              </a:rPr>
              <a:t>1970 to 1995. Each line segment represents the trajectory of one country, starting from the solid  dots, which represent the 1970 income and urbanization level for a given country </a:t>
            </a:r>
            <a:r>
              <a:rPr dirty="0" sz="1100">
                <a:latin typeface="Arial"/>
                <a:cs typeface="Arial"/>
              </a:rPr>
              <a:t>and </a:t>
            </a:r>
            <a:r>
              <a:rPr dirty="0" sz="1100" spc="-5">
                <a:latin typeface="Arial"/>
                <a:cs typeface="Arial"/>
              </a:rPr>
              <a:t>ending at  the end of the line segments (marked by a diamond), </a:t>
            </a:r>
            <a:r>
              <a:rPr dirty="0" sz="1100">
                <a:latin typeface="Arial"/>
                <a:cs typeface="Arial"/>
              </a:rPr>
              <a:t>which </a:t>
            </a:r>
            <a:r>
              <a:rPr dirty="0" sz="1100" spc="-5">
                <a:latin typeface="Arial"/>
                <a:cs typeface="Arial"/>
              </a:rPr>
              <a:t>represent the corresponding 1995  income and urbanization level for </a:t>
            </a:r>
            <a:r>
              <a:rPr dirty="0" sz="1100">
                <a:latin typeface="Arial"/>
                <a:cs typeface="Arial"/>
              </a:rPr>
              <a:t>the </a:t>
            </a:r>
            <a:r>
              <a:rPr dirty="0" sz="1100" spc="-5">
                <a:latin typeface="Arial"/>
                <a:cs typeface="Arial"/>
              </a:rPr>
              <a:t>same country. Although the </a:t>
            </a:r>
            <a:r>
              <a:rPr dirty="0" sz="1100">
                <a:latin typeface="Arial"/>
                <a:cs typeface="Arial"/>
              </a:rPr>
              <a:t>World </a:t>
            </a:r>
            <a:r>
              <a:rPr dirty="0" sz="1100" spc="-5">
                <a:latin typeface="Arial"/>
                <a:cs typeface="Arial"/>
              </a:rPr>
              <a:t>Bank caption to the  figure stated that “urbanization is closely associated with economic growth,” the figure may also  be interpreted as showing that urbanization is occurring everywhere, at high and low levels of  income and whether growth is positive or negative. Even when the lines point to the left,  indicating shrinking incomes per capita over the period, they still generally point upward,  indicating that urbanization continued. In short, urbanization is happening everywhere in the  world, although at differing rates. So we need to consider urbanization carefully—is it only  correlated with economic development, or is causation also at</a:t>
            </a:r>
            <a:r>
              <a:rPr dirty="0" sz="1100" spc="55">
                <a:latin typeface="Arial"/>
                <a:cs typeface="Arial"/>
              </a:rPr>
              <a:t> </a:t>
            </a:r>
            <a:r>
              <a:rPr dirty="0" sz="1100" spc="-5">
                <a:latin typeface="Arial"/>
                <a:cs typeface="Arial"/>
              </a:rPr>
              <a:t>work?</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Indeed, one of the most significant of all modern demographic phenomena is the rapid growth of  cities in developing countries. In 1950, some 275 million people were living in cities in the  developing world, 38% of the 724 million total urban population, by 2010, the world’s </a:t>
            </a:r>
            <a:r>
              <a:rPr dirty="0" sz="1100">
                <a:latin typeface="Arial"/>
                <a:cs typeface="Arial"/>
              </a:rPr>
              <a:t>urban  </a:t>
            </a:r>
            <a:r>
              <a:rPr dirty="0" sz="1100" spc="-5">
                <a:latin typeface="Arial"/>
                <a:cs typeface="Arial"/>
              </a:rPr>
              <a:t>population had surpassed 3.4 billion, with over three-quarters of all urban dwellers living in  metropolitan areas of low- and middle-income</a:t>
            </a:r>
            <a:r>
              <a:rPr dirty="0" sz="1100" spc="30">
                <a:latin typeface="Arial"/>
                <a:cs typeface="Arial"/>
              </a:rPr>
              <a:t> </a:t>
            </a:r>
            <a:r>
              <a:rPr dirty="0" sz="1100" spc="-5">
                <a:latin typeface="Arial"/>
                <a:cs typeface="Arial"/>
              </a:rPr>
              <a:t>countries.</a:t>
            </a:r>
            <a:endParaRPr sz="1100">
              <a:latin typeface="Arial"/>
              <a:cs typeface="Arial"/>
            </a:endParaRPr>
          </a:p>
        </p:txBody>
      </p:sp>
      <p:sp>
        <p:nvSpPr>
          <p:cNvPr id="8" name="object 8"/>
          <p:cNvSpPr/>
          <p:nvPr/>
        </p:nvSpPr>
        <p:spPr>
          <a:xfrm>
            <a:off x="933450" y="2041398"/>
            <a:ext cx="5858256" cy="345795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152</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12090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While in a significant number of </a:t>
            </a:r>
            <a:r>
              <a:rPr dirty="0" sz="1100">
                <a:latin typeface="Arial"/>
                <a:cs typeface="Arial"/>
              </a:rPr>
              <a:t>cases </a:t>
            </a:r>
            <a:r>
              <a:rPr dirty="0" sz="1100" spc="-5">
                <a:latin typeface="Arial"/>
                <a:cs typeface="Arial"/>
              </a:rPr>
              <a:t>the speed at which </a:t>
            </a:r>
            <a:r>
              <a:rPr dirty="0" sz="1100">
                <a:latin typeface="Arial"/>
                <a:cs typeface="Arial"/>
              </a:rPr>
              <a:t>the </a:t>
            </a:r>
            <a:r>
              <a:rPr dirty="0" sz="1100" spc="-5">
                <a:latin typeface="Arial"/>
                <a:cs typeface="Arial"/>
              </a:rPr>
              <a:t>share of urban population has  increased in developing countries in the late twentieth and early twenty-first century is not much  faster than in many of the developed countries when they were urbanizing in the late nineteenth  century, nonetheless shares of urban population are being reached, particularly in Africa, at  lower levels of per capita income than at a comparable stage in developed countries. Relatedly,  urbanization in Africa is not associated with industrialization, as it was in the now-developed  countries. Moreover, in most regions of the developing world, because population is so much  larger, the sheer numbers of people coming into the city is unprecedented. Also unprecedented  is the very large sizes of individual cities at such low levels of income per capita. The largest  cities in developed countries in the past were much smaller than the large cities of developing  countries today.</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a:latin typeface="Arial"/>
                <a:cs typeface="Arial"/>
              </a:rPr>
              <a:t>Figure</a:t>
            </a:r>
            <a:r>
              <a:rPr dirty="0" sz="1100" spc="70">
                <a:latin typeface="Arial"/>
                <a:cs typeface="Arial"/>
              </a:rPr>
              <a:t> </a:t>
            </a:r>
            <a:r>
              <a:rPr dirty="0" sz="1100" spc="-5">
                <a:latin typeface="Arial"/>
                <a:cs typeface="Arial"/>
              </a:rPr>
              <a:t>7.3</a:t>
            </a:r>
            <a:r>
              <a:rPr dirty="0" sz="1100" spc="70">
                <a:latin typeface="Arial"/>
                <a:cs typeface="Arial"/>
              </a:rPr>
              <a:t> </a:t>
            </a:r>
            <a:r>
              <a:rPr dirty="0" sz="1100" spc="-5">
                <a:latin typeface="Arial"/>
                <a:cs typeface="Arial"/>
              </a:rPr>
              <a:t>shows</a:t>
            </a:r>
            <a:r>
              <a:rPr dirty="0" sz="1100" spc="75">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growth</a:t>
            </a:r>
            <a:r>
              <a:rPr dirty="0" sz="1100" spc="75">
                <a:latin typeface="Arial"/>
                <a:cs typeface="Arial"/>
              </a:rPr>
              <a:t> </a:t>
            </a:r>
            <a:r>
              <a:rPr dirty="0" sz="1100" spc="-5">
                <a:latin typeface="Arial"/>
                <a:cs typeface="Arial"/>
              </a:rPr>
              <a:t>of</a:t>
            </a:r>
            <a:r>
              <a:rPr dirty="0" sz="1100" spc="70">
                <a:latin typeface="Arial"/>
                <a:cs typeface="Arial"/>
              </a:rPr>
              <a:t> </a:t>
            </a:r>
            <a:r>
              <a:rPr dirty="0" sz="1100" spc="-5">
                <a:latin typeface="Arial"/>
                <a:cs typeface="Arial"/>
              </a:rPr>
              <a:t>the</a:t>
            </a:r>
            <a:r>
              <a:rPr dirty="0" sz="1100" spc="65">
                <a:latin typeface="Arial"/>
                <a:cs typeface="Arial"/>
              </a:rPr>
              <a:t> </a:t>
            </a:r>
            <a:r>
              <a:rPr dirty="0" sz="1100" spc="-5">
                <a:latin typeface="Arial"/>
                <a:cs typeface="Arial"/>
              </a:rPr>
              <a:t>proportion</a:t>
            </a:r>
            <a:r>
              <a:rPr dirty="0" sz="1100" spc="75">
                <a:latin typeface="Arial"/>
                <a:cs typeface="Arial"/>
              </a:rPr>
              <a:t> </a:t>
            </a:r>
            <a:r>
              <a:rPr dirty="0" sz="1100" spc="-5">
                <a:latin typeface="Arial"/>
                <a:cs typeface="Arial"/>
              </a:rPr>
              <a:t>of</a:t>
            </a:r>
            <a:r>
              <a:rPr dirty="0" sz="1100" spc="70">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population</a:t>
            </a:r>
            <a:r>
              <a:rPr dirty="0" sz="1100" spc="70">
                <a:latin typeface="Arial"/>
                <a:cs typeface="Arial"/>
              </a:rPr>
              <a:t> </a:t>
            </a:r>
            <a:r>
              <a:rPr dirty="0" sz="1100" spc="-5">
                <a:latin typeface="Arial"/>
                <a:cs typeface="Arial"/>
              </a:rPr>
              <a:t>living</a:t>
            </a:r>
            <a:r>
              <a:rPr dirty="0" sz="1100" spc="70">
                <a:latin typeface="Arial"/>
                <a:cs typeface="Arial"/>
              </a:rPr>
              <a:t> </a:t>
            </a:r>
            <a:r>
              <a:rPr dirty="0" sz="1100" spc="-5">
                <a:latin typeface="Arial"/>
                <a:cs typeface="Arial"/>
              </a:rPr>
              <a:t>in</a:t>
            </a:r>
            <a:r>
              <a:rPr dirty="0" sz="1100" spc="65">
                <a:latin typeface="Arial"/>
                <a:cs typeface="Arial"/>
              </a:rPr>
              <a:t> </a:t>
            </a:r>
            <a:r>
              <a:rPr dirty="0" sz="1100" spc="-5">
                <a:latin typeface="Arial"/>
                <a:cs typeface="Arial"/>
              </a:rPr>
              <a:t>urban</a:t>
            </a:r>
            <a:r>
              <a:rPr dirty="0" sz="1100" spc="70">
                <a:latin typeface="Arial"/>
                <a:cs typeface="Arial"/>
              </a:rPr>
              <a:t> </a:t>
            </a:r>
            <a:r>
              <a:rPr dirty="0" sz="1100" spc="-5">
                <a:latin typeface="Arial"/>
                <a:cs typeface="Arial"/>
              </a:rPr>
              <a:t>areas</a:t>
            </a:r>
            <a:r>
              <a:rPr dirty="0" sz="1100" spc="75">
                <a:latin typeface="Arial"/>
                <a:cs typeface="Arial"/>
              </a:rPr>
              <a:t> </a:t>
            </a:r>
            <a:r>
              <a:rPr dirty="0" sz="1100" spc="-5">
                <a:latin typeface="Arial"/>
                <a:cs typeface="Arial"/>
              </a:rPr>
              <a:t>by</a:t>
            </a:r>
            <a:r>
              <a:rPr dirty="0" sz="1100" spc="70">
                <a:latin typeface="Arial"/>
                <a:cs typeface="Arial"/>
              </a:rPr>
              <a:t> </a:t>
            </a:r>
            <a:r>
              <a:rPr dirty="0" sz="1100" spc="-5">
                <a:latin typeface="Arial"/>
                <a:cs typeface="Arial"/>
              </a:rPr>
              <a:t>region.</a:t>
            </a:r>
            <a:endParaRPr sz="1100">
              <a:latin typeface="Arial"/>
              <a:cs typeface="Arial"/>
            </a:endParaRPr>
          </a:p>
        </p:txBody>
      </p:sp>
      <p:sp>
        <p:nvSpPr>
          <p:cNvPr id="7" name="object 7"/>
          <p:cNvSpPr txBox="1"/>
          <p:nvPr/>
        </p:nvSpPr>
        <p:spPr>
          <a:xfrm>
            <a:off x="901700" y="7283426"/>
            <a:ext cx="5969635" cy="147764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For the period 2005 to 2030, the UN projects that world population will grow at a 1.78% average  annual rate. Accordingly, there will be almost 5 billion urban dwellers by 2030, nearly five-  eighths of the projected 8.1 billion world population in that year. In fact, after 2015, the number  of people living in rural areas in the world is projected to actually begin to decrease, by some  155 million people from 2015 to 2030, or an annual rate of -0.32%. The most rapid urbanization  in now occurring in Asia and Africa; well before 2030, more than half of all people in these  regions will live in urban areas. More than half the world’s urban population will live in Asia, and  the projected 2030 urban population of Africa of 748 million will be larger than the entire  projected 685 million total population of</a:t>
            </a:r>
            <a:r>
              <a:rPr dirty="0" sz="1100" spc="25">
                <a:latin typeface="Arial"/>
                <a:cs typeface="Arial"/>
              </a:rPr>
              <a:t> </a:t>
            </a:r>
            <a:r>
              <a:rPr dirty="0" sz="1100" spc="-5">
                <a:latin typeface="Arial"/>
                <a:cs typeface="Arial"/>
              </a:rPr>
              <a:t>Europe.</a:t>
            </a:r>
            <a:endParaRPr sz="1100">
              <a:latin typeface="Arial"/>
              <a:cs typeface="Arial"/>
            </a:endParaRPr>
          </a:p>
        </p:txBody>
      </p:sp>
      <p:sp>
        <p:nvSpPr>
          <p:cNvPr id="8" name="object 8"/>
          <p:cNvSpPr/>
          <p:nvPr/>
        </p:nvSpPr>
        <p:spPr>
          <a:xfrm>
            <a:off x="1543050" y="3047238"/>
            <a:ext cx="4791456" cy="419137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153</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5340350"/>
            <a:ext cx="5972175" cy="35661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Although a majority of developing-country urban growth will be found in cities of less than 5  million people, it is also the case that population growth in cities over 5 million in population is  more rapid than growth of smaller cities (under 500,000) in the developing world. In fact,  according to the UN, </a:t>
            </a:r>
            <a:r>
              <a:rPr dirty="0" sz="1100">
                <a:latin typeface="Arial"/>
                <a:cs typeface="Arial"/>
              </a:rPr>
              <a:t>by </a:t>
            </a:r>
            <a:r>
              <a:rPr dirty="0" sz="1100" spc="-5">
                <a:latin typeface="Arial"/>
                <a:cs typeface="Arial"/>
              </a:rPr>
              <a:t>2025, only </a:t>
            </a:r>
            <a:r>
              <a:rPr dirty="0" sz="1100">
                <a:latin typeface="Arial"/>
                <a:cs typeface="Arial"/>
              </a:rPr>
              <a:t>about </a:t>
            </a:r>
            <a:r>
              <a:rPr dirty="0" sz="1100" spc="-5">
                <a:latin typeface="Arial"/>
                <a:cs typeface="Arial"/>
              </a:rPr>
              <a:t>half the urban population will be in cities with less than  a half million people, the lowest fraction ever. Moreover, the developing world is also coming to  dominate the world’s largest cities, including the mega cities with over 10 million inhabitants.  Figure 7.4 provides a map locating mega cities, the largest cities in the world containing a  population of at least 10 million people. As the figure shows, in 1975, there were only 3 </a:t>
            </a:r>
            <a:r>
              <a:rPr dirty="0" sz="1100">
                <a:latin typeface="Arial"/>
                <a:cs typeface="Arial"/>
              </a:rPr>
              <a:t>mega  </a:t>
            </a:r>
            <a:r>
              <a:rPr dirty="0" sz="1100" spc="-5">
                <a:latin typeface="Arial"/>
                <a:cs typeface="Arial"/>
              </a:rPr>
              <a:t>cities, but by 2009, there were 21 such metropolises. Of these 21, two-thirds were located in the  developing world. By </a:t>
            </a:r>
            <a:r>
              <a:rPr dirty="0" sz="1100">
                <a:latin typeface="Arial"/>
                <a:cs typeface="Arial"/>
              </a:rPr>
              <a:t>2025, </a:t>
            </a:r>
            <a:r>
              <a:rPr dirty="0" sz="1100" spc="-5">
                <a:latin typeface="Arial"/>
                <a:cs typeface="Arial"/>
              </a:rPr>
              <a:t>only 5 of the 29 largest cities will be in high-income countries.  Moreover, </a:t>
            </a:r>
            <a:r>
              <a:rPr dirty="0" sz="1100">
                <a:latin typeface="Arial"/>
                <a:cs typeface="Arial"/>
              </a:rPr>
              <a:t>as </a:t>
            </a:r>
            <a:r>
              <a:rPr dirty="0" sz="1100" spc="-5">
                <a:latin typeface="Arial"/>
                <a:cs typeface="Arial"/>
              </a:rPr>
              <a:t>Figure 7.5 shows, almost all of the increments to the world’s population will be  accounted for by the growth of urban areas as migrants continue to stream into the cities from  rural areas and as urbanization rates in the developing world continue to approach those of the  developed world.</a:t>
            </a:r>
            <a:endParaRPr sz="1100">
              <a:latin typeface="Arial"/>
              <a:cs typeface="Arial"/>
            </a:endParaRPr>
          </a:p>
          <a:p>
            <a:pPr>
              <a:lnSpc>
                <a:spcPct val="100000"/>
              </a:lnSpc>
              <a:spcBef>
                <a:spcPts val="5"/>
              </a:spcBef>
            </a:pPr>
            <a:endParaRPr sz="1100">
              <a:latin typeface="Arial"/>
              <a:cs typeface="Arial"/>
            </a:endParaRPr>
          </a:p>
          <a:p>
            <a:pPr algn="just" marL="12700" marR="6985">
              <a:lnSpc>
                <a:spcPct val="95800"/>
              </a:lnSpc>
            </a:pPr>
            <a:r>
              <a:rPr dirty="0" sz="1100" spc="-5">
                <a:latin typeface="Arial"/>
                <a:cs typeface="Arial"/>
              </a:rPr>
              <a:t>A central question related to the unprecedented size of these urban agglomerations is how  these cities will cope—economically, environmentally, and politically— with such acute  concentrations of people. While it is true that cities offer the cost-reducing advantages of  agglomeration economies and economies of scale and proximity as well as numerous economic  and social externalities (e.g., skilled workers, cheap transport, social and cultural amenities), the  social costs of a progressive overloading of housing and social services, not to mention  increased crime, pollution, and congestion, can outweigh these historical urban</a:t>
            </a:r>
            <a:r>
              <a:rPr dirty="0" sz="1100" spc="160">
                <a:latin typeface="Arial"/>
                <a:cs typeface="Arial"/>
              </a:rPr>
              <a:t> </a:t>
            </a:r>
            <a:r>
              <a:rPr dirty="0" sz="1100" spc="-5">
                <a:latin typeface="Arial"/>
                <a:cs typeface="Arial"/>
              </a:rPr>
              <a:t>advantages.</a:t>
            </a:r>
            <a:endParaRPr sz="1100">
              <a:latin typeface="Arial"/>
              <a:cs typeface="Arial"/>
            </a:endParaRPr>
          </a:p>
        </p:txBody>
      </p:sp>
      <p:sp>
        <p:nvSpPr>
          <p:cNvPr id="7" name="object 7"/>
          <p:cNvSpPr/>
          <p:nvPr/>
        </p:nvSpPr>
        <p:spPr>
          <a:xfrm>
            <a:off x="1123188" y="932688"/>
            <a:ext cx="5529071" cy="4428744"/>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154</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748275"/>
            <a:ext cx="5970270" cy="131762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Along with the rapid spread of urbanization and the urban bias in development strategies has  come this prolific growth of huge slums and shantytowns. From the favelas of Rio de Janeiro  and the pueblos jovenes of Lima to the bustees of Kolkata and the bidonvilles of Dakar, such  makeshift communities have been growing rapidly. Today, </a:t>
            </a:r>
            <a:r>
              <a:rPr dirty="0" sz="1100">
                <a:latin typeface="Arial"/>
                <a:cs typeface="Arial"/>
              </a:rPr>
              <a:t>slum </a:t>
            </a:r>
            <a:r>
              <a:rPr dirty="0" sz="1100" spc="-5">
                <a:latin typeface="Arial"/>
                <a:cs typeface="Arial"/>
              </a:rPr>
              <a:t>settlements represent over one-  third of the urban population in all developing</a:t>
            </a:r>
            <a:r>
              <a:rPr dirty="0" sz="1100" spc="40">
                <a:latin typeface="Arial"/>
                <a:cs typeface="Arial"/>
              </a:rPr>
              <a:t> </a:t>
            </a:r>
            <a:r>
              <a:rPr dirty="0" sz="1100" spc="-5">
                <a:latin typeface="Arial"/>
                <a:cs typeface="Arial"/>
              </a:rPr>
              <a:t>countries.</a:t>
            </a:r>
            <a:endParaRPr sz="1100">
              <a:latin typeface="Arial"/>
              <a:cs typeface="Arial"/>
            </a:endParaRPr>
          </a:p>
          <a:p>
            <a:pPr>
              <a:lnSpc>
                <a:spcPct val="100000"/>
              </a:lnSpc>
              <a:spcBef>
                <a:spcPts val="30"/>
              </a:spcBef>
            </a:pPr>
            <a:endParaRPr sz="1100">
              <a:latin typeface="Arial"/>
              <a:cs typeface="Arial"/>
            </a:endParaRPr>
          </a:p>
          <a:p>
            <a:pPr algn="just" marL="12700" marR="5715">
              <a:lnSpc>
                <a:spcPts val="1270"/>
              </a:lnSpc>
              <a:spcBef>
                <a:spcPts val="5"/>
              </a:spcBef>
            </a:pPr>
            <a:r>
              <a:rPr dirty="0" sz="1100" spc="-5">
                <a:latin typeface="Arial"/>
                <a:cs typeface="Arial"/>
              </a:rPr>
              <a:t>Figure 7.6 shows the annual growth of urban and slum populations in the 1990–2001 period,  drawn from the 2006 United Nations Millennium Development Goals</a:t>
            </a:r>
            <a:r>
              <a:rPr dirty="0" sz="1100" spc="65">
                <a:latin typeface="Arial"/>
                <a:cs typeface="Arial"/>
              </a:rPr>
              <a:t> </a:t>
            </a:r>
            <a:r>
              <a:rPr dirty="0" sz="1100" spc="-5">
                <a:latin typeface="Arial"/>
                <a:cs typeface="Arial"/>
              </a:rPr>
              <a:t>Report.</a:t>
            </a:r>
            <a:endParaRPr sz="1100">
              <a:latin typeface="Arial"/>
              <a:cs typeface="Arial"/>
            </a:endParaRPr>
          </a:p>
        </p:txBody>
      </p:sp>
      <p:sp>
        <p:nvSpPr>
          <p:cNvPr id="7" name="object 7"/>
          <p:cNvSpPr/>
          <p:nvPr/>
        </p:nvSpPr>
        <p:spPr>
          <a:xfrm>
            <a:off x="1123188" y="771144"/>
            <a:ext cx="5526023" cy="3821173"/>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155</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51435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Although population growth and accelerated rural-urban migration are chiefly responsible for the  explosion in urban shantytowns, part of the blame rests with governments. Their misguided  urban-planning policies and outmoded building codes often means that 80% to </a:t>
            </a:r>
            <a:r>
              <a:rPr dirty="0" sz="1100">
                <a:latin typeface="Arial"/>
                <a:cs typeface="Arial"/>
              </a:rPr>
              <a:t>90% </a:t>
            </a:r>
            <a:r>
              <a:rPr dirty="0" sz="1100" spc="-5">
                <a:latin typeface="Arial"/>
                <a:cs typeface="Arial"/>
              </a:rPr>
              <a:t>of</a:t>
            </a:r>
            <a:r>
              <a:rPr dirty="0" sz="1100" spc="5">
                <a:latin typeface="Arial"/>
                <a:cs typeface="Arial"/>
              </a:rPr>
              <a:t> </a:t>
            </a:r>
            <a:r>
              <a:rPr dirty="0" sz="1100" spc="-5">
                <a:latin typeface="Arial"/>
                <a:cs typeface="Arial"/>
              </a:rPr>
              <a:t>new</a:t>
            </a:r>
            <a:endParaRPr sz="1100">
              <a:latin typeface="Arial"/>
              <a:cs typeface="Arial"/>
            </a:endParaRPr>
          </a:p>
        </p:txBody>
      </p:sp>
      <p:sp>
        <p:nvSpPr>
          <p:cNvPr id="7" name="object 7"/>
          <p:cNvSpPr txBox="1"/>
          <p:nvPr/>
        </p:nvSpPr>
        <p:spPr>
          <a:xfrm>
            <a:off x="901700" y="5866892"/>
            <a:ext cx="5969635" cy="324548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urban housing is “illegal.” For example, colonial era building codes in Nairobi, Kenya, have  made it impossible to build an “official” house for less than $3,500. The law has also required  every dwelling to be accessible by car. As a result, two-thirds of Nairobi’s land has been  occupied by 10% of the population, while many slum dwellings cannot legally be improved.  Similarly, in Manila, Philippines, a large majority of the population has historically been too poor  to be able to buy or rent an officially “legal”</a:t>
            </a:r>
            <a:r>
              <a:rPr dirty="0" sz="1100" spc="45">
                <a:latin typeface="Arial"/>
                <a:cs typeface="Arial"/>
              </a:rPr>
              <a:t> </a:t>
            </a:r>
            <a:r>
              <a:rPr dirty="0" sz="1100" spc="-5">
                <a:latin typeface="Arial"/>
                <a:cs typeface="Arial"/>
              </a:rPr>
              <a:t>house.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Statistics show that rural migrants constitute anywhere </a:t>
            </a:r>
            <a:r>
              <a:rPr dirty="0" sz="1100">
                <a:latin typeface="Arial"/>
                <a:cs typeface="Arial"/>
              </a:rPr>
              <a:t>from </a:t>
            </a:r>
            <a:r>
              <a:rPr dirty="0" sz="1100" spc="-5">
                <a:latin typeface="Arial"/>
                <a:cs typeface="Arial"/>
              </a:rPr>
              <a:t>35% to 60% of recorded urban  population growth. Accordingly, 90 out of 116 developing countries responding to a UN survey  indicated that they had initiated policies to slow down or reverse their accelerating trends in  rural-urban migration.</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Given widespread dissatisfaction with the experience of rapid urban growth in developing  countries, the critical issue that needs to be addressed is the extent to which national  governments can formulate development policies that can have a definite impact on trends in  and the character of urban growth. It is clear that the emphasis on industrial modernization,  technological sophistication, and metropolitan growth created a substantial geographic  imbalance in economic opportunities and contributed </a:t>
            </a:r>
            <a:r>
              <a:rPr dirty="0" sz="1100">
                <a:latin typeface="Arial"/>
                <a:cs typeface="Arial"/>
              </a:rPr>
              <a:t>significantly </a:t>
            </a:r>
            <a:r>
              <a:rPr dirty="0" sz="1100" spc="-5">
                <a:latin typeface="Arial"/>
                <a:cs typeface="Arial"/>
              </a:rPr>
              <a:t>to the accelerating influx of  rural migrants into urban areas. Is it possible and or even desirable now to attempt to reverse  these</a:t>
            </a:r>
            <a:r>
              <a:rPr dirty="0" sz="1100" spc="20">
                <a:latin typeface="Arial"/>
                <a:cs typeface="Arial"/>
              </a:rPr>
              <a:t> </a:t>
            </a:r>
            <a:r>
              <a:rPr dirty="0" sz="1100" spc="-5">
                <a:latin typeface="Arial"/>
                <a:cs typeface="Arial"/>
              </a:rPr>
              <a:t>trends</a:t>
            </a:r>
            <a:r>
              <a:rPr dirty="0" sz="1100" spc="25">
                <a:latin typeface="Arial"/>
                <a:cs typeface="Arial"/>
              </a:rPr>
              <a:t> </a:t>
            </a:r>
            <a:r>
              <a:rPr dirty="0" sz="1100" spc="-5">
                <a:latin typeface="Arial"/>
                <a:cs typeface="Arial"/>
              </a:rPr>
              <a:t>by</a:t>
            </a:r>
            <a:r>
              <a:rPr dirty="0" sz="1100" spc="25">
                <a:latin typeface="Arial"/>
                <a:cs typeface="Arial"/>
              </a:rPr>
              <a:t> </a:t>
            </a:r>
            <a:r>
              <a:rPr dirty="0" sz="1100" spc="-5">
                <a:latin typeface="Arial"/>
                <a:cs typeface="Arial"/>
              </a:rPr>
              <a:t>pursuing</a:t>
            </a:r>
            <a:r>
              <a:rPr dirty="0" sz="1100" spc="20">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different</a:t>
            </a:r>
            <a:r>
              <a:rPr dirty="0" sz="1100" spc="20">
                <a:latin typeface="Arial"/>
                <a:cs typeface="Arial"/>
              </a:rPr>
              <a:t> </a:t>
            </a:r>
            <a:r>
              <a:rPr dirty="0" sz="1100" spc="-5">
                <a:latin typeface="Arial"/>
                <a:cs typeface="Arial"/>
              </a:rPr>
              <a:t>set</a:t>
            </a:r>
            <a:r>
              <a:rPr dirty="0" sz="1100" spc="25">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population</a:t>
            </a:r>
            <a:r>
              <a:rPr dirty="0" sz="1100" spc="25">
                <a:latin typeface="Arial"/>
                <a:cs typeface="Arial"/>
              </a:rPr>
              <a:t> </a:t>
            </a:r>
            <a:r>
              <a:rPr dirty="0" sz="1100" spc="-5">
                <a:latin typeface="Arial"/>
                <a:cs typeface="Arial"/>
              </a:rPr>
              <a:t>and</a:t>
            </a:r>
            <a:r>
              <a:rPr dirty="0" sz="1100" spc="25">
                <a:latin typeface="Arial"/>
                <a:cs typeface="Arial"/>
              </a:rPr>
              <a:t> </a:t>
            </a:r>
            <a:r>
              <a:rPr dirty="0" sz="1100" spc="-5">
                <a:latin typeface="Arial"/>
                <a:cs typeface="Arial"/>
              </a:rPr>
              <a:t>development</a:t>
            </a:r>
            <a:r>
              <a:rPr dirty="0" sz="1100" spc="25">
                <a:latin typeface="Arial"/>
                <a:cs typeface="Arial"/>
              </a:rPr>
              <a:t> </a:t>
            </a:r>
            <a:r>
              <a:rPr dirty="0" sz="1100" spc="-5">
                <a:latin typeface="Arial"/>
                <a:cs typeface="Arial"/>
              </a:rPr>
              <a:t>policies?</a:t>
            </a:r>
            <a:r>
              <a:rPr dirty="0" sz="1100" spc="25">
                <a:latin typeface="Arial"/>
                <a:cs typeface="Arial"/>
              </a:rPr>
              <a:t> </a:t>
            </a:r>
            <a:r>
              <a:rPr dirty="0" sz="1100" spc="-5">
                <a:latin typeface="Arial"/>
                <a:cs typeface="Arial"/>
              </a:rPr>
              <a:t>With</a:t>
            </a:r>
            <a:r>
              <a:rPr dirty="0" sz="1100" spc="15">
                <a:latin typeface="Arial"/>
                <a:cs typeface="Arial"/>
              </a:rPr>
              <a:t> </a:t>
            </a:r>
            <a:r>
              <a:rPr dirty="0" sz="1100" spc="-5">
                <a:latin typeface="Arial"/>
                <a:cs typeface="Arial"/>
              </a:rPr>
              <a:t>birth</a:t>
            </a:r>
            <a:r>
              <a:rPr dirty="0" sz="1100" spc="25">
                <a:latin typeface="Arial"/>
                <a:cs typeface="Arial"/>
              </a:rPr>
              <a:t> </a:t>
            </a:r>
            <a:r>
              <a:rPr dirty="0" sz="1100" spc="-5">
                <a:latin typeface="Arial"/>
                <a:cs typeface="Arial"/>
              </a:rPr>
              <a:t>rates</a:t>
            </a:r>
            <a:endParaRPr sz="1100">
              <a:latin typeface="Arial"/>
              <a:cs typeface="Arial"/>
            </a:endParaRPr>
          </a:p>
        </p:txBody>
      </p:sp>
      <p:sp>
        <p:nvSpPr>
          <p:cNvPr id="8" name="object 8"/>
          <p:cNvSpPr/>
          <p:nvPr/>
        </p:nvSpPr>
        <p:spPr>
          <a:xfrm>
            <a:off x="1265682" y="1400555"/>
            <a:ext cx="5455158" cy="4365043"/>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156</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44157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declining in many developing countries, rapid urban growth and accelerated rural-urban  migration will undoubtedly be one of the most important development </a:t>
            </a:r>
            <a:r>
              <a:rPr dirty="0" sz="1100">
                <a:latin typeface="Arial"/>
                <a:cs typeface="Arial"/>
              </a:rPr>
              <a:t>and </a:t>
            </a:r>
            <a:r>
              <a:rPr dirty="0" sz="1100" spc="-5">
                <a:latin typeface="Arial"/>
                <a:cs typeface="Arial"/>
              </a:rPr>
              <a:t>demographic issues  of the coming decades. And in urban areas, the growth and development of the informal sector,  as well as its role and limitations for labor absorption and economic progress, will assume  increasing</a:t>
            </a:r>
            <a:r>
              <a:rPr dirty="0" sz="1100" spc="-10">
                <a:latin typeface="Arial"/>
                <a:cs typeface="Arial"/>
              </a:rPr>
              <a:t> </a:t>
            </a:r>
            <a:r>
              <a:rPr dirty="0" sz="1100" spc="-5">
                <a:latin typeface="Arial"/>
                <a:cs typeface="Arial"/>
              </a:rPr>
              <a:t>importance.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Before examining conditions in developing-country </a:t>
            </a:r>
            <a:r>
              <a:rPr dirty="0" sz="1100">
                <a:latin typeface="Arial"/>
                <a:cs typeface="Arial"/>
              </a:rPr>
              <a:t>cities </a:t>
            </a:r>
            <a:r>
              <a:rPr dirty="0" sz="1100" spc="-5">
                <a:latin typeface="Arial"/>
                <a:cs typeface="Arial"/>
              </a:rPr>
              <a:t>more closely, let us first consider the  potential advantages offered by cities. Urban areas have played a highly constructive role in the  economies of today’s developed countries, and they offer huge and still largely untapped  potential to do the same for developing countries. A detailed look at the informal sector in  developing cities will give an idea of its potential as an engine of growth. We also consider in  more detail what has been different—and what has gone wrong—with urban development and  the excessively rapid pace of rural-urban migration in many developing countries. We conclude  with a look at constructive policies to help </a:t>
            </a:r>
            <a:r>
              <a:rPr dirty="0" sz="1100">
                <a:latin typeface="Arial"/>
                <a:cs typeface="Arial"/>
              </a:rPr>
              <a:t>cities </a:t>
            </a:r>
            <a:r>
              <a:rPr dirty="0" sz="1100" spc="-5">
                <a:latin typeface="Arial"/>
                <a:cs typeface="Arial"/>
              </a:rPr>
              <a:t>foster successful urban development while at  the same time giving more balanced treatment to development in rural</a:t>
            </a:r>
            <a:r>
              <a:rPr dirty="0" sz="1100" spc="85">
                <a:latin typeface="Arial"/>
                <a:cs typeface="Arial"/>
              </a:rPr>
              <a:t> </a:t>
            </a:r>
            <a:r>
              <a:rPr dirty="0" sz="1100" spc="-5">
                <a:latin typeface="Arial"/>
                <a:cs typeface="Arial"/>
              </a:rPr>
              <a:t>areas.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157</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2292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23</a:t>
            </a:r>
            <a:endParaRPr sz="1100">
              <a:latin typeface="Arial"/>
              <a:cs typeface="Arial"/>
            </a:endParaRPr>
          </a:p>
          <a:p>
            <a:pPr marL="12700" marR="17145" indent="10160">
              <a:lnSpc>
                <a:spcPct val="191400"/>
              </a:lnSpc>
              <a:spcBef>
                <a:spcPts val="125"/>
              </a:spcBef>
            </a:pPr>
            <a:r>
              <a:rPr dirty="0" sz="1100" spc="-5" b="1">
                <a:latin typeface="Arial"/>
                <a:cs typeface="Arial"/>
              </a:rPr>
              <a:t>URBANIZATION AND RURAL URBAN MIGRATION: THEORY AND </a:t>
            </a:r>
            <a:r>
              <a:rPr dirty="0" sz="1100" spc="-10" b="1">
                <a:latin typeface="Arial"/>
                <a:cs typeface="Arial"/>
              </a:rPr>
              <a:t>POLICY </a:t>
            </a:r>
            <a:r>
              <a:rPr dirty="0" sz="1100" spc="-5" b="1">
                <a:latin typeface="Arial"/>
                <a:cs typeface="Arial"/>
              </a:rPr>
              <a:t>(CONTINUED1)  THE ROLE OF</a:t>
            </a:r>
            <a:r>
              <a:rPr dirty="0" sz="1100" spc="10" b="1">
                <a:latin typeface="Arial"/>
                <a:cs typeface="Arial"/>
              </a:rPr>
              <a:t> </a:t>
            </a:r>
            <a:r>
              <a:rPr dirty="0" sz="1100" spc="-5" b="1">
                <a:latin typeface="Arial"/>
                <a:cs typeface="Arial"/>
              </a:rPr>
              <a:t>CITIES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What explains the strong association between urbanization and development? To a large  degree, cities are formed because they provide cost advantages to producers and consumers  through what are called agglomeration economies. As noted by Walter Isard, these  agglomeration economies come in two forms. As noted by Walter Isard, these agglomeration  economies come in two forms. Urbanization economies are effects associated with the general  growth of a concentrated geographic region. Localization economies are effects captured by  particular sectors of the economy, such as finance or automobiles, as they grow within an area.  Localization economies often take the form </a:t>
            </a:r>
            <a:r>
              <a:rPr dirty="0" sz="1100">
                <a:latin typeface="Arial"/>
                <a:cs typeface="Arial"/>
              </a:rPr>
              <a:t>of </a:t>
            </a:r>
            <a:r>
              <a:rPr dirty="0" sz="1100" spc="-5">
                <a:latin typeface="Arial"/>
                <a:cs typeface="Arial"/>
              </a:rPr>
              <a:t>backward and forward linkages of the type  introduced in Chapter 4. When transportation costs are significant, users of the outputs of an  industry </a:t>
            </a:r>
            <a:r>
              <a:rPr dirty="0" sz="1100">
                <a:latin typeface="Arial"/>
                <a:cs typeface="Arial"/>
              </a:rPr>
              <a:t>may </a:t>
            </a:r>
            <a:r>
              <a:rPr dirty="0" sz="1100" spc="-5">
                <a:latin typeface="Arial"/>
                <a:cs typeface="Arial"/>
              </a:rPr>
              <a:t>benefit </a:t>
            </a:r>
            <a:r>
              <a:rPr dirty="0" sz="1100">
                <a:latin typeface="Arial"/>
                <a:cs typeface="Arial"/>
              </a:rPr>
              <a:t>from </a:t>
            </a:r>
            <a:r>
              <a:rPr dirty="0" sz="1100" spc="-5">
                <a:latin typeface="Arial"/>
                <a:cs typeface="Arial"/>
              </a:rPr>
              <a:t>a nearby location to save on </a:t>
            </a:r>
            <a:r>
              <a:rPr dirty="0" sz="1100">
                <a:latin typeface="Arial"/>
                <a:cs typeface="Arial"/>
              </a:rPr>
              <a:t>these </a:t>
            </a:r>
            <a:r>
              <a:rPr dirty="0" sz="1100" spc="-5">
                <a:latin typeface="Arial"/>
                <a:cs typeface="Arial"/>
              </a:rPr>
              <a:t>costs. This benefit is a type of  forward linkage. In addition, firms of the same or related industries may benefit from being  located in the same city, so they can all draw on a large pool of workers with the specific skills  used in that sector or from specialized infrastructure. This is a type of backward linkage.  Workers with specialized skills appropriate to the industry prefer to be located there as well so  that they can easily find a new job or be in a position to take advantage of better</a:t>
            </a:r>
            <a:r>
              <a:rPr dirty="0" sz="1100" spc="254">
                <a:latin typeface="Arial"/>
                <a:cs typeface="Arial"/>
              </a:rPr>
              <a:t> </a:t>
            </a:r>
            <a:r>
              <a:rPr dirty="0" sz="1100" spc="-5">
                <a:latin typeface="Arial"/>
                <a:cs typeface="Arial"/>
              </a:rPr>
              <a:t>opportunities.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URBANIZATION ECONOMIES</a:t>
            </a:r>
            <a:endParaRPr sz="1100">
              <a:latin typeface="Arial"/>
              <a:cs typeface="Arial"/>
            </a:endParaRPr>
          </a:p>
          <a:p>
            <a:pPr>
              <a:lnSpc>
                <a:spcPct val="100000"/>
              </a:lnSpc>
              <a:spcBef>
                <a:spcPts val="55"/>
              </a:spcBef>
            </a:pPr>
            <a:endParaRPr sz="1000">
              <a:latin typeface="Arial"/>
              <a:cs typeface="Arial"/>
            </a:endParaRPr>
          </a:p>
          <a:p>
            <a:pPr algn="just" marL="12700">
              <a:lnSpc>
                <a:spcPct val="100000"/>
              </a:lnSpc>
            </a:pPr>
            <a:r>
              <a:rPr dirty="0" sz="1100" spc="-5">
                <a:latin typeface="Arial"/>
                <a:cs typeface="Arial"/>
              </a:rPr>
              <a:t>Agglomeration effects associated with the general growth of a concentrated geographic</a:t>
            </a:r>
            <a:r>
              <a:rPr dirty="0" sz="1100" spc="204">
                <a:latin typeface="Arial"/>
                <a:cs typeface="Arial"/>
              </a:rPr>
              <a:t> </a:t>
            </a:r>
            <a:r>
              <a:rPr dirty="0" sz="1100" spc="-5">
                <a:latin typeface="Arial"/>
                <a:cs typeface="Arial"/>
              </a:rPr>
              <a:t>region.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LOCALIZATION</a:t>
            </a:r>
            <a:r>
              <a:rPr dirty="0" sz="1100" spc="-10" b="1">
                <a:latin typeface="Arial"/>
                <a:cs typeface="Arial"/>
              </a:rPr>
              <a:t> </a:t>
            </a:r>
            <a:r>
              <a:rPr dirty="0" sz="1100" spc="-5" b="1">
                <a:latin typeface="Arial"/>
                <a:cs typeface="Arial"/>
              </a:rPr>
              <a:t>ECONOMIES</a:t>
            </a:r>
            <a:endParaRPr sz="1100">
              <a:latin typeface="Arial"/>
              <a:cs typeface="Arial"/>
            </a:endParaRPr>
          </a:p>
          <a:p>
            <a:pPr>
              <a:lnSpc>
                <a:spcPct val="100000"/>
              </a:lnSpc>
              <a:spcBef>
                <a:spcPts val="20"/>
              </a:spcBef>
            </a:pPr>
            <a:endParaRPr sz="1100">
              <a:latin typeface="Arial"/>
              <a:cs typeface="Arial"/>
            </a:endParaRPr>
          </a:p>
          <a:p>
            <a:pPr algn="just" marL="12700" marR="6985">
              <a:lnSpc>
                <a:spcPts val="1270"/>
              </a:lnSpc>
            </a:pPr>
            <a:r>
              <a:rPr dirty="0" sz="1100" spc="-5">
                <a:latin typeface="Arial"/>
                <a:cs typeface="Arial"/>
              </a:rPr>
              <a:t>Agglomeration effects captured by particular sectors of the economy, such as finance or autos,  as they grow within an</a:t>
            </a:r>
            <a:r>
              <a:rPr dirty="0" sz="1100" spc="15">
                <a:latin typeface="Arial"/>
                <a:cs typeface="Arial"/>
              </a:rPr>
              <a:t> </a:t>
            </a:r>
            <a:r>
              <a:rPr dirty="0" sz="1100" spc="-5">
                <a:latin typeface="Arial"/>
                <a:cs typeface="Arial"/>
              </a:rPr>
              <a:t>area.</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INDUSTRIAL DISTRICTS</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800"/>
              </a:lnSpc>
              <a:spcBef>
                <a:spcPts val="5"/>
              </a:spcBef>
            </a:pPr>
            <a:r>
              <a:rPr dirty="0" sz="1100" spc="-5">
                <a:latin typeface="Arial"/>
                <a:cs typeface="Arial"/>
              </a:rPr>
              <a:t>An economic definition of a city is “an area with relatively high population density that contains a  set of closely related activities.” Firms often also prefer to be located where they can learn from  other firms doing similar work. Learning takes place in both formal relationships, such as joint  ventures, and informal ones, such as from tips learned in evening social clubs or over lunch.  These spillovers are also agglomeration economies, part of the benefits of what Alfred Marshall  called “industrial districts,” and they play a </a:t>
            </a:r>
            <a:r>
              <a:rPr dirty="0" sz="1100">
                <a:latin typeface="Arial"/>
                <a:cs typeface="Arial"/>
              </a:rPr>
              <a:t>big </a:t>
            </a:r>
            <a:r>
              <a:rPr dirty="0" sz="1100" spc="-5">
                <a:latin typeface="Arial"/>
                <a:cs typeface="Arial"/>
              </a:rPr>
              <a:t>role in Michael Porter’s “clusters” theory of  competitive advantage. Firms located in such </a:t>
            </a:r>
            <a:r>
              <a:rPr dirty="0" sz="1100">
                <a:latin typeface="Arial"/>
                <a:cs typeface="Arial"/>
              </a:rPr>
              <a:t>industrial </a:t>
            </a:r>
            <a:r>
              <a:rPr dirty="0" sz="1100" spc="-5">
                <a:latin typeface="Arial"/>
                <a:cs typeface="Arial"/>
              </a:rPr>
              <a:t>districts also benefit from the opportunity  to contract out work easily when an unusually large order materializes. Thus a firm of modest  size does not have to turn down a big job due to lack of capacity, an arrangement that provides  “flexible specialization.” Further, firms may </a:t>
            </a:r>
            <a:r>
              <a:rPr dirty="0" sz="1100">
                <a:latin typeface="Arial"/>
                <a:cs typeface="Arial"/>
              </a:rPr>
              <a:t>wish </a:t>
            </a:r>
            <a:r>
              <a:rPr dirty="0" sz="1100" spc="-5">
                <a:latin typeface="Arial"/>
                <a:cs typeface="Arial"/>
              </a:rPr>
              <a:t>to operate in well-known districts for the  marketing advantages of locating where company procurers and household consumers of </a:t>
            </a:r>
            <a:r>
              <a:rPr dirty="0" sz="1100">
                <a:latin typeface="Arial"/>
                <a:cs typeface="Arial"/>
              </a:rPr>
              <a:t>their  </a:t>
            </a:r>
            <a:r>
              <a:rPr dirty="0" sz="1100" spc="-5">
                <a:latin typeface="Arial"/>
                <a:cs typeface="Arial"/>
              </a:rPr>
              <a:t>goods know to shop to get the best</a:t>
            </a:r>
            <a:r>
              <a:rPr dirty="0" sz="1100" spc="25">
                <a:latin typeface="Arial"/>
                <a:cs typeface="Arial"/>
              </a:rPr>
              <a:t> </a:t>
            </a:r>
            <a:r>
              <a:rPr dirty="0" sz="1100" spc="-5">
                <a:latin typeface="Arial"/>
                <a:cs typeface="Arial"/>
              </a:rPr>
              <a:t>selection.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SOCIAL CAPITAL</a:t>
            </a:r>
            <a:endParaRPr sz="1100">
              <a:latin typeface="Arial"/>
              <a:cs typeface="Arial"/>
            </a:endParaRPr>
          </a:p>
          <a:p>
            <a:pPr>
              <a:lnSpc>
                <a:spcPct val="100000"/>
              </a:lnSpc>
              <a:spcBef>
                <a:spcPts val="20"/>
              </a:spcBef>
            </a:pPr>
            <a:endParaRPr sz="1200">
              <a:latin typeface="Arial"/>
              <a:cs typeface="Arial"/>
            </a:endParaRPr>
          </a:p>
          <a:p>
            <a:pPr algn="just" marL="12700" marR="5080">
              <a:lnSpc>
                <a:spcPts val="1270"/>
              </a:lnSpc>
              <a:spcBef>
                <a:spcPts val="5"/>
              </a:spcBef>
            </a:pPr>
            <a:r>
              <a:rPr dirty="0" sz="1100" spc="-5">
                <a:latin typeface="Arial"/>
                <a:cs typeface="Arial"/>
              </a:rPr>
              <a:t>The productive value of a set of social institutions and norms, including group trust, expected  cooperative behaviors with predictable punishments for deviations, and a shared history</a:t>
            </a:r>
            <a:r>
              <a:rPr dirty="0" sz="1100" spc="120">
                <a:latin typeface="Arial"/>
                <a:cs typeface="Arial"/>
              </a:rPr>
              <a:t> </a:t>
            </a:r>
            <a:r>
              <a:rPr dirty="0" sz="1100" spc="-5">
                <a:latin typeface="Arial"/>
                <a:cs typeface="Arial"/>
              </a:rPr>
              <a:t>of</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158</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62265"/>
          </a:xfrm>
          <a:prstGeom prst="rect">
            <a:avLst/>
          </a:prstGeom>
        </p:spPr>
        <p:txBody>
          <a:bodyPr wrap="square" lIns="0" tIns="22860" rIns="0" bIns="0" rtlCol="0" vert="horz">
            <a:spAutoFit/>
          </a:bodyPr>
          <a:lstStyle/>
          <a:p>
            <a:pPr algn="just" marL="12700" marR="6985">
              <a:lnSpc>
                <a:spcPts val="1270"/>
              </a:lnSpc>
              <a:spcBef>
                <a:spcPts val="180"/>
              </a:spcBef>
            </a:pPr>
            <a:r>
              <a:rPr dirty="0" sz="1100" spc="-5">
                <a:latin typeface="Arial"/>
                <a:cs typeface="Arial"/>
              </a:rPr>
              <a:t>successful collective action, that raises expectations for participation in future cooperative  behavior.</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THE EMERGENCE OF INDUSTRIAL DISTRICTS OR CLUSTERS IN</a:t>
            </a:r>
            <a:r>
              <a:rPr dirty="0" sz="1100" spc="40" b="1">
                <a:latin typeface="Arial"/>
                <a:cs typeface="Arial"/>
              </a:rPr>
              <a:t> </a:t>
            </a:r>
            <a:r>
              <a:rPr dirty="0" sz="1100" spc="-5" b="1">
                <a:latin typeface="Arial"/>
                <a:cs typeface="Arial"/>
              </a:rPr>
              <a:t>CHINA</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Prior to the 1980s, industry in China was state owned, and factories were dispersed  geographically for military defense. Beginning in 1980, Special Economic Zones such as  Shenzhen were created to attract foreign firms in many industries; domestic firms sold inputs to  them, but not as clusters. Township and village enterprises (TVEs) then emerged, initiated  outside of local governments but “vaguely owned” by them. TVE managers usually tried a  variety of activities, and early 1990s field research found little evidence </a:t>
            </a:r>
            <a:r>
              <a:rPr dirty="0" sz="1100">
                <a:latin typeface="Arial"/>
                <a:cs typeface="Arial"/>
              </a:rPr>
              <a:t>that </a:t>
            </a:r>
            <a:r>
              <a:rPr dirty="0" sz="1100" spc="-5">
                <a:latin typeface="Arial"/>
                <a:cs typeface="Arial"/>
              </a:rPr>
              <a:t>firms in </a:t>
            </a:r>
            <a:r>
              <a:rPr dirty="0" sz="1100">
                <a:latin typeface="Arial"/>
                <a:cs typeface="Arial"/>
              </a:rPr>
              <a:t>the </a:t>
            </a:r>
            <a:r>
              <a:rPr dirty="0" sz="1100" spc="-5">
                <a:latin typeface="Arial"/>
                <a:cs typeface="Arial"/>
              </a:rPr>
              <a:t>same or  related industries were locating in close proximity to each other. But starting in the mid-1990s,  TVEs rapidly privatized, and a combination of competition, responses to credit constraints, an  abundance of entrepreneurial talent, and supportive local policies led to the emergence </a:t>
            </a:r>
            <a:r>
              <a:rPr dirty="0" sz="1100">
                <a:latin typeface="Arial"/>
                <a:cs typeface="Arial"/>
              </a:rPr>
              <a:t>of  </a:t>
            </a:r>
            <a:r>
              <a:rPr dirty="0" sz="1100" spc="-5">
                <a:latin typeface="Arial"/>
                <a:cs typeface="Arial"/>
              </a:rPr>
              <a:t>localized industrial clusters. But like other Chinese institutions, some may ultimately prove  “transitional.”</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CONGESTION</a:t>
            </a:r>
            <a:r>
              <a:rPr dirty="0" sz="1100" spc="-10" b="1">
                <a:latin typeface="Arial"/>
                <a:cs typeface="Arial"/>
              </a:rPr>
              <a:t> </a:t>
            </a:r>
            <a:r>
              <a:rPr dirty="0" sz="1100" spc="-5" b="1">
                <a:latin typeface="Arial"/>
                <a:cs typeface="Arial"/>
              </a:rPr>
              <a:t>COST</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spcBef>
                <a:spcPts val="5"/>
              </a:spcBef>
            </a:pPr>
            <a:r>
              <a:rPr dirty="0" sz="1100" spc="-5">
                <a:latin typeface="Arial"/>
                <a:cs typeface="Arial"/>
              </a:rPr>
              <a:t>An action taken by one agent that decreases the incentives for other agents to take similar  actions. Compare to the opposite effect of a</a:t>
            </a:r>
            <a:r>
              <a:rPr dirty="0" sz="1100" spc="45">
                <a:latin typeface="Arial"/>
                <a:cs typeface="Arial"/>
              </a:rPr>
              <a:t> </a:t>
            </a:r>
            <a:r>
              <a:rPr dirty="0" sz="1100" spc="-5">
                <a:latin typeface="Arial"/>
                <a:cs typeface="Arial"/>
              </a:rPr>
              <a:t>complementarity.</a:t>
            </a:r>
            <a:endParaRPr sz="1100">
              <a:latin typeface="Arial"/>
              <a:cs typeface="Arial"/>
            </a:endParaRPr>
          </a:p>
          <a:p>
            <a:pPr>
              <a:lnSpc>
                <a:spcPct val="100000"/>
              </a:lnSpc>
              <a:spcBef>
                <a:spcPts val="20"/>
              </a:spcBef>
            </a:pPr>
            <a:endParaRPr sz="1000">
              <a:latin typeface="Arial"/>
              <a:cs typeface="Arial"/>
            </a:endParaRPr>
          </a:p>
          <a:p>
            <a:pPr marL="12700">
              <a:lnSpc>
                <a:spcPct val="100000"/>
              </a:lnSpc>
            </a:pPr>
            <a:r>
              <a:rPr dirty="0" sz="1100" spc="-5" b="1">
                <a:latin typeface="Arial"/>
                <a:cs typeface="Arial"/>
              </a:rPr>
              <a:t>THE </a:t>
            </a:r>
            <a:r>
              <a:rPr dirty="0" sz="1100" b="1">
                <a:latin typeface="Arial"/>
                <a:cs typeface="Arial"/>
              </a:rPr>
              <a:t>URBAN </a:t>
            </a:r>
            <a:r>
              <a:rPr dirty="0" sz="1100" spc="-5" b="1">
                <a:latin typeface="Arial"/>
                <a:cs typeface="Arial"/>
              </a:rPr>
              <a:t>GIANTISM </a:t>
            </a:r>
            <a:r>
              <a:rPr dirty="0" sz="1100" b="1">
                <a:latin typeface="Arial"/>
                <a:cs typeface="Arial"/>
              </a:rPr>
              <a:t>PROBLEM</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900"/>
              </a:lnSpc>
              <a:spcBef>
                <a:spcPts val="5"/>
              </a:spcBef>
            </a:pPr>
            <a:r>
              <a:rPr dirty="0" sz="1100" spc="-5">
                <a:latin typeface="Arial"/>
                <a:cs typeface="Arial"/>
              </a:rPr>
              <a:t>In the case of developing countries, the main transportation routes are often a legacy of  colonialism. Theorists of the dependence school (see Chapter 3) have compared colonial  transportation networks to drainage systems, emphasizing ease of extraction of the country’s  natural resources. In many cases, the capital city will be located near the outlet of this system  on the seacoast. This type of transportation system is also called a “hub-and-spoke system,”  which is especially visible when the capital city is located in the interior of the country. </a:t>
            </a:r>
            <a:r>
              <a:rPr dirty="0" sz="1100">
                <a:latin typeface="Arial"/>
                <a:cs typeface="Arial"/>
              </a:rPr>
              <a:t>Many  </a:t>
            </a:r>
            <a:r>
              <a:rPr dirty="0" sz="1100" spc="-5">
                <a:latin typeface="Arial"/>
                <a:cs typeface="Arial"/>
              </a:rPr>
              <a:t>nations inherited a hub-and-spoke system </a:t>
            </a:r>
            <a:r>
              <a:rPr dirty="0" sz="1100">
                <a:latin typeface="Arial"/>
                <a:cs typeface="Arial"/>
              </a:rPr>
              <a:t>from </a:t>
            </a:r>
            <a:r>
              <a:rPr dirty="0" sz="1100" spc="-5">
                <a:latin typeface="Arial"/>
                <a:cs typeface="Arial"/>
              </a:rPr>
              <a:t>colonial times, including many in Africa and  Latin America, which also facilitated movement of troops from the capital to the outlying towns  to suppress revolts.</a:t>
            </a:r>
            <a:endParaRPr sz="1100">
              <a:latin typeface="Arial"/>
              <a:cs typeface="Arial"/>
            </a:endParaRPr>
          </a:p>
          <a:p>
            <a:pPr algn="just" marL="12700" marR="5715">
              <a:lnSpc>
                <a:spcPts val="1270"/>
              </a:lnSpc>
              <a:spcBef>
                <a:spcPts val="20"/>
              </a:spcBef>
            </a:pPr>
            <a:r>
              <a:rPr dirty="0" sz="1100" spc="-5">
                <a:latin typeface="Arial"/>
                <a:cs typeface="Arial"/>
              </a:rPr>
              <a:t>In the pursuit of high level of wage, better employment opportunity and an improved standard of  living , large number of people move from rural areas to urban areas, but when they land there  only some of them are able to find out employment opportunities the way they are wanted, but  rest are unable to find a perfect match and could end up in</a:t>
            </a:r>
            <a:r>
              <a:rPr dirty="0" sz="1100" spc="75">
                <a:latin typeface="Arial"/>
                <a:cs typeface="Arial"/>
              </a:rPr>
              <a:t> </a:t>
            </a:r>
            <a:r>
              <a:rPr dirty="0" sz="1100" spc="-5">
                <a:latin typeface="Arial"/>
                <a:cs typeface="Arial"/>
              </a:rPr>
              <a:t>disaster.</a:t>
            </a:r>
            <a:endParaRPr sz="1100">
              <a:latin typeface="Arial"/>
              <a:cs typeface="Arial"/>
            </a:endParaRPr>
          </a:p>
          <a:p>
            <a:pPr>
              <a:lnSpc>
                <a:spcPct val="100000"/>
              </a:lnSpc>
              <a:spcBef>
                <a:spcPts val="15"/>
              </a:spcBef>
            </a:pPr>
            <a:endParaRPr sz="1000">
              <a:latin typeface="Arial"/>
              <a:cs typeface="Arial"/>
            </a:endParaRPr>
          </a:p>
          <a:p>
            <a:pPr marL="12700">
              <a:lnSpc>
                <a:spcPct val="100000"/>
              </a:lnSpc>
              <a:spcBef>
                <a:spcPts val="5"/>
              </a:spcBef>
            </a:pPr>
            <a:r>
              <a:rPr dirty="0" sz="1100" spc="-5" b="1">
                <a:latin typeface="Arial"/>
                <a:cs typeface="Arial"/>
              </a:rPr>
              <a:t>FIRST-CITY</a:t>
            </a:r>
            <a:r>
              <a:rPr dirty="0" sz="1100" b="1">
                <a:latin typeface="Arial"/>
                <a:cs typeface="Arial"/>
              </a:rPr>
              <a:t> </a:t>
            </a:r>
            <a:r>
              <a:rPr dirty="0" sz="1100" spc="-5" b="1">
                <a:latin typeface="Arial"/>
                <a:cs typeface="Arial"/>
              </a:rPr>
              <a:t>BIAS</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spcBef>
                <a:spcPts val="5"/>
              </a:spcBef>
            </a:pPr>
            <a:r>
              <a:rPr dirty="0" sz="1100" spc="-5">
                <a:latin typeface="Arial"/>
                <a:cs typeface="Arial"/>
              </a:rPr>
              <a:t>A form of </a:t>
            </a:r>
            <a:r>
              <a:rPr dirty="0" sz="1100">
                <a:latin typeface="Arial"/>
                <a:cs typeface="Arial"/>
              </a:rPr>
              <a:t>urban </a:t>
            </a:r>
            <a:r>
              <a:rPr dirty="0" sz="1100" spc="-5">
                <a:latin typeface="Arial"/>
                <a:cs typeface="Arial"/>
              </a:rPr>
              <a:t>bias that has often caused considerable distortions might be termed first-city  bias. The country’s largest or “first-place” city receives a disproportionately large share of public  investment and incentives for private investment in relation to the country’s second-largest city  and other smaller cities. As a result, the first city receives a disproportionately—and  inefficiently—large share of population and economic</a:t>
            </a:r>
            <a:r>
              <a:rPr dirty="0" sz="1100" spc="35">
                <a:latin typeface="Arial"/>
                <a:cs typeface="Arial"/>
              </a:rPr>
              <a:t> </a:t>
            </a:r>
            <a:r>
              <a:rPr dirty="0" sz="1100" spc="-5">
                <a:latin typeface="Arial"/>
                <a:cs typeface="Arial"/>
              </a:rPr>
              <a:t>activity.</a:t>
            </a:r>
            <a:endParaRPr sz="1100">
              <a:latin typeface="Arial"/>
              <a:cs typeface="Arial"/>
            </a:endParaRPr>
          </a:p>
          <a:p>
            <a:pPr>
              <a:lnSpc>
                <a:spcPct val="100000"/>
              </a:lnSpc>
              <a:spcBef>
                <a:spcPts val="30"/>
              </a:spcBef>
            </a:pPr>
            <a:endParaRPr sz="1050">
              <a:latin typeface="Arial"/>
              <a:cs typeface="Arial"/>
            </a:endParaRPr>
          </a:p>
          <a:p>
            <a:pPr algn="just" marL="12700" marR="5715">
              <a:lnSpc>
                <a:spcPts val="1270"/>
              </a:lnSpc>
            </a:pPr>
            <a:r>
              <a:rPr dirty="0" sz="1100" spc="-5">
                <a:latin typeface="Arial"/>
                <a:cs typeface="Arial"/>
              </a:rPr>
              <a:t>Table 7.1 shows the largest and second-largest cities in the United States, Canada, and major  Latin American countries. Notice that in all of the outsized capital cities—Buenos </a:t>
            </a:r>
            <a:r>
              <a:rPr dirty="0" sz="1100">
                <a:latin typeface="Arial"/>
                <a:cs typeface="Arial"/>
              </a:rPr>
              <a:t>Aires,  </a:t>
            </a:r>
            <a:r>
              <a:rPr dirty="0" sz="1100" spc="-5">
                <a:latin typeface="Arial"/>
                <a:cs typeface="Arial"/>
              </a:rPr>
              <a:t>Santiago,</a:t>
            </a:r>
            <a:r>
              <a:rPr dirty="0" sz="1100" spc="125">
                <a:latin typeface="Arial"/>
                <a:cs typeface="Arial"/>
              </a:rPr>
              <a:t> </a:t>
            </a:r>
            <a:r>
              <a:rPr dirty="0" sz="1100" spc="-5">
                <a:latin typeface="Arial"/>
                <a:cs typeface="Arial"/>
              </a:rPr>
              <a:t>Mexico</a:t>
            </a:r>
            <a:r>
              <a:rPr dirty="0" sz="1100" spc="120">
                <a:latin typeface="Arial"/>
                <a:cs typeface="Arial"/>
              </a:rPr>
              <a:t> </a:t>
            </a:r>
            <a:r>
              <a:rPr dirty="0" sz="1100">
                <a:latin typeface="Arial"/>
                <a:cs typeface="Arial"/>
              </a:rPr>
              <a:t>City,</a:t>
            </a:r>
            <a:r>
              <a:rPr dirty="0" sz="1100" spc="125">
                <a:latin typeface="Arial"/>
                <a:cs typeface="Arial"/>
              </a:rPr>
              <a:t> </a:t>
            </a:r>
            <a:r>
              <a:rPr dirty="0" sz="1100" spc="-5">
                <a:latin typeface="Arial"/>
                <a:cs typeface="Arial"/>
              </a:rPr>
              <a:t>and</a:t>
            </a:r>
            <a:r>
              <a:rPr dirty="0" sz="1100" spc="120">
                <a:latin typeface="Arial"/>
                <a:cs typeface="Arial"/>
              </a:rPr>
              <a:t> </a:t>
            </a:r>
            <a:r>
              <a:rPr dirty="0" sz="1100" spc="-5">
                <a:latin typeface="Arial"/>
                <a:cs typeface="Arial"/>
              </a:rPr>
              <a:t>Lima—the</a:t>
            </a:r>
            <a:r>
              <a:rPr dirty="0" sz="1100" spc="120">
                <a:latin typeface="Arial"/>
                <a:cs typeface="Arial"/>
              </a:rPr>
              <a:t> </a:t>
            </a:r>
            <a:r>
              <a:rPr dirty="0" sz="1100" spc="-5">
                <a:latin typeface="Arial"/>
                <a:cs typeface="Arial"/>
              </a:rPr>
              <a:t>first</a:t>
            </a:r>
            <a:r>
              <a:rPr dirty="0" sz="1100" spc="130">
                <a:latin typeface="Arial"/>
                <a:cs typeface="Arial"/>
              </a:rPr>
              <a:t> </a:t>
            </a:r>
            <a:r>
              <a:rPr dirty="0" sz="1100" spc="-5">
                <a:latin typeface="Arial"/>
                <a:cs typeface="Arial"/>
              </a:rPr>
              <a:t>city</a:t>
            </a:r>
            <a:r>
              <a:rPr dirty="0" sz="1100" spc="120">
                <a:latin typeface="Arial"/>
                <a:cs typeface="Arial"/>
              </a:rPr>
              <a:t> </a:t>
            </a:r>
            <a:r>
              <a:rPr dirty="0" sz="1100" spc="-5">
                <a:latin typeface="Arial"/>
                <a:cs typeface="Arial"/>
              </a:rPr>
              <a:t>also</a:t>
            </a:r>
            <a:r>
              <a:rPr dirty="0" sz="1100" spc="125">
                <a:latin typeface="Arial"/>
                <a:cs typeface="Arial"/>
              </a:rPr>
              <a:t> </a:t>
            </a:r>
            <a:r>
              <a:rPr dirty="0" sz="1100" spc="-5">
                <a:latin typeface="Arial"/>
                <a:cs typeface="Arial"/>
              </a:rPr>
              <a:t>serves</a:t>
            </a:r>
            <a:r>
              <a:rPr dirty="0" sz="1100" spc="120">
                <a:latin typeface="Arial"/>
                <a:cs typeface="Arial"/>
              </a:rPr>
              <a:t> </a:t>
            </a:r>
            <a:r>
              <a:rPr dirty="0" sz="1100" spc="-5">
                <a:latin typeface="Arial"/>
                <a:cs typeface="Arial"/>
              </a:rPr>
              <a:t>as</a:t>
            </a:r>
            <a:r>
              <a:rPr dirty="0" sz="1100" spc="120">
                <a:latin typeface="Arial"/>
                <a:cs typeface="Arial"/>
              </a:rPr>
              <a:t> </a:t>
            </a:r>
            <a:r>
              <a:rPr dirty="0" sz="1100" spc="-5">
                <a:latin typeface="Arial"/>
                <a:cs typeface="Arial"/>
              </a:rPr>
              <a:t>the</a:t>
            </a:r>
            <a:r>
              <a:rPr dirty="0" sz="1100" spc="130">
                <a:latin typeface="Arial"/>
                <a:cs typeface="Arial"/>
              </a:rPr>
              <a:t> </a:t>
            </a:r>
            <a:r>
              <a:rPr dirty="0" sz="1100" spc="-5">
                <a:latin typeface="Arial"/>
                <a:cs typeface="Arial"/>
              </a:rPr>
              <a:t>capital.</a:t>
            </a:r>
            <a:r>
              <a:rPr dirty="0" sz="1100" spc="114">
                <a:latin typeface="Arial"/>
                <a:cs typeface="Arial"/>
              </a:rPr>
              <a:t> </a:t>
            </a:r>
            <a:r>
              <a:rPr dirty="0" sz="1100" spc="-5">
                <a:latin typeface="Arial"/>
                <a:cs typeface="Arial"/>
              </a:rPr>
              <a:t>Some</a:t>
            </a:r>
            <a:r>
              <a:rPr dirty="0" sz="1100" spc="125">
                <a:latin typeface="Arial"/>
                <a:cs typeface="Arial"/>
              </a:rPr>
              <a:t> </a:t>
            </a:r>
            <a:r>
              <a:rPr dirty="0" sz="1100">
                <a:latin typeface="Arial"/>
                <a:cs typeface="Arial"/>
              </a:rPr>
              <a:t>other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159</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2674873"/>
            <a:ext cx="5970905" cy="6311900"/>
          </a:xfrm>
          <a:prstGeom prst="rect">
            <a:avLst/>
          </a:prstGeom>
        </p:spPr>
        <p:txBody>
          <a:bodyPr wrap="square" lIns="0" tIns="22860" rIns="0" bIns="0" rtlCol="0" vert="horz">
            <a:spAutoFit/>
          </a:bodyPr>
          <a:lstStyle/>
          <a:p>
            <a:pPr algn="just" marL="12700" marR="6985">
              <a:lnSpc>
                <a:spcPts val="1270"/>
              </a:lnSpc>
              <a:spcBef>
                <a:spcPts val="180"/>
              </a:spcBef>
            </a:pPr>
            <a:r>
              <a:rPr dirty="0" sz="1100" spc="-5">
                <a:latin typeface="Arial"/>
                <a:cs typeface="Arial"/>
              </a:rPr>
              <a:t>developing countries have remarkably outsized </a:t>
            </a:r>
            <a:r>
              <a:rPr dirty="0" sz="1100">
                <a:latin typeface="Arial"/>
                <a:cs typeface="Arial"/>
              </a:rPr>
              <a:t>first </a:t>
            </a:r>
            <a:r>
              <a:rPr dirty="0" sz="1100" spc="-5">
                <a:latin typeface="Arial"/>
                <a:cs typeface="Arial"/>
              </a:rPr>
              <a:t>cities, notably Thailand, where Bangkok has  a population about 20 times the size of the second city. Further examples can be found in</a:t>
            </a:r>
            <a:r>
              <a:rPr dirty="0" sz="1100" spc="225">
                <a:latin typeface="Arial"/>
                <a:cs typeface="Arial"/>
              </a:rPr>
              <a:t> </a:t>
            </a:r>
            <a:r>
              <a:rPr dirty="0" sz="1100" spc="-5">
                <a:latin typeface="Arial"/>
                <a:cs typeface="Arial"/>
              </a:rPr>
              <a:t>the</a:t>
            </a:r>
            <a:endParaRPr sz="1100">
              <a:latin typeface="Arial"/>
              <a:cs typeface="Arial"/>
            </a:endParaRPr>
          </a:p>
          <a:p>
            <a:pPr>
              <a:lnSpc>
                <a:spcPct val="100000"/>
              </a:lnSpc>
              <a:spcBef>
                <a:spcPts val="45"/>
              </a:spcBef>
            </a:pPr>
            <a:endParaRPr sz="1050">
              <a:latin typeface="Arial"/>
              <a:cs typeface="Arial"/>
            </a:endParaRPr>
          </a:p>
          <a:p>
            <a:pPr algn="just" marL="12700" marR="5080">
              <a:lnSpc>
                <a:spcPts val="1270"/>
              </a:lnSpc>
            </a:pPr>
            <a:r>
              <a:rPr dirty="0" sz="1100" spc="-5">
                <a:latin typeface="Arial"/>
                <a:cs typeface="Arial"/>
              </a:rPr>
              <a:t>Philippines (where Manila has over seven times the population of the second city), and Congo  (where Kinshasa has more than five times the second city’s population). There are at least ten  other examples of relatively large first (primate) cities in developing nations with sizeable  populations.</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a:latin typeface="Arial"/>
                <a:cs typeface="Arial"/>
              </a:rPr>
              <a:t>CAUSES OF URBAN</a:t>
            </a:r>
            <a:r>
              <a:rPr dirty="0" sz="1100" spc="10" b="1">
                <a:latin typeface="Arial"/>
                <a:cs typeface="Arial"/>
              </a:rPr>
              <a:t> </a:t>
            </a:r>
            <a:r>
              <a:rPr dirty="0" sz="1100" spc="-5" b="1">
                <a:latin typeface="Arial"/>
                <a:cs typeface="Arial"/>
              </a:rPr>
              <a:t>GIANTISM</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Why </a:t>
            </a:r>
            <a:r>
              <a:rPr dirty="0" sz="1100">
                <a:latin typeface="Arial"/>
                <a:cs typeface="Arial"/>
              </a:rPr>
              <a:t>have first </a:t>
            </a:r>
            <a:r>
              <a:rPr dirty="0" sz="1100" spc="-5">
                <a:latin typeface="Arial"/>
                <a:cs typeface="Arial"/>
              </a:rPr>
              <a:t>cities often swelled to such a large multiple of second cities in developing  countries? Overall, </a:t>
            </a:r>
            <a:r>
              <a:rPr dirty="0" sz="1100">
                <a:latin typeface="Arial"/>
                <a:cs typeface="Arial"/>
              </a:rPr>
              <a:t>urban </a:t>
            </a:r>
            <a:r>
              <a:rPr dirty="0" sz="1100" spc="-5">
                <a:latin typeface="Arial"/>
                <a:cs typeface="Arial"/>
              </a:rPr>
              <a:t>giantism probably results from a combination of a hub-and-spoke  transportation system and the location of the political capital in the largest city. This is further  reinforced by a political culture of rent seeking and the capital market failures that make the  creation of new urban centers a task that markets cannot complete. Other </a:t>
            </a:r>
            <a:r>
              <a:rPr dirty="0" sz="1100">
                <a:latin typeface="Arial"/>
                <a:cs typeface="Arial"/>
              </a:rPr>
              <a:t>more </a:t>
            </a:r>
            <a:r>
              <a:rPr dirty="0" sz="1100" spc="-5">
                <a:latin typeface="Arial"/>
                <a:cs typeface="Arial"/>
              </a:rPr>
              <a:t>detailed  explanations also generally involve unfortunate consequences of political economy </a:t>
            </a:r>
            <a:r>
              <a:rPr dirty="0" sz="1100">
                <a:latin typeface="Arial"/>
                <a:cs typeface="Arial"/>
              </a:rPr>
              <a:t>(see  </a:t>
            </a:r>
            <a:r>
              <a:rPr dirty="0" sz="1100" spc="-5">
                <a:latin typeface="Arial"/>
                <a:cs typeface="Arial"/>
              </a:rPr>
              <a:t>Chapter 11). One argument, featured in the work of Paul Krugman, stresses that under import  substitution industrialization (see Chapter 12), with a high level of protection, there is much less  international trade, and population and economic </a:t>
            </a:r>
            <a:r>
              <a:rPr dirty="0" sz="1100">
                <a:latin typeface="Arial"/>
                <a:cs typeface="Arial"/>
              </a:rPr>
              <a:t>activity </a:t>
            </a:r>
            <a:r>
              <a:rPr dirty="0" sz="1100" spc="-5">
                <a:latin typeface="Arial"/>
                <a:cs typeface="Arial"/>
              </a:rPr>
              <a:t>have an incentive to concentrate in a  single city, largely to avoid transportation costs. Thus firms wish to set up operations in the city  where the most consumers already live, which attracts more people to the region in search of  jobs and perhaps lower prices (made possible because there are fewer transport costs to be  passed on to consumers and perhaps by economies of larger store size and specialized sales  districts); this concentration in turn attracts still more firms and consumers in a circle of  causation. However, when trade barriers are reduced, the incentive to focus production on the  home market is also reduced, and exporters and their suppliers have much less incentive to be  located in the country’s biggest population center. This moves production toward ports and  borders, or elsewhere in the country, to escape the excessive congestion costs of the largest  city.</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Another explanation for urban giants focuses on the consequences of dictators’ efforts to remain  in power. </a:t>
            </a:r>
            <a:r>
              <a:rPr dirty="0" sz="1100" spc="-10">
                <a:latin typeface="Arial"/>
                <a:cs typeface="Arial"/>
              </a:rPr>
              <a:t>As </a:t>
            </a:r>
            <a:r>
              <a:rPr dirty="0" sz="1100" spc="-5">
                <a:latin typeface="Arial"/>
                <a:cs typeface="Arial"/>
              </a:rPr>
              <a:t>Figure 7.7 shows, on average, a much larger share of a country’s urbanized  population (37%) lives in the first city in unstable dictatorships than in stable democracies  (23%). In interpreting this finding, Alberto </a:t>
            </a:r>
            <a:r>
              <a:rPr dirty="0" sz="1100">
                <a:latin typeface="Arial"/>
                <a:cs typeface="Arial"/>
              </a:rPr>
              <a:t>Ades </a:t>
            </a:r>
            <a:r>
              <a:rPr dirty="0" sz="1100" spc="-5">
                <a:latin typeface="Arial"/>
                <a:cs typeface="Arial"/>
              </a:rPr>
              <a:t>and Edward Glaeser argue </a:t>
            </a:r>
            <a:r>
              <a:rPr dirty="0" sz="1100">
                <a:latin typeface="Arial"/>
                <a:cs typeface="Arial"/>
              </a:rPr>
              <a:t>that </a:t>
            </a:r>
            <a:r>
              <a:rPr dirty="0" sz="1100" spc="-5">
                <a:latin typeface="Arial"/>
                <a:cs typeface="Arial"/>
              </a:rPr>
              <a:t>unstable  dictatorships (fearing overthrow) must provide “bread and circuses” for the first city (usually </a:t>
            </a:r>
            <a:r>
              <a:rPr dirty="0" sz="1100">
                <a:latin typeface="Arial"/>
                <a:cs typeface="Arial"/>
              </a:rPr>
              <a:t>the  </a:t>
            </a:r>
            <a:r>
              <a:rPr dirty="0" sz="1100" spc="-5">
                <a:latin typeface="Arial"/>
                <a:cs typeface="Arial"/>
              </a:rPr>
              <a:t>capital) to prevent unrest; this extreme urban bias in turn attracts more migrants to the favored  city and a still larger need for bread and circuses. It should be noted that although the authors  attempt to control for reverse causality, it may still be the case that unstable dictatorships also  tend to emerge in countries with high first city</a:t>
            </a:r>
            <a:r>
              <a:rPr dirty="0" sz="1100" spc="50">
                <a:latin typeface="Arial"/>
                <a:cs typeface="Arial"/>
              </a:rPr>
              <a:t> </a:t>
            </a:r>
            <a:r>
              <a:rPr dirty="0" sz="1100" spc="-5">
                <a:latin typeface="Arial"/>
                <a:cs typeface="Arial"/>
              </a:rPr>
              <a:t>concentrations.</a:t>
            </a:r>
            <a:endParaRPr sz="1100">
              <a:latin typeface="Arial"/>
              <a:cs typeface="Arial"/>
            </a:endParaRPr>
          </a:p>
        </p:txBody>
      </p:sp>
      <p:sp>
        <p:nvSpPr>
          <p:cNvPr id="7" name="object 7"/>
          <p:cNvSpPr/>
          <p:nvPr/>
        </p:nvSpPr>
        <p:spPr>
          <a:xfrm>
            <a:off x="1257300" y="1007363"/>
            <a:ext cx="5340096" cy="1690116"/>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160</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705863"/>
            <a:ext cx="5968365" cy="231013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THE </a:t>
            </a:r>
            <a:r>
              <a:rPr dirty="0" sz="1100" b="1">
                <a:latin typeface="Arial"/>
                <a:cs typeface="Arial"/>
              </a:rPr>
              <a:t>URBAN </a:t>
            </a:r>
            <a:r>
              <a:rPr dirty="0" sz="1100" spc="-5" b="1">
                <a:latin typeface="Arial"/>
                <a:cs typeface="Arial"/>
              </a:rPr>
              <a:t>INFORMAL</a:t>
            </a:r>
            <a:r>
              <a:rPr dirty="0" sz="1100" b="1">
                <a:latin typeface="Arial"/>
                <a:cs typeface="Arial"/>
              </a:rPr>
              <a:t> </a:t>
            </a:r>
            <a:r>
              <a:rPr dirty="0" sz="1100" spc="-5" b="1">
                <a:latin typeface="Arial"/>
                <a:cs typeface="Arial"/>
              </a:rPr>
              <a:t>SECTOR</a:t>
            </a:r>
            <a:endParaRPr sz="1100">
              <a:latin typeface="Arial"/>
              <a:cs typeface="Arial"/>
            </a:endParaRPr>
          </a:p>
          <a:p>
            <a:pPr>
              <a:lnSpc>
                <a:spcPct val="100000"/>
              </a:lnSpc>
            </a:pPr>
            <a:endParaRPr sz="1150">
              <a:latin typeface="Arial"/>
              <a:cs typeface="Arial"/>
            </a:endParaRPr>
          </a:p>
          <a:p>
            <a:pPr marL="12700">
              <a:lnSpc>
                <a:spcPct val="100000"/>
              </a:lnSpc>
            </a:pPr>
            <a:r>
              <a:rPr dirty="0" sz="1100" spc="-5" b="1">
                <a:latin typeface="Arial"/>
                <a:cs typeface="Arial"/>
              </a:rPr>
              <a:t>INFORMAL</a:t>
            </a:r>
            <a:r>
              <a:rPr dirty="0" sz="1100" b="1">
                <a:latin typeface="Arial"/>
                <a:cs typeface="Arial"/>
              </a:rPr>
              <a:t> </a:t>
            </a:r>
            <a:r>
              <a:rPr dirty="0" sz="1100" spc="-5" b="1">
                <a:latin typeface="Arial"/>
                <a:cs typeface="Arial"/>
              </a:rPr>
              <a:t>SECTOR</a:t>
            </a:r>
            <a:endParaRPr sz="1100">
              <a:latin typeface="Arial"/>
              <a:cs typeface="Arial"/>
            </a:endParaRPr>
          </a:p>
          <a:p>
            <a:pPr>
              <a:lnSpc>
                <a:spcPct val="100000"/>
              </a:lnSpc>
              <a:spcBef>
                <a:spcPts val="20"/>
              </a:spcBef>
            </a:pPr>
            <a:endParaRPr sz="1200">
              <a:latin typeface="Arial"/>
              <a:cs typeface="Arial"/>
            </a:endParaRPr>
          </a:p>
          <a:p>
            <a:pPr algn="just" marL="12700" marR="5080">
              <a:lnSpc>
                <a:spcPts val="1270"/>
              </a:lnSpc>
              <a:spcBef>
                <a:spcPts val="5"/>
              </a:spcBef>
            </a:pPr>
            <a:r>
              <a:rPr dirty="0" sz="1100" spc="-5">
                <a:latin typeface="Arial"/>
                <a:cs typeface="Arial"/>
              </a:rPr>
              <a:t>The part of the urban economy of developing countries characterized by small competitive  individual or family </a:t>
            </a:r>
            <a:r>
              <a:rPr dirty="0" sz="1100">
                <a:latin typeface="Arial"/>
                <a:cs typeface="Arial"/>
              </a:rPr>
              <a:t>firms, </a:t>
            </a:r>
            <a:r>
              <a:rPr dirty="0" sz="1100" spc="-5">
                <a:latin typeface="Arial"/>
                <a:cs typeface="Arial"/>
              </a:rPr>
              <a:t>petty retail trade and services, labor-intensive methods, free entry, </a:t>
            </a:r>
            <a:r>
              <a:rPr dirty="0" sz="1100">
                <a:latin typeface="Arial"/>
                <a:cs typeface="Arial"/>
              </a:rPr>
              <a:t>and  </a:t>
            </a:r>
            <a:r>
              <a:rPr dirty="0" sz="1100" spc="-5">
                <a:latin typeface="Arial"/>
                <a:cs typeface="Arial"/>
              </a:rPr>
              <a:t>market-determined factor and product</a:t>
            </a:r>
            <a:r>
              <a:rPr dirty="0" sz="1100" spc="15">
                <a:latin typeface="Arial"/>
                <a:cs typeface="Arial"/>
              </a:rPr>
              <a:t> </a:t>
            </a:r>
            <a:r>
              <a:rPr dirty="0" sz="1100" spc="-5">
                <a:latin typeface="Arial"/>
                <a:cs typeface="Arial"/>
              </a:rPr>
              <a:t>prices.</a:t>
            </a:r>
            <a:endParaRPr sz="1100">
              <a:latin typeface="Arial"/>
              <a:cs typeface="Arial"/>
            </a:endParaRPr>
          </a:p>
          <a:p>
            <a:pPr>
              <a:lnSpc>
                <a:spcPct val="100000"/>
              </a:lnSpc>
              <a:spcBef>
                <a:spcPts val="40"/>
              </a:spcBef>
            </a:pPr>
            <a:endParaRPr sz="1050">
              <a:latin typeface="Arial"/>
              <a:cs typeface="Arial"/>
            </a:endParaRPr>
          </a:p>
          <a:p>
            <a:pPr algn="just" marL="12700" marR="5080">
              <a:lnSpc>
                <a:spcPts val="1270"/>
              </a:lnSpc>
            </a:pPr>
            <a:r>
              <a:rPr dirty="0" sz="1100" spc="-5">
                <a:latin typeface="Arial"/>
                <a:cs typeface="Arial"/>
              </a:rPr>
              <a:t>As noted in Chapter 3, a focus of development theory </a:t>
            </a:r>
            <a:r>
              <a:rPr dirty="0" sz="1100">
                <a:latin typeface="Arial"/>
                <a:cs typeface="Arial"/>
              </a:rPr>
              <a:t>has </a:t>
            </a:r>
            <a:r>
              <a:rPr dirty="0" sz="1100" spc="-5">
                <a:latin typeface="Arial"/>
                <a:cs typeface="Arial"/>
              </a:rPr>
              <a:t>been on the dualistic nature of  developing countries’ national economies—the existence of a modern urban capitalist sector  geared toward capital-intensive, large-scale production and a traditional rural subsistence sector  geared toward labor-intensive, small-scale production. This dualistic analysis has also been  applied specifically to the urban economy, </a:t>
            </a:r>
            <a:r>
              <a:rPr dirty="0" sz="1100">
                <a:latin typeface="Arial"/>
                <a:cs typeface="Arial"/>
              </a:rPr>
              <a:t>which </a:t>
            </a:r>
            <a:r>
              <a:rPr dirty="0" sz="1100" spc="-5">
                <a:latin typeface="Arial"/>
                <a:cs typeface="Arial"/>
              </a:rPr>
              <a:t>has been decomposed into a formal and an  informal sector.</a:t>
            </a:r>
            <a:endParaRPr sz="1100">
              <a:latin typeface="Arial"/>
              <a:cs typeface="Arial"/>
            </a:endParaRPr>
          </a:p>
        </p:txBody>
      </p:sp>
      <p:sp>
        <p:nvSpPr>
          <p:cNvPr id="7" name="object 7"/>
          <p:cNvSpPr/>
          <p:nvPr/>
        </p:nvSpPr>
        <p:spPr>
          <a:xfrm>
            <a:off x="1028700" y="3810"/>
            <a:ext cx="5600700" cy="3402329"/>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161</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5187950"/>
            <a:ext cx="5969635" cy="37414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informal sector continues to play an important role in developing countries, despite decades  of benign neglect and even outright hostility. In </a:t>
            </a:r>
            <a:r>
              <a:rPr dirty="0" sz="1100">
                <a:latin typeface="Arial"/>
                <a:cs typeface="Arial"/>
              </a:rPr>
              <a:t>many </a:t>
            </a:r>
            <a:r>
              <a:rPr dirty="0" sz="1100" spc="-5">
                <a:latin typeface="Arial"/>
                <a:cs typeface="Arial"/>
              </a:rPr>
              <a:t>developing countries, about half of the  employed urban population works in the informal sector. Figure 7.8 shows the relative  importance of informal unemployment in selected </a:t>
            </a:r>
            <a:r>
              <a:rPr dirty="0" sz="1100">
                <a:latin typeface="Arial"/>
                <a:cs typeface="Arial"/>
              </a:rPr>
              <a:t>cities. </a:t>
            </a:r>
            <a:r>
              <a:rPr dirty="0" sz="1100" spc="-5">
                <a:latin typeface="Arial"/>
                <a:cs typeface="Arial"/>
              </a:rPr>
              <a:t>Most of these cities reflect the typical  range of informal sector employment share, from about </a:t>
            </a:r>
            <a:r>
              <a:rPr dirty="0" sz="1100">
                <a:latin typeface="Arial"/>
                <a:cs typeface="Arial"/>
              </a:rPr>
              <a:t>30% </a:t>
            </a:r>
            <a:r>
              <a:rPr dirty="0" sz="1100" spc="-5">
                <a:latin typeface="Arial"/>
                <a:cs typeface="Arial"/>
              </a:rPr>
              <a:t>to 70%. (The only exception is  Ljubljana, a virtually developed city near Austria and Italy.) We find a similar pattern of high  informal-sector employment in cities throughout the developing world. For example, in India, the  urban informal sector comprises 28.5% of employment in Kolkata, 46.5% in Ahmedabad, 49.5%  in Mumbai, 53.8% in Chennai, 61.4% in Delhi, and 65.5% in</a:t>
            </a:r>
            <a:r>
              <a:rPr dirty="0" sz="1100" spc="75">
                <a:latin typeface="Arial"/>
                <a:cs typeface="Arial"/>
              </a:rPr>
              <a:t> </a:t>
            </a:r>
            <a:r>
              <a:rPr dirty="0" sz="1100" spc="-5">
                <a:latin typeface="Arial"/>
                <a:cs typeface="Arial"/>
              </a:rPr>
              <a:t>Bangaluru.</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POLICIES FOR THE URBAN INFORMAL</a:t>
            </a:r>
            <a:r>
              <a:rPr dirty="0" sz="1100" spc="15" b="1">
                <a:latin typeface="Arial"/>
                <a:cs typeface="Arial"/>
              </a:rPr>
              <a:t> </a:t>
            </a:r>
            <a:r>
              <a:rPr dirty="0" sz="1100" spc="-5" b="1">
                <a:latin typeface="Arial"/>
                <a:cs typeface="Arial"/>
              </a:rPr>
              <a:t>SECTOR</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In terms of its relationship with other sectors, the informal sector is linked with the rural sector in  that it allows excess labor to escape </a:t>
            </a:r>
            <a:r>
              <a:rPr dirty="0" sz="1100">
                <a:latin typeface="Arial"/>
                <a:cs typeface="Arial"/>
              </a:rPr>
              <a:t>from </a:t>
            </a:r>
            <a:r>
              <a:rPr dirty="0" sz="1100" spc="-5">
                <a:latin typeface="Arial"/>
                <a:cs typeface="Arial"/>
              </a:rPr>
              <a:t>extreme rural poverty and underemployment,  although under living and working conditions and for incomes that are often not much better. It  is closely connected with the formal urban sector: The formal sector depends on the informal  sector for cheap inputs and wage goods for its workers, and the informal sector in turn depends  on the growth of the formal sector for a good portion of its income and</a:t>
            </a:r>
            <a:r>
              <a:rPr dirty="0" sz="1100" spc="114">
                <a:latin typeface="Arial"/>
                <a:cs typeface="Arial"/>
              </a:rPr>
              <a:t> </a:t>
            </a:r>
            <a:r>
              <a:rPr dirty="0" sz="1100" spc="-5">
                <a:latin typeface="Arial"/>
                <a:cs typeface="Arial"/>
              </a:rPr>
              <a:t>clientele.</a:t>
            </a:r>
            <a:endParaRPr sz="1100">
              <a:latin typeface="Arial"/>
              <a:cs typeface="Arial"/>
            </a:endParaRPr>
          </a:p>
          <a:p>
            <a:pPr>
              <a:lnSpc>
                <a:spcPct val="100000"/>
              </a:lnSpc>
              <a:spcBef>
                <a:spcPts val="30"/>
              </a:spcBef>
            </a:pPr>
            <a:endParaRPr sz="1050">
              <a:latin typeface="Arial"/>
              <a:cs typeface="Arial"/>
            </a:endParaRPr>
          </a:p>
          <a:p>
            <a:pPr algn="just" marL="12700" marR="5080">
              <a:lnSpc>
                <a:spcPts val="1270"/>
              </a:lnSpc>
            </a:pPr>
            <a:r>
              <a:rPr dirty="0" sz="1100" spc="-5">
                <a:latin typeface="Arial"/>
                <a:cs typeface="Arial"/>
              </a:rPr>
              <a:t>The important role that the informal sector plays in providing income opportunities for the poor is  clear. There is some question, however, as to whether the informal sector is merely a holding  ground for people awaiting entry </a:t>
            </a:r>
            <a:r>
              <a:rPr dirty="0" sz="1100">
                <a:latin typeface="Arial"/>
                <a:cs typeface="Arial"/>
              </a:rPr>
              <a:t>into </a:t>
            </a:r>
            <a:r>
              <a:rPr dirty="0" sz="1100" spc="-5">
                <a:latin typeface="Arial"/>
                <a:cs typeface="Arial"/>
              </a:rPr>
              <a:t>the formal sector and as such is a transitional phase that  must</a:t>
            </a:r>
            <a:r>
              <a:rPr dirty="0" sz="1100" spc="229">
                <a:latin typeface="Arial"/>
                <a:cs typeface="Arial"/>
              </a:rPr>
              <a:t> </a:t>
            </a:r>
            <a:r>
              <a:rPr dirty="0" sz="1100" spc="-5">
                <a:latin typeface="Arial"/>
                <a:cs typeface="Arial"/>
              </a:rPr>
              <a:t>be</a:t>
            </a:r>
            <a:r>
              <a:rPr dirty="0" sz="1100" spc="229">
                <a:latin typeface="Arial"/>
                <a:cs typeface="Arial"/>
              </a:rPr>
              <a:t> </a:t>
            </a:r>
            <a:r>
              <a:rPr dirty="0" sz="1100" spc="-5">
                <a:latin typeface="Arial"/>
                <a:cs typeface="Arial"/>
              </a:rPr>
              <a:t>made</a:t>
            </a:r>
            <a:r>
              <a:rPr dirty="0" sz="1100" spc="235">
                <a:latin typeface="Arial"/>
                <a:cs typeface="Arial"/>
              </a:rPr>
              <a:t> </a:t>
            </a:r>
            <a:r>
              <a:rPr dirty="0" sz="1100" spc="-5">
                <a:latin typeface="Arial"/>
                <a:cs typeface="Arial"/>
              </a:rPr>
              <a:t>as</a:t>
            </a:r>
            <a:r>
              <a:rPr dirty="0" sz="1100" spc="225">
                <a:latin typeface="Arial"/>
                <a:cs typeface="Arial"/>
              </a:rPr>
              <a:t> </a:t>
            </a:r>
            <a:r>
              <a:rPr dirty="0" sz="1100" spc="-5">
                <a:latin typeface="Arial"/>
                <a:cs typeface="Arial"/>
              </a:rPr>
              <a:t>comfortable</a:t>
            </a:r>
            <a:r>
              <a:rPr dirty="0" sz="1100" spc="235">
                <a:latin typeface="Arial"/>
                <a:cs typeface="Arial"/>
              </a:rPr>
              <a:t> </a:t>
            </a:r>
            <a:r>
              <a:rPr dirty="0" sz="1100" spc="-5">
                <a:latin typeface="Arial"/>
                <a:cs typeface="Arial"/>
              </a:rPr>
              <a:t>as</a:t>
            </a:r>
            <a:r>
              <a:rPr dirty="0" sz="1100" spc="225">
                <a:latin typeface="Arial"/>
                <a:cs typeface="Arial"/>
              </a:rPr>
              <a:t> </a:t>
            </a:r>
            <a:r>
              <a:rPr dirty="0" sz="1100" spc="-5">
                <a:latin typeface="Arial"/>
                <a:cs typeface="Arial"/>
              </a:rPr>
              <a:t>possible</a:t>
            </a:r>
            <a:r>
              <a:rPr dirty="0" sz="1100" spc="229">
                <a:latin typeface="Arial"/>
                <a:cs typeface="Arial"/>
              </a:rPr>
              <a:t> </a:t>
            </a:r>
            <a:r>
              <a:rPr dirty="0" sz="1100" spc="-5">
                <a:latin typeface="Arial"/>
                <a:cs typeface="Arial"/>
              </a:rPr>
              <a:t>without</a:t>
            </a:r>
            <a:r>
              <a:rPr dirty="0" sz="1100" spc="229">
                <a:latin typeface="Arial"/>
                <a:cs typeface="Arial"/>
              </a:rPr>
              <a:t> </a:t>
            </a:r>
            <a:r>
              <a:rPr dirty="0" sz="1100" spc="-5">
                <a:latin typeface="Arial"/>
                <a:cs typeface="Arial"/>
              </a:rPr>
              <a:t>perpetuating</a:t>
            </a:r>
            <a:r>
              <a:rPr dirty="0" sz="1100" spc="235">
                <a:latin typeface="Arial"/>
                <a:cs typeface="Arial"/>
              </a:rPr>
              <a:t> </a:t>
            </a:r>
            <a:r>
              <a:rPr dirty="0" sz="1100" spc="-5">
                <a:latin typeface="Arial"/>
                <a:cs typeface="Arial"/>
              </a:rPr>
              <a:t>its</a:t>
            </a:r>
            <a:r>
              <a:rPr dirty="0" sz="1100" spc="229">
                <a:latin typeface="Arial"/>
                <a:cs typeface="Arial"/>
              </a:rPr>
              <a:t> </a:t>
            </a:r>
            <a:r>
              <a:rPr dirty="0" sz="1100" spc="-5">
                <a:latin typeface="Arial"/>
                <a:cs typeface="Arial"/>
              </a:rPr>
              <a:t>existence</a:t>
            </a:r>
            <a:r>
              <a:rPr dirty="0" sz="1100" spc="235">
                <a:latin typeface="Arial"/>
                <a:cs typeface="Arial"/>
              </a:rPr>
              <a:t> </a:t>
            </a:r>
            <a:r>
              <a:rPr dirty="0" sz="1100" spc="-5">
                <a:latin typeface="Arial"/>
                <a:cs typeface="Arial"/>
              </a:rPr>
              <a:t>until</a:t>
            </a:r>
            <a:r>
              <a:rPr dirty="0" sz="1100" spc="229">
                <a:latin typeface="Arial"/>
                <a:cs typeface="Arial"/>
              </a:rPr>
              <a:t> </a:t>
            </a:r>
            <a:r>
              <a:rPr dirty="0" sz="1100" spc="-5">
                <a:latin typeface="Arial"/>
                <a:cs typeface="Arial"/>
              </a:rPr>
              <a:t>it</a:t>
            </a:r>
            <a:r>
              <a:rPr dirty="0" sz="1100" spc="229">
                <a:latin typeface="Arial"/>
                <a:cs typeface="Arial"/>
              </a:rPr>
              <a:t> </a:t>
            </a:r>
            <a:r>
              <a:rPr dirty="0" sz="1100" spc="-5">
                <a:latin typeface="Arial"/>
                <a:cs typeface="Arial"/>
              </a:rPr>
              <a:t>is</a:t>
            </a:r>
            <a:r>
              <a:rPr dirty="0" sz="1100" spc="229">
                <a:latin typeface="Arial"/>
                <a:cs typeface="Arial"/>
              </a:rPr>
              <a:t> </a:t>
            </a:r>
            <a:r>
              <a:rPr dirty="0" sz="1100" spc="-5">
                <a:latin typeface="Arial"/>
                <a:cs typeface="Arial"/>
              </a:rPr>
              <a:t>itself</a:t>
            </a:r>
            <a:endParaRPr sz="1100">
              <a:latin typeface="Arial"/>
              <a:cs typeface="Arial"/>
            </a:endParaRPr>
          </a:p>
        </p:txBody>
      </p:sp>
      <p:sp>
        <p:nvSpPr>
          <p:cNvPr id="7" name="object 7"/>
          <p:cNvSpPr/>
          <p:nvPr/>
        </p:nvSpPr>
        <p:spPr>
          <a:xfrm>
            <a:off x="933450" y="914400"/>
            <a:ext cx="5935217" cy="4235753"/>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162</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163830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absorbed by the formal sector or whether it is here to stay </a:t>
            </a:r>
            <a:r>
              <a:rPr dirty="0" sz="1100">
                <a:latin typeface="Arial"/>
                <a:cs typeface="Arial"/>
              </a:rPr>
              <a:t>and </a:t>
            </a:r>
            <a:r>
              <a:rPr dirty="0" sz="1100" spc="-5">
                <a:latin typeface="Arial"/>
                <a:cs typeface="Arial"/>
              </a:rPr>
              <a:t>should in fact be promoted as a  major source of employment and income for the urban labor</a:t>
            </a:r>
            <a:r>
              <a:rPr dirty="0" sz="1100" spc="55">
                <a:latin typeface="Arial"/>
                <a:cs typeface="Arial"/>
              </a:rPr>
              <a:t> </a:t>
            </a:r>
            <a:r>
              <a:rPr dirty="0" sz="1100" spc="-5">
                <a:latin typeface="Arial"/>
                <a:cs typeface="Arial"/>
              </a:rPr>
              <a:t>force.</a:t>
            </a:r>
            <a:endParaRPr sz="1100">
              <a:latin typeface="Arial"/>
              <a:cs typeface="Arial"/>
            </a:endParaRPr>
          </a:p>
          <a:p>
            <a:pPr algn="just" marL="12700" marR="5715">
              <a:lnSpc>
                <a:spcPts val="1260"/>
              </a:lnSpc>
            </a:pPr>
            <a:r>
              <a:rPr dirty="0" sz="1100" spc="-5">
                <a:latin typeface="Arial"/>
                <a:cs typeface="Arial"/>
              </a:rPr>
              <a:t>In support of the latter </a:t>
            </a:r>
            <a:r>
              <a:rPr dirty="0" sz="1100">
                <a:latin typeface="Arial"/>
                <a:cs typeface="Arial"/>
              </a:rPr>
              <a:t>view, </a:t>
            </a:r>
            <a:r>
              <a:rPr dirty="0" sz="1100" spc="-5">
                <a:latin typeface="Arial"/>
                <a:cs typeface="Arial"/>
              </a:rPr>
              <a:t>the formal sector in developing countries often has a small base in  terms</a:t>
            </a:r>
            <a:r>
              <a:rPr dirty="0" sz="1100" spc="40">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output</a:t>
            </a:r>
            <a:r>
              <a:rPr dirty="0" sz="1100" spc="40">
                <a:latin typeface="Arial"/>
                <a:cs typeface="Arial"/>
              </a:rPr>
              <a:t> </a:t>
            </a:r>
            <a:r>
              <a:rPr dirty="0" sz="1100" spc="-5">
                <a:latin typeface="Arial"/>
                <a:cs typeface="Arial"/>
              </a:rPr>
              <a:t>and</a:t>
            </a:r>
            <a:r>
              <a:rPr dirty="0" sz="1100" spc="45">
                <a:latin typeface="Arial"/>
                <a:cs typeface="Arial"/>
              </a:rPr>
              <a:t> </a:t>
            </a:r>
            <a:r>
              <a:rPr dirty="0" sz="1100" spc="-5">
                <a:latin typeface="Arial"/>
                <a:cs typeface="Arial"/>
              </a:rPr>
              <a:t>employment.</a:t>
            </a:r>
            <a:r>
              <a:rPr dirty="0" sz="1100" spc="40">
                <a:latin typeface="Arial"/>
                <a:cs typeface="Arial"/>
              </a:rPr>
              <a:t> </a:t>
            </a:r>
            <a:r>
              <a:rPr dirty="0" sz="1100">
                <a:latin typeface="Arial"/>
                <a:cs typeface="Arial"/>
              </a:rPr>
              <a:t>To</a:t>
            </a:r>
            <a:r>
              <a:rPr dirty="0" sz="1100" spc="45">
                <a:latin typeface="Arial"/>
                <a:cs typeface="Arial"/>
              </a:rPr>
              <a:t> </a:t>
            </a:r>
            <a:r>
              <a:rPr dirty="0" sz="1100" spc="-5">
                <a:latin typeface="Arial"/>
                <a:cs typeface="Arial"/>
              </a:rPr>
              <a:t>absorb</a:t>
            </a:r>
            <a:r>
              <a:rPr dirty="0" sz="1100" spc="45">
                <a:latin typeface="Arial"/>
                <a:cs typeface="Arial"/>
              </a:rPr>
              <a:t> </a:t>
            </a:r>
            <a:r>
              <a:rPr dirty="0" sz="1100" spc="-5">
                <a:latin typeface="Arial"/>
                <a:cs typeface="Arial"/>
              </a:rPr>
              <a:t>future</a:t>
            </a:r>
            <a:r>
              <a:rPr dirty="0" sz="1100" spc="40">
                <a:latin typeface="Arial"/>
                <a:cs typeface="Arial"/>
              </a:rPr>
              <a:t> </a:t>
            </a:r>
            <a:r>
              <a:rPr dirty="0" sz="1100" spc="-5">
                <a:latin typeface="Arial"/>
                <a:cs typeface="Arial"/>
              </a:rPr>
              <a:t>additions</a:t>
            </a:r>
            <a:r>
              <a:rPr dirty="0" sz="1100" spc="45">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urban</a:t>
            </a:r>
            <a:r>
              <a:rPr dirty="0" sz="1100" spc="45">
                <a:latin typeface="Arial"/>
                <a:cs typeface="Arial"/>
              </a:rPr>
              <a:t> </a:t>
            </a:r>
            <a:r>
              <a:rPr dirty="0" sz="1100" spc="-5">
                <a:latin typeface="Arial"/>
                <a:cs typeface="Arial"/>
              </a:rPr>
              <a:t>labor</a:t>
            </a:r>
            <a:r>
              <a:rPr dirty="0" sz="1100" spc="40">
                <a:latin typeface="Arial"/>
                <a:cs typeface="Arial"/>
              </a:rPr>
              <a:t> </a:t>
            </a:r>
            <a:r>
              <a:rPr dirty="0" sz="1100" spc="-5">
                <a:latin typeface="Arial"/>
                <a:cs typeface="Arial"/>
              </a:rPr>
              <a:t>force,</a:t>
            </a:r>
            <a:r>
              <a:rPr dirty="0" sz="1100" spc="4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formal</a:t>
            </a:r>
            <a:endParaRPr sz="1100">
              <a:latin typeface="Arial"/>
              <a:cs typeface="Arial"/>
            </a:endParaRPr>
          </a:p>
          <a:p>
            <a:pPr algn="just" marL="12700">
              <a:lnSpc>
                <a:spcPts val="1205"/>
              </a:lnSpc>
            </a:pPr>
            <a:r>
              <a:rPr dirty="0" sz="1100" spc="-5">
                <a:latin typeface="Arial"/>
                <a:cs typeface="Arial"/>
              </a:rPr>
              <a:t>sector</a:t>
            </a:r>
            <a:r>
              <a:rPr dirty="0" sz="1100" spc="100">
                <a:latin typeface="Arial"/>
                <a:cs typeface="Arial"/>
              </a:rPr>
              <a:t> </a:t>
            </a:r>
            <a:r>
              <a:rPr dirty="0" sz="1100" spc="-5">
                <a:latin typeface="Arial"/>
                <a:cs typeface="Arial"/>
              </a:rPr>
              <a:t>must</a:t>
            </a:r>
            <a:r>
              <a:rPr dirty="0" sz="1100" spc="100">
                <a:latin typeface="Arial"/>
                <a:cs typeface="Arial"/>
              </a:rPr>
              <a:t> </a:t>
            </a:r>
            <a:r>
              <a:rPr dirty="0" sz="1100" spc="-5">
                <a:latin typeface="Arial"/>
                <a:cs typeface="Arial"/>
              </a:rPr>
              <a:t>be</a:t>
            </a:r>
            <a:r>
              <a:rPr dirty="0" sz="1100" spc="100">
                <a:latin typeface="Arial"/>
                <a:cs typeface="Arial"/>
              </a:rPr>
              <a:t> </a:t>
            </a:r>
            <a:r>
              <a:rPr dirty="0" sz="1100" spc="-5">
                <a:latin typeface="Arial"/>
                <a:cs typeface="Arial"/>
              </a:rPr>
              <a:t>able</a:t>
            </a:r>
            <a:r>
              <a:rPr dirty="0" sz="1100" spc="105">
                <a:latin typeface="Arial"/>
                <a:cs typeface="Arial"/>
              </a:rPr>
              <a:t> </a:t>
            </a:r>
            <a:r>
              <a:rPr dirty="0" sz="1100" spc="-5">
                <a:latin typeface="Arial"/>
                <a:cs typeface="Arial"/>
              </a:rPr>
              <a:t>to</a:t>
            </a:r>
            <a:r>
              <a:rPr dirty="0" sz="1100" spc="95">
                <a:latin typeface="Arial"/>
                <a:cs typeface="Arial"/>
              </a:rPr>
              <a:t> </a:t>
            </a:r>
            <a:r>
              <a:rPr dirty="0" sz="1100" spc="-5">
                <a:latin typeface="Arial"/>
                <a:cs typeface="Arial"/>
              </a:rPr>
              <a:t>generate</a:t>
            </a:r>
            <a:r>
              <a:rPr dirty="0" sz="1100" spc="105">
                <a:latin typeface="Arial"/>
                <a:cs typeface="Arial"/>
              </a:rPr>
              <a:t> </a:t>
            </a:r>
            <a:r>
              <a:rPr dirty="0" sz="1100" spc="-5">
                <a:latin typeface="Arial"/>
                <a:cs typeface="Arial"/>
              </a:rPr>
              <a:t>employment</a:t>
            </a:r>
            <a:r>
              <a:rPr dirty="0" sz="1100" spc="100">
                <a:latin typeface="Arial"/>
                <a:cs typeface="Arial"/>
              </a:rPr>
              <a:t> </a:t>
            </a:r>
            <a:r>
              <a:rPr dirty="0" sz="1100" spc="-5">
                <a:latin typeface="Arial"/>
                <a:cs typeface="Arial"/>
              </a:rPr>
              <a:t>at</a:t>
            </a:r>
            <a:r>
              <a:rPr dirty="0" sz="1100" spc="105">
                <a:latin typeface="Arial"/>
                <a:cs typeface="Arial"/>
              </a:rPr>
              <a:t> </a:t>
            </a:r>
            <a:r>
              <a:rPr dirty="0" sz="1100" spc="-5">
                <a:latin typeface="Arial"/>
                <a:cs typeface="Arial"/>
              </a:rPr>
              <a:t>a</a:t>
            </a:r>
            <a:r>
              <a:rPr dirty="0" sz="1100" spc="100">
                <a:latin typeface="Arial"/>
                <a:cs typeface="Arial"/>
              </a:rPr>
              <a:t> </a:t>
            </a:r>
            <a:r>
              <a:rPr dirty="0" sz="1100" spc="-5">
                <a:latin typeface="Arial"/>
                <a:cs typeface="Arial"/>
              </a:rPr>
              <a:t>very</a:t>
            </a:r>
            <a:r>
              <a:rPr dirty="0" sz="1100" spc="105">
                <a:latin typeface="Arial"/>
                <a:cs typeface="Arial"/>
              </a:rPr>
              <a:t> </a:t>
            </a:r>
            <a:r>
              <a:rPr dirty="0" sz="1100" spc="-5">
                <a:latin typeface="Arial"/>
                <a:cs typeface="Arial"/>
              </a:rPr>
              <a:t>high</a:t>
            </a:r>
            <a:r>
              <a:rPr dirty="0" sz="1100" spc="100">
                <a:latin typeface="Arial"/>
                <a:cs typeface="Arial"/>
              </a:rPr>
              <a:t> </a:t>
            </a:r>
            <a:r>
              <a:rPr dirty="0" sz="1100" spc="-5">
                <a:latin typeface="Arial"/>
                <a:cs typeface="Arial"/>
              </a:rPr>
              <a:t>rate.</a:t>
            </a:r>
            <a:r>
              <a:rPr dirty="0" sz="1100" spc="105">
                <a:latin typeface="Arial"/>
                <a:cs typeface="Arial"/>
              </a:rPr>
              <a:t> </a:t>
            </a:r>
            <a:r>
              <a:rPr dirty="0" sz="1100" spc="-5">
                <a:latin typeface="Arial"/>
                <a:cs typeface="Arial"/>
              </a:rPr>
              <a:t>This</a:t>
            </a:r>
            <a:r>
              <a:rPr dirty="0" sz="1100" spc="100">
                <a:latin typeface="Arial"/>
                <a:cs typeface="Arial"/>
              </a:rPr>
              <a:t> </a:t>
            </a:r>
            <a:r>
              <a:rPr dirty="0" sz="1100" spc="-5">
                <a:latin typeface="Arial"/>
                <a:cs typeface="Arial"/>
              </a:rPr>
              <a:t>means</a:t>
            </a:r>
            <a:r>
              <a:rPr dirty="0" sz="1100" spc="105">
                <a:latin typeface="Arial"/>
                <a:cs typeface="Arial"/>
              </a:rPr>
              <a:t> </a:t>
            </a:r>
            <a:r>
              <a:rPr dirty="0" sz="1100" spc="-5">
                <a:latin typeface="Arial"/>
                <a:cs typeface="Arial"/>
              </a:rPr>
              <a:t>that</a:t>
            </a:r>
            <a:r>
              <a:rPr dirty="0" sz="1100" spc="100">
                <a:latin typeface="Arial"/>
                <a:cs typeface="Arial"/>
              </a:rPr>
              <a:t> </a:t>
            </a:r>
            <a:r>
              <a:rPr dirty="0" sz="1100" spc="-5">
                <a:latin typeface="Arial"/>
                <a:cs typeface="Arial"/>
              </a:rPr>
              <a:t>output</a:t>
            </a:r>
            <a:r>
              <a:rPr dirty="0" sz="1100" spc="105">
                <a:latin typeface="Arial"/>
                <a:cs typeface="Arial"/>
              </a:rPr>
              <a:t> </a:t>
            </a:r>
            <a:r>
              <a:rPr dirty="0" sz="1100" spc="-5">
                <a:latin typeface="Arial"/>
                <a:cs typeface="Arial"/>
              </a:rPr>
              <a:t>must</a:t>
            </a:r>
            <a:endParaRPr sz="1100">
              <a:latin typeface="Arial"/>
              <a:cs typeface="Arial"/>
            </a:endParaRPr>
          </a:p>
          <a:p>
            <a:pPr algn="just" marL="12700" marR="5080">
              <a:lnSpc>
                <a:spcPct val="95800"/>
              </a:lnSpc>
              <a:spcBef>
                <a:spcPts val="30"/>
              </a:spcBef>
            </a:pPr>
            <a:r>
              <a:rPr dirty="0" sz="1100" spc="-5">
                <a:latin typeface="Arial"/>
                <a:cs typeface="Arial"/>
              </a:rPr>
              <a:t>grow at an even faster rate, since employment </a:t>
            </a:r>
            <a:r>
              <a:rPr dirty="0" sz="1100">
                <a:latin typeface="Arial"/>
                <a:cs typeface="Arial"/>
              </a:rPr>
              <a:t>in </a:t>
            </a:r>
            <a:r>
              <a:rPr dirty="0" sz="1100" spc="-5">
                <a:latin typeface="Arial"/>
                <a:cs typeface="Arial"/>
              </a:rPr>
              <a:t>this sector increases less than proportionately  in relation to output. This sort of growth seems highly unlikely in view of current trends. Thus the  burden on the informal sector to absorb more labor will continue to grow unless other solutions  to the urban unemployment problem are provided. But young people face increasingly difficult  job prospects, as can be seen in Figure</a:t>
            </a:r>
            <a:r>
              <a:rPr dirty="0" sz="1100" spc="30">
                <a:latin typeface="Arial"/>
                <a:cs typeface="Arial"/>
              </a:rPr>
              <a:t> </a:t>
            </a:r>
            <a:r>
              <a:rPr dirty="0" sz="1100" spc="-5">
                <a:latin typeface="Arial"/>
                <a:cs typeface="Arial"/>
              </a:rPr>
              <a:t>7.9.</a:t>
            </a:r>
            <a:endParaRPr sz="1100">
              <a:latin typeface="Arial"/>
              <a:cs typeface="Arial"/>
            </a:endParaRPr>
          </a:p>
        </p:txBody>
      </p:sp>
      <p:sp>
        <p:nvSpPr>
          <p:cNvPr id="7" name="object 7"/>
          <p:cNvSpPr txBox="1"/>
          <p:nvPr/>
        </p:nvSpPr>
        <p:spPr>
          <a:xfrm>
            <a:off x="901700" y="6816324"/>
            <a:ext cx="5969000" cy="229616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The informal sector has demonstrated its ability to generate employment and income for the  urban labor force. As pointed out earlier, it is already absorbing an average of 50% </a:t>
            </a:r>
            <a:r>
              <a:rPr dirty="0" sz="1100">
                <a:latin typeface="Arial"/>
                <a:cs typeface="Arial"/>
              </a:rPr>
              <a:t>of </a:t>
            </a:r>
            <a:r>
              <a:rPr dirty="0" sz="1100" spc="-5">
                <a:latin typeface="Arial"/>
                <a:cs typeface="Arial"/>
              </a:rPr>
              <a:t>the urban  labor force. Some studies have shown the informal sector generating almost one-third of urban  income.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WOMEN IN THE INFORMAL</a:t>
            </a:r>
            <a:r>
              <a:rPr dirty="0" sz="1100" spc="15" b="1">
                <a:latin typeface="Arial"/>
                <a:cs typeface="Arial"/>
              </a:rPr>
              <a:t> </a:t>
            </a:r>
            <a:r>
              <a:rPr dirty="0" sz="1100" spc="-5" b="1">
                <a:latin typeface="Arial"/>
                <a:cs typeface="Arial"/>
              </a:rPr>
              <a:t>SECTOR</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In some regions of the world, women predominate among rural-urban migrants and may </a:t>
            </a:r>
            <a:r>
              <a:rPr dirty="0" sz="1100">
                <a:latin typeface="Arial"/>
                <a:cs typeface="Arial"/>
              </a:rPr>
              <a:t>even  </a:t>
            </a:r>
            <a:r>
              <a:rPr dirty="0" sz="1100" spc="-5">
                <a:latin typeface="Arial"/>
                <a:cs typeface="Arial"/>
              </a:rPr>
              <a:t>comprise the majority of the urban population. Though historically, many of these women were  simply accompanying </a:t>
            </a:r>
            <a:r>
              <a:rPr dirty="0" sz="1100">
                <a:latin typeface="Arial"/>
                <a:cs typeface="Arial"/>
              </a:rPr>
              <a:t>their </a:t>
            </a:r>
            <a:r>
              <a:rPr dirty="0" sz="1100" spc="-5">
                <a:latin typeface="Arial"/>
                <a:cs typeface="Arial"/>
              </a:rPr>
              <a:t>spouses, a growing number of women in Latin America, Asia, and  Africa migrate to seek economic opportunity. With the exception of the export enclaves of East  Asia and a few other cities, where everything from computers to running shoes are  manufactured, few of </a:t>
            </a:r>
            <a:r>
              <a:rPr dirty="0" sz="1100">
                <a:latin typeface="Arial"/>
                <a:cs typeface="Arial"/>
              </a:rPr>
              <a:t>these </a:t>
            </a:r>
            <a:r>
              <a:rPr dirty="0" sz="1100" spc="-5">
                <a:latin typeface="Arial"/>
                <a:cs typeface="Arial"/>
              </a:rPr>
              <a:t>migrants are able to find employment in the formal sector, which is  generally</a:t>
            </a:r>
            <a:r>
              <a:rPr dirty="0" sz="1100" spc="30">
                <a:latin typeface="Arial"/>
                <a:cs typeface="Arial"/>
              </a:rPr>
              <a:t> </a:t>
            </a:r>
            <a:r>
              <a:rPr dirty="0" sz="1100" spc="-5">
                <a:latin typeface="Arial"/>
                <a:cs typeface="Arial"/>
              </a:rPr>
              <a:t>dominated</a:t>
            </a:r>
            <a:r>
              <a:rPr dirty="0" sz="1100" spc="35">
                <a:latin typeface="Arial"/>
                <a:cs typeface="Arial"/>
              </a:rPr>
              <a:t> </a:t>
            </a:r>
            <a:r>
              <a:rPr dirty="0" sz="1100" spc="-5">
                <a:latin typeface="Arial"/>
                <a:cs typeface="Arial"/>
              </a:rPr>
              <a:t>by</a:t>
            </a:r>
            <a:r>
              <a:rPr dirty="0" sz="1100" spc="45">
                <a:latin typeface="Arial"/>
                <a:cs typeface="Arial"/>
              </a:rPr>
              <a:t> </a:t>
            </a:r>
            <a:r>
              <a:rPr dirty="0" sz="1100" spc="-5">
                <a:latin typeface="Arial"/>
                <a:cs typeface="Arial"/>
              </a:rPr>
              <a:t>men.</a:t>
            </a:r>
            <a:r>
              <a:rPr dirty="0" sz="1100" spc="35">
                <a:latin typeface="Arial"/>
                <a:cs typeface="Arial"/>
              </a:rPr>
              <a:t> </a:t>
            </a:r>
            <a:r>
              <a:rPr dirty="0" sz="1100" spc="-5">
                <a:latin typeface="Arial"/>
                <a:cs typeface="Arial"/>
              </a:rPr>
              <a:t>As</a:t>
            </a:r>
            <a:r>
              <a:rPr dirty="0" sz="1100" spc="45">
                <a:latin typeface="Arial"/>
                <a:cs typeface="Arial"/>
              </a:rPr>
              <a:t> </a:t>
            </a:r>
            <a:r>
              <a:rPr dirty="0" sz="1100" spc="-5">
                <a:latin typeface="Arial"/>
                <a:cs typeface="Arial"/>
              </a:rPr>
              <a:t>a</a:t>
            </a:r>
            <a:r>
              <a:rPr dirty="0" sz="1100" spc="35">
                <a:latin typeface="Arial"/>
                <a:cs typeface="Arial"/>
              </a:rPr>
              <a:t> </a:t>
            </a:r>
            <a:r>
              <a:rPr dirty="0" sz="1100" spc="-5">
                <a:latin typeface="Arial"/>
                <a:cs typeface="Arial"/>
              </a:rPr>
              <a:t>consequence,</a:t>
            </a:r>
            <a:r>
              <a:rPr dirty="0" sz="1100" spc="40">
                <a:latin typeface="Arial"/>
                <a:cs typeface="Arial"/>
              </a:rPr>
              <a:t> </a:t>
            </a:r>
            <a:r>
              <a:rPr dirty="0" sz="1100" spc="-5">
                <a:latin typeface="Arial"/>
                <a:cs typeface="Arial"/>
              </a:rPr>
              <a:t>women</a:t>
            </a:r>
            <a:r>
              <a:rPr dirty="0" sz="1100" spc="30">
                <a:latin typeface="Arial"/>
                <a:cs typeface="Arial"/>
              </a:rPr>
              <a:t> </a:t>
            </a:r>
            <a:r>
              <a:rPr dirty="0" sz="1100" spc="-5">
                <a:latin typeface="Arial"/>
                <a:cs typeface="Arial"/>
              </a:rPr>
              <a:t>often</a:t>
            </a:r>
            <a:r>
              <a:rPr dirty="0" sz="1100" spc="35">
                <a:latin typeface="Arial"/>
                <a:cs typeface="Arial"/>
              </a:rPr>
              <a:t> </a:t>
            </a:r>
            <a:r>
              <a:rPr dirty="0" sz="1100" spc="-5">
                <a:latin typeface="Arial"/>
                <a:cs typeface="Arial"/>
              </a:rPr>
              <a:t>represent</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bulk</a:t>
            </a:r>
            <a:r>
              <a:rPr dirty="0" sz="1100" spc="30">
                <a:latin typeface="Arial"/>
                <a:cs typeface="Arial"/>
              </a:rPr>
              <a:t> </a:t>
            </a:r>
            <a:r>
              <a:rPr dirty="0" sz="1100" spc="-5">
                <a:latin typeface="Arial"/>
                <a:cs typeface="Arial"/>
              </a:rPr>
              <a:t>of</a:t>
            </a:r>
            <a:r>
              <a:rPr dirty="0" sz="1100" spc="35">
                <a:latin typeface="Arial"/>
                <a:cs typeface="Arial"/>
              </a:rPr>
              <a:t> </a:t>
            </a:r>
            <a:r>
              <a:rPr dirty="0" sz="1100" spc="-5">
                <a:latin typeface="Arial"/>
                <a:cs typeface="Arial"/>
              </a:rPr>
              <a:t>the</a:t>
            </a:r>
            <a:endParaRPr sz="1100">
              <a:latin typeface="Arial"/>
              <a:cs typeface="Arial"/>
            </a:endParaRPr>
          </a:p>
        </p:txBody>
      </p:sp>
      <p:sp>
        <p:nvSpPr>
          <p:cNvPr id="8" name="object 8"/>
          <p:cNvSpPr/>
          <p:nvPr/>
        </p:nvSpPr>
        <p:spPr>
          <a:xfrm>
            <a:off x="944117" y="2809494"/>
            <a:ext cx="5945124" cy="402945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163</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2961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informal-sector labor supply, working for low wages at unstable jobs with no employee or social  security benefits. The increase in the number of single female migrants has also contributed to  the rising proportion of urban households headed by women, which tend to be poorer,  experience tighter resource constraints, and retain relatively high fertility rates. The changing  composition of migration flows has important economic and demographic implications for </a:t>
            </a:r>
            <a:r>
              <a:rPr dirty="0" sz="1100">
                <a:latin typeface="Arial"/>
                <a:cs typeface="Arial"/>
              </a:rPr>
              <a:t>many  </a:t>
            </a:r>
            <a:r>
              <a:rPr dirty="0" sz="1100" spc="-5">
                <a:latin typeface="Arial"/>
                <a:cs typeface="Arial"/>
              </a:rPr>
              <a:t>urban areas of the developing</a:t>
            </a:r>
            <a:r>
              <a:rPr dirty="0" sz="1100" spc="20">
                <a:latin typeface="Arial"/>
                <a:cs typeface="Arial"/>
              </a:rPr>
              <a:t> </a:t>
            </a:r>
            <a:r>
              <a:rPr dirty="0" sz="1100" spc="-5">
                <a:latin typeface="Arial"/>
                <a:cs typeface="Arial"/>
              </a:rPr>
              <a:t>world.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MIGRATION AND</a:t>
            </a:r>
            <a:r>
              <a:rPr dirty="0" sz="1100" spc="-6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As noted earlier in the chapter, rural-urban migration has been dramatic, and urban  development plays an important role in economic development. Rates of rural-urban migration  in developing countries have exceeded rates of urban job creation and thus surpassed greatly  the absorption capacity of both industry and urban social</a:t>
            </a:r>
            <a:r>
              <a:rPr dirty="0" sz="1100" spc="50">
                <a:latin typeface="Arial"/>
                <a:cs typeface="Arial"/>
              </a:rPr>
              <a:t> </a:t>
            </a:r>
            <a:r>
              <a:rPr dirty="0" sz="1100" spc="-5">
                <a:latin typeface="Arial"/>
                <a:cs typeface="Arial"/>
              </a:rPr>
              <a:t>services.</a:t>
            </a:r>
            <a:endParaRPr sz="1100">
              <a:latin typeface="Arial"/>
              <a:cs typeface="Arial"/>
            </a:endParaRPr>
          </a:p>
          <a:p>
            <a:pPr algn="just" marL="12700">
              <a:lnSpc>
                <a:spcPts val="1265"/>
              </a:lnSpc>
            </a:pPr>
            <a:r>
              <a:rPr dirty="0" sz="1100" spc="-5">
                <a:latin typeface="Arial"/>
                <a:cs typeface="Arial"/>
              </a:rPr>
              <a:t>Migration</a:t>
            </a:r>
            <a:r>
              <a:rPr dirty="0" sz="1100" spc="229">
                <a:latin typeface="Arial"/>
                <a:cs typeface="Arial"/>
              </a:rPr>
              <a:t> </a:t>
            </a:r>
            <a:r>
              <a:rPr dirty="0" sz="1100" spc="-5">
                <a:latin typeface="Arial"/>
                <a:cs typeface="Arial"/>
              </a:rPr>
              <a:t>worsens</a:t>
            </a:r>
            <a:r>
              <a:rPr dirty="0" sz="1100" spc="235">
                <a:latin typeface="Arial"/>
                <a:cs typeface="Arial"/>
              </a:rPr>
              <a:t> </a:t>
            </a:r>
            <a:r>
              <a:rPr dirty="0" sz="1100" spc="-5">
                <a:latin typeface="Arial"/>
                <a:cs typeface="Arial"/>
              </a:rPr>
              <a:t>rural-urban</a:t>
            </a:r>
            <a:r>
              <a:rPr dirty="0" sz="1100" spc="235">
                <a:latin typeface="Arial"/>
                <a:cs typeface="Arial"/>
              </a:rPr>
              <a:t> </a:t>
            </a:r>
            <a:r>
              <a:rPr dirty="0" sz="1100" spc="-5">
                <a:latin typeface="Arial"/>
                <a:cs typeface="Arial"/>
              </a:rPr>
              <a:t>structural</a:t>
            </a:r>
            <a:r>
              <a:rPr dirty="0" sz="1100" spc="235">
                <a:latin typeface="Arial"/>
                <a:cs typeface="Arial"/>
              </a:rPr>
              <a:t> </a:t>
            </a:r>
            <a:r>
              <a:rPr dirty="0" sz="1100" spc="-5">
                <a:latin typeface="Arial"/>
                <a:cs typeface="Arial"/>
              </a:rPr>
              <a:t>imbalances</a:t>
            </a:r>
            <a:r>
              <a:rPr dirty="0" sz="1100" spc="229">
                <a:latin typeface="Arial"/>
                <a:cs typeface="Arial"/>
              </a:rPr>
              <a:t> </a:t>
            </a:r>
            <a:r>
              <a:rPr dirty="0" sz="1100" spc="-5">
                <a:latin typeface="Arial"/>
                <a:cs typeface="Arial"/>
              </a:rPr>
              <a:t>in</a:t>
            </a:r>
            <a:r>
              <a:rPr dirty="0" sz="1100" spc="235">
                <a:latin typeface="Arial"/>
                <a:cs typeface="Arial"/>
              </a:rPr>
              <a:t> </a:t>
            </a:r>
            <a:r>
              <a:rPr dirty="0" sz="1100" spc="-5">
                <a:latin typeface="Arial"/>
                <a:cs typeface="Arial"/>
              </a:rPr>
              <a:t>two</a:t>
            </a:r>
            <a:r>
              <a:rPr dirty="0" sz="1100" spc="229">
                <a:latin typeface="Arial"/>
                <a:cs typeface="Arial"/>
              </a:rPr>
              <a:t> </a:t>
            </a:r>
            <a:r>
              <a:rPr dirty="0" sz="1100" spc="-5">
                <a:latin typeface="Arial"/>
                <a:cs typeface="Arial"/>
              </a:rPr>
              <a:t>direct</a:t>
            </a:r>
            <a:r>
              <a:rPr dirty="0" sz="1100" spc="235">
                <a:latin typeface="Arial"/>
                <a:cs typeface="Arial"/>
              </a:rPr>
              <a:t> </a:t>
            </a:r>
            <a:r>
              <a:rPr dirty="0" sz="1100" spc="-5">
                <a:latin typeface="Arial"/>
                <a:cs typeface="Arial"/>
              </a:rPr>
              <a:t>ways.</a:t>
            </a:r>
            <a:r>
              <a:rPr dirty="0" sz="1100" spc="235">
                <a:latin typeface="Arial"/>
                <a:cs typeface="Arial"/>
              </a:rPr>
              <a:t> </a:t>
            </a:r>
            <a:r>
              <a:rPr dirty="0" sz="1100" spc="-5">
                <a:latin typeface="Arial"/>
                <a:cs typeface="Arial"/>
              </a:rPr>
              <a:t>First,</a:t>
            </a:r>
            <a:r>
              <a:rPr dirty="0" sz="1100" spc="229">
                <a:latin typeface="Arial"/>
                <a:cs typeface="Arial"/>
              </a:rPr>
              <a:t> </a:t>
            </a:r>
            <a:r>
              <a:rPr dirty="0" sz="1100" spc="-5">
                <a:latin typeface="Arial"/>
                <a:cs typeface="Arial"/>
              </a:rPr>
              <a:t>on</a:t>
            </a:r>
            <a:r>
              <a:rPr dirty="0" sz="1100" spc="229">
                <a:latin typeface="Arial"/>
                <a:cs typeface="Arial"/>
              </a:rPr>
              <a:t> </a:t>
            </a:r>
            <a:r>
              <a:rPr dirty="0" sz="1100" spc="-5">
                <a:latin typeface="Arial"/>
                <a:cs typeface="Arial"/>
              </a:rPr>
              <a:t>the</a:t>
            </a:r>
            <a:r>
              <a:rPr dirty="0" sz="1100" spc="235">
                <a:latin typeface="Arial"/>
                <a:cs typeface="Arial"/>
              </a:rPr>
              <a:t> </a:t>
            </a:r>
            <a:r>
              <a:rPr dirty="0" sz="1100" spc="-5">
                <a:latin typeface="Arial"/>
                <a:cs typeface="Arial"/>
              </a:rPr>
              <a:t>supply</a:t>
            </a:r>
            <a:endParaRPr sz="1100">
              <a:latin typeface="Arial"/>
              <a:cs typeface="Arial"/>
            </a:endParaRPr>
          </a:p>
        </p:txBody>
      </p:sp>
      <p:sp>
        <p:nvSpPr>
          <p:cNvPr id="7" name="object 7"/>
          <p:cNvSpPr txBox="1"/>
          <p:nvPr/>
        </p:nvSpPr>
        <p:spPr>
          <a:xfrm>
            <a:off x="901700" y="8456155"/>
            <a:ext cx="5969000" cy="6756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side, internal migration disproportionately increases the growth rate of urban job seekers  relative to urban population growth, which itself is at historically unprecedented levels because  of the high proportion of well-educated young people in the migrant system. Their presence  tends</a:t>
            </a:r>
            <a:r>
              <a:rPr dirty="0" sz="1100" spc="140">
                <a:latin typeface="Arial"/>
                <a:cs typeface="Arial"/>
              </a:rPr>
              <a:t> </a:t>
            </a:r>
            <a:r>
              <a:rPr dirty="0" sz="1100" spc="-5">
                <a:latin typeface="Arial"/>
                <a:cs typeface="Arial"/>
              </a:rPr>
              <a:t>to</a:t>
            </a:r>
            <a:r>
              <a:rPr dirty="0" sz="1100" spc="140">
                <a:latin typeface="Arial"/>
                <a:cs typeface="Arial"/>
              </a:rPr>
              <a:t> </a:t>
            </a:r>
            <a:r>
              <a:rPr dirty="0" sz="1100" spc="-5">
                <a:latin typeface="Arial"/>
                <a:cs typeface="Arial"/>
              </a:rPr>
              <a:t>swell</a:t>
            </a:r>
            <a:r>
              <a:rPr dirty="0" sz="1100" spc="140">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urban</a:t>
            </a:r>
            <a:r>
              <a:rPr dirty="0" sz="1100" spc="140">
                <a:latin typeface="Arial"/>
                <a:cs typeface="Arial"/>
              </a:rPr>
              <a:t> </a:t>
            </a:r>
            <a:r>
              <a:rPr dirty="0" sz="1100" spc="-5">
                <a:latin typeface="Arial"/>
                <a:cs typeface="Arial"/>
              </a:rPr>
              <a:t>labor</a:t>
            </a:r>
            <a:r>
              <a:rPr dirty="0" sz="1100" spc="140">
                <a:latin typeface="Arial"/>
                <a:cs typeface="Arial"/>
              </a:rPr>
              <a:t> </a:t>
            </a:r>
            <a:r>
              <a:rPr dirty="0" sz="1100" spc="-5">
                <a:latin typeface="Arial"/>
                <a:cs typeface="Arial"/>
              </a:rPr>
              <a:t>supply</a:t>
            </a:r>
            <a:r>
              <a:rPr dirty="0" sz="1100" spc="145">
                <a:latin typeface="Arial"/>
                <a:cs typeface="Arial"/>
              </a:rPr>
              <a:t> </a:t>
            </a:r>
            <a:r>
              <a:rPr dirty="0" sz="1100" spc="-5">
                <a:latin typeface="Arial"/>
                <a:cs typeface="Arial"/>
              </a:rPr>
              <a:t>while</a:t>
            </a:r>
            <a:r>
              <a:rPr dirty="0" sz="1100" spc="140">
                <a:latin typeface="Arial"/>
                <a:cs typeface="Arial"/>
              </a:rPr>
              <a:t> </a:t>
            </a:r>
            <a:r>
              <a:rPr dirty="0" sz="1100" spc="-5">
                <a:latin typeface="Arial"/>
                <a:cs typeface="Arial"/>
              </a:rPr>
              <a:t>depleting</a:t>
            </a:r>
            <a:r>
              <a:rPr dirty="0" sz="1100" spc="140">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rural</a:t>
            </a:r>
            <a:r>
              <a:rPr dirty="0" sz="1100" spc="140">
                <a:latin typeface="Arial"/>
                <a:cs typeface="Arial"/>
              </a:rPr>
              <a:t> </a:t>
            </a:r>
            <a:r>
              <a:rPr dirty="0" sz="1100" spc="-5">
                <a:latin typeface="Arial"/>
                <a:cs typeface="Arial"/>
              </a:rPr>
              <a:t>countryside</a:t>
            </a:r>
            <a:r>
              <a:rPr dirty="0" sz="1100" spc="140">
                <a:latin typeface="Arial"/>
                <a:cs typeface="Arial"/>
              </a:rPr>
              <a:t> </a:t>
            </a:r>
            <a:r>
              <a:rPr dirty="0" sz="1100" spc="-5">
                <a:latin typeface="Arial"/>
                <a:cs typeface="Arial"/>
              </a:rPr>
              <a:t>of</a:t>
            </a:r>
            <a:r>
              <a:rPr dirty="0" sz="1100" spc="145">
                <a:latin typeface="Arial"/>
                <a:cs typeface="Arial"/>
              </a:rPr>
              <a:t> </a:t>
            </a:r>
            <a:r>
              <a:rPr dirty="0" sz="1100" spc="-5">
                <a:latin typeface="Arial"/>
                <a:cs typeface="Arial"/>
              </a:rPr>
              <a:t>valuable</a:t>
            </a:r>
            <a:r>
              <a:rPr dirty="0" sz="1100" spc="140">
                <a:latin typeface="Arial"/>
                <a:cs typeface="Arial"/>
              </a:rPr>
              <a:t> </a:t>
            </a:r>
            <a:r>
              <a:rPr dirty="0" sz="1100" spc="-5">
                <a:latin typeface="Arial"/>
                <a:cs typeface="Arial"/>
              </a:rPr>
              <a:t>human</a:t>
            </a:r>
            <a:endParaRPr sz="1100">
              <a:latin typeface="Arial"/>
              <a:cs typeface="Arial"/>
            </a:endParaRPr>
          </a:p>
        </p:txBody>
      </p:sp>
      <p:sp>
        <p:nvSpPr>
          <p:cNvPr id="8" name="object 8"/>
          <p:cNvSpPr/>
          <p:nvPr/>
        </p:nvSpPr>
        <p:spPr>
          <a:xfrm>
            <a:off x="1276350" y="3202685"/>
            <a:ext cx="5200650" cy="5143499"/>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164</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356616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capital. Second, on the demand side, urban job creation is generally more difficult and costly to  accomplish than rural job creation because of the need for substantial complementary resource  inputs for most jobs in the industrial sector. Moreover, the pressures of rising urban wages and  compulsory employee fringe benefits in combination with the unavailability of appropriate, more  labor-intensive production technologies means that a rising share of modern-sector output  growth is accounted for by increases in labor productivity. Together this rapid supply increase  and lagging demand growth tend to convert a short-run problem of resource imbalances into a  long-run situation of chronic and rising urban surplus</a:t>
            </a:r>
            <a:r>
              <a:rPr dirty="0" sz="1100" spc="45">
                <a:latin typeface="Arial"/>
                <a:cs typeface="Arial"/>
              </a:rPr>
              <a:t> </a:t>
            </a:r>
            <a:r>
              <a:rPr dirty="0" sz="1100" spc="-5">
                <a:latin typeface="Arial"/>
                <a:cs typeface="Arial"/>
              </a:rPr>
              <a:t>labor.</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Migration patterns are complex. The most important type of migration from the standpoint of  long-run development </a:t>
            </a:r>
            <a:r>
              <a:rPr dirty="0" sz="1100">
                <a:latin typeface="Arial"/>
                <a:cs typeface="Arial"/>
              </a:rPr>
              <a:t>is </a:t>
            </a:r>
            <a:r>
              <a:rPr dirty="0" sz="1100" spc="-5">
                <a:latin typeface="Arial"/>
                <a:cs typeface="Arial"/>
              </a:rPr>
              <a:t>rural-urban migration, but a great deal of rural-rural, urban-urban, and  even urban-rural migration also takes place. Rural-urban migration is most important because  the population share of cities is growing, despite the fact that fertility is much lower in urban  areas, and the difference is accounted for by rural-urban migration. It is also important because  of the potential development benefits of economic activity of cities, due to agglomeration  economies and other factors. However, urban-rural migration is important to understand  because it usually occurs when hard times in cities coincide with increases in output prices from  the country’s cash crops, as occurred in Ghana not long ago. Thus the overall picture is one of a  remarkable amount of “churning,” or continuous movements of people within developing  countries, especially over short distances. These </a:t>
            </a:r>
            <a:r>
              <a:rPr dirty="0" sz="1100">
                <a:latin typeface="Arial"/>
                <a:cs typeface="Arial"/>
              </a:rPr>
              <a:t>movements </a:t>
            </a:r>
            <a:r>
              <a:rPr dirty="0" sz="1100" spc="-5">
                <a:latin typeface="Arial"/>
                <a:cs typeface="Arial"/>
              </a:rPr>
              <a:t>contradict the popular image of  stasis in traditional societies. The composition of internal migration </a:t>
            </a:r>
            <a:r>
              <a:rPr dirty="0" sz="1100">
                <a:latin typeface="Arial"/>
                <a:cs typeface="Arial"/>
              </a:rPr>
              <a:t>for </a:t>
            </a:r>
            <a:r>
              <a:rPr dirty="0" sz="1100" spc="-5">
                <a:latin typeface="Arial"/>
                <a:cs typeface="Arial"/>
              </a:rPr>
              <a:t>several countries is  shown in Figure</a:t>
            </a:r>
            <a:r>
              <a:rPr dirty="0" sz="1100" spc="5">
                <a:latin typeface="Arial"/>
                <a:cs typeface="Arial"/>
              </a:rPr>
              <a:t> </a:t>
            </a:r>
            <a:r>
              <a:rPr dirty="0" sz="1100" spc="-5">
                <a:latin typeface="Arial"/>
                <a:cs typeface="Arial"/>
              </a:rPr>
              <a:t>7.10.</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165</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99147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24</a:t>
            </a:r>
            <a:endParaRPr sz="1100">
              <a:latin typeface="Arial"/>
              <a:cs typeface="Arial"/>
            </a:endParaRPr>
          </a:p>
          <a:p>
            <a:pPr marL="12700" marR="17145" indent="10160">
              <a:lnSpc>
                <a:spcPct val="200500"/>
              </a:lnSpc>
              <a:spcBef>
                <a:spcPts val="5"/>
              </a:spcBef>
            </a:pPr>
            <a:r>
              <a:rPr dirty="0" sz="1100" spc="-5" b="1">
                <a:latin typeface="Arial"/>
                <a:cs typeface="Arial"/>
              </a:rPr>
              <a:t>URBANIZATION AND RURAL URBAN MIGRATION: THEORY AND </a:t>
            </a:r>
            <a:r>
              <a:rPr dirty="0" sz="1100" spc="-10" b="1">
                <a:latin typeface="Arial"/>
                <a:cs typeface="Arial"/>
              </a:rPr>
              <a:t>POLICY </a:t>
            </a:r>
            <a:r>
              <a:rPr dirty="0" sz="1100" spc="-5" b="1">
                <a:latin typeface="Arial"/>
                <a:cs typeface="Arial"/>
              </a:rPr>
              <a:t>(CONTINUED2)  TOWARD </a:t>
            </a:r>
            <a:r>
              <a:rPr dirty="0" sz="1100" b="1">
                <a:latin typeface="Arial"/>
                <a:cs typeface="Arial"/>
              </a:rPr>
              <a:t>AN </a:t>
            </a:r>
            <a:r>
              <a:rPr dirty="0" sz="1100" spc="-5" b="1">
                <a:latin typeface="Arial"/>
                <a:cs typeface="Arial"/>
              </a:rPr>
              <a:t>ECONOMIC THEORY OF RURAL-URBAN</a:t>
            </a:r>
            <a:r>
              <a:rPr dirty="0" sz="1100" spc="15" b="1">
                <a:latin typeface="Arial"/>
                <a:cs typeface="Arial"/>
              </a:rPr>
              <a:t> </a:t>
            </a:r>
            <a:r>
              <a:rPr dirty="0" sz="1100" spc="-5" b="1">
                <a:latin typeface="Arial"/>
                <a:cs typeface="Arial"/>
              </a:rPr>
              <a:t>MIGRATION</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economic development of Western Europe and the United States was closely associated  with the movement of </a:t>
            </a:r>
            <a:r>
              <a:rPr dirty="0" sz="1100">
                <a:latin typeface="Arial"/>
                <a:cs typeface="Arial"/>
              </a:rPr>
              <a:t>labor </a:t>
            </a:r>
            <a:r>
              <a:rPr dirty="0" sz="1100" spc="-5">
                <a:latin typeface="Arial"/>
                <a:cs typeface="Arial"/>
              </a:rPr>
              <a:t>from rural to urban areas. For the most part, with a rural sector  dominated by agricultural activities and an urban sector focusing on industrialization, overall  economic development in these countries was characterized by the gradual reallocation of labor  out of agriculture and into industry through rural-urban migration, both internal and international.  Urbanization and industrialization were in essence synonymous. This historical model served as  a blueprint for structural change in developing countries, as evidenced, for example, by the  original Lewis theory of labor transfer (see Chapter 3). But the overwhelming evidence of the  past several decades, when developing nations witnessed a massive migration of their rural  populations into urban areas despite rising levels of urban unemployment and  underemployment, lessens the validity of the Lewis two-sector model of development. An  explanation of the phenomenon, as well as policies to address the resulting problems, must be  sought elsewhere. One theory to explain the apparently paradoxical relationship of accelerated  rural-urban migration in the context of rising urban unemployment has come to be known as the  Todaro migration model and in its equilibrium form as the Harris-Todaro</a:t>
            </a:r>
            <a:r>
              <a:rPr dirty="0" sz="1100" spc="80">
                <a:latin typeface="Arial"/>
                <a:cs typeface="Arial"/>
              </a:rPr>
              <a:t> </a:t>
            </a:r>
            <a:r>
              <a:rPr dirty="0" sz="1100" spc="-5">
                <a:latin typeface="Arial"/>
                <a:cs typeface="Arial"/>
              </a:rPr>
              <a:t>model.</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TODARO MIGRATION</a:t>
            </a:r>
            <a:r>
              <a:rPr dirty="0" sz="1100" spc="10" b="1">
                <a:latin typeface="Arial"/>
                <a:cs typeface="Arial"/>
              </a:rPr>
              <a:t> </a:t>
            </a:r>
            <a:r>
              <a:rPr dirty="0" sz="1100" spc="-10" b="1">
                <a:latin typeface="Arial"/>
                <a:cs typeface="Arial"/>
              </a:rPr>
              <a:t>MODEL</a:t>
            </a:r>
            <a:endParaRPr sz="1100">
              <a:latin typeface="Arial"/>
              <a:cs typeface="Arial"/>
            </a:endParaRPr>
          </a:p>
          <a:p>
            <a:pPr>
              <a:lnSpc>
                <a:spcPct val="100000"/>
              </a:lnSpc>
              <a:spcBef>
                <a:spcPts val="20"/>
              </a:spcBef>
            </a:pPr>
            <a:endParaRPr sz="1200">
              <a:latin typeface="Arial"/>
              <a:cs typeface="Arial"/>
            </a:endParaRPr>
          </a:p>
          <a:p>
            <a:pPr algn="just" marL="12700" marR="7620">
              <a:lnSpc>
                <a:spcPts val="1270"/>
              </a:lnSpc>
              <a:spcBef>
                <a:spcPts val="5"/>
              </a:spcBef>
            </a:pPr>
            <a:r>
              <a:rPr dirty="0" sz="1100" spc="-5">
                <a:latin typeface="Arial"/>
                <a:cs typeface="Arial"/>
              </a:rPr>
              <a:t>A theory </a:t>
            </a:r>
            <a:r>
              <a:rPr dirty="0" sz="1100">
                <a:latin typeface="Arial"/>
                <a:cs typeface="Arial"/>
              </a:rPr>
              <a:t>that </a:t>
            </a:r>
            <a:r>
              <a:rPr dirty="0" sz="1100" spc="-5">
                <a:latin typeface="Arial"/>
                <a:cs typeface="Arial"/>
              </a:rPr>
              <a:t>explains rural-urban migration as an economically rational process despite high  urban unemployment. Migrants calculate (present value of) urban expected income (or </a:t>
            </a:r>
            <a:r>
              <a:rPr dirty="0" sz="1100">
                <a:latin typeface="Arial"/>
                <a:cs typeface="Arial"/>
              </a:rPr>
              <a:t>its  </a:t>
            </a:r>
            <a:r>
              <a:rPr dirty="0" sz="1100" spc="-5">
                <a:latin typeface="Arial"/>
                <a:cs typeface="Arial"/>
              </a:rPr>
              <a:t>equivalent) and move if this exceeds average rural</a:t>
            </a:r>
            <a:r>
              <a:rPr dirty="0" sz="1100" spc="50">
                <a:latin typeface="Arial"/>
                <a:cs typeface="Arial"/>
              </a:rPr>
              <a:t> </a:t>
            </a:r>
            <a:r>
              <a:rPr dirty="0" sz="1100" spc="-5">
                <a:latin typeface="Arial"/>
                <a:cs typeface="Arial"/>
              </a:rPr>
              <a:t>income.</a:t>
            </a:r>
            <a:endParaRPr sz="1100">
              <a:latin typeface="Arial"/>
              <a:cs typeface="Arial"/>
            </a:endParaRPr>
          </a:p>
          <a:p>
            <a:pPr>
              <a:lnSpc>
                <a:spcPct val="100000"/>
              </a:lnSpc>
              <a:spcBef>
                <a:spcPts val="15"/>
              </a:spcBef>
            </a:pPr>
            <a:endParaRPr sz="1000">
              <a:latin typeface="Arial"/>
              <a:cs typeface="Arial"/>
            </a:endParaRPr>
          </a:p>
          <a:p>
            <a:pPr marL="12700">
              <a:lnSpc>
                <a:spcPct val="100000"/>
              </a:lnSpc>
              <a:spcBef>
                <a:spcPts val="5"/>
              </a:spcBef>
            </a:pPr>
            <a:r>
              <a:rPr dirty="0" sz="1100" spc="-5" b="1">
                <a:latin typeface="Arial"/>
                <a:cs typeface="Arial"/>
              </a:rPr>
              <a:t>HARRIS-TODARO MODEL</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An equilibrium version of the Todaro migration model that predicts that expected incomes will be  equated across rural and urban sectors when taking into account informal sector activities and  outright unemployment.</a:t>
            </a:r>
            <a:endParaRPr sz="1100">
              <a:latin typeface="Arial"/>
              <a:cs typeface="Arial"/>
            </a:endParaRPr>
          </a:p>
          <a:p>
            <a:pPr>
              <a:lnSpc>
                <a:spcPct val="100000"/>
              </a:lnSpc>
              <a:spcBef>
                <a:spcPts val="25"/>
              </a:spcBef>
            </a:pPr>
            <a:endParaRPr sz="1000">
              <a:latin typeface="Arial"/>
              <a:cs typeface="Arial"/>
            </a:endParaRPr>
          </a:p>
          <a:p>
            <a:pPr marL="12700">
              <a:lnSpc>
                <a:spcPct val="100000"/>
              </a:lnSpc>
              <a:spcBef>
                <a:spcPts val="5"/>
              </a:spcBef>
            </a:pPr>
            <a:r>
              <a:rPr dirty="0" sz="1100" spc="-5" b="1">
                <a:latin typeface="Arial"/>
                <a:cs typeface="Arial"/>
              </a:rPr>
              <a:t>A VERBAL DESCRIPTION OF THE TODARO</a:t>
            </a:r>
            <a:r>
              <a:rPr dirty="0" sz="1100" spc="40" b="1">
                <a:latin typeface="Arial"/>
                <a:cs typeface="Arial"/>
              </a:rPr>
              <a:t> </a:t>
            </a:r>
            <a:r>
              <a:rPr dirty="0" sz="1100" spc="-10" b="1">
                <a:latin typeface="Arial"/>
                <a:cs typeface="Arial"/>
              </a:rPr>
              <a:t>MODEL</a:t>
            </a:r>
            <a:endParaRPr sz="1100">
              <a:latin typeface="Arial"/>
              <a:cs typeface="Arial"/>
            </a:endParaRPr>
          </a:p>
          <a:p>
            <a:pPr>
              <a:lnSpc>
                <a:spcPct val="100000"/>
              </a:lnSpc>
              <a:spcBef>
                <a:spcPts val="45"/>
              </a:spcBef>
            </a:pPr>
            <a:endParaRPr sz="1150">
              <a:latin typeface="Arial"/>
              <a:cs typeface="Arial"/>
            </a:endParaRPr>
          </a:p>
          <a:p>
            <a:pPr algn="just" marL="12700" marR="6350">
              <a:lnSpc>
                <a:spcPct val="95800"/>
              </a:lnSpc>
            </a:pPr>
            <a:r>
              <a:rPr dirty="0" sz="1100" spc="-5">
                <a:latin typeface="Arial"/>
                <a:cs typeface="Arial"/>
              </a:rPr>
              <a:t>Starting from the assumption that migration is primarily an economic phenomenon, which for the  individual migrant can be a quite rational decision despite the existence of urban  unemployment, the Todaro model postulates that migration proceeds in response to urban-rural  differences in expected income rather than actual earnings. The fundamental premise is that  migrants consider the various labor market opportunities available to them in the rural and urban  sectors and choose the one that maximizes their expected gains from migration. A schematic  framework showing how the varying factors affecting the migration decision interact is given in  Figure 7.11.</a:t>
            </a:r>
            <a:endParaRPr sz="1100">
              <a:latin typeface="Arial"/>
              <a:cs typeface="Arial"/>
            </a:endParaRPr>
          </a:p>
          <a:p>
            <a:pPr>
              <a:lnSpc>
                <a:spcPct val="100000"/>
              </a:lnSpc>
            </a:pPr>
            <a:endParaRPr sz="1100">
              <a:latin typeface="Arial"/>
              <a:cs typeface="Arial"/>
            </a:endParaRPr>
          </a:p>
          <a:p>
            <a:pPr algn="just" marL="12700" marR="6350">
              <a:lnSpc>
                <a:spcPct val="95800"/>
              </a:lnSpc>
              <a:spcBef>
                <a:spcPts val="5"/>
              </a:spcBef>
            </a:pPr>
            <a:r>
              <a:rPr dirty="0" sz="1100" spc="-5">
                <a:latin typeface="Arial"/>
                <a:cs typeface="Arial"/>
              </a:rPr>
              <a:t>In essence, the theory assumes that members of the labor force, both actual and potential,  compare their expected incomes for a given time horizon in the urban sector (the difference  between returns and costs of migration) with prevailing average rural incomes and migrate if the  former exceeds the</a:t>
            </a:r>
            <a:r>
              <a:rPr dirty="0" sz="1100" spc="5">
                <a:latin typeface="Arial"/>
                <a:cs typeface="Arial"/>
              </a:rPr>
              <a:t> </a:t>
            </a:r>
            <a:r>
              <a:rPr dirty="0" sz="1100" spc="-5">
                <a:latin typeface="Arial"/>
                <a:cs typeface="Arial"/>
              </a:rPr>
              <a:t>latter.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166</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6426200"/>
            <a:ext cx="5970270" cy="22809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Consider the following illustration. Suppose that the average unskilled or semiskilled rural  worker has a choice between being a farm laborer (or working his own land) for an annual  average real income of, say, 50 units or migrating to the city, where a worker with his skill or  educational background can obtain wage employment yielding an annual real income of </a:t>
            </a:r>
            <a:r>
              <a:rPr dirty="0" sz="1100">
                <a:latin typeface="Arial"/>
                <a:cs typeface="Arial"/>
              </a:rPr>
              <a:t>100  </a:t>
            </a:r>
            <a:r>
              <a:rPr dirty="0" sz="1100" spc="-5">
                <a:latin typeface="Arial"/>
                <a:cs typeface="Arial"/>
              </a:rPr>
              <a:t>units. The more commonly used economic models of migration, which place exclusive emphasis  on the income differential factor as the determinant of the decision to migrate, </a:t>
            </a:r>
            <a:r>
              <a:rPr dirty="0" sz="1100">
                <a:latin typeface="Arial"/>
                <a:cs typeface="Arial"/>
              </a:rPr>
              <a:t>would </a:t>
            </a:r>
            <a:r>
              <a:rPr dirty="0" sz="1100" spc="-5">
                <a:latin typeface="Arial"/>
                <a:cs typeface="Arial"/>
              </a:rPr>
              <a:t>indicate a  clear choice in this situation. The worker should seek the higher-paying urban job. It is important  to recognize, however, that these migration models were developed largely in </a:t>
            </a:r>
            <a:r>
              <a:rPr dirty="0" sz="1100">
                <a:latin typeface="Arial"/>
                <a:cs typeface="Arial"/>
              </a:rPr>
              <a:t>the </a:t>
            </a:r>
            <a:r>
              <a:rPr dirty="0" sz="1100" spc="-5">
                <a:latin typeface="Arial"/>
                <a:cs typeface="Arial"/>
              </a:rPr>
              <a:t>context of  advanced industrial economies and hence implicitly assume the existence of full or near-full  employment. In a full-employment environment, the decision to migrate can be based solely on  the desire to secure the highest-paid job wherever it becomes available. Simple economic  theory would then indicate that such migration should lead to a reduction in wage differentials  through the interaction of the forces of supply and demand, in areas of both emigration and  immigration.</a:t>
            </a:r>
            <a:endParaRPr sz="1100">
              <a:latin typeface="Arial"/>
              <a:cs typeface="Arial"/>
            </a:endParaRPr>
          </a:p>
        </p:txBody>
      </p:sp>
      <p:sp>
        <p:nvSpPr>
          <p:cNvPr id="7" name="object 7"/>
          <p:cNvSpPr/>
          <p:nvPr/>
        </p:nvSpPr>
        <p:spPr>
          <a:xfrm>
            <a:off x="885444" y="842010"/>
            <a:ext cx="5924550" cy="5597938"/>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167</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810" cy="7421880"/>
          </a:xfrm>
          <a:prstGeom prst="rect">
            <a:avLst/>
          </a:prstGeom>
        </p:spPr>
        <p:txBody>
          <a:bodyPr wrap="square" lIns="0" tIns="19050" rIns="0" bIns="0" rtlCol="0" vert="horz">
            <a:spAutoFit/>
          </a:bodyPr>
          <a:lstStyle/>
          <a:p>
            <a:pPr algn="just" marL="12700" marR="7620">
              <a:lnSpc>
                <a:spcPct val="95800"/>
              </a:lnSpc>
              <a:spcBef>
                <a:spcPts val="150"/>
              </a:spcBef>
            </a:pPr>
            <a:r>
              <a:rPr dirty="0" sz="1100" spc="-5">
                <a:latin typeface="Arial"/>
                <a:cs typeface="Arial"/>
              </a:rPr>
              <a:t>Unfortunately, such an analysis is not realistic in the context of the institutional and economic  framework of most developing nations. First, these countries are beset by a chronic  unemployment problem, which means that a typical migrant cannot expect to secure a high-  paying urban job immediately. In fact, it is </a:t>
            </a:r>
            <a:r>
              <a:rPr dirty="0" sz="1100">
                <a:latin typeface="Arial"/>
                <a:cs typeface="Arial"/>
              </a:rPr>
              <a:t>much </a:t>
            </a:r>
            <a:r>
              <a:rPr dirty="0" sz="1100" spc="-5">
                <a:latin typeface="Arial"/>
                <a:cs typeface="Arial"/>
              </a:rPr>
              <a:t>more likely that on entering the urban labor  market, many uneducated, unskilled migrants will </a:t>
            </a:r>
            <a:r>
              <a:rPr dirty="0" sz="1100">
                <a:latin typeface="Arial"/>
                <a:cs typeface="Arial"/>
              </a:rPr>
              <a:t>either </a:t>
            </a:r>
            <a:r>
              <a:rPr dirty="0" sz="1100" spc="-5">
                <a:latin typeface="Arial"/>
                <a:cs typeface="Arial"/>
              </a:rPr>
              <a:t>become totally unemployed or will seek  casual and part-time employment as vendors, hawkers, repairmen, </a:t>
            </a:r>
            <a:r>
              <a:rPr dirty="0" sz="1100">
                <a:latin typeface="Arial"/>
                <a:cs typeface="Arial"/>
              </a:rPr>
              <a:t>and </a:t>
            </a:r>
            <a:r>
              <a:rPr dirty="0" sz="1100" spc="-5">
                <a:latin typeface="Arial"/>
                <a:cs typeface="Arial"/>
              </a:rPr>
              <a:t>itinerant day laborers in  the urban traditional or informal sector, where ease of entry, small scale of operation, and  relatively competitive price and wage determination prevail. In the case of migrants with  considerable human capital in the form of a secondary or university certificate, opportunities are  much better, and </a:t>
            </a:r>
            <a:r>
              <a:rPr dirty="0" sz="1100">
                <a:latin typeface="Arial"/>
                <a:cs typeface="Arial"/>
              </a:rPr>
              <a:t>many </a:t>
            </a:r>
            <a:r>
              <a:rPr dirty="0" sz="1100" spc="-5">
                <a:latin typeface="Arial"/>
                <a:cs typeface="Arial"/>
              </a:rPr>
              <a:t>will find formal-sector jobs relatively quickly. But they constitute only a  small proportion of the total migration</a:t>
            </a:r>
            <a:r>
              <a:rPr dirty="0" sz="1100" spc="25">
                <a:latin typeface="Arial"/>
                <a:cs typeface="Arial"/>
              </a:rPr>
              <a:t> </a:t>
            </a:r>
            <a:r>
              <a:rPr dirty="0" sz="1100" spc="-5">
                <a:latin typeface="Arial"/>
                <a:cs typeface="Arial"/>
              </a:rPr>
              <a:t>stream.</a:t>
            </a:r>
            <a:endParaRPr sz="1100">
              <a:latin typeface="Arial"/>
              <a:cs typeface="Arial"/>
            </a:endParaRPr>
          </a:p>
          <a:p>
            <a:pPr>
              <a:lnSpc>
                <a:spcPct val="100000"/>
              </a:lnSpc>
              <a:spcBef>
                <a:spcPts val="5"/>
              </a:spcBef>
            </a:pPr>
            <a:endParaRPr sz="1100">
              <a:latin typeface="Arial"/>
              <a:cs typeface="Arial"/>
            </a:endParaRPr>
          </a:p>
          <a:p>
            <a:pPr algn="just" marL="12700" marR="6985">
              <a:lnSpc>
                <a:spcPct val="95800"/>
              </a:lnSpc>
            </a:pPr>
            <a:r>
              <a:rPr dirty="0" sz="1100" spc="-5">
                <a:latin typeface="Arial"/>
                <a:cs typeface="Arial"/>
              </a:rPr>
              <a:t>Consequently, in deciding to migrate, the individual must balance the probabilities and risks of  being unemployed or underemployed for a considerable period of time against the positive  urban rural real income differential. The fact that a typical migrant who gains a modern- sector  job can expect to earn twice the annual real income in an urban area than in a rural environment  may be of little consequence if the actual probability of his securing the higher-paying job within,  say, a one-year period is one chance in five. Thus, the actual probability of his being successful  in securing the higher-paying urban job is 20%, and therefore his expected urban income for the  one-year period is in fact 20 units and not the 100 units that an urban worker in a full-  employment environment would expect to receive. So </a:t>
            </a:r>
            <a:r>
              <a:rPr dirty="0" sz="1100">
                <a:latin typeface="Arial"/>
                <a:cs typeface="Arial"/>
              </a:rPr>
              <a:t>with </a:t>
            </a:r>
            <a:r>
              <a:rPr dirty="0" sz="1100" spc="-5">
                <a:latin typeface="Arial"/>
                <a:cs typeface="Arial"/>
              </a:rPr>
              <a:t>a one-period time horizon and a  probability of success of 20%, it would be irrational for this migrant to seek an urban job, even  though the differential between urban and rural earnings capacity is 100%. However, if the  probability of success were 60% and the expected urban income therefore 60 units, it would be  entirely rational for our migrant with his one-period time horizon to try his luck in the urban area,  even though urban unemployment may be extremely</a:t>
            </a:r>
            <a:r>
              <a:rPr dirty="0" sz="1100" spc="40">
                <a:latin typeface="Arial"/>
                <a:cs typeface="Arial"/>
              </a:rPr>
              <a:t> </a:t>
            </a:r>
            <a:r>
              <a:rPr dirty="0" sz="1100" spc="-5">
                <a:latin typeface="Arial"/>
                <a:cs typeface="Arial"/>
              </a:rPr>
              <a:t>high.</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If we now approach the situation by assuming a considerably longer time horizon—a more  realistic assumption, especially in view of the fact that the vast majority of migrants are between  the ages of 15 and 24—the decision to migrate should be represented on the basis of a longer-  term, more permanent income calculation. If the migrant anticipates a relatively low probability  of finding regular wage employment in the initial period but expects this probability to increase  over time as he is able to broaden his urban contacts, it would still be rational for him to migrate,  even though expected urban income during the initial period or periods might be lower than  expected rural income. As long as the present value of the net stream of expected urban  income over the migrant’s planning horizon exceeds that of the expected rural income, the  decision to migrate is justifiable. This, in essence, is the process depicted in Figure</a:t>
            </a:r>
            <a:r>
              <a:rPr dirty="0" sz="1100" spc="150">
                <a:latin typeface="Arial"/>
                <a:cs typeface="Arial"/>
              </a:rPr>
              <a:t> </a:t>
            </a:r>
            <a:r>
              <a:rPr dirty="0" sz="1100" spc="-5">
                <a:latin typeface="Arial"/>
                <a:cs typeface="Arial"/>
              </a:rPr>
              <a:t>7.11.</a:t>
            </a:r>
            <a:endParaRPr sz="1100">
              <a:latin typeface="Arial"/>
              <a:cs typeface="Arial"/>
            </a:endParaRPr>
          </a:p>
          <a:p>
            <a:pPr>
              <a:lnSpc>
                <a:spcPct val="100000"/>
              </a:lnSpc>
              <a:spcBef>
                <a:spcPts val="5"/>
              </a:spcBef>
            </a:pPr>
            <a:endParaRPr sz="1100">
              <a:latin typeface="Arial"/>
              <a:cs typeface="Arial"/>
            </a:endParaRPr>
          </a:p>
          <a:p>
            <a:pPr algn="just" marL="12700" marR="8255">
              <a:lnSpc>
                <a:spcPct val="95800"/>
              </a:lnSpc>
            </a:pPr>
            <a:r>
              <a:rPr dirty="0" sz="1100" spc="-5">
                <a:latin typeface="Arial"/>
                <a:cs typeface="Arial"/>
              </a:rPr>
              <a:t>Rather than equalizing urban and rural wage rates, as would be the case in a competitive  model, we see that rural-urban migration in our model equates rural and urban expected  incomes. For example, if average rural income is 60 and urban income is 120, a 50% </a:t>
            </a:r>
            <a:r>
              <a:rPr dirty="0" sz="1100">
                <a:latin typeface="Arial"/>
                <a:cs typeface="Arial"/>
              </a:rPr>
              <a:t>urban  </a:t>
            </a:r>
            <a:r>
              <a:rPr dirty="0" sz="1100" spc="-5">
                <a:latin typeface="Arial"/>
                <a:cs typeface="Arial"/>
              </a:rPr>
              <a:t>unemployment rate would be necessary before further migration would no longer be profitable.  Because expected incomes are defined in terms of both wages and employment probabilities, it  is possible to have continued migration despite the existence of sizable rates of urban  unemployment. In our example, migration would continue even if the urban unemployment rate  were 30% to</a:t>
            </a:r>
            <a:r>
              <a:rPr dirty="0" sz="1100" spc="5">
                <a:latin typeface="Arial"/>
                <a:cs typeface="Arial"/>
              </a:rPr>
              <a:t> </a:t>
            </a:r>
            <a:r>
              <a:rPr dirty="0" sz="1100" spc="-5">
                <a:latin typeface="Arial"/>
                <a:cs typeface="Arial"/>
              </a:rPr>
              <a:t>40%.</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168</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63600" y="892556"/>
            <a:ext cx="6045200" cy="1988185"/>
          </a:xfrm>
          <a:prstGeom prst="rect">
            <a:avLst/>
          </a:prstGeom>
        </p:spPr>
        <p:txBody>
          <a:bodyPr wrap="square" lIns="0" tIns="12065" rIns="0" bIns="0" rtlCol="0" vert="horz">
            <a:spAutoFit/>
          </a:bodyPr>
          <a:lstStyle/>
          <a:p>
            <a:pPr marL="50800">
              <a:lnSpc>
                <a:spcPct val="100000"/>
              </a:lnSpc>
              <a:spcBef>
                <a:spcPts val="95"/>
              </a:spcBef>
            </a:pPr>
            <a:r>
              <a:rPr dirty="0" sz="1100" spc="-5" b="1">
                <a:latin typeface="Arial"/>
                <a:cs typeface="Arial"/>
              </a:rPr>
              <a:t>THE HARRIS-TODARO MIGRATION</a:t>
            </a:r>
            <a:r>
              <a:rPr dirty="0" sz="1100" spc="10" b="1">
                <a:latin typeface="Arial"/>
                <a:cs typeface="Arial"/>
              </a:rPr>
              <a:t> </a:t>
            </a:r>
            <a:r>
              <a:rPr dirty="0" sz="1100" spc="-5" b="1">
                <a:latin typeface="Arial"/>
                <a:cs typeface="Arial"/>
              </a:rPr>
              <a:t>MODEL</a:t>
            </a:r>
            <a:endParaRPr sz="1100">
              <a:latin typeface="Arial"/>
              <a:cs typeface="Arial"/>
            </a:endParaRPr>
          </a:p>
          <a:p>
            <a:pPr>
              <a:lnSpc>
                <a:spcPct val="100000"/>
              </a:lnSpc>
              <a:spcBef>
                <a:spcPts val="5"/>
              </a:spcBef>
            </a:pPr>
            <a:endParaRPr sz="1150">
              <a:latin typeface="Arial"/>
              <a:cs typeface="Arial"/>
            </a:endParaRPr>
          </a:p>
          <a:p>
            <a:pPr marL="50800">
              <a:lnSpc>
                <a:spcPct val="100000"/>
              </a:lnSpc>
            </a:pPr>
            <a:r>
              <a:rPr dirty="0" sz="1100" spc="-5" b="1">
                <a:latin typeface="Arial"/>
                <a:cs typeface="Arial"/>
              </a:rPr>
              <a:t>A DIAGRAMMATIC</a:t>
            </a:r>
            <a:r>
              <a:rPr dirty="0" sz="1100" b="1">
                <a:latin typeface="Arial"/>
                <a:cs typeface="Arial"/>
              </a:rPr>
              <a:t> </a:t>
            </a:r>
            <a:r>
              <a:rPr dirty="0" sz="1100" spc="-5" b="1">
                <a:latin typeface="Arial"/>
                <a:cs typeface="Arial"/>
              </a:rPr>
              <a:t>PRESENTATION</a:t>
            </a:r>
            <a:endParaRPr sz="1100">
              <a:latin typeface="Arial"/>
              <a:cs typeface="Arial"/>
            </a:endParaRPr>
          </a:p>
          <a:p>
            <a:pPr>
              <a:lnSpc>
                <a:spcPct val="100000"/>
              </a:lnSpc>
              <a:spcBef>
                <a:spcPts val="50"/>
              </a:spcBef>
            </a:pPr>
            <a:endParaRPr sz="1150">
              <a:latin typeface="Arial"/>
              <a:cs typeface="Arial"/>
            </a:endParaRPr>
          </a:p>
          <a:p>
            <a:pPr algn="just" marL="50800" marR="43180">
              <a:lnSpc>
                <a:spcPct val="95800"/>
              </a:lnSpc>
              <a:spcBef>
                <a:spcPts val="5"/>
              </a:spcBef>
            </a:pPr>
            <a:r>
              <a:rPr dirty="0" sz="1100" spc="-5">
                <a:latin typeface="Arial"/>
                <a:cs typeface="Arial"/>
              </a:rPr>
              <a:t>This process of achieving unemployment equilibrium between urban expected wages and  average rural income rather than an equalized rural-urban wage as in the traditional  neoclassical free-market model can also be explained by a diagrammatic portrayal of the basic  Harris-Todaro model. This is done in Figure 7.12. Assume only two sectors, rural agriculture  and urban manufacturing. The demand for </a:t>
            </a:r>
            <a:r>
              <a:rPr dirty="0" sz="1100">
                <a:latin typeface="Arial"/>
                <a:cs typeface="Arial"/>
              </a:rPr>
              <a:t>labor </a:t>
            </a:r>
            <a:r>
              <a:rPr dirty="0" sz="1100" spc="-5">
                <a:latin typeface="Arial"/>
                <a:cs typeface="Arial"/>
              </a:rPr>
              <a:t>(the marginal product of labor curve) in  agriculture is given by </a:t>
            </a:r>
            <a:r>
              <a:rPr dirty="0" sz="1100">
                <a:latin typeface="Arial"/>
                <a:cs typeface="Arial"/>
              </a:rPr>
              <a:t>the </a:t>
            </a:r>
            <a:r>
              <a:rPr dirty="0" sz="1100" spc="-5">
                <a:latin typeface="Arial"/>
                <a:cs typeface="Arial"/>
              </a:rPr>
              <a:t>negatively sloped line </a:t>
            </a:r>
            <a:r>
              <a:rPr dirty="0" sz="1100" spc="-5" b="1">
                <a:latin typeface="Arial"/>
                <a:cs typeface="Arial"/>
              </a:rPr>
              <a:t>AA</a:t>
            </a:r>
            <a:r>
              <a:rPr dirty="0" sz="1100" spc="-5">
                <a:latin typeface="Arial"/>
                <a:cs typeface="Arial"/>
              </a:rPr>
              <a:t>'. Labor demand in manufacturing is </a:t>
            </a:r>
            <a:r>
              <a:rPr dirty="0" sz="1100">
                <a:latin typeface="Arial"/>
                <a:cs typeface="Arial"/>
              </a:rPr>
              <a:t>given  </a:t>
            </a:r>
            <a:r>
              <a:rPr dirty="0" sz="1100" spc="-5">
                <a:latin typeface="Arial"/>
                <a:cs typeface="Arial"/>
              </a:rPr>
              <a:t>by </a:t>
            </a:r>
            <a:r>
              <a:rPr dirty="0" sz="1100" spc="-5" b="1">
                <a:latin typeface="Arial"/>
                <a:cs typeface="Arial"/>
              </a:rPr>
              <a:t>MM' </a:t>
            </a:r>
            <a:r>
              <a:rPr dirty="0" sz="1100" spc="-5">
                <a:latin typeface="Arial"/>
                <a:cs typeface="Arial"/>
              </a:rPr>
              <a:t>(reading from right to left). The total labor force is given by line </a:t>
            </a:r>
            <a:r>
              <a:rPr dirty="0" sz="1100" spc="-5" b="1">
                <a:latin typeface="Arial"/>
                <a:cs typeface="Arial"/>
              </a:rPr>
              <a:t>O</a:t>
            </a:r>
            <a:r>
              <a:rPr dirty="0" baseline="-11904" sz="1050" spc="-7" b="1">
                <a:latin typeface="Arial"/>
                <a:cs typeface="Arial"/>
              </a:rPr>
              <a:t>A</a:t>
            </a:r>
            <a:r>
              <a:rPr dirty="0" sz="1100" spc="-5" b="1">
                <a:latin typeface="Arial"/>
                <a:cs typeface="Arial"/>
              </a:rPr>
              <a:t>O</a:t>
            </a:r>
            <a:r>
              <a:rPr dirty="0" baseline="-11904" sz="1050" spc="-7" b="1">
                <a:latin typeface="Arial"/>
                <a:cs typeface="Arial"/>
              </a:rPr>
              <a:t>M</a:t>
            </a:r>
            <a:r>
              <a:rPr dirty="0" sz="1100" spc="-5">
                <a:latin typeface="Arial"/>
                <a:cs typeface="Arial"/>
              </a:rPr>
              <a:t>. In a neoclassical,  flexible-wage,</a:t>
            </a:r>
            <a:r>
              <a:rPr dirty="0" sz="1100" spc="120">
                <a:latin typeface="Arial"/>
                <a:cs typeface="Arial"/>
              </a:rPr>
              <a:t> </a:t>
            </a:r>
            <a:r>
              <a:rPr dirty="0" sz="1100" spc="-5">
                <a:latin typeface="Arial"/>
                <a:cs typeface="Arial"/>
              </a:rPr>
              <a:t>full-employment</a:t>
            </a:r>
            <a:r>
              <a:rPr dirty="0" sz="1100" spc="135">
                <a:latin typeface="Arial"/>
                <a:cs typeface="Arial"/>
              </a:rPr>
              <a:t> </a:t>
            </a:r>
            <a:r>
              <a:rPr dirty="0" sz="1100" spc="-5">
                <a:latin typeface="Arial"/>
                <a:cs typeface="Arial"/>
              </a:rPr>
              <a:t>market</a:t>
            </a:r>
            <a:r>
              <a:rPr dirty="0" sz="1100" spc="125">
                <a:latin typeface="Arial"/>
                <a:cs typeface="Arial"/>
              </a:rPr>
              <a:t> </a:t>
            </a:r>
            <a:r>
              <a:rPr dirty="0" sz="1100" spc="-5">
                <a:latin typeface="Arial"/>
                <a:cs typeface="Arial"/>
              </a:rPr>
              <a:t>economy,</a:t>
            </a:r>
            <a:r>
              <a:rPr dirty="0" sz="1100" spc="125">
                <a:latin typeface="Arial"/>
                <a:cs typeface="Arial"/>
              </a:rPr>
              <a:t> </a:t>
            </a:r>
            <a:r>
              <a:rPr dirty="0" sz="1100" spc="-5">
                <a:latin typeface="Arial"/>
                <a:cs typeface="Arial"/>
              </a:rPr>
              <a:t>the</a:t>
            </a:r>
            <a:r>
              <a:rPr dirty="0" sz="1100" spc="125">
                <a:latin typeface="Arial"/>
                <a:cs typeface="Arial"/>
              </a:rPr>
              <a:t> </a:t>
            </a:r>
            <a:r>
              <a:rPr dirty="0" sz="1100" spc="-5">
                <a:latin typeface="Arial"/>
                <a:cs typeface="Arial"/>
              </a:rPr>
              <a:t>equilibrium</a:t>
            </a:r>
            <a:r>
              <a:rPr dirty="0" sz="1100" spc="125">
                <a:latin typeface="Arial"/>
                <a:cs typeface="Arial"/>
              </a:rPr>
              <a:t> </a:t>
            </a:r>
            <a:r>
              <a:rPr dirty="0" sz="1100" spc="-5">
                <a:latin typeface="Arial"/>
                <a:cs typeface="Arial"/>
              </a:rPr>
              <a:t>wage</a:t>
            </a:r>
            <a:r>
              <a:rPr dirty="0" sz="1100" spc="120">
                <a:latin typeface="Arial"/>
                <a:cs typeface="Arial"/>
              </a:rPr>
              <a:t> </a:t>
            </a:r>
            <a:r>
              <a:rPr dirty="0" sz="1100" spc="-5">
                <a:latin typeface="Arial"/>
                <a:cs typeface="Arial"/>
              </a:rPr>
              <a:t>would</a:t>
            </a:r>
            <a:r>
              <a:rPr dirty="0" sz="1100" spc="125">
                <a:latin typeface="Arial"/>
                <a:cs typeface="Arial"/>
              </a:rPr>
              <a:t> </a:t>
            </a:r>
            <a:r>
              <a:rPr dirty="0" sz="1100" spc="-5">
                <a:latin typeface="Arial"/>
                <a:cs typeface="Arial"/>
              </a:rPr>
              <a:t>be</a:t>
            </a:r>
            <a:r>
              <a:rPr dirty="0" sz="1100" spc="125">
                <a:latin typeface="Arial"/>
                <a:cs typeface="Arial"/>
              </a:rPr>
              <a:t> </a:t>
            </a:r>
            <a:r>
              <a:rPr dirty="0" sz="1100" spc="-5">
                <a:latin typeface="Arial"/>
                <a:cs typeface="Arial"/>
              </a:rPr>
              <a:t>established</a:t>
            </a:r>
            <a:r>
              <a:rPr dirty="0" sz="1100" spc="125">
                <a:latin typeface="Arial"/>
                <a:cs typeface="Arial"/>
              </a:rPr>
              <a:t> </a:t>
            </a:r>
            <a:r>
              <a:rPr dirty="0" sz="1100" spc="-5">
                <a:latin typeface="Arial"/>
                <a:cs typeface="Arial"/>
              </a:rPr>
              <a:t>at</a:t>
            </a:r>
            <a:endParaRPr sz="1100">
              <a:latin typeface="Arial"/>
              <a:cs typeface="Arial"/>
            </a:endParaRPr>
          </a:p>
        </p:txBody>
      </p:sp>
      <p:sp>
        <p:nvSpPr>
          <p:cNvPr id="7" name="object 7"/>
          <p:cNvSpPr txBox="1"/>
          <p:nvPr/>
        </p:nvSpPr>
        <p:spPr>
          <a:xfrm>
            <a:off x="863606" y="2867660"/>
            <a:ext cx="4083050" cy="193040"/>
          </a:xfrm>
          <a:prstGeom prst="rect">
            <a:avLst/>
          </a:prstGeom>
        </p:spPr>
        <p:txBody>
          <a:bodyPr wrap="square" lIns="0" tIns="12065" rIns="0" bIns="0" rtlCol="0" vert="horz">
            <a:spAutoFit/>
          </a:bodyPr>
          <a:lstStyle/>
          <a:p>
            <a:pPr marL="50800">
              <a:lnSpc>
                <a:spcPct val="100000"/>
              </a:lnSpc>
              <a:spcBef>
                <a:spcPts val="95"/>
              </a:spcBef>
              <a:tabLst>
                <a:tab pos="939165" algn="l"/>
                <a:tab pos="3649979" algn="l"/>
              </a:tabLst>
            </a:pPr>
            <a:r>
              <a:rPr dirty="0" baseline="7575" sz="1650" spc="-7" b="1">
                <a:latin typeface="Arial"/>
                <a:cs typeface="Arial"/>
              </a:rPr>
              <a:t>W</a:t>
            </a:r>
            <a:r>
              <a:rPr dirty="0" sz="700" spc="-5" b="1">
                <a:latin typeface="Arial"/>
                <a:cs typeface="Arial"/>
              </a:rPr>
              <a:t>A*	</a:t>
            </a:r>
            <a:r>
              <a:rPr dirty="0" baseline="7575" sz="1650" spc="-7" b="1">
                <a:latin typeface="Arial"/>
                <a:cs typeface="Arial"/>
              </a:rPr>
              <a:t>O</a:t>
            </a:r>
            <a:r>
              <a:rPr dirty="0" sz="700" spc="-5" b="1">
                <a:latin typeface="Arial"/>
                <a:cs typeface="Arial"/>
              </a:rPr>
              <a:t>A</a:t>
            </a:r>
            <a:r>
              <a:rPr dirty="0" baseline="7575" sz="1650" spc="-7" b="1">
                <a:latin typeface="Arial"/>
                <a:cs typeface="Arial"/>
              </a:rPr>
              <a:t>L</a:t>
            </a:r>
            <a:r>
              <a:rPr dirty="0" sz="700" spc="-5" b="1">
                <a:latin typeface="Arial"/>
                <a:cs typeface="Arial"/>
              </a:rPr>
              <a:t>A*	</a:t>
            </a:r>
            <a:r>
              <a:rPr dirty="0" baseline="7575" sz="1650" b="1">
                <a:latin typeface="Arial"/>
                <a:cs typeface="Arial"/>
              </a:rPr>
              <a:t>O</a:t>
            </a:r>
            <a:r>
              <a:rPr dirty="0" sz="700" b="1">
                <a:latin typeface="Arial"/>
                <a:cs typeface="Arial"/>
              </a:rPr>
              <a:t>A</a:t>
            </a:r>
            <a:r>
              <a:rPr dirty="0" baseline="7575" sz="1650" b="1">
                <a:latin typeface="Arial"/>
                <a:cs typeface="Arial"/>
              </a:rPr>
              <a:t>L</a:t>
            </a:r>
            <a:r>
              <a:rPr dirty="0" sz="700" b="1">
                <a:latin typeface="Arial"/>
                <a:cs typeface="Arial"/>
              </a:rPr>
              <a:t>M*</a:t>
            </a:r>
            <a:endParaRPr sz="700">
              <a:latin typeface="Arial"/>
              <a:cs typeface="Arial"/>
            </a:endParaRPr>
          </a:p>
        </p:txBody>
      </p:sp>
      <p:sp>
        <p:nvSpPr>
          <p:cNvPr id="8" name="object 8"/>
          <p:cNvSpPr txBox="1"/>
          <p:nvPr/>
        </p:nvSpPr>
        <p:spPr>
          <a:xfrm>
            <a:off x="1170939" y="2848610"/>
            <a:ext cx="5724525" cy="193040"/>
          </a:xfrm>
          <a:prstGeom prst="rect">
            <a:avLst/>
          </a:prstGeom>
        </p:spPr>
        <p:txBody>
          <a:bodyPr wrap="square" lIns="0" tIns="12065" rIns="0" bIns="0" rtlCol="0" vert="horz">
            <a:spAutoFit/>
          </a:bodyPr>
          <a:lstStyle/>
          <a:p>
            <a:pPr marL="63500">
              <a:lnSpc>
                <a:spcPct val="100000"/>
              </a:lnSpc>
              <a:spcBef>
                <a:spcPts val="95"/>
              </a:spcBef>
              <a:tabLst>
                <a:tab pos="1091565" algn="l"/>
                <a:tab pos="3814445" algn="l"/>
              </a:tabLst>
            </a:pPr>
            <a:r>
              <a:rPr dirty="0" sz="1100" spc="-5" b="1">
                <a:latin typeface="Arial"/>
                <a:cs typeface="Arial"/>
              </a:rPr>
              <a:t>= </a:t>
            </a:r>
            <a:r>
              <a:rPr dirty="0" sz="1100" spc="220" b="1">
                <a:latin typeface="Arial"/>
                <a:cs typeface="Arial"/>
              </a:rPr>
              <a:t> </a:t>
            </a:r>
            <a:r>
              <a:rPr dirty="0" sz="1100" spc="-5" b="1">
                <a:latin typeface="Arial"/>
                <a:cs typeface="Arial"/>
              </a:rPr>
              <a:t>W</a:t>
            </a:r>
            <a:r>
              <a:rPr dirty="0" baseline="-11904" sz="1050" spc="-7" b="1">
                <a:latin typeface="Arial"/>
                <a:cs typeface="Arial"/>
              </a:rPr>
              <a:t>M*</a:t>
            </a:r>
            <a:r>
              <a:rPr dirty="0" sz="1100" spc="-5">
                <a:latin typeface="Arial"/>
                <a:cs typeface="Arial"/>
              </a:rPr>
              <a:t>,	</a:t>
            </a:r>
            <a:r>
              <a:rPr dirty="0" sz="1100">
                <a:latin typeface="Arial"/>
                <a:cs typeface="Arial"/>
              </a:rPr>
              <a:t>with   </a:t>
            </a:r>
            <a:r>
              <a:rPr dirty="0" sz="1100" spc="-5">
                <a:latin typeface="Arial"/>
                <a:cs typeface="Arial"/>
              </a:rPr>
              <a:t>workers   in </a:t>
            </a:r>
            <a:r>
              <a:rPr dirty="0" sz="1100" spc="80">
                <a:latin typeface="Arial"/>
                <a:cs typeface="Arial"/>
              </a:rPr>
              <a:t> </a:t>
            </a:r>
            <a:r>
              <a:rPr dirty="0" sz="1100" spc="-5">
                <a:latin typeface="Arial"/>
                <a:cs typeface="Arial"/>
              </a:rPr>
              <a:t>agriculture </a:t>
            </a:r>
            <a:r>
              <a:rPr dirty="0" sz="1100" spc="229">
                <a:latin typeface="Arial"/>
                <a:cs typeface="Arial"/>
              </a:rPr>
              <a:t> </a:t>
            </a:r>
            <a:r>
              <a:rPr dirty="0" sz="1100" spc="-5">
                <a:latin typeface="Arial"/>
                <a:cs typeface="Arial"/>
              </a:rPr>
              <a:t>and	workers employed in</a:t>
            </a:r>
            <a:r>
              <a:rPr dirty="0" sz="1100" spc="25">
                <a:latin typeface="Arial"/>
                <a:cs typeface="Arial"/>
              </a:rPr>
              <a:t> </a:t>
            </a:r>
            <a:r>
              <a:rPr dirty="0" sz="1100" spc="-5">
                <a:latin typeface="Arial"/>
                <a:cs typeface="Arial"/>
              </a:rPr>
              <a:t>urban</a:t>
            </a:r>
            <a:endParaRPr sz="1100">
              <a:latin typeface="Arial"/>
              <a:cs typeface="Arial"/>
            </a:endParaRPr>
          </a:p>
        </p:txBody>
      </p:sp>
      <p:sp>
        <p:nvSpPr>
          <p:cNvPr id="9" name="object 9"/>
          <p:cNvSpPr txBox="1"/>
          <p:nvPr/>
        </p:nvSpPr>
        <p:spPr>
          <a:xfrm>
            <a:off x="901693" y="3009391"/>
            <a:ext cx="5967095" cy="51435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manufacturing. All available workers are therefore</a:t>
            </a:r>
            <a:r>
              <a:rPr dirty="0" sz="1100" spc="35">
                <a:latin typeface="Arial"/>
                <a:cs typeface="Arial"/>
              </a:rPr>
              <a:t> </a:t>
            </a:r>
            <a:r>
              <a:rPr dirty="0" sz="1100" spc="-5">
                <a:latin typeface="Arial"/>
                <a:cs typeface="Arial"/>
              </a:rPr>
              <a:t>employed.</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a:latin typeface="Arial"/>
                <a:cs typeface="Arial"/>
              </a:rPr>
              <a:t>But</a:t>
            </a:r>
            <a:r>
              <a:rPr dirty="0" sz="1100" spc="210">
                <a:latin typeface="Arial"/>
                <a:cs typeface="Arial"/>
              </a:rPr>
              <a:t> </a:t>
            </a:r>
            <a:r>
              <a:rPr dirty="0" sz="1100" spc="-5">
                <a:latin typeface="Arial"/>
                <a:cs typeface="Arial"/>
              </a:rPr>
              <a:t>what</a:t>
            </a:r>
            <a:r>
              <a:rPr dirty="0" sz="1100" spc="215">
                <a:latin typeface="Arial"/>
                <a:cs typeface="Arial"/>
              </a:rPr>
              <a:t> </a:t>
            </a:r>
            <a:r>
              <a:rPr dirty="0" sz="1100" spc="-5">
                <a:latin typeface="Arial"/>
                <a:cs typeface="Arial"/>
              </a:rPr>
              <a:t>if</a:t>
            </a:r>
            <a:r>
              <a:rPr dirty="0" sz="1100" spc="215">
                <a:latin typeface="Arial"/>
                <a:cs typeface="Arial"/>
              </a:rPr>
              <a:t> </a:t>
            </a:r>
            <a:r>
              <a:rPr dirty="0" sz="1100" spc="-5">
                <a:latin typeface="Arial"/>
                <a:cs typeface="Arial"/>
              </a:rPr>
              <a:t>urban</a:t>
            </a:r>
            <a:r>
              <a:rPr dirty="0" sz="1100" spc="215">
                <a:latin typeface="Arial"/>
                <a:cs typeface="Arial"/>
              </a:rPr>
              <a:t> </a:t>
            </a:r>
            <a:r>
              <a:rPr dirty="0" sz="1100" spc="-5">
                <a:latin typeface="Arial"/>
                <a:cs typeface="Arial"/>
              </a:rPr>
              <a:t>wages</a:t>
            </a:r>
            <a:r>
              <a:rPr dirty="0" sz="1100" spc="210">
                <a:latin typeface="Arial"/>
                <a:cs typeface="Arial"/>
              </a:rPr>
              <a:t> </a:t>
            </a:r>
            <a:r>
              <a:rPr dirty="0" sz="1100" spc="-5">
                <a:latin typeface="Arial"/>
                <a:cs typeface="Arial"/>
              </a:rPr>
              <a:t>are</a:t>
            </a:r>
            <a:r>
              <a:rPr dirty="0" sz="1100" spc="215">
                <a:latin typeface="Arial"/>
                <a:cs typeface="Arial"/>
              </a:rPr>
              <a:t> </a:t>
            </a:r>
            <a:r>
              <a:rPr dirty="0" sz="1100" spc="-5">
                <a:latin typeface="Arial"/>
                <a:cs typeface="Arial"/>
              </a:rPr>
              <a:t>institutionally</a:t>
            </a:r>
            <a:r>
              <a:rPr dirty="0" sz="1100" spc="210">
                <a:latin typeface="Arial"/>
                <a:cs typeface="Arial"/>
              </a:rPr>
              <a:t> </a:t>
            </a:r>
            <a:r>
              <a:rPr dirty="0" sz="1100" spc="-5">
                <a:latin typeface="Arial"/>
                <a:cs typeface="Arial"/>
              </a:rPr>
              <a:t>determined</a:t>
            </a:r>
            <a:r>
              <a:rPr dirty="0" sz="1100" spc="215">
                <a:latin typeface="Arial"/>
                <a:cs typeface="Arial"/>
              </a:rPr>
              <a:t> </a:t>
            </a:r>
            <a:r>
              <a:rPr dirty="0" sz="1100" spc="-5">
                <a:latin typeface="Arial"/>
                <a:cs typeface="Arial"/>
              </a:rPr>
              <a:t>(inflexible</a:t>
            </a:r>
            <a:r>
              <a:rPr dirty="0" sz="1100" spc="210">
                <a:latin typeface="Arial"/>
                <a:cs typeface="Arial"/>
              </a:rPr>
              <a:t> </a:t>
            </a:r>
            <a:r>
              <a:rPr dirty="0" sz="1100" spc="-5">
                <a:latin typeface="Arial"/>
                <a:cs typeface="Arial"/>
              </a:rPr>
              <a:t>downward)</a:t>
            </a:r>
            <a:r>
              <a:rPr dirty="0" sz="1100" spc="215">
                <a:latin typeface="Arial"/>
                <a:cs typeface="Arial"/>
              </a:rPr>
              <a:t> </a:t>
            </a:r>
            <a:r>
              <a:rPr dirty="0" sz="1100" spc="-5">
                <a:latin typeface="Arial"/>
                <a:cs typeface="Arial"/>
              </a:rPr>
              <a:t>as</a:t>
            </a:r>
            <a:r>
              <a:rPr dirty="0" sz="1100" spc="210">
                <a:latin typeface="Arial"/>
                <a:cs typeface="Arial"/>
              </a:rPr>
              <a:t> </a:t>
            </a:r>
            <a:r>
              <a:rPr dirty="0" sz="1100" spc="-5">
                <a:latin typeface="Arial"/>
                <a:cs typeface="Arial"/>
              </a:rPr>
              <a:t>assumed</a:t>
            </a:r>
            <a:r>
              <a:rPr dirty="0" sz="1100" spc="215">
                <a:latin typeface="Arial"/>
                <a:cs typeface="Arial"/>
              </a:rPr>
              <a:t> </a:t>
            </a:r>
            <a:r>
              <a:rPr dirty="0" sz="1100">
                <a:latin typeface="Arial"/>
                <a:cs typeface="Arial"/>
              </a:rPr>
              <a:t>by</a:t>
            </a:r>
            <a:endParaRPr sz="1100">
              <a:latin typeface="Arial"/>
              <a:cs typeface="Arial"/>
            </a:endParaRPr>
          </a:p>
        </p:txBody>
      </p:sp>
      <p:sp>
        <p:nvSpPr>
          <p:cNvPr id="10" name="object 10"/>
          <p:cNvSpPr/>
          <p:nvPr/>
        </p:nvSpPr>
        <p:spPr>
          <a:xfrm>
            <a:off x="2016251" y="8366759"/>
            <a:ext cx="266700" cy="171450"/>
          </a:xfrm>
          <a:prstGeom prst="rect">
            <a:avLst/>
          </a:prstGeom>
          <a:blipFill>
            <a:blip r:embed="rId2" cstate="print"/>
            <a:stretch>
              <a:fillRect/>
            </a:stretch>
          </a:blipFill>
        </p:spPr>
        <p:txBody>
          <a:bodyPr wrap="square" lIns="0" tIns="0" rIns="0" bIns="0" rtlCol="0"/>
          <a:lstStyle/>
          <a:p/>
        </p:txBody>
      </p:sp>
      <p:sp>
        <p:nvSpPr>
          <p:cNvPr id="11" name="object 11"/>
          <p:cNvSpPr/>
          <p:nvPr/>
        </p:nvSpPr>
        <p:spPr>
          <a:xfrm>
            <a:off x="4635246" y="8727947"/>
            <a:ext cx="448055" cy="152400"/>
          </a:xfrm>
          <a:prstGeom prst="rect">
            <a:avLst/>
          </a:prstGeom>
          <a:blipFill>
            <a:blip r:embed="rId3" cstate="print"/>
            <a:stretch>
              <a:fillRect/>
            </a:stretch>
          </a:blipFill>
        </p:spPr>
        <p:txBody>
          <a:bodyPr wrap="square" lIns="0" tIns="0" rIns="0" bIns="0" rtlCol="0"/>
          <a:lstStyle/>
          <a:p/>
        </p:txBody>
      </p:sp>
      <p:sp>
        <p:nvSpPr>
          <p:cNvPr id="12" name="object 12"/>
          <p:cNvSpPr/>
          <p:nvPr/>
        </p:nvSpPr>
        <p:spPr>
          <a:xfrm>
            <a:off x="2695194" y="8910066"/>
            <a:ext cx="676656" cy="181356"/>
          </a:xfrm>
          <a:prstGeom prst="rect">
            <a:avLst/>
          </a:prstGeom>
          <a:blipFill>
            <a:blip r:embed="rId4" cstate="print"/>
            <a:stretch>
              <a:fillRect/>
            </a:stretch>
          </a:blipFill>
        </p:spPr>
        <p:txBody>
          <a:bodyPr wrap="square" lIns="0" tIns="0" rIns="0" bIns="0" rtlCol="0"/>
          <a:lstStyle/>
          <a:p/>
        </p:txBody>
      </p:sp>
      <p:sp>
        <p:nvSpPr>
          <p:cNvPr id="13" name="object 13"/>
          <p:cNvSpPr/>
          <p:nvPr/>
        </p:nvSpPr>
        <p:spPr>
          <a:xfrm>
            <a:off x="3750564" y="8919971"/>
            <a:ext cx="266700" cy="171450"/>
          </a:xfrm>
          <a:prstGeom prst="rect">
            <a:avLst/>
          </a:prstGeom>
          <a:blipFill>
            <a:blip r:embed="rId5" cstate="print"/>
            <a:stretch>
              <a:fillRect/>
            </a:stretch>
          </a:blipFill>
        </p:spPr>
        <p:txBody>
          <a:bodyPr wrap="square" lIns="0" tIns="0" rIns="0" bIns="0" rtlCol="0"/>
          <a:lstStyle/>
          <a:p/>
        </p:txBody>
      </p:sp>
      <p:sp>
        <p:nvSpPr>
          <p:cNvPr id="14" name="object 14"/>
          <p:cNvSpPr txBox="1"/>
          <p:nvPr/>
        </p:nvSpPr>
        <p:spPr>
          <a:xfrm>
            <a:off x="838193" y="8386066"/>
            <a:ext cx="6108065" cy="746125"/>
          </a:xfrm>
          <a:prstGeom prst="rect">
            <a:avLst/>
          </a:prstGeom>
        </p:spPr>
        <p:txBody>
          <a:bodyPr wrap="square" lIns="0" tIns="8890" rIns="0" bIns="0" rtlCol="0" vert="horz">
            <a:spAutoFit/>
          </a:bodyPr>
          <a:lstStyle/>
          <a:p>
            <a:pPr algn="just" marL="76200" marR="80645">
              <a:lnSpc>
                <a:spcPct val="102000"/>
              </a:lnSpc>
              <a:spcBef>
                <a:spcPts val="70"/>
              </a:spcBef>
              <a:tabLst>
                <a:tab pos="4289425" algn="l"/>
              </a:tabLst>
            </a:pPr>
            <a:r>
              <a:rPr dirty="0" sz="1100" spc="-5">
                <a:latin typeface="Arial"/>
                <a:cs typeface="Arial"/>
              </a:rPr>
              <a:t>Todaro at a level , which is at a considerable distance above W</a:t>
            </a:r>
            <a:r>
              <a:rPr dirty="0" baseline="-11904" sz="1050" spc="-7">
                <a:latin typeface="Arial"/>
                <a:cs typeface="Arial"/>
              </a:rPr>
              <a:t>A*</a:t>
            </a:r>
            <a:r>
              <a:rPr dirty="0" sz="1100" spc="-5">
                <a:latin typeface="Arial"/>
                <a:cs typeface="Arial"/>
              </a:rPr>
              <a:t>? If for the moment we  continue to assume that there is no unemployment, </a:t>
            </a:r>
            <a:r>
              <a:rPr dirty="0" sz="1100" spc="-5" b="1">
                <a:latin typeface="Arial"/>
                <a:cs typeface="Arial"/>
              </a:rPr>
              <a:t>O</a:t>
            </a:r>
            <a:r>
              <a:rPr dirty="0" baseline="-11904" sz="1050" spc="-7" b="1">
                <a:latin typeface="Arial"/>
                <a:cs typeface="Arial"/>
              </a:rPr>
              <a:t>M</a:t>
            </a:r>
            <a:r>
              <a:rPr dirty="0" sz="1100" spc="-5" b="1">
                <a:latin typeface="Arial"/>
                <a:cs typeface="Arial"/>
              </a:rPr>
              <a:t>L</a:t>
            </a:r>
            <a:r>
              <a:rPr dirty="0" baseline="-11904" sz="1050" spc="-7" b="1">
                <a:latin typeface="Arial"/>
                <a:cs typeface="Arial"/>
              </a:rPr>
              <a:t>M </a:t>
            </a:r>
            <a:r>
              <a:rPr dirty="0" sz="1100" spc="-5">
                <a:latin typeface="Arial"/>
                <a:cs typeface="Arial"/>
              </a:rPr>
              <a:t>workers would get urban jobs, and  the</a:t>
            </a:r>
            <a:r>
              <a:rPr dirty="0" sz="1100" spc="65">
                <a:latin typeface="Arial"/>
                <a:cs typeface="Arial"/>
              </a:rPr>
              <a:t> </a:t>
            </a:r>
            <a:r>
              <a:rPr dirty="0" sz="1100" spc="-5">
                <a:latin typeface="Arial"/>
                <a:cs typeface="Arial"/>
              </a:rPr>
              <a:t>rest,</a:t>
            </a:r>
            <a:r>
              <a:rPr dirty="0" sz="1100" spc="60">
                <a:latin typeface="Arial"/>
                <a:cs typeface="Arial"/>
              </a:rPr>
              <a:t> </a:t>
            </a:r>
            <a:r>
              <a:rPr dirty="0" sz="1100" spc="-5" b="1">
                <a:latin typeface="Arial"/>
                <a:cs typeface="Arial"/>
              </a:rPr>
              <a:t>O</a:t>
            </a:r>
            <a:r>
              <a:rPr dirty="0" baseline="-11904" sz="1050" spc="-7" b="1">
                <a:latin typeface="Arial"/>
                <a:cs typeface="Arial"/>
              </a:rPr>
              <a:t>A</a:t>
            </a:r>
            <a:r>
              <a:rPr dirty="0" sz="1100" spc="-5" b="1">
                <a:latin typeface="Arial"/>
                <a:cs typeface="Arial"/>
              </a:rPr>
              <a:t>L</a:t>
            </a:r>
            <a:r>
              <a:rPr dirty="0" baseline="-11904" sz="1050" spc="-7" b="1">
                <a:latin typeface="Arial"/>
                <a:cs typeface="Arial"/>
              </a:rPr>
              <a:t>M</a:t>
            </a:r>
            <a:r>
              <a:rPr dirty="0" sz="1100" spc="-5">
                <a:latin typeface="Arial"/>
                <a:cs typeface="Arial"/>
              </a:rPr>
              <a:t>,</a:t>
            </a:r>
            <a:r>
              <a:rPr dirty="0" sz="1100" spc="60">
                <a:latin typeface="Arial"/>
                <a:cs typeface="Arial"/>
              </a:rPr>
              <a:t> </a:t>
            </a:r>
            <a:r>
              <a:rPr dirty="0" sz="1100" spc="-5">
                <a:latin typeface="Arial"/>
                <a:cs typeface="Arial"/>
              </a:rPr>
              <a:t>would</a:t>
            </a:r>
            <a:r>
              <a:rPr dirty="0" sz="1100" spc="55">
                <a:latin typeface="Arial"/>
                <a:cs typeface="Arial"/>
              </a:rPr>
              <a:t> </a:t>
            </a:r>
            <a:r>
              <a:rPr dirty="0" sz="1100" spc="-5">
                <a:latin typeface="Arial"/>
                <a:cs typeface="Arial"/>
              </a:rPr>
              <a:t>have</a:t>
            </a:r>
            <a:r>
              <a:rPr dirty="0" sz="1100" spc="60">
                <a:latin typeface="Arial"/>
                <a:cs typeface="Arial"/>
              </a:rPr>
              <a:t> </a:t>
            </a:r>
            <a:r>
              <a:rPr dirty="0" sz="1100" spc="-5">
                <a:latin typeface="Arial"/>
                <a:cs typeface="Arial"/>
              </a:rPr>
              <a:t>to</a:t>
            </a:r>
            <a:r>
              <a:rPr dirty="0" sz="1100" spc="65">
                <a:latin typeface="Arial"/>
                <a:cs typeface="Arial"/>
              </a:rPr>
              <a:t> </a:t>
            </a:r>
            <a:r>
              <a:rPr dirty="0" sz="1100" spc="-5">
                <a:latin typeface="Arial"/>
                <a:cs typeface="Arial"/>
              </a:rPr>
              <a:t>settle</a:t>
            </a:r>
            <a:r>
              <a:rPr dirty="0" sz="1100" spc="55">
                <a:latin typeface="Arial"/>
                <a:cs typeface="Arial"/>
              </a:rPr>
              <a:t> </a:t>
            </a:r>
            <a:r>
              <a:rPr dirty="0" sz="1100" spc="-5">
                <a:latin typeface="Arial"/>
                <a:cs typeface="Arial"/>
              </a:rPr>
              <a:t>for</a:t>
            </a:r>
            <a:r>
              <a:rPr dirty="0" sz="1100" spc="60">
                <a:latin typeface="Arial"/>
                <a:cs typeface="Arial"/>
              </a:rPr>
              <a:t> </a:t>
            </a:r>
            <a:r>
              <a:rPr dirty="0" sz="1100" spc="-5">
                <a:latin typeface="Arial"/>
                <a:cs typeface="Arial"/>
              </a:rPr>
              <a:t>rural</a:t>
            </a:r>
            <a:r>
              <a:rPr dirty="0" sz="1100" spc="60">
                <a:latin typeface="Arial"/>
                <a:cs typeface="Arial"/>
              </a:rPr>
              <a:t> </a:t>
            </a:r>
            <a:r>
              <a:rPr dirty="0" sz="1100" spc="-5">
                <a:latin typeface="Arial"/>
                <a:cs typeface="Arial"/>
              </a:rPr>
              <a:t>employment</a:t>
            </a:r>
            <a:r>
              <a:rPr dirty="0" sz="1100" spc="60">
                <a:latin typeface="Arial"/>
                <a:cs typeface="Arial"/>
              </a:rPr>
              <a:t> </a:t>
            </a:r>
            <a:r>
              <a:rPr dirty="0" sz="1100" spc="-5">
                <a:latin typeface="Arial"/>
                <a:cs typeface="Arial"/>
              </a:rPr>
              <a:t>at	wages. So now we have</a:t>
            </a:r>
            <a:r>
              <a:rPr dirty="0" sz="1100" spc="215">
                <a:latin typeface="Arial"/>
                <a:cs typeface="Arial"/>
              </a:rPr>
              <a:t> </a:t>
            </a:r>
            <a:r>
              <a:rPr dirty="0" sz="1100" spc="-5">
                <a:latin typeface="Arial"/>
                <a:cs typeface="Arial"/>
              </a:rPr>
              <a:t>an</a:t>
            </a:r>
            <a:endParaRPr sz="1100">
              <a:latin typeface="Arial"/>
              <a:cs typeface="Arial"/>
            </a:endParaRPr>
          </a:p>
          <a:p>
            <a:pPr algn="just" marL="76200">
              <a:lnSpc>
                <a:spcPct val="100000"/>
              </a:lnSpc>
              <a:spcBef>
                <a:spcPts val="340"/>
              </a:spcBef>
              <a:tabLst>
                <a:tab pos="2533015" algn="l"/>
              </a:tabLst>
            </a:pPr>
            <a:r>
              <a:rPr dirty="0" sz="1100" spc="-5">
                <a:latin typeface="Arial"/>
                <a:cs typeface="Arial"/>
              </a:rPr>
              <a:t>urban-rural real wage</a:t>
            </a:r>
            <a:r>
              <a:rPr dirty="0" sz="1100" spc="215">
                <a:latin typeface="Arial"/>
                <a:cs typeface="Arial"/>
              </a:rPr>
              <a:t> </a:t>
            </a:r>
            <a:r>
              <a:rPr dirty="0" sz="1100" spc="-5">
                <a:latin typeface="Arial"/>
                <a:cs typeface="Arial"/>
              </a:rPr>
              <a:t>gap</a:t>
            </a:r>
            <a:r>
              <a:rPr dirty="0" sz="1100" spc="70">
                <a:latin typeface="Arial"/>
                <a:cs typeface="Arial"/>
              </a:rPr>
              <a:t> </a:t>
            </a:r>
            <a:r>
              <a:rPr dirty="0" sz="1100" spc="-5">
                <a:latin typeface="Arial"/>
                <a:cs typeface="Arial"/>
              </a:rPr>
              <a:t>of	, with          institutionally fixed. If rural workers were </a:t>
            </a:r>
            <a:r>
              <a:rPr dirty="0" sz="1100">
                <a:latin typeface="Arial"/>
                <a:cs typeface="Arial"/>
              </a:rPr>
              <a:t> </a:t>
            </a:r>
            <a:r>
              <a:rPr dirty="0" sz="1100" spc="-5">
                <a:latin typeface="Arial"/>
                <a:cs typeface="Arial"/>
              </a:rPr>
              <a:t>free</a:t>
            </a:r>
            <a:endParaRPr sz="1100">
              <a:latin typeface="Arial"/>
              <a:cs typeface="Arial"/>
            </a:endParaRPr>
          </a:p>
        </p:txBody>
      </p:sp>
      <p:sp>
        <p:nvSpPr>
          <p:cNvPr id="15" name="object 15"/>
          <p:cNvSpPr/>
          <p:nvPr/>
        </p:nvSpPr>
        <p:spPr>
          <a:xfrm>
            <a:off x="1414272" y="3552444"/>
            <a:ext cx="5145785" cy="4735799"/>
          </a:xfrm>
          <a:prstGeom prst="rect">
            <a:avLst/>
          </a:prstGeom>
          <a:blipFill>
            <a:blip r:embed="rId6" cstate="print"/>
            <a:stretch>
              <a:fillRect/>
            </a:stretch>
          </a:blipFill>
        </p:spPr>
        <p:txBody>
          <a:bodyPr wrap="square" lIns="0" tIns="0" rIns="0" bIns="0" rtlCol="0"/>
          <a:lstStyle/>
          <a:p/>
        </p:txBody>
      </p:sp>
      <p:sp>
        <p:nvSpPr>
          <p:cNvPr id="16" name="object 16"/>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7" name="object 17"/>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169</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76300" y="891794"/>
            <a:ext cx="6019800" cy="674370"/>
          </a:xfrm>
          <a:prstGeom prst="rect">
            <a:avLst/>
          </a:prstGeom>
        </p:spPr>
        <p:txBody>
          <a:bodyPr wrap="square" lIns="0" tIns="19050" rIns="0" bIns="0" rtlCol="0" vert="horz">
            <a:spAutoFit/>
          </a:bodyPr>
          <a:lstStyle/>
          <a:p>
            <a:pPr algn="just" marL="38100" marR="30480">
              <a:lnSpc>
                <a:spcPct val="95800"/>
              </a:lnSpc>
              <a:spcBef>
                <a:spcPts val="150"/>
              </a:spcBef>
            </a:pPr>
            <a:r>
              <a:rPr dirty="0" sz="1100" spc="-5">
                <a:latin typeface="Arial"/>
                <a:cs typeface="Arial"/>
              </a:rPr>
              <a:t>to migrate (as they are almost everywhere except China), then despite the availability of only  </a:t>
            </a:r>
            <a:r>
              <a:rPr dirty="0" sz="1100" spc="-5" b="1">
                <a:latin typeface="Arial"/>
                <a:cs typeface="Arial"/>
              </a:rPr>
              <a:t>O</a:t>
            </a:r>
            <a:r>
              <a:rPr dirty="0" baseline="-11904" sz="1050" spc="-7" b="1">
                <a:latin typeface="Arial"/>
                <a:cs typeface="Arial"/>
              </a:rPr>
              <a:t>M</a:t>
            </a:r>
            <a:r>
              <a:rPr dirty="0" sz="1100" spc="-5" b="1">
                <a:latin typeface="Arial"/>
                <a:cs typeface="Arial"/>
              </a:rPr>
              <a:t>L</a:t>
            </a:r>
            <a:r>
              <a:rPr dirty="0" baseline="-11904" sz="1050" spc="-7" b="1">
                <a:latin typeface="Arial"/>
                <a:cs typeface="Arial"/>
              </a:rPr>
              <a:t>M </a:t>
            </a:r>
            <a:r>
              <a:rPr dirty="0" sz="1100" spc="-5">
                <a:latin typeface="Arial"/>
                <a:cs typeface="Arial"/>
              </a:rPr>
              <a:t>jobs, they are willing to take their chances in the urban job lottery. If their chance  (probability) of securing one of these favored jobs is expressed by the ratio of employment in  manufacturing, </a:t>
            </a:r>
            <a:r>
              <a:rPr dirty="0" sz="1100" b="1">
                <a:latin typeface="Arial"/>
                <a:cs typeface="Arial"/>
              </a:rPr>
              <a:t>L</a:t>
            </a:r>
            <a:r>
              <a:rPr dirty="0" baseline="-11904" sz="1050" b="1">
                <a:latin typeface="Arial"/>
                <a:cs typeface="Arial"/>
              </a:rPr>
              <a:t>M</a:t>
            </a:r>
            <a:r>
              <a:rPr dirty="0" sz="1100">
                <a:latin typeface="Arial"/>
                <a:cs typeface="Arial"/>
              </a:rPr>
              <a:t>, </a:t>
            </a:r>
            <a:r>
              <a:rPr dirty="0" sz="1100" spc="-5">
                <a:latin typeface="Arial"/>
                <a:cs typeface="Arial"/>
              </a:rPr>
              <a:t>to the total urban labor pool, </a:t>
            </a:r>
            <a:r>
              <a:rPr dirty="0" sz="1100" spc="-5" b="1">
                <a:latin typeface="Arial"/>
                <a:cs typeface="Arial"/>
              </a:rPr>
              <a:t>L</a:t>
            </a:r>
            <a:r>
              <a:rPr dirty="0" baseline="-11904" sz="1050" spc="-7" b="1">
                <a:latin typeface="Arial"/>
                <a:cs typeface="Arial"/>
              </a:rPr>
              <a:t>US</a:t>
            </a:r>
            <a:r>
              <a:rPr dirty="0" sz="1100" spc="-5">
                <a:latin typeface="Arial"/>
                <a:cs typeface="Arial"/>
              </a:rPr>
              <a:t>, then the</a:t>
            </a:r>
            <a:r>
              <a:rPr dirty="0" sz="1100" spc="65">
                <a:latin typeface="Arial"/>
                <a:cs typeface="Arial"/>
              </a:rPr>
              <a:t> </a:t>
            </a:r>
            <a:r>
              <a:rPr dirty="0" sz="1100" spc="-5">
                <a:latin typeface="Arial"/>
                <a:cs typeface="Arial"/>
              </a:rPr>
              <a:t>expression:</a:t>
            </a:r>
            <a:endParaRPr sz="1100">
              <a:latin typeface="Arial"/>
              <a:cs typeface="Arial"/>
            </a:endParaRPr>
          </a:p>
        </p:txBody>
      </p:sp>
      <p:sp>
        <p:nvSpPr>
          <p:cNvPr id="7" name="object 7"/>
          <p:cNvSpPr/>
          <p:nvPr/>
        </p:nvSpPr>
        <p:spPr>
          <a:xfrm>
            <a:off x="914400" y="1717548"/>
            <a:ext cx="1000506" cy="361950"/>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3099816" y="2399538"/>
            <a:ext cx="292607" cy="171450"/>
          </a:xfrm>
          <a:prstGeom prst="rect">
            <a:avLst/>
          </a:prstGeom>
          <a:blipFill>
            <a:blip r:embed="rId3" cstate="print"/>
            <a:stretch>
              <a:fillRect/>
            </a:stretch>
          </a:blipFill>
        </p:spPr>
        <p:txBody>
          <a:bodyPr wrap="square" lIns="0" tIns="0" rIns="0" bIns="0" rtlCol="0"/>
          <a:lstStyle/>
          <a:p/>
        </p:txBody>
      </p:sp>
      <p:sp>
        <p:nvSpPr>
          <p:cNvPr id="9" name="object 9"/>
          <p:cNvSpPr/>
          <p:nvPr/>
        </p:nvSpPr>
        <p:spPr>
          <a:xfrm>
            <a:off x="2143505" y="2921507"/>
            <a:ext cx="266700" cy="171450"/>
          </a:xfrm>
          <a:prstGeom prst="rect">
            <a:avLst/>
          </a:prstGeom>
          <a:blipFill>
            <a:blip r:embed="rId4" cstate="print"/>
            <a:stretch>
              <a:fillRect/>
            </a:stretch>
          </a:blipFill>
        </p:spPr>
        <p:txBody>
          <a:bodyPr wrap="square" lIns="0" tIns="0" rIns="0" bIns="0" rtlCol="0"/>
          <a:lstStyle/>
          <a:p/>
        </p:txBody>
      </p:sp>
      <p:sp>
        <p:nvSpPr>
          <p:cNvPr id="10" name="object 10"/>
          <p:cNvSpPr/>
          <p:nvPr/>
        </p:nvSpPr>
        <p:spPr>
          <a:xfrm>
            <a:off x="4024884" y="3122676"/>
            <a:ext cx="272796" cy="171450"/>
          </a:xfrm>
          <a:prstGeom prst="rect">
            <a:avLst/>
          </a:prstGeom>
          <a:blipFill>
            <a:blip r:embed="rId5" cstate="print"/>
            <a:stretch>
              <a:fillRect/>
            </a:stretch>
          </a:blipFill>
        </p:spPr>
        <p:txBody>
          <a:bodyPr wrap="square" lIns="0" tIns="0" rIns="0" bIns="0" rtlCol="0"/>
          <a:lstStyle/>
          <a:p/>
        </p:txBody>
      </p:sp>
      <p:sp>
        <p:nvSpPr>
          <p:cNvPr id="11" name="object 11"/>
          <p:cNvSpPr txBox="1"/>
          <p:nvPr/>
        </p:nvSpPr>
        <p:spPr>
          <a:xfrm>
            <a:off x="711205" y="2183852"/>
            <a:ext cx="6337300" cy="6788150"/>
          </a:xfrm>
          <a:prstGeom prst="rect">
            <a:avLst/>
          </a:prstGeom>
        </p:spPr>
        <p:txBody>
          <a:bodyPr wrap="square" lIns="0" tIns="46355" rIns="0" bIns="0" rtlCol="0" vert="horz">
            <a:spAutoFit/>
          </a:bodyPr>
          <a:lstStyle/>
          <a:p>
            <a:pPr algn="just" marL="203200" indent="-635">
              <a:lnSpc>
                <a:spcPct val="100000"/>
              </a:lnSpc>
              <a:spcBef>
                <a:spcPts val="365"/>
              </a:spcBef>
            </a:pPr>
            <a:r>
              <a:rPr dirty="0" sz="1100" spc="-5">
                <a:latin typeface="Arial"/>
                <a:cs typeface="Arial"/>
              </a:rPr>
              <a:t>Shows</a:t>
            </a:r>
            <a:r>
              <a:rPr dirty="0" sz="1100" spc="175">
                <a:latin typeface="Arial"/>
                <a:cs typeface="Arial"/>
              </a:rPr>
              <a:t> </a:t>
            </a:r>
            <a:r>
              <a:rPr dirty="0" sz="1100" spc="-5">
                <a:latin typeface="Arial"/>
                <a:cs typeface="Arial"/>
              </a:rPr>
              <a:t>the</a:t>
            </a:r>
            <a:r>
              <a:rPr dirty="0" sz="1100" spc="175">
                <a:latin typeface="Arial"/>
                <a:cs typeface="Arial"/>
              </a:rPr>
              <a:t> </a:t>
            </a:r>
            <a:r>
              <a:rPr dirty="0" sz="1100" spc="-5">
                <a:latin typeface="Arial"/>
                <a:cs typeface="Arial"/>
              </a:rPr>
              <a:t>probability</a:t>
            </a:r>
            <a:r>
              <a:rPr dirty="0" sz="1100" spc="175">
                <a:latin typeface="Arial"/>
                <a:cs typeface="Arial"/>
              </a:rPr>
              <a:t> </a:t>
            </a:r>
            <a:r>
              <a:rPr dirty="0" sz="1100" spc="-5">
                <a:latin typeface="Arial"/>
                <a:cs typeface="Arial"/>
              </a:rPr>
              <a:t>of</a:t>
            </a:r>
            <a:r>
              <a:rPr dirty="0" sz="1100" spc="175">
                <a:latin typeface="Arial"/>
                <a:cs typeface="Arial"/>
              </a:rPr>
              <a:t> </a:t>
            </a:r>
            <a:r>
              <a:rPr dirty="0" sz="1100" spc="-5">
                <a:latin typeface="Arial"/>
                <a:cs typeface="Arial"/>
              </a:rPr>
              <a:t>urban</a:t>
            </a:r>
            <a:r>
              <a:rPr dirty="0" sz="1100" spc="175">
                <a:latin typeface="Arial"/>
                <a:cs typeface="Arial"/>
              </a:rPr>
              <a:t> </a:t>
            </a:r>
            <a:r>
              <a:rPr dirty="0" sz="1100" spc="-5">
                <a:latin typeface="Arial"/>
                <a:cs typeface="Arial"/>
              </a:rPr>
              <a:t>job</a:t>
            </a:r>
            <a:r>
              <a:rPr dirty="0" sz="1100" spc="170">
                <a:latin typeface="Arial"/>
                <a:cs typeface="Arial"/>
              </a:rPr>
              <a:t> </a:t>
            </a:r>
            <a:r>
              <a:rPr dirty="0" sz="1100" spc="-5">
                <a:latin typeface="Arial"/>
                <a:cs typeface="Arial"/>
              </a:rPr>
              <a:t>success</a:t>
            </a:r>
            <a:r>
              <a:rPr dirty="0" sz="1100" spc="175">
                <a:latin typeface="Arial"/>
                <a:cs typeface="Arial"/>
              </a:rPr>
              <a:t> </a:t>
            </a:r>
            <a:r>
              <a:rPr dirty="0" sz="1100" spc="-5">
                <a:latin typeface="Arial"/>
                <a:cs typeface="Arial"/>
              </a:rPr>
              <a:t>necessary</a:t>
            </a:r>
            <a:r>
              <a:rPr dirty="0" sz="1100" spc="175">
                <a:latin typeface="Arial"/>
                <a:cs typeface="Arial"/>
              </a:rPr>
              <a:t> </a:t>
            </a:r>
            <a:r>
              <a:rPr dirty="0" sz="1100" spc="-5">
                <a:latin typeface="Arial"/>
                <a:cs typeface="Arial"/>
              </a:rPr>
              <a:t>to</a:t>
            </a:r>
            <a:r>
              <a:rPr dirty="0" sz="1100" spc="170">
                <a:latin typeface="Arial"/>
                <a:cs typeface="Arial"/>
              </a:rPr>
              <a:t> </a:t>
            </a:r>
            <a:r>
              <a:rPr dirty="0" sz="1100" spc="-5">
                <a:latin typeface="Arial"/>
                <a:cs typeface="Arial"/>
              </a:rPr>
              <a:t>equate</a:t>
            </a:r>
            <a:r>
              <a:rPr dirty="0" sz="1100" spc="180">
                <a:latin typeface="Arial"/>
                <a:cs typeface="Arial"/>
              </a:rPr>
              <a:t> </a:t>
            </a:r>
            <a:r>
              <a:rPr dirty="0" sz="1100" spc="-5">
                <a:latin typeface="Arial"/>
                <a:cs typeface="Arial"/>
              </a:rPr>
              <a:t>agricultural</a:t>
            </a:r>
            <a:r>
              <a:rPr dirty="0" sz="1100" spc="170">
                <a:latin typeface="Arial"/>
                <a:cs typeface="Arial"/>
              </a:rPr>
              <a:t> </a:t>
            </a:r>
            <a:r>
              <a:rPr dirty="0" sz="1100" spc="-5">
                <a:latin typeface="Arial"/>
                <a:cs typeface="Arial"/>
              </a:rPr>
              <a:t>income</a:t>
            </a:r>
            <a:r>
              <a:rPr dirty="0" sz="1100" spc="185">
                <a:latin typeface="Arial"/>
                <a:cs typeface="Arial"/>
              </a:rPr>
              <a:t> </a:t>
            </a:r>
            <a:r>
              <a:rPr dirty="0" sz="1100" b="1">
                <a:latin typeface="Arial"/>
                <a:cs typeface="Arial"/>
              </a:rPr>
              <a:t>W</a:t>
            </a:r>
            <a:r>
              <a:rPr dirty="0" baseline="-11904" sz="1050" b="1">
                <a:latin typeface="Arial"/>
                <a:cs typeface="Arial"/>
              </a:rPr>
              <a:t>A </a:t>
            </a:r>
            <a:r>
              <a:rPr dirty="0" baseline="-11904" sz="1050" spc="112" b="1">
                <a:latin typeface="Arial"/>
                <a:cs typeface="Arial"/>
              </a:rPr>
              <a:t> </a:t>
            </a:r>
            <a:r>
              <a:rPr dirty="0" sz="1100" spc="-5">
                <a:latin typeface="Arial"/>
                <a:cs typeface="Arial"/>
              </a:rPr>
              <a:t>with</a:t>
            </a:r>
            <a:endParaRPr sz="1100">
              <a:latin typeface="Arial"/>
              <a:cs typeface="Arial"/>
            </a:endParaRPr>
          </a:p>
          <a:p>
            <a:pPr algn="just" marL="202565" marR="182245">
              <a:lnSpc>
                <a:spcPct val="95700"/>
              </a:lnSpc>
              <a:spcBef>
                <a:spcPts val="320"/>
              </a:spcBef>
            </a:pPr>
            <a:r>
              <a:rPr dirty="0" sz="1100" spc="-5">
                <a:latin typeface="Arial"/>
                <a:cs typeface="Arial"/>
              </a:rPr>
              <a:t>urban expected income (</a:t>
            </a:r>
            <a:r>
              <a:rPr dirty="0" sz="1100" spc="-5" b="1">
                <a:latin typeface="Arial"/>
                <a:cs typeface="Arial"/>
              </a:rPr>
              <a:t>L</a:t>
            </a:r>
            <a:r>
              <a:rPr dirty="0" baseline="-11904" sz="1050" spc="-7" b="1">
                <a:latin typeface="Arial"/>
                <a:cs typeface="Arial"/>
              </a:rPr>
              <a:t>M</a:t>
            </a:r>
            <a:r>
              <a:rPr dirty="0" sz="1100" spc="-5" b="1">
                <a:latin typeface="Arial"/>
                <a:cs typeface="Arial"/>
              </a:rPr>
              <a:t>/L</a:t>
            </a:r>
            <a:r>
              <a:rPr dirty="0" baseline="-11904" sz="1050" spc="-7" b="1">
                <a:latin typeface="Arial"/>
                <a:cs typeface="Arial"/>
              </a:rPr>
              <a:t>US</a:t>
            </a:r>
            <a:r>
              <a:rPr dirty="0" sz="1100" spc="-5">
                <a:latin typeface="Arial"/>
                <a:cs typeface="Arial"/>
              </a:rPr>
              <a:t>)( ), thus causing a potential migrant to be indifferent  between job locations. The locus of such points of indifference is given by the </a:t>
            </a:r>
            <a:r>
              <a:rPr dirty="0" sz="1100">
                <a:latin typeface="Arial"/>
                <a:cs typeface="Arial"/>
              </a:rPr>
              <a:t>curve </a:t>
            </a:r>
            <a:r>
              <a:rPr dirty="0" sz="1100" spc="-5" b="1">
                <a:latin typeface="Arial"/>
                <a:cs typeface="Arial"/>
              </a:rPr>
              <a:t>qq' </a:t>
            </a:r>
            <a:r>
              <a:rPr dirty="0" sz="1100" spc="-5">
                <a:latin typeface="Arial"/>
                <a:cs typeface="Arial"/>
              </a:rPr>
              <a:t>in  Figure</a:t>
            </a:r>
            <a:r>
              <a:rPr dirty="0" sz="1100" spc="114">
                <a:latin typeface="Arial"/>
                <a:cs typeface="Arial"/>
              </a:rPr>
              <a:t> </a:t>
            </a:r>
            <a:r>
              <a:rPr dirty="0" sz="1100" spc="-5">
                <a:latin typeface="Arial"/>
                <a:cs typeface="Arial"/>
              </a:rPr>
              <a:t>7.12.</a:t>
            </a:r>
            <a:r>
              <a:rPr dirty="0" sz="1100" spc="114">
                <a:latin typeface="Arial"/>
                <a:cs typeface="Arial"/>
              </a:rPr>
              <a:t> </a:t>
            </a:r>
            <a:r>
              <a:rPr dirty="0" sz="1100" spc="-5">
                <a:latin typeface="Arial"/>
                <a:cs typeface="Arial"/>
              </a:rPr>
              <a:t>The</a:t>
            </a:r>
            <a:r>
              <a:rPr dirty="0" sz="1100" spc="120">
                <a:latin typeface="Arial"/>
                <a:cs typeface="Arial"/>
              </a:rPr>
              <a:t> </a:t>
            </a:r>
            <a:r>
              <a:rPr dirty="0" sz="1100" spc="-5">
                <a:latin typeface="Arial"/>
                <a:cs typeface="Arial"/>
              </a:rPr>
              <a:t>new</a:t>
            </a:r>
            <a:r>
              <a:rPr dirty="0" sz="1100" spc="120">
                <a:latin typeface="Arial"/>
                <a:cs typeface="Arial"/>
              </a:rPr>
              <a:t> </a:t>
            </a:r>
            <a:r>
              <a:rPr dirty="0" sz="1100" spc="-5">
                <a:latin typeface="Arial"/>
                <a:cs typeface="Arial"/>
              </a:rPr>
              <a:t>unemployment</a:t>
            </a:r>
            <a:r>
              <a:rPr dirty="0" sz="1100" spc="120">
                <a:latin typeface="Arial"/>
                <a:cs typeface="Arial"/>
              </a:rPr>
              <a:t> </a:t>
            </a:r>
            <a:r>
              <a:rPr dirty="0" sz="1100" spc="-5">
                <a:latin typeface="Arial"/>
                <a:cs typeface="Arial"/>
              </a:rPr>
              <a:t>equilibrium</a:t>
            </a:r>
            <a:r>
              <a:rPr dirty="0" sz="1100" spc="120">
                <a:latin typeface="Arial"/>
                <a:cs typeface="Arial"/>
              </a:rPr>
              <a:t> </a:t>
            </a:r>
            <a:r>
              <a:rPr dirty="0" sz="1100" spc="-5">
                <a:latin typeface="Arial"/>
                <a:cs typeface="Arial"/>
              </a:rPr>
              <a:t>now</a:t>
            </a:r>
            <a:r>
              <a:rPr dirty="0" sz="1100" spc="120">
                <a:latin typeface="Arial"/>
                <a:cs typeface="Arial"/>
              </a:rPr>
              <a:t> </a:t>
            </a:r>
            <a:r>
              <a:rPr dirty="0" sz="1100" spc="-5">
                <a:latin typeface="Arial"/>
                <a:cs typeface="Arial"/>
              </a:rPr>
              <a:t>occurs</a:t>
            </a:r>
            <a:r>
              <a:rPr dirty="0" sz="1100" spc="120">
                <a:latin typeface="Arial"/>
                <a:cs typeface="Arial"/>
              </a:rPr>
              <a:t> </a:t>
            </a:r>
            <a:r>
              <a:rPr dirty="0" sz="1100" spc="-5">
                <a:latin typeface="Arial"/>
                <a:cs typeface="Arial"/>
              </a:rPr>
              <a:t>at</a:t>
            </a:r>
            <a:r>
              <a:rPr dirty="0" sz="1100" spc="120">
                <a:latin typeface="Arial"/>
                <a:cs typeface="Arial"/>
              </a:rPr>
              <a:t> </a:t>
            </a:r>
            <a:r>
              <a:rPr dirty="0" sz="1100" spc="-5">
                <a:latin typeface="Arial"/>
                <a:cs typeface="Arial"/>
              </a:rPr>
              <a:t>point</a:t>
            </a:r>
            <a:r>
              <a:rPr dirty="0" sz="1100" spc="130">
                <a:latin typeface="Arial"/>
                <a:cs typeface="Arial"/>
              </a:rPr>
              <a:t> </a:t>
            </a:r>
            <a:r>
              <a:rPr dirty="0" sz="1100" spc="-5" b="1">
                <a:latin typeface="Arial"/>
                <a:cs typeface="Arial"/>
              </a:rPr>
              <a:t>Z</a:t>
            </a:r>
            <a:r>
              <a:rPr dirty="0" sz="1100" spc="-5">
                <a:latin typeface="Arial"/>
                <a:cs typeface="Arial"/>
              </a:rPr>
              <a:t>,</a:t>
            </a:r>
            <a:r>
              <a:rPr dirty="0" sz="1100" spc="120">
                <a:latin typeface="Arial"/>
                <a:cs typeface="Arial"/>
              </a:rPr>
              <a:t> </a:t>
            </a:r>
            <a:r>
              <a:rPr dirty="0" sz="1100" spc="-5">
                <a:latin typeface="Arial"/>
                <a:cs typeface="Arial"/>
              </a:rPr>
              <a:t>where</a:t>
            </a:r>
            <a:r>
              <a:rPr dirty="0" sz="1100" spc="120">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urban-rural</a:t>
            </a:r>
            <a:endParaRPr sz="1100">
              <a:latin typeface="Arial"/>
              <a:cs typeface="Arial"/>
            </a:endParaRPr>
          </a:p>
          <a:p>
            <a:pPr algn="just" marL="203200" indent="-635">
              <a:lnSpc>
                <a:spcPct val="100000"/>
              </a:lnSpc>
              <a:spcBef>
                <a:spcPts val="265"/>
              </a:spcBef>
            </a:pPr>
            <a:r>
              <a:rPr dirty="0" sz="1100" spc="-5">
                <a:latin typeface="Arial"/>
                <a:cs typeface="Arial"/>
              </a:rPr>
              <a:t>actual</a:t>
            </a:r>
            <a:r>
              <a:rPr dirty="0" sz="1100" spc="70">
                <a:latin typeface="Arial"/>
                <a:cs typeface="Arial"/>
              </a:rPr>
              <a:t> </a:t>
            </a:r>
            <a:r>
              <a:rPr dirty="0" sz="1100" spc="-5">
                <a:latin typeface="Arial"/>
                <a:cs typeface="Arial"/>
              </a:rPr>
              <a:t>wage</a:t>
            </a:r>
            <a:r>
              <a:rPr dirty="0" sz="1100" spc="70">
                <a:latin typeface="Arial"/>
                <a:cs typeface="Arial"/>
              </a:rPr>
              <a:t> </a:t>
            </a:r>
            <a:r>
              <a:rPr dirty="0" sz="1100" spc="-5">
                <a:latin typeface="Arial"/>
                <a:cs typeface="Arial"/>
              </a:rPr>
              <a:t>gap</a:t>
            </a:r>
            <a:r>
              <a:rPr dirty="0" sz="1100" spc="75">
                <a:latin typeface="Arial"/>
                <a:cs typeface="Arial"/>
              </a:rPr>
              <a:t> </a:t>
            </a:r>
            <a:r>
              <a:rPr dirty="0" sz="1100" spc="-5">
                <a:latin typeface="Arial"/>
                <a:cs typeface="Arial"/>
              </a:rPr>
              <a:t>is        </a:t>
            </a:r>
            <a:r>
              <a:rPr dirty="0" sz="1100" spc="200">
                <a:latin typeface="Arial"/>
                <a:cs typeface="Arial"/>
              </a:rPr>
              <a:t> </a:t>
            </a:r>
            <a:r>
              <a:rPr dirty="0" sz="1100" spc="-5" b="1">
                <a:latin typeface="Arial"/>
                <a:cs typeface="Arial"/>
              </a:rPr>
              <a:t>-W</a:t>
            </a:r>
            <a:r>
              <a:rPr dirty="0" baseline="-11904" sz="1050" spc="-7" b="1">
                <a:latin typeface="Arial"/>
                <a:cs typeface="Arial"/>
              </a:rPr>
              <a:t>A</a:t>
            </a:r>
            <a:r>
              <a:rPr dirty="0" sz="1100" spc="-5" b="1">
                <a:latin typeface="Arial"/>
                <a:cs typeface="Arial"/>
              </a:rPr>
              <a:t>O</a:t>
            </a:r>
            <a:r>
              <a:rPr dirty="0" baseline="-11904" sz="1050" spc="-7" b="1">
                <a:latin typeface="Arial"/>
                <a:cs typeface="Arial"/>
              </a:rPr>
              <a:t>A</a:t>
            </a:r>
            <a:r>
              <a:rPr dirty="0" sz="1100" spc="-5" b="1">
                <a:latin typeface="Arial"/>
                <a:cs typeface="Arial"/>
              </a:rPr>
              <a:t>L</a:t>
            </a:r>
            <a:r>
              <a:rPr dirty="0" baseline="-11904" sz="1050" spc="-7" b="1">
                <a:latin typeface="Arial"/>
                <a:cs typeface="Arial"/>
              </a:rPr>
              <a:t>A</a:t>
            </a:r>
            <a:r>
              <a:rPr dirty="0" baseline="-11904" sz="1050" spc="82" b="1">
                <a:latin typeface="Arial"/>
                <a:cs typeface="Arial"/>
              </a:rPr>
              <a:t> </a:t>
            </a:r>
            <a:r>
              <a:rPr dirty="0" sz="1100" spc="-5">
                <a:latin typeface="Arial"/>
                <a:cs typeface="Arial"/>
              </a:rPr>
              <a:t>workers</a:t>
            </a:r>
            <a:r>
              <a:rPr dirty="0" sz="1100" spc="75">
                <a:latin typeface="Arial"/>
                <a:cs typeface="Arial"/>
              </a:rPr>
              <a:t> </a:t>
            </a:r>
            <a:r>
              <a:rPr dirty="0" sz="1100" spc="-5">
                <a:latin typeface="Arial"/>
                <a:cs typeface="Arial"/>
              </a:rPr>
              <a:t>are</a:t>
            </a:r>
            <a:r>
              <a:rPr dirty="0" sz="1100" spc="75">
                <a:latin typeface="Arial"/>
                <a:cs typeface="Arial"/>
              </a:rPr>
              <a:t> </a:t>
            </a:r>
            <a:r>
              <a:rPr dirty="0" sz="1100" spc="-5">
                <a:latin typeface="Arial"/>
                <a:cs typeface="Arial"/>
              </a:rPr>
              <a:t>still</a:t>
            </a:r>
            <a:r>
              <a:rPr dirty="0" sz="1100" spc="70">
                <a:latin typeface="Arial"/>
                <a:cs typeface="Arial"/>
              </a:rPr>
              <a:t> </a:t>
            </a:r>
            <a:r>
              <a:rPr dirty="0" sz="1100" spc="-5">
                <a:latin typeface="Arial"/>
                <a:cs typeface="Arial"/>
              </a:rPr>
              <a:t>in</a:t>
            </a:r>
            <a:r>
              <a:rPr dirty="0" sz="1100" spc="65">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agricultural</a:t>
            </a:r>
            <a:r>
              <a:rPr dirty="0" sz="1100" spc="75">
                <a:latin typeface="Arial"/>
                <a:cs typeface="Arial"/>
              </a:rPr>
              <a:t> </a:t>
            </a:r>
            <a:r>
              <a:rPr dirty="0" sz="1100" spc="-5">
                <a:latin typeface="Arial"/>
                <a:cs typeface="Arial"/>
              </a:rPr>
              <a:t>sector,</a:t>
            </a:r>
            <a:r>
              <a:rPr dirty="0" sz="1100" spc="70">
                <a:latin typeface="Arial"/>
                <a:cs typeface="Arial"/>
              </a:rPr>
              <a:t> </a:t>
            </a:r>
            <a:r>
              <a:rPr dirty="0" sz="1100" spc="-5">
                <a:latin typeface="Arial"/>
                <a:cs typeface="Arial"/>
              </a:rPr>
              <a:t>and</a:t>
            </a:r>
            <a:r>
              <a:rPr dirty="0" sz="1100" spc="70">
                <a:latin typeface="Arial"/>
                <a:cs typeface="Arial"/>
              </a:rPr>
              <a:t> </a:t>
            </a:r>
            <a:r>
              <a:rPr dirty="0" sz="1100" spc="-5" b="1">
                <a:latin typeface="Arial"/>
                <a:cs typeface="Arial"/>
              </a:rPr>
              <a:t>O</a:t>
            </a:r>
            <a:r>
              <a:rPr dirty="0" baseline="-11904" sz="1050" spc="-7" b="1">
                <a:latin typeface="Arial"/>
                <a:cs typeface="Arial"/>
              </a:rPr>
              <a:t>M</a:t>
            </a:r>
            <a:r>
              <a:rPr dirty="0" sz="1100" spc="-5" b="1">
                <a:latin typeface="Arial"/>
                <a:cs typeface="Arial"/>
              </a:rPr>
              <a:t>L</a:t>
            </a:r>
            <a:r>
              <a:rPr dirty="0" baseline="-11904" sz="1050" spc="-7" b="1">
                <a:latin typeface="Arial"/>
                <a:cs typeface="Arial"/>
              </a:rPr>
              <a:t>M </a:t>
            </a:r>
            <a:r>
              <a:rPr dirty="0" baseline="-11904" sz="1050" b="1">
                <a:latin typeface="Arial"/>
                <a:cs typeface="Arial"/>
              </a:rPr>
              <a:t> </a:t>
            </a:r>
            <a:r>
              <a:rPr dirty="0" sz="1100" spc="-5">
                <a:latin typeface="Arial"/>
                <a:cs typeface="Arial"/>
              </a:rPr>
              <a:t>of</a:t>
            </a:r>
            <a:r>
              <a:rPr dirty="0" sz="1100" spc="70">
                <a:latin typeface="Arial"/>
                <a:cs typeface="Arial"/>
              </a:rPr>
              <a:t> </a:t>
            </a:r>
            <a:r>
              <a:rPr dirty="0" sz="1100" spc="-5">
                <a:latin typeface="Arial"/>
                <a:cs typeface="Arial"/>
              </a:rPr>
              <a:t>these</a:t>
            </a:r>
            <a:endParaRPr sz="1100">
              <a:latin typeface="Arial"/>
              <a:cs typeface="Arial"/>
            </a:endParaRPr>
          </a:p>
          <a:p>
            <a:pPr algn="just" marL="202565" marR="182880">
              <a:lnSpc>
                <a:spcPct val="95800"/>
              </a:lnSpc>
              <a:spcBef>
                <a:spcPts val="315"/>
              </a:spcBef>
            </a:pPr>
            <a:r>
              <a:rPr dirty="0" sz="1100" spc="-5">
                <a:latin typeface="Arial"/>
                <a:cs typeface="Arial"/>
              </a:rPr>
              <a:t>workers have modern (formal)-sector jobs paying wages. The rest, </a:t>
            </a:r>
            <a:r>
              <a:rPr dirty="0" sz="1100" spc="-5" b="1">
                <a:latin typeface="Arial"/>
                <a:cs typeface="Arial"/>
              </a:rPr>
              <a:t>O</a:t>
            </a:r>
            <a:r>
              <a:rPr dirty="0" baseline="-11904" sz="1050" spc="-7" b="1">
                <a:latin typeface="Arial"/>
                <a:cs typeface="Arial"/>
              </a:rPr>
              <a:t>M</a:t>
            </a:r>
            <a:r>
              <a:rPr dirty="0" sz="1100" spc="-5" b="1">
                <a:latin typeface="Arial"/>
                <a:cs typeface="Arial"/>
              </a:rPr>
              <a:t>L</a:t>
            </a:r>
            <a:r>
              <a:rPr dirty="0" baseline="-11904" sz="1050" spc="-7" b="1">
                <a:latin typeface="Arial"/>
                <a:cs typeface="Arial"/>
              </a:rPr>
              <a:t>A</a:t>
            </a:r>
            <a:r>
              <a:rPr dirty="0" sz="1100" spc="-5" b="1">
                <a:latin typeface="Arial"/>
                <a:cs typeface="Arial"/>
              </a:rPr>
              <a:t>-O</a:t>
            </a:r>
            <a:r>
              <a:rPr dirty="0" baseline="-11904" sz="1050" spc="-7" b="1">
                <a:latin typeface="Arial"/>
                <a:cs typeface="Arial"/>
              </a:rPr>
              <a:t>M</a:t>
            </a:r>
            <a:r>
              <a:rPr dirty="0" sz="1100" spc="-5" b="1">
                <a:latin typeface="Arial"/>
                <a:cs typeface="Arial"/>
              </a:rPr>
              <a:t>L</a:t>
            </a:r>
            <a:r>
              <a:rPr dirty="0" baseline="-11904" sz="1050" spc="-7" b="1">
                <a:latin typeface="Arial"/>
                <a:cs typeface="Arial"/>
              </a:rPr>
              <a:t>M</a:t>
            </a:r>
            <a:r>
              <a:rPr dirty="0" sz="1100" spc="-5">
                <a:latin typeface="Arial"/>
                <a:cs typeface="Arial"/>
              </a:rPr>
              <a:t>, are either  unemployed or engaged in low-income informal-sector activities. This explains the existence of  urban unemployment and the private economic rationality of continued rural-to-urban migration  despite this high unemployment. However, </a:t>
            </a:r>
            <a:r>
              <a:rPr dirty="0" sz="1100">
                <a:latin typeface="Arial"/>
                <a:cs typeface="Arial"/>
              </a:rPr>
              <a:t>although </a:t>
            </a:r>
            <a:r>
              <a:rPr dirty="0" sz="1100" spc="-5">
                <a:latin typeface="Arial"/>
                <a:cs typeface="Arial"/>
              </a:rPr>
              <a:t>it may be privately rational from a cost-  benefit perspective for an individual to migrate </a:t>
            </a:r>
            <a:r>
              <a:rPr dirty="0" sz="1100">
                <a:latin typeface="Arial"/>
                <a:cs typeface="Arial"/>
              </a:rPr>
              <a:t>to </a:t>
            </a:r>
            <a:r>
              <a:rPr dirty="0" sz="1100" spc="-5">
                <a:latin typeface="Arial"/>
                <a:cs typeface="Arial"/>
              </a:rPr>
              <a:t>the city despite high unemployment, it can, as  will soon become clear, be socially very</a:t>
            </a:r>
            <a:r>
              <a:rPr dirty="0" sz="1100" spc="25">
                <a:latin typeface="Arial"/>
                <a:cs typeface="Arial"/>
              </a:rPr>
              <a:t> </a:t>
            </a:r>
            <a:r>
              <a:rPr dirty="0" sz="1100" spc="-5">
                <a:latin typeface="Arial"/>
                <a:cs typeface="Arial"/>
              </a:rPr>
              <a:t>costly.</a:t>
            </a:r>
            <a:endParaRPr sz="1100">
              <a:latin typeface="Arial"/>
              <a:cs typeface="Arial"/>
            </a:endParaRPr>
          </a:p>
          <a:p>
            <a:pPr>
              <a:lnSpc>
                <a:spcPct val="100000"/>
              </a:lnSpc>
              <a:spcBef>
                <a:spcPts val="5"/>
              </a:spcBef>
            </a:pPr>
            <a:endParaRPr sz="1100">
              <a:latin typeface="Arial"/>
              <a:cs typeface="Arial"/>
            </a:endParaRPr>
          </a:p>
          <a:p>
            <a:pPr algn="just" marL="202565" marR="181610">
              <a:lnSpc>
                <a:spcPct val="95800"/>
              </a:lnSpc>
            </a:pPr>
            <a:r>
              <a:rPr dirty="0" sz="1100" spc="-5">
                <a:latin typeface="Arial"/>
                <a:cs typeface="Arial"/>
              </a:rPr>
              <a:t>There are many </a:t>
            </a:r>
            <a:r>
              <a:rPr dirty="0" sz="1100">
                <a:latin typeface="Arial"/>
                <a:cs typeface="Arial"/>
              </a:rPr>
              <a:t>ways </a:t>
            </a:r>
            <a:r>
              <a:rPr dirty="0" sz="1100" spc="-5">
                <a:latin typeface="Arial"/>
                <a:cs typeface="Arial"/>
              </a:rPr>
              <a:t>to extend the model; here we mention four. First, Equation 7.1 simplifies  by assuming that those who migrate and do not get a modern job receive no income; but if they  instead receive urban informal-sector income, we modify expected income accordingly.26  Second, note that if instead of assuming that all urban migrants are the same, we incorporate  the reality of different levels of human capital (education), we can understand why a higher  proportion of the rural educated migrate than the uneducated—because they </a:t>
            </a:r>
            <a:r>
              <a:rPr dirty="0" sz="1100">
                <a:latin typeface="Arial"/>
                <a:cs typeface="Arial"/>
              </a:rPr>
              <a:t>have </a:t>
            </a:r>
            <a:r>
              <a:rPr dirty="0" sz="1100" spc="-5">
                <a:latin typeface="Arial"/>
                <a:cs typeface="Arial"/>
              </a:rPr>
              <a:t>a </a:t>
            </a:r>
            <a:r>
              <a:rPr dirty="0" sz="1100">
                <a:latin typeface="Arial"/>
                <a:cs typeface="Arial"/>
              </a:rPr>
              <a:t>better  </a:t>
            </a:r>
            <a:r>
              <a:rPr dirty="0" sz="1100" spc="-5">
                <a:latin typeface="Arial"/>
                <a:cs typeface="Arial"/>
              </a:rPr>
              <a:t>chance (a higher probability) of earning even higher urban wages than unskilled</a:t>
            </a:r>
            <a:r>
              <a:rPr dirty="0" sz="1100" spc="155">
                <a:latin typeface="Arial"/>
                <a:cs typeface="Arial"/>
              </a:rPr>
              <a:t> </a:t>
            </a:r>
            <a:r>
              <a:rPr dirty="0" sz="1100" spc="-5">
                <a:latin typeface="Arial"/>
                <a:cs typeface="Arial"/>
              </a:rPr>
              <a:t>migrants.</a:t>
            </a:r>
            <a:endParaRPr sz="1100">
              <a:latin typeface="Arial"/>
              <a:cs typeface="Arial"/>
            </a:endParaRPr>
          </a:p>
          <a:p>
            <a:pPr>
              <a:lnSpc>
                <a:spcPct val="100000"/>
              </a:lnSpc>
              <a:spcBef>
                <a:spcPts val="55"/>
              </a:spcBef>
            </a:pPr>
            <a:endParaRPr sz="1050">
              <a:latin typeface="Arial"/>
              <a:cs typeface="Arial"/>
            </a:endParaRPr>
          </a:p>
          <a:p>
            <a:pPr algn="just" marL="202565" marR="180975">
              <a:lnSpc>
                <a:spcPct val="95800"/>
              </a:lnSpc>
            </a:pPr>
            <a:r>
              <a:rPr dirty="0" sz="1100" spc="-5">
                <a:latin typeface="Arial"/>
                <a:cs typeface="Arial"/>
              </a:rPr>
              <a:t>Third, we often observe </a:t>
            </a:r>
            <a:r>
              <a:rPr dirty="0" sz="1100">
                <a:latin typeface="Arial"/>
                <a:cs typeface="Arial"/>
              </a:rPr>
              <a:t>that </a:t>
            </a:r>
            <a:r>
              <a:rPr dirty="0" sz="1100" spc="-5">
                <a:latin typeface="Arial"/>
                <a:cs typeface="Arial"/>
              </a:rPr>
              <a:t>migrants from the </a:t>
            </a:r>
            <a:r>
              <a:rPr dirty="0" sz="1100">
                <a:latin typeface="Arial"/>
                <a:cs typeface="Arial"/>
              </a:rPr>
              <a:t>same </a:t>
            </a:r>
            <a:r>
              <a:rPr dirty="0" sz="1100" spc="-5">
                <a:latin typeface="Arial"/>
                <a:cs typeface="Arial"/>
              </a:rPr>
              <a:t>rural region tend to settle in common cities,  even the </a:t>
            </a:r>
            <a:r>
              <a:rPr dirty="0" sz="1100">
                <a:latin typeface="Arial"/>
                <a:cs typeface="Arial"/>
              </a:rPr>
              <a:t>same </a:t>
            </a:r>
            <a:r>
              <a:rPr dirty="0" sz="1100" spc="-5">
                <a:latin typeface="Arial"/>
                <a:cs typeface="Arial"/>
              </a:rPr>
              <a:t>neighborhoods of cities that are relatively distant from the migrants’ place of  origin. In a model proposed by William Carrington, Enrica Detragiache, and Tara Vishwanath,  earlier migrants create a positive externality for later potential migrants from their </a:t>
            </a:r>
            <a:r>
              <a:rPr dirty="0" sz="1100">
                <a:latin typeface="Arial"/>
                <a:cs typeface="Arial"/>
              </a:rPr>
              <a:t>home </a:t>
            </a:r>
            <a:r>
              <a:rPr dirty="0" sz="1100" spc="-5">
                <a:latin typeface="Arial"/>
                <a:cs typeface="Arial"/>
              </a:rPr>
              <a:t>region  by lowering their costs of moving by helping with resettlement and lowering their probability of  unemployment by providing them with jobs or information about available jobs. Thus the search  for employment, selection into the migration decision, and forward-looking behavior may all </a:t>
            </a:r>
            <a:r>
              <a:rPr dirty="0" sz="1100">
                <a:latin typeface="Arial"/>
                <a:cs typeface="Arial"/>
              </a:rPr>
              <a:t>be  </a:t>
            </a:r>
            <a:r>
              <a:rPr dirty="0" sz="1100" spc="-5">
                <a:latin typeface="Arial"/>
                <a:cs typeface="Arial"/>
              </a:rPr>
              <a:t>incorporated into an equilibrium migration</a:t>
            </a:r>
            <a:r>
              <a:rPr dirty="0" sz="1100" spc="15">
                <a:latin typeface="Arial"/>
                <a:cs typeface="Arial"/>
              </a:rPr>
              <a:t> </a:t>
            </a:r>
            <a:r>
              <a:rPr dirty="0" sz="1100" spc="-5">
                <a:latin typeface="Arial"/>
                <a:cs typeface="Arial"/>
              </a:rPr>
              <a:t>model.</a:t>
            </a:r>
            <a:endParaRPr sz="1100">
              <a:latin typeface="Arial"/>
              <a:cs typeface="Arial"/>
            </a:endParaRPr>
          </a:p>
          <a:p>
            <a:pPr>
              <a:lnSpc>
                <a:spcPct val="100000"/>
              </a:lnSpc>
            </a:pPr>
            <a:endParaRPr sz="1100">
              <a:latin typeface="Arial"/>
              <a:cs typeface="Arial"/>
            </a:endParaRPr>
          </a:p>
          <a:p>
            <a:pPr algn="just" marL="202565" marR="182245">
              <a:lnSpc>
                <a:spcPct val="95800"/>
              </a:lnSpc>
            </a:pPr>
            <a:r>
              <a:rPr dirty="0" sz="1100" spc="-5">
                <a:latin typeface="Arial"/>
                <a:cs typeface="Arial"/>
              </a:rPr>
              <a:t>Fourth, The Todaro and Harris-Todaro models are relevant to developing countries even if the  wage is not fixed by institutional forces, such as a minimum wage. Recent theoretical research  on rural-urban migration has confirmed that </a:t>
            </a:r>
            <a:r>
              <a:rPr dirty="0" sz="1100">
                <a:latin typeface="Arial"/>
                <a:cs typeface="Arial"/>
              </a:rPr>
              <a:t>the </a:t>
            </a:r>
            <a:r>
              <a:rPr dirty="0" sz="1100" spc="-5">
                <a:latin typeface="Arial"/>
                <a:cs typeface="Arial"/>
              </a:rPr>
              <a:t>emergence of a high modern-sector wage  alongside unemployment or an urban traditional sector as seen in these models can also result  from market responses to imperfect information, labor turnover, efficiency wage payments, and  other common features of labor</a:t>
            </a:r>
            <a:r>
              <a:rPr dirty="0" sz="1100" spc="15">
                <a:latin typeface="Arial"/>
                <a:cs typeface="Arial"/>
              </a:rPr>
              <a:t> </a:t>
            </a:r>
            <a:r>
              <a:rPr dirty="0" sz="1100" spc="-5">
                <a:latin typeface="Arial"/>
                <a:cs typeface="Arial"/>
              </a:rPr>
              <a:t>markets.</a:t>
            </a:r>
            <a:endParaRPr sz="1100">
              <a:latin typeface="Arial"/>
              <a:cs typeface="Arial"/>
            </a:endParaRPr>
          </a:p>
          <a:p>
            <a:pPr>
              <a:lnSpc>
                <a:spcPct val="100000"/>
              </a:lnSpc>
              <a:spcBef>
                <a:spcPts val="5"/>
              </a:spcBef>
            </a:pPr>
            <a:endParaRPr sz="1050">
              <a:latin typeface="Arial"/>
              <a:cs typeface="Arial"/>
            </a:endParaRPr>
          </a:p>
          <a:p>
            <a:pPr algn="just" marL="202565">
              <a:lnSpc>
                <a:spcPct val="100000"/>
              </a:lnSpc>
            </a:pPr>
            <a:r>
              <a:rPr dirty="0" sz="1100" spc="-5" b="1">
                <a:latin typeface="Arial"/>
                <a:cs typeface="Arial"/>
              </a:rPr>
              <a:t>LABOR TURNOVER</a:t>
            </a:r>
            <a:endParaRPr sz="1100">
              <a:latin typeface="Arial"/>
              <a:cs typeface="Arial"/>
            </a:endParaRPr>
          </a:p>
          <a:p>
            <a:pPr>
              <a:lnSpc>
                <a:spcPct val="100000"/>
              </a:lnSpc>
              <a:spcBef>
                <a:spcPts val="25"/>
              </a:spcBef>
            </a:pPr>
            <a:endParaRPr sz="1200">
              <a:latin typeface="Arial"/>
              <a:cs typeface="Arial"/>
            </a:endParaRPr>
          </a:p>
          <a:p>
            <a:pPr algn="just" marL="202565" marR="182880">
              <a:lnSpc>
                <a:spcPts val="1270"/>
              </a:lnSpc>
            </a:pPr>
            <a:r>
              <a:rPr dirty="0" sz="1100" spc="-5">
                <a:latin typeface="Arial"/>
                <a:cs typeface="Arial"/>
              </a:rPr>
              <a:t>Worker separations from employers, a concept used in theory that the urban-rural wage gap is  partly explained by the fact that urban modern-sector employers pay higher wages to reduce  labor turnover rates and retain trained and skilled</a:t>
            </a:r>
            <a:r>
              <a:rPr dirty="0" sz="1100" spc="35">
                <a:latin typeface="Arial"/>
                <a:cs typeface="Arial"/>
              </a:rPr>
              <a:t> </a:t>
            </a:r>
            <a:r>
              <a:rPr dirty="0" sz="1100" spc="-5">
                <a:latin typeface="Arial"/>
                <a:cs typeface="Arial"/>
              </a:rPr>
              <a:t>workers.</a:t>
            </a:r>
            <a:endParaRPr sz="1100">
              <a:latin typeface="Arial"/>
              <a:cs typeface="Arial"/>
            </a:endParaRPr>
          </a:p>
        </p:txBody>
      </p:sp>
      <p:sp>
        <p:nvSpPr>
          <p:cNvPr id="12" name="object 12"/>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3" name="object 13"/>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170</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2556"/>
            <a:ext cx="5970905" cy="825373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EFFICIENCY WAGE</a:t>
            </a:r>
            <a:endParaRPr sz="1100">
              <a:latin typeface="Arial"/>
              <a:cs typeface="Arial"/>
            </a:endParaRPr>
          </a:p>
          <a:p>
            <a:pPr>
              <a:lnSpc>
                <a:spcPct val="100000"/>
              </a:lnSpc>
              <a:spcBef>
                <a:spcPts val="55"/>
              </a:spcBef>
            </a:pPr>
            <a:endParaRPr sz="1150">
              <a:latin typeface="Arial"/>
              <a:cs typeface="Arial"/>
            </a:endParaRPr>
          </a:p>
          <a:p>
            <a:pPr algn="just" marL="12700" marR="8255">
              <a:lnSpc>
                <a:spcPct val="95700"/>
              </a:lnSpc>
            </a:pPr>
            <a:r>
              <a:rPr dirty="0" sz="1100" spc="-5">
                <a:latin typeface="Arial"/>
                <a:cs typeface="Arial"/>
              </a:rPr>
              <a:t>The notion that modern-sector urban employers pay a higher wage </a:t>
            </a:r>
            <a:r>
              <a:rPr dirty="0" sz="1100">
                <a:latin typeface="Arial"/>
                <a:cs typeface="Arial"/>
              </a:rPr>
              <a:t>than </a:t>
            </a:r>
            <a:r>
              <a:rPr dirty="0" sz="1100" spc="-5">
                <a:latin typeface="Arial"/>
                <a:cs typeface="Arial"/>
              </a:rPr>
              <a:t>the equilibrium wage  rate in order to attract and retain a higher-quality workforce or to obtain higher productivity on  the job.</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To sum up, the Todaro migration model has four basic</a:t>
            </a:r>
            <a:r>
              <a:rPr dirty="0" sz="1100" spc="75" b="1">
                <a:latin typeface="Arial"/>
                <a:cs typeface="Arial"/>
              </a:rPr>
              <a:t> </a:t>
            </a:r>
            <a:r>
              <a:rPr dirty="0" sz="1100" spc="-5" b="1">
                <a:latin typeface="Arial"/>
                <a:cs typeface="Arial"/>
              </a:rPr>
              <a:t>characteristics:</a:t>
            </a:r>
            <a:endParaRPr sz="1100">
              <a:latin typeface="Arial"/>
              <a:cs typeface="Arial"/>
            </a:endParaRPr>
          </a:p>
          <a:p>
            <a:pPr>
              <a:lnSpc>
                <a:spcPct val="100000"/>
              </a:lnSpc>
              <a:spcBef>
                <a:spcPts val="25"/>
              </a:spcBef>
            </a:pPr>
            <a:endParaRPr sz="1100">
              <a:latin typeface="Arial"/>
              <a:cs typeface="Arial"/>
            </a:endParaRPr>
          </a:p>
          <a:p>
            <a:pPr algn="just" marL="469900" marR="7620" indent="-228600">
              <a:lnSpc>
                <a:spcPts val="1270"/>
              </a:lnSpc>
              <a:buFont typeface="Arial"/>
              <a:buAutoNum type="arabicPeriod"/>
              <a:tabLst>
                <a:tab pos="469900" algn="l"/>
              </a:tabLst>
            </a:pPr>
            <a:r>
              <a:rPr dirty="0" sz="1100" spc="-5">
                <a:latin typeface="Arial"/>
                <a:cs typeface="Arial"/>
              </a:rPr>
              <a:t>Migration is stimulated primarily by rational economic considerations of relative benefits  and costs, mostly financial but also</a:t>
            </a:r>
            <a:r>
              <a:rPr dirty="0" sz="1100" spc="20">
                <a:latin typeface="Arial"/>
                <a:cs typeface="Arial"/>
              </a:rPr>
              <a:t> </a:t>
            </a:r>
            <a:r>
              <a:rPr dirty="0" sz="1100" spc="-5">
                <a:latin typeface="Arial"/>
                <a:cs typeface="Arial"/>
              </a:rPr>
              <a:t>psychological.</a:t>
            </a:r>
            <a:endParaRPr sz="1100">
              <a:latin typeface="Arial"/>
              <a:cs typeface="Arial"/>
            </a:endParaRPr>
          </a:p>
          <a:p>
            <a:pPr algn="just" marL="469900" indent="-228600">
              <a:lnSpc>
                <a:spcPts val="1195"/>
              </a:lnSpc>
              <a:buFont typeface="Arial"/>
              <a:buAutoNum type="arabicPeriod"/>
              <a:tabLst>
                <a:tab pos="469900" algn="l"/>
              </a:tabLst>
            </a:pPr>
            <a:r>
              <a:rPr dirty="0" sz="1100" spc="-5">
                <a:latin typeface="Arial"/>
                <a:cs typeface="Arial"/>
              </a:rPr>
              <a:t>The decision to migrate depends on expected rather than actual urban rural</a:t>
            </a:r>
            <a:r>
              <a:rPr dirty="0" sz="1100" spc="5">
                <a:latin typeface="Arial"/>
                <a:cs typeface="Arial"/>
              </a:rPr>
              <a:t> </a:t>
            </a:r>
            <a:r>
              <a:rPr dirty="0" sz="1100" spc="-5">
                <a:latin typeface="Arial"/>
                <a:cs typeface="Arial"/>
              </a:rPr>
              <a:t>real-wage</a:t>
            </a:r>
            <a:endParaRPr sz="1100">
              <a:latin typeface="Arial"/>
              <a:cs typeface="Arial"/>
            </a:endParaRPr>
          </a:p>
          <a:p>
            <a:pPr algn="just" marL="469900" marR="6985">
              <a:lnSpc>
                <a:spcPts val="1270"/>
              </a:lnSpc>
              <a:spcBef>
                <a:spcPts val="60"/>
              </a:spcBef>
            </a:pPr>
            <a:r>
              <a:rPr dirty="0" sz="1100" spc="-5">
                <a:latin typeface="Arial"/>
                <a:cs typeface="Arial"/>
              </a:rPr>
              <a:t>differentials where the expected differential is determine by the interaction of two  variables, the actual urban-rural wage differential and the probability of successfully  obtaining employment in the urban</a:t>
            </a:r>
            <a:r>
              <a:rPr dirty="0" sz="1100" spc="15">
                <a:latin typeface="Arial"/>
                <a:cs typeface="Arial"/>
              </a:rPr>
              <a:t> </a:t>
            </a:r>
            <a:r>
              <a:rPr dirty="0" sz="1100" spc="-5">
                <a:latin typeface="Arial"/>
                <a:cs typeface="Arial"/>
              </a:rPr>
              <a:t>sector.</a:t>
            </a:r>
            <a:endParaRPr sz="1100">
              <a:latin typeface="Arial"/>
              <a:cs typeface="Arial"/>
            </a:endParaRPr>
          </a:p>
          <a:p>
            <a:pPr algn="just" marL="469900" indent="-228600">
              <a:lnSpc>
                <a:spcPts val="1195"/>
              </a:lnSpc>
              <a:buFont typeface="Arial"/>
              <a:buAutoNum type="arabicPeriod" startAt="3"/>
              <a:tabLst>
                <a:tab pos="469900" algn="l"/>
              </a:tabLst>
            </a:pPr>
            <a:r>
              <a:rPr dirty="0" sz="1100" spc="-5">
                <a:latin typeface="Arial"/>
                <a:cs typeface="Arial"/>
              </a:rPr>
              <a:t>The</a:t>
            </a:r>
            <a:r>
              <a:rPr dirty="0" sz="1100" spc="35">
                <a:latin typeface="Arial"/>
                <a:cs typeface="Arial"/>
              </a:rPr>
              <a:t> </a:t>
            </a:r>
            <a:r>
              <a:rPr dirty="0" sz="1100" spc="-5">
                <a:latin typeface="Arial"/>
                <a:cs typeface="Arial"/>
              </a:rPr>
              <a:t>probability</a:t>
            </a:r>
            <a:r>
              <a:rPr dirty="0" sz="1100" spc="40">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obtaining</a:t>
            </a:r>
            <a:r>
              <a:rPr dirty="0" sz="1100" spc="35">
                <a:latin typeface="Arial"/>
                <a:cs typeface="Arial"/>
              </a:rPr>
              <a:t> </a:t>
            </a:r>
            <a:r>
              <a:rPr dirty="0" sz="1100" spc="-5">
                <a:latin typeface="Arial"/>
                <a:cs typeface="Arial"/>
              </a:rPr>
              <a:t>an</a:t>
            </a:r>
            <a:r>
              <a:rPr dirty="0" sz="1100" spc="40">
                <a:latin typeface="Arial"/>
                <a:cs typeface="Arial"/>
              </a:rPr>
              <a:t> </a:t>
            </a:r>
            <a:r>
              <a:rPr dirty="0" sz="1100" spc="-5">
                <a:latin typeface="Arial"/>
                <a:cs typeface="Arial"/>
              </a:rPr>
              <a:t>urban</a:t>
            </a:r>
            <a:r>
              <a:rPr dirty="0" sz="1100" spc="40">
                <a:latin typeface="Arial"/>
                <a:cs typeface="Arial"/>
              </a:rPr>
              <a:t> </a:t>
            </a:r>
            <a:r>
              <a:rPr dirty="0" sz="1100" spc="-5">
                <a:latin typeface="Arial"/>
                <a:cs typeface="Arial"/>
              </a:rPr>
              <a:t>job</a:t>
            </a:r>
            <a:r>
              <a:rPr dirty="0" sz="1100" spc="40">
                <a:latin typeface="Arial"/>
                <a:cs typeface="Arial"/>
              </a:rPr>
              <a:t> </a:t>
            </a:r>
            <a:r>
              <a:rPr dirty="0" sz="1100" spc="-5">
                <a:latin typeface="Arial"/>
                <a:cs typeface="Arial"/>
              </a:rPr>
              <a:t>is</a:t>
            </a:r>
            <a:r>
              <a:rPr dirty="0" sz="1100" spc="35">
                <a:latin typeface="Arial"/>
                <a:cs typeface="Arial"/>
              </a:rPr>
              <a:t> </a:t>
            </a:r>
            <a:r>
              <a:rPr dirty="0" sz="1100" spc="-5">
                <a:latin typeface="Arial"/>
                <a:cs typeface="Arial"/>
              </a:rPr>
              <a:t>directly</a:t>
            </a:r>
            <a:r>
              <a:rPr dirty="0" sz="1100" spc="40">
                <a:latin typeface="Arial"/>
                <a:cs typeface="Arial"/>
              </a:rPr>
              <a:t> </a:t>
            </a:r>
            <a:r>
              <a:rPr dirty="0" sz="1100" spc="-5">
                <a:latin typeface="Arial"/>
                <a:cs typeface="Arial"/>
              </a:rPr>
              <a:t>related</a:t>
            </a:r>
            <a:r>
              <a:rPr dirty="0" sz="1100" spc="40">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urban</a:t>
            </a:r>
            <a:r>
              <a:rPr dirty="0" sz="1100" spc="40">
                <a:latin typeface="Arial"/>
                <a:cs typeface="Arial"/>
              </a:rPr>
              <a:t> </a:t>
            </a:r>
            <a:r>
              <a:rPr dirty="0" sz="1100" spc="-5">
                <a:latin typeface="Arial"/>
                <a:cs typeface="Arial"/>
              </a:rPr>
              <a:t>employment</a:t>
            </a:r>
            <a:r>
              <a:rPr dirty="0" sz="1100" spc="40">
                <a:latin typeface="Arial"/>
                <a:cs typeface="Arial"/>
              </a:rPr>
              <a:t> </a:t>
            </a:r>
            <a:r>
              <a:rPr dirty="0" sz="1100" spc="-5">
                <a:latin typeface="Arial"/>
                <a:cs typeface="Arial"/>
              </a:rPr>
              <a:t>rate</a:t>
            </a:r>
            <a:endParaRPr sz="1100">
              <a:latin typeface="Arial"/>
              <a:cs typeface="Arial"/>
            </a:endParaRPr>
          </a:p>
          <a:p>
            <a:pPr algn="just" marL="469900">
              <a:lnSpc>
                <a:spcPts val="1265"/>
              </a:lnSpc>
            </a:pPr>
            <a:r>
              <a:rPr dirty="0" sz="1100" spc="-5">
                <a:latin typeface="Arial"/>
                <a:cs typeface="Arial"/>
              </a:rPr>
              <a:t>and thus inversely related to the urban unemployment</a:t>
            </a:r>
            <a:r>
              <a:rPr dirty="0" sz="1100" spc="45">
                <a:latin typeface="Arial"/>
                <a:cs typeface="Arial"/>
              </a:rPr>
              <a:t> </a:t>
            </a:r>
            <a:r>
              <a:rPr dirty="0" sz="1100" spc="-5">
                <a:latin typeface="Arial"/>
                <a:cs typeface="Arial"/>
              </a:rPr>
              <a:t>rate.</a:t>
            </a:r>
            <a:endParaRPr sz="1100">
              <a:latin typeface="Arial"/>
              <a:cs typeface="Arial"/>
            </a:endParaRPr>
          </a:p>
          <a:p>
            <a:pPr algn="just" marL="469900" marR="6985" indent="-228600">
              <a:lnSpc>
                <a:spcPct val="95800"/>
              </a:lnSpc>
              <a:spcBef>
                <a:spcPts val="25"/>
              </a:spcBef>
              <a:buFont typeface="Arial"/>
              <a:buAutoNum type="arabicPeriod" startAt="4"/>
              <a:tabLst>
                <a:tab pos="469900" algn="l"/>
              </a:tabLst>
            </a:pPr>
            <a:r>
              <a:rPr dirty="0" sz="1100" spc="-5">
                <a:latin typeface="Arial"/>
                <a:cs typeface="Arial"/>
              </a:rPr>
              <a:t>Migration rates in excess of urban job opportunity growth rates are not only possible but  also rational and even </a:t>
            </a:r>
            <a:r>
              <a:rPr dirty="0" sz="1100">
                <a:latin typeface="Arial"/>
                <a:cs typeface="Arial"/>
              </a:rPr>
              <a:t>likely </a:t>
            </a:r>
            <a:r>
              <a:rPr dirty="0" sz="1100" spc="-5">
                <a:latin typeface="Arial"/>
                <a:cs typeface="Arial"/>
              </a:rPr>
              <a:t>in the face of wide urban rural expected income differentials.  High rates of urban unemployment are therefore inevitable outcomes of the serious  imbalance of economic opportunities between urban and rural areas in most  underdeveloped countries.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FIVE POLICY</a:t>
            </a:r>
            <a:r>
              <a:rPr dirty="0" sz="1100" b="1">
                <a:latin typeface="Arial"/>
                <a:cs typeface="Arial"/>
              </a:rPr>
              <a:t> </a:t>
            </a:r>
            <a:r>
              <a:rPr dirty="0" sz="1100" spc="-5" b="1">
                <a:latin typeface="Arial"/>
                <a:cs typeface="Arial"/>
              </a:rPr>
              <a:t>IMPLICATIONS</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800"/>
              </a:lnSpc>
            </a:pPr>
            <a:r>
              <a:rPr dirty="0" sz="1100" spc="-5">
                <a:latin typeface="Arial"/>
                <a:cs typeface="Arial"/>
              </a:rPr>
              <a:t>Although the Todaro theory might at first seem to devalue the critical importance of rural-urban  migration by portraying it as an adjustment mechanism by which workers allocate themselves  between rural and urban labor markets, it does have important policy implications for  development strategy with regard to wages and incomes, rural development, and  industrialization.</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b="1">
                <a:latin typeface="Arial"/>
                <a:cs typeface="Arial"/>
              </a:rPr>
              <a:t>First, </a:t>
            </a:r>
            <a:r>
              <a:rPr dirty="0" sz="1100" spc="-5">
                <a:latin typeface="Arial"/>
                <a:cs typeface="Arial"/>
              </a:rPr>
              <a:t>imbalances in urban-rural employment opportunities caused by the urban bias,  particularly first-city bias, of development strategies must be reduced. Because migrants are  assumed to respond to differentials in expected </a:t>
            </a:r>
            <a:r>
              <a:rPr dirty="0" sz="1100">
                <a:latin typeface="Arial"/>
                <a:cs typeface="Arial"/>
              </a:rPr>
              <a:t>incomes, </a:t>
            </a:r>
            <a:r>
              <a:rPr dirty="0" sz="1100" spc="-5">
                <a:latin typeface="Arial"/>
                <a:cs typeface="Arial"/>
              </a:rPr>
              <a:t>it is vitally important that imbalances  between economic opportunities in rural and urban sectors be minimized. When urban wage  rates rise faster than average rural incomes, they stimulate further rural-urban migration in spite  of rising levels of urban unemployment. This heavy influx of people into urban areas not only  gives rise to socioeconomic problems in the cities but may also eventually create problems of  labor shortages in rural areas, especially during the busy seasons. These social costs may  exceed the private benefits of</a:t>
            </a:r>
            <a:r>
              <a:rPr dirty="0" sz="1100" spc="20">
                <a:latin typeface="Arial"/>
                <a:cs typeface="Arial"/>
              </a:rPr>
              <a:t> </a:t>
            </a:r>
            <a:r>
              <a:rPr dirty="0" sz="1100" spc="-5">
                <a:latin typeface="Arial"/>
                <a:cs typeface="Arial"/>
              </a:rPr>
              <a:t>migration.</a:t>
            </a:r>
            <a:endParaRPr sz="1100">
              <a:latin typeface="Arial"/>
              <a:cs typeface="Arial"/>
            </a:endParaRPr>
          </a:p>
          <a:p>
            <a:pPr>
              <a:lnSpc>
                <a:spcPct val="100000"/>
              </a:lnSpc>
            </a:pPr>
            <a:endParaRPr sz="1100">
              <a:latin typeface="Arial"/>
              <a:cs typeface="Arial"/>
            </a:endParaRPr>
          </a:p>
          <a:p>
            <a:pPr algn="just" marL="12700" marR="6985">
              <a:lnSpc>
                <a:spcPct val="95800"/>
              </a:lnSpc>
            </a:pPr>
            <a:r>
              <a:rPr dirty="0" sz="1100" spc="-5" b="1">
                <a:latin typeface="Arial"/>
                <a:cs typeface="Arial"/>
              </a:rPr>
              <a:t>Second, </a:t>
            </a:r>
            <a:r>
              <a:rPr dirty="0" sz="1100" spc="-5">
                <a:latin typeface="Arial"/>
                <a:cs typeface="Arial"/>
              </a:rPr>
              <a:t>urban job creation is an insufficient solution for the urban unemployment problem. The  traditional (Keynesian) economic solution to urban unemployment (the creation of more urban  modern-sector jobs without simultaneous attempts to improve rural incomes and employment  opportunities) can result in the paradoxical situation where more </a:t>
            </a:r>
            <a:r>
              <a:rPr dirty="0" sz="1100">
                <a:latin typeface="Arial"/>
                <a:cs typeface="Arial"/>
              </a:rPr>
              <a:t>urban </a:t>
            </a:r>
            <a:r>
              <a:rPr dirty="0" sz="1100" spc="-5">
                <a:latin typeface="Arial"/>
                <a:cs typeface="Arial"/>
              </a:rPr>
              <a:t>employment leads </a:t>
            </a:r>
            <a:r>
              <a:rPr dirty="0" sz="1100">
                <a:latin typeface="Arial"/>
                <a:cs typeface="Arial"/>
              </a:rPr>
              <a:t>to  </a:t>
            </a:r>
            <a:r>
              <a:rPr dirty="0" sz="1100" spc="-5">
                <a:latin typeface="Arial"/>
                <a:cs typeface="Arial"/>
              </a:rPr>
              <a:t>higher levels of urban unemployment! Once again, the imbalance in expected income-earning  opportunities is the crucial concept. Because migration rates are assumed to respond positively  to both higher urban wages and higher urban employment opportunities (or probabilities), it  follows that for any </a:t>
            </a:r>
            <a:r>
              <a:rPr dirty="0" sz="1100">
                <a:latin typeface="Arial"/>
                <a:cs typeface="Arial"/>
              </a:rPr>
              <a:t>given </a:t>
            </a:r>
            <a:r>
              <a:rPr dirty="0" sz="1100" spc="-5">
                <a:latin typeface="Arial"/>
                <a:cs typeface="Arial"/>
              </a:rPr>
              <a:t>positive urban-rural wage differential (in most developing countries,  urban wages are typically three to four times as large as rural wages), higher urban employment  rates will widen the expected differential and induce even higher rates of rural-urban migration.  For</a:t>
            </a:r>
            <a:r>
              <a:rPr dirty="0" sz="1100" spc="45">
                <a:latin typeface="Arial"/>
                <a:cs typeface="Arial"/>
              </a:rPr>
              <a:t> </a:t>
            </a:r>
            <a:r>
              <a:rPr dirty="0" sz="1100" spc="-5">
                <a:latin typeface="Arial"/>
                <a:cs typeface="Arial"/>
              </a:rPr>
              <a:t>every</a:t>
            </a:r>
            <a:r>
              <a:rPr dirty="0" sz="1100" spc="45">
                <a:latin typeface="Arial"/>
                <a:cs typeface="Arial"/>
              </a:rPr>
              <a:t> </a:t>
            </a:r>
            <a:r>
              <a:rPr dirty="0" sz="1100">
                <a:latin typeface="Arial"/>
                <a:cs typeface="Arial"/>
              </a:rPr>
              <a:t>new</a:t>
            </a:r>
            <a:r>
              <a:rPr dirty="0" sz="1100" spc="50">
                <a:latin typeface="Arial"/>
                <a:cs typeface="Arial"/>
              </a:rPr>
              <a:t> </a:t>
            </a:r>
            <a:r>
              <a:rPr dirty="0" sz="1100" spc="-5">
                <a:latin typeface="Arial"/>
                <a:cs typeface="Arial"/>
              </a:rPr>
              <a:t>job</a:t>
            </a:r>
            <a:r>
              <a:rPr dirty="0" sz="1100" spc="45">
                <a:latin typeface="Arial"/>
                <a:cs typeface="Arial"/>
              </a:rPr>
              <a:t> </a:t>
            </a:r>
            <a:r>
              <a:rPr dirty="0" sz="1100" spc="-5">
                <a:latin typeface="Arial"/>
                <a:cs typeface="Arial"/>
              </a:rPr>
              <a:t>created,</a:t>
            </a:r>
            <a:r>
              <a:rPr dirty="0" sz="1100" spc="50">
                <a:latin typeface="Arial"/>
                <a:cs typeface="Arial"/>
              </a:rPr>
              <a:t> </a:t>
            </a:r>
            <a:r>
              <a:rPr dirty="0" sz="1100" spc="-5">
                <a:latin typeface="Arial"/>
                <a:cs typeface="Arial"/>
              </a:rPr>
              <a:t>two</a:t>
            </a:r>
            <a:r>
              <a:rPr dirty="0" sz="1100" spc="45">
                <a:latin typeface="Arial"/>
                <a:cs typeface="Arial"/>
              </a:rPr>
              <a:t> </a:t>
            </a:r>
            <a:r>
              <a:rPr dirty="0" sz="1100" spc="-5">
                <a:latin typeface="Arial"/>
                <a:cs typeface="Arial"/>
              </a:rPr>
              <a:t>or</a:t>
            </a:r>
            <a:r>
              <a:rPr dirty="0" sz="1100" spc="50">
                <a:latin typeface="Arial"/>
                <a:cs typeface="Arial"/>
              </a:rPr>
              <a:t> </a:t>
            </a:r>
            <a:r>
              <a:rPr dirty="0" sz="1100" spc="-5">
                <a:latin typeface="Arial"/>
                <a:cs typeface="Arial"/>
              </a:rPr>
              <a:t>three</a:t>
            </a:r>
            <a:r>
              <a:rPr dirty="0" sz="1100" spc="45">
                <a:latin typeface="Arial"/>
                <a:cs typeface="Arial"/>
              </a:rPr>
              <a:t> </a:t>
            </a:r>
            <a:r>
              <a:rPr dirty="0" sz="1100" spc="-5">
                <a:latin typeface="Arial"/>
                <a:cs typeface="Arial"/>
              </a:rPr>
              <a:t>migrants</a:t>
            </a:r>
            <a:r>
              <a:rPr dirty="0" sz="1100" spc="50">
                <a:latin typeface="Arial"/>
                <a:cs typeface="Arial"/>
              </a:rPr>
              <a:t> </a:t>
            </a:r>
            <a:r>
              <a:rPr dirty="0" sz="1100" spc="-5">
                <a:latin typeface="Arial"/>
                <a:cs typeface="Arial"/>
              </a:rPr>
              <a:t>who</a:t>
            </a:r>
            <a:r>
              <a:rPr dirty="0" sz="1100" spc="45">
                <a:latin typeface="Arial"/>
                <a:cs typeface="Arial"/>
              </a:rPr>
              <a:t> </a:t>
            </a:r>
            <a:r>
              <a:rPr dirty="0" sz="1100" spc="-5">
                <a:latin typeface="Arial"/>
                <a:cs typeface="Arial"/>
              </a:rPr>
              <a:t>were</a:t>
            </a:r>
            <a:r>
              <a:rPr dirty="0" sz="1100" spc="50">
                <a:latin typeface="Arial"/>
                <a:cs typeface="Arial"/>
              </a:rPr>
              <a:t> </a:t>
            </a:r>
            <a:r>
              <a:rPr dirty="0" sz="1100" spc="-5">
                <a:latin typeface="Arial"/>
                <a:cs typeface="Arial"/>
              </a:rPr>
              <a:t>productively</a:t>
            </a:r>
            <a:r>
              <a:rPr dirty="0" sz="1100" spc="45">
                <a:latin typeface="Arial"/>
                <a:cs typeface="Arial"/>
              </a:rPr>
              <a:t> </a:t>
            </a:r>
            <a:r>
              <a:rPr dirty="0" sz="1100" spc="-5">
                <a:latin typeface="Arial"/>
                <a:cs typeface="Arial"/>
              </a:rPr>
              <a:t>occupied</a:t>
            </a:r>
            <a:r>
              <a:rPr dirty="0" sz="1100" spc="50">
                <a:latin typeface="Arial"/>
                <a:cs typeface="Arial"/>
              </a:rPr>
              <a:t> </a:t>
            </a:r>
            <a:r>
              <a:rPr dirty="0" sz="1100" spc="-5">
                <a:latin typeface="Arial"/>
                <a:cs typeface="Arial"/>
              </a:rPr>
              <a:t>in</a:t>
            </a:r>
            <a:r>
              <a:rPr dirty="0" sz="1100" spc="45">
                <a:latin typeface="Arial"/>
                <a:cs typeface="Arial"/>
              </a:rPr>
              <a:t> </a:t>
            </a:r>
            <a:r>
              <a:rPr dirty="0" sz="1100" spc="-5">
                <a:latin typeface="Arial"/>
                <a:cs typeface="Arial"/>
              </a:rPr>
              <a:t>rural</a:t>
            </a:r>
            <a:r>
              <a:rPr dirty="0" sz="1100" spc="50">
                <a:latin typeface="Arial"/>
                <a:cs typeface="Arial"/>
              </a:rPr>
              <a:t> </a:t>
            </a:r>
            <a:r>
              <a:rPr dirty="0" sz="1100" spc="-5">
                <a:latin typeface="Arial"/>
                <a:cs typeface="Arial"/>
              </a:rPr>
              <a:t>areas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171</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6939915"/>
          </a:xfrm>
          <a:prstGeom prst="rect">
            <a:avLst/>
          </a:prstGeom>
        </p:spPr>
        <p:txBody>
          <a:bodyPr wrap="square" lIns="0" tIns="19050" rIns="0" bIns="0" rtlCol="0" vert="horz">
            <a:spAutoFit/>
          </a:bodyPr>
          <a:lstStyle/>
          <a:p>
            <a:pPr algn="just" marL="12700" marR="6350">
              <a:lnSpc>
                <a:spcPct val="95800"/>
              </a:lnSpc>
              <a:spcBef>
                <a:spcPts val="150"/>
              </a:spcBef>
            </a:pPr>
            <a:r>
              <a:rPr dirty="0" sz="1100" spc="-5">
                <a:latin typeface="Arial"/>
                <a:cs typeface="Arial"/>
              </a:rPr>
              <a:t>may </a:t>
            </a:r>
            <a:r>
              <a:rPr dirty="0" sz="1100">
                <a:latin typeface="Arial"/>
                <a:cs typeface="Arial"/>
              </a:rPr>
              <a:t>come to </a:t>
            </a:r>
            <a:r>
              <a:rPr dirty="0" sz="1100" spc="-5">
                <a:latin typeface="Arial"/>
                <a:cs typeface="Arial"/>
              </a:rPr>
              <a:t>the city. Thus, if 100 new jobs are created, there may </a:t>
            </a:r>
            <a:r>
              <a:rPr dirty="0" sz="1100">
                <a:latin typeface="Arial"/>
                <a:cs typeface="Arial"/>
              </a:rPr>
              <a:t>be </a:t>
            </a:r>
            <a:r>
              <a:rPr dirty="0" sz="1100" spc="-5">
                <a:latin typeface="Arial"/>
                <a:cs typeface="Arial"/>
              </a:rPr>
              <a:t>as many as 300 new  migrants and therefore 200 more urban unemployed. Hence a policy designed to reduce urban  unemployment may </a:t>
            </a:r>
            <a:r>
              <a:rPr dirty="0" sz="1100">
                <a:latin typeface="Arial"/>
                <a:cs typeface="Arial"/>
              </a:rPr>
              <a:t>lead </a:t>
            </a:r>
            <a:r>
              <a:rPr dirty="0" sz="1100" spc="-5">
                <a:latin typeface="Arial"/>
                <a:cs typeface="Arial"/>
              </a:rPr>
              <a:t>not only to higher levels of urban unemployment but also to lower  levels of agricultural output due to induced</a:t>
            </a:r>
            <a:r>
              <a:rPr dirty="0" sz="1100" spc="35">
                <a:latin typeface="Arial"/>
                <a:cs typeface="Arial"/>
              </a:rPr>
              <a:t> </a:t>
            </a:r>
            <a:r>
              <a:rPr dirty="0" sz="1100" spc="-5">
                <a:latin typeface="Arial"/>
                <a:cs typeface="Arial"/>
              </a:rPr>
              <a:t>migration.</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b="1">
                <a:latin typeface="Arial"/>
                <a:cs typeface="Arial"/>
              </a:rPr>
              <a:t>Third, </a:t>
            </a:r>
            <a:r>
              <a:rPr dirty="0" sz="1100" spc="-5">
                <a:latin typeface="Arial"/>
                <a:cs typeface="Arial"/>
              </a:rPr>
              <a:t>indiscriminate educational expansion will lead to further migration and unemployment.  The Todaro model also has important policy implications for curtailing public investment in  higher education. The heavy influx of rural migrants into urban areas at rates much in excess of  new employment opportunities necessitates rationing in the selection of new employees.  Although within each educational group such selection may be largely random, many observers  have noted that employers tend to use educational attainment or number of years of completed  schooling as the typical rationing device. For the same wage, they will hire people with more  education in preference to those with less, even though extra education may not contribute to  better job performance. Jobs that could formerly be filled by those with a primary education  (sweepers, messengers, filing clerks, etc.) now require secondary training; those formerly  requiring a secondary certificate (clerks, typists, bookkeepers, etc.) must now have a university  degree. It follows that for any given urban wage, if the probability of success in securing a  modern-sector job is higher for people with more education, their expected income differential  will also be higher, and they will be more likely to migrate to the cities. The basic Todaro model  therefore provides an economic explanation for </a:t>
            </a:r>
            <a:r>
              <a:rPr dirty="0" sz="1100">
                <a:latin typeface="Arial"/>
                <a:cs typeface="Arial"/>
              </a:rPr>
              <a:t>the </a:t>
            </a:r>
            <a:r>
              <a:rPr dirty="0" sz="1100" spc="-5">
                <a:latin typeface="Arial"/>
                <a:cs typeface="Arial"/>
              </a:rPr>
              <a:t>observed fact in most developing countries  that rural inhabitants with more education are more likely to migrate than those with</a:t>
            </a:r>
            <a:r>
              <a:rPr dirty="0" sz="1100" spc="160">
                <a:latin typeface="Arial"/>
                <a:cs typeface="Arial"/>
              </a:rPr>
              <a:t> </a:t>
            </a:r>
            <a:r>
              <a:rPr dirty="0" sz="1100" spc="-5">
                <a:latin typeface="Arial"/>
                <a:cs typeface="Arial"/>
              </a:rPr>
              <a:t>less.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b="1">
                <a:latin typeface="Arial"/>
                <a:cs typeface="Arial"/>
              </a:rPr>
              <a:t>Fourth, </a:t>
            </a:r>
            <a:r>
              <a:rPr dirty="0" sz="1100">
                <a:latin typeface="Arial"/>
                <a:cs typeface="Arial"/>
              </a:rPr>
              <a:t>wage </a:t>
            </a:r>
            <a:r>
              <a:rPr dirty="0" sz="1100" spc="-5">
                <a:latin typeface="Arial"/>
                <a:cs typeface="Arial"/>
              </a:rPr>
              <a:t>subsidies and traditional scarcity factor pricing can be counterproductive. As  noted in Chapter 5 and Appendix 5.1, a standard economic policy prescription for generating  urban employment opportunities is to eliminate </a:t>
            </a:r>
            <a:r>
              <a:rPr dirty="0" sz="1100">
                <a:latin typeface="Arial"/>
                <a:cs typeface="Arial"/>
              </a:rPr>
              <a:t>factor </a:t>
            </a:r>
            <a:r>
              <a:rPr dirty="0" sz="1100" spc="-5">
                <a:latin typeface="Arial"/>
                <a:cs typeface="Arial"/>
              </a:rPr>
              <a:t>price distortions by using “correct” prices,  perhaps implemented by wage subsidies (fixed government subsidies to employers for each  worker employed) or direct government hiring. Because actual urban wages generally exceed  the market or “correct” wage as a result of a variety of institutional factors, it is often argued that  the elimination of wage distortions through price adjustments or a subsidy system will  encourage more labor-intensive modes of production. Although such policies can generate  more labor-intensive modes of production, they can also lead to higher levels of unemployment  in accordance with our argument </a:t>
            </a:r>
            <a:r>
              <a:rPr dirty="0" sz="1100">
                <a:latin typeface="Arial"/>
                <a:cs typeface="Arial"/>
              </a:rPr>
              <a:t>about </a:t>
            </a:r>
            <a:r>
              <a:rPr dirty="0" sz="1100" spc="-5">
                <a:latin typeface="Arial"/>
                <a:cs typeface="Arial"/>
              </a:rPr>
              <a:t>induced migration. The overall welfare impact of a wage  subsidy policy when both the rural and urban sectors are taken into account is not immediately  clear. Much will depend on the level of urban unemployment, the size of the urban-rural  expected-income differential, and the magnitude of induced migration as more urban jobs are  created.</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b="1">
                <a:latin typeface="Arial"/>
                <a:cs typeface="Arial"/>
              </a:rPr>
              <a:t>Finally, </a:t>
            </a:r>
            <a:r>
              <a:rPr dirty="0" sz="1100" spc="-5">
                <a:latin typeface="Arial"/>
                <a:cs typeface="Arial"/>
              </a:rPr>
              <a:t>programs of integrated rural development should be encouraged. Policies that operate  only on the demand side of the urban employment </a:t>
            </a:r>
            <a:r>
              <a:rPr dirty="0" sz="1100">
                <a:latin typeface="Arial"/>
                <a:cs typeface="Arial"/>
              </a:rPr>
              <a:t>picture, </a:t>
            </a:r>
            <a:r>
              <a:rPr dirty="0" sz="1100" spc="-5">
                <a:latin typeface="Arial"/>
                <a:cs typeface="Arial"/>
              </a:rPr>
              <a:t>such as wage subsidies, direct  government hiring, elimination of factor price distortions, and employer tax incentives, are  probably far less effective in the long run in alleviating the unemployment problem </a:t>
            </a:r>
            <a:r>
              <a:rPr dirty="0" sz="1100">
                <a:latin typeface="Arial"/>
                <a:cs typeface="Arial"/>
              </a:rPr>
              <a:t>than </a:t>
            </a:r>
            <a:r>
              <a:rPr dirty="0" sz="1100" spc="-5">
                <a:latin typeface="Arial"/>
                <a:cs typeface="Arial"/>
              </a:rPr>
              <a:t>policies  designed directly to regulate the supply of labor to urban areas. Clearly, however, </a:t>
            </a:r>
            <a:r>
              <a:rPr dirty="0" sz="1100">
                <a:latin typeface="Arial"/>
                <a:cs typeface="Arial"/>
              </a:rPr>
              <a:t>some  </a:t>
            </a:r>
            <a:r>
              <a:rPr dirty="0" sz="1100" spc="-5">
                <a:latin typeface="Arial"/>
                <a:cs typeface="Arial"/>
              </a:rPr>
              <a:t>combination of both kinds of policies is most</a:t>
            </a:r>
            <a:r>
              <a:rPr dirty="0" sz="1100" spc="35">
                <a:latin typeface="Arial"/>
                <a:cs typeface="Arial"/>
              </a:rPr>
              <a:t> </a:t>
            </a:r>
            <a:r>
              <a:rPr dirty="0" sz="1100" spc="-5">
                <a:latin typeface="Arial"/>
                <a:cs typeface="Arial"/>
              </a:rPr>
              <a:t>desirable.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172</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0384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25</a:t>
            </a:r>
            <a:endParaRPr sz="1100">
              <a:latin typeface="Arial"/>
              <a:cs typeface="Arial"/>
            </a:endParaRPr>
          </a:p>
          <a:p>
            <a:pPr marL="12700" marR="594360" indent="748030">
              <a:lnSpc>
                <a:spcPct val="191400"/>
              </a:lnSpc>
              <a:spcBef>
                <a:spcPts val="15"/>
              </a:spcBef>
            </a:pPr>
            <a:r>
              <a:rPr dirty="0" sz="1100" spc="-5" b="1">
                <a:latin typeface="Arial"/>
                <a:cs typeface="Arial"/>
              </a:rPr>
              <a:t>AGRICULTURAL TRANSFORMATION AND RURAL DEVELOPMENT  THE IMPERATIVE OF AGRICULTURAL PROGRESS </a:t>
            </a:r>
            <a:r>
              <a:rPr dirty="0" sz="1100" b="1">
                <a:latin typeface="Arial"/>
                <a:cs typeface="Arial"/>
              </a:rPr>
              <a:t>AND </a:t>
            </a:r>
            <a:r>
              <a:rPr dirty="0" sz="1100" spc="-5" b="1">
                <a:latin typeface="Arial"/>
                <a:cs typeface="Arial"/>
              </a:rPr>
              <a:t>RURAL</a:t>
            </a:r>
            <a:r>
              <a:rPr dirty="0" sz="1100" spc="14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If the migration of people with and without school certificates to the cities of Africa, Asia, </a:t>
            </a:r>
            <a:r>
              <a:rPr dirty="0" sz="1100">
                <a:latin typeface="Arial"/>
                <a:cs typeface="Arial"/>
              </a:rPr>
              <a:t>and  </a:t>
            </a:r>
            <a:r>
              <a:rPr dirty="0" sz="1100" spc="-5">
                <a:latin typeface="Arial"/>
                <a:cs typeface="Arial"/>
              </a:rPr>
              <a:t>Latin America is proceeding at historically unprecedented rates, a large part of the explanation  can be found in the economic stagnation of outlying rural areas. Despite real progress, nearly 2  billion people in the developing world grind out a meager and often inadequate existence in  agricultural pursuits. Over 3.1 billion people </a:t>
            </a:r>
            <a:r>
              <a:rPr dirty="0" sz="1100">
                <a:latin typeface="Arial"/>
                <a:cs typeface="Arial"/>
              </a:rPr>
              <a:t>lived </a:t>
            </a:r>
            <a:r>
              <a:rPr dirty="0" sz="1100" spc="-5">
                <a:latin typeface="Arial"/>
                <a:cs typeface="Arial"/>
              </a:rPr>
              <a:t>in rural areas in developing countries in 2010,  a quarter of them in extreme poverty. People living in the countryside make up more than half of  the population of such diverse Latin American and Asian nations as Haiti, Guatemala, India,  Indonesia, Myanmar, Honduras, Sri Lanka, Pakistan, Bangladesh, the Philippines, Thailand,  and China. In sub-Saharan Africa, the ratios are much higher, with rural dwellers constituting  65% of the total</a:t>
            </a:r>
            <a:r>
              <a:rPr dirty="0" sz="1100" spc="10">
                <a:latin typeface="Arial"/>
                <a:cs typeface="Arial"/>
              </a:rPr>
              <a:t> </a:t>
            </a:r>
            <a:r>
              <a:rPr dirty="0" sz="1100" spc="-5">
                <a:latin typeface="Arial"/>
                <a:cs typeface="Arial"/>
              </a:rPr>
              <a:t>population.</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Of greater importance than sheer numbers is the fact that well over two thirds of the world’s  poorest people are also located in rural areas and engaged primarily in subsistence agriculture.  Their basic concern is survival. </a:t>
            </a:r>
            <a:r>
              <a:rPr dirty="0" sz="1100">
                <a:latin typeface="Arial"/>
                <a:cs typeface="Arial"/>
              </a:rPr>
              <a:t>Many </a:t>
            </a:r>
            <a:r>
              <a:rPr dirty="0" sz="1100" spc="-5">
                <a:latin typeface="Arial"/>
                <a:cs typeface="Arial"/>
              </a:rPr>
              <a:t>hundreds of millions of people have been bypassed by  whatever economic progress their nations have attained. The United Nations Food and  Agriculture Organization estimated that in 2009, for the first time, over 1 billion people did not  have enough food to meet their basic nutritional needs. In the daily struggle to subsist, farmer  behavior in developing countries often seemed </a:t>
            </a:r>
            <a:r>
              <a:rPr dirty="0" sz="1100">
                <a:latin typeface="Arial"/>
                <a:cs typeface="Arial"/>
              </a:rPr>
              <a:t>irrational </a:t>
            </a:r>
            <a:r>
              <a:rPr dirty="0" sz="1100" spc="-5">
                <a:latin typeface="Arial"/>
                <a:cs typeface="Arial"/>
              </a:rPr>
              <a:t>to many observers who </a:t>
            </a:r>
            <a:r>
              <a:rPr dirty="0" sz="1100">
                <a:latin typeface="Arial"/>
                <a:cs typeface="Arial"/>
              </a:rPr>
              <a:t>until </a:t>
            </a:r>
            <a:r>
              <a:rPr dirty="0" sz="1100" spc="-5">
                <a:latin typeface="Arial"/>
                <a:cs typeface="Arial"/>
              </a:rPr>
              <a:t>recently  had little comprehension of the precarious nature of subsistence living and the importance of  avoiding risks. If development is to take place and become self-sustaining, it will have to include  the rural areas in general and the agricultural sector in particular. The core problems of  widespread poverty, growing inequality, and rapid population growth all originate in the  stagnation and often retrogression of economic life in rural areas, particularly in</a:t>
            </a:r>
            <a:r>
              <a:rPr dirty="0" sz="1100" spc="130">
                <a:latin typeface="Arial"/>
                <a:cs typeface="Arial"/>
              </a:rPr>
              <a:t> </a:t>
            </a:r>
            <a:r>
              <a:rPr dirty="0" sz="1100" spc="-5">
                <a:latin typeface="Arial"/>
                <a:cs typeface="Arial"/>
              </a:rPr>
              <a:t>Africa.</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Traditionally in economic development, agriculture has been assumed to play a passive and  supportive role. Its primary purpose was to provide sufficient low-priced food and manpower </a:t>
            </a:r>
            <a:r>
              <a:rPr dirty="0" sz="1100">
                <a:latin typeface="Arial"/>
                <a:cs typeface="Arial"/>
              </a:rPr>
              <a:t>to  </a:t>
            </a:r>
            <a:r>
              <a:rPr dirty="0" sz="1100" spc="-5">
                <a:latin typeface="Arial"/>
                <a:cs typeface="Arial"/>
              </a:rPr>
              <a:t>the expanding industrial economy, which was thought to </a:t>
            </a:r>
            <a:r>
              <a:rPr dirty="0" sz="1100">
                <a:latin typeface="Arial"/>
                <a:cs typeface="Arial"/>
              </a:rPr>
              <a:t>be </a:t>
            </a:r>
            <a:r>
              <a:rPr dirty="0" sz="1100" spc="-5">
                <a:latin typeface="Arial"/>
                <a:cs typeface="Arial"/>
              </a:rPr>
              <a:t>the dynamic “leading sector” in any  overall strategy of economic development. Lewis’s famous two-sector model, discussed in  Chapter 3, is an example of a theory of development that places heavy emphasis on rapid  industrial growth with an agricultural sector fueling this industrial expansion by means of its  cheap food and surplus labor. Nobel laureate Simon Kuznets introduced an early schema,  noting that agriculture made four “contributions to economic development”: the product  contribution of inputs for industry such as textiles and food processing, the foreign-exchange  contribution of using agricultural export revenues to import capital equipment, the market  contribution of rising rural incomes creating more demand for consumer products, and the factor  market contribution, divided between the labor contribution (Lewis’s manpower)— workers not  needed on </a:t>
            </a:r>
            <a:r>
              <a:rPr dirty="0" sz="1100">
                <a:latin typeface="Arial"/>
                <a:cs typeface="Arial"/>
              </a:rPr>
              <a:t>farms </a:t>
            </a:r>
            <a:r>
              <a:rPr dirty="0" sz="1100" spc="-5">
                <a:latin typeface="Arial"/>
                <a:cs typeface="Arial"/>
              </a:rPr>
              <a:t>after agricultural productivity was raised could then work in industry—and the  capital contribution (some farm profits could be reinvested in industry as agriculture became a  steadily smaller fraction of national income). The capital contribution has been misapplied as a  “squeezing of the peasantry,” but it meant investing first in agriculture and later reaping profits  that would be partially reinvested in industry. As can be seen from this description, however, the  framework implicitly— and ironically—still treats industrialization rather than rural modernization  as the core development</a:t>
            </a:r>
            <a:r>
              <a:rPr dirty="0" sz="1100" spc="10">
                <a:latin typeface="Arial"/>
                <a:cs typeface="Arial"/>
              </a:rPr>
              <a:t> </a:t>
            </a:r>
            <a:r>
              <a:rPr dirty="0" sz="1100" spc="-5">
                <a:latin typeface="Arial"/>
                <a:cs typeface="Arial"/>
              </a:rPr>
              <a:t>goal.</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173</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597598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Today, </a:t>
            </a:r>
            <a:r>
              <a:rPr dirty="0" sz="1100">
                <a:latin typeface="Arial"/>
                <a:cs typeface="Arial"/>
              </a:rPr>
              <a:t>most </a:t>
            </a:r>
            <a:r>
              <a:rPr dirty="0" sz="1100" spc="-5">
                <a:latin typeface="Arial"/>
                <a:cs typeface="Arial"/>
              </a:rPr>
              <a:t>development economists share the consensus that far from playing a passive,  supporting role in the process of economic development, the agricultural sector in particular and  the rural economy in general must play an indispensable part in any overall strategy of  economic progress, especially for the low-income developing</a:t>
            </a:r>
            <a:r>
              <a:rPr dirty="0" sz="1100" spc="50">
                <a:latin typeface="Arial"/>
                <a:cs typeface="Arial"/>
              </a:rPr>
              <a:t> </a:t>
            </a:r>
            <a:r>
              <a:rPr dirty="0" sz="1100" spc="-5">
                <a:latin typeface="Arial"/>
                <a:cs typeface="Arial"/>
              </a:rPr>
              <a:t>countries.</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An agriculture- and employment-based strategy of economic development requires three basic  complementary elements: (1) accelerated output growth through technological, institutional, and  price incentive changes designed to raise the productivity of small farmers; (2) rising domestic  demand for agricultural output derived from an employment-oriented urban development  strategy; and (3) diversified, nonagricultural, labor-intensive rural development activities that  directly and indirectly support and are supported by the farming community. To a large extent,  therefore, agricultural and rural development </a:t>
            </a:r>
            <a:r>
              <a:rPr dirty="0" sz="1100">
                <a:latin typeface="Arial"/>
                <a:cs typeface="Arial"/>
              </a:rPr>
              <a:t>has </a:t>
            </a:r>
            <a:r>
              <a:rPr dirty="0" sz="1100" spc="-5">
                <a:latin typeface="Arial"/>
                <a:cs typeface="Arial"/>
              </a:rPr>
              <a:t>come to </a:t>
            </a:r>
            <a:r>
              <a:rPr dirty="0" sz="1100">
                <a:latin typeface="Arial"/>
                <a:cs typeface="Arial"/>
              </a:rPr>
              <a:t>be </a:t>
            </a:r>
            <a:r>
              <a:rPr dirty="0" sz="1100" spc="-5">
                <a:latin typeface="Arial"/>
                <a:cs typeface="Arial"/>
              </a:rPr>
              <a:t>regarded by many economists as  the sine qua non of national development. Without such integrated rural development, in most  cases, industrial growth either would be stultified or, if it succeeded, would create severe  internal imbalances in the</a:t>
            </a:r>
            <a:r>
              <a:rPr dirty="0" sz="1100" spc="10">
                <a:latin typeface="Arial"/>
                <a:cs typeface="Arial"/>
              </a:rPr>
              <a:t> </a:t>
            </a:r>
            <a:r>
              <a:rPr dirty="0" sz="1100" spc="-5">
                <a:latin typeface="Arial"/>
                <a:cs typeface="Arial"/>
              </a:rPr>
              <a:t>economy.</a:t>
            </a:r>
            <a:endParaRPr sz="1100">
              <a:latin typeface="Arial"/>
              <a:cs typeface="Arial"/>
            </a:endParaRPr>
          </a:p>
          <a:p>
            <a:pPr>
              <a:lnSpc>
                <a:spcPct val="100000"/>
              </a:lnSpc>
              <a:spcBef>
                <a:spcPts val="35"/>
              </a:spcBef>
            </a:pPr>
            <a:endParaRPr sz="1100">
              <a:latin typeface="Arial"/>
              <a:cs typeface="Arial"/>
            </a:endParaRPr>
          </a:p>
          <a:p>
            <a:pPr algn="just" marL="12700" marR="5715">
              <a:lnSpc>
                <a:spcPts val="1270"/>
              </a:lnSpc>
            </a:pPr>
            <a:r>
              <a:rPr dirty="0" sz="1100" spc="-5" b="1">
                <a:latin typeface="Arial"/>
                <a:cs typeface="Arial"/>
              </a:rPr>
              <a:t>Six main questions, therefore, </a:t>
            </a:r>
            <a:r>
              <a:rPr dirty="0" sz="1100" b="1">
                <a:latin typeface="Arial"/>
                <a:cs typeface="Arial"/>
              </a:rPr>
              <a:t>need </a:t>
            </a:r>
            <a:r>
              <a:rPr dirty="0" sz="1100" spc="-5" b="1">
                <a:latin typeface="Arial"/>
                <a:cs typeface="Arial"/>
              </a:rPr>
              <a:t>to be asked about agricultural and rural development  as it relates to overall national</a:t>
            </a:r>
            <a:r>
              <a:rPr dirty="0" sz="1100" spc="2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40"/>
              </a:spcBef>
            </a:pPr>
            <a:endParaRPr sz="1050">
              <a:latin typeface="Arial"/>
              <a:cs typeface="Arial"/>
            </a:endParaRPr>
          </a:p>
          <a:p>
            <a:pPr algn="just" marL="469265" marR="5080" indent="-228600">
              <a:lnSpc>
                <a:spcPts val="1270"/>
              </a:lnSpc>
              <a:buFont typeface="Arial"/>
              <a:buAutoNum type="arabicPeriod"/>
              <a:tabLst>
                <a:tab pos="469900" algn="l"/>
              </a:tabLst>
            </a:pPr>
            <a:r>
              <a:rPr dirty="0" sz="1100" spc="-5">
                <a:latin typeface="Arial"/>
                <a:cs typeface="Arial"/>
              </a:rPr>
              <a:t>How can total agricultural output and productivity per capita be substantially increased in  a manner </a:t>
            </a:r>
            <a:r>
              <a:rPr dirty="0" sz="1100">
                <a:latin typeface="Arial"/>
                <a:cs typeface="Arial"/>
              </a:rPr>
              <a:t>that </a:t>
            </a:r>
            <a:r>
              <a:rPr dirty="0" sz="1100" spc="-5">
                <a:latin typeface="Arial"/>
                <a:cs typeface="Arial"/>
              </a:rPr>
              <a:t>will directly benefit the average small farmer and the landless rural dweller  while providing a sufficient food surplus to promote food security and support a growing  urban, industrial</a:t>
            </a:r>
            <a:r>
              <a:rPr dirty="0" sz="1100">
                <a:latin typeface="Arial"/>
                <a:cs typeface="Arial"/>
              </a:rPr>
              <a:t> </a:t>
            </a:r>
            <a:r>
              <a:rPr dirty="0" sz="1100" spc="-5">
                <a:latin typeface="Arial"/>
                <a:cs typeface="Arial"/>
              </a:rPr>
              <a:t>sector?</a:t>
            </a:r>
            <a:endParaRPr sz="1100">
              <a:latin typeface="Arial"/>
              <a:cs typeface="Arial"/>
            </a:endParaRPr>
          </a:p>
          <a:p>
            <a:pPr algn="just" marL="469265" indent="-229235">
              <a:lnSpc>
                <a:spcPts val="1195"/>
              </a:lnSpc>
              <a:buFont typeface="Arial"/>
              <a:buAutoNum type="arabicPeriod"/>
              <a:tabLst>
                <a:tab pos="469900" algn="l"/>
              </a:tabLst>
            </a:pPr>
            <a:r>
              <a:rPr dirty="0" sz="1100" spc="-5">
                <a:latin typeface="Arial"/>
                <a:cs typeface="Arial"/>
              </a:rPr>
              <a:t>What</a:t>
            </a:r>
            <a:r>
              <a:rPr dirty="0" sz="1100" spc="75">
                <a:latin typeface="Arial"/>
                <a:cs typeface="Arial"/>
              </a:rPr>
              <a:t> </a:t>
            </a:r>
            <a:r>
              <a:rPr dirty="0" sz="1100" spc="-5">
                <a:latin typeface="Arial"/>
                <a:cs typeface="Arial"/>
              </a:rPr>
              <a:t>is</a:t>
            </a:r>
            <a:r>
              <a:rPr dirty="0" sz="1100" spc="75">
                <a:latin typeface="Arial"/>
                <a:cs typeface="Arial"/>
              </a:rPr>
              <a:t> </a:t>
            </a:r>
            <a:r>
              <a:rPr dirty="0" sz="1100" spc="-5">
                <a:latin typeface="Arial"/>
                <a:cs typeface="Arial"/>
              </a:rPr>
              <a:t>the</a:t>
            </a:r>
            <a:r>
              <a:rPr dirty="0" sz="1100" spc="65">
                <a:latin typeface="Arial"/>
                <a:cs typeface="Arial"/>
              </a:rPr>
              <a:t> </a:t>
            </a:r>
            <a:r>
              <a:rPr dirty="0" sz="1100" spc="-5">
                <a:latin typeface="Arial"/>
                <a:cs typeface="Arial"/>
              </a:rPr>
              <a:t>process</a:t>
            </a:r>
            <a:r>
              <a:rPr dirty="0" sz="1100" spc="75">
                <a:latin typeface="Arial"/>
                <a:cs typeface="Arial"/>
              </a:rPr>
              <a:t> </a:t>
            </a:r>
            <a:r>
              <a:rPr dirty="0" sz="1100" spc="-5">
                <a:latin typeface="Arial"/>
                <a:cs typeface="Arial"/>
              </a:rPr>
              <a:t>by</a:t>
            </a:r>
            <a:r>
              <a:rPr dirty="0" sz="1100" spc="75">
                <a:latin typeface="Arial"/>
                <a:cs typeface="Arial"/>
              </a:rPr>
              <a:t> </a:t>
            </a:r>
            <a:r>
              <a:rPr dirty="0" sz="1100" spc="-5">
                <a:latin typeface="Arial"/>
                <a:cs typeface="Arial"/>
              </a:rPr>
              <a:t>which</a:t>
            </a:r>
            <a:r>
              <a:rPr dirty="0" sz="1100" spc="75">
                <a:latin typeface="Arial"/>
                <a:cs typeface="Arial"/>
              </a:rPr>
              <a:t> </a:t>
            </a:r>
            <a:r>
              <a:rPr dirty="0" sz="1100" spc="-5">
                <a:latin typeface="Arial"/>
                <a:cs typeface="Arial"/>
              </a:rPr>
              <a:t>traditional</a:t>
            </a:r>
            <a:r>
              <a:rPr dirty="0" sz="1100" spc="75">
                <a:latin typeface="Arial"/>
                <a:cs typeface="Arial"/>
              </a:rPr>
              <a:t> </a:t>
            </a:r>
            <a:r>
              <a:rPr dirty="0" sz="1100" spc="-5">
                <a:latin typeface="Arial"/>
                <a:cs typeface="Arial"/>
              </a:rPr>
              <a:t>low-productivity</a:t>
            </a:r>
            <a:r>
              <a:rPr dirty="0" sz="1100" spc="80">
                <a:latin typeface="Arial"/>
                <a:cs typeface="Arial"/>
              </a:rPr>
              <a:t> </a:t>
            </a:r>
            <a:r>
              <a:rPr dirty="0" sz="1100" spc="-5">
                <a:latin typeface="Arial"/>
                <a:cs typeface="Arial"/>
              </a:rPr>
              <a:t>peasant</a:t>
            </a:r>
            <a:r>
              <a:rPr dirty="0" sz="1100" spc="75">
                <a:latin typeface="Arial"/>
                <a:cs typeface="Arial"/>
              </a:rPr>
              <a:t> </a:t>
            </a:r>
            <a:r>
              <a:rPr dirty="0" sz="1100" spc="-5">
                <a:latin typeface="Arial"/>
                <a:cs typeface="Arial"/>
              </a:rPr>
              <a:t>farms</a:t>
            </a:r>
            <a:r>
              <a:rPr dirty="0" sz="1100" spc="75">
                <a:latin typeface="Arial"/>
                <a:cs typeface="Arial"/>
              </a:rPr>
              <a:t> </a:t>
            </a:r>
            <a:r>
              <a:rPr dirty="0" sz="1100" spc="-5">
                <a:latin typeface="Arial"/>
                <a:cs typeface="Arial"/>
              </a:rPr>
              <a:t>are</a:t>
            </a:r>
            <a:r>
              <a:rPr dirty="0" sz="1100" spc="75">
                <a:latin typeface="Arial"/>
                <a:cs typeface="Arial"/>
              </a:rPr>
              <a:t> </a:t>
            </a:r>
            <a:r>
              <a:rPr dirty="0" sz="1100" spc="-5">
                <a:latin typeface="Arial"/>
                <a:cs typeface="Arial"/>
              </a:rPr>
              <a:t>transformed</a:t>
            </a:r>
            <a:endParaRPr sz="1100">
              <a:latin typeface="Arial"/>
              <a:cs typeface="Arial"/>
            </a:endParaRPr>
          </a:p>
          <a:p>
            <a:pPr algn="just" marL="469265">
              <a:lnSpc>
                <a:spcPts val="1265"/>
              </a:lnSpc>
            </a:pPr>
            <a:r>
              <a:rPr dirty="0" sz="1100" spc="-5">
                <a:latin typeface="Arial"/>
                <a:cs typeface="Arial"/>
              </a:rPr>
              <a:t>into high-productivity commercial</a:t>
            </a:r>
            <a:r>
              <a:rPr dirty="0" sz="1100" spc="10">
                <a:latin typeface="Arial"/>
                <a:cs typeface="Arial"/>
              </a:rPr>
              <a:t> </a:t>
            </a:r>
            <a:r>
              <a:rPr dirty="0" sz="1100" spc="-5">
                <a:latin typeface="Arial"/>
                <a:cs typeface="Arial"/>
              </a:rPr>
              <a:t>enterprises?</a:t>
            </a:r>
            <a:endParaRPr sz="1100">
              <a:latin typeface="Arial"/>
              <a:cs typeface="Arial"/>
            </a:endParaRPr>
          </a:p>
          <a:p>
            <a:pPr algn="just" marL="469265" marR="6350" indent="-228600">
              <a:lnSpc>
                <a:spcPts val="1270"/>
              </a:lnSpc>
              <a:spcBef>
                <a:spcPts val="55"/>
              </a:spcBef>
              <a:buFont typeface="Arial"/>
              <a:buAutoNum type="arabicPeriod" startAt="3"/>
              <a:tabLst>
                <a:tab pos="469900" algn="l"/>
              </a:tabLst>
            </a:pPr>
            <a:r>
              <a:rPr dirty="0" sz="1100" spc="-5">
                <a:latin typeface="Arial"/>
                <a:cs typeface="Arial"/>
              </a:rPr>
              <a:t>When traditional family farmers and peasant cultivators resist change, is their behavior  stubborn and irrational, or are they acting rationally within </a:t>
            </a:r>
            <a:r>
              <a:rPr dirty="0" sz="1100">
                <a:latin typeface="Arial"/>
                <a:cs typeface="Arial"/>
              </a:rPr>
              <a:t>the </a:t>
            </a:r>
            <a:r>
              <a:rPr dirty="0" sz="1100" spc="-5">
                <a:latin typeface="Arial"/>
                <a:cs typeface="Arial"/>
              </a:rPr>
              <a:t>context of their particular  economic environment?</a:t>
            </a:r>
            <a:endParaRPr sz="1100">
              <a:latin typeface="Arial"/>
              <a:cs typeface="Arial"/>
            </a:endParaRPr>
          </a:p>
          <a:p>
            <a:pPr algn="just" marL="469265" indent="-229235">
              <a:lnSpc>
                <a:spcPts val="1195"/>
              </a:lnSpc>
              <a:buFont typeface="Arial"/>
              <a:buAutoNum type="arabicPeriod" startAt="3"/>
              <a:tabLst>
                <a:tab pos="469900" algn="l"/>
              </a:tabLst>
            </a:pPr>
            <a:r>
              <a:rPr dirty="0" sz="1100" spc="-5">
                <a:latin typeface="Arial"/>
                <a:cs typeface="Arial"/>
              </a:rPr>
              <a:t>What</a:t>
            </a:r>
            <a:r>
              <a:rPr dirty="0" sz="1100" spc="70">
                <a:latin typeface="Arial"/>
                <a:cs typeface="Arial"/>
              </a:rPr>
              <a:t> </a:t>
            </a:r>
            <a:r>
              <a:rPr dirty="0" sz="1100" spc="-5">
                <a:latin typeface="Arial"/>
                <a:cs typeface="Arial"/>
              </a:rPr>
              <a:t>are</a:t>
            </a:r>
            <a:r>
              <a:rPr dirty="0" sz="1100" spc="70">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effects</a:t>
            </a:r>
            <a:r>
              <a:rPr dirty="0" sz="1100" spc="70">
                <a:latin typeface="Arial"/>
                <a:cs typeface="Arial"/>
              </a:rPr>
              <a:t> </a:t>
            </a:r>
            <a:r>
              <a:rPr dirty="0" sz="1100" spc="-5">
                <a:latin typeface="Arial"/>
                <a:cs typeface="Arial"/>
              </a:rPr>
              <a:t>of</a:t>
            </a:r>
            <a:r>
              <a:rPr dirty="0" sz="1100" spc="55">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high</a:t>
            </a:r>
            <a:r>
              <a:rPr dirty="0" sz="1100" spc="70">
                <a:latin typeface="Arial"/>
                <a:cs typeface="Arial"/>
              </a:rPr>
              <a:t> </a:t>
            </a:r>
            <a:r>
              <a:rPr dirty="0" sz="1100" spc="-5">
                <a:latin typeface="Arial"/>
                <a:cs typeface="Arial"/>
              </a:rPr>
              <a:t>risks</a:t>
            </a:r>
            <a:r>
              <a:rPr dirty="0" sz="1100" spc="75">
                <a:latin typeface="Arial"/>
                <a:cs typeface="Arial"/>
              </a:rPr>
              <a:t> </a:t>
            </a:r>
            <a:r>
              <a:rPr dirty="0" sz="1100" spc="-5">
                <a:latin typeface="Arial"/>
                <a:cs typeface="Arial"/>
              </a:rPr>
              <a:t>faced</a:t>
            </a:r>
            <a:r>
              <a:rPr dirty="0" sz="1100" spc="70">
                <a:latin typeface="Arial"/>
                <a:cs typeface="Arial"/>
              </a:rPr>
              <a:t> </a:t>
            </a:r>
            <a:r>
              <a:rPr dirty="0" sz="1100" spc="-5">
                <a:latin typeface="Arial"/>
                <a:cs typeface="Arial"/>
              </a:rPr>
              <a:t>by</a:t>
            </a:r>
            <a:r>
              <a:rPr dirty="0" sz="1100" spc="70">
                <a:latin typeface="Arial"/>
                <a:cs typeface="Arial"/>
              </a:rPr>
              <a:t> </a:t>
            </a:r>
            <a:r>
              <a:rPr dirty="0" sz="1100" spc="-5">
                <a:latin typeface="Arial"/>
                <a:cs typeface="Arial"/>
              </a:rPr>
              <a:t>farmers</a:t>
            </a:r>
            <a:r>
              <a:rPr dirty="0" sz="1100" spc="70">
                <a:latin typeface="Arial"/>
                <a:cs typeface="Arial"/>
              </a:rPr>
              <a:t> </a:t>
            </a:r>
            <a:r>
              <a:rPr dirty="0" sz="1100" spc="-5">
                <a:latin typeface="Arial"/>
                <a:cs typeface="Arial"/>
              </a:rPr>
              <a:t>in</a:t>
            </a:r>
            <a:r>
              <a:rPr dirty="0" sz="1100" spc="70">
                <a:latin typeface="Arial"/>
                <a:cs typeface="Arial"/>
              </a:rPr>
              <a:t> </a:t>
            </a:r>
            <a:r>
              <a:rPr dirty="0" sz="1100" spc="-5">
                <a:latin typeface="Arial"/>
                <a:cs typeface="Arial"/>
              </a:rPr>
              <a:t>low-income</a:t>
            </a:r>
            <a:r>
              <a:rPr dirty="0" sz="1100" spc="70">
                <a:latin typeface="Arial"/>
                <a:cs typeface="Arial"/>
              </a:rPr>
              <a:t> </a:t>
            </a:r>
            <a:r>
              <a:rPr dirty="0" sz="1100" spc="-5">
                <a:latin typeface="Arial"/>
                <a:cs typeface="Arial"/>
              </a:rPr>
              <a:t>countries,</a:t>
            </a:r>
            <a:r>
              <a:rPr dirty="0" sz="1100" spc="70">
                <a:latin typeface="Arial"/>
                <a:cs typeface="Arial"/>
              </a:rPr>
              <a:t> </a:t>
            </a:r>
            <a:r>
              <a:rPr dirty="0" sz="1100" spc="-5">
                <a:latin typeface="Arial"/>
                <a:cs typeface="Arial"/>
              </a:rPr>
              <a:t>how</a:t>
            </a:r>
            <a:r>
              <a:rPr dirty="0" sz="1100" spc="75">
                <a:latin typeface="Arial"/>
                <a:cs typeface="Arial"/>
              </a:rPr>
              <a:t> </a:t>
            </a:r>
            <a:r>
              <a:rPr dirty="0" sz="1100">
                <a:latin typeface="Arial"/>
                <a:cs typeface="Arial"/>
              </a:rPr>
              <a:t>do</a:t>
            </a:r>
            <a:endParaRPr sz="1100">
              <a:latin typeface="Arial"/>
              <a:cs typeface="Arial"/>
            </a:endParaRPr>
          </a:p>
          <a:p>
            <a:pPr algn="just" marL="469265">
              <a:lnSpc>
                <a:spcPts val="1265"/>
              </a:lnSpc>
            </a:pPr>
            <a:r>
              <a:rPr dirty="0" sz="1100" spc="-5">
                <a:latin typeface="Arial"/>
                <a:cs typeface="Arial"/>
              </a:rPr>
              <a:t>farm families cope with these risks, and what policies are appropriate to lessen</a:t>
            </a:r>
            <a:r>
              <a:rPr dirty="0" sz="1100" spc="160">
                <a:latin typeface="Arial"/>
                <a:cs typeface="Arial"/>
              </a:rPr>
              <a:t> </a:t>
            </a:r>
            <a:r>
              <a:rPr dirty="0" sz="1100" spc="-5">
                <a:latin typeface="Arial"/>
                <a:cs typeface="Arial"/>
              </a:rPr>
              <a:t>risk?</a:t>
            </a:r>
            <a:endParaRPr sz="1100">
              <a:latin typeface="Arial"/>
              <a:cs typeface="Arial"/>
            </a:endParaRPr>
          </a:p>
          <a:p>
            <a:pPr algn="just" marL="469265" marR="6985" indent="-228600">
              <a:lnSpc>
                <a:spcPts val="1270"/>
              </a:lnSpc>
              <a:spcBef>
                <a:spcPts val="55"/>
              </a:spcBef>
              <a:buFont typeface="Arial"/>
              <a:buAutoNum type="arabicPeriod" startAt="5"/>
              <a:tabLst>
                <a:tab pos="469900" algn="l"/>
              </a:tabLst>
            </a:pPr>
            <a:r>
              <a:rPr dirty="0" sz="1100" spc="-5">
                <a:latin typeface="Arial"/>
                <a:cs typeface="Arial"/>
              </a:rPr>
              <a:t>Are economic and price incentives sufficient to elicit output increases among peasant  agriculturalists, or are institutional and structural changes in rural farming systems also  required?</a:t>
            </a:r>
            <a:endParaRPr sz="1100">
              <a:latin typeface="Arial"/>
              <a:cs typeface="Arial"/>
            </a:endParaRPr>
          </a:p>
          <a:p>
            <a:pPr algn="just" marL="469265" indent="-229235">
              <a:lnSpc>
                <a:spcPts val="1195"/>
              </a:lnSpc>
              <a:buFont typeface="Arial"/>
              <a:buAutoNum type="arabicPeriod" startAt="5"/>
              <a:tabLst>
                <a:tab pos="469900" algn="l"/>
              </a:tabLst>
            </a:pPr>
            <a:r>
              <a:rPr dirty="0" sz="1100" spc="-5">
                <a:latin typeface="Arial"/>
                <a:cs typeface="Arial"/>
              </a:rPr>
              <a:t>Is</a:t>
            </a:r>
            <a:r>
              <a:rPr dirty="0" sz="1100" spc="75">
                <a:latin typeface="Arial"/>
                <a:cs typeface="Arial"/>
              </a:rPr>
              <a:t> </a:t>
            </a:r>
            <a:r>
              <a:rPr dirty="0" sz="1100" spc="-5">
                <a:latin typeface="Arial"/>
                <a:cs typeface="Arial"/>
              </a:rPr>
              <a:t>raising</a:t>
            </a:r>
            <a:r>
              <a:rPr dirty="0" sz="1100" spc="70">
                <a:latin typeface="Arial"/>
                <a:cs typeface="Arial"/>
              </a:rPr>
              <a:t> </a:t>
            </a:r>
            <a:r>
              <a:rPr dirty="0" sz="1100" spc="-5">
                <a:latin typeface="Arial"/>
                <a:cs typeface="Arial"/>
              </a:rPr>
              <a:t>agricultural</a:t>
            </a:r>
            <a:r>
              <a:rPr dirty="0" sz="1100" spc="75">
                <a:latin typeface="Arial"/>
                <a:cs typeface="Arial"/>
              </a:rPr>
              <a:t> </a:t>
            </a:r>
            <a:r>
              <a:rPr dirty="0" sz="1100" spc="-5">
                <a:latin typeface="Arial"/>
                <a:cs typeface="Arial"/>
              </a:rPr>
              <a:t>productivity</a:t>
            </a:r>
            <a:r>
              <a:rPr dirty="0" sz="1100" spc="75">
                <a:latin typeface="Arial"/>
                <a:cs typeface="Arial"/>
              </a:rPr>
              <a:t> </a:t>
            </a:r>
            <a:r>
              <a:rPr dirty="0" sz="1100" spc="-5">
                <a:latin typeface="Arial"/>
                <a:cs typeface="Arial"/>
              </a:rPr>
              <a:t>sufficient</a:t>
            </a:r>
            <a:r>
              <a:rPr dirty="0" sz="1100" spc="75">
                <a:latin typeface="Arial"/>
                <a:cs typeface="Arial"/>
              </a:rPr>
              <a:t> </a:t>
            </a:r>
            <a:r>
              <a:rPr dirty="0" sz="1100" spc="-5">
                <a:latin typeface="Arial"/>
                <a:cs typeface="Arial"/>
              </a:rPr>
              <a:t>to</a:t>
            </a:r>
            <a:r>
              <a:rPr dirty="0" sz="1100" spc="75">
                <a:latin typeface="Arial"/>
                <a:cs typeface="Arial"/>
              </a:rPr>
              <a:t> </a:t>
            </a:r>
            <a:r>
              <a:rPr dirty="0" sz="1100" spc="-5">
                <a:latin typeface="Arial"/>
                <a:cs typeface="Arial"/>
              </a:rPr>
              <a:t>improve</a:t>
            </a:r>
            <a:r>
              <a:rPr dirty="0" sz="1100" spc="75">
                <a:latin typeface="Arial"/>
                <a:cs typeface="Arial"/>
              </a:rPr>
              <a:t> </a:t>
            </a:r>
            <a:r>
              <a:rPr dirty="0" sz="1100" spc="-5">
                <a:latin typeface="Arial"/>
                <a:cs typeface="Arial"/>
              </a:rPr>
              <a:t>rural</a:t>
            </a:r>
            <a:r>
              <a:rPr dirty="0" sz="1100" spc="75">
                <a:latin typeface="Arial"/>
                <a:cs typeface="Arial"/>
              </a:rPr>
              <a:t> </a:t>
            </a:r>
            <a:r>
              <a:rPr dirty="0" sz="1100" spc="-5">
                <a:latin typeface="Arial"/>
                <a:cs typeface="Arial"/>
              </a:rPr>
              <a:t>life,</a:t>
            </a:r>
            <a:r>
              <a:rPr dirty="0" sz="1100" spc="75">
                <a:latin typeface="Arial"/>
                <a:cs typeface="Arial"/>
              </a:rPr>
              <a:t> </a:t>
            </a:r>
            <a:r>
              <a:rPr dirty="0" sz="1100" spc="-5">
                <a:latin typeface="Arial"/>
                <a:cs typeface="Arial"/>
              </a:rPr>
              <a:t>or</a:t>
            </a:r>
            <a:r>
              <a:rPr dirty="0" sz="1100" spc="65">
                <a:latin typeface="Arial"/>
                <a:cs typeface="Arial"/>
              </a:rPr>
              <a:t> </a:t>
            </a:r>
            <a:r>
              <a:rPr dirty="0" sz="1100" spc="-5">
                <a:latin typeface="Arial"/>
                <a:cs typeface="Arial"/>
              </a:rPr>
              <a:t>must</a:t>
            </a:r>
            <a:r>
              <a:rPr dirty="0" sz="1100" spc="80">
                <a:latin typeface="Arial"/>
                <a:cs typeface="Arial"/>
              </a:rPr>
              <a:t> </a:t>
            </a:r>
            <a:r>
              <a:rPr dirty="0" sz="1100" spc="-5">
                <a:latin typeface="Arial"/>
                <a:cs typeface="Arial"/>
              </a:rPr>
              <a:t>there</a:t>
            </a:r>
            <a:r>
              <a:rPr dirty="0" sz="1100" spc="75">
                <a:latin typeface="Arial"/>
                <a:cs typeface="Arial"/>
              </a:rPr>
              <a:t> </a:t>
            </a:r>
            <a:r>
              <a:rPr dirty="0" sz="1100" spc="-5">
                <a:latin typeface="Arial"/>
                <a:cs typeface="Arial"/>
              </a:rPr>
              <a:t>be</a:t>
            </a:r>
            <a:endParaRPr sz="1100">
              <a:latin typeface="Arial"/>
              <a:cs typeface="Arial"/>
            </a:endParaRPr>
          </a:p>
          <a:p>
            <a:pPr algn="just" marL="469265" marR="6985">
              <a:lnSpc>
                <a:spcPct val="95700"/>
              </a:lnSpc>
              <a:spcBef>
                <a:spcPts val="30"/>
              </a:spcBef>
            </a:pPr>
            <a:r>
              <a:rPr dirty="0" sz="1100" spc="-5">
                <a:latin typeface="Arial"/>
                <a:cs typeface="Arial"/>
              </a:rPr>
              <a:t>concomitant off-farm employment creation along with improvements in educational,  medical, and other social services? In other words, what do we mean by rural  development, and how can it be</a:t>
            </a:r>
            <a:r>
              <a:rPr dirty="0" sz="1100" spc="25">
                <a:latin typeface="Arial"/>
                <a:cs typeface="Arial"/>
              </a:rPr>
              <a:t> </a:t>
            </a:r>
            <a:r>
              <a:rPr dirty="0" sz="1100" spc="-5">
                <a:latin typeface="Arial"/>
                <a:cs typeface="Arial"/>
              </a:rPr>
              <a:t>achieved?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174</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905" cy="388747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AGRICULTURAL GROWTH: </a:t>
            </a:r>
            <a:r>
              <a:rPr dirty="0" sz="1100" spc="-10" b="1">
                <a:latin typeface="Arial"/>
                <a:cs typeface="Arial"/>
              </a:rPr>
              <a:t>PAST </a:t>
            </a:r>
            <a:r>
              <a:rPr dirty="0" sz="1100" spc="-5" b="1">
                <a:latin typeface="Arial"/>
                <a:cs typeface="Arial"/>
              </a:rPr>
              <a:t>PROGRESS AND CURRENT</a:t>
            </a:r>
            <a:r>
              <a:rPr dirty="0" sz="1100" spc="35" b="1">
                <a:latin typeface="Arial"/>
                <a:cs typeface="Arial"/>
              </a:rPr>
              <a:t> </a:t>
            </a:r>
            <a:r>
              <a:rPr dirty="0" sz="1100" spc="-5" b="1">
                <a:latin typeface="Arial"/>
                <a:cs typeface="Arial"/>
              </a:rPr>
              <a:t>CHALLENGES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TRENDS IN AGRICULTURAL</a:t>
            </a:r>
            <a:r>
              <a:rPr dirty="0" sz="1100" spc="15" b="1">
                <a:latin typeface="Arial"/>
                <a:cs typeface="Arial"/>
              </a:rPr>
              <a:t> </a:t>
            </a:r>
            <a:r>
              <a:rPr dirty="0" sz="1100" spc="-5" b="1">
                <a:latin typeface="Arial"/>
                <a:cs typeface="Arial"/>
              </a:rPr>
              <a:t>PRODUCTIVITY</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The ability of agricultural production to keep pace with world population growth has been  impressive, defying some neo-Malthusian predictions that global food shortages would have  emerged by now. And it has actually been output gains in the developing world that have led the  way. According to World Bank estimates, the developing world experienced faster growth in the  value of agricultural output (2.6% per year) than the developed world (0.9% per year) over the  period 1980 to 2004. Correspondingly, developing countries’ share of global agricultural GDP  rose from 56% to 65% in this period, far higher than their 21% share of world nonagricultural  GDP. And research by International Food Policy Research Institute points up that a wide range  of successful programs have reduced hunger while raising agricultural productivity over the last  several decades, including Green Revolution successes in Asia; containment of wheat rusts;  improved maize and pest-resistant cassavas in sub-Saharan Africa; shallow tube wells for rice  and homestead food production in Bangladesh; hybrid rice and mung bean improvement in East  Asia; pearl millet and sorghum and smallholder dairy marketing in India; improved tilapia in the  Philippines; successful land tenure reform in China and Vietnam; cotton reforms in Burkina  Faso; and improvements of markets in</a:t>
            </a:r>
            <a:r>
              <a:rPr dirty="0" sz="1100" spc="25">
                <a:latin typeface="Arial"/>
                <a:cs typeface="Arial"/>
              </a:rPr>
              <a:t> </a:t>
            </a:r>
            <a:r>
              <a:rPr dirty="0" sz="1100" spc="-5">
                <a:latin typeface="Arial"/>
                <a:cs typeface="Arial"/>
              </a:rPr>
              <a:t>Kenya.</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As Figure 9.1 shows, low-income countries tend to have the highest share of the labor force in  agriculture, sometimes as much as 80% to 90%. The share of agriculture in GDP is lower but  can represent as much as half of the value of output. These shares both tend to fall as GDP per  capita</a:t>
            </a:r>
            <a:r>
              <a:rPr dirty="0" sz="1100" spc="130">
                <a:latin typeface="Arial"/>
                <a:cs typeface="Arial"/>
              </a:rPr>
              <a:t> </a:t>
            </a:r>
            <a:r>
              <a:rPr dirty="0" sz="1100" spc="-5">
                <a:latin typeface="Arial"/>
                <a:cs typeface="Arial"/>
              </a:rPr>
              <a:t>rises:</a:t>
            </a:r>
            <a:r>
              <a:rPr dirty="0" sz="1100" spc="130">
                <a:latin typeface="Arial"/>
                <a:cs typeface="Arial"/>
              </a:rPr>
              <a:t> </a:t>
            </a:r>
            <a:r>
              <a:rPr dirty="0" sz="1100" spc="-5">
                <a:latin typeface="Arial"/>
                <a:cs typeface="Arial"/>
              </a:rPr>
              <a:t>This</a:t>
            </a:r>
            <a:r>
              <a:rPr dirty="0" sz="1100" spc="130">
                <a:latin typeface="Arial"/>
                <a:cs typeface="Arial"/>
              </a:rPr>
              <a:t> </a:t>
            </a:r>
            <a:r>
              <a:rPr dirty="0" sz="1100" spc="-5">
                <a:latin typeface="Arial"/>
                <a:cs typeface="Arial"/>
              </a:rPr>
              <a:t>is</a:t>
            </a:r>
            <a:r>
              <a:rPr dirty="0" sz="1100" spc="135">
                <a:latin typeface="Arial"/>
                <a:cs typeface="Arial"/>
              </a:rPr>
              <a:t> </a:t>
            </a:r>
            <a:r>
              <a:rPr dirty="0" sz="1100" spc="-5">
                <a:latin typeface="Arial"/>
                <a:cs typeface="Arial"/>
              </a:rPr>
              <a:t>one</a:t>
            </a:r>
            <a:r>
              <a:rPr dirty="0" sz="1100" spc="130">
                <a:latin typeface="Arial"/>
                <a:cs typeface="Arial"/>
              </a:rPr>
              <a:t> </a:t>
            </a:r>
            <a:r>
              <a:rPr dirty="0" sz="1100" spc="-5">
                <a:latin typeface="Arial"/>
                <a:cs typeface="Arial"/>
              </a:rPr>
              <a:t>of</a:t>
            </a:r>
            <a:r>
              <a:rPr dirty="0" sz="1100" spc="130">
                <a:latin typeface="Arial"/>
                <a:cs typeface="Arial"/>
              </a:rPr>
              <a:t> </a:t>
            </a:r>
            <a:r>
              <a:rPr dirty="0" sz="1100" spc="-5">
                <a:latin typeface="Arial"/>
                <a:cs typeface="Arial"/>
              </a:rPr>
              <a:t>the</a:t>
            </a:r>
            <a:r>
              <a:rPr dirty="0" sz="1100" spc="135">
                <a:latin typeface="Arial"/>
                <a:cs typeface="Arial"/>
              </a:rPr>
              <a:t> </a:t>
            </a:r>
            <a:r>
              <a:rPr dirty="0" sz="1100" spc="-5">
                <a:latin typeface="Arial"/>
                <a:cs typeface="Arial"/>
              </a:rPr>
              <a:t>broad</a:t>
            </a:r>
            <a:r>
              <a:rPr dirty="0" sz="1100" spc="135">
                <a:latin typeface="Arial"/>
                <a:cs typeface="Arial"/>
              </a:rPr>
              <a:t> </a:t>
            </a:r>
            <a:r>
              <a:rPr dirty="0" sz="1100" spc="-5">
                <a:latin typeface="Arial"/>
                <a:cs typeface="Arial"/>
              </a:rPr>
              <a:t>patterns</a:t>
            </a:r>
            <a:r>
              <a:rPr dirty="0" sz="1100" spc="130">
                <a:latin typeface="Arial"/>
                <a:cs typeface="Arial"/>
              </a:rPr>
              <a:t> </a:t>
            </a:r>
            <a:r>
              <a:rPr dirty="0" sz="1100" spc="-5">
                <a:latin typeface="Arial"/>
                <a:cs typeface="Arial"/>
              </a:rPr>
              <a:t>of</a:t>
            </a:r>
            <a:r>
              <a:rPr dirty="0" sz="1100" spc="135">
                <a:latin typeface="Arial"/>
                <a:cs typeface="Arial"/>
              </a:rPr>
              <a:t> </a:t>
            </a:r>
            <a:r>
              <a:rPr dirty="0" sz="1100" spc="-5">
                <a:latin typeface="Arial"/>
                <a:cs typeface="Arial"/>
              </a:rPr>
              <a:t>economic</a:t>
            </a:r>
            <a:r>
              <a:rPr dirty="0" sz="1100" spc="130">
                <a:latin typeface="Arial"/>
                <a:cs typeface="Arial"/>
              </a:rPr>
              <a:t> </a:t>
            </a:r>
            <a:r>
              <a:rPr dirty="0" sz="1100" spc="-5">
                <a:latin typeface="Arial"/>
                <a:cs typeface="Arial"/>
              </a:rPr>
              <a:t>development</a:t>
            </a:r>
            <a:r>
              <a:rPr dirty="0" sz="1100" spc="130">
                <a:latin typeface="Arial"/>
                <a:cs typeface="Arial"/>
              </a:rPr>
              <a:t> </a:t>
            </a:r>
            <a:r>
              <a:rPr dirty="0" sz="1100" spc="-5">
                <a:latin typeface="Arial"/>
                <a:cs typeface="Arial"/>
              </a:rPr>
              <a:t>(see</a:t>
            </a:r>
            <a:r>
              <a:rPr dirty="0" sz="1100" spc="135">
                <a:latin typeface="Arial"/>
                <a:cs typeface="Arial"/>
              </a:rPr>
              <a:t> </a:t>
            </a:r>
            <a:r>
              <a:rPr dirty="0" sz="1100" spc="-5">
                <a:latin typeface="Arial"/>
                <a:cs typeface="Arial"/>
              </a:rPr>
              <a:t>Chapter</a:t>
            </a:r>
            <a:r>
              <a:rPr dirty="0" sz="1100" spc="130">
                <a:latin typeface="Arial"/>
                <a:cs typeface="Arial"/>
              </a:rPr>
              <a:t> </a:t>
            </a:r>
            <a:r>
              <a:rPr dirty="0" sz="1100" spc="-5">
                <a:latin typeface="Arial"/>
                <a:cs typeface="Arial"/>
              </a:rPr>
              <a:t>3).</a:t>
            </a:r>
            <a:r>
              <a:rPr dirty="0" sz="1100" spc="135">
                <a:latin typeface="Arial"/>
                <a:cs typeface="Arial"/>
              </a:rPr>
              <a:t> </a:t>
            </a:r>
            <a:r>
              <a:rPr dirty="0" sz="1100" spc="-5">
                <a:latin typeface="Arial"/>
                <a:cs typeface="Arial"/>
              </a:rPr>
              <a:t>But</a:t>
            </a:r>
            <a:endParaRPr sz="1100">
              <a:latin typeface="Arial"/>
              <a:cs typeface="Arial"/>
            </a:endParaRPr>
          </a:p>
        </p:txBody>
      </p:sp>
      <p:sp>
        <p:nvSpPr>
          <p:cNvPr id="7" name="object 7"/>
          <p:cNvSpPr txBox="1"/>
          <p:nvPr/>
        </p:nvSpPr>
        <p:spPr>
          <a:xfrm>
            <a:off x="901700" y="8677115"/>
            <a:ext cx="5967095" cy="353060"/>
          </a:xfrm>
          <a:prstGeom prst="rect">
            <a:avLst/>
          </a:prstGeom>
        </p:spPr>
        <p:txBody>
          <a:bodyPr wrap="square" lIns="0" tIns="24130" rIns="0" bIns="0" rtlCol="0" vert="horz">
            <a:spAutoFit/>
          </a:bodyPr>
          <a:lstStyle/>
          <a:p>
            <a:pPr marL="12700" marR="5080">
              <a:lnSpc>
                <a:spcPts val="1260"/>
              </a:lnSpc>
              <a:spcBef>
                <a:spcPts val="190"/>
              </a:spcBef>
            </a:pPr>
            <a:r>
              <a:rPr dirty="0" sz="1100" spc="-5">
                <a:latin typeface="Arial"/>
                <a:cs typeface="Arial"/>
              </a:rPr>
              <a:t>attention to the time paths of the share of agriculture in specific countries reveals a great deal of  variation,</a:t>
            </a:r>
            <a:r>
              <a:rPr dirty="0" sz="1100" spc="195">
                <a:latin typeface="Arial"/>
                <a:cs typeface="Arial"/>
              </a:rPr>
              <a:t> </a:t>
            </a:r>
            <a:r>
              <a:rPr dirty="0" sz="1100" spc="-5">
                <a:latin typeface="Arial"/>
                <a:cs typeface="Arial"/>
              </a:rPr>
              <a:t>which</a:t>
            </a:r>
            <a:r>
              <a:rPr dirty="0" sz="1100" spc="200">
                <a:latin typeface="Arial"/>
                <a:cs typeface="Arial"/>
              </a:rPr>
              <a:t> </a:t>
            </a:r>
            <a:r>
              <a:rPr dirty="0" sz="1100" spc="-5">
                <a:latin typeface="Arial"/>
                <a:cs typeface="Arial"/>
              </a:rPr>
              <a:t>is</a:t>
            </a:r>
            <a:r>
              <a:rPr dirty="0" sz="1100" spc="195">
                <a:latin typeface="Arial"/>
                <a:cs typeface="Arial"/>
              </a:rPr>
              <a:t> </a:t>
            </a:r>
            <a:r>
              <a:rPr dirty="0" sz="1100" spc="-5">
                <a:latin typeface="Arial"/>
                <a:cs typeface="Arial"/>
              </a:rPr>
              <a:t>also</a:t>
            </a:r>
            <a:r>
              <a:rPr dirty="0" sz="1100" spc="195">
                <a:latin typeface="Arial"/>
                <a:cs typeface="Arial"/>
              </a:rPr>
              <a:t> </a:t>
            </a:r>
            <a:r>
              <a:rPr dirty="0" sz="1100" spc="-5">
                <a:latin typeface="Arial"/>
                <a:cs typeface="Arial"/>
              </a:rPr>
              <a:t>informative.</a:t>
            </a:r>
            <a:r>
              <a:rPr dirty="0" sz="1100" spc="195">
                <a:latin typeface="Arial"/>
                <a:cs typeface="Arial"/>
              </a:rPr>
              <a:t> </a:t>
            </a:r>
            <a:r>
              <a:rPr dirty="0" sz="1100" spc="-5">
                <a:latin typeface="Arial"/>
                <a:cs typeface="Arial"/>
              </a:rPr>
              <a:t>In</a:t>
            </a:r>
            <a:r>
              <a:rPr dirty="0" sz="1100" spc="200">
                <a:latin typeface="Arial"/>
                <a:cs typeface="Arial"/>
              </a:rPr>
              <a:t> </a:t>
            </a:r>
            <a:r>
              <a:rPr dirty="0" sz="1100" spc="-5">
                <a:latin typeface="Arial"/>
                <a:cs typeface="Arial"/>
              </a:rPr>
              <a:t>particular,</a:t>
            </a:r>
            <a:r>
              <a:rPr dirty="0" sz="1100" spc="195">
                <a:latin typeface="Arial"/>
                <a:cs typeface="Arial"/>
              </a:rPr>
              <a:t> </a:t>
            </a:r>
            <a:r>
              <a:rPr dirty="0" sz="1100" spc="-5">
                <a:latin typeface="Arial"/>
                <a:cs typeface="Arial"/>
              </a:rPr>
              <a:t>sometimes</a:t>
            </a:r>
            <a:r>
              <a:rPr dirty="0" sz="1100" spc="200">
                <a:latin typeface="Arial"/>
                <a:cs typeface="Arial"/>
              </a:rPr>
              <a:t> </a:t>
            </a:r>
            <a:r>
              <a:rPr dirty="0" sz="1100" spc="-5">
                <a:latin typeface="Arial"/>
                <a:cs typeface="Arial"/>
              </a:rPr>
              <a:t>the</a:t>
            </a:r>
            <a:r>
              <a:rPr dirty="0" sz="1100" spc="195">
                <a:latin typeface="Arial"/>
                <a:cs typeface="Arial"/>
              </a:rPr>
              <a:t> </a:t>
            </a:r>
            <a:r>
              <a:rPr dirty="0" sz="1100" spc="-5">
                <a:latin typeface="Arial"/>
                <a:cs typeface="Arial"/>
              </a:rPr>
              <a:t>share</a:t>
            </a:r>
            <a:r>
              <a:rPr dirty="0" sz="1100" spc="200">
                <a:latin typeface="Arial"/>
                <a:cs typeface="Arial"/>
              </a:rPr>
              <a:t> </a:t>
            </a:r>
            <a:r>
              <a:rPr dirty="0" sz="1100" spc="-5">
                <a:latin typeface="Arial"/>
                <a:cs typeface="Arial"/>
              </a:rPr>
              <a:t>of</a:t>
            </a:r>
            <a:r>
              <a:rPr dirty="0" sz="1100" spc="200">
                <a:latin typeface="Arial"/>
                <a:cs typeface="Arial"/>
              </a:rPr>
              <a:t> </a:t>
            </a:r>
            <a:r>
              <a:rPr dirty="0" sz="1100" spc="-5">
                <a:latin typeface="Arial"/>
                <a:cs typeface="Arial"/>
              </a:rPr>
              <a:t>labor</a:t>
            </a:r>
            <a:r>
              <a:rPr dirty="0" sz="1100" spc="195">
                <a:latin typeface="Arial"/>
                <a:cs typeface="Arial"/>
              </a:rPr>
              <a:t> </a:t>
            </a:r>
            <a:r>
              <a:rPr dirty="0" sz="1100" spc="-5">
                <a:latin typeface="Arial"/>
                <a:cs typeface="Arial"/>
              </a:rPr>
              <a:t>in</a:t>
            </a:r>
            <a:r>
              <a:rPr dirty="0" sz="1100" spc="200">
                <a:latin typeface="Arial"/>
                <a:cs typeface="Arial"/>
              </a:rPr>
              <a:t> </a:t>
            </a:r>
            <a:r>
              <a:rPr dirty="0" sz="1100" spc="-5">
                <a:latin typeface="Arial"/>
                <a:cs typeface="Arial"/>
              </a:rPr>
              <a:t>agriculture</a:t>
            </a:r>
            <a:endParaRPr sz="1100">
              <a:latin typeface="Arial"/>
              <a:cs typeface="Arial"/>
            </a:endParaRPr>
          </a:p>
        </p:txBody>
      </p:sp>
      <p:sp>
        <p:nvSpPr>
          <p:cNvPr id="8" name="object 8"/>
          <p:cNvSpPr/>
          <p:nvPr/>
        </p:nvSpPr>
        <p:spPr>
          <a:xfrm>
            <a:off x="933450" y="4788408"/>
            <a:ext cx="5939790" cy="38548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175</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3566160"/>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declines greatly even when GDP </a:t>
            </a:r>
            <a:r>
              <a:rPr dirty="0" sz="1100">
                <a:latin typeface="Arial"/>
                <a:cs typeface="Arial"/>
              </a:rPr>
              <a:t>per </a:t>
            </a:r>
            <a:r>
              <a:rPr dirty="0" sz="1100" spc="-5">
                <a:latin typeface="Arial"/>
                <a:cs typeface="Arial"/>
              </a:rPr>
              <a:t>capita does not increase much if </a:t>
            </a:r>
            <a:r>
              <a:rPr dirty="0" sz="1100">
                <a:latin typeface="Arial"/>
                <a:cs typeface="Arial"/>
              </a:rPr>
              <a:t>at </a:t>
            </a:r>
            <a:r>
              <a:rPr dirty="0" sz="1100" spc="-5">
                <a:latin typeface="Arial"/>
                <a:cs typeface="Arial"/>
              </a:rPr>
              <a:t>all; examples are seen  in the time paths of Nigeria and Brazil, as traced out in Figure 9.1. This finding parallels the  observation in the Chapter 7, that urbanization is proceeding in many countries even when per  capita income is falling or not rising much. Problems in the agricultural sector can suppress  incomes, encouraging more migration to the urban informal sector. We will review the </a:t>
            </a:r>
            <a:r>
              <a:rPr dirty="0" sz="1100">
                <a:latin typeface="Arial"/>
                <a:cs typeface="Arial"/>
              </a:rPr>
              <a:t>most  </a:t>
            </a:r>
            <a:r>
              <a:rPr dirty="0" sz="1100" spc="-5">
                <a:latin typeface="Arial"/>
                <a:cs typeface="Arial"/>
              </a:rPr>
              <a:t>important problems of developing country agriculture in this chapter. Figure 9.1 also illustrates  the time path of China, in which growth has been extremely rapid but the fall of the share of  labor in agriculture has been unusually slow due in significant part to restrictions on rural-urban  migration (after 2004, the pace of urbanization</a:t>
            </a:r>
            <a:r>
              <a:rPr dirty="0" sz="1100" spc="35">
                <a:latin typeface="Arial"/>
                <a:cs typeface="Arial"/>
              </a:rPr>
              <a:t> </a:t>
            </a:r>
            <a:r>
              <a:rPr dirty="0" sz="1100" spc="-5">
                <a:latin typeface="Arial"/>
                <a:cs typeface="Arial"/>
              </a:rPr>
              <a:t>increased).</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In marked contrast to the historical experience of advanced countries’ agricultural output in their  early stages of growth, which always contributed at least as much to </a:t>
            </a:r>
            <a:r>
              <a:rPr dirty="0" sz="1100">
                <a:latin typeface="Arial"/>
                <a:cs typeface="Arial"/>
              </a:rPr>
              <a:t>total </a:t>
            </a:r>
            <a:r>
              <a:rPr dirty="0" sz="1100" spc="-5">
                <a:latin typeface="Arial"/>
                <a:cs typeface="Arial"/>
              </a:rPr>
              <a:t>output as the share of  the labor force engaged in these activities, the fact that contemporary agricultural employment  in developing countries is much higher than agricultural output reflects the relatively low levels  of labor productivity compared with those in manufacturing and commerce. Agricultural  production continues to rise around the world, broadly keeping pace with the rising population.  But progress has been very uneven, as seen in Figure 9.2. In Asian developing countries,  cereal yields per hectare in 2005 were nearly triple their 1960 levels. Production in Latin  America also posted strong gains. Hunger in China fell. Agriculture in South Asia performed  well, although hunger is thought to have increased in India in recent years. And in sub- Saharan  Africa, yields increased by only about one-third. One of the causes is that in many areas </a:t>
            </a:r>
            <a:r>
              <a:rPr dirty="0" sz="1100">
                <a:latin typeface="Arial"/>
                <a:cs typeface="Arial"/>
              </a:rPr>
              <a:t>of  </a:t>
            </a:r>
            <a:r>
              <a:rPr dirty="0" sz="1100" spc="-5">
                <a:latin typeface="Arial"/>
                <a:cs typeface="Arial"/>
              </a:rPr>
              <a:t>Africa,</a:t>
            </a:r>
            <a:r>
              <a:rPr dirty="0" sz="1100" spc="65">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population</a:t>
            </a:r>
            <a:r>
              <a:rPr dirty="0" sz="1100" spc="65">
                <a:latin typeface="Arial"/>
                <a:cs typeface="Arial"/>
              </a:rPr>
              <a:t> </a:t>
            </a:r>
            <a:r>
              <a:rPr dirty="0" sz="1100" spc="-5">
                <a:latin typeface="Arial"/>
                <a:cs typeface="Arial"/>
              </a:rPr>
              <a:t>has</a:t>
            </a:r>
            <a:r>
              <a:rPr dirty="0" sz="1100" spc="65">
                <a:latin typeface="Arial"/>
                <a:cs typeface="Arial"/>
              </a:rPr>
              <a:t> </a:t>
            </a:r>
            <a:r>
              <a:rPr dirty="0" sz="1100" spc="-5">
                <a:latin typeface="Arial"/>
                <a:cs typeface="Arial"/>
              </a:rPr>
              <a:t>reached</a:t>
            </a:r>
            <a:r>
              <a:rPr dirty="0" sz="1100" spc="65">
                <a:latin typeface="Arial"/>
                <a:cs typeface="Arial"/>
              </a:rPr>
              <a:t> </a:t>
            </a:r>
            <a:r>
              <a:rPr dirty="0" sz="1100" spc="-5">
                <a:latin typeface="Arial"/>
                <a:cs typeface="Arial"/>
              </a:rPr>
              <a:t>a</a:t>
            </a:r>
            <a:r>
              <a:rPr dirty="0" sz="1100" spc="60">
                <a:latin typeface="Arial"/>
                <a:cs typeface="Arial"/>
              </a:rPr>
              <a:t> </a:t>
            </a:r>
            <a:r>
              <a:rPr dirty="0" sz="1100" spc="-5">
                <a:latin typeface="Arial"/>
                <a:cs typeface="Arial"/>
              </a:rPr>
              <a:t>size</a:t>
            </a:r>
            <a:r>
              <a:rPr dirty="0" sz="1100" spc="60">
                <a:latin typeface="Arial"/>
                <a:cs typeface="Arial"/>
              </a:rPr>
              <a:t> </a:t>
            </a:r>
            <a:r>
              <a:rPr dirty="0" sz="1100" spc="-5">
                <a:latin typeface="Arial"/>
                <a:cs typeface="Arial"/>
              </a:rPr>
              <a:t>where</a:t>
            </a:r>
            <a:r>
              <a:rPr dirty="0" sz="1100" spc="60">
                <a:latin typeface="Arial"/>
                <a:cs typeface="Arial"/>
              </a:rPr>
              <a:t> </a:t>
            </a:r>
            <a:r>
              <a:rPr dirty="0" sz="1100" spc="-5">
                <a:latin typeface="Arial"/>
                <a:cs typeface="Arial"/>
              </a:rPr>
              <a:t>traditional</a:t>
            </a:r>
            <a:r>
              <a:rPr dirty="0" sz="1100" spc="60">
                <a:latin typeface="Arial"/>
                <a:cs typeface="Arial"/>
              </a:rPr>
              <a:t> </a:t>
            </a:r>
            <a:r>
              <a:rPr dirty="0" sz="1100" spc="-5">
                <a:latin typeface="Arial"/>
                <a:cs typeface="Arial"/>
              </a:rPr>
              <a:t>slash-and-burn</a:t>
            </a:r>
            <a:r>
              <a:rPr dirty="0" sz="1100" spc="65">
                <a:latin typeface="Arial"/>
                <a:cs typeface="Arial"/>
              </a:rPr>
              <a:t> </a:t>
            </a:r>
            <a:r>
              <a:rPr dirty="0" sz="1100" spc="-5">
                <a:latin typeface="Arial"/>
                <a:cs typeface="Arial"/>
              </a:rPr>
              <a:t>agricultural</a:t>
            </a:r>
            <a:r>
              <a:rPr dirty="0" sz="1100" spc="65">
                <a:latin typeface="Arial"/>
                <a:cs typeface="Arial"/>
              </a:rPr>
              <a:t> </a:t>
            </a:r>
            <a:r>
              <a:rPr dirty="0" sz="1100" spc="-5">
                <a:latin typeface="Arial"/>
                <a:cs typeface="Arial"/>
              </a:rPr>
              <a:t>practices</a:t>
            </a:r>
            <a:endParaRPr sz="1100">
              <a:latin typeface="Arial"/>
              <a:cs typeface="Arial"/>
            </a:endParaRPr>
          </a:p>
        </p:txBody>
      </p:sp>
      <p:sp>
        <p:nvSpPr>
          <p:cNvPr id="7" name="object 7"/>
          <p:cNvSpPr txBox="1"/>
          <p:nvPr/>
        </p:nvSpPr>
        <p:spPr>
          <a:xfrm>
            <a:off x="901700" y="8197815"/>
            <a:ext cx="5969000" cy="6743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are no longer feasible without reusing land after too little rest, resulting in significant  deterioration of soil nutrients. But subsistence farmers cannot purchase improved seeds,  fertilizers, and other essentials of modern agriculture; the result can be a poverty trap in which  farmers </a:t>
            </a:r>
            <a:r>
              <a:rPr dirty="0" sz="1100">
                <a:latin typeface="Arial"/>
                <a:cs typeface="Arial"/>
              </a:rPr>
              <a:t>must </a:t>
            </a:r>
            <a:r>
              <a:rPr dirty="0" sz="1100" spc="-5">
                <a:latin typeface="Arial"/>
                <a:cs typeface="Arial"/>
              </a:rPr>
              <a:t>work harder and harder just to stay in</a:t>
            </a:r>
            <a:r>
              <a:rPr dirty="0" sz="1100" spc="50">
                <a:latin typeface="Arial"/>
                <a:cs typeface="Arial"/>
              </a:rPr>
              <a:t> </a:t>
            </a:r>
            <a:r>
              <a:rPr dirty="0" sz="1100" spc="-5">
                <a:latin typeface="Arial"/>
                <a:cs typeface="Arial"/>
              </a:rPr>
              <a:t>place.</a:t>
            </a:r>
            <a:endParaRPr sz="1100">
              <a:latin typeface="Arial"/>
              <a:cs typeface="Arial"/>
            </a:endParaRPr>
          </a:p>
        </p:txBody>
      </p:sp>
      <p:sp>
        <p:nvSpPr>
          <p:cNvPr id="8" name="object 8"/>
          <p:cNvSpPr/>
          <p:nvPr/>
        </p:nvSpPr>
        <p:spPr>
          <a:xfrm>
            <a:off x="1153667" y="4468367"/>
            <a:ext cx="5435346" cy="369811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176</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39759"/>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The United Nations Food and Agriculture Organization (FAO) has repeatedly warned of  catastrophic food shortages. It has estimated that of Africa’s 750 million people, more than 270  million suffer from some form of malnutrition associated with inadequate food supplies. The  severe famine of 1973–1974 took the lives of hundreds of thousands and left many more </a:t>
            </a:r>
            <a:r>
              <a:rPr dirty="0" sz="1100">
                <a:latin typeface="Arial"/>
                <a:cs typeface="Arial"/>
              </a:rPr>
              <a:t>with  </a:t>
            </a:r>
            <a:r>
              <a:rPr dirty="0" sz="1100" spc="-5">
                <a:latin typeface="Arial"/>
                <a:cs typeface="Arial"/>
              </a:rPr>
              <a:t>permanent damage </a:t>
            </a:r>
            <a:r>
              <a:rPr dirty="0" sz="1100">
                <a:latin typeface="Arial"/>
                <a:cs typeface="Arial"/>
              </a:rPr>
              <a:t>from </a:t>
            </a:r>
            <a:r>
              <a:rPr dirty="0" sz="1100" spc="-5">
                <a:latin typeface="Arial"/>
                <a:cs typeface="Arial"/>
              </a:rPr>
              <a:t>malnutrition across the continent in the Sahelian belt that stretches  below the Sahara from Cape Verde, off the coast of Senegal in the west, all the way to Ethiopia  in the</a:t>
            </a:r>
            <a:r>
              <a:rPr dirty="0" sz="1100">
                <a:latin typeface="Arial"/>
                <a:cs typeface="Arial"/>
              </a:rPr>
              <a:t> </a:t>
            </a:r>
            <a:r>
              <a:rPr dirty="0" sz="1100" spc="-5">
                <a:latin typeface="Arial"/>
                <a:cs typeface="Arial"/>
              </a:rPr>
              <a:t>east.</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Four times in the 1980s and 1990s, at least 22 African nations faced severe famine. In the  2000s, famine again seriously affected African countries as widely separated as Mauritania in  the northwest, Ethiopia and Eritrea in the east, and Angola, Zambia, Zimbabwe, Malawi, and  Mozambique across the south. By 2007, calls to mount a new green revolution in Africa like the  successful one in Asia, which had been falling on deaf ears, were starting to get the hearing  they deserved, with public, private, and nonprofit sector actors getting involved—including major  support from the Alliance for a Green Revolution in Africa (AGRA), chaired by former UN  secretary general Kofi Annan. Technical advances are clearly needed, and institutional and  social transformation on the ground will also be needed to achieve the </a:t>
            </a:r>
            <a:r>
              <a:rPr dirty="0" sz="1100">
                <a:latin typeface="Arial"/>
                <a:cs typeface="Arial"/>
              </a:rPr>
              <a:t>goals </a:t>
            </a:r>
            <a:r>
              <a:rPr dirty="0" sz="1100" spc="-5">
                <a:latin typeface="Arial"/>
                <a:cs typeface="Arial"/>
              </a:rPr>
              <a:t>of rural  development. The African Union’s peer-review NEPAD initiative developed the Comprehensive  Africa Agricultural Development Program to emphasize investments and regional cooperation in  agriculture-led growth as a main strategy to achieve the first Millennium Development Goal of  halving hunger and poverty. It targets the allocation of 10% of national budgets to agriculture  and a 6% rate of growth in the agriculture sector at the national</a:t>
            </a:r>
            <a:r>
              <a:rPr dirty="0" sz="1100" spc="85">
                <a:latin typeface="Arial"/>
                <a:cs typeface="Arial"/>
              </a:rPr>
              <a:t> </a:t>
            </a:r>
            <a:r>
              <a:rPr dirty="0" sz="1100" spc="-5">
                <a:latin typeface="Arial"/>
                <a:cs typeface="Arial"/>
              </a:rPr>
              <a:t>level.</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One early success is in work at the Africa Rice Center in Benin to develop varieties of </a:t>
            </a:r>
            <a:r>
              <a:rPr dirty="0" sz="1100">
                <a:latin typeface="Arial"/>
                <a:cs typeface="Arial"/>
              </a:rPr>
              <a:t>New Rice  </a:t>
            </a:r>
            <a:r>
              <a:rPr dirty="0" sz="1100" spc="-5">
                <a:latin typeface="Arial"/>
                <a:cs typeface="Arial"/>
              </a:rPr>
              <a:t>for Africa (NERICA). These have so far proven beneficial in Benin, Uganda, and The Gambia,  with apparently greater impact on women farmers </a:t>
            </a:r>
            <a:r>
              <a:rPr dirty="0" sz="1100">
                <a:latin typeface="Arial"/>
                <a:cs typeface="Arial"/>
              </a:rPr>
              <a:t>than </a:t>
            </a:r>
            <a:r>
              <a:rPr dirty="0" sz="1100" spc="-5">
                <a:latin typeface="Arial"/>
                <a:cs typeface="Arial"/>
              </a:rPr>
              <a:t>men farmers. It is not easy to replicate  successes across Africa, however; for example NERICA varieties have not helped in Guinea  and Côte d’Ivoire. And food production will not automatically solve the problems of hunger  among people living in poverty. </a:t>
            </a:r>
            <a:r>
              <a:rPr dirty="0" sz="1100">
                <a:latin typeface="Arial"/>
                <a:cs typeface="Arial"/>
              </a:rPr>
              <a:t>The </a:t>
            </a:r>
            <a:r>
              <a:rPr dirty="0" sz="1100" spc="-5">
                <a:latin typeface="Arial"/>
                <a:cs typeface="Arial"/>
              </a:rPr>
              <a:t>food price spike of 2007–2008 highlighted the continuing  vulnerabilities, and the number of the world’s malnourished surpassed the billion mark for the  first time. Some of the causes were temporary factors. But expert predictions are for high food  prices in the longer</a:t>
            </a:r>
            <a:r>
              <a:rPr dirty="0" sz="1100" spc="5">
                <a:latin typeface="Arial"/>
                <a:cs typeface="Arial"/>
              </a:rPr>
              <a:t> </a:t>
            </a:r>
            <a:r>
              <a:rPr dirty="0" sz="1100" spc="-5">
                <a:latin typeface="Arial"/>
                <a:cs typeface="Arial"/>
              </a:rPr>
              <a:t>term.</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As Nora Lustig has summarized, some of the causes of the 2007–2008 food price spike also  reflect longer-term forces that will lead to high future food prices, including diversion of food to  biofuels production, increase in food demand including land using meat production due to higher  incomes in China and elsewhere, the slowdown in productivity growth of agricultural  commodities, higher energy prices affecting agricultural input costs, running out of new land to  be brought into farming, and the negative impact of climate change on developing- country food  production. These are exacerbated by a number of unfavorable policies including various forms  of interference with food prices. Furthermore, there is not a large global market for food in  relation to total demand. Most countries strive for food self-sufficiency, largely for national  security reasons. Embargoes of food exports by such countries as Egypt, Vietnam, and Russia  reflect this reluctance. The world will soon find itself having to manage to feed over 9 billion  people. While highlighting impressive successes, we must also keep in mind looming  challenges.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MARKET FAILURES AND THE NEED FOR GOVERNMENT</a:t>
            </a:r>
            <a:r>
              <a:rPr dirty="0" sz="1100" spc="30" b="1">
                <a:latin typeface="Arial"/>
                <a:cs typeface="Arial"/>
              </a:rPr>
              <a:t> </a:t>
            </a:r>
            <a:r>
              <a:rPr dirty="0" sz="1100" spc="-5" b="1">
                <a:latin typeface="Arial"/>
                <a:cs typeface="Arial"/>
              </a:rPr>
              <a:t>POLICY</a:t>
            </a:r>
            <a:endParaRPr sz="1100">
              <a:latin typeface="Arial"/>
              <a:cs typeface="Arial"/>
            </a:endParaRPr>
          </a:p>
          <a:p>
            <a:pPr>
              <a:lnSpc>
                <a:spcPct val="100000"/>
              </a:lnSpc>
              <a:spcBef>
                <a:spcPts val="25"/>
              </a:spcBef>
            </a:pPr>
            <a:endParaRPr sz="1200">
              <a:latin typeface="Arial"/>
              <a:cs typeface="Arial"/>
            </a:endParaRPr>
          </a:p>
          <a:p>
            <a:pPr algn="just" marL="12700" marR="7620">
              <a:lnSpc>
                <a:spcPts val="1270"/>
              </a:lnSpc>
            </a:pPr>
            <a:r>
              <a:rPr dirty="0" sz="1100" spc="-5">
                <a:latin typeface="Arial"/>
                <a:cs typeface="Arial"/>
              </a:rPr>
              <a:t>A major reason for the relatively poor performance of agriculture in low income regions has  been</a:t>
            </a:r>
            <a:r>
              <a:rPr dirty="0" sz="1100" spc="185">
                <a:latin typeface="Arial"/>
                <a:cs typeface="Arial"/>
              </a:rPr>
              <a:t> </a:t>
            </a:r>
            <a:r>
              <a:rPr dirty="0" sz="1100" spc="-5">
                <a:latin typeface="Arial"/>
                <a:cs typeface="Arial"/>
              </a:rPr>
              <a:t>the</a:t>
            </a:r>
            <a:r>
              <a:rPr dirty="0" sz="1100" spc="190">
                <a:latin typeface="Arial"/>
                <a:cs typeface="Arial"/>
              </a:rPr>
              <a:t> </a:t>
            </a:r>
            <a:r>
              <a:rPr dirty="0" sz="1100" spc="-5">
                <a:latin typeface="Arial"/>
                <a:cs typeface="Arial"/>
              </a:rPr>
              <a:t>neglect</a:t>
            </a:r>
            <a:r>
              <a:rPr dirty="0" sz="1100" spc="185">
                <a:latin typeface="Arial"/>
                <a:cs typeface="Arial"/>
              </a:rPr>
              <a:t> </a:t>
            </a:r>
            <a:r>
              <a:rPr dirty="0" sz="1100" spc="-5">
                <a:latin typeface="Arial"/>
                <a:cs typeface="Arial"/>
              </a:rPr>
              <a:t>of</a:t>
            </a:r>
            <a:r>
              <a:rPr dirty="0" sz="1100" spc="190">
                <a:latin typeface="Arial"/>
                <a:cs typeface="Arial"/>
              </a:rPr>
              <a:t> </a:t>
            </a:r>
            <a:r>
              <a:rPr dirty="0" sz="1100" spc="-5">
                <a:latin typeface="Arial"/>
                <a:cs typeface="Arial"/>
              </a:rPr>
              <a:t>this</a:t>
            </a:r>
            <a:r>
              <a:rPr dirty="0" sz="1100" spc="190">
                <a:latin typeface="Arial"/>
                <a:cs typeface="Arial"/>
              </a:rPr>
              <a:t> </a:t>
            </a:r>
            <a:r>
              <a:rPr dirty="0" sz="1100" spc="-5">
                <a:latin typeface="Arial"/>
                <a:cs typeface="Arial"/>
              </a:rPr>
              <a:t>sector</a:t>
            </a:r>
            <a:r>
              <a:rPr dirty="0" sz="1100" spc="190">
                <a:latin typeface="Arial"/>
                <a:cs typeface="Arial"/>
              </a:rPr>
              <a:t> </a:t>
            </a:r>
            <a:r>
              <a:rPr dirty="0" sz="1100" spc="-5">
                <a:latin typeface="Arial"/>
                <a:cs typeface="Arial"/>
              </a:rPr>
              <a:t>in</a:t>
            </a:r>
            <a:r>
              <a:rPr dirty="0" sz="1100" spc="190">
                <a:latin typeface="Arial"/>
                <a:cs typeface="Arial"/>
              </a:rPr>
              <a:t> </a:t>
            </a:r>
            <a:r>
              <a:rPr dirty="0" sz="1100" spc="-5">
                <a:latin typeface="Arial"/>
                <a:cs typeface="Arial"/>
              </a:rPr>
              <a:t>the</a:t>
            </a:r>
            <a:r>
              <a:rPr dirty="0" sz="1100" spc="190">
                <a:latin typeface="Arial"/>
                <a:cs typeface="Arial"/>
              </a:rPr>
              <a:t> </a:t>
            </a:r>
            <a:r>
              <a:rPr dirty="0" sz="1100" spc="-5">
                <a:latin typeface="Arial"/>
                <a:cs typeface="Arial"/>
              </a:rPr>
              <a:t>development</a:t>
            </a:r>
            <a:r>
              <a:rPr dirty="0" sz="1100" spc="185">
                <a:latin typeface="Arial"/>
                <a:cs typeface="Arial"/>
              </a:rPr>
              <a:t> </a:t>
            </a:r>
            <a:r>
              <a:rPr dirty="0" sz="1100" spc="-5">
                <a:latin typeface="Arial"/>
                <a:cs typeface="Arial"/>
              </a:rPr>
              <a:t>priorities</a:t>
            </a:r>
            <a:r>
              <a:rPr dirty="0" sz="1100" spc="190">
                <a:latin typeface="Arial"/>
                <a:cs typeface="Arial"/>
              </a:rPr>
              <a:t> </a:t>
            </a:r>
            <a:r>
              <a:rPr dirty="0" sz="1100" spc="-5">
                <a:latin typeface="Arial"/>
                <a:cs typeface="Arial"/>
              </a:rPr>
              <a:t>of</a:t>
            </a:r>
            <a:r>
              <a:rPr dirty="0" sz="1100" spc="185">
                <a:latin typeface="Arial"/>
                <a:cs typeface="Arial"/>
              </a:rPr>
              <a:t> </a:t>
            </a:r>
            <a:r>
              <a:rPr dirty="0" sz="1100" spc="-5">
                <a:latin typeface="Arial"/>
                <a:cs typeface="Arial"/>
              </a:rPr>
              <a:t>their</a:t>
            </a:r>
            <a:r>
              <a:rPr dirty="0" sz="1100" spc="190">
                <a:latin typeface="Arial"/>
                <a:cs typeface="Arial"/>
              </a:rPr>
              <a:t> </a:t>
            </a:r>
            <a:r>
              <a:rPr dirty="0" sz="1100" spc="-5">
                <a:latin typeface="Arial"/>
                <a:cs typeface="Arial"/>
              </a:rPr>
              <a:t>governments,</a:t>
            </a:r>
            <a:r>
              <a:rPr dirty="0" sz="1100" spc="195">
                <a:latin typeface="Arial"/>
                <a:cs typeface="Arial"/>
              </a:rPr>
              <a:t> </a:t>
            </a:r>
            <a:r>
              <a:rPr dirty="0" sz="1100" spc="-5">
                <a:latin typeface="Arial"/>
                <a:cs typeface="Arial"/>
              </a:rPr>
              <a:t>which</a:t>
            </a:r>
            <a:r>
              <a:rPr dirty="0" sz="1100" spc="185">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177</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7582534"/>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initiatives just described, are intended to overcome. This neglect of agriculture and the  accompanying bias toward investment in the </a:t>
            </a:r>
            <a:r>
              <a:rPr dirty="0" sz="1100">
                <a:latin typeface="Arial"/>
                <a:cs typeface="Arial"/>
              </a:rPr>
              <a:t>urban </a:t>
            </a:r>
            <a:r>
              <a:rPr dirty="0" sz="1100" spc="-5">
                <a:latin typeface="Arial"/>
                <a:cs typeface="Arial"/>
              </a:rPr>
              <a:t>industrial economy can in turn be traced  historically to the misplaced emphasis on rapid industrialization via import substitution and  exchange rate overvaluation (see Chapter </a:t>
            </a:r>
            <a:r>
              <a:rPr dirty="0" sz="1100">
                <a:latin typeface="Arial"/>
                <a:cs typeface="Arial"/>
              </a:rPr>
              <a:t>12) </a:t>
            </a:r>
            <a:r>
              <a:rPr dirty="0" sz="1100" spc="-5">
                <a:latin typeface="Arial"/>
                <a:cs typeface="Arial"/>
              </a:rPr>
              <a:t>that permeated development thinking and  strategy during the postwar</a:t>
            </a:r>
            <a:r>
              <a:rPr dirty="0" sz="1100" spc="15">
                <a:latin typeface="Arial"/>
                <a:cs typeface="Arial"/>
              </a:rPr>
              <a:t> </a:t>
            </a:r>
            <a:r>
              <a:rPr dirty="0" sz="1100" spc="-5">
                <a:latin typeface="Arial"/>
                <a:cs typeface="Arial"/>
              </a:rPr>
              <a:t>decades.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If agricultural development is to receive a renewed emphasis, what is the proper role for  government? In fact, one of the most important challenges for agriculture in development is to  get the role of government right. A major theme of development agencies in the 1980s was to  reduce government intervention in agriculture. Indeed, many of the early interventions did more  harm than good; an extreme example is government requirements for farmers to sell at a low  price to state marketing boards, an attempt to keep urban food prices low. Production subsidies,  now spreading like a contagion from high-income to middle-income countries, are costly and  inefficient. Agriculture is generally thought of as a perfectly competitive activity, but this does not  mean that there are no market failures and no role for government. In fact, market failures in the  sector are quite common and include environmental externalities, the public good character of  agricultural research and development and </a:t>
            </a:r>
            <a:r>
              <a:rPr dirty="0" sz="1100">
                <a:latin typeface="Arial"/>
                <a:cs typeface="Arial"/>
              </a:rPr>
              <a:t>extension </a:t>
            </a:r>
            <a:r>
              <a:rPr dirty="0" sz="1100" spc="-5">
                <a:latin typeface="Arial"/>
                <a:cs typeface="Arial"/>
              </a:rPr>
              <a:t>services, economies of scale in  marketing, information asymmetries in product quality, and monopoly power in input supply, in  addition to the more general government roles of providing institutions and infrastructure.  Despite many failures, sometimes government has been relatively effective in these roles, as in  Asia during its green</a:t>
            </a:r>
            <a:r>
              <a:rPr dirty="0" sz="1100" spc="15">
                <a:latin typeface="Arial"/>
                <a:cs typeface="Arial"/>
              </a:rPr>
              <a:t> </a:t>
            </a:r>
            <a:r>
              <a:rPr dirty="0" sz="1100" spc="-5">
                <a:latin typeface="Arial"/>
                <a:cs typeface="Arial"/>
              </a:rPr>
              <a:t>revolution.</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But government also has a role in agriculture simply because of its necessary role in poverty  alleviation—and a large majority of the world’s poor are still farmers. Poverty itself prevents  farmers </a:t>
            </a:r>
            <a:r>
              <a:rPr dirty="0" sz="1100">
                <a:latin typeface="Arial"/>
                <a:cs typeface="Arial"/>
              </a:rPr>
              <a:t>from </a:t>
            </a:r>
            <a:r>
              <a:rPr dirty="0" sz="1100" spc="-5">
                <a:latin typeface="Arial"/>
                <a:cs typeface="Arial"/>
              </a:rPr>
              <a:t>taking advantage of opportunities that could help pull them out of poverty. Lacking  collateral, they cannot </a:t>
            </a:r>
            <a:r>
              <a:rPr dirty="0" sz="1100">
                <a:latin typeface="Arial"/>
                <a:cs typeface="Arial"/>
              </a:rPr>
              <a:t>get </a:t>
            </a:r>
            <a:r>
              <a:rPr dirty="0" sz="1100" spc="-5">
                <a:latin typeface="Arial"/>
                <a:cs typeface="Arial"/>
              </a:rPr>
              <a:t>credit. Lacking credit, they </a:t>
            </a:r>
            <a:r>
              <a:rPr dirty="0" sz="1100">
                <a:latin typeface="Arial"/>
                <a:cs typeface="Arial"/>
              </a:rPr>
              <a:t>may </a:t>
            </a:r>
            <a:r>
              <a:rPr dirty="0" sz="1100" spc="-5">
                <a:latin typeface="Arial"/>
                <a:cs typeface="Arial"/>
              </a:rPr>
              <a:t>have to </a:t>
            </a:r>
            <a:r>
              <a:rPr dirty="0" sz="1100">
                <a:latin typeface="Arial"/>
                <a:cs typeface="Arial"/>
              </a:rPr>
              <a:t>take </a:t>
            </a:r>
            <a:r>
              <a:rPr dirty="0" sz="1100" spc="-5">
                <a:latin typeface="Arial"/>
                <a:cs typeface="Arial"/>
              </a:rPr>
              <a:t>their children out of  school to work, transmitting poverty across generations. Lacking health and nutrition, they </a:t>
            </a:r>
            <a:r>
              <a:rPr dirty="0" sz="1100">
                <a:latin typeface="Arial"/>
                <a:cs typeface="Arial"/>
              </a:rPr>
              <a:t>may  </a:t>
            </a:r>
            <a:r>
              <a:rPr dirty="0" sz="1100" spc="-5">
                <a:latin typeface="Arial"/>
                <a:cs typeface="Arial"/>
              </a:rPr>
              <a:t>be unable to work well enough to afford better health and nutrition. With a lack of information  and missing markets, they cannot get insurance. Lacking insurance, they cannot take what  might seem favorable risks for fear of falling below subsistence. Without middlemen, they  cannot specialize (and without specialization, middlemen lack incentives to enter). Being  socially excluded because of ethnicity, caste, language, or gender, they are denied  opportunities, which keep them excluded. These poverty </a:t>
            </a:r>
            <a:r>
              <a:rPr dirty="0" sz="1100">
                <a:latin typeface="Arial"/>
                <a:cs typeface="Arial"/>
              </a:rPr>
              <a:t>traps </a:t>
            </a:r>
            <a:r>
              <a:rPr dirty="0" sz="1100" spc="-5">
                <a:latin typeface="Arial"/>
                <a:cs typeface="Arial"/>
              </a:rPr>
              <a:t>are often all but impossible to  escape without assistance. In all of these areas, NGOs can and do step in to help (Chapter 11),  but government is needed to at least play a facilitating</a:t>
            </a:r>
            <a:r>
              <a:rPr dirty="0" sz="1100" spc="50">
                <a:latin typeface="Arial"/>
                <a:cs typeface="Arial"/>
              </a:rPr>
              <a:t> </a:t>
            </a:r>
            <a:r>
              <a:rPr dirty="0" sz="1100" spc="-5">
                <a:latin typeface="Arial"/>
                <a:cs typeface="Arial"/>
              </a:rPr>
              <a:t>role.</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These two functions are closely related. Many market failures, such as missing markets and  capital market failures, sharply limit the ability of poor farmers to take advantage of opportunities  of globalization when governments liberalize trade, for example. If </a:t>
            </a:r>
            <a:r>
              <a:rPr dirty="0" sz="1100">
                <a:latin typeface="Arial"/>
                <a:cs typeface="Arial"/>
              </a:rPr>
              <a:t>these </a:t>
            </a:r>
            <a:r>
              <a:rPr dirty="0" sz="1100" spc="-5">
                <a:latin typeface="Arial"/>
                <a:cs typeface="Arial"/>
              </a:rPr>
              <a:t>problems are </a:t>
            </a:r>
            <a:r>
              <a:rPr dirty="0" sz="1100">
                <a:latin typeface="Arial"/>
                <a:cs typeface="Arial"/>
              </a:rPr>
              <a:t>not  </a:t>
            </a:r>
            <a:r>
              <a:rPr dirty="0" sz="1100" spc="-5">
                <a:latin typeface="Arial"/>
                <a:cs typeface="Arial"/>
              </a:rPr>
              <a:t>addressed prior to deregulation or making other structural changes, the poor can remain  excluded and even end up worse off. A key role for government, then, is to ensure that growth  in agriculture is shared by the </a:t>
            </a:r>
            <a:r>
              <a:rPr dirty="0" sz="1100">
                <a:latin typeface="Arial"/>
                <a:cs typeface="Arial"/>
              </a:rPr>
              <a:t>poor. </a:t>
            </a:r>
            <a:r>
              <a:rPr dirty="0" sz="1100" spc="-5">
                <a:latin typeface="Arial"/>
                <a:cs typeface="Arial"/>
              </a:rPr>
              <a:t>In some countries, impressive agricultural growth has  occurred without the poor receiving proportional benefits. Examples include Brazil, with its  extremely unequal land distribution, and Pakistan, with its social injustices and inequality of  access to key resources such as irrigation. But by including the poor, the human and natural  resources of a developing nation are more fully employed, and that can result in an increased  rate of growth as well as poverty</a:t>
            </a:r>
            <a:r>
              <a:rPr dirty="0" sz="1100" spc="25">
                <a:latin typeface="Arial"/>
                <a:cs typeface="Arial"/>
              </a:rPr>
              <a:t> </a:t>
            </a:r>
            <a:r>
              <a:rPr dirty="0" sz="1100" spc="-5">
                <a:latin typeface="Arial"/>
                <a:cs typeface="Arial"/>
              </a:rPr>
              <a:t>reduction.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178</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219392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26</a:t>
            </a:r>
            <a:endParaRPr sz="1100">
              <a:latin typeface="Arial"/>
              <a:cs typeface="Arial"/>
            </a:endParaRPr>
          </a:p>
          <a:p>
            <a:pPr>
              <a:lnSpc>
                <a:spcPct val="100000"/>
              </a:lnSpc>
              <a:spcBef>
                <a:spcPts val="40"/>
              </a:spcBef>
            </a:pPr>
            <a:endParaRPr sz="1200">
              <a:latin typeface="Arial"/>
              <a:cs typeface="Arial"/>
            </a:endParaRPr>
          </a:p>
          <a:p>
            <a:pPr marL="2437765" marR="551180" indent="-1879600">
              <a:lnSpc>
                <a:spcPts val="1380"/>
              </a:lnSpc>
            </a:pPr>
            <a:r>
              <a:rPr dirty="0" sz="1200" spc="-5" b="1">
                <a:latin typeface="Arial"/>
                <a:cs typeface="Arial"/>
              </a:rPr>
              <a:t>AGRICULTURAL TRANSFORMATION AND RURAL DEVELOPMENT  (CONTINUED1)</a:t>
            </a:r>
            <a:endParaRPr sz="1200">
              <a:latin typeface="Arial"/>
              <a:cs typeface="Arial"/>
            </a:endParaRPr>
          </a:p>
          <a:p>
            <a:pPr marL="12700" marR="1019175">
              <a:lnSpc>
                <a:spcPts val="2640"/>
              </a:lnSpc>
              <a:spcBef>
                <a:spcPts val="170"/>
              </a:spcBef>
            </a:pPr>
            <a:r>
              <a:rPr dirty="0" sz="1100" spc="-5" b="1">
                <a:latin typeface="Arial"/>
                <a:cs typeface="Arial"/>
              </a:rPr>
              <a:t>THE STRUCTURE OF AGRARIAN SYSTEMS IN THE DEVELOPING WORLD  </a:t>
            </a:r>
            <a:r>
              <a:rPr dirty="0" sz="1100" spc="-10" b="1">
                <a:latin typeface="Arial"/>
                <a:cs typeface="Arial"/>
              </a:rPr>
              <a:t>THREE </a:t>
            </a:r>
            <a:r>
              <a:rPr dirty="0" sz="1100" spc="-5" b="1">
                <a:latin typeface="Arial"/>
                <a:cs typeface="Arial"/>
              </a:rPr>
              <a:t>SYSTEMS OF</a:t>
            </a:r>
            <a:r>
              <a:rPr dirty="0" sz="1100" spc="20" b="1">
                <a:latin typeface="Arial"/>
                <a:cs typeface="Arial"/>
              </a:rPr>
              <a:t> </a:t>
            </a:r>
            <a:r>
              <a:rPr dirty="0" sz="1100" spc="-5" b="1">
                <a:latin typeface="Arial"/>
                <a:cs typeface="Arial"/>
              </a:rPr>
              <a:t>AGRICULTURE</a:t>
            </a:r>
            <a:endParaRPr sz="1100">
              <a:latin typeface="Arial"/>
              <a:cs typeface="Arial"/>
            </a:endParaRPr>
          </a:p>
          <a:p>
            <a:pPr>
              <a:lnSpc>
                <a:spcPct val="100000"/>
              </a:lnSpc>
            </a:pPr>
            <a:endParaRPr sz="950">
              <a:latin typeface="Arial"/>
              <a:cs typeface="Arial"/>
            </a:endParaRPr>
          </a:p>
          <a:p>
            <a:pPr algn="just" marL="12700" marR="5715">
              <a:lnSpc>
                <a:spcPts val="1270"/>
              </a:lnSpc>
            </a:pPr>
            <a:r>
              <a:rPr dirty="0" sz="1100" spc="-5">
                <a:latin typeface="Arial"/>
                <a:cs typeface="Arial"/>
              </a:rPr>
              <a:t>A first step toward understanding what is needed for further agricultural and rural development  progress is a clear perspective of the nature of agricultural systems in diverse developing  regions and, in particular, of the economic aspects of the transition from subsistence to  commercial agriculture.</a:t>
            </a:r>
            <a:endParaRPr sz="1100">
              <a:latin typeface="Arial"/>
              <a:cs typeface="Arial"/>
            </a:endParaRPr>
          </a:p>
        </p:txBody>
      </p:sp>
      <p:sp>
        <p:nvSpPr>
          <p:cNvPr id="7" name="object 7"/>
          <p:cNvSpPr txBox="1"/>
          <p:nvPr/>
        </p:nvSpPr>
        <p:spPr>
          <a:xfrm>
            <a:off x="901700" y="4086084"/>
            <a:ext cx="5971540" cy="4851400"/>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One helpful way to categorize world agriculture, proposed by the agricultural development  economist Alain de Janvry and </a:t>
            </a:r>
            <a:r>
              <a:rPr dirty="0" sz="1100">
                <a:latin typeface="Arial"/>
                <a:cs typeface="Arial"/>
              </a:rPr>
              <a:t>his </a:t>
            </a:r>
            <a:r>
              <a:rPr dirty="0" sz="1100" spc="-5">
                <a:latin typeface="Arial"/>
                <a:cs typeface="Arial"/>
              </a:rPr>
              <a:t>colleagues in the World Bank’s 2008 World Development  Report, is to see that alongside advanced agricultural systems in developed countries, three  quite different situations are found among developing</a:t>
            </a:r>
            <a:r>
              <a:rPr dirty="0" sz="1100" spc="35">
                <a:latin typeface="Arial"/>
                <a:cs typeface="Arial"/>
              </a:rPr>
              <a:t> </a:t>
            </a:r>
            <a:r>
              <a:rPr dirty="0" sz="1100" spc="-5">
                <a:latin typeface="Arial"/>
                <a:cs typeface="Arial"/>
              </a:rPr>
              <a:t>countries.</a:t>
            </a:r>
            <a:endParaRPr sz="1100">
              <a:latin typeface="Arial"/>
              <a:cs typeface="Arial"/>
            </a:endParaRPr>
          </a:p>
          <a:p>
            <a:pPr>
              <a:lnSpc>
                <a:spcPct val="100000"/>
              </a:lnSpc>
              <a:spcBef>
                <a:spcPts val="5"/>
              </a:spcBef>
            </a:pPr>
            <a:endParaRPr sz="1100">
              <a:latin typeface="Arial"/>
              <a:cs typeface="Arial"/>
            </a:endParaRPr>
          </a:p>
          <a:p>
            <a:pPr algn="just" marL="12700" marR="7620">
              <a:lnSpc>
                <a:spcPct val="95800"/>
              </a:lnSpc>
            </a:pPr>
            <a:r>
              <a:rPr dirty="0" sz="1100" spc="-5">
                <a:latin typeface="Arial"/>
                <a:cs typeface="Arial"/>
              </a:rPr>
              <a:t>First, in what the report terms agriculture-based countries, agriculture is still a major source of  economic growth—although mainly because agriculture makes up such a large share of GDP.  The World Bank estimates that agriculture accounts for some 32% of GDP growth on average in  these countries, in which 417 million people live. More than two-thirds of the poor of these  countries live in rural areas. Some 82% of the rural population of sub-Saharan Africa lives in  these countries. It also includes a few countries outside the region, such as Laos. And a few  African countries, such as Senegal, are undergoing</a:t>
            </a:r>
            <a:r>
              <a:rPr dirty="0" sz="1100" spc="40">
                <a:latin typeface="Arial"/>
                <a:cs typeface="Arial"/>
              </a:rPr>
              <a:t> </a:t>
            </a:r>
            <a:r>
              <a:rPr dirty="0" sz="1100" spc="-5">
                <a:latin typeface="Arial"/>
                <a:cs typeface="Arial"/>
              </a:rPr>
              <a:t>transformation.</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Second, most of the world’s rural people—some 2.2 billion—live in </a:t>
            </a:r>
            <a:r>
              <a:rPr dirty="0" sz="1100">
                <a:latin typeface="Arial"/>
                <a:cs typeface="Arial"/>
              </a:rPr>
              <a:t>what </a:t>
            </a:r>
            <a:r>
              <a:rPr dirty="0" sz="1100" spc="-5">
                <a:latin typeface="Arial"/>
                <a:cs typeface="Arial"/>
              </a:rPr>
              <a:t>the report categorizes  as transforming countries, in which the share of the poor who are rural is very high (almost 80%  on average) but agriculture now contributes only a small share to GDP growth (7% </a:t>
            </a:r>
            <a:r>
              <a:rPr dirty="0" sz="1100">
                <a:latin typeface="Arial"/>
                <a:cs typeface="Arial"/>
              </a:rPr>
              <a:t>on </a:t>
            </a:r>
            <a:r>
              <a:rPr dirty="0" sz="1100" spc="-5">
                <a:latin typeface="Arial"/>
                <a:cs typeface="Arial"/>
              </a:rPr>
              <a:t>average).  Most of the population of South and East Asia, North Africa, and the Middle East lives in these  countries, along with some outliers such as Guatemala. Third, in what the report calls urbanized  countries, rural-urban migration has reached the point at which nearly half, or more, of the poor  are found in the cities, and agriculture tends to contribute even less to output growth. The  urbanized countries are largely found in Latin America and the Caribbean, along with  developing Eastern Europe and Central Asia, and contain about 255 million rural</a:t>
            </a:r>
            <a:r>
              <a:rPr dirty="0" sz="1100" spc="155">
                <a:latin typeface="Arial"/>
                <a:cs typeface="Arial"/>
              </a:rPr>
              <a:t> </a:t>
            </a:r>
            <a:r>
              <a:rPr dirty="0" sz="1100" spc="-5">
                <a:latin typeface="Arial"/>
                <a:cs typeface="Arial"/>
              </a:rPr>
              <a:t>dwellers.</a:t>
            </a:r>
            <a:endParaRPr sz="1100">
              <a:latin typeface="Arial"/>
              <a:cs typeface="Arial"/>
            </a:endParaRPr>
          </a:p>
          <a:p>
            <a:pPr>
              <a:lnSpc>
                <a:spcPct val="100000"/>
              </a:lnSpc>
            </a:pPr>
            <a:endParaRPr sz="1100">
              <a:latin typeface="Arial"/>
              <a:cs typeface="Arial"/>
            </a:endParaRPr>
          </a:p>
          <a:p>
            <a:pPr algn="just" marL="12700" marR="6985">
              <a:lnSpc>
                <a:spcPct val="95800"/>
              </a:lnSpc>
            </a:pPr>
            <a:r>
              <a:rPr dirty="0" sz="1100" spc="-5">
                <a:latin typeface="Arial"/>
                <a:cs typeface="Arial"/>
              </a:rPr>
              <a:t>In many cases, the position of countries within these groups is not stagnant. Many countries that  were in the agriculture-based category moved to the transforming category in recent decades,  most prominently India and China. Figure 9.3 shows some of the country positions in each  group, along with the movement over time for four major countries over an approximately </a:t>
            </a:r>
            <a:r>
              <a:rPr dirty="0" sz="1100">
                <a:latin typeface="Arial"/>
                <a:cs typeface="Arial"/>
              </a:rPr>
              <a:t>three-  </a:t>
            </a:r>
            <a:r>
              <a:rPr dirty="0" sz="1100" spc="-5">
                <a:latin typeface="Arial"/>
                <a:cs typeface="Arial"/>
              </a:rPr>
              <a:t>decade period: China, India, Indonesia, and Brazil. For example, Brazil has moved </a:t>
            </a:r>
            <a:r>
              <a:rPr dirty="0" sz="1100">
                <a:latin typeface="Arial"/>
                <a:cs typeface="Arial"/>
              </a:rPr>
              <a:t>from </a:t>
            </a:r>
            <a:r>
              <a:rPr dirty="0" sz="1100" spc="-5">
                <a:latin typeface="Arial"/>
                <a:cs typeface="Arial"/>
              </a:rPr>
              <a:t>being a  borderline transforming country to a solidly urbanized one according to the World Bank  classification.</a:t>
            </a:r>
            <a:endParaRPr sz="1100">
              <a:latin typeface="Arial"/>
              <a:cs typeface="Arial"/>
            </a:endParaRPr>
          </a:p>
        </p:txBody>
      </p:sp>
      <p:sp>
        <p:nvSpPr>
          <p:cNvPr id="8" name="object 8"/>
          <p:cNvSpPr/>
          <p:nvPr/>
        </p:nvSpPr>
        <p:spPr>
          <a:xfrm>
            <a:off x="940691" y="3286080"/>
            <a:ext cx="5930641" cy="654648"/>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179</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4521200"/>
            <a:ext cx="5970270"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Agricultural productivity varies dramatically across countries. Table 9.1 shows variations in land  productivity (measured as kilograms of grain harvested per hectare of agricultural land) between  three developed countries (United Kingdom, Japan, and United States) and nine developing  countries. Despite the far smaller number of farm workers per hectare in the United Kingdom, its  grain yield per hectare was 3 times that of India, 6 times </a:t>
            </a:r>
            <a:r>
              <a:rPr dirty="0" sz="1100">
                <a:latin typeface="Arial"/>
                <a:cs typeface="Arial"/>
              </a:rPr>
              <a:t>that </a:t>
            </a:r>
            <a:r>
              <a:rPr dirty="0" sz="1100" spc="-5">
                <a:latin typeface="Arial"/>
                <a:cs typeface="Arial"/>
              </a:rPr>
              <a:t>of Nigeria, and almost 12 times  that of</a:t>
            </a:r>
            <a:r>
              <a:rPr dirty="0" sz="1100">
                <a:latin typeface="Arial"/>
                <a:cs typeface="Arial"/>
              </a:rPr>
              <a:t> </a:t>
            </a:r>
            <a:r>
              <a:rPr dirty="0" sz="1100" spc="-5">
                <a:latin typeface="Arial"/>
                <a:cs typeface="Arial"/>
              </a:rPr>
              <a:t>Sudan.</a:t>
            </a:r>
            <a:endParaRPr sz="1100">
              <a:latin typeface="Arial"/>
              <a:cs typeface="Arial"/>
            </a:endParaRPr>
          </a:p>
        </p:txBody>
      </p:sp>
      <p:sp>
        <p:nvSpPr>
          <p:cNvPr id="7" name="object 7"/>
          <p:cNvSpPr/>
          <p:nvPr/>
        </p:nvSpPr>
        <p:spPr>
          <a:xfrm>
            <a:off x="922782" y="914400"/>
            <a:ext cx="5945124" cy="3611940"/>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1104900" y="5734050"/>
            <a:ext cx="5446776" cy="3352800"/>
          </a:xfrm>
          <a:prstGeom prst="rect">
            <a:avLst/>
          </a:prstGeom>
          <a:blipFill>
            <a:blip r:embed="rId3"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180</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4568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It is also important to note that regional disparities can be quite large within countries. India has  regions that fall within each of the three classifications, from modernized Punjab to semi-feudal  Bihar. Even upper-middle-income, urbanized Mexico has regions in the south with substantial  poverty and high dependence on agriculture. Moreover, within regions, large and small, rich and  poor often exist side by side—though large does not necessarily mean efficient. Let us look at  agricultural issues facing countries in Latin America, Asia, and sub-Saharan Africa in more  detail.</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PEASANT AGRICULTURE IN LATIN AMERICA, ASIA, AND</a:t>
            </a:r>
            <a:r>
              <a:rPr dirty="0" sz="1100" spc="35" b="1">
                <a:latin typeface="Arial"/>
                <a:cs typeface="Arial"/>
              </a:rPr>
              <a:t> </a:t>
            </a:r>
            <a:r>
              <a:rPr dirty="0" sz="1100" spc="-5" b="1">
                <a:latin typeface="Arial"/>
                <a:cs typeface="Arial"/>
              </a:rPr>
              <a:t>AFRICA</a:t>
            </a:r>
            <a:endParaRPr sz="1100">
              <a:latin typeface="Arial"/>
              <a:cs typeface="Arial"/>
            </a:endParaRPr>
          </a:p>
          <a:p>
            <a:pPr>
              <a:lnSpc>
                <a:spcPct val="100000"/>
              </a:lnSpc>
              <a:spcBef>
                <a:spcPts val="15"/>
              </a:spcBef>
            </a:pPr>
            <a:endParaRPr sz="1200">
              <a:latin typeface="Arial"/>
              <a:cs typeface="Arial"/>
            </a:endParaRPr>
          </a:p>
          <a:p>
            <a:pPr algn="just" marL="12700" marR="5715">
              <a:lnSpc>
                <a:spcPts val="1270"/>
              </a:lnSpc>
            </a:pPr>
            <a:r>
              <a:rPr dirty="0" sz="1100" spc="-5">
                <a:latin typeface="Arial"/>
                <a:cs typeface="Arial"/>
              </a:rPr>
              <a:t>In </a:t>
            </a:r>
            <a:r>
              <a:rPr dirty="0" sz="1100">
                <a:latin typeface="Arial"/>
                <a:cs typeface="Arial"/>
              </a:rPr>
              <a:t>many </a:t>
            </a:r>
            <a:r>
              <a:rPr dirty="0" sz="1100" spc="-5">
                <a:latin typeface="Arial"/>
                <a:cs typeface="Arial"/>
              </a:rPr>
              <a:t>developing countries, various historical circumstances have led to a concentration of  large areas of land in the hands of a small class of powerful landowners. This is especially true  in Latin America and parts of the Asian subcontinent. In Africa, both historical circumstances  and the availability of relatively more unused land have resulted in a different pattern and  structure of agricultural</a:t>
            </a:r>
            <a:r>
              <a:rPr dirty="0" sz="1100">
                <a:latin typeface="Arial"/>
                <a:cs typeface="Arial"/>
              </a:rPr>
              <a:t> </a:t>
            </a:r>
            <a:r>
              <a:rPr dirty="0" sz="1100" spc="-5">
                <a:latin typeface="Arial"/>
                <a:cs typeface="Arial"/>
              </a:rPr>
              <a:t>activity.</a:t>
            </a:r>
            <a:endParaRPr sz="1100">
              <a:latin typeface="Arial"/>
              <a:cs typeface="Arial"/>
            </a:endParaRPr>
          </a:p>
        </p:txBody>
      </p:sp>
      <p:sp>
        <p:nvSpPr>
          <p:cNvPr id="7" name="object 7"/>
          <p:cNvSpPr txBox="1"/>
          <p:nvPr/>
        </p:nvSpPr>
        <p:spPr>
          <a:xfrm>
            <a:off x="901700" y="7134854"/>
            <a:ext cx="5969635" cy="196024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Although the day-to-day struggle </a:t>
            </a:r>
            <a:r>
              <a:rPr dirty="0" sz="1100">
                <a:latin typeface="Arial"/>
                <a:cs typeface="Arial"/>
              </a:rPr>
              <a:t>for </a:t>
            </a:r>
            <a:r>
              <a:rPr dirty="0" sz="1100" spc="-5">
                <a:latin typeface="Arial"/>
                <a:cs typeface="Arial"/>
              </a:rPr>
              <a:t>survival permeates the lives and attitudes of impoverished  peasants in both Latin America and Asia (and also Africa, although the rural structure and  institutions are considerably different), the nature of their agrarian systems differs markedly. In  Latin America, in a </a:t>
            </a:r>
            <a:r>
              <a:rPr dirty="0" sz="1100">
                <a:latin typeface="Arial"/>
                <a:cs typeface="Arial"/>
              </a:rPr>
              <a:t>number </a:t>
            </a:r>
            <a:r>
              <a:rPr dirty="0" sz="1100" spc="-5">
                <a:latin typeface="Arial"/>
                <a:cs typeface="Arial"/>
              </a:rPr>
              <a:t>of poorer and more backward areas, the peasants’ plight is rooted in  the latifundio–minifundio system (to be explained shortly). In Asia, it lies primarily in fragmented  and heavily congested dwarf parcels of land. As Table 9.2 shows, the average farm size in Latin  America is </a:t>
            </a:r>
            <a:r>
              <a:rPr dirty="0" sz="1100">
                <a:latin typeface="Arial"/>
                <a:cs typeface="Arial"/>
              </a:rPr>
              <a:t>far </a:t>
            </a:r>
            <a:r>
              <a:rPr dirty="0" sz="1100" spc="-5">
                <a:latin typeface="Arial"/>
                <a:cs typeface="Arial"/>
              </a:rPr>
              <a:t>larger </a:t>
            </a:r>
            <a:r>
              <a:rPr dirty="0" sz="1100">
                <a:latin typeface="Arial"/>
                <a:cs typeface="Arial"/>
              </a:rPr>
              <a:t>than </a:t>
            </a:r>
            <a:r>
              <a:rPr dirty="0" sz="1100" spc="-5">
                <a:latin typeface="Arial"/>
                <a:cs typeface="Arial"/>
              </a:rPr>
              <a:t>in Asia; in all the Asian countries surveyed, average-operation farm  size was under 4 hectares, with farm size in Indonesia just 1.1 hectares. In contrast, average-  operation farm size ranged from 16.9 to 214.1 hectares in the Latin American countries  surveyed. Nevertheless, a substantial number </a:t>
            </a:r>
            <a:r>
              <a:rPr dirty="0" sz="1100">
                <a:latin typeface="Arial"/>
                <a:cs typeface="Arial"/>
              </a:rPr>
              <a:t>of </a:t>
            </a:r>
            <a:r>
              <a:rPr dirty="0" sz="1100" spc="-5">
                <a:latin typeface="Arial"/>
                <a:cs typeface="Arial"/>
              </a:rPr>
              <a:t>farms in </a:t>
            </a:r>
            <a:r>
              <a:rPr dirty="0" sz="1100">
                <a:latin typeface="Arial"/>
                <a:cs typeface="Arial"/>
              </a:rPr>
              <a:t>Latin </a:t>
            </a:r>
            <a:r>
              <a:rPr dirty="0" sz="1100" spc="-5">
                <a:latin typeface="Arial"/>
                <a:cs typeface="Arial"/>
              </a:rPr>
              <a:t>America consisted of less than 5  hectares, including 36.8% of farms in Brazil and 78.0% of farms in Peru. This is possible  because of the huge farmlands controlled by the largest farms in Latin</a:t>
            </a:r>
            <a:r>
              <a:rPr dirty="0" sz="1100" spc="95">
                <a:latin typeface="Arial"/>
                <a:cs typeface="Arial"/>
              </a:rPr>
              <a:t> </a:t>
            </a:r>
            <a:r>
              <a:rPr dirty="0" sz="1100" spc="-5">
                <a:latin typeface="Arial"/>
                <a:cs typeface="Arial"/>
              </a:rPr>
              <a:t>America.</a:t>
            </a:r>
            <a:endParaRPr sz="1100">
              <a:latin typeface="Arial"/>
              <a:cs typeface="Arial"/>
            </a:endParaRPr>
          </a:p>
        </p:txBody>
      </p:sp>
      <p:sp>
        <p:nvSpPr>
          <p:cNvPr id="8" name="object 8"/>
          <p:cNvSpPr/>
          <p:nvPr/>
        </p:nvSpPr>
        <p:spPr>
          <a:xfrm>
            <a:off x="981455" y="3549396"/>
            <a:ext cx="5943600" cy="34480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181</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25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Just as we can draw income Lorenz curves from data on </a:t>
            </a:r>
            <a:r>
              <a:rPr dirty="0" sz="1100">
                <a:latin typeface="Arial"/>
                <a:cs typeface="Arial"/>
              </a:rPr>
              <a:t>the </a:t>
            </a:r>
            <a:r>
              <a:rPr dirty="0" sz="1100" spc="-5">
                <a:latin typeface="Arial"/>
                <a:cs typeface="Arial"/>
              </a:rPr>
              <a:t>distribution of income (see Figure  5.1), we can draw land Lorenz curves from data on the distribution of farm holdings among  farmers. In </a:t>
            </a:r>
            <a:r>
              <a:rPr dirty="0" sz="1100">
                <a:latin typeface="Arial"/>
                <a:cs typeface="Arial"/>
              </a:rPr>
              <a:t>this </a:t>
            </a:r>
            <a:r>
              <a:rPr dirty="0" sz="1100" spc="-5">
                <a:latin typeface="Arial"/>
                <a:cs typeface="Arial"/>
              </a:rPr>
              <a:t>case, the x-axis reports the proportion of total holdings, and the y-axis reports  the proportion of total area. Aland Gini may be calculated in a manner analogous to that of the  income Gini: It is the ratio of the area between the land Lorenz curve and the 45-degree line,  and the whole triangle. Table 9.2 presents land Ginis for representative countries in Asia and  Latin America.</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The number of farms, the farmed area, and inequality in the distribution of land is not completely  rigid but changes over time. Several examples </a:t>
            </a:r>
            <a:r>
              <a:rPr dirty="0" sz="1100">
                <a:latin typeface="Arial"/>
                <a:cs typeface="Arial"/>
              </a:rPr>
              <a:t>for </a:t>
            </a:r>
            <a:r>
              <a:rPr dirty="0" sz="1100" spc="-5">
                <a:latin typeface="Arial"/>
                <a:cs typeface="Arial"/>
              </a:rPr>
              <a:t>various periods (depending on available data)  are given in Table 9.3. One of the broadest trends is for farm sizes to become smaller over time  in Asia as land is subdivided, and this trend is seen increasingly also in</a:t>
            </a:r>
            <a:r>
              <a:rPr dirty="0" sz="1100" spc="100">
                <a:latin typeface="Arial"/>
                <a:cs typeface="Arial"/>
              </a:rPr>
              <a:t> </a:t>
            </a:r>
            <a:r>
              <a:rPr dirty="0" sz="1100" spc="-5">
                <a:latin typeface="Arial"/>
                <a:cs typeface="Arial"/>
              </a:rPr>
              <a:t>Africa.</a:t>
            </a:r>
            <a:endParaRPr sz="1100">
              <a:latin typeface="Arial"/>
              <a:cs typeface="Arial"/>
            </a:endParaRPr>
          </a:p>
          <a:p>
            <a:pPr>
              <a:lnSpc>
                <a:spcPct val="100000"/>
              </a:lnSpc>
              <a:spcBef>
                <a:spcPts val="45"/>
              </a:spcBef>
            </a:pPr>
            <a:endParaRPr sz="1100">
              <a:latin typeface="Arial"/>
              <a:cs typeface="Arial"/>
            </a:endParaRPr>
          </a:p>
          <a:p>
            <a:pPr algn="just" marL="12700" marR="6350" indent="-635">
              <a:lnSpc>
                <a:spcPts val="1260"/>
              </a:lnSpc>
            </a:pPr>
            <a:r>
              <a:rPr dirty="0" sz="1100" spc="-5" b="1">
                <a:latin typeface="Arial"/>
                <a:cs typeface="Arial"/>
              </a:rPr>
              <a:t>AGRARIAN PATTERNS IN LATIN AMERICA: PROGRESS AND REMAINING POVERTY  CHALLENGES</a:t>
            </a:r>
            <a:endParaRPr sz="1100">
              <a:latin typeface="Arial"/>
              <a:cs typeface="Arial"/>
            </a:endParaRPr>
          </a:p>
          <a:p>
            <a:pPr>
              <a:lnSpc>
                <a:spcPct val="100000"/>
              </a:lnSpc>
              <a:spcBef>
                <a:spcPts val="20"/>
              </a:spcBef>
            </a:pPr>
            <a:endParaRPr sz="1050">
              <a:latin typeface="Arial"/>
              <a:cs typeface="Arial"/>
            </a:endParaRPr>
          </a:p>
          <a:p>
            <a:pPr algn="just" marL="12700" marR="5715">
              <a:lnSpc>
                <a:spcPct val="95900"/>
              </a:lnSpc>
            </a:pPr>
            <a:r>
              <a:rPr dirty="0" sz="1100" spc="-5">
                <a:latin typeface="Arial"/>
                <a:cs typeface="Arial"/>
              </a:rPr>
              <a:t>In Latin America, as in Asia and Africa, agrarian structures are not </a:t>
            </a:r>
            <a:r>
              <a:rPr dirty="0" sz="1100">
                <a:latin typeface="Arial"/>
                <a:cs typeface="Arial"/>
              </a:rPr>
              <a:t>only </a:t>
            </a:r>
            <a:r>
              <a:rPr dirty="0" sz="1100" spc="-5">
                <a:latin typeface="Arial"/>
                <a:cs typeface="Arial"/>
              </a:rPr>
              <a:t>part of the production  system but also a basic feature of the entire economic, social, and political organization of rural  life. The agrarian structure that has existed in Latin America since colonial times and is still  widespread in a substantial part of the region is a pattern of agricultural dualism known as  latifundio minifundio. Basically, latifundios </a:t>
            </a:r>
            <a:r>
              <a:rPr dirty="0" sz="1100">
                <a:latin typeface="Arial"/>
                <a:cs typeface="Arial"/>
              </a:rPr>
              <a:t>are </a:t>
            </a:r>
            <a:r>
              <a:rPr dirty="0" sz="1100" spc="-5">
                <a:latin typeface="Arial"/>
                <a:cs typeface="Arial"/>
              </a:rPr>
              <a:t>very large landholdings. They are usually defined  as farms large enough to provide employment </a:t>
            </a:r>
            <a:r>
              <a:rPr dirty="0" sz="1100">
                <a:latin typeface="Arial"/>
                <a:cs typeface="Arial"/>
              </a:rPr>
              <a:t>for </a:t>
            </a:r>
            <a:r>
              <a:rPr dirty="0" sz="1100" spc="-5">
                <a:latin typeface="Arial"/>
                <a:cs typeface="Arial"/>
              </a:rPr>
              <a:t>more </a:t>
            </a:r>
            <a:r>
              <a:rPr dirty="0" sz="1100">
                <a:latin typeface="Arial"/>
                <a:cs typeface="Arial"/>
              </a:rPr>
              <a:t>than </a:t>
            </a:r>
            <a:r>
              <a:rPr dirty="0" sz="1100" spc="-5">
                <a:latin typeface="Arial"/>
                <a:cs typeface="Arial"/>
              </a:rPr>
              <a:t>12 people, though some employ  thousands. In contrast, minifundios are the smallest farms. They are defined as farms too small  to provide employment for a single family (two workers) with the typical incomes, markets, and  levels of technology and capital prevailing in each country or</a:t>
            </a:r>
            <a:r>
              <a:rPr dirty="0" sz="1100" spc="65">
                <a:latin typeface="Arial"/>
                <a:cs typeface="Arial"/>
              </a:rPr>
              <a:t> </a:t>
            </a:r>
            <a:r>
              <a:rPr dirty="0" sz="1100" spc="-5">
                <a:latin typeface="Arial"/>
                <a:cs typeface="Arial"/>
              </a:rPr>
              <a:t>region.</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Using Gini coefficients to measure the degree of land concentration, as seen in Table 9.2,  researchers report that the coefficient for Colombia is 0.86, for Costa Rica 0.82, for Uruguay  0.82, for Peru 0.91, and for Venezuela 0.91. Although estimates vary, changes in land inequality  are limited in the case of Latin America (see Table 9.3). Other countries are even more unequal;  the Gini for Paraguay is an almost perfectly unequal 0.94. These are the highest regional Gini  coefficients in the world, and they dramatically reflect the degree of land ownership inequality  (and thus, in part, income inequality) throughout Latin</a:t>
            </a:r>
            <a:r>
              <a:rPr dirty="0" sz="1100" spc="40">
                <a:latin typeface="Arial"/>
                <a:cs typeface="Arial"/>
              </a:rPr>
              <a:t> </a:t>
            </a:r>
            <a:r>
              <a:rPr dirty="0" sz="1100" spc="-5">
                <a:latin typeface="Arial"/>
                <a:cs typeface="Arial"/>
              </a:rPr>
              <a:t>America.</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But latifundios and minifundios do not constitute the entirety of </a:t>
            </a:r>
            <a:r>
              <a:rPr dirty="0" sz="1100">
                <a:latin typeface="Arial"/>
                <a:cs typeface="Arial"/>
              </a:rPr>
              <a:t>Latin </a:t>
            </a:r>
            <a:r>
              <a:rPr dirty="0" sz="1100" spc="-5">
                <a:latin typeface="Arial"/>
                <a:cs typeface="Arial"/>
              </a:rPr>
              <a:t>American agricultural  holdings. A considerable amount of production occurs on family farms and medium-size farms.  The former provide work for two to four people (recall that the minifundio could provide work for  fewer than two people), and the latter employ 4 to 12 workers (just below the latifundio). In  Venezuela, Brazil, and Uruguay, these intermediate farm organizations account for almost 50%  of total agricultural output and employ similar proportions of agricultural labor. These farms use  a more efficient balance between labor and land, and studies show that they have a much  higher total factor productivity than either latifundios or minifundios, as the law of diminishing  returns would suggest. Indeed, evidence from a wide range of developing countries,  demonstrates that smaller farms are more efficient (lower-cost) producers of most agricultural  commodities.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A major explanation for the relative economic inefficiency of farming the fertile land on the  latifundios is simply that the wealthy landowners often value these holdings not for their  potential contributions to national agricultural output but rather for the considerable power </a:t>
            </a:r>
            <a:r>
              <a:rPr dirty="0" sz="1100">
                <a:latin typeface="Arial"/>
                <a:cs typeface="Arial"/>
              </a:rPr>
              <a:t>and  </a:t>
            </a:r>
            <a:r>
              <a:rPr dirty="0" sz="1100" spc="-5">
                <a:latin typeface="Arial"/>
                <a:cs typeface="Arial"/>
              </a:rPr>
              <a:t>prestige that they bring. Much of the land is left idle or farmed less intensively than on smaller  farms.</a:t>
            </a:r>
            <a:r>
              <a:rPr dirty="0" sz="1100" spc="40">
                <a:latin typeface="Arial"/>
                <a:cs typeface="Arial"/>
              </a:rPr>
              <a:t> </a:t>
            </a:r>
            <a:r>
              <a:rPr dirty="0" sz="1100" spc="-5">
                <a:latin typeface="Arial"/>
                <a:cs typeface="Arial"/>
              </a:rPr>
              <a:t>Also,</a:t>
            </a:r>
            <a:r>
              <a:rPr dirty="0" sz="1100" spc="40">
                <a:latin typeface="Arial"/>
                <a:cs typeface="Arial"/>
              </a:rPr>
              <a:t> </a:t>
            </a:r>
            <a:r>
              <a:rPr dirty="0" sz="1100" spc="-5">
                <a:latin typeface="Arial"/>
                <a:cs typeface="Arial"/>
              </a:rPr>
              <a:t>latifundio</a:t>
            </a:r>
            <a:r>
              <a:rPr dirty="0" sz="1100" spc="45">
                <a:latin typeface="Arial"/>
                <a:cs typeface="Arial"/>
              </a:rPr>
              <a:t> </a:t>
            </a:r>
            <a:r>
              <a:rPr dirty="0" sz="1100" spc="-5">
                <a:latin typeface="Arial"/>
                <a:cs typeface="Arial"/>
              </a:rPr>
              <a:t>transaction</a:t>
            </a:r>
            <a:r>
              <a:rPr dirty="0" sz="1100" spc="40">
                <a:latin typeface="Arial"/>
                <a:cs typeface="Arial"/>
              </a:rPr>
              <a:t> </a:t>
            </a:r>
            <a:r>
              <a:rPr dirty="0" sz="1100" spc="-5">
                <a:latin typeface="Arial"/>
                <a:cs typeface="Arial"/>
              </a:rPr>
              <a:t>costs,</a:t>
            </a:r>
            <a:r>
              <a:rPr dirty="0" sz="1100" spc="45">
                <a:latin typeface="Arial"/>
                <a:cs typeface="Arial"/>
              </a:rPr>
              <a:t> </a:t>
            </a:r>
            <a:r>
              <a:rPr dirty="0" sz="1100" spc="-5">
                <a:latin typeface="Arial"/>
                <a:cs typeface="Arial"/>
              </a:rPr>
              <a:t>especially</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cost</a:t>
            </a:r>
            <a:r>
              <a:rPr dirty="0" sz="1100" spc="4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supervising</a:t>
            </a:r>
            <a:r>
              <a:rPr dirty="0" sz="1100" spc="45">
                <a:latin typeface="Arial"/>
                <a:cs typeface="Arial"/>
              </a:rPr>
              <a:t> </a:t>
            </a:r>
            <a:r>
              <a:rPr dirty="0" sz="1100" spc="-5">
                <a:latin typeface="Arial"/>
                <a:cs typeface="Arial"/>
              </a:rPr>
              <a:t>hired</a:t>
            </a:r>
            <a:r>
              <a:rPr dirty="0" sz="1100" spc="40">
                <a:latin typeface="Arial"/>
                <a:cs typeface="Arial"/>
              </a:rPr>
              <a:t> </a:t>
            </a:r>
            <a:r>
              <a:rPr dirty="0" sz="1100" spc="-5">
                <a:latin typeface="Arial"/>
                <a:cs typeface="Arial"/>
              </a:rPr>
              <a:t>labor,</a:t>
            </a:r>
            <a:r>
              <a:rPr dirty="0" sz="1100" spc="45">
                <a:latin typeface="Arial"/>
                <a:cs typeface="Arial"/>
              </a:rPr>
              <a:t> </a:t>
            </a:r>
            <a:r>
              <a:rPr dirty="0" sz="1100" spc="-5">
                <a:latin typeface="Arial"/>
                <a:cs typeface="Arial"/>
              </a:rPr>
              <a:t>are</a:t>
            </a:r>
            <a:r>
              <a:rPr dirty="0" sz="1100" spc="40">
                <a:latin typeface="Arial"/>
                <a:cs typeface="Arial"/>
              </a:rPr>
              <a:t> </a:t>
            </a:r>
            <a:r>
              <a:rPr dirty="0" sz="1100">
                <a:latin typeface="Arial"/>
                <a:cs typeface="Arial"/>
              </a:rPr>
              <a:t>much</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182</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2175" cy="76536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higher than the low effective cost of using family labor on </a:t>
            </a:r>
            <a:r>
              <a:rPr dirty="0" sz="1100">
                <a:latin typeface="Arial"/>
                <a:cs typeface="Arial"/>
              </a:rPr>
              <a:t>family </a:t>
            </a:r>
            <a:r>
              <a:rPr dirty="0" sz="1100" spc="-5">
                <a:latin typeface="Arial"/>
                <a:cs typeface="Arial"/>
              </a:rPr>
              <a:t>farms or minifundios. It follows  that raising agricultural production and improving the efficiency of Latin American agrarian  systems in traditional areas will require much </a:t>
            </a:r>
            <a:r>
              <a:rPr dirty="0" sz="1100">
                <a:latin typeface="Arial"/>
                <a:cs typeface="Arial"/>
              </a:rPr>
              <a:t>more </a:t>
            </a:r>
            <a:r>
              <a:rPr dirty="0" sz="1100" spc="-5">
                <a:latin typeface="Arial"/>
                <a:cs typeface="Arial"/>
              </a:rPr>
              <a:t>than direct economic policies that lead to the  provision of better seeds, more fertilizer, less distorted factor prices, higher output prices, and  improved marketing facilities. It will also require a reorganization of rural social and institutional  structures to provide </a:t>
            </a:r>
            <a:r>
              <a:rPr dirty="0" sz="1100">
                <a:latin typeface="Arial"/>
                <a:cs typeface="Arial"/>
              </a:rPr>
              <a:t>Latin </a:t>
            </a:r>
            <a:r>
              <a:rPr dirty="0" sz="1100" spc="-5">
                <a:latin typeface="Arial"/>
                <a:cs typeface="Arial"/>
              </a:rPr>
              <a:t>American peasants, particularly indigenous people who find it more  challenging to migrate, a real opportunity to lift themselves out of their present state of economic  subsistence and social</a:t>
            </a:r>
            <a:r>
              <a:rPr dirty="0" sz="1100" spc="5">
                <a:latin typeface="Arial"/>
                <a:cs typeface="Arial"/>
              </a:rPr>
              <a:t> </a:t>
            </a:r>
            <a:r>
              <a:rPr dirty="0" sz="1100" spc="-5">
                <a:latin typeface="Arial"/>
                <a:cs typeface="Arial"/>
              </a:rPr>
              <a:t>subservience.</a:t>
            </a:r>
            <a:endParaRPr sz="1100">
              <a:latin typeface="Arial"/>
              <a:cs typeface="Arial"/>
            </a:endParaRPr>
          </a:p>
          <a:p>
            <a:pPr>
              <a:lnSpc>
                <a:spcPct val="100000"/>
              </a:lnSpc>
              <a:spcBef>
                <a:spcPts val="25"/>
              </a:spcBef>
            </a:pPr>
            <a:endParaRPr sz="1100">
              <a:latin typeface="Arial"/>
              <a:cs typeface="Arial"/>
            </a:endParaRPr>
          </a:p>
          <a:p>
            <a:pPr algn="just" marL="469900" indent="-228600">
              <a:lnSpc>
                <a:spcPts val="1290"/>
              </a:lnSpc>
              <a:buFont typeface="Symbol"/>
              <a:buChar char=""/>
              <a:tabLst>
                <a:tab pos="469900" algn="l"/>
              </a:tabLst>
            </a:pPr>
            <a:r>
              <a:rPr dirty="0" sz="1100" spc="-5" b="1">
                <a:latin typeface="Arial"/>
                <a:cs typeface="Arial"/>
              </a:rPr>
              <a:t>Latifundio:</a:t>
            </a:r>
            <a:endParaRPr sz="1100">
              <a:latin typeface="Arial"/>
              <a:cs typeface="Arial"/>
            </a:endParaRPr>
          </a:p>
          <a:p>
            <a:pPr algn="just" marL="469900" marR="7620">
              <a:lnSpc>
                <a:spcPct val="95700"/>
              </a:lnSpc>
              <a:spcBef>
                <a:spcPts val="30"/>
              </a:spcBef>
            </a:pPr>
            <a:r>
              <a:rPr dirty="0" sz="1100" spc="-5">
                <a:latin typeface="Arial"/>
                <a:cs typeface="Arial"/>
              </a:rPr>
              <a:t>A very large landholding found particularly in the Latin American agrarian system,  capable of providing employment for more than 12 people, owned by a small number of  landlords, and comprising a disproportionate share of total agricultural</a:t>
            </a:r>
            <a:r>
              <a:rPr dirty="0" sz="1100" spc="80">
                <a:latin typeface="Arial"/>
                <a:cs typeface="Arial"/>
              </a:rPr>
              <a:t> </a:t>
            </a:r>
            <a:r>
              <a:rPr dirty="0" sz="1100" spc="-5">
                <a:latin typeface="Arial"/>
                <a:cs typeface="Arial"/>
              </a:rPr>
              <a:t>land.</a:t>
            </a:r>
            <a:endParaRPr sz="1100">
              <a:latin typeface="Arial"/>
              <a:cs typeface="Arial"/>
            </a:endParaRPr>
          </a:p>
          <a:p>
            <a:pPr algn="just" marL="469900" indent="-228600">
              <a:lnSpc>
                <a:spcPts val="1285"/>
              </a:lnSpc>
              <a:spcBef>
                <a:spcPts val="30"/>
              </a:spcBef>
              <a:buFont typeface="Symbol"/>
              <a:buChar char=""/>
              <a:tabLst>
                <a:tab pos="469900" algn="l"/>
              </a:tabLst>
            </a:pPr>
            <a:r>
              <a:rPr dirty="0" sz="1100" spc="-5" b="1">
                <a:latin typeface="Arial"/>
                <a:cs typeface="Arial"/>
              </a:rPr>
              <a:t>Minifundio:</a:t>
            </a:r>
            <a:endParaRPr sz="1100">
              <a:latin typeface="Arial"/>
              <a:cs typeface="Arial"/>
            </a:endParaRPr>
          </a:p>
          <a:p>
            <a:pPr algn="just" marL="469900" marR="7620">
              <a:lnSpc>
                <a:spcPts val="1270"/>
              </a:lnSpc>
              <a:spcBef>
                <a:spcPts val="50"/>
              </a:spcBef>
            </a:pPr>
            <a:r>
              <a:rPr dirty="0" sz="1100" spc="-5">
                <a:latin typeface="Arial"/>
                <a:cs typeface="Arial"/>
              </a:rPr>
              <a:t>A landholding found particularly in the Latin American agrarian system considered too  small to provide adequate employment for a single</a:t>
            </a:r>
            <a:r>
              <a:rPr dirty="0" sz="1100" spc="45">
                <a:latin typeface="Arial"/>
                <a:cs typeface="Arial"/>
              </a:rPr>
              <a:t> </a:t>
            </a:r>
            <a:r>
              <a:rPr dirty="0" sz="1100" spc="-5">
                <a:latin typeface="Arial"/>
                <a:cs typeface="Arial"/>
              </a:rPr>
              <a:t>family.</a:t>
            </a:r>
            <a:endParaRPr sz="1100">
              <a:latin typeface="Arial"/>
              <a:cs typeface="Arial"/>
            </a:endParaRPr>
          </a:p>
          <a:p>
            <a:pPr algn="just" marL="469900" indent="-228600">
              <a:lnSpc>
                <a:spcPts val="1280"/>
              </a:lnSpc>
              <a:buFont typeface="Symbol"/>
              <a:buChar char=""/>
              <a:tabLst>
                <a:tab pos="469900" algn="l"/>
              </a:tabLst>
            </a:pPr>
            <a:r>
              <a:rPr dirty="0" sz="1100" spc="-5" b="1">
                <a:latin typeface="Arial"/>
                <a:cs typeface="Arial"/>
              </a:rPr>
              <a:t>Family</a:t>
            </a:r>
            <a:r>
              <a:rPr dirty="0" sz="1100" spc="-15" b="1">
                <a:latin typeface="Arial"/>
                <a:cs typeface="Arial"/>
              </a:rPr>
              <a:t> </a:t>
            </a:r>
            <a:r>
              <a:rPr dirty="0" sz="1100" spc="-5" b="1">
                <a:latin typeface="Arial"/>
                <a:cs typeface="Arial"/>
              </a:rPr>
              <a:t>farm:</a:t>
            </a:r>
            <a:endParaRPr sz="1100">
              <a:latin typeface="Arial"/>
              <a:cs typeface="Arial"/>
            </a:endParaRPr>
          </a:p>
          <a:p>
            <a:pPr algn="just" marL="469900" marR="7620">
              <a:lnSpc>
                <a:spcPts val="1270"/>
              </a:lnSpc>
              <a:spcBef>
                <a:spcPts val="50"/>
              </a:spcBef>
            </a:pPr>
            <a:r>
              <a:rPr dirty="0" sz="1100" spc="-5">
                <a:latin typeface="Arial"/>
                <a:cs typeface="Arial"/>
              </a:rPr>
              <a:t>A farm plot owned </a:t>
            </a:r>
            <a:r>
              <a:rPr dirty="0" sz="1100">
                <a:latin typeface="Arial"/>
                <a:cs typeface="Arial"/>
              </a:rPr>
              <a:t>and </a:t>
            </a:r>
            <a:r>
              <a:rPr dirty="0" sz="1100" spc="-5">
                <a:latin typeface="Arial"/>
                <a:cs typeface="Arial"/>
              </a:rPr>
              <a:t>operated by a single household. Medium-size farm A farm  employing </a:t>
            </a:r>
            <a:r>
              <a:rPr dirty="0" sz="1100">
                <a:latin typeface="Arial"/>
                <a:cs typeface="Arial"/>
              </a:rPr>
              <a:t>up </a:t>
            </a:r>
            <a:r>
              <a:rPr dirty="0" sz="1100" spc="-5">
                <a:latin typeface="Arial"/>
                <a:cs typeface="Arial"/>
              </a:rPr>
              <a:t>to 12</a:t>
            </a:r>
            <a:r>
              <a:rPr dirty="0" sz="1100" spc="5">
                <a:latin typeface="Arial"/>
                <a:cs typeface="Arial"/>
              </a:rPr>
              <a:t> </a:t>
            </a:r>
            <a:r>
              <a:rPr dirty="0" sz="1100" spc="-5">
                <a:latin typeface="Arial"/>
                <a:cs typeface="Arial"/>
              </a:rPr>
              <a:t>workers.</a:t>
            </a:r>
            <a:endParaRPr sz="1100">
              <a:latin typeface="Arial"/>
              <a:cs typeface="Arial"/>
            </a:endParaRPr>
          </a:p>
          <a:p>
            <a:pPr algn="just" marL="469900" indent="-228600">
              <a:lnSpc>
                <a:spcPts val="1280"/>
              </a:lnSpc>
              <a:buFont typeface="Symbol"/>
              <a:buChar char=""/>
              <a:tabLst>
                <a:tab pos="469900" algn="l"/>
              </a:tabLst>
            </a:pPr>
            <a:r>
              <a:rPr dirty="0" sz="1100" spc="-5" b="1">
                <a:latin typeface="Arial"/>
                <a:cs typeface="Arial"/>
              </a:rPr>
              <a:t>Transaction costs:</a:t>
            </a:r>
            <a:endParaRPr sz="1100">
              <a:latin typeface="Arial"/>
              <a:cs typeface="Arial"/>
            </a:endParaRPr>
          </a:p>
          <a:p>
            <a:pPr algn="just" marL="469900" marR="7620">
              <a:lnSpc>
                <a:spcPts val="1270"/>
              </a:lnSpc>
              <a:spcBef>
                <a:spcPts val="50"/>
              </a:spcBef>
            </a:pPr>
            <a:r>
              <a:rPr dirty="0" sz="1100" spc="-5">
                <a:latin typeface="Arial"/>
                <a:cs typeface="Arial"/>
              </a:rPr>
              <a:t>Costs of doing business related to gathering information, monitoring, establishing  reliable suppliers, formulating contracts, obtaining credit,</a:t>
            </a:r>
            <a:r>
              <a:rPr dirty="0" sz="1100" spc="35">
                <a:latin typeface="Arial"/>
                <a:cs typeface="Arial"/>
              </a:rPr>
              <a:t> </a:t>
            </a:r>
            <a:r>
              <a:rPr dirty="0" sz="1100" spc="-5">
                <a:latin typeface="Arial"/>
                <a:cs typeface="Arial"/>
              </a:rPr>
              <a:t>etc.</a:t>
            </a:r>
            <a:endParaRPr sz="1100">
              <a:latin typeface="Arial"/>
              <a:cs typeface="Arial"/>
            </a:endParaRPr>
          </a:p>
          <a:p>
            <a:pPr>
              <a:lnSpc>
                <a:spcPct val="100000"/>
              </a:lnSpc>
              <a:spcBef>
                <a:spcPts val="25"/>
              </a:spcBef>
            </a:pPr>
            <a:endParaRPr sz="1000">
              <a:latin typeface="Arial"/>
              <a:cs typeface="Arial"/>
            </a:endParaRPr>
          </a:p>
          <a:p>
            <a:pPr algn="just" marL="12700">
              <a:lnSpc>
                <a:spcPct val="100000"/>
              </a:lnSpc>
            </a:pPr>
            <a:r>
              <a:rPr dirty="0" sz="1100" spc="-5" b="1">
                <a:latin typeface="Arial"/>
                <a:cs typeface="Arial"/>
              </a:rPr>
              <a:t>SUBSISTENCE AGRICULTURE AND EXTENSIVE CULTIVATION </a:t>
            </a:r>
            <a:r>
              <a:rPr dirty="0" sz="1100" b="1">
                <a:latin typeface="Arial"/>
                <a:cs typeface="Arial"/>
              </a:rPr>
              <a:t>IN</a:t>
            </a:r>
            <a:r>
              <a:rPr dirty="0" sz="1100" spc="15" b="1">
                <a:latin typeface="Arial"/>
                <a:cs typeface="Arial"/>
              </a:rPr>
              <a:t> </a:t>
            </a:r>
            <a:r>
              <a:rPr dirty="0" sz="1100" spc="-5" b="1">
                <a:latin typeface="Arial"/>
                <a:cs typeface="Arial"/>
              </a:rPr>
              <a:t>AFRICA</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Subsistence farming on small plots of land is the way of life for the majority of African people  living in agriculture-based economies. The great </a:t>
            </a:r>
            <a:r>
              <a:rPr dirty="0" sz="1100">
                <a:latin typeface="Arial"/>
                <a:cs typeface="Arial"/>
              </a:rPr>
              <a:t>majority </a:t>
            </a:r>
            <a:r>
              <a:rPr dirty="0" sz="1100" spc="-5">
                <a:latin typeface="Arial"/>
                <a:cs typeface="Arial"/>
              </a:rPr>
              <a:t>of farm families in tropical Africa still  plan their output primarily for their own subsistence. (The main exceptions are in former colonial  settlement areas like the White Highlands of Kenya; sugar, cocoa, coffee, and other plantations  in East and West Africa; and farms devoted to such export crops as green beans in Niger, cut  flowers in Kenya and Ethiopia, and legumes in</a:t>
            </a:r>
            <a:r>
              <a:rPr dirty="0" sz="1100" spc="45">
                <a:latin typeface="Arial"/>
                <a:cs typeface="Arial"/>
              </a:rPr>
              <a:t> </a:t>
            </a:r>
            <a:r>
              <a:rPr dirty="0" sz="1100" spc="-5">
                <a:latin typeface="Arial"/>
                <a:cs typeface="Arial"/>
              </a:rPr>
              <a:t>Tanzania.)</a:t>
            </a:r>
            <a:endParaRPr sz="1100">
              <a:latin typeface="Arial"/>
              <a:cs typeface="Arial"/>
            </a:endParaRPr>
          </a:p>
          <a:p>
            <a:pPr algn="just" marL="12700" marR="5715">
              <a:lnSpc>
                <a:spcPct val="95800"/>
              </a:lnSpc>
            </a:pPr>
            <a:r>
              <a:rPr dirty="0" sz="1100" spc="-5">
                <a:latin typeface="Arial"/>
                <a:cs typeface="Arial"/>
              </a:rPr>
              <a:t>Since the basic variable input in African agriculture is farm family </a:t>
            </a:r>
            <a:r>
              <a:rPr dirty="0" sz="1100">
                <a:latin typeface="Arial"/>
                <a:cs typeface="Arial"/>
              </a:rPr>
              <a:t>and </a:t>
            </a:r>
            <a:r>
              <a:rPr dirty="0" sz="1100" spc="-5">
                <a:latin typeface="Arial"/>
                <a:cs typeface="Arial"/>
              </a:rPr>
              <a:t>village labor, African  agriculture systems are dominated by three </a:t>
            </a:r>
            <a:r>
              <a:rPr dirty="0" sz="1100">
                <a:latin typeface="Arial"/>
                <a:cs typeface="Arial"/>
              </a:rPr>
              <a:t>major </a:t>
            </a:r>
            <a:r>
              <a:rPr dirty="0" sz="1100" spc="-5">
                <a:latin typeface="Arial"/>
                <a:cs typeface="Arial"/>
              </a:rPr>
              <a:t>characteristics: (1) the importance of  subsistence farming in the village community; (2) the existence of some (though rapidly  diminishing) land in excess of immediate requirements, which permits a general practice of  shifting cultivation and reduces the value of land ownership as an instrument of economic and  political power; and (3) the rights of each family (both nuclear and extended) in a village to have  access to land and </a:t>
            </a:r>
            <a:r>
              <a:rPr dirty="0" sz="1100">
                <a:latin typeface="Arial"/>
                <a:cs typeface="Arial"/>
              </a:rPr>
              <a:t>water </a:t>
            </a:r>
            <a:r>
              <a:rPr dirty="0" sz="1100" spc="-5">
                <a:latin typeface="Arial"/>
                <a:cs typeface="Arial"/>
              </a:rPr>
              <a:t>in the immediate territorial vicinity, excluding from such access use by  families that do not belong to the community even though they may be of the same tribe. Where  traditional systems are breaking down, inequality is often increasing</a:t>
            </a:r>
            <a:r>
              <a:rPr dirty="0" sz="1100" spc="65">
                <a:latin typeface="Arial"/>
                <a:cs typeface="Arial"/>
              </a:rPr>
              <a:t> </a:t>
            </a:r>
            <a:r>
              <a:rPr dirty="0" sz="1100" spc="-5">
                <a:latin typeface="Arial"/>
                <a:cs typeface="Arial"/>
              </a:rPr>
              <a:t>further.</a:t>
            </a:r>
            <a:endParaRPr sz="1100">
              <a:latin typeface="Arial"/>
              <a:cs typeface="Arial"/>
            </a:endParaRPr>
          </a:p>
          <a:p>
            <a:pPr>
              <a:lnSpc>
                <a:spcPct val="100000"/>
              </a:lnSpc>
              <a:spcBef>
                <a:spcPts val="30"/>
              </a:spcBef>
            </a:pPr>
            <a:endParaRPr sz="1100">
              <a:latin typeface="Arial"/>
              <a:cs typeface="Arial"/>
            </a:endParaRPr>
          </a:p>
          <a:p>
            <a:pPr marL="469900" indent="-228600">
              <a:lnSpc>
                <a:spcPts val="1285"/>
              </a:lnSpc>
              <a:buFont typeface="Symbol"/>
              <a:buChar char=""/>
              <a:tabLst>
                <a:tab pos="469265" algn="l"/>
                <a:tab pos="469900" algn="l"/>
              </a:tabLst>
            </a:pPr>
            <a:r>
              <a:rPr dirty="0" sz="1100" spc="-5" b="1">
                <a:latin typeface="Arial"/>
                <a:cs typeface="Arial"/>
              </a:rPr>
              <a:t>Subsistence farming:</a:t>
            </a:r>
            <a:endParaRPr sz="1100">
              <a:latin typeface="Arial"/>
              <a:cs typeface="Arial"/>
            </a:endParaRPr>
          </a:p>
          <a:p>
            <a:pPr marL="469900" marR="8255">
              <a:lnSpc>
                <a:spcPts val="1270"/>
              </a:lnSpc>
              <a:spcBef>
                <a:spcPts val="55"/>
              </a:spcBef>
            </a:pPr>
            <a:r>
              <a:rPr dirty="0" sz="1100" spc="-5">
                <a:latin typeface="Arial"/>
                <a:cs typeface="Arial"/>
              </a:rPr>
              <a:t>Farming in which crop production, stock rearing, and other activities are conducted  mainly for personal</a:t>
            </a:r>
            <a:r>
              <a:rPr dirty="0" sz="1100" spc="10">
                <a:latin typeface="Arial"/>
                <a:cs typeface="Arial"/>
              </a:rPr>
              <a:t> </a:t>
            </a:r>
            <a:r>
              <a:rPr dirty="0" sz="1100" spc="-5">
                <a:latin typeface="Arial"/>
                <a:cs typeface="Arial"/>
              </a:rPr>
              <a:t>consumption.</a:t>
            </a:r>
            <a:endParaRPr sz="1100">
              <a:latin typeface="Arial"/>
              <a:cs typeface="Arial"/>
            </a:endParaRPr>
          </a:p>
          <a:p>
            <a:pPr marL="469900" indent="-228600">
              <a:lnSpc>
                <a:spcPts val="1280"/>
              </a:lnSpc>
              <a:buFont typeface="Symbol"/>
              <a:buChar char=""/>
              <a:tabLst>
                <a:tab pos="469265" algn="l"/>
                <a:tab pos="469900" algn="l"/>
              </a:tabLst>
            </a:pPr>
            <a:r>
              <a:rPr dirty="0" sz="1100" spc="-5" b="1">
                <a:latin typeface="Arial"/>
                <a:cs typeface="Arial"/>
              </a:rPr>
              <a:t>Shifting cultivation:</a:t>
            </a:r>
            <a:endParaRPr sz="1100">
              <a:latin typeface="Arial"/>
              <a:cs typeface="Arial"/>
            </a:endParaRPr>
          </a:p>
          <a:p>
            <a:pPr marL="469900" marR="8255">
              <a:lnSpc>
                <a:spcPts val="1270"/>
              </a:lnSpc>
              <a:spcBef>
                <a:spcPts val="50"/>
              </a:spcBef>
            </a:pPr>
            <a:r>
              <a:rPr dirty="0" sz="1100" spc="-5">
                <a:latin typeface="Arial"/>
                <a:cs typeface="Arial"/>
              </a:rPr>
              <a:t>Tilling land until it has been exhausted of fertility and then moving to a new parcel of  land, leaving the former one to regain fertility until it can be cultivated</a:t>
            </a:r>
            <a:r>
              <a:rPr dirty="0" sz="1100" spc="114">
                <a:latin typeface="Arial"/>
                <a:cs typeface="Arial"/>
              </a:rPr>
              <a:t> </a:t>
            </a:r>
            <a:r>
              <a:rPr dirty="0" sz="1100" spc="-5">
                <a:latin typeface="Arial"/>
                <a:cs typeface="Arial"/>
              </a:rPr>
              <a:t>again.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183</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27469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27</a:t>
            </a:r>
            <a:endParaRPr sz="1100">
              <a:latin typeface="Arial"/>
              <a:cs typeface="Arial"/>
            </a:endParaRPr>
          </a:p>
          <a:p>
            <a:pPr marL="12700" marR="6350" indent="228600">
              <a:lnSpc>
                <a:spcPct val="191400"/>
              </a:lnSpc>
              <a:spcBef>
                <a:spcPts val="125"/>
              </a:spcBef>
            </a:pPr>
            <a:r>
              <a:rPr dirty="0" sz="1100" spc="-5" b="1">
                <a:latin typeface="Arial"/>
                <a:cs typeface="Arial"/>
              </a:rPr>
              <a:t>AGRICULTURAL TRANSFORMATION AND RURAL DEVELOPMENT </a:t>
            </a:r>
            <a:r>
              <a:rPr dirty="0" sz="1100" spc="-10" b="1">
                <a:latin typeface="Arial"/>
                <a:cs typeface="Arial"/>
              </a:rPr>
              <a:t>(CONTINUED2)  </a:t>
            </a:r>
            <a:r>
              <a:rPr dirty="0" sz="1100" spc="-5" b="1">
                <a:latin typeface="Arial"/>
                <a:cs typeface="Arial"/>
              </a:rPr>
              <a:t>THE STRUCTURE OF AGRARIAN SYSTEMS IN THE DEVELOPING</a:t>
            </a:r>
            <a:r>
              <a:rPr dirty="0" sz="1100" spc="70" b="1">
                <a:latin typeface="Arial"/>
                <a:cs typeface="Arial"/>
              </a:rPr>
              <a:t> </a:t>
            </a:r>
            <a:r>
              <a:rPr dirty="0" sz="1100" spc="-5" b="1">
                <a:latin typeface="Arial"/>
                <a:cs typeface="Arial"/>
              </a:rPr>
              <a:t>WORLD</a:t>
            </a:r>
            <a:endParaRPr sz="1100">
              <a:latin typeface="Arial"/>
              <a:cs typeface="Arial"/>
            </a:endParaRPr>
          </a:p>
          <a:p>
            <a:pPr>
              <a:lnSpc>
                <a:spcPct val="100000"/>
              </a:lnSpc>
              <a:spcBef>
                <a:spcPts val="30"/>
              </a:spcBef>
            </a:pPr>
            <a:endParaRPr sz="1100">
              <a:latin typeface="Arial"/>
              <a:cs typeface="Arial"/>
            </a:endParaRPr>
          </a:p>
          <a:p>
            <a:pPr algn="just" marL="12700" marR="6350">
              <a:lnSpc>
                <a:spcPts val="1270"/>
              </a:lnSpc>
              <a:spcBef>
                <a:spcPts val="5"/>
              </a:spcBef>
            </a:pPr>
            <a:r>
              <a:rPr dirty="0" sz="1100" spc="-5" b="1">
                <a:latin typeface="Arial"/>
                <a:cs typeface="Arial"/>
              </a:rPr>
              <a:t>TRANSFORMING ECONOMIES: PROBLEMS OF FRAGMENTATION AND SUBDIVISION OF  PEASANT </a:t>
            </a:r>
            <a:r>
              <a:rPr dirty="0" sz="1100" spc="-10" b="1">
                <a:latin typeface="Arial"/>
                <a:cs typeface="Arial"/>
              </a:rPr>
              <a:t>LAND </a:t>
            </a:r>
            <a:r>
              <a:rPr dirty="0" sz="1100" spc="-5" b="1">
                <a:latin typeface="Arial"/>
                <a:cs typeface="Arial"/>
              </a:rPr>
              <a:t>IN</a:t>
            </a:r>
            <a:r>
              <a:rPr dirty="0" sz="1100" spc="20" b="1">
                <a:latin typeface="Arial"/>
                <a:cs typeface="Arial"/>
              </a:rPr>
              <a:t> </a:t>
            </a:r>
            <a:r>
              <a:rPr dirty="0" sz="1100" spc="-5" b="1">
                <a:latin typeface="Arial"/>
                <a:cs typeface="Arial"/>
              </a:rPr>
              <a:t>ASIA</a:t>
            </a:r>
            <a:endParaRPr sz="1100">
              <a:latin typeface="Arial"/>
              <a:cs typeface="Arial"/>
            </a:endParaRPr>
          </a:p>
          <a:p>
            <a:pPr>
              <a:lnSpc>
                <a:spcPct val="100000"/>
              </a:lnSpc>
              <a:spcBef>
                <a:spcPts val="10"/>
              </a:spcBef>
            </a:pPr>
            <a:endParaRPr sz="1150">
              <a:latin typeface="Arial"/>
              <a:cs typeface="Arial"/>
            </a:endParaRPr>
          </a:p>
          <a:p>
            <a:pPr algn="just" marL="12700" marR="5715">
              <a:lnSpc>
                <a:spcPct val="95800"/>
              </a:lnSpc>
              <a:spcBef>
                <a:spcPts val="5"/>
              </a:spcBef>
            </a:pPr>
            <a:r>
              <a:rPr dirty="0" sz="1100" spc="-5">
                <a:latin typeface="Arial"/>
                <a:cs typeface="Arial"/>
              </a:rPr>
              <a:t>If the major agrarian problem of Latin America, at least in traditional areas, can be identified as  too much land under the control of too few people, the basic problem in Asia is one of too many  people crowded onto too little land. For example, the per capita availability of arable land as  early as 1994 in India, China, and Bangladesh was 0.19, 0.08, and 0.07 hectares, respectively.  The land is distributed more equally in Asia </a:t>
            </a:r>
            <a:r>
              <a:rPr dirty="0" sz="1100">
                <a:latin typeface="Arial"/>
                <a:cs typeface="Arial"/>
              </a:rPr>
              <a:t>than </a:t>
            </a:r>
            <a:r>
              <a:rPr dirty="0" sz="1100" spc="-5">
                <a:latin typeface="Arial"/>
                <a:cs typeface="Arial"/>
              </a:rPr>
              <a:t>in Latin America but still with substantial levels  of inequality. As seen in Table 9.2, the estimated Gini coefficients for land distribution in Asia  range from 0.42 in Bangladesh and 0.45 in Thailand to 0.62 in India and 0.56 in Indonesia and  Nepal. (Later estimates show no significant change in Thailand, a rise in inequality to about 0.48  in Bangladesh, and a smaller level of inequality in India of about 0.45; see Table</a:t>
            </a:r>
            <a:r>
              <a:rPr dirty="0" sz="1100" spc="140">
                <a:latin typeface="Arial"/>
                <a:cs typeface="Arial"/>
              </a:rPr>
              <a:t> </a:t>
            </a:r>
            <a:r>
              <a:rPr dirty="0" sz="1100" spc="-5">
                <a:latin typeface="Arial"/>
                <a:cs typeface="Arial"/>
              </a:rPr>
              <a:t>9.3.)</a:t>
            </a:r>
            <a:endParaRPr sz="1100">
              <a:latin typeface="Arial"/>
              <a:cs typeface="Arial"/>
            </a:endParaRPr>
          </a:p>
          <a:p>
            <a:pPr>
              <a:lnSpc>
                <a:spcPct val="100000"/>
              </a:lnSpc>
            </a:pPr>
            <a:endParaRPr sz="1050">
              <a:latin typeface="Arial"/>
              <a:cs typeface="Arial"/>
            </a:endParaRPr>
          </a:p>
          <a:p>
            <a:pPr algn="r" marR="5080">
              <a:lnSpc>
                <a:spcPct val="100000"/>
              </a:lnSpc>
              <a:spcBef>
                <a:spcPts val="5"/>
              </a:spcBef>
            </a:pPr>
            <a:r>
              <a:rPr dirty="0" sz="1100" spc="-5">
                <a:latin typeface="Arial"/>
                <a:cs typeface="Arial"/>
              </a:rPr>
              <a:t>Throughout</a:t>
            </a:r>
            <a:r>
              <a:rPr dirty="0" sz="1100" spc="95">
                <a:latin typeface="Arial"/>
                <a:cs typeface="Arial"/>
              </a:rPr>
              <a:t> </a:t>
            </a:r>
            <a:r>
              <a:rPr dirty="0" sz="1100" spc="-5">
                <a:latin typeface="Arial"/>
                <a:cs typeface="Arial"/>
              </a:rPr>
              <a:t>much</a:t>
            </a:r>
            <a:r>
              <a:rPr dirty="0" sz="1100" spc="95">
                <a:latin typeface="Arial"/>
                <a:cs typeface="Arial"/>
              </a:rPr>
              <a:t> </a:t>
            </a:r>
            <a:r>
              <a:rPr dirty="0" sz="1100" spc="-5">
                <a:latin typeface="Arial"/>
                <a:cs typeface="Arial"/>
              </a:rPr>
              <a:t>of</a:t>
            </a:r>
            <a:r>
              <a:rPr dirty="0" sz="1100" spc="95">
                <a:latin typeface="Arial"/>
                <a:cs typeface="Arial"/>
              </a:rPr>
              <a:t> </a:t>
            </a:r>
            <a:r>
              <a:rPr dirty="0" sz="1100" spc="-5">
                <a:latin typeface="Arial"/>
                <a:cs typeface="Arial"/>
              </a:rPr>
              <a:t>the</a:t>
            </a:r>
            <a:r>
              <a:rPr dirty="0" sz="1100" spc="95">
                <a:latin typeface="Arial"/>
                <a:cs typeface="Arial"/>
              </a:rPr>
              <a:t> </a:t>
            </a:r>
            <a:r>
              <a:rPr dirty="0" sz="1100" spc="-5">
                <a:latin typeface="Arial"/>
                <a:cs typeface="Arial"/>
              </a:rPr>
              <a:t>twentieth</a:t>
            </a:r>
            <a:r>
              <a:rPr dirty="0" sz="1100" spc="95">
                <a:latin typeface="Arial"/>
                <a:cs typeface="Arial"/>
              </a:rPr>
              <a:t> </a:t>
            </a:r>
            <a:r>
              <a:rPr dirty="0" sz="1100" spc="-5">
                <a:latin typeface="Arial"/>
                <a:cs typeface="Arial"/>
              </a:rPr>
              <a:t>century,</a:t>
            </a:r>
            <a:r>
              <a:rPr dirty="0" sz="1100" spc="95">
                <a:latin typeface="Arial"/>
                <a:cs typeface="Arial"/>
              </a:rPr>
              <a:t> </a:t>
            </a:r>
            <a:r>
              <a:rPr dirty="0" sz="1100" spc="-5">
                <a:latin typeface="Arial"/>
                <a:cs typeface="Arial"/>
              </a:rPr>
              <a:t>rural</a:t>
            </a:r>
            <a:r>
              <a:rPr dirty="0" sz="1100" spc="95">
                <a:latin typeface="Arial"/>
                <a:cs typeface="Arial"/>
              </a:rPr>
              <a:t> </a:t>
            </a:r>
            <a:r>
              <a:rPr dirty="0" sz="1100" spc="-5">
                <a:latin typeface="Arial"/>
                <a:cs typeface="Arial"/>
              </a:rPr>
              <a:t>conditions</a:t>
            </a:r>
            <a:r>
              <a:rPr dirty="0" sz="1100" spc="90">
                <a:latin typeface="Arial"/>
                <a:cs typeface="Arial"/>
              </a:rPr>
              <a:t> </a:t>
            </a:r>
            <a:r>
              <a:rPr dirty="0" sz="1100" spc="-5">
                <a:latin typeface="Arial"/>
                <a:cs typeface="Arial"/>
              </a:rPr>
              <a:t>in</a:t>
            </a:r>
            <a:r>
              <a:rPr dirty="0" sz="1100" spc="95">
                <a:latin typeface="Arial"/>
                <a:cs typeface="Arial"/>
              </a:rPr>
              <a:t> </a:t>
            </a:r>
            <a:r>
              <a:rPr dirty="0" sz="1100" spc="-5">
                <a:latin typeface="Arial"/>
                <a:cs typeface="Arial"/>
              </a:rPr>
              <a:t>Asia</a:t>
            </a:r>
            <a:r>
              <a:rPr dirty="0" sz="1100" spc="95">
                <a:latin typeface="Arial"/>
                <a:cs typeface="Arial"/>
              </a:rPr>
              <a:t> </a:t>
            </a:r>
            <a:r>
              <a:rPr dirty="0" sz="1100" spc="-5">
                <a:latin typeface="Arial"/>
                <a:cs typeface="Arial"/>
              </a:rPr>
              <a:t>typically</a:t>
            </a:r>
            <a:r>
              <a:rPr dirty="0" sz="1100" spc="95">
                <a:latin typeface="Arial"/>
                <a:cs typeface="Arial"/>
              </a:rPr>
              <a:t> </a:t>
            </a:r>
            <a:r>
              <a:rPr dirty="0" sz="1100" spc="-5">
                <a:latin typeface="Arial"/>
                <a:cs typeface="Arial"/>
              </a:rPr>
              <a:t>deteriorated.</a:t>
            </a:r>
            <a:r>
              <a:rPr dirty="0" sz="1100" spc="95">
                <a:latin typeface="Arial"/>
                <a:cs typeface="Arial"/>
              </a:rPr>
              <a:t> </a:t>
            </a:r>
            <a:r>
              <a:rPr dirty="0" sz="1100" spc="-5">
                <a:latin typeface="Arial"/>
                <a:cs typeface="Arial"/>
              </a:rPr>
              <a:t>Nobel</a:t>
            </a:r>
            <a:endParaRPr sz="1100">
              <a:latin typeface="Arial"/>
              <a:cs typeface="Arial"/>
            </a:endParaRPr>
          </a:p>
        </p:txBody>
      </p:sp>
      <p:sp>
        <p:nvSpPr>
          <p:cNvPr id="7" name="object 7"/>
          <p:cNvSpPr txBox="1"/>
          <p:nvPr/>
        </p:nvSpPr>
        <p:spPr>
          <a:xfrm>
            <a:off x="901700" y="8700747"/>
            <a:ext cx="5968365"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laureate Gunnar Myrdal identified three major interrelated forces that molded the traditional  pattern</a:t>
            </a:r>
            <a:r>
              <a:rPr dirty="0" sz="1100" spc="40">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land</a:t>
            </a:r>
            <a:r>
              <a:rPr dirty="0" sz="1100" spc="40">
                <a:latin typeface="Arial"/>
                <a:cs typeface="Arial"/>
              </a:rPr>
              <a:t> </a:t>
            </a:r>
            <a:r>
              <a:rPr dirty="0" sz="1100" spc="-5">
                <a:latin typeface="Arial"/>
                <a:cs typeface="Arial"/>
              </a:rPr>
              <a:t>ownership</a:t>
            </a:r>
            <a:r>
              <a:rPr dirty="0" sz="1100" spc="45">
                <a:latin typeface="Arial"/>
                <a:cs typeface="Arial"/>
              </a:rPr>
              <a:t> </a:t>
            </a:r>
            <a:r>
              <a:rPr dirty="0" sz="1100" spc="-5">
                <a:latin typeface="Arial"/>
                <a:cs typeface="Arial"/>
              </a:rPr>
              <a:t>into</a:t>
            </a:r>
            <a:r>
              <a:rPr dirty="0" sz="1100" spc="40">
                <a:latin typeface="Arial"/>
                <a:cs typeface="Arial"/>
              </a:rPr>
              <a:t> </a:t>
            </a:r>
            <a:r>
              <a:rPr dirty="0" sz="1100" spc="-5">
                <a:latin typeface="Arial"/>
                <a:cs typeface="Arial"/>
              </a:rPr>
              <a:t>its</a:t>
            </a:r>
            <a:r>
              <a:rPr dirty="0" sz="1100" spc="45">
                <a:latin typeface="Arial"/>
                <a:cs typeface="Arial"/>
              </a:rPr>
              <a:t> </a:t>
            </a:r>
            <a:r>
              <a:rPr dirty="0" sz="1100" spc="-5">
                <a:latin typeface="Arial"/>
                <a:cs typeface="Arial"/>
              </a:rPr>
              <a:t>present</a:t>
            </a:r>
            <a:r>
              <a:rPr dirty="0" sz="1100" spc="45">
                <a:latin typeface="Arial"/>
                <a:cs typeface="Arial"/>
              </a:rPr>
              <a:t> </a:t>
            </a:r>
            <a:r>
              <a:rPr dirty="0" sz="1100" spc="-5">
                <a:latin typeface="Arial"/>
                <a:cs typeface="Arial"/>
              </a:rPr>
              <a:t>fragmented</a:t>
            </a:r>
            <a:r>
              <a:rPr dirty="0" sz="1100" spc="40">
                <a:latin typeface="Arial"/>
                <a:cs typeface="Arial"/>
              </a:rPr>
              <a:t> </a:t>
            </a:r>
            <a:r>
              <a:rPr dirty="0" sz="1100" spc="-5">
                <a:latin typeface="Arial"/>
                <a:cs typeface="Arial"/>
              </a:rPr>
              <a:t>condition:</a:t>
            </a:r>
            <a:r>
              <a:rPr dirty="0" sz="1100" spc="45">
                <a:latin typeface="Arial"/>
                <a:cs typeface="Arial"/>
              </a:rPr>
              <a:t> </a:t>
            </a:r>
            <a:r>
              <a:rPr dirty="0" sz="1100" spc="-5">
                <a:latin typeface="Arial"/>
                <a:cs typeface="Arial"/>
              </a:rPr>
              <a:t>(1)</a:t>
            </a:r>
            <a:r>
              <a:rPr dirty="0" sz="1100" spc="4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intervention</a:t>
            </a:r>
            <a:r>
              <a:rPr dirty="0" sz="1100" spc="40">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European</a:t>
            </a:r>
            <a:endParaRPr sz="1100">
              <a:latin typeface="Arial"/>
              <a:cs typeface="Arial"/>
            </a:endParaRPr>
          </a:p>
        </p:txBody>
      </p:sp>
      <p:sp>
        <p:nvSpPr>
          <p:cNvPr id="8" name="object 8"/>
          <p:cNvSpPr/>
          <p:nvPr/>
        </p:nvSpPr>
        <p:spPr>
          <a:xfrm>
            <a:off x="957072" y="4305300"/>
            <a:ext cx="5929883" cy="441731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184</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064500"/>
          </a:xfrm>
          <a:prstGeom prst="rect">
            <a:avLst/>
          </a:prstGeom>
        </p:spPr>
        <p:txBody>
          <a:bodyPr wrap="square" lIns="0" tIns="22860" rIns="0" bIns="0" rtlCol="0" vert="horz">
            <a:spAutoFit/>
          </a:bodyPr>
          <a:lstStyle/>
          <a:p>
            <a:pPr algn="just" marL="12700" marR="6985">
              <a:lnSpc>
                <a:spcPts val="1270"/>
              </a:lnSpc>
              <a:spcBef>
                <a:spcPts val="180"/>
              </a:spcBef>
            </a:pPr>
            <a:r>
              <a:rPr dirty="0" sz="1100" spc="-5">
                <a:latin typeface="Arial"/>
                <a:cs typeface="Arial"/>
              </a:rPr>
              <a:t>rule, (2) the progressive introduction of monetized transactions and the rise in power of the  moneylender, and (3) the rapid growth of Asian</a:t>
            </a:r>
            <a:r>
              <a:rPr dirty="0" sz="1100" spc="45">
                <a:latin typeface="Arial"/>
                <a:cs typeface="Arial"/>
              </a:rPr>
              <a:t> </a:t>
            </a:r>
            <a:r>
              <a:rPr dirty="0" sz="1100" spc="-5">
                <a:latin typeface="Arial"/>
                <a:cs typeface="Arial"/>
              </a:rPr>
              <a:t>populations.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The traditional Asian agrarian structure before European colonization was organized around the  village. Local chiefs and peasant families each provided goods and services—produce and  labor from the peasants to the chief in return for protection, rights to use community land, and  the provision of public services. Decisions on the allocation, disposition, and use of the village’s  most valuable resource, land, belonged to the tribe or community, either as a body or through its  chief. Land could be redistributed among village members as a result of either population  increase or natural calamities such as drought, flood, famine, war, or disease. Within the  community, families had a basic right to cultivate land for their own use, and they could be  evicted from their land only after a decision by the whole</a:t>
            </a:r>
            <a:r>
              <a:rPr dirty="0" sz="1100" spc="70">
                <a:latin typeface="Arial"/>
                <a:cs typeface="Arial"/>
              </a:rPr>
              <a:t> </a:t>
            </a:r>
            <a:r>
              <a:rPr dirty="0" sz="1100" spc="-5">
                <a:latin typeface="Arial"/>
                <a:cs typeface="Arial"/>
              </a:rPr>
              <a:t>village.</a:t>
            </a:r>
            <a:endParaRPr sz="1100">
              <a:latin typeface="Arial"/>
              <a:cs typeface="Arial"/>
            </a:endParaRPr>
          </a:p>
          <a:p>
            <a:pPr>
              <a:lnSpc>
                <a:spcPct val="100000"/>
              </a:lnSpc>
            </a:pPr>
            <a:endParaRPr sz="1100">
              <a:latin typeface="Arial"/>
              <a:cs typeface="Arial"/>
            </a:endParaRPr>
          </a:p>
          <a:p>
            <a:pPr algn="just" marL="12700" marR="6350">
              <a:lnSpc>
                <a:spcPct val="95800"/>
              </a:lnSpc>
              <a:spcBef>
                <a:spcPts val="5"/>
              </a:spcBef>
            </a:pPr>
            <a:r>
              <a:rPr dirty="0" sz="1100" spc="-5">
                <a:latin typeface="Arial"/>
                <a:cs typeface="Arial"/>
              </a:rPr>
              <a:t>The arrival of the Europeans (mainly the British, French, and Dutch) led to major changes in the  traditional agrarian structure, some of which had already begun. As Myrdal points out, “Colonial  rule acted as an important catalyst to change, both directly through its effects on property rights  and indirectly through its effects on the pace of monetization of the indigenous economy and </a:t>
            </a:r>
            <a:r>
              <a:rPr dirty="0" sz="1100">
                <a:latin typeface="Arial"/>
                <a:cs typeface="Arial"/>
              </a:rPr>
              <a:t>on  </a:t>
            </a:r>
            <a:r>
              <a:rPr dirty="0" sz="1100" spc="-5">
                <a:latin typeface="Arial"/>
                <a:cs typeface="Arial"/>
              </a:rPr>
              <a:t>the growth of population.” In the area of property rights, European land tenure systems of  private property ownership were both encouraged and reinforced by</a:t>
            </a:r>
            <a:r>
              <a:rPr dirty="0" sz="1100" spc="65">
                <a:latin typeface="Arial"/>
                <a:cs typeface="Arial"/>
              </a:rPr>
              <a:t> </a:t>
            </a:r>
            <a:r>
              <a:rPr dirty="0" sz="1100" spc="-5">
                <a:latin typeface="Arial"/>
                <a:cs typeface="Arial"/>
              </a:rPr>
              <a:t>law.</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Contemporary landlords in India and Pakistan are able to avoid much of the taxation on income  derived </a:t>
            </a:r>
            <a:r>
              <a:rPr dirty="0" sz="1100">
                <a:latin typeface="Arial"/>
                <a:cs typeface="Arial"/>
              </a:rPr>
              <a:t>from </a:t>
            </a:r>
            <a:r>
              <a:rPr dirty="0" sz="1100" spc="-5">
                <a:latin typeface="Arial"/>
                <a:cs typeface="Arial"/>
              </a:rPr>
              <a:t>their ownership of land. There are variations, but landlords in South Asia are often  absentee owners who live in the town and turn over the working of the land to sharecroppers  and other tenant farmers. Sharecropping is widespread in both Asia and Latin America but more  pervasive in Asia. It has been estimated that of all tenanted land, some 84.5% is sharecropped  in Asia but only 16.1% in Latin America. The institution is almost unknown in Africa, where </a:t>
            </a:r>
            <a:r>
              <a:rPr dirty="0" sz="1100">
                <a:latin typeface="Arial"/>
                <a:cs typeface="Arial"/>
              </a:rPr>
              <a:t>the  </a:t>
            </a:r>
            <a:r>
              <a:rPr dirty="0" sz="1100" spc="-5">
                <a:latin typeface="Arial"/>
                <a:cs typeface="Arial"/>
              </a:rPr>
              <a:t>typical arrangement continues to be farms operated under tribal or communal tenures. For  example, as shown in Table 9.2, about 48% of all tenanted land is sharecropped in India, 60%  in Indonesia, and 79% in the Philippines. Though common in Colombia, sharecropping is  unusual elsewhere in Latin America; for example, it has all but disappeared in</a:t>
            </a:r>
            <a:r>
              <a:rPr dirty="0" sz="1100" spc="125">
                <a:latin typeface="Arial"/>
                <a:cs typeface="Arial"/>
              </a:rPr>
              <a:t> </a:t>
            </a:r>
            <a:r>
              <a:rPr dirty="0" sz="1100" spc="-5">
                <a:latin typeface="Arial"/>
                <a:cs typeface="Arial"/>
              </a:rPr>
              <a:t>Peru.</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creation of individual titles to land made possible the rise to power of another dubious agent  of change in Asian rural socioeconomic structures, the moneylender. Once private property  came into effect, land became a negotiable asset that could be offered by peasants as security  for loans and, in the case of default, could be forfeited and transferred to the often unscrupulous  moneylender. At the </a:t>
            </a:r>
            <a:r>
              <a:rPr dirty="0" sz="1100">
                <a:latin typeface="Arial"/>
                <a:cs typeface="Arial"/>
              </a:rPr>
              <a:t>same </a:t>
            </a:r>
            <a:r>
              <a:rPr dirty="0" sz="1100" spc="-5">
                <a:latin typeface="Arial"/>
                <a:cs typeface="Arial"/>
              </a:rPr>
              <a:t>time, Asian agriculture was being transformed from a subsistence to  a commercial orientation, both as a result of rising local demand in new towns and, more  important, in response to external </a:t>
            </a:r>
            <a:r>
              <a:rPr dirty="0" sz="1100">
                <a:latin typeface="Arial"/>
                <a:cs typeface="Arial"/>
              </a:rPr>
              <a:t>food </a:t>
            </a:r>
            <a:r>
              <a:rPr dirty="0" sz="1100" spc="-5">
                <a:latin typeface="Arial"/>
                <a:cs typeface="Arial"/>
              </a:rPr>
              <a:t>demands of colonial European</a:t>
            </a:r>
            <a:r>
              <a:rPr dirty="0" sz="1100" spc="70">
                <a:latin typeface="Arial"/>
                <a:cs typeface="Arial"/>
              </a:rPr>
              <a:t> </a:t>
            </a:r>
            <a:r>
              <a:rPr dirty="0" sz="1100" spc="-5">
                <a:latin typeface="Arial"/>
                <a:cs typeface="Arial"/>
              </a:rPr>
              <a:t>powers.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With this transition from subsistence to commercial production, the role of the moneylender  changed drastically. In the subsistence economy, his activities had been restricted to supplying  the peasant with money to tide him over a crop failure or to cover extraordinary ceremonial  expenditures such as family weddings or funerals. Most of these loans were paid in kind (in the  form of food) at very high rates of interest. With the development of commercial farming,  however, the peasant’s cash needs grew significantly. Money was needed for seeds, fertilizer,  and other inputs. It was also needed to cover his </a:t>
            </a:r>
            <a:r>
              <a:rPr dirty="0" sz="1100">
                <a:latin typeface="Arial"/>
                <a:cs typeface="Arial"/>
              </a:rPr>
              <a:t>food </a:t>
            </a:r>
            <a:r>
              <a:rPr dirty="0" sz="1100" spc="-5">
                <a:latin typeface="Arial"/>
                <a:cs typeface="Arial"/>
              </a:rPr>
              <a:t>requirements if he shifted to the  production of cash crops such as tea, rubber, or jute. Often moneylenders were more interested  in acquiring peasant lands as a result of loan defaults than they were in extracting high rates of  interest. By charging exorbitant interest rates or inducing peasants to secure larger credits than  they</a:t>
            </a:r>
            <a:r>
              <a:rPr dirty="0" sz="1100" spc="170">
                <a:latin typeface="Arial"/>
                <a:cs typeface="Arial"/>
              </a:rPr>
              <a:t> </a:t>
            </a:r>
            <a:r>
              <a:rPr dirty="0" sz="1100" spc="-5">
                <a:latin typeface="Arial"/>
                <a:cs typeface="Arial"/>
              </a:rPr>
              <a:t>could</a:t>
            </a:r>
            <a:r>
              <a:rPr dirty="0" sz="1100" spc="175">
                <a:latin typeface="Arial"/>
                <a:cs typeface="Arial"/>
              </a:rPr>
              <a:t> </a:t>
            </a:r>
            <a:r>
              <a:rPr dirty="0" sz="1100" spc="-5">
                <a:latin typeface="Arial"/>
                <a:cs typeface="Arial"/>
              </a:rPr>
              <a:t>manage,</a:t>
            </a:r>
            <a:r>
              <a:rPr dirty="0" sz="1100" spc="175">
                <a:latin typeface="Arial"/>
                <a:cs typeface="Arial"/>
              </a:rPr>
              <a:t> </a:t>
            </a:r>
            <a:r>
              <a:rPr dirty="0" sz="1100" spc="-5">
                <a:latin typeface="Arial"/>
                <a:cs typeface="Arial"/>
              </a:rPr>
              <a:t>moneylenders</a:t>
            </a:r>
            <a:r>
              <a:rPr dirty="0" sz="1100" spc="170">
                <a:latin typeface="Arial"/>
                <a:cs typeface="Arial"/>
              </a:rPr>
              <a:t> </a:t>
            </a:r>
            <a:r>
              <a:rPr dirty="0" sz="1100" spc="-5">
                <a:latin typeface="Arial"/>
                <a:cs typeface="Arial"/>
              </a:rPr>
              <a:t>were</a:t>
            </a:r>
            <a:r>
              <a:rPr dirty="0" sz="1100" spc="170">
                <a:latin typeface="Arial"/>
                <a:cs typeface="Arial"/>
              </a:rPr>
              <a:t> </a:t>
            </a:r>
            <a:r>
              <a:rPr dirty="0" sz="1100" spc="-5">
                <a:latin typeface="Arial"/>
                <a:cs typeface="Arial"/>
              </a:rPr>
              <a:t>often</a:t>
            </a:r>
            <a:r>
              <a:rPr dirty="0" sz="1100" spc="175">
                <a:latin typeface="Arial"/>
                <a:cs typeface="Arial"/>
              </a:rPr>
              <a:t> </a:t>
            </a:r>
            <a:r>
              <a:rPr dirty="0" sz="1100" spc="-5">
                <a:latin typeface="Arial"/>
                <a:cs typeface="Arial"/>
              </a:rPr>
              <a:t>able</a:t>
            </a:r>
            <a:r>
              <a:rPr dirty="0" sz="1100" spc="170">
                <a:latin typeface="Arial"/>
                <a:cs typeface="Arial"/>
              </a:rPr>
              <a:t> </a:t>
            </a:r>
            <a:r>
              <a:rPr dirty="0" sz="1100" spc="-5">
                <a:latin typeface="Arial"/>
                <a:cs typeface="Arial"/>
              </a:rPr>
              <a:t>to</a:t>
            </a:r>
            <a:r>
              <a:rPr dirty="0" sz="1100" spc="170">
                <a:latin typeface="Arial"/>
                <a:cs typeface="Arial"/>
              </a:rPr>
              <a:t> </a:t>
            </a:r>
            <a:r>
              <a:rPr dirty="0" sz="1100" spc="-5">
                <a:latin typeface="Arial"/>
                <a:cs typeface="Arial"/>
              </a:rPr>
              <a:t>drive</a:t>
            </a:r>
            <a:r>
              <a:rPr dirty="0" sz="1100" spc="170">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peasants</a:t>
            </a:r>
            <a:r>
              <a:rPr dirty="0" sz="1100" spc="175">
                <a:latin typeface="Arial"/>
                <a:cs typeface="Arial"/>
              </a:rPr>
              <a:t> </a:t>
            </a:r>
            <a:r>
              <a:rPr dirty="0" sz="1100" spc="-5">
                <a:latin typeface="Arial"/>
                <a:cs typeface="Arial"/>
              </a:rPr>
              <a:t>off</a:t>
            </a:r>
            <a:r>
              <a:rPr dirty="0" sz="1100" spc="170">
                <a:latin typeface="Arial"/>
                <a:cs typeface="Arial"/>
              </a:rPr>
              <a:t> </a:t>
            </a:r>
            <a:r>
              <a:rPr dirty="0" sz="1100" spc="-5">
                <a:latin typeface="Arial"/>
                <a:cs typeface="Arial"/>
              </a:rPr>
              <a:t>their</a:t>
            </a:r>
            <a:r>
              <a:rPr dirty="0" sz="1100" spc="170">
                <a:latin typeface="Arial"/>
                <a:cs typeface="Arial"/>
              </a:rPr>
              <a:t> </a:t>
            </a:r>
            <a:r>
              <a:rPr dirty="0" sz="1100" spc="-5">
                <a:latin typeface="Arial"/>
                <a:cs typeface="Arial"/>
              </a:rPr>
              <a:t>land.</a:t>
            </a:r>
            <a:r>
              <a:rPr dirty="0" sz="1100" spc="170">
                <a:latin typeface="Arial"/>
                <a:cs typeface="Arial"/>
              </a:rPr>
              <a:t> </a:t>
            </a:r>
            <a:r>
              <a:rPr dirty="0" sz="1100" spc="-5">
                <a:latin typeface="Arial"/>
                <a:cs typeface="Arial"/>
              </a:rPr>
              <a:t>They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185</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811720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could then reap the profits of land speculation by selling this farmland to rich and acquisitive  landlords.</a:t>
            </a:r>
            <a:endParaRPr sz="1100">
              <a:latin typeface="Arial"/>
              <a:cs typeface="Arial"/>
            </a:endParaRPr>
          </a:p>
          <a:p>
            <a:pPr>
              <a:lnSpc>
                <a:spcPct val="100000"/>
              </a:lnSpc>
              <a:spcBef>
                <a:spcPts val="45"/>
              </a:spcBef>
            </a:pPr>
            <a:endParaRPr sz="1050">
              <a:latin typeface="Arial"/>
              <a:cs typeface="Arial"/>
            </a:endParaRPr>
          </a:p>
          <a:p>
            <a:pPr marL="469900" indent="-228600">
              <a:lnSpc>
                <a:spcPts val="1290"/>
              </a:lnSpc>
              <a:buFont typeface="Symbol"/>
              <a:buChar char=""/>
              <a:tabLst>
                <a:tab pos="469265" algn="l"/>
                <a:tab pos="469900" algn="l"/>
              </a:tabLst>
            </a:pPr>
            <a:r>
              <a:rPr dirty="0" sz="1100" spc="-5" b="1">
                <a:latin typeface="Arial"/>
                <a:cs typeface="Arial"/>
              </a:rPr>
              <a:t>Landlord:</a:t>
            </a:r>
            <a:endParaRPr sz="1100">
              <a:latin typeface="Arial"/>
              <a:cs typeface="Arial"/>
            </a:endParaRPr>
          </a:p>
          <a:p>
            <a:pPr marL="469900" marR="5715">
              <a:lnSpc>
                <a:spcPts val="1260"/>
              </a:lnSpc>
              <a:spcBef>
                <a:spcPts val="60"/>
              </a:spcBef>
            </a:pPr>
            <a:r>
              <a:rPr dirty="0" sz="1100" spc="-5">
                <a:latin typeface="Arial"/>
                <a:cs typeface="Arial"/>
              </a:rPr>
              <a:t>The proprietor of a freehold interest in land with rights to lease out to tenants in return for  some form </a:t>
            </a:r>
            <a:r>
              <a:rPr dirty="0" sz="1100">
                <a:latin typeface="Arial"/>
                <a:cs typeface="Arial"/>
              </a:rPr>
              <a:t>of </a:t>
            </a:r>
            <a:r>
              <a:rPr dirty="0" sz="1100" spc="-5">
                <a:latin typeface="Arial"/>
                <a:cs typeface="Arial"/>
              </a:rPr>
              <a:t>compensation for the use of the</a:t>
            </a:r>
            <a:r>
              <a:rPr dirty="0" sz="1100" spc="40">
                <a:latin typeface="Arial"/>
                <a:cs typeface="Arial"/>
              </a:rPr>
              <a:t> </a:t>
            </a:r>
            <a:r>
              <a:rPr dirty="0" sz="1100" spc="-5">
                <a:latin typeface="Arial"/>
                <a:cs typeface="Arial"/>
              </a:rPr>
              <a:t>land.</a:t>
            </a:r>
            <a:endParaRPr sz="1100">
              <a:latin typeface="Arial"/>
              <a:cs typeface="Arial"/>
            </a:endParaRPr>
          </a:p>
          <a:p>
            <a:pPr marL="469900" indent="-228600">
              <a:lnSpc>
                <a:spcPts val="1285"/>
              </a:lnSpc>
              <a:buFont typeface="Symbol"/>
              <a:buChar char=""/>
              <a:tabLst>
                <a:tab pos="469265" algn="l"/>
                <a:tab pos="469900" algn="l"/>
              </a:tabLst>
            </a:pPr>
            <a:r>
              <a:rPr dirty="0" sz="1100" spc="-5" b="1">
                <a:latin typeface="Arial"/>
                <a:cs typeface="Arial"/>
              </a:rPr>
              <a:t>Sharecropper:</a:t>
            </a:r>
            <a:endParaRPr sz="1100">
              <a:latin typeface="Arial"/>
              <a:cs typeface="Arial"/>
            </a:endParaRPr>
          </a:p>
          <a:p>
            <a:pPr marL="469900" marR="5715">
              <a:lnSpc>
                <a:spcPts val="1270"/>
              </a:lnSpc>
              <a:spcBef>
                <a:spcPts val="55"/>
              </a:spcBef>
            </a:pPr>
            <a:r>
              <a:rPr dirty="0" sz="1100" spc="-5">
                <a:latin typeface="Arial"/>
                <a:cs typeface="Arial"/>
              </a:rPr>
              <a:t>A tenant farmer whose crop has to be shared with the landlord, as the basis for the  rental contract.</a:t>
            </a:r>
            <a:endParaRPr sz="1100">
              <a:latin typeface="Arial"/>
              <a:cs typeface="Arial"/>
            </a:endParaRPr>
          </a:p>
          <a:p>
            <a:pPr marL="469900" indent="-228600">
              <a:lnSpc>
                <a:spcPts val="1280"/>
              </a:lnSpc>
              <a:buFont typeface="Symbol"/>
              <a:buChar char=""/>
              <a:tabLst>
                <a:tab pos="469265" algn="l"/>
                <a:tab pos="469900" algn="l"/>
              </a:tabLst>
            </a:pPr>
            <a:r>
              <a:rPr dirty="0" sz="1100" spc="-5" b="1">
                <a:latin typeface="Arial"/>
                <a:cs typeface="Arial"/>
              </a:rPr>
              <a:t>Tenant farmer:</a:t>
            </a:r>
            <a:endParaRPr sz="1100">
              <a:latin typeface="Arial"/>
              <a:cs typeface="Arial"/>
            </a:endParaRPr>
          </a:p>
          <a:p>
            <a:pPr marL="469900" marR="5715">
              <a:lnSpc>
                <a:spcPts val="1270"/>
              </a:lnSpc>
              <a:spcBef>
                <a:spcPts val="50"/>
              </a:spcBef>
            </a:pPr>
            <a:r>
              <a:rPr dirty="0" sz="1100" spc="-5">
                <a:latin typeface="Arial"/>
                <a:cs typeface="Arial"/>
              </a:rPr>
              <a:t>One who farms on land held by a landlord and therefore lacks ownership rights and has  to pay for the use of that land, for example, by giving a share of output to the</a:t>
            </a:r>
            <a:r>
              <a:rPr dirty="0" sz="1100" spc="195">
                <a:latin typeface="Arial"/>
                <a:cs typeface="Arial"/>
              </a:rPr>
              <a:t> </a:t>
            </a:r>
            <a:r>
              <a:rPr dirty="0" sz="1100" spc="-5">
                <a:latin typeface="Arial"/>
                <a:cs typeface="Arial"/>
              </a:rPr>
              <a:t>owner.</a:t>
            </a:r>
            <a:endParaRPr sz="1100">
              <a:latin typeface="Arial"/>
              <a:cs typeface="Arial"/>
            </a:endParaRPr>
          </a:p>
          <a:p>
            <a:pPr marL="469900" indent="-228600">
              <a:lnSpc>
                <a:spcPts val="1280"/>
              </a:lnSpc>
              <a:buFont typeface="Symbol"/>
              <a:buChar char=""/>
              <a:tabLst>
                <a:tab pos="469265" algn="l"/>
                <a:tab pos="469900" algn="l"/>
              </a:tabLst>
            </a:pPr>
            <a:r>
              <a:rPr dirty="0" sz="1100" spc="-5" b="1">
                <a:latin typeface="Arial"/>
                <a:cs typeface="Arial"/>
              </a:rPr>
              <a:t>Moneylender:</a:t>
            </a:r>
            <a:endParaRPr sz="1100">
              <a:latin typeface="Arial"/>
              <a:cs typeface="Arial"/>
            </a:endParaRPr>
          </a:p>
          <a:p>
            <a:pPr marL="469900" marR="6350">
              <a:lnSpc>
                <a:spcPts val="1270"/>
              </a:lnSpc>
              <a:spcBef>
                <a:spcPts val="50"/>
              </a:spcBef>
            </a:pPr>
            <a:r>
              <a:rPr dirty="0" sz="1100" spc="-5">
                <a:latin typeface="Arial"/>
                <a:cs typeface="Arial"/>
              </a:rPr>
              <a:t>A person who lends money at </a:t>
            </a:r>
            <a:r>
              <a:rPr dirty="0" sz="1100">
                <a:latin typeface="Arial"/>
                <a:cs typeface="Arial"/>
              </a:rPr>
              <a:t>high </a:t>
            </a:r>
            <a:r>
              <a:rPr dirty="0" sz="1100" spc="-5">
                <a:latin typeface="Arial"/>
                <a:cs typeface="Arial"/>
              </a:rPr>
              <a:t>rates of interest, for example to peasant farmers to  meet their needs for seeds, fertilizers, and other</a:t>
            </a:r>
            <a:r>
              <a:rPr dirty="0" sz="1100" spc="40">
                <a:latin typeface="Arial"/>
                <a:cs typeface="Arial"/>
              </a:rPr>
              <a:t> </a:t>
            </a:r>
            <a:r>
              <a:rPr dirty="0" sz="1100" spc="-5">
                <a:latin typeface="Arial"/>
                <a:cs typeface="Arial"/>
              </a:rPr>
              <a:t>inputs.</a:t>
            </a:r>
            <a:endParaRPr sz="1100">
              <a:latin typeface="Arial"/>
              <a:cs typeface="Arial"/>
            </a:endParaRPr>
          </a:p>
          <a:p>
            <a:pPr>
              <a:lnSpc>
                <a:spcPct val="100000"/>
              </a:lnSpc>
              <a:spcBef>
                <a:spcPts val="45"/>
              </a:spcBef>
            </a:pPr>
            <a:endParaRPr sz="1050">
              <a:latin typeface="Arial"/>
              <a:cs typeface="Arial"/>
            </a:endParaRPr>
          </a:p>
          <a:p>
            <a:pPr algn="just" marL="12700" marR="5715">
              <a:lnSpc>
                <a:spcPts val="1270"/>
              </a:lnSpc>
            </a:pPr>
            <a:r>
              <a:rPr dirty="0" sz="1100" spc="-5">
                <a:latin typeface="Arial"/>
                <a:cs typeface="Arial"/>
              </a:rPr>
              <a:t>Largely as a consequence of the moneylenders’ influence, Asian peasant cultivators saw their  economic status deteriorate. And rapid population growth often led to fragmentation and  impoverishment.</a:t>
            </a:r>
            <a:endParaRPr sz="1100">
              <a:latin typeface="Arial"/>
              <a:cs typeface="Arial"/>
            </a:endParaRPr>
          </a:p>
          <a:p>
            <a:pPr algn="just" marL="12700">
              <a:lnSpc>
                <a:spcPts val="1195"/>
              </a:lnSpc>
            </a:pPr>
            <a:r>
              <a:rPr dirty="0" sz="1100" spc="-5">
                <a:latin typeface="Arial"/>
                <a:cs typeface="Arial"/>
              </a:rPr>
              <a:t>Again,</a:t>
            </a:r>
            <a:r>
              <a:rPr dirty="0" sz="1100" spc="45">
                <a:latin typeface="Arial"/>
                <a:cs typeface="Arial"/>
              </a:rPr>
              <a:t> </a:t>
            </a:r>
            <a:r>
              <a:rPr dirty="0" sz="1100" spc="-5">
                <a:latin typeface="Arial"/>
                <a:cs typeface="Arial"/>
              </a:rPr>
              <a:t>as</a:t>
            </a:r>
            <a:r>
              <a:rPr dirty="0" sz="1100" spc="45">
                <a:latin typeface="Arial"/>
                <a:cs typeface="Arial"/>
              </a:rPr>
              <a:t> </a:t>
            </a:r>
            <a:r>
              <a:rPr dirty="0" sz="1100" spc="-5">
                <a:latin typeface="Arial"/>
                <a:cs typeface="Arial"/>
              </a:rPr>
              <a:t>noted</a:t>
            </a:r>
            <a:r>
              <a:rPr dirty="0" sz="1100" spc="50">
                <a:latin typeface="Arial"/>
                <a:cs typeface="Arial"/>
              </a:rPr>
              <a:t> </a:t>
            </a:r>
            <a:r>
              <a:rPr dirty="0" sz="1100" spc="-5">
                <a:latin typeface="Arial"/>
                <a:cs typeface="Arial"/>
              </a:rPr>
              <a:t>in</a:t>
            </a:r>
            <a:r>
              <a:rPr dirty="0" sz="1100" spc="45">
                <a:latin typeface="Arial"/>
                <a:cs typeface="Arial"/>
              </a:rPr>
              <a:t> </a:t>
            </a:r>
            <a:r>
              <a:rPr dirty="0" sz="1100" spc="-5">
                <a:latin typeface="Arial"/>
                <a:cs typeface="Arial"/>
              </a:rPr>
              <a:t>Chapter</a:t>
            </a:r>
            <a:r>
              <a:rPr dirty="0" sz="1100" spc="50">
                <a:latin typeface="Arial"/>
                <a:cs typeface="Arial"/>
              </a:rPr>
              <a:t> </a:t>
            </a:r>
            <a:r>
              <a:rPr dirty="0" sz="1100" spc="-5">
                <a:latin typeface="Arial"/>
                <a:cs typeface="Arial"/>
              </a:rPr>
              <a:t>2,</a:t>
            </a:r>
            <a:r>
              <a:rPr dirty="0" sz="1100" spc="45">
                <a:latin typeface="Arial"/>
                <a:cs typeface="Arial"/>
              </a:rPr>
              <a:t> </a:t>
            </a:r>
            <a:r>
              <a:rPr dirty="0" sz="1100" spc="-5">
                <a:latin typeface="Arial"/>
                <a:cs typeface="Arial"/>
              </a:rPr>
              <a:t>colonial</a:t>
            </a:r>
            <a:r>
              <a:rPr dirty="0" sz="1100" spc="50">
                <a:latin typeface="Arial"/>
                <a:cs typeface="Arial"/>
              </a:rPr>
              <a:t> </a:t>
            </a:r>
            <a:r>
              <a:rPr dirty="0" sz="1100" spc="-5">
                <a:latin typeface="Arial"/>
                <a:cs typeface="Arial"/>
              </a:rPr>
              <a:t>practices</a:t>
            </a:r>
            <a:r>
              <a:rPr dirty="0" sz="1100" spc="45">
                <a:latin typeface="Arial"/>
                <a:cs typeface="Arial"/>
              </a:rPr>
              <a:t> </a:t>
            </a:r>
            <a:r>
              <a:rPr dirty="0" sz="1100" spc="-5">
                <a:latin typeface="Arial"/>
                <a:cs typeface="Arial"/>
              </a:rPr>
              <a:t>often</a:t>
            </a:r>
            <a:r>
              <a:rPr dirty="0" sz="1100" spc="50">
                <a:latin typeface="Arial"/>
                <a:cs typeface="Arial"/>
              </a:rPr>
              <a:t> </a:t>
            </a:r>
            <a:r>
              <a:rPr dirty="0" sz="1100" spc="-5">
                <a:latin typeface="Arial"/>
                <a:cs typeface="Arial"/>
              </a:rPr>
              <a:t>had</a:t>
            </a:r>
            <a:r>
              <a:rPr dirty="0" sz="1100" spc="40">
                <a:latin typeface="Arial"/>
                <a:cs typeface="Arial"/>
              </a:rPr>
              <a:t> </a:t>
            </a:r>
            <a:r>
              <a:rPr dirty="0" sz="1100" spc="-5">
                <a:latin typeface="Arial"/>
                <a:cs typeface="Arial"/>
              </a:rPr>
              <a:t>long-lasting</a:t>
            </a:r>
            <a:r>
              <a:rPr dirty="0" sz="1100" spc="45">
                <a:latin typeface="Arial"/>
                <a:cs typeface="Arial"/>
              </a:rPr>
              <a:t> </a:t>
            </a:r>
            <a:r>
              <a:rPr dirty="0" sz="1100" spc="-5">
                <a:latin typeface="Arial"/>
                <a:cs typeface="Arial"/>
              </a:rPr>
              <a:t>influences.</a:t>
            </a:r>
            <a:r>
              <a:rPr dirty="0" sz="1100" spc="40">
                <a:latin typeface="Arial"/>
                <a:cs typeface="Arial"/>
              </a:rPr>
              <a:t> </a:t>
            </a:r>
            <a:r>
              <a:rPr dirty="0" sz="1100" spc="-5">
                <a:latin typeface="Arial"/>
                <a:cs typeface="Arial"/>
              </a:rPr>
              <a:t>In</a:t>
            </a:r>
            <a:r>
              <a:rPr dirty="0" sz="1100" spc="5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case</a:t>
            </a:r>
            <a:r>
              <a:rPr dirty="0" sz="1100" spc="50">
                <a:latin typeface="Arial"/>
                <a:cs typeface="Arial"/>
              </a:rPr>
              <a:t> </a:t>
            </a:r>
            <a:r>
              <a:rPr dirty="0" sz="1100" spc="-5">
                <a:latin typeface="Arial"/>
                <a:cs typeface="Arial"/>
              </a:rPr>
              <a:t>of</a:t>
            </a:r>
            <a:endParaRPr sz="1100">
              <a:latin typeface="Arial"/>
              <a:cs typeface="Arial"/>
            </a:endParaRPr>
          </a:p>
          <a:p>
            <a:pPr algn="just" marL="12700" marR="5715">
              <a:lnSpc>
                <a:spcPct val="95800"/>
              </a:lnSpc>
              <a:spcBef>
                <a:spcPts val="30"/>
              </a:spcBef>
            </a:pPr>
            <a:r>
              <a:rPr dirty="0" sz="1100" spc="-5">
                <a:latin typeface="Arial"/>
                <a:cs typeface="Arial"/>
              </a:rPr>
              <a:t>India, regions in which property </a:t>
            </a:r>
            <a:r>
              <a:rPr dirty="0" sz="1100">
                <a:latin typeface="Arial"/>
                <a:cs typeface="Arial"/>
              </a:rPr>
              <a:t>rights </a:t>
            </a:r>
            <a:r>
              <a:rPr dirty="0" sz="1100" spc="-5">
                <a:latin typeface="Arial"/>
                <a:cs typeface="Arial"/>
              </a:rPr>
              <a:t>to land were given to landlords had significantly lower  productivity and agricultural investments— </a:t>
            </a:r>
            <a:r>
              <a:rPr dirty="0" sz="1100">
                <a:latin typeface="Arial"/>
                <a:cs typeface="Arial"/>
              </a:rPr>
              <a:t>and </a:t>
            </a:r>
            <a:r>
              <a:rPr dirty="0" sz="1100" spc="-5">
                <a:latin typeface="Arial"/>
                <a:cs typeface="Arial"/>
              </a:rPr>
              <a:t>significantly lower investments in health and  education—in the post independence period than regions in which property rights were given to  cultivators.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IMPORTANT ROLE OF</a:t>
            </a:r>
            <a:r>
              <a:rPr dirty="0" sz="1100" spc="10" b="1">
                <a:latin typeface="Arial"/>
                <a:cs typeface="Arial"/>
              </a:rPr>
              <a:t> </a:t>
            </a:r>
            <a:r>
              <a:rPr dirty="0" sz="1100" spc="-5" b="1">
                <a:latin typeface="Arial"/>
                <a:cs typeface="Arial"/>
              </a:rPr>
              <a:t>WOMEN</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A major and until recently often overlooked feature of agrarian systems </a:t>
            </a:r>
            <a:r>
              <a:rPr dirty="0" sz="1100">
                <a:latin typeface="Arial"/>
                <a:cs typeface="Arial"/>
              </a:rPr>
              <a:t>in </a:t>
            </a:r>
            <a:r>
              <a:rPr dirty="0" sz="1100" spc="-5">
                <a:latin typeface="Arial"/>
                <a:cs typeface="Arial"/>
              </a:rPr>
              <a:t>the developing world,  particularly in Africa and Asia, is the crucial </a:t>
            </a:r>
            <a:r>
              <a:rPr dirty="0" sz="1100">
                <a:latin typeface="Arial"/>
                <a:cs typeface="Arial"/>
              </a:rPr>
              <a:t>role </a:t>
            </a:r>
            <a:r>
              <a:rPr dirty="0" sz="1100" spc="-5">
                <a:latin typeface="Arial"/>
                <a:cs typeface="Arial"/>
              </a:rPr>
              <a:t>played by women in agricultural production. In  Africa, where subsistence farming is predominant and shifting cultivation remains important,  nearly all tasks associated with subsistence food production are performed by women. Although  men who remain home generally perform </a:t>
            </a:r>
            <a:r>
              <a:rPr dirty="0" sz="1100">
                <a:latin typeface="Arial"/>
                <a:cs typeface="Arial"/>
              </a:rPr>
              <a:t>the </a:t>
            </a:r>
            <a:r>
              <a:rPr dirty="0" sz="1100" spc="-5">
                <a:latin typeface="Arial"/>
                <a:cs typeface="Arial"/>
              </a:rPr>
              <a:t>initial task of cutting trees and bushes on a  potentially cultivable plot of land, women are typically responsible for all subsequent operations,  including removing and burning felled trees, sowing or planting the plot, weeding, harvesting,  and preparing the crop for storage or immediate consumption. In her pioneering work on women  and development, Ester Boserup examined </a:t>
            </a:r>
            <a:r>
              <a:rPr dirty="0" sz="1100">
                <a:latin typeface="Arial"/>
                <a:cs typeface="Arial"/>
              </a:rPr>
              <a:t>many </a:t>
            </a:r>
            <a:r>
              <a:rPr dirty="0" sz="1100" spc="-5">
                <a:latin typeface="Arial"/>
                <a:cs typeface="Arial"/>
              </a:rPr>
              <a:t>studies on African women’s participation in  agriculture and found that in nearly all cases recorded, women did most of the agricultural work.  In some cases, they were found </a:t>
            </a:r>
            <a:r>
              <a:rPr dirty="0" sz="1100">
                <a:latin typeface="Arial"/>
                <a:cs typeface="Arial"/>
              </a:rPr>
              <a:t>to </a:t>
            </a:r>
            <a:r>
              <a:rPr dirty="0" sz="1100" spc="-5">
                <a:latin typeface="Arial"/>
                <a:cs typeface="Arial"/>
              </a:rPr>
              <a:t>do around 70% and in one case nearly 80% of the </a:t>
            </a:r>
            <a:r>
              <a:rPr dirty="0" sz="1100">
                <a:latin typeface="Arial"/>
                <a:cs typeface="Arial"/>
              </a:rPr>
              <a:t>total.  </a:t>
            </a:r>
            <a:r>
              <a:rPr dirty="0" sz="1100" spc="-5">
                <a:latin typeface="Arial"/>
                <a:cs typeface="Arial"/>
              </a:rPr>
              <a:t>Typically, these tasks are performed only with primitive tools and require many </a:t>
            </a:r>
            <a:r>
              <a:rPr dirty="0" sz="1100">
                <a:latin typeface="Arial"/>
                <a:cs typeface="Arial"/>
              </a:rPr>
              <a:t>days </a:t>
            </a:r>
            <a:r>
              <a:rPr dirty="0" sz="1100" spc="-5">
                <a:latin typeface="Arial"/>
                <a:cs typeface="Arial"/>
              </a:rPr>
              <a:t>of long,  hard labor simply to produce enough output to </a:t>
            </a:r>
            <a:r>
              <a:rPr dirty="0" sz="1100">
                <a:latin typeface="Arial"/>
                <a:cs typeface="Arial"/>
              </a:rPr>
              <a:t>meet </a:t>
            </a:r>
            <a:r>
              <a:rPr dirty="0" sz="1100" spc="-5">
                <a:latin typeface="Arial"/>
                <a:cs typeface="Arial"/>
              </a:rPr>
              <a:t>the family’s subsistence requirements,  while the men often attempt to generate cash income through work on nearby plantations or in  the cities. Recent research confirms women’s “time poverty”</a:t>
            </a:r>
            <a:r>
              <a:rPr dirty="0" sz="1100" spc="60">
                <a:latin typeface="Arial"/>
                <a:cs typeface="Arial"/>
              </a:rPr>
              <a:t> </a:t>
            </a:r>
            <a:r>
              <a:rPr dirty="0" sz="1100" spc="-5">
                <a:latin typeface="Arial"/>
                <a:cs typeface="Arial"/>
              </a:rPr>
              <a:t>predicament.</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Women do much of the labor for cash crop production, cultivate food for household  consumption, raise and market livestock, generate additional income through cottage industries,  collect firewood and water, and perform household chores, including the processing and  cooking of food. Due to the time-consuming nature of their diverse responsibilities—and no  doubt to their limited household bargaining power—women </a:t>
            </a:r>
            <a:r>
              <a:rPr dirty="0" sz="1100">
                <a:latin typeface="Arial"/>
                <a:cs typeface="Arial"/>
              </a:rPr>
              <a:t>tend </a:t>
            </a:r>
            <a:r>
              <a:rPr dirty="0" sz="1100" spc="-5">
                <a:latin typeface="Arial"/>
                <a:cs typeface="Arial"/>
              </a:rPr>
              <a:t>to work longer hours than their  male counterparts. Studies concerning the allocation of women’s time among different activities  have</a:t>
            </a:r>
            <a:r>
              <a:rPr dirty="0" sz="1100" spc="70">
                <a:latin typeface="Arial"/>
                <a:cs typeface="Arial"/>
              </a:rPr>
              <a:t> </a:t>
            </a:r>
            <a:r>
              <a:rPr dirty="0" sz="1100" spc="-5">
                <a:latin typeface="Arial"/>
                <a:cs typeface="Arial"/>
              </a:rPr>
              <a:t>greatly</a:t>
            </a:r>
            <a:r>
              <a:rPr dirty="0" sz="1100" spc="75">
                <a:latin typeface="Arial"/>
                <a:cs typeface="Arial"/>
              </a:rPr>
              <a:t> </a:t>
            </a:r>
            <a:r>
              <a:rPr dirty="0" sz="1100" spc="-5">
                <a:latin typeface="Arial"/>
                <a:cs typeface="Arial"/>
              </a:rPr>
              <a:t>increased</a:t>
            </a:r>
            <a:r>
              <a:rPr dirty="0" sz="1100" spc="60">
                <a:latin typeface="Arial"/>
                <a:cs typeface="Arial"/>
              </a:rPr>
              <a:t> </a:t>
            </a:r>
            <a:r>
              <a:rPr dirty="0" sz="1100" spc="-5">
                <a:latin typeface="Arial"/>
                <a:cs typeface="Arial"/>
              </a:rPr>
              <a:t>recognition</a:t>
            </a:r>
            <a:r>
              <a:rPr dirty="0" sz="1100" spc="75">
                <a:latin typeface="Arial"/>
                <a:cs typeface="Arial"/>
              </a:rPr>
              <a:t> </a:t>
            </a:r>
            <a:r>
              <a:rPr dirty="0" sz="1100" spc="-5">
                <a:latin typeface="Arial"/>
                <a:cs typeface="Arial"/>
              </a:rPr>
              <a:t>of</a:t>
            </a:r>
            <a:r>
              <a:rPr dirty="0" sz="1100" spc="70">
                <a:latin typeface="Arial"/>
                <a:cs typeface="Arial"/>
              </a:rPr>
              <a:t> </a:t>
            </a:r>
            <a:r>
              <a:rPr dirty="0" sz="1100" spc="-5">
                <a:latin typeface="Arial"/>
                <a:cs typeface="Arial"/>
              </a:rPr>
              <a:t>the</a:t>
            </a:r>
            <a:r>
              <a:rPr dirty="0" sz="1100" spc="75">
                <a:latin typeface="Arial"/>
                <a:cs typeface="Arial"/>
              </a:rPr>
              <a:t> </a:t>
            </a:r>
            <a:r>
              <a:rPr dirty="0" sz="1100" spc="-5">
                <a:latin typeface="Arial"/>
                <a:cs typeface="Arial"/>
              </a:rPr>
              <a:t>importance</a:t>
            </a:r>
            <a:r>
              <a:rPr dirty="0" sz="1100" spc="7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rural</a:t>
            </a:r>
            <a:r>
              <a:rPr dirty="0" sz="1100" spc="70">
                <a:latin typeface="Arial"/>
                <a:cs typeface="Arial"/>
              </a:rPr>
              <a:t> </a:t>
            </a:r>
            <a:r>
              <a:rPr dirty="0" sz="1100" spc="-5">
                <a:latin typeface="Arial"/>
                <a:cs typeface="Arial"/>
              </a:rPr>
              <a:t>women’s</a:t>
            </a:r>
            <a:r>
              <a:rPr dirty="0" sz="1100" spc="75">
                <a:latin typeface="Arial"/>
                <a:cs typeface="Arial"/>
              </a:rPr>
              <a:t> </a:t>
            </a:r>
            <a:r>
              <a:rPr dirty="0" sz="1100" spc="-5">
                <a:latin typeface="Arial"/>
                <a:cs typeface="Arial"/>
              </a:rPr>
              <a:t>economic</a:t>
            </a:r>
            <a:r>
              <a:rPr dirty="0" sz="1100" spc="70">
                <a:latin typeface="Arial"/>
                <a:cs typeface="Arial"/>
              </a:rPr>
              <a:t> </a:t>
            </a:r>
            <a:r>
              <a:rPr dirty="0" sz="1100" spc="-5">
                <a:latin typeface="Arial"/>
                <a:cs typeface="Arial"/>
              </a:rPr>
              <a:t>contribution.</a:t>
            </a:r>
            <a:r>
              <a:rPr dirty="0" sz="1100" spc="65">
                <a:latin typeface="Arial"/>
                <a:cs typeface="Arial"/>
              </a:rPr>
              <a:t> </a:t>
            </a:r>
            <a:r>
              <a:rPr dirty="0" sz="1100" spc="-5">
                <a:latin typeface="Arial"/>
                <a:cs typeface="Arial"/>
              </a:rPr>
              <a:t>It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186</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469138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has become clear that since women produce a large share of agricultural output, and supply a  large share of the labor—a share that has actually been increasing over time—successful  agricultural reform will require raising women’s productivity and ensuring that gender-specific  policies are at the core of rural development strategy. The necessity of starting with women’s  activity </a:t>
            </a:r>
            <a:r>
              <a:rPr dirty="0" sz="1100">
                <a:latin typeface="Arial"/>
                <a:cs typeface="Arial"/>
              </a:rPr>
              <a:t>when </a:t>
            </a:r>
            <a:r>
              <a:rPr dirty="0" sz="1100" spc="-5">
                <a:latin typeface="Arial"/>
                <a:cs typeface="Arial"/>
              </a:rPr>
              <a:t>agricultural policy is designed is captured by the maxim of feminist economists  that “you cannot just add women </a:t>
            </a:r>
            <a:r>
              <a:rPr dirty="0" sz="1100">
                <a:latin typeface="Arial"/>
                <a:cs typeface="Arial"/>
              </a:rPr>
              <a:t>and</a:t>
            </a:r>
            <a:r>
              <a:rPr dirty="0" sz="1100" spc="30">
                <a:latin typeface="Arial"/>
                <a:cs typeface="Arial"/>
              </a:rPr>
              <a:t> </a:t>
            </a:r>
            <a:r>
              <a:rPr dirty="0" sz="1100" spc="-5">
                <a:latin typeface="Arial"/>
                <a:cs typeface="Arial"/>
              </a:rPr>
              <a:t>stir.”</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diversity of women’s duties makes it difficult to determine their share of agricultural  production, much less place an economic value on their work. However, current estimates  underscore the importance of women’s agricultural labor. It is estimated that in addition to work  in the household, women provide 60% to 80% of agricultural labor in Africa and Asia and about  40% in Latin America. Much of this work, however, is statistically “invisible” in that women </a:t>
            </a:r>
            <a:r>
              <a:rPr dirty="0" sz="1100">
                <a:latin typeface="Arial"/>
                <a:cs typeface="Arial"/>
              </a:rPr>
              <a:t>often  </a:t>
            </a:r>
            <a:r>
              <a:rPr dirty="0" sz="1100" spc="-5">
                <a:latin typeface="Arial"/>
                <a:cs typeface="Arial"/>
              </a:rPr>
              <a:t>receive no payment for the work </a:t>
            </a:r>
            <a:r>
              <a:rPr dirty="0" sz="1100">
                <a:latin typeface="Arial"/>
                <a:cs typeface="Arial"/>
              </a:rPr>
              <a:t>they </a:t>
            </a:r>
            <a:r>
              <a:rPr dirty="0" sz="1100" spc="-5">
                <a:latin typeface="Arial"/>
                <a:cs typeface="Arial"/>
              </a:rPr>
              <a:t>perform. Women </a:t>
            </a:r>
            <a:r>
              <a:rPr dirty="0" sz="1100">
                <a:latin typeface="Arial"/>
                <a:cs typeface="Arial"/>
              </a:rPr>
              <a:t>make </a:t>
            </a:r>
            <a:r>
              <a:rPr dirty="0" sz="1100" spc="-5">
                <a:latin typeface="Arial"/>
                <a:cs typeface="Arial"/>
              </a:rPr>
              <a:t>an important contribution to the  agricultural economy through the labor they supply in the cultivation of cash crops. Though the  production and profits from commercial crops are generally controlled by men, women are  usually responsible for the strenuous jobs of weeding and transplanting. As population density  increases and land becomes more fragmented, the length of time </a:t>
            </a:r>
            <a:r>
              <a:rPr dirty="0" sz="1100">
                <a:latin typeface="Arial"/>
                <a:cs typeface="Arial"/>
              </a:rPr>
              <a:t>that </a:t>
            </a:r>
            <a:r>
              <a:rPr dirty="0" sz="1100" spc="-5">
                <a:latin typeface="Arial"/>
                <a:cs typeface="Arial"/>
              </a:rPr>
              <a:t>women must spend  walking to and from the fields increases, often in very hot climates that make strenuous work  exceedingly difficult. In addition to commercial crops, women frequently cultivate small  vegetable gardens that provide food for family consumption. Though the cash value of produce  from these gardens may be small, it often represents an important component of the total  resources available to</a:t>
            </a:r>
            <a:r>
              <a:rPr dirty="0" sz="1100" spc="5">
                <a:latin typeface="Arial"/>
                <a:cs typeface="Arial"/>
              </a:rPr>
              <a:t> </a:t>
            </a:r>
            <a:r>
              <a:rPr dirty="0" sz="1100" spc="-5">
                <a:latin typeface="Arial"/>
                <a:cs typeface="Arial"/>
              </a:rPr>
              <a:t>women.</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Women’s work in the low-income household involves a range of demanding tasks including  processing and pounding raw grains, tending livestock, cooking, and caring for children.  Collecting increasingly scarce firewood and water from distant sources may add several hours  to the workday. To raise additional income, it is common for women to engage in household  production of goods for sale in village markets. These items are specific to each region, but a  few examples are homemade beer, processed foods, handicrafts, and</a:t>
            </a:r>
            <a:r>
              <a:rPr dirty="0" sz="1100" spc="75">
                <a:latin typeface="Arial"/>
                <a:cs typeface="Arial"/>
              </a:rPr>
              <a:t> </a:t>
            </a:r>
            <a:r>
              <a:rPr dirty="0" sz="1100" spc="-5">
                <a:latin typeface="Arial"/>
                <a:cs typeface="Arial"/>
              </a:rPr>
              <a:t>textiles.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187</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147828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Perhaps the most important role of women is providing food security for the household. This is  accomplished through the supplementation of household earnings, diversification of household  income sources, and raising of livestock to augment household assets. The production of  vegetables for household consumption helps insulate households from swings in food prices  and reduces cash outlays for the purchase of household necessities. Women’s investments </a:t>
            </a:r>
            <a:r>
              <a:rPr dirty="0" sz="1100">
                <a:latin typeface="Arial"/>
                <a:cs typeface="Arial"/>
              </a:rPr>
              <a:t>in  </a:t>
            </a:r>
            <a:r>
              <a:rPr dirty="0" sz="1100" spc="-5">
                <a:latin typeface="Arial"/>
                <a:cs typeface="Arial"/>
              </a:rPr>
              <a:t>revenue-generating projects and livestock are crucial to stabilizing household income, especially  but not only in female-headed households, where resource constraints are the most</a:t>
            </a:r>
            <a:r>
              <a:rPr dirty="0" sz="1100" spc="165">
                <a:latin typeface="Arial"/>
                <a:cs typeface="Arial"/>
              </a:rPr>
              <a:t> </a:t>
            </a:r>
            <a:r>
              <a:rPr dirty="0" sz="1100" spc="-5">
                <a:latin typeface="Arial"/>
                <a:cs typeface="Arial"/>
              </a:rPr>
              <a:t>severe.</a:t>
            </a:r>
            <a:endParaRPr sz="1100">
              <a:latin typeface="Arial"/>
              <a:cs typeface="Arial"/>
            </a:endParaRPr>
          </a:p>
          <a:p>
            <a:pPr algn="just" marL="12700" marR="5080">
              <a:lnSpc>
                <a:spcPts val="1270"/>
              </a:lnSpc>
              <a:spcBef>
                <a:spcPts val="30"/>
              </a:spcBef>
            </a:pPr>
            <a:r>
              <a:rPr dirty="0" sz="1100" spc="-5">
                <a:latin typeface="Arial"/>
                <a:cs typeface="Arial"/>
              </a:rPr>
              <a:t>However, financial investments are inherently risky, and the poorer the household, the more  averse</a:t>
            </a:r>
            <a:r>
              <a:rPr dirty="0" sz="1100" spc="100">
                <a:latin typeface="Arial"/>
                <a:cs typeface="Arial"/>
              </a:rPr>
              <a:t> </a:t>
            </a:r>
            <a:r>
              <a:rPr dirty="0" sz="1100" spc="-5">
                <a:latin typeface="Arial"/>
                <a:cs typeface="Arial"/>
              </a:rPr>
              <a:t>its</a:t>
            </a:r>
            <a:r>
              <a:rPr dirty="0" sz="1100" spc="105">
                <a:latin typeface="Arial"/>
                <a:cs typeface="Arial"/>
              </a:rPr>
              <a:t> </a:t>
            </a:r>
            <a:r>
              <a:rPr dirty="0" sz="1100" spc="-5">
                <a:latin typeface="Arial"/>
                <a:cs typeface="Arial"/>
              </a:rPr>
              <a:t>members</a:t>
            </a:r>
            <a:r>
              <a:rPr dirty="0" sz="1100" spc="105">
                <a:latin typeface="Arial"/>
                <a:cs typeface="Arial"/>
              </a:rPr>
              <a:t> </a:t>
            </a:r>
            <a:r>
              <a:rPr dirty="0" sz="1100" spc="-5">
                <a:latin typeface="Arial"/>
                <a:cs typeface="Arial"/>
              </a:rPr>
              <a:t>are</a:t>
            </a:r>
            <a:r>
              <a:rPr dirty="0" sz="1100" spc="105">
                <a:latin typeface="Arial"/>
                <a:cs typeface="Arial"/>
              </a:rPr>
              <a:t> </a:t>
            </a:r>
            <a:r>
              <a:rPr dirty="0" sz="1100" spc="-5">
                <a:latin typeface="Arial"/>
                <a:cs typeface="Arial"/>
              </a:rPr>
              <a:t>to</a:t>
            </a:r>
            <a:r>
              <a:rPr dirty="0" sz="1100" spc="105">
                <a:latin typeface="Arial"/>
                <a:cs typeface="Arial"/>
              </a:rPr>
              <a:t> </a:t>
            </a:r>
            <a:r>
              <a:rPr dirty="0" sz="1100" spc="-5">
                <a:latin typeface="Arial"/>
                <a:cs typeface="Arial"/>
              </a:rPr>
              <a:t>taking</a:t>
            </a:r>
            <a:r>
              <a:rPr dirty="0" sz="1100" spc="105">
                <a:latin typeface="Arial"/>
                <a:cs typeface="Arial"/>
              </a:rPr>
              <a:t> </a:t>
            </a:r>
            <a:r>
              <a:rPr dirty="0" sz="1100" spc="-5">
                <a:latin typeface="Arial"/>
                <a:cs typeface="Arial"/>
              </a:rPr>
              <a:t>any</a:t>
            </a:r>
            <a:r>
              <a:rPr dirty="0" sz="1100" spc="100">
                <a:latin typeface="Arial"/>
                <a:cs typeface="Arial"/>
              </a:rPr>
              <a:t> </a:t>
            </a:r>
            <a:r>
              <a:rPr dirty="0" sz="1100" spc="-5">
                <a:latin typeface="Arial"/>
                <a:cs typeface="Arial"/>
              </a:rPr>
              <a:t>kind</a:t>
            </a:r>
            <a:r>
              <a:rPr dirty="0" sz="1100" spc="105">
                <a:latin typeface="Arial"/>
                <a:cs typeface="Arial"/>
              </a:rPr>
              <a:t> </a:t>
            </a:r>
            <a:r>
              <a:rPr dirty="0" sz="1100" spc="-5">
                <a:latin typeface="Arial"/>
                <a:cs typeface="Arial"/>
              </a:rPr>
              <a:t>of</a:t>
            </a:r>
            <a:r>
              <a:rPr dirty="0" sz="1100" spc="105">
                <a:latin typeface="Arial"/>
                <a:cs typeface="Arial"/>
              </a:rPr>
              <a:t> </a:t>
            </a:r>
            <a:r>
              <a:rPr dirty="0" sz="1100" spc="-5">
                <a:latin typeface="Arial"/>
                <a:cs typeface="Arial"/>
              </a:rPr>
              <a:t>risk.</a:t>
            </a:r>
            <a:r>
              <a:rPr dirty="0" sz="1100" spc="100">
                <a:latin typeface="Arial"/>
                <a:cs typeface="Arial"/>
              </a:rPr>
              <a:t> </a:t>
            </a:r>
            <a:r>
              <a:rPr dirty="0" sz="1100" spc="-5">
                <a:latin typeface="Arial"/>
                <a:cs typeface="Arial"/>
              </a:rPr>
              <a:t>When</a:t>
            </a:r>
            <a:r>
              <a:rPr dirty="0" sz="1100" spc="105">
                <a:latin typeface="Arial"/>
                <a:cs typeface="Arial"/>
              </a:rPr>
              <a:t> </a:t>
            </a:r>
            <a:r>
              <a:rPr dirty="0" sz="1100" spc="-5">
                <a:latin typeface="Arial"/>
                <a:cs typeface="Arial"/>
              </a:rPr>
              <a:t>credit</a:t>
            </a:r>
            <a:r>
              <a:rPr dirty="0" sz="1100" spc="105">
                <a:latin typeface="Arial"/>
                <a:cs typeface="Arial"/>
              </a:rPr>
              <a:t> </a:t>
            </a:r>
            <a:r>
              <a:rPr dirty="0" sz="1100" spc="-5">
                <a:latin typeface="Arial"/>
                <a:cs typeface="Arial"/>
              </a:rPr>
              <a:t>and</a:t>
            </a:r>
            <a:r>
              <a:rPr dirty="0" sz="1100" spc="100">
                <a:latin typeface="Arial"/>
                <a:cs typeface="Arial"/>
              </a:rPr>
              <a:t> </a:t>
            </a:r>
            <a:r>
              <a:rPr dirty="0" sz="1100" spc="-5">
                <a:latin typeface="Arial"/>
                <a:cs typeface="Arial"/>
              </a:rPr>
              <a:t>resources</a:t>
            </a:r>
            <a:r>
              <a:rPr dirty="0" sz="1100" spc="105">
                <a:latin typeface="Arial"/>
                <a:cs typeface="Arial"/>
              </a:rPr>
              <a:t> </a:t>
            </a:r>
            <a:r>
              <a:rPr dirty="0" sz="1100" spc="-5">
                <a:latin typeface="Arial"/>
                <a:cs typeface="Arial"/>
              </a:rPr>
              <a:t>are</a:t>
            </a:r>
            <a:r>
              <a:rPr dirty="0" sz="1100" spc="105">
                <a:latin typeface="Arial"/>
                <a:cs typeface="Arial"/>
              </a:rPr>
              <a:t> </a:t>
            </a:r>
            <a:r>
              <a:rPr dirty="0" sz="1100" spc="-5">
                <a:latin typeface="Arial"/>
                <a:cs typeface="Arial"/>
              </a:rPr>
              <a:t>unavailable,</a:t>
            </a:r>
            <a:endParaRPr sz="1100">
              <a:latin typeface="Arial"/>
              <a:cs typeface="Arial"/>
            </a:endParaRPr>
          </a:p>
        </p:txBody>
      </p:sp>
      <p:sp>
        <p:nvSpPr>
          <p:cNvPr id="7" name="object 7"/>
          <p:cNvSpPr txBox="1"/>
          <p:nvPr/>
        </p:nvSpPr>
        <p:spPr>
          <a:xfrm>
            <a:off x="901700" y="7160755"/>
            <a:ext cx="5970905" cy="196024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reducing the variability </a:t>
            </a:r>
            <a:r>
              <a:rPr dirty="0" sz="1100">
                <a:latin typeface="Arial"/>
                <a:cs typeface="Arial"/>
              </a:rPr>
              <a:t>of </a:t>
            </a:r>
            <a:r>
              <a:rPr dirty="0" sz="1100" spc="-5">
                <a:latin typeface="Arial"/>
                <a:cs typeface="Arial"/>
              </a:rPr>
              <a:t>household earnings generally entails choosing less efficient methods  of production and thus lower average income. This trade-off occurs most frequently in female  headed households, where resource constraints are greatest. Thus as a consequence of their  restricted range of choices, women tend to retain traditional modes of economic activity. The  upshot is that their productivity has stagnated while that of men has continued to</a:t>
            </a:r>
            <a:r>
              <a:rPr dirty="0" sz="1100" spc="170">
                <a:latin typeface="Arial"/>
                <a:cs typeface="Arial"/>
              </a:rPr>
              <a:t> </a:t>
            </a:r>
            <a:r>
              <a:rPr dirty="0" sz="1100" spc="-5">
                <a:latin typeface="Arial"/>
                <a:cs typeface="Arial"/>
              </a:rPr>
              <a:t>improve.</a:t>
            </a:r>
            <a:endParaRPr sz="1100">
              <a:latin typeface="Arial"/>
              <a:cs typeface="Arial"/>
            </a:endParaRPr>
          </a:p>
          <a:p>
            <a:pPr>
              <a:lnSpc>
                <a:spcPct val="100000"/>
              </a:lnSpc>
              <a:spcBef>
                <a:spcPts val="5"/>
              </a:spcBef>
            </a:pPr>
            <a:endParaRPr sz="1050">
              <a:latin typeface="Arial"/>
              <a:cs typeface="Arial"/>
            </a:endParaRPr>
          </a:p>
          <a:p>
            <a:pPr algn="just" marL="12700" marR="5080">
              <a:lnSpc>
                <a:spcPct val="95800"/>
              </a:lnSpc>
            </a:pPr>
            <a:r>
              <a:rPr dirty="0" sz="1100" spc="-5">
                <a:latin typeface="Arial"/>
                <a:cs typeface="Arial"/>
              </a:rPr>
              <a:t>Government extension programs that provide resources exclusively to men tend to exacerbate  existing disparities between men’s and women’s access to resources (see the case study at the  end of this chapter). If credit is provided solely or preferentially to men for the purpose of cash  cropping, commercial production will increase at the expense of </a:t>
            </a:r>
            <a:r>
              <a:rPr dirty="0" sz="1100">
                <a:latin typeface="Arial"/>
                <a:cs typeface="Arial"/>
              </a:rPr>
              <a:t>women’s </a:t>
            </a:r>
            <a:r>
              <a:rPr dirty="0" sz="1100" spc="-5">
                <a:latin typeface="Arial"/>
                <a:cs typeface="Arial"/>
              </a:rPr>
              <a:t>vegetable gardens.  Since homegrown vegetables must be replaced by purchased substitutes, significant increases  in</a:t>
            </a:r>
            <a:r>
              <a:rPr dirty="0" sz="1100" spc="135">
                <a:latin typeface="Arial"/>
                <a:cs typeface="Arial"/>
              </a:rPr>
              <a:t> </a:t>
            </a:r>
            <a:r>
              <a:rPr dirty="0" sz="1100" spc="-5">
                <a:latin typeface="Arial"/>
                <a:cs typeface="Arial"/>
              </a:rPr>
              <a:t>a</a:t>
            </a:r>
            <a:r>
              <a:rPr dirty="0" sz="1100" spc="140">
                <a:latin typeface="Arial"/>
                <a:cs typeface="Arial"/>
              </a:rPr>
              <a:t> </a:t>
            </a:r>
            <a:r>
              <a:rPr dirty="0" sz="1100" spc="-5">
                <a:latin typeface="Arial"/>
                <a:cs typeface="Arial"/>
              </a:rPr>
              <a:t>male</a:t>
            </a:r>
            <a:r>
              <a:rPr dirty="0" sz="1100" spc="140">
                <a:latin typeface="Arial"/>
                <a:cs typeface="Arial"/>
              </a:rPr>
              <a:t> </a:t>
            </a:r>
            <a:r>
              <a:rPr dirty="0" sz="1100" spc="-5">
                <a:latin typeface="Arial"/>
                <a:cs typeface="Arial"/>
              </a:rPr>
              <a:t>spouse’s</a:t>
            </a:r>
            <a:r>
              <a:rPr dirty="0" sz="1100" spc="135">
                <a:latin typeface="Arial"/>
                <a:cs typeface="Arial"/>
              </a:rPr>
              <a:t> </a:t>
            </a:r>
            <a:r>
              <a:rPr dirty="0" sz="1100" spc="-5">
                <a:latin typeface="Arial"/>
                <a:cs typeface="Arial"/>
              </a:rPr>
              <a:t>cash</a:t>
            </a:r>
            <a:r>
              <a:rPr dirty="0" sz="1100" spc="140">
                <a:latin typeface="Arial"/>
                <a:cs typeface="Arial"/>
              </a:rPr>
              <a:t> </a:t>
            </a:r>
            <a:r>
              <a:rPr dirty="0" sz="1100" spc="-5">
                <a:latin typeface="Arial"/>
                <a:cs typeface="Arial"/>
              </a:rPr>
              <a:t>contribution</a:t>
            </a:r>
            <a:r>
              <a:rPr dirty="0" sz="1100" spc="140">
                <a:latin typeface="Arial"/>
                <a:cs typeface="Arial"/>
              </a:rPr>
              <a:t> </a:t>
            </a:r>
            <a:r>
              <a:rPr dirty="0" sz="1100" spc="-5">
                <a:latin typeface="Arial"/>
                <a:cs typeface="Arial"/>
              </a:rPr>
              <a:t>are</a:t>
            </a:r>
            <a:r>
              <a:rPr dirty="0" sz="1100" spc="135">
                <a:latin typeface="Arial"/>
                <a:cs typeface="Arial"/>
              </a:rPr>
              <a:t> </a:t>
            </a:r>
            <a:r>
              <a:rPr dirty="0" sz="1100" spc="-5">
                <a:latin typeface="Arial"/>
                <a:cs typeface="Arial"/>
              </a:rPr>
              <a:t>necessary</a:t>
            </a:r>
            <a:r>
              <a:rPr dirty="0" sz="1100" spc="140">
                <a:latin typeface="Arial"/>
                <a:cs typeface="Arial"/>
              </a:rPr>
              <a:t> </a:t>
            </a:r>
            <a:r>
              <a:rPr dirty="0" sz="1100" spc="-5">
                <a:latin typeface="Arial"/>
                <a:cs typeface="Arial"/>
              </a:rPr>
              <a:t>to</a:t>
            </a:r>
            <a:r>
              <a:rPr dirty="0" sz="1100" spc="140">
                <a:latin typeface="Arial"/>
                <a:cs typeface="Arial"/>
              </a:rPr>
              <a:t> </a:t>
            </a:r>
            <a:r>
              <a:rPr dirty="0" sz="1100" spc="-5">
                <a:latin typeface="Arial"/>
                <a:cs typeface="Arial"/>
              </a:rPr>
              <a:t>offset</a:t>
            </a:r>
            <a:r>
              <a:rPr dirty="0" sz="1100" spc="135">
                <a:latin typeface="Arial"/>
                <a:cs typeface="Arial"/>
              </a:rPr>
              <a:t> </a:t>
            </a:r>
            <a:r>
              <a:rPr dirty="0" sz="1100" spc="-5">
                <a:latin typeface="Arial"/>
                <a:cs typeface="Arial"/>
              </a:rPr>
              <a:t>a</a:t>
            </a:r>
            <a:r>
              <a:rPr dirty="0" sz="1100" spc="140">
                <a:latin typeface="Arial"/>
                <a:cs typeface="Arial"/>
              </a:rPr>
              <a:t> </a:t>
            </a:r>
            <a:r>
              <a:rPr dirty="0" sz="1100" spc="-5">
                <a:latin typeface="Arial"/>
                <a:cs typeface="Arial"/>
              </a:rPr>
              <a:t>woman’s</a:t>
            </a:r>
            <a:r>
              <a:rPr dirty="0" sz="1100" spc="140">
                <a:latin typeface="Arial"/>
                <a:cs typeface="Arial"/>
              </a:rPr>
              <a:t> </a:t>
            </a:r>
            <a:r>
              <a:rPr dirty="0" sz="1100" spc="-5">
                <a:latin typeface="Arial"/>
                <a:cs typeface="Arial"/>
              </a:rPr>
              <a:t>losses.</a:t>
            </a:r>
            <a:r>
              <a:rPr dirty="0" sz="1100" spc="140">
                <a:latin typeface="Arial"/>
                <a:cs typeface="Arial"/>
              </a:rPr>
              <a:t> </a:t>
            </a:r>
            <a:r>
              <a:rPr dirty="0" sz="1100" spc="-5">
                <a:latin typeface="Arial"/>
                <a:cs typeface="Arial"/>
              </a:rPr>
              <a:t>If</a:t>
            </a:r>
            <a:r>
              <a:rPr dirty="0" sz="1100" spc="135">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market</a:t>
            </a:r>
            <a:endParaRPr sz="1100">
              <a:latin typeface="Arial"/>
              <a:cs typeface="Arial"/>
            </a:endParaRPr>
          </a:p>
        </p:txBody>
      </p:sp>
      <p:sp>
        <p:nvSpPr>
          <p:cNvPr id="8" name="object 8"/>
          <p:cNvSpPr/>
          <p:nvPr/>
        </p:nvSpPr>
        <p:spPr>
          <a:xfrm>
            <a:off x="914400" y="2497835"/>
            <a:ext cx="5937504" cy="4686299"/>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188</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price of vegetables increases markedly (there are now fewer producers) and the increase in the  husband’s contribution is not sufficient to compensate for the increased need for cash, the  welfare of the woman and her children will</a:t>
            </a:r>
            <a:r>
              <a:rPr dirty="0" sz="1100" spc="40">
                <a:latin typeface="Arial"/>
                <a:cs typeface="Arial"/>
              </a:rPr>
              <a:t> </a:t>
            </a:r>
            <a:r>
              <a:rPr dirty="0" sz="1100" spc="-5">
                <a:latin typeface="Arial"/>
                <a:cs typeface="Arial"/>
              </a:rPr>
              <a:t>decline.</a:t>
            </a:r>
            <a:endParaRPr sz="1100">
              <a:latin typeface="Arial"/>
              <a:cs typeface="Arial"/>
            </a:endParaRPr>
          </a:p>
          <a:p>
            <a:pPr>
              <a:lnSpc>
                <a:spcPct val="100000"/>
              </a:lnSpc>
              <a:spcBef>
                <a:spcPts val="10"/>
              </a:spcBef>
            </a:pPr>
            <a:endParaRPr sz="1050">
              <a:latin typeface="Arial"/>
              <a:cs typeface="Arial"/>
            </a:endParaRPr>
          </a:p>
          <a:p>
            <a:pPr algn="just" marL="12700" marR="5715">
              <a:lnSpc>
                <a:spcPct val="95900"/>
              </a:lnSpc>
            </a:pPr>
            <a:r>
              <a:rPr dirty="0" sz="1100" spc="-5">
                <a:latin typeface="Arial"/>
                <a:cs typeface="Arial"/>
              </a:rPr>
              <a:t>Although efforts to increase the income of women by providing direct access to credit and inputs  have experienced considerable success, programs that work indirectly with women have  frequently fallen short of their stated goals. Studies have found that projects are most likely to  elicit the engagement of women </a:t>
            </a:r>
            <a:r>
              <a:rPr dirty="0" sz="1100">
                <a:latin typeface="Arial"/>
                <a:cs typeface="Arial"/>
              </a:rPr>
              <a:t>when </a:t>
            </a:r>
            <a:r>
              <a:rPr dirty="0" sz="1100" spc="-5">
                <a:latin typeface="Arial"/>
                <a:cs typeface="Arial"/>
              </a:rPr>
              <a:t>resources are placed directly under their control. Clearly,  projects that depend on the unremunerated labor of women are likely to obtain only minimal  support. Adoption of new crops </a:t>
            </a:r>
            <a:r>
              <a:rPr dirty="0" sz="1100">
                <a:latin typeface="Arial"/>
                <a:cs typeface="Arial"/>
              </a:rPr>
              <a:t>and </a:t>
            </a:r>
            <a:r>
              <a:rPr dirty="0" sz="1100" spc="-5">
                <a:latin typeface="Arial"/>
                <a:cs typeface="Arial"/>
              </a:rPr>
              <a:t>technologies will be more effective where patterns of  production are consistent with the interests of female household members. Because the active  participation of women is critical to agricultural prosperity, policy design should ensure that  women benefit equally from development</a:t>
            </a:r>
            <a:r>
              <a:rPr dirty="0" sz="1100" spc="20">
                <a:latin typeface="Arial"/>
                <a:cs typeface="Arial"/>
              </a:rPr>
              <a:t> </a:t>
            </a:r>
            <a:r>
              <a:rPr dirty="0" sz="1100" spc="-5">
                <a:latin typeface="Arial"/>
                <a:cs typeface="Arial"/>
              </a:rPr>
              <a:t>efforts.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THE MICROECONOMICS OF FARMER BEHAVIOR AND AGRICULTURAL</a:t>
            </a:r>
            <a:r>
              <a:rPr dirty="0" sz="1100" spc="4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30"/>
              </a:spcBef>
            </a:pPr>
            <a:endParaRPr sz="1200">
              <a:latin typeface="Arial"/>
              <a:cs typeface="Arial"/>
            </a:endParaRPr>
          </a:p>
          <a:p>
            <a:pPr marL="12700" marR="6985">
              <a:lnSpc>
                <a:spcPts val="1270"/>
              </a:lnSpc>
            </a:pPr>
            <a:r>
              <a:rPr dirty="0" sz="1100" spc="-5" b="1">
                <a:latin typeface="Arial"/>
                <a:cs typeface="Arial"/>
              </a:rPr>
              <a:t>THE TRANSITION FROM PEASANT SUBSISTENCE TO SPECIALIZED COMMERCIAL  FARMING</a:t>
            </a:r>
            <a:endParaRPr sz="1100">
              <a:latin typeface="Arial"/>
              <a:cs typeface="Arial"/>
            </a:endParaRPr>
          </a:p>
          <a:p>
            <a:pPr>
              <a:lnSpc>
                <a:spcPct val="100000"/>
              </a:lnSpc>
              <a:spcBef>
                <a:spcPts val="15"/>
              </a:spcBef>
            </a:pPr>
            <a:endParaRPr sz="1150">
              <a:latin typeface="Arial"/>
              <a:cs typeface="Arial"/>
            </a:endParaRPr>
          </a:p>
          <a:p>
            <a:pPr marL="12700" marR="5080">
              <a:lnSpc>
                <a:spcPct val="95800"/>
              </a:lnSpc>
            </a:pPr>
            <a:r>
              <a:rPr dirty="0" sz="1100" spc="-5">
                <a:latin typeface="Arial"/>
                <a:cs typeface="Arial"/>
              </a:rPr>
              <a:t>For expository convenience, we can identify </a:t>
            </a:r>
            <a:r>
              <a:rPr dirty="0" sz="1100">
                <a:latin typeface="Arial"/>
                <a:cs typeface="Arial"/>
              </a:rPr>
              <a:t>three </a:t>
            </a:r>
            <a:r>
              <a:rPr dirty="0" sz="1100" spc="-5">
                <a:latin typeface="Arial"/>
                <a:cs typeface="Arial"/>
              </a:rPr>
              <a:t>broad stages in the evolution of agricultural  production. The first is the pure, low-productivity, mostly subsistence-level peasant farm, still  prevalent in Africa. The second stage is </a:t>
            </a:r>
            <a:r>
              <a:rPr dirty="0" sz="1100">
                <a:latin typeface="Arial"/>
                <a:cs typeface="Arial"/>
              </a:rPr>
              <a:t>what </a:t>
            </a:r>
            <a:r>
              <a:rPr dirty="0" sz="1100" spc="-5">
                <a:latin typeface="Arial"/>
                <a:cs typeface="Arial"/>
              </a:rPr>
              <a:t>might be called diversified or mixed </a:t>
            </a:r>
            <a:r>
              <a:rPr dirty="0" sz="1100">
                <a:latin typeface="Arial"/>
                <a:cs typeface="Arial"/>
              </a:rPr>
              <a:t>family  </a:t>
            </a:r>
            <a:r>
              <a:rPr dirty="0" sz="1100" spc="-5">
                <a:latin typeface="Arial"/>
                <a:cs typeface="Arial"/>
              </a:rPr>
              <a:t>agriculture, where a </a:t>
            </a:r>
            <a:r>
              <a:rPr dirty="0" sz="1100">
                <a:latin typeface="Arial"/>
                <a:cs typeface="Arial"/>
              </a:rPr>
              <a:t>small </a:t>
            </a:r>
            <a:r>
              <a:rPr dirty="0" sz="1100" spc="-5">
                <a:latin typeface="Arial"/>
                <a:cs typeface="Arial"/>
              </a:rPr>
              <a:t>part of </a:t>
            </a:r>
            <a:r>
              <a:rPr dirty="0" sz="1100">
                <a:latin typeface="Arial"/>
                <a:cs typeface="Arial"/>
              </a:rPr>
              <a:t>the </a:t>
            </a:r>
            <a:r>
              <a:rPr dirty="0" sz="1100" spc="-5">
                <a:latin typeface="Arial"/>
                <a:cs typeface="Arial"/>
              </a:rPr>
              <a:t>produce is grown for consumption and a significant part for  sale to the commercial sector, as in much of Asia. The third stage represents the modern farm,  exclusively engaged in high-productivity specialized agriculture geared to the </a:t>
            </a:r>
            <a:r>
              <a:rPr dirty="0" sz="1100">
                <a:latin typeface="Arial"/>
                <a:cs typeface="Arial"/>
              </a:rPr>
              <a:t>commercial  </a:t>
            </a:r>
            <a:r>
              <a:rPr dirty="0" sz="1100" spc="-5">
                <a:latin typeface="Arial"/>
                <a:cs typeface="Arial"/>
              </a:rPr>
              <a:t>market, as in developed countries and often found in the highly urbanized developing countries.  Agricultural modernization in mixed-market developing economies may be described in terms of  the gradual but sustained transition from subsistence to diversified and specialized production.  But such a transition involves much more than reorganizing the structure of the farm economy  or applying new agricultural</a:t>
            </a:r>
            <a:r>
              <a:rPr dirty="0" sz="1100" spc="15">
                <a:latin typeface="Arial"/>
                <a:cs typeface="Arial"/>
              </a:rPr>
              <a:t> </a:t>
            </a:r>
            <a:r>
              <a:rPr dirty="0" sz="1100" spc="-5">
                <a:latin typeface="Arial"/>
                <a:cs typeface="Arial"/>
              </a:rPr>
              <a:t>technologies.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Transforming traditional agriculture often requires, in addition to adapting the farm structure to  meet the demand for increased production, profound changes affecting the entire social,  political, and institutional structure of rural societies. Without such changes, agricultural  development will either continue to lag greatly behind or, more likely, simply widen the already  sizable gap between the few wealthy large landholders and the masses of impoverished tenant  farmers, smallholders, and landless laborers. We first consider the evolution of the agricultural  system of a developing nation over time from a predominantly subsistence-level and small-scale  peasant orientation to more diversified operations and eventually to the rise of fully commercial  enterprises, though still often</a:t>
            </a:r>
            <a:r>
              <a:rPr dirty="0" sz="1100" spc="5">
                <a:latin typeface="Arial"/>
                <a:cs typeface="Arial"/>
              </a:rPr>
              <a:t> </a:t>
            </a:r>
            <a:r>
              <a:rPr dirty="0" sz="1100" spc="-5">
                <a:latin typeface="Arial"/>
                <a:cs typeface="Arial"/>
              </a:rPr>
              <a:t>family-based.</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SUBSISTENCE FARMING: RISK AVERSION, UNCERTAINTY, AND</a:t>
            </a:r>
            <a:r>
              <a:rPr dirty="0" sz="1100" spc="35" b="1">
                <a:latin typeface="Arial"/>
                <a:cs typeface="Arial"/>
              </a:rPr>
              <a:t> </a:t>
            </a:r>
            <a:r>
              <a:rPr dirty="0" sz="1100" spc="-10" b="1">
                <a:latin typeface="Arial"/>
                <a:cs typeface="Arial"/>
              </a:rPr>
              <a:t>SURVIVAL</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800"/>
              </a:lnSpc>
              <a:spcBef>
                <a:spcPts val="5"/>
              </a:spcBef>
            </a:pPr>
            <a:r>
              <a:rPr dirty="0" sz="1100" spc="-5">
                <a:latin typeface="Arial"/>
                <a:cs typeface="Arial"/>
              </a:rPr>
              <a:t>On the classic peasant subsistence farm, </a:t>
            </a:r>
            <a:r>
              <a:rPr dirty="0" sz="1100">
                <a:latin typeface="Arial"/>
                <a:cs typeface="Arial"/>
              </a:rPr>
              <a:t>most </a:t>
            </a:r>
            <a:r>
              <a:rPr dirty="0" sz="1100" spc="-5">
                <a:latin typeface="Arial"/>
                <a:cs typeface="Arial"/>
              </a:rPr>
              <a:t>output is produced for family consumption  (although some </a:t>
            </a:r>
            <a:r>
              <a:rPr dirty="0" sz="1100">
                <a:latin typeface="Arial"/>
                <a:cs typeface="Arial"/>
              </a:rPr>
              <a:t>may be </a:t>
            </a:r>
            <a:r>
              <a:rPr dirty="0" sz="1100" spc="-5">
                <a:latin typeface="Arial"/>
                <a:cs typeface="Arial"/>
              </a:rPr>
              <a:t>sold or traded in local markets), and a few staple foods (usually  including cassava, wheat, barley, sorghum, rice, potatoes, or corn) are the chief sources of  nutrition. Output and productivity are low, and only the simplest traditional methods and tools  are used. Capital investment is minimal; land and labor are the principal factors of production.  The law of diminishing returns is in operation as more labor is applied to shrinking (or shifting)  parcels</a:t>
            </a:r>
            <a:r>
              <a:rPr dirty="0" sz="1100" spc="3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land.</a:t>
            </a:r>
            <a:r>
              <a:rPr dirty="0" sz="1100" spc="3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failure</a:t>
            </a:r>
            <a:r>
              <a:rPr dirty="0" sz="1100" spc="3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rains,</a:t>
            </a:r>
            <a:r>
              <a:rPr dirty="0" sz="1100" spc="3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appropriation</a:t>
            </a:r>
            <a:r>
              <a:rPr dirty="0" sz="1100" spc="3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his</a:t>
            </a:r>
            <a:r>
              <a:rPr dirty="0" sz="1100" spc="40">
                <a:latin typeface="Arial"/>
                <a:cs typeface="Arial"/>
              </a:rPr>
              <a:t> </a:t>
            </a:r>
            <a:r>
              <a:rPr dirty="0" sz="1100" spc="-5">
                <a:latin typeface="Arial"/>
                <a:cs typeface="Arial"/>
              </a:rPr>
              <a:t>land,</a:t>
            </a:r>
            <a:r>
              <a:rPr dirty="0" sz="1100" spc="35">
                <a:latin typeface="Arial"/>
                <a:cs typeface="Arial"/>
              </a:rPr>
              <a:t> </a:t>
            </a:r>
            <a:r>
              <a:rPr dirty="0" sz="1100" spc="-5">
                <a:latin typeface="Arial"/>
                <a:cs typeface="Arial"/>
              </a:rPr>
              <a:t>and</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appearance</a:t>
            </a:r>
            <a:r>
              <a:rPr dirty="0" sz="1100" spc="40">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189</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25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moneylender to collect outstanding debts are </a:t>
            </a:r>
            <a:r>
              <a:rPr dirty="0" sz="1100">
                <a:latin typeface="Arial"/>
                <a:cs typeface="Arial"/>
              </a:rPr>
              <a:t>the </a:t>
            </a:r>
            <a:r>
              <a:rPr dirty="0" sz="1100" spc="-5">
                <a:latin typeface="Arial"/>
                <a:cs typeface="Arial"/>
              </a:rPr>
              <a:t>banes of the peasant’s existence. Labor is  underemployed for most of the year, although workers may be fully occupied at seasonal peak  periods such as planting and harvest. The peasant usually cultivates only as much land as his  family can manage without the need for hired labor, although </a:t>
            </a:r>
            <a:r>
              <a:rPr dirty="0" sz="1100">
                <a:latin typeface="Arial"/>
                <a:cs typeface="Arial"/>
              </a:rPr>
              <a:t>many </a:t>
            </a:r>
            <a:r>
              <a:rPr dirty="0" sz="1100" spc="-5">
                <a:latin typeface="Arial"/>
                <a:cs typeface="Arial"/>
              </a:rPr>
              <a:t>peasant farmers  intermittently employ </a:t>
            </a:r>
            <a:r>
              <a:rPr dirty="0" sz="1100">
                <a:latin typeface="Arial"/>
                <a:cs typeface="Arial"/>
              </a:rPr>
              <a:t>one </a:t>
            </a:r>
            <a:r>
              <a:rPr dirty="0" sz="1100" spc="-5">
                <a:latin typeface="Arial"/>
                <a:cs typeface="Arial"/>
              </a:rPr>
              <a:t>or two landless laborers. Much of the cash income that is generated  comes from non-farm </a:t>
            </a:r>
            <a:r>
              <a:rPr dirty="0" sz="1100">
                <a:latin typeface="Arial"/>
                <a:cs typeface="Arial"/>
              </a:rPr>
              <a:t>wage</a:t>
            </a:r>
            <a:r>
              <a:rPr dirty="0" sz="1100" spc="10">
                <a:latin typeface="Arial"/>
                <a:cs typeface="Arial"/>
              </a:rPr>
              <a:t> </a:t>
            </a:r>
            <a:r>
              <a:rPr dirty="0" sz="1100" spc="-5">
                <a:latin typeface="Arial"/>
                <a:cs typeface="Arial"/>
              </a:rPr>
              <a:t>labor.</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In much of sub-Saharan Africa, agriculture is still largely in this subsistence stage, as it is in  pockets in Asia and even Latin America. The green revolution has bypassed much of Africa. But  in spite of the relative backwardness of production technologies and the misguided convictions  of some foreigners who attribute the peasants’ resistance to change as a sign of incompetence  or irrationality, the fact remains that given the nature of the peasants’ environment, </a:t>
            </a:r>
            <a:r>
              <a:rPr dirty="0" sz="1100">
                <a:latin typeface="Arial"/>
                <a:cs typeface="Arial"/>
              </a:rPr>
              <a:t>the  </a:t>
            </a:r>
            <a:r>
              <a:rPr dirty="0" sz="1100" spc="-5">
                <a:latin typeface="Arial"/>
                <a:cs typeface="Arial"/>
              </a:rPr>
              <a:t>uncertainties that surround them, </a:t>
            </a:r>
            <a:r>
              <a:rPr dirty="0" sz="1100">
                <a:latin typeface="Arial"/>
                <a:cs typeface="Arial"/>
              </a:rPr>
              <a:t>the </a:t>
            </a:r>
            <a:r>
              <a:rPr dirty="0" sz="1100" spc="-5">
                <a:latin typeface="Arial"/>
                <a:cs typeface="Arial"/>
              </a:rPr>
              <a:t>need to meet minimum survival levels of output, and the  rigid social institutions into which many peasants, but particularly women, are locked, most  farmers do behave in an economically rational manner when confronted with alternative  opportunities. Some insight into the economics of subsistence agriculture is provided by the  traditional two-factor neoclassical theory of production in which land (and perhaps capital) is  fixed, labor is the only variable input, and profit is maximized. Specifically, the theory provides  an economic rationale for the observed low productivity of traditional agriculture in the form of  the law of diminishing marginal</a:t>
            </a:r>
            <a:r>
              <a:rPr dirty="0" sz="1100" spc="20">
                <a:latin typeface="Arial"/>
                <a:cs typeface="Arial"/>
              </a:rPr>
              <a:t> </a:t>
            </a:r>
            <a:r>
              <a:rPr dirty="0" sz="1100" spc="-5">
                <a:latin typeface="Arial"/>
                <a:cs typeface="Arial"/>
              </a:rPr>
              <a:t>productivity.</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Unfortunately, this theory does not satisfactorily explain why small-scale farmers are often  resistant to technological innovation in farming techniques or to the introduction of new seeds or  different cash crops. According to the standard theory, a rational income or profit-maximizing  farm or firm will always choose a method of production that will increase output for a given cost  (in this case, the available labor time) or lower costs for a given output level. But the theory is  based on the crucial assumption that farmers possess “perfect knowledge” of all technological  input-output relationships as well as current information about prevailing factor and product  prices. This is the point at which the simple theory loses a good deal of its validity when applied  to the environment of subsistence agriculture. Furthermore, when access to information is highly  imperfect, the transaction costs of obtaining this information are usually very high. Given price  uncertainty, peasant farmers often face a wide range of possible prices rather than a single  input price. Along with limited access to credit and insurance, such an environment is not  conducive to the type of behavior posited by neoclassical theory and goes a long way toward  explaining the actual risk-averse behavior of peasant farmers, including their caution in the use  of purchased inputs such as</a:t>
            </a:r>
            <a:r>
              <a:rPr dirty="0" sz="1100" spc="20">
                <a:latin typeface="Arial"/>
                <a:cs typeface="Arial"/>
              </a:rPr>
              <a:t> </a:t>
            </a:r>
            <a:r>
              <a:rPr dirty="0" sz="1100" spc="-5">
                <a:latin typeface="Arial"/>
                <a:cs typeface="Arial"/>
              </a:rPr>
              <a:t>fertilizer.</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Subsistence agriculture is thus a highly risky and uncertain venture. It is made even more so by  the fact that human lives are at stake. In regions where farms are extremely small and  cultivation is dependent on the uncertainties of variable rainfall, average output will be low, and  in poor years, the peasant family will be exposed to the very real danger of starvation. In such  circumstances, the main motivating force in the peasant’s life may be </a:t>
            </a:r>
            <a:r>
              <a:rPr dirty="0" sz="1100">
                <a:latin typeface="Arial"/>
                <a:cs typeface="Arial"/>
              </a:rPr>
              <a:t>the </a:t>
            </a:r>
            <a:r>
              <a:rPr dirty="0" sz="1100" spc="-5">
                <a:latin typeface="Arial"/>
                <a:cs typeface="Arial"/>
              </a:rPr>
              <a:t>maximization not of  income but of the family’s chances of survival. Accordingly, when risk and uncertainty are high,  small farmers may be very reluctant to shift from a traditional technology and crop pattern that  over the </a:t>
            </a:r>
            <a:r>
              <a:rPr dirty="0" sz="1100">
                <a:latin typeface="Arial"/>
                <a:cs typeface="Arial"/>
              </a:rPr>
              <a:t>years </a:t>
            </a:r>
            <a:r>
              <a:rPr dirty="0" sz="1100" spc="-5">
                <a:latin typeface="Arial"/>
                <a:cs typeface="Arial"/>
              </a:rPr>
              <a:t>they </a:t>
            </a:r>
            <a:r>
              <a:rPr dirty="0" sz="1100">
                <a:latin typeface="Arial"/>
                <a:cs typeface="Arial"/>
              </a:rPr>
              <a:t>have </a:t>
            </a:r>
            <a:r>
              <a:rPr dirty="0" sz="1100" spc="-5">
                <a:latin typeface="Arial"/>
                <a:cs typeface="Arial"/>
              </a:rPr>
              <a:t>come to know and understand to a new one that promises higher  yields but may entail greater risks of crop failure. When sheer survival is at stake, it is </a:t>
            </a:r>
            <a:r>
              <a:rPr dirty="0" sz="1100">
                <a:latin typeface="Arial"/>
                <a:cs typeface="Arial"/>
              </a:rPr>
              <a:t>more  </a:t>
            </a:r>
            <a:r>
              <a:rPr dirty="0" sz="1100" spc="-5">
                <a:latin typeface="Arial"/>
                <a:cs typeface="Arial"/>
              </a:rPr>
              <a:t>important to avoid a bad year (total crop failure) than to maximize the output in better years.  Risk-avoiding peasant farmers are likely to prefer a technology of food production that combines  a low mean per-hectare yield with low variance (fluctuations around the average) to alternative  technologies and crops that </a:t>
            </a:r>
            <a:r>
              <a:rPr dirty="0" sz="1100">
                <a:latin typeface="Arial"/>
                <a:cs typeface="Arial"/>
              </a:rPr>
              <a:t>may </a:t>
            </a:r>
            <a:r>
              <a:rPr dirty="0" sz="1100" spc="-5">
                <a:latin typeface="Arial"/>
                <a:cs typeface="Arial"/>
              </a:rPr>
              <a:t>promise a higher mean yield but also present the risk of a  greater variance.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190</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749294"/>
            <a:ext cx="5969635" cy="292417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Figure 9.5 provides a simple illustration of how attitudes toward risk among small farmers </a:t>
            </a:r>
            <a:r>
              <a:rPr dirty="0" sz="1100">
                <a:latin typeface="Arial"/>
                <a:cs typeface="Arial"/>
              </a:rPr>
              <a:t>may  </a:t>
            </a:r>
            <a:r>
              <a:rPr dirty="0" sz="1100" spc="-5">
                <a:latin typeface="Arial"/>
                <a:cs typeface="Arial"/>
              </a:rPr>
              <a:t>militate against apparently economically justified innovations. In the figure, levels of output and  consumption are measured on the vertical axis and different points in time on the horizontal  axis, and two straight lines are drawn. The lower horizontal line measures the minimum  consumption requirements (MCR) necessary for the farm family’s physical survival. This may be  taken as the starvation minimum </a:t>
            </a:r>
            <a:r>
              <a:rPr dirty="0" sz="1100">
                <a:latin typeface="Arial"/>
                <a:cs typeface="Arial"/>
              </a:rPr>
              <a:t>fixed </a:t>
            </a:r>
            <a:r>
              <a:rPr dirty="0" sz="1100" spc="-5">
                <a:latin typeface="Arial"/>
                <a:cs typeface="Arial"/>
              </a:rPr>
              <a:t>by nature. Any output below this level would be  catastrophic for the peasant family. The upper, positively sloped straight line represents the  minimum level of food consumption that would be desirable given the prevailing cultural or  potential productivity factors affecting village consumption standards. It is assumed that this line  rises over</a:t>
            </a:r>
            <a:r>
              <a:rPr dirty="0" sz="1100">
                <a:latin typeface="Arial"/>
                <a:cs typeface="Arial"/>
              </a:rPr>
              <a:t> </a:t>
            </a:r>
            <a:r>
              <a:rPr dirty="0" sz="1100" spc="-5">
                <a:latin typeface="Arial"/>
                <a:cs typeface="Arial"/>
              </a:rPr>
              <a:t>time.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Looking at Figure 9.5, we see that at time </a:t>
            </a:r>
            <a:r>
              <a:rPr dirty="0" sz="1100" spc="-10">
                <a:latin typeface="Arial"/>
                <a:cs typeface="Arial"/>
              </a:rPr>
              <a:t>X, </a:t>
            </a:r>
            <a:r>
              <a:rPr dirty="0" sz="1100" spc="-5">
                <a:latin typeface="Arial"/>
                <a:cs typeface="Arial"/>
              </a:rPr>
              <a:t>farmer A’s output levels have been very close to  the MCR. She is barely getting by and cannot take a chance of any crop failure. She will have a  greater incentive to minimize risk than farmer B, whose output performance has been well  above the minimum subsistence level and is </a:t>
            </a:r>
            <a:r>
              <a:rPr dirty="0" sz="1100">
                <a:latin typeface="Arial"/>
                <a:cs typeface="Arial"/>
              </a:rPr>
              <a:t>close </a:t>
            </a:r>
            <a:r>
              <a:rPr dirty="0" sz="1100" spc="-5">
                <a:latin typeface="Arial"/>
                <a:cs typeface="Arial"/>
              </a:rPr>
              <a:t>to the minimum desired consumption level  (MDCL). Farmer B will therefore be more likely than farmer A to innovate and change. The  result may be that farmer A remains in a self-perpetuating poverty trap. Moreover, inequality is  growing.</a:t>
            </a:r>
            <a:endParaRPr sz="1100">
              <a:latin typeface="Arial"/>
              <a:cs typeface="Arial"/>
            </a:endParaRPr>
          </a:p>
        </p:txBody>
      </p:sp>
      <p:sp>
        <p:nvSpPr>
          <p:cNvPr id="7" name="object 7"/>
          <p:cNvSpPr/>
          <p:nvPr/>
        </p:nvSpPr>
        <p:spPr>
          <a:xfrm>
            <a:off x="933450" y="895350"/>
            <a:ext cx="5943600" cy="2863324"/>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191</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38199" y="891794"/>
            <a:ext cx="6097905" cy="7818120"/>
          </a:xfrm>
          <a:prstGeom prst="rect">
            <a:avLst/>
          </a:prstGeom>
        </p:spPr>
        <p:txBody>
          <a:bodyPr wrap="square" lIns="0" tIns="12065" rIns="0" bIns="0" rtlCol="0" vert="horz">
            <a:spAutoFit/>
          </a:bodyPr>
          <a:lstStyle/>
          <a:p>
            <a:pPr algn="r" marR="692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28</a:t>
            </a:r>
            <a:endParaRPr sz="1100">
              <a:latin typeface="Arial"/>
              <a:cs typeface="Arial"/>
            </a:endParaRPr>
          </a:p>
          <a:p>
            <a:pPr marL="76200" marR="299720" indent="228600">
              <a:lnSpc>
                <a:spcPct val="200500"/>
              </a:lnSpc>
              <a:spcBef>
                <a:spcPts val="5"/>
              </a:spcBef>
            </a:pPr>
            <a:r>
              <a:rPr dirty="0" sz="1100" spc="-5" b="1">
                <a:latin typeface="Arial"/>
                <a:cs typeface="Arial"/>
              </a:rPr>
              <a:t>AGRICULTURAL TRANSFORMATION AND RURAL DEVELOPMENT </a:t>
            </a:r>
            <a:r>
              <a:rPr dirty="0" sz="1100" spc="-10" b="1">
                <a:latin typeface="Arial"/>
                <a:cs typeface="Arial"/>
              </a:rPr>
              <a:t>(CONTINUED3)  </a:t>
            </a:r>
            <a:r>
              <a:rPr dirty="0" sz="1100" spc="-5" b="1">
                <a:latin typeface="Arial"/>
                <a:cs typeface="Arial"/>
              </a:rPr>
              <a:t>THE ECONOMICS OF SHARECROPPING AND INTERLOCKING FACTOR</a:t>
            </a:r>
            <a:r>
              <a:rPr dirty="0" sz="1100" spc="40" b="1">
                <a:latin typeface="Arial"/>
                <a:cs typeface="Arial"/>
              </a:rPr>
              <a:t> </a:t>
            </a:r>
            <a:r>
              <a:rPr dirty="0" sz="1100" spc="-10" b="1">
                <a:latin typeface="Arial"/>
                <a:cs typeface="Arial"/>
              </a:rPr>
              <a:t>MARKETS</a:t>
            </a:r>
            <a:endParaRPr sz="1100">
              <a:latin typeface="Arial"/>
              <a:cs typeface="Arial"/>
            </a:endParaRPr>
          </a:p>
          <a:p>
            <a:pPr>
              <a:lnSpc>
                <a:spcPct val="100000"/>
              </a:lnSpc>
              <a:spcBef>
                <a:spcPts val="45"/>
              </a:spcBef>
            </a:pPr>
            <a:endParaRPr sz="1150">
              <a:latin typeface="Arial"/>
              <a:cs typeface="Arial"/>
            </a:endParaRPr>
          </a:p>
          <a:p>
            <a:pPr algn="just" marL="76200" marR="68580">
              <a:lnSpc>
                <a:spcPct val="95900"/>
              </a:lnSpc>
              <a:spcBef>
                <a:spcPts val="5"/>
              </a:spcBef>
            </a:pPr>
            <a:r>
              <a:rPr dirty="0" sz="1100" spc="-5">
                <a:latin typeface="Arial"/>
                <a:cs typeface="Arial"/>
              </a:rPr>
              <a:t>The phenomenon of risk aversion among peasant farmers in the presence of high land  inequality also helps explain the prevalence of sharecropping throughout much of Asia and  parts of Latin America. Although different types of relationships may arise between the owners  of land and the people who work on them (e.g., </a:t>
            </a:r>
            <a:r>
              <a:rPr dirty="0" sz="1100">
                <a:latin typeface="Arial"/>
                <a:cs typeface="Arial"/>
              </a:rPr>
              <a:t>the </a:t>
            </a:r>
            <a:r>
              <a:rPr dirty="0" sz="1100" spc="-5">
                <a:latin typeface="Arial"/>
                <a:cs typeface="Arial"/>
              </a:rPr>
              <a:t>farmers could rent or act as wage laborers),  sharecropping is widespread. Sharecropping occurs when a peasant farmer uses the  landowner’s farmland in exchange </a:t>
            </a:r>
            <a:r>
              <a:rPr dirty="0" sz="1100">
                <a:latin typeface="Arial"/>
                <a:cs typeface="Arial"/>
              </a:rPr>
              <a:t>for </a:t>
            </a:r>
            <a:r>
              <a:rPr dirty="0" sz="1100" spc="-5">
                <a:latin typeface="Arial"/>
                <a:cs typeface="Arial"/>
              </a:rPr>
              <a:t>a share </a:t>
            </a:r>
            <a:r>
              <a:rPr dirty="0" sz="1100">
                <a:latin typeface="Arial"/>
                <a:cs typeface="Arial"/>
              </a:rPr>
              <a:t>of </a:t>
            </a:r>
            <a:r>
              <a:rPr dirty="0" sz="1100" spc="-5">
                <a:latin typeface="Arial"/>
                <a:cs typeface="Arial"/>
              </a:rPr>
              <a:t>food output, such as half of the rice or wheat  grown. The landlord’s share may vary from less than a third to more than two-thirds of output,  depending on local labor availability and the other inputs (such as credit, seeds, and tools) that  the landlord provides.</a:t>
            </a:r>
            <a:endParaRPr sz="1100">
              <a:latin typeface="Arial"/>
              <a:cs typeface="Arial"/>
            </a:endParaRPr>
          </a:p>
          <a:p>
            <a:pPr>
              <a:lnSpc>
                <a:spcPct val="100000"/>
              </a:lnSpc>
            </a:pPr>
            <a:endParaRPr sz="1100">
              <a:latin typeface="Arial"/>
              <a:cs typeface="Arial"/>
            </a:endParaRPr>
          </a:p>
          <a:p>
            <a:pPr algn="just" marL="76200" marR="68580">
              <a:lnSpc>
                <a:spcPct val="95700"/>
              </a:lnSpc>
            </a:pPr>
            <a:r>
              <a:rPr dirty="0" sz="1100" spc="-5">
                <a:latin typeface="Arial"/>
                <a:cs typeface="Arial"/>
              </a:rPr>
              <a:t>The poor incentive structure of sharecropping lends itself to inefficiency. Alfred Marshall  observed that the farmer was in effect paid only part, rather than all, of his marginal product and  would</a:t>
            </a:r>
            <a:r>
              <a:rPr dirty="0" sz="1100" spc="175">
                <a:latin typeface="Arial"/>
                <a:cs typeface="Arial"/>
              </a:rPr>
              <a:t> </a:t>
            </a:r>
            <a:r>
              <a:rPr dirty="0" sz="1100" spc="-5">
                <a:latin typeface="Arial"/>
                <a:cs typeface="Arial"/>
              </a:rPr>
              <a:t>rationally</a:t>
            </a:r>
            <a:r>
              <a:rPr dirty="0" sz="1100" spc="180">
                <a:latin typeface="Arial"/>
                <a:cs typeface="Arial"/>
              </a:rPr>
              <a:t> </a:t>
            </a:r>
            <a:r>
              <a:rPr dirty="0" sz="1100" spc="-5">
                <a:latin typeface="Arial"/>
                <a:cs typeface="Arial"/>
              </a:rPr>
              <a:t>reduce</a:t>
            </a:r>
            <a:r>
              <a:rPr dirty="0" sz="1100" spc="170">
                <a:latin typeface="Arial"/>
                <a:cs typeface="Arial"/>
              </a:rPr>
              <a:t> </a:t>
            </a:r>
            <a:r>
              <a:rPr dirty="0" sz="1100" spc="-5">
                <a:latin typeface="Arial"/>
                <a:cs typeface="Arial"/>
              </a:rPr>
              <a:t>work</a:t>
            </a:r>
            <a:r>
              <a:rPr dirty="0" sz="1100" spc="180">
                <a:latin typeface="Arial"/>
                <a:cs typeface="Arial"/>
              </a:rPr>
              <a:t> </a:t>
            </a:r>
            <a:r>
              <a:rPr dirty="0" sz="1100" spc="-5">
                <a:latin typeface="Arial"/>
                <a:cs typeface="Arial"/>
              </a:rPr>
              <a:t>effort</a:t>
            </a:r>
            <a:r>
              <a:rPr dirty="0" sz="1100" spc="175">
                <a:latin typeface="Arial"/>
                <a:cs typeface="Arial"/>
              </a:rPr>
              <a:t> </a:t>
            </a:r>
            <a:r>
              <a:rPr dirty="0" sz="1100" spc="-5">
                <a:latin typeface="Arial"/>
                <a:cs typeface="Arial"/>
              </a:rPr>
              <a:t>accordingly.</a:t>
            </a:r>
            <a:r>
              <a:rPr dirty="0" sz="1100" spc="175">
                <a:latin typeface="Arial"/>
                <a:cs typeface="Arial"/>
              </a:rPr>
              <a:t> </a:t>
            </a:r>
            <a:r>
              <a:rPr dirty="0" sz="1100" spc="-5">
                <a:latin typeface="Arial"/>
                <a:cs typeface="Arial"/>
              </a:rPr>
              <a:t>This</a:t>
            </a:r>
            <a:r>
              <a:rPr dirty="0" sz="1100" spc="175">
                <a:latin typeface="Arial"/>
                <a:cs typeface="Arial"/>
              </a:rPr>
              <a:t> </a:t>
            </a:r>
            <a:r>
              <a:rPr dirty="0" sz="1100" spc="-5">
                <a:latin typeface="Arial"/>
                <a:cs typeface="Arial"/>
              </a:rPr>
              <a:t>effect</a:t>
            </a:r>
            <a:r>
              <a:rPr dirty="0" sz="1100" spc="175">
                <a:latin typeface="Arial"/>
                <a:cs typeface="Arial"/>
              </a:rPr>
              <a:t> </a:t>
            </a:r>
            <a:r>
              <a:rPr dirty="0" sz="1100" spc="-5">
                <a:latin typeface="Arial"/>
                <a:cs typeface="Arial"/>
              </a:rPr>
              <a:t>can</a:t>
            </a:r>
            <a:r>
              <a:rPr dirty="0" sz="1100" spc="175">
                <a:latin typeface="Arial"/>
                <a:cs typeface="Arial"/>
              </a:rPr>
              <a:t> </a:t>
            </a:r>
            <a:r>
              <a:rPr dirty="0" sz="1100" spc="-5">
                <a:latin typeface="Arial"/>
                <a:cs typeface="Arial"/>
              </a:rPr>
              <a:t>be</a:t>
            </a:r>
            <a:r>
              <a:rPr dirty="0" sz="1100" spc="180">
                <a:latin typeface="Arial"/>
                <a:cs typeface="Arial"/>
              </a:rPr>
              <a:t> </a:t>
            </a:r>
            <a:r>
              <a:rPr dirty="0" sz="1100" spc="-5">
                <a:latin typeface="Arial"/>
                <a:cs typeface="Arial"/>
              </a:rPr>
              <a:t>seen</a:t>
            </a:r>
            <a:r>
              <a:rPr dirty="0" sz="1100" spc="175">
                <a:latin typeface="Arial"/>
                <a:cs typeface="Arial"/>
              </a:rPr>
              <a:t> </a:t>
            </a:r>
            <a:r>
              <a:rPr dirty="0" sz="1100" spc="-5">
                <a:latin typeface="Arial"/>
                <a:cs typeface="Arial"/>
              </a:rPr>
              <a:t>graphically</a:t>
            </a:r>
            <a:r>
              <a:rPr dirty="0" sz="1100" spc="180">
                <a:latin typeface="Arial"/>
                <a:cs typeface="Arial"/>
              </a:rPr>
              <a:t> </a:t>
            </a:r>
            <a:r>
              <a:rPr dirty="0" sz="1100" spc="-5">
                <a:latin typeface="Arial"/>
                <a:cs typeface="Arial"/>
              </a:rPr>
              <a:t>in</a:t>
            </a:r>
            <a:r>
              <a:rPr dirty="0" sz="1100" spc="175">
                <a:latin typeface="Arial"/>
                <a:cs typeface="Arial"/>
              </a:rPr>
              <a:t> </a:t>
            </a:r>
            <a:r>
              <a:rPr dirty="0" sz="1100" spc="-5">
                <a:latin typeface="Arial"/>
                <a:cs typeface="Arial"/>
              </a:rPr>
              <a:t>Figure</a:t>
            </a:r>
            <a:endParaRPr sz="1100">
              <a:latin typeface="Arial"/>
              <a:cs typeface="Arial"/>
            </a:endParaRPr>
          </a:p>
          <a:p>
            <a:pPr algn="just" marL="76200" marR="70485">
              <a:lnSpc>
                <a:spcPct val="95800"/>
              </a:lnSpc>
              <a:spcBef>
                <a:spcPts val="5"/>
              </a:spcBef>
            </a:pPr>
            <a:r>
              <a:rPr dirty="0" sz="1100" spc="-5">
                <a:latin typeface="Arial"/>
                <a:cs typeface="Arial"/>
              </a:rPr>
              <a:t>9.7. Labor input is found along the x-axis, which may be interpreted as number of </a:t>
            </a:r>
            <a:r>
              <a:rPr dirty="0" sz="1100">
                <a:latin typeface="Arial"/>
                <a:cs typeface="Arial"/>
              </a:rPr>
              <a:t>hours </a:t>
            </a:r>
            <a:r>
              <a:rPr dirty="0" sz="1100" spc="-5">
                <a:latin typeface="Arial"/>
                <a:cs typeface="Arial"/>
              </a:rPr>
              <a:t>of work,  or of total effort; output per unit of labor is found along the y-axis. A farmer who owned his own  farm would work until his value marginal product of labor </a:t>
            </a:r>
            <a:r>
              <a:rPr dirty="0" sz="1100" spc="-5" b="1">
                <a:latin typeface="Arial"/>
                <a:cs typeface="Arial"/>
              </a:rPr>
              <a:t>(VMP</a:t>
            </a:r>
            <a:r>
              <a:rPr dirty="0" baseline="-11904" sz="1050" spc="-7" b="1">
                <a:latin typeface="Arial"/>
                <a:cs typeface="Arial"/>
              </a:rPr>
              <a:t>L</a:t>
            </a:r>
            <a:r>
              <a:rPr dirty="0" sz="1100" spc="-5" b="1">
                <a:latin typeface="Arial"/>
                <a:cs typeface="Arial"/>
              </a:rPr>
              <a:t>) </a:t>
            </a:r>
            <a:r>
              <a:rPr dirty="0" sz="1100" spc="-5">
                <a:latin typeface="Arial"/>
                <a:cs typeface="Arial"/>
              </a:rPr>
              <a:t>was </a:t>
            </a:r>
            <a:r>
              <a:rPr dirty="0" sz="1100">
                <a:latin typeface="Arial"/>
                <a:cs typeface="Arial"/>
              </a:rPr>
              <a:t>equal </a:t>
            </a:r>
            <a:r>
              <a:rPr dirty="0" sz="1100" spc="-5">
                <a:latin typeface="Arial"/>
                <a:cs typeface="Arial"/>
              </a:rPr>
              <a:t>to his alternative  wage,</a:t>
            </a:r>
            <a:r>
              <a:rPr dirty="0" sz="1100" spc="25">
                <a:latin typeface="Arial"/>
                <a:cs typeface="Arial"/>
              </a:rPr>
              <a:t> </a:t>
            </a:r>
            <a:r>
              <a:rPr dirty="0" sz="1100" spc="-5">
                <a:latin typeface="Arial"/>
                <a:cs typeface="Arial"/>
              </a:rPr>
              <a:t>or</a:t>
            </a:r>
            <a:r>
              <a:rPr dirty="0" sz="1100" spc="25">
                <a:latin typeface="Arial"/>
                <a:cs typeface="Arial"/>
              </a:rPr>
              <a:t> </a:t>
            </a:r>
            <a:r>
              <a:rPr dirty="0" sz="1100" spc="-5">
                <a:latin typeface="Arial"/>
                <a:cs typeface="Arial"/>
              </a:rPr>
              <a:t>opportunity</a:t>
            </a:r>
            <a:r>
              <a:rPr dirty="0" sz="1100" spc="25">
                <a:latin typeface="Arial"/>
                <a:cs typeface="Arial"/>
              </a:rPr>
              <a:t> </a:t>
            </a:r>
            <a:r>
              <a:rPr dirty="0" sz="1100" spc="-5">
                <a:latin typeface="Arial"/>
                <a:cs typeface="Arial"/>
              </a:rPr>
              <a:t>cost</a:t>
            </a:r>
            <a:r>
              <a:rPr dirty="0" sz="1100" spc="30">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labor,</a:t>
            </a:r>
            <a:r>
              <a:rPr dirty="0" sz="1100" spc="40">
                <a:latin typeface="Arial"/>
                <a:cs typeface="Arial"/>
              </a:rPr>
              <a:t> </a:t>
            </a:r>
            <a:r>
              <a:rPr dirty="0" sz="1100" spc="-5" b="1">
                <a:latin typeface="Arial"/>
                <a:cs typeface="Arial"/>
              </a:rPr>
              <a:t>w</a:t>
            </a:r>
            <a:r>
              <a:rPr dirty="0" baseline="39682" sz="1050" spc="-7" b="1">
                <a:latin typeface="Arial"/>
                <a:cs typeface="Arial"/>
              </a:rPr>
              <a:t>A</a:t>
            </a:r>
            <a:r>
              <a:rPr dirty="0" sz="1100" spc="-5">
                <a:latin typeface="Arial"/>
                <a:cs typeface="Arial"/>
              </a:rPr>
              <a:t>,</a:t>
            </a:r>
            <a:r>
              <a:rPr dirty="0" sz="1100" spc="30">
                <a:latin typeface="Arial"/>
                <a:cs typeface="Arial"/>
              </a:rPr>
              <a:t> </a:t>
            </a:r>
            <a:r>
              <a:rPr dirty="0" sz="1100" spc="-5">
                <a:latin typeface="Arial"/>
                <a:cs typeface="Arial"/>
              </a:rPr>
              <a:t>and</a:t>
            </a:r>
            <a:r>
              <a:rPr dirty="0" sz="1100" spc="25">
                <a:latin typeface="Arial"/>
                <a:cs typeface="Arial"/>
              </a:rPr>
              <a:t> </a:t>
            </a:r>
            <a:r>
              <a:rPr dirty="0" sz="1100" spc="-5">
                <a:latin typeface="Arial"/>
                <a:cs typeface="Arial"/>
              </a:rPr>
              <a:t>so</a:t>
            </a:r>
            <a:r>
              <a:rPr dirty="0" sz="1100" spc="40">
                <a:latin typeface="Arial"/>
                <a:cs typeface="Arial"/>
              </a:rPr>
              <a:t> </a:t>
            </a:r>
            <a:r>
              <a:rPr dirty="0" sz="1100" spc="-5">
                <a:latin typeface="Arial"/>
                <a:cs typeface="Arial"/>
              </a:rPr>
              <a:t>would</a:t>
            </a:r>
            <a:r>
              <a:rPr dirty="0" sz="1100" spc="25">
                <a:latin typeface="Arial"/>
                <a:cs typeface="Arial"/>
              </a:rPr>
              <a:t> </a:t>
            </a:r>
            <a:r>
              <a:rPr dirty="0" sz="1100" spc="-5">
                <a:latin typeface="Arial"/>
                <a:cs typeface="Arial"/>
              </a:rPr>
              <a:t>put</a:t>
            </a:r>
            <a:r>
              <a:rPr dirty="0" sz="1100" spc="25">
                <a:latin typeface="Arial"/>
                <a:cs typeface="Arial"/>
              </a:rPr>
              <a:t> </a:t>
            </a:r>
            <a:r>
              <a:rPr dirty="0" sz="1100" spc="-5">
                <a:latin typeface="Arial"/>
                <a:cs typeface="Arial"/>
              </a:rPr>
              <a:t>in</a:t>
            </a:r>
            <a:r>
              <a:rPr dirty="0" sz="1100" spc="30">
                <a:latin typeface="Arial"/>
                <a:cs typeface="Arial"/>
              </a:rPr>
              <a:t> </a:t>
            </a:r>
            <a:r>
              <a:rPr dirty="0" sz="1100" spc="-5">
                <a:latin typeface="Arial"/>
                <a:cs typeface="Arial"/>
              </a:rPr>
              <a:t>an</a:t>
            </a:r>
            <a:r>
              <a:rPr dirty="0" sz="1100" spc="25">
                <a:latin typeface="Arial"/>
                <a:cs typeface="Arial"/>
              </a:rPr>
              <a:t> </a:t>
            </a:r>
            <a:r>
              <a:rPr dirty="0" sz="1100" spc="-5">
                <a:latin typeface="Arial"/>
                <a:cs typeface="Arial"/>
              </a:rPr>
              <a:t>efficient</a:t>
            </a:r>
            <a:r>
              <a:rPr dirty="0" sz="1100" spc="25">
                <a:latin typeface="Arial"/>
                <a:cs typeface="Arial"/>
              </a:rPr>
              <a:t> </a:t>
            </a:r>
            <a:r>
              <a:rPr dirty="0" sz="1100" spc="-5">
                <a:latin typeface="Arial"/>
                <a:cs typeface="Arial"/>
              </a:rPr>
              <a:t>amount</a:t>
            </a:r>
            <a:r>
              <a:rPr dirty="0" sz="1100" spc="25">
                <a:latin typeface="Arial"/>
                <a:cs typeface="Arial"/>
              </a:rPr>
              <a:t> </a:t>
            </a:r>
            <a:r>
              <a:rPr dirty="0" sz="1100" spc="-5">
                <a:latin typeface="Arial"/>
                <a:cs typeface="Arial"/>
              </a:rPr>
              <a:t>of</a:t>
            </a:r>
            <a:r>
              <a:rPr dirty="0" sz="1100" spc="30">
                <a:latin typeface="Arial"/>
                <a:cs typeface="Arial"/>
              </a:rPr>
              <a:t> </a:t>
            </a:r>
            <a:r>
              <a:rPr dirty="0" sz="1100">
                <a:latin typeface="Arial"/>
                <a:cs typeface="Arial"/>
              </a:rPr>
              <a:t>labor</a:t>
            </a:r>
            <a:r>
              <a:rPr dirty="0" sz="1100" spc="25">
                <a:latin typeface="Arial"/>
                <a:cs typeface="Arial"/>
              </a:rPr>
              <a:t> </a:t>
            </a:r>
            <a:r>
              <a:rPr dirty="0" sz="1100" spc="-5">
                <a:latin typeface="Arial"/>
                <a:cs typeface="Arial"/>
              </a:rPr>
              <a:t>effort</a:t>
            </a:r>
            <a:r>
              <a:rPr dirty="0" sz="1100" spc="45">
                <a:latin typeface="Arial"/>
                <a:cs typeface="Arial"/>
              </a:rPr>
              <a:t> </a:t>
            </a:r>
            <a:r>
              <a:rPr dirty="0" sz="1100" spc="-5" b="1">
                <a:latin typeface="Arial"/>
                <a:cs typeface="Arial"/>
              </a:rPr>
              <a:t>L</a:t>
            </a:r>
            <a:r>
              <a:rPr dirty="0" baseline="39682" sz="1050" spc="-7" b="1">
                <a:latin typeface="Arial"/>
                <a:cs typeface="Arial"/>
              </a:rPr>
              <a:t>F</a:t>
            </a:r>
            <a:r>
              <a:rPr dirty="0" sz="1100" spc="-5">
                <a:latin typeface="Arial"/>
                <a:cs typeface="Arial"/>
              </a:rPr>
              <a:t>.</a:t>
            </a:r>
            <a:endParaRPr sz="1100">
              <a:latin typeface="Arial"/>
              <a:cs typeface="Arial"/>
            </a:endParaRPr>
          </a:p>
          <a:p>
            <a:pPr algn="just" marL="76200" marR="69850">
              <a:lnSpc>
                <a:spcPct val="100000"/>
              </a:lnSpc>
              <a:spcBef>
                <a:spcPts val="30"/>
              </a:spcBef>
            </a:pPr>
            <a:r>
              <a:rPr dirty="0" sz="1100" spc="-5">
                <a:latin typeface="Arial"/>
                <a:cs typeface="Arial"/>
              </a:rPr>
              <a:t>However, a sharecropper receives only a fraction, </a:t>
            </a:r>
            <a:r>
              <a:rPr dirty="0" sz="1100" spc="-5" b="1">
                <a:latin typeface="Symbol"/>
                <a:cs typeface="Symbol"/>
              </a:rPr>
              <a:t></a:t>
            </a:r>
            <a:r>
              <a:rPr dirty="0" sz="1100" spc="-5">
                <a:latin typeface="Arial"/>
                <a:cs typeface="Arial"/>
              </a:rPr>
              <a:t>, of his effort; for example, </a:t>
            </a:r>
            <a:r>
              <a:rPr dirty="0" sz="1100">
                <a:latin typeface="Arial"/>
                <a:cs typeface="Arial"/>
              </a:rPr>
              <a:t>under </a:t>
            </a:r>
            <a:r>
              <a:rPr dirty="0" sz="1100" spc="-5">
                <a:latin typeface="Arial"/>
                <a:cs typeface="Arial"/>
              </a:rPr>
              <a:t>50–50  sharecropping, the sharecropper’s share would be </a:t>
            </a:r>
            <a:r>
              <a:rPr dirty="0" sz="1100" spc="-5" b="1">
                <a:latin typeface="Symbol"/>
                <a:cs typeface="Symbol"/>
              </a:rPr>
              <a:t></a:t>
            </a:r>
            <a:r>
              <a:rPr dirty="0" sz="1100" spc="-5" b="1">
                <a:latin typeface="Times New Roman"/>
                <a:cs typeface="Times New Roman"/>
              </a:rPr>
              <a:t> </a:t>
            </a:r>
            <a:r>
              <a:rPr dirty="0" sz="1100" spc="-5" b="1">
                <a:latin typeface="Arial"/>
                <a:cs typeface="Arial"/>
              </a:rPr>
              <a:t>= 0.5</a:t>
            </a:r>
            <a:r>
              <a:rPr dirty="0" sz="1100" spc="-5">
                <a:latin typeface="Arial"/>
                <a:cs typeface="Arial"/>
              </a:rPr>
              <a:t>. Thus the sharecropper would  receive only </a:t>
            </a:r>
            <a:r>
              <a:rPr dirty="0" sz="1100" spc="-5" b="1">
                <a:latin typeface="Symbol"/>
                <a:cs typeface="Symbol"/>
              </a:rPr>
              <a:t></a:t>
            </a:r>
            <a:r>
              <a:rPr dirty="0" sz="1100" spc="-5" b="1">
                <a:latin typeface="Times New Roman"/>
                <a:cs typeface="Times New Roman"/>
              </a:rPr>
              <a:t> </a:t>
            </a:r>
            <a:r>
              <a:rPr dirty="0" sz="1100" spc="-5">
                <a:latin typeface="Arial"/>
                <a:cs typeface="Arial"/>
              </a:rPr>
              <a:t>of his value marginal product, or </a:t>
            </a:r>
            <a:r>
              <a:rPr dirty="0" sz="1100" spc="-5" b="1">
                <a:latin typeface="Symbol"/>
                <a:cs typeface="Symbol"/>
              </a:rPr>
              <a:t></a:t>
            </a:r>
            <a:r>
              <a:rPr dirty="0" sz="1100" spc="-5" b="1">
                <a:latin typeface="Arial"/>
                <a:cs typeface="Arial"/>
              </a:rPr>
              <a:t>VMP</a:t>
            </a:r>
            <a:r>
              <a:rPr dirty="0" baseline="-11904" sz="1050" spc="-7" b="1">
                <a:latin typeface="Arial"/>
                <a:cs typeface="Arial"/>
              </a:rPr>
              <a:t>L</a:t>
            </a:r>
            <a:r>
              <a:rPr dirty="0" sz="1100" spc="-5">
                <a:latin typeface="Arial"/>
                <a:cs typeface="Arial"/>
              </a:rPr>
              <a:t>. As a result, the sharecropper would have  an incentive to put in an inefficiently low level of effort </a:t>
            </a:r>
            <a:r>
              <a:rPr dirty="0" sz="1100" spc="-5" b="1">
                <a:latin typeface="Arial"/>
                <a:cs typeface="Arial"/>
              </a:rPr>
              <a:t>L</a:t>
            </a:r>
            <a:r>
              <a:rPr dirty="0" baseline="39682" sz="1050" spc="-7" b="1">
                <a:latin typeface="Arial"/>
                <a:cs typeface="Arial"/>
              </a:rPr>
              <a:t>S</a:t>
            </a:r>
            <a:r>
              <a:rPr dirty="0" sz="1100" spc="-5">
                <a:latin typeface="Arial"/>
                <a:cs typeface="Arial"/>
              </a:rPr>
              <a:t>, as seen in Figure</a:t>
            </a:r>
            <a:r>
              <a:rPr dirty="0" sz="1100" spc="135">
                <a:latin typeface="Arial"/>
                <a:cs typeface="Arial"/>
              </a:rPr>
              <a:t> </a:t>
            </a:r>
            <a:r>
              <a:rPr dirty="0" sz="1100" spc="-5">
                <a:latin typeface="Arial"/>
                <a:cs typeface="Arial"/>
              </a:rPr>
              <a:t>9.7.</a:t>
            </a:r>
            <a:endParaRPr sz="1100">
              <a:latin typeface="Arial"/>
              <a:cs typeface="Arial"/>
            </a:endParaRPr>
          </a:p>
          <a:p>
            <a:pPr>
              <a:lnSpc>
                <a:spcPct val="100000"/>
              </a:lnSpc>
            </a:pPr>
            <a:endParaRPr sz="1100">
              <a:latin typeface="Arial"/>
              <a:cs typeface="Arial"/>
            </a:endParaRPr>
          </a:p>
          <a:p>
            <a:pPr algn="just" marL="75565" marR="69215">
              <a:lnSpc>
                <a:spcPct val="95800"/>
              </a:lnSpc>
            </a:pPr>
            <a:r>
              <a:rPr dirty="0" sz="1100" spc="-5">
                <a:latin typeface="Arial"/>
                <a:cs typeface="Arial"/>
              </a:rPr>
              <a:t>This view was challenged in the 1960s by Steven Cheung, who argued that profit-maximizing  landlords would establish contracts requiring adequate work effort from the tenant as well as  stipulating each party’s share of the output. If, as Cheung argued, effort is not too difficult to  monitor, then if one tenant failed to live up to his part of the bargain, he would be replaced by  another tenant who </a:t>
            </a:r>
            <a:r>
              <a:rPr dirty="0" sz="1100">
                <a:latin typeface="Arial"/>
                <a:cs typeface="Arial"/>
              </a:rPr>
              <a:t>was </a:t>
            </a:r>
            <a:r>
              <a:rPr dirty="0" sz="1100" spc="-5">
                <a:latin typeface="Arial"/>
                <a:cs typeface="Arial"/>
              </a:rPr>
              <a:t>willing to work harder; as a result, sharecropping would be as efficient  as any other contractual form. Cheung’s theory is known as the monitoring approach, in contrast  to the Marshallian approach to the analysis of sharecropping illustrated in Figure 9.7; Cheung  argued that labor effort LF would also obtain under</a:t>
            </a:r>
            <a:r>
              <a:rPr dirty="0" sz="1100" spc="55">
                <a:latin typeface="Arial"/>
                <a:cs typeface="Arial"/>
              </a:rPr>
              <a:t> </a:t>
            </a:r>
            <a:r>
              <a:rPr dirty="0" sz="1100" spc="-5">
                <a:latin typeface="Arial"/>
                <a:cs typeface="Arial"/>
              </a:rPr>
              <a:t>sharecropping.</a:t>
            </a:r>
            <a:endParaRPr sz="1100">
              <a:latin typeface="Arial"/>
              <a:cs typeface="Arial"/>
            </a:endParaRPr>
          </a:p>
          <a:p>
            <a:pPr>
              <a:lnSpc>
                <a:spcPct val="100000"/>
              </a:lnSpc>
            </a:pPr>
            <a:endParaRPr sz="1100">
              <a:latin typeface="Arial"/>
              <a:cs typeface="Arial"/>
            </a:endParaRPr>
          </a:p>
          <a:p>
            <a:pPr algn="just" marL="75565" marR="68580">
              <a:lnSpc>
                <a:spcPct val="95800"/>
              </a:lnSpc>
              <a:spcBef>
                <a:spcPts val="5"/>
              </a:spcBef>
            </a:pPr>
            <a:r>
              <a:rPr dirty="0" sz="1100" spc="-5">
                <a:latin typeface="Arial"/>
                <a:cs typeface="Arial"/>
              </a:rPr>
              <a:t>The monitoring approach was popular for two decades, and it was difficult to test because of  endogeneity. For example, only low-productivity people may choose to enter into sharecropping  contracts. In fact, some scholars believe that landlords may offer tenants an option of either  sharecropping or pure rental contracts precisely because higher-ability people more </a:t>
            </a:r>
            <a:r>
              <a:rPr dirty="0" sz="1100">
                <a:latin typeface="Arial"/>
                <a:cs typeface="Arial"/>
              </a:rPr>
              <a:t>often  </a:t>
            </a:r>
            <a:r>
              <a:rPr dirty="0" sz="1100" spc="-5">
                <a:latin typeface="Arial"/>
                <a:cs typeface="Arial"/>
              </a:rPr>
              <a:t>choose pure rental arrangements: High-ability farmers are able to get the full value of their high  marginal product, while this is not as attractive to lower-ability farmers. If landlords are not sure  which farmers have high ability, they </a:t>
            </a:r>
            <a:r>
              <a:rPr dirty="0" sz="1100">
                <a:latin typeface="Arial"/>
                <a:cs typeface="Arial"/>
              </a:rPr>
              <a:t>may </a:t>
            </a:r>
            <a:r>
              <a:rPr dirty="0" sz="1100" spc="-5">
                <a:latin typeface="Arial"/>
                <a:cs typeface="Arial"/>
              </a:rPr>
              <a:t>find out by observing which ones choose the pure  rental contract. The motivation may be to enable landlords to squeeze more profits out of the  renters, charging higher effective rents for pure rental contracts than for sharecropping  contracts—but not too high or even high-ability farmers would choose sharecropping. This  approach is known as the screening hypothesis of</a:t>
            </a:r>
            <a:r>
              <a:rPr dirty="0" sz="1100" spc="35">
                <a:latin typeface="Arial"/>
                <a:cs typeface="Arial"/>
              </a:rPr>
              <a:t> </a:t>
            </a:r>
            <a:r>
              <a:rPr dirty="0" sz="1100" spc="-5">
                <a:latin typeface="Arial"/>
                <a:cs typeface="Arial"/>
              </a:rPr>
              <a:t>sharecropping.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192</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7635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However, Radwan Ali Shaban identified farmers who farmed plots </a:t>
            </a:r>
            <a:r>
              <a:rPr dirty="0" sz="1100">
                <a:latin typeface="Arial"/>
                <a:cs typeface="Arial"/>
              </a:rPr>
              <a:t>that </a:t>
            </a:r>
            <a:r>
              <a:rPr dirty="0" sz="1100" spc="-5">
                <a:latin typeface="Arial"/>
                <a:cs typeface="Arial"/>
              </a:rPr>
              <a:t>they owned and </a:t>
            </a:r>
            <a:r>
              <a:rPr dirty="0" sz="1100">
                <a:latin typeface="Arial"/>
                <a:cs typeface="Arial"/>
              </a:rPr>
              <a:t>who  </a:t>
            </a:r>
            <a:r>
              <a:rPr dirty="0" sz="1100" spc="-5">
                <a:latin typeface="Arial"/>
                <a:cs typeface="Arial"/>
              </a:rPr>
              <a:t>also leased out additional farmland under a sharecropping contract. By comparing the same  farmers’ behavior under different contractual arrangements, Ali Shaban controlled for factors  specific to individual farmers that cannot be easily observed. He found that farmers used fewer  inputs and produced less output on the sharecropped land than on their own land, all else being  equal. These results provide evidence that sharecropping is less efficient than farming one’s  own land, just as Marshall</a:t>
            </a:r>
            <a:r>
              <a:rPr dirty="0" sz="1100" spc="20">
                <a:latin typeface="Arial"/>
                <a:cs typeface="Arial"/>
              </a:rPr>
              <a:t> </a:t>
            </a:r>
            <a:r>
              <a:rPr dirty="0" sz="1100" spc="-5">
                <a:latin typeface="Arial"/>
                <a:cs typeface="Arial"/>
              </a:rPr>
              <a:t>predicted.</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 final approach suggests that sharecropping is relatively efficient after all, in that it makes the  best out of an inherently uncertain and risky situation for both parties. If the landlord pays the  tenant a straight wage, which would be efficient if the tenant always gave his full effort and it  didn’t cost the landlord anything to make sure of this, the tenant has every incentive to accept  the money and not work hard. If the tenant pays a straight rent for the land, he faces the  appalling risk that there will be a particularly lean year, such as a drought, and there will not be  enough food left after the rent is paid to prevent starvation. Thus sharecropping represents a  compromise between </a:t>
            </a:r>
            <a:r>
              <a:rPr dirty="0" sz="1100">
                <a:latin typeface="Arial"/>
                <a:cs typeface="Arial"/>
              </a:rPr>
              <a:t>the </a:t>
            </a:r>
            <a:r>
              <a:rPr dirty="0" sz="1100" spc="-5">
                <a:latin typeface="Arial"/>
                <a:cs typeface="Arial"/>
              </a:rPr>
              <a:t>risk to the landlord that the tenant will not do much work and the risk  to the tenant that a fixed rent will in some years leave him no income. So even</a:t>
            </a:r>
            <a:r>
              <a:rPr dirty="0" sz="1100" spc="240">
                <a:latin typeface="Arial"/>
                <a:cs typeface="Arial"/>
              </a:rPr>
              <a:t> </a:t>
            </a:r>
            <a:r>
              <a:rPr dirty="0" sz="1100" spc="-5">
                <a:latin typeface="Arial"/>
                <a:cs typeface="Arial"/>
              </a:rPr>
              <a:t>though</a:t>
            </a:r>
            <a:endParaRPr sz="1100">
              <a:latin typeface="Arial"/>
              <a:cs typeface="Arial"/>
            </a:endParaRPr>
          </a:p>
        </p:txBody>
      </p:sp>
      <p:sp>
        <p:nvSpPr>
          <p:cNvPr id="7" name="object 7"/>
          <p:cNvSpPr txBox="1"/>
          <p:nvPr/>
        </p:nvSpPr>
        <p:spPr>
          <a:xfrm>
            <a:off x="901700" y="8370031"/>
            <a:ext cx="5968365" cy="67564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sharecropping, with its poor work incentives, would be inefficient in a world of perfect certainty,  in the real world, with inequality in land ownership as well as uncertainty, it is “as efficient as we  can get.” However, this arrangement is </a:t>
            </a:r>
            <a:r>
              <a:rPr dirty="0" sz="1100">
                <a:latin typeface="Arial"/>
                <a:cs typeface="Arial"/>
              </a:rPr>
              <a:t>necessary </a:t>
            </a:r>
            <a:r>
              <a:rPr dirty="0" sz="1100" spc="-5">
                <a:latin typeface="Arial"/>
                <a:cs typeface="Arial"/>
              </a:rPr>
              <a:t>only because of extreme inequality of land  ownership.</a:t>
            </a:r>
            <a:r>
              <a:rPr dirty="0" sz="1100" spc="60">
                <a:latin typeface="Arial"/>
                <a:cs typeface="Arial"/>
              </a:rPr>
              <a:t> </a:t>
            </a:r>
            <a:r>
              <a:rPr dirty="0" sz="1100" spc="-5">
                <a:latin typeface="Arial"/>
                <a:cs typeface="Arial"/>
              </a:rPr>
              <a:t>Farmers</a:t>
            </a:r>
            <a:r>
              <a:rPr dirty="0" sz="1100" spc="60">
                <a:latin typeface="Arial"/>
                <a:cs typeface="Arial"/>
              </a:rPr>
              <a:t> </a:t>
            </a:r>
            <a:r>
              <a:rPr dirty="0" sz="1100">
                <a:latin typeface="Arial"/>
                <a:cs typeface="Arial"/>
              </a:rPr>
              <a:t>who</a:t>
            </a:r>
            <a:r>
              <a:rPr dirty="0" sz="1100" spc="60">
                <a:latin typeface="Arial"/>
                <a:cs typeface="Arial"/>
              </a:rPr>
              <a:t> </a:t>
            </a:r>
            <a:r>
              <a:rPr dirty="0" sz="1100" spc="-5">
                <a:latin typeface="Arial"/>
                <a:cs typeface="Arial"/>
              </a:rPr>
              <a:t>own</a:t>
            </a:r>
            <a:r>
              <a:rPr dirty="0" sz="1100" spc="60">
                <a:latin typeface="Arial"/>
                <a:cs typeface="Arial"/>
              </a:rPr>
              <a:t> </a:t>
            </a:r>
            <a:r>
              <a:rPr dirty="0" sz="1100" spc="-5">
                <a:latin typeface="Arial"/>
                <a:cs typeface="Arial"/>
              </a:rPr>
              <a:t>their</a:t>
            </a:r>
            <a:r>
              <a:rPr dirty="0" sz="1100" spc="65">
                <a:latin typeface="Arial"/>
                <a:cs typeface="Arial"/>
              </a:rPr>
              <a:t> </a:t>
            </a:r>
            <a:r>
              <a:rPr dirty="0" sz="1100" spc="-5">
                <a:latin typeface="Arial"/>
                <a:cs typeface="Arial"/>
              </a:rPr>
              <a:t>own</a:t>
            </a:r>
            <a:r>
              <a:rPr dirty="0" sz="1100" spc="60">
                <a:latin typeface="Arial"/>
                <a:cs typeface="Arial"/>
              </a:rPr>
              <a:t> </a:t>
            </a:r>
            <a:r>
              <a:rPr dirty="0" sz="1100" spc="-5">
                <a:latin typeface="Arial"/>
                <a:cs typeface="Arial"/>
              </a:rPr>
              <a:t>farms</a:t>
            </a:r>
            <a:r>
              <a:rPr dirty="0" sz="1100" spc="65">
                <a:latin typeface="Arial"/>
                <a:cs typeface="Arial"/>
              </a:rPr>
              <a:t> </a:t>
            </a:r>
            <a:r>
              <a:rPr dirty="0" sz="1100" spc="-5">
                <a:latin typeface="Arial"/>
                <a:cs typeface="Arial"/>
              </a:rPr>
              <a:t>do</a:t>
            </a:r>
            <a:r>
              <a:rPr dirty="0" sz="1100" spc="65">
                <a:latin typeface="Arial"/>
                <a:cs typeface="Arial"/>
              </a:rPr>
              <a:t> </a:t>
            </a:r>
            <a:r>
              <a:rPr dirty="0" sz="1100" spc="-5">
                <a:latin typeface="Arial"/>
                <a:cs typeface="Arial"/>
              </a:rPr>
              <a:t>not</a:t>
            </a:r>
            <a:r>
              <a:rPr dirty="0" sz="1100" spc="60">
                <a:latin typeface="Arial"/>
                <a:cs typeface="Arial"/>
              </a:rPr>
              <a:t> </a:t>
            </a:r>
            <a:r>
              <a:rPr dirty="0" sz="1100" spc="-5">
                <a:latin typeface="Arial"/>
                <a:cs typeface="Arial"/>
              </a:rPr>
              <a:t>generally</a:t>
            </a:r>
            <a:r>
              <a:rPr dirty="0" sz="1100" spc="60">
                <a:latin typeface="Arial"/>
                <a:cs typeface="Arial"/>
              </a:rPr>
              <a:t> </a:t>
            </a:r>
            <a:r>
              <a:rPr dirty="0" sz="1100" spc="-5">
                <a:latin typeface="Arial"/>
                <a:cs typeface="Arial"/>
              </a:rPr>
              <a:t>choose</a:t>
            </a:r>
            <a:r>
              <a:rPr dirty="0" sz="1100" spc="55">
                <a:latin typeface="Arial"/>
                <a:cs typeface="Arial"/>
              </a:rPr>
              <a:t> </a:t>
            </a:r>
            <a:r>
              <a:rPr dirty="0" sz="1100" spc="-5">
                <a:latin typeface="Arial"/>
                <a:cs typeface="Arial"/>
              </a:rPr>
              <a:t>sharecropping</a:t>
            </a:r>
            <a:r>
              <a:rPr dirty="0" sz="1100" spc="60">
                <a:latin typeface="Arial"/>
                <a:cs typeface="Arial"/>
              </a:rPr>
              <a:t> </a:t>
            </a:r>
            <a:r>
              <a:rPr dirty="0" sz="1100" spc="-5">
                <a:latin typeface="Arial"/>
                <a:cs typeface="Arial"/>
              </a:rPr>
              <a:t>contracts</a:t>
            </a:r>
            <a:endParaRPr sz="1100">
              <a:latin typeface="Arial"/>
              <a:cs typeface="Arial"/>
            </a:endParaRPr>
          </a:p>
        </p:txBody>
      </p:sp>
      <p:sp>
        <p:nvSpPr>
          <p:cNvPr id="8" name="object 8"/>
          <p:cNvSpPr/>
          <p:nvPr/>
        </p:nvSpPr>
        <p:spPr>
          <a:xfrm>
            <a:off x="1219200" y="3801617"/>
            <a:ext cx="5334000" cy="453797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193</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2810" cy="7918450"/>
          </a:xfrm>
          <a:prstGeom prst="rect">
            <a:avLst/>
          </a:prstGeom>
        </p:spPr>
        <p:txBody>
          <a:bodyPr wrap="square" lIns="0" tIns="22860" rIns="0" bIns="0" rtlCol="0" vert="horz">
            <a:spAutoFit/>
          </a:bodyPr>
          <a:lstStyle/>
          <a:p>
            <a:pPr algn="just" marL="12700" marR="8890">
              <a:lnSpc>
                <a:spcPts val="1270"/>
              </a:lnSpc>
              <a:spcBef>
                <a:spcPts val="180"/>
              </a:spcBef>
            </a:pPr>
            <a:r>
              <a:rPr dirty="0" sz="1100" spc="-5">
                <a:latin typeface="Arial"/>
                <a:cs typeface="Arial"/>
              </a:rPr>
              <a:t>for themselves. As a result, the enormous efficiency loss, as seen in Figure 9.7, is not negated  by this important explanation of why sharecropping</a:t>
            </a:r>
            <a:r>
              <a:rPr dirty="0" sz="1100" spc="40">
                <a:latin typeface="Arial"/>
                <a:cs typeface="Arial"/>
              </a:rPr>
              <a:t> </a:t>
            </a:r>
            <a:r>
              <a:rPr dirty="0" sz="1100" spc="-5">
                <a:latin typeface="Arial"/>
                <a:cs typeface="Arial"/>
              </a:rPr>
              <a:t>arises.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More broadly, the economic and social framework in which sharecropping takes place is one of  extraordinary social inequality and far-reaching market failure. When the peasant faces his  landlord, he often faces not only the individual whom he must persuade to rent him productive  land but at the same time his prospective employer, his loan officer, and even his ultimate  customer for any crops he wishes to sell. Such conditions, an example of interlocking factor  markets, provide the </a:t>
            </a:r>
            <a:r>
              <a:rPr dirty="0" sz="1100">
                <a:latin typeface="Arial"/>
                <a:cs typeface="Arial"/>
              </a:rPr>
              <a:t>rural </a:t>
            </a:r>
            <a:r>
              <a:rPr dirty="0" sz="1100" spc="-5">
                <a:latin typeface="Arial"/>
                <a:cs typeface="Arial"/>
              </a:rPr>
              <a:t>landlord with abundant sources of monopoly and monopsony power.  Under some conditions—in particular, the availability of a perfectly elastic supply of tenants and  the ability of the landlord to subdivide his land </a:t>
            </a:r>
            <a:r>
              <a:rPr dirty="0" sz="1100" spc="-10">
                <a:latin typeface="Arial"/>
                <a:cs typeface="Arial"/>
              </a:rPr>
              <a:t>into </a:t>
            </a:r>
            <a:r>
              <a:rPr dirty="0" sz="1100" spc="-5">
                <a:latin typeface="Arial"/>
                <a:cs typeface="Arial"/>
              </a:rPr>
              <a:t>as many plots as he chooses—the peasant is  forced to his reservation utility level, or next-best income opportunity. (In practice, on one hand,  peasants are sometimes prevented from learning about some of the alternatives available to  them; on the other hand, subdivision may be</a:t>
            </a:r>
            <a:r>
              <a:rPr dirty="0" sz="1100" spc="35">
                <a:latin typeface="Arial"/>
                <a:cs typeface="Arial"/>
              </a:rPr>
              <a:t> </a:t>
            </a:r>
            <a:r>
              <a:rPr dirty="0" sz="1100" spc="-5">
                <a:latin typeface="Arial"/>
                <a:cs typeface="Arial"/>
              </a:rPr>
              <a:t>restricted.)</a:t>
            </a:r>
            <a:endParaRPr sz="1100">
              <a:latin typeface="Arial"/>
              <a:cs typeface="Arial"/>
            </a:endParaRPr>
          </a:p>
          <a:p>
            <a:pPr>
              <a:lnSpc>
                <a:spcPct val="100000"/>
              </a:lnSpc>
              <a:spcBef>
                <a:spcPts val="55"/>
              </a:spcBef>
            </a:pPr>
            <a:endParaRPr sz="1050">
              <a:latin typeface="Arial"/>
              <a:cs typeface="Arial"/>
            </a:endParaRPr>
          </a:p>
          <a:p>
            <a:pPr algn="just" marL="12700" marR="7620">
              <a:lnSpc>
                <a:spcPct val="95800"/>
              </a:lnSpc>
            </a:pPr>
            <a:r>
              <a:rPr dirty="0" sz="1100" spc="-5">
                <a:latin typeface="Arial"/>
                <a:cs typeface="Arial"/>
              </a:rPr>
              <a:t>Interlocked-factor-market sharecropping does have the resource allocation advantage that it is  in the landlord’s interest to see to it that his sharecropper receives credit from the lowest-cost  source. At the same </a:t>
            </a:r>
            <a:r>
              <a:rPr dirty="0" sz="1100">
                <a:latin typeface="Arial"/>
                <a:cs typeface="Arial"/>
              </a:rPr>
              <a:t>time, </a:t>
            </a:r>
            <a:r>
              <a:rPr dirty="0" sz="1100" spc="-5">
                <a:latin typeface="Arial"/>
                <a:cs typeface="Arial"/>
              </a:rPr>
              <a:t>the personal nature of interlinks age gives the dominant party </a:t>
            </a:r>
            <a:r>
              <a:rPr dirty="0" sz="1100">
                <a:latin typeface="Arial"/>
                <a:cs typeface="Arial"/>
              </a:rPr>
              <a:t>far-  </a:t>
            </a:r>
            <a:r>
              <a:rPr dirty="0" sz="1100" spc="-5">
                <a:latin typeface="Arial"/>
                <a:cs typeface="Arial"/>
              </a:rPr>
              <a:t>ranging leverage and acts as a barrier to entry that restricts competition that might ultimately  benefit the peasant. In this regard, as an observation applying to interlink age and to other rural  institutions, Pranab Bardhan and Chris Udry make the important point that “the thin line between  understanding an institution and justifying it is often blurred, particularly by careless interpreters  of the</a:t>
            </a:r>
            <a:r>
              <a:rPr dirty="0" sz="1100">
                <a:latin typeface="Arial"/>
                <a:cs typeface="Arial"/>
              </a:rPr>
              <a:t> </a:t>
            </a:r>
            <a:r>
              <a:rPr dirty="0" sz="1100" spc="-5">
                <a:latin typeface="Arial"/>
                <a:cs typeface="Arial"/>
              </a:rPr>
              <a:t>theory.”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TRANSITION </a:t>
            </a:r>
            <a:r>
              <a:rPr dirty="0" sz="1100" b="1">
                <a:latin typeface="Arial"/>
                <a:cs typeface="Arial"/>
              </a:rPr>
              <a:t>TO </a:t>
            </a:r>
            <a:r>
              <a:rPr dirty="0" sz="1100" spc="-5" b="1">
                <a:latin typeface="Arial"/>
                <a:cs typeface="Arial"/>
              </a:rPr>
              <a:t>MIXED OR DIVERSIFIED</a:t>
            </a:r>
            <a:r>
              <a:rPr dirty="0" sz="1100" spc="20" b="1">
                <a:latin typeface="Arial"/>
                <a:cs typeface="Arial"/>
              </a:rPr>
              <a:t> </a:t>
            </a:r>
            <a:r>
              <a:rPr dirty="0" sz="1100" spc="-5" b="1">
                <a:latin typeface="Arial"/>
                <a:cs typeface="Arial"/>
              </a:rPr>
              <a:t>FARMING</a:t>
            </a:r>
            <a:endParaRPr sz="1100">
              <a:latin typeface="Arial"/>
              <a:cs typeface="Arial"/>
            </a:endParaRPr>
          </a:p>
          <a:p>
            <a:pPr>
              <a:lnSpc>
                <a:spcPct val="100000"/>
              </a:lnSpc>
              <a:spcBef>
                <a:spcPts val="45"/>
              </a:spcBef>
            </a:pPr>
            <a:endParaRPr sz="1150">
              <a:latin typeface="Arial"/>
              <a:cs typeface="Arial"/>
            </a:endParaRPr>
          </a:p>
          <a:p>
            <a:pPr algn="just" marL="12700" marR="8255">
              <a:lnSpc>
                <a:spcPct val="95800"/>
              </a:lnSpc>
            </a:pPr>
            <a:r>
              <a:rPr dirty="0" sz="1100" spc="-5">
                <a:latin typeface="Arial"/>
                <a:cs typeface="Arial"/>
              </a:rPr>
              <a:t>It is neither realistic nor necessarily desirable to think of instantly transforming a traditional  agrarian system that has prevailed for many </a:t>
            </a:r>
            <a:r>
              <a:rPr dirty="0" sz="1100">
                <a:latin typeface="Arial"/>
                <a:cs typeface="Arial"/>
              </a:rPr>
              <a:t>generations </a:t>
            </a:r>
            <a:r>
              <a:rPr dirty="0" sz="1100" spc="-5">
                <a:latin typeface="Arial"/>
                <a:cs typeface="Arial"/>
              </a:rPr>
              <a:t>into a highly specialized commercial  farming system. Attempts to introduce cash crops indiscriminately in subsistence farms have  often resulted in the peasants’ loss of land to moneylenders or landlords. Subsistence living is  merely substituted for subsistence production. For small farmers, exclusive reliance on cash  crops can be even more precarious than pure subsistence agriculture because the risks of price  fluctuations are added to the uncertainty of</a:t>
            </a:r>
            <a:r>
              <a:rPr dirty="0" sz="1100" spc="30">
                <a:latin typeface="Arial"/>
                <a:cs typeface="Arial"/>
              </a:rPr>
              <a:t> </a:t>
            </a:r>
            <a:r>
              <a:rPr dirty="0" sz="1100" spc="-5">
                <a:latin typeface="Arial"/>
                <a:cs typeface="Arial"/>
              </a:rPr>
              <a:t>nature.</a:t>
            </a:r>
            <a:endParaRPr sz="1100">
              <a:latin typeface="Arial"/>
              <a:cs typeface="Arial"/>
            </a:endParaRPr>
          </a:p>
          <a:p>
            <a:pPr>
              <a:lnSpc>
                <a:spcPct val="100000"/>
              </a:lnSpc>
              <a:spcBef>
                <a:spcPts val="5"/>
              </a:spcBef>
            </a:pPr>
            <a:endParaRPr sz="1100">
              <a:latin typeface="Arial"/>
              <a:cs typeface="Arial"/>
            </a:endParaRPr>
          </a:p>
          <a:p>
            <a:pPr algn="just" marL="12700" marR="7620">
              <a:lnSpc>
                <a:spcPct val="95800"/>
              </a:lnSpc>
            </a:pPr>
            <a:r>
              <a:rPr dirty="0" sz="1100" spc="-5">
                <a:latin typeface="Arial"/>
                <a:cs typeface="Arial"/>
              </a:rPr>
              <a:t>Diversified or mixed farming therefore represents a logical intermediate step in the transition  from subsistence to specialized production. In this stage, the staple crop no longer dominates  farm output, and new cash crops such as fruits, vegetables, coffee, tea, and pyrethrum are  established, together with simple animal husbandry. These new activities can take up slack in  farm workloads during times of the year when disguised unemployment is prevalent. For  example, if the staple crop occupies the land only during parts of the year, new crops can be  introduced in the slack season to take advantage of both idle land and family labor. And where  labor is in short supply during peak planting seasons, simple laborsaving devices (such as small  tractors, mechanical seeders, or animal-operated steel plows) can be introduced to free labor  for other farm activities. Finally, the use of better seeds, fertilizers, and simple irrigation to  increase yields of staple crops such as wheat, maize, and rice can free part of the land for cash  crop cultivation while ensuring an adequate supply of the staple food. The farm operator can  thus have a marketable surplus, which she can sell to raise her family’s consumption standards  or invest in </a:t>
            </a:r>
            <a:r>
              <a:rPr dirty="0" sz="1100">
                <a:latin typeface="Arial"/>
                <a:cs typeface="Arial"/>
              </a:rPr>
              <a:t>farm </a:t>
            </a:r>
            <a:r>
              <a:rPr dirty="0" sz="1100" spc="-5">
                <a:latin typeface="Arial"/>
                <a:cs typeface="Arial"/>
              </a:rPr>
              <a:t>improvements. Diversified farming can also minimize </a:t>
            </a:r>
            <a:r>
              <a:rPr dirty="0" sz="1100">
                <a:latin typeface="Arial"/>
                <a:cs typeface="Arial"/>
              </a:rPr>
              <a:t>the </a:t>
            </a:r>
            <a:r>
              <a:rPr dirty="0" sz="1100" spc="-5">
                <a:latin typeface="Arial"/>
                <a:cs typeface="Arial"/>
              </a:rPr>
              <a:t>impact of staple crop  failure and provide a security of income previously</a:t>
            </a:r>
            <a:r>
              <a:rPr dirty="0" sz="1100" spc="50">
                <a:latin typeface="Arial"/>
                <a:cs typeface="Arial"/>
              </a:rPr>
              <a:t> </a:t>
            </a:r>
            <a:r>
              <a:rPr dirty="0" sz="1100" spc="-5">
                <a:latin typeface="Arial"/>
                <a:cs typeface="Arial"/>
              </a:rPr>
              <a:t>unavailable.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194</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1053336"/>
            <a:ext cx="5971540" cy="7649209"/>
          </a:xfrm>
          <a:prstGeom prst="rect">
            <a:avLst/>
          </a:prstGeom>
        </p:spPr>
        <p:txBody>
          <a:bodyPr wrap="square" lIns="0" tIns="12065" rIns="0" bIns="0" rtlCol="0" vert="horz">
            <a:spAutoFit/>
          </a:bodyPr>
          <a:lstStyle/>
          <a:p>
            <a:pPr marL="12700">
              <a:lnSpc>
                <a:spcPct val="100000"/>
              </a:lnSpc>
              <a:spcBef>
                <a:spcPts val="95"/>
              </a:spcBef>
            </a:pPr>
            <a:r>
              <a:rPr dirty="0" sz="1100" spc="-10" b="1">
                <a:latin typeface="Arial"/>
                <a:cs typeface="Arial"/>
              </a:rPr>
              <a:t>FROM </a:t>
            </a:r>
            <a:r>
              <a:rPr dirty="0" sz="1100" spc="-5" b="1">
                <a:latin typeface="Arial"/>
                <a:cs typeface="Arial"/>
              </a:rPr>
              <a:t>DIVERGENCE </a:t>
            </a:r>
            <a:r>
              <a:rPr dirty="0" sz="1100" b="1">
                <a:latin typeface="Arial"/>
                <a:cs typeface="Arial"/>
              </a:rPr>
              <a:t>TO </a:t>
            </a:r>
            <a:r>
              <a:rPr dirty="0" sz="1100" spc="-5" b="1">
                <a:latin typeface="Arial"/>
                <a:cs typeface="Arial"/>
              </a:rPr>
              <a:t>SPECIALIZATION: MODERN COMMERCIAL</a:t>
            </a:r>
            <a:r>
              <a:rPr dirty="0" sz="1100" spc="20" b="1">
                <a:latin typeface="Arial"/>
                <a:cs typeface="Arial"/>
              </a:rPr>
              <a:t> </a:t>
            </a:r>
            <a:r>
              <a:rPr dirty="0" sz="1100" spc="-5" b="1">
                <a:latin typeface="Arial"/>
                <a:cs typeface="Arial"/>
              </a:rPr>
              <a:t>FARMING</a:t>
            </a:r>
            <a:endParaRPr sz="1100">
              <a:latin typeface="Arial"/>
              <a:cs typeface="Arial"/>
            </a:endParaRPr>
          </a:p>
          <a:p>
            <a:pPr>
              <a:lnSpc>
                <a:spcPct val="100000"/>
              </a:lnSpc>
              <a:spcBef>
                <a:spcPts val="55"/>
              </a:spcBef>
            </a:pPr>
            <a:endParaRPr sz="1150">
              <a:latin typeface="Arial"/>
              <a:cs typeface="Arial"/>
            </a:endParaRPr>
          </a:p>
          <a:p>
            <a:pPr algn="just" marL="12700" marR="6985">
              <a:lnSpc>
                <a:spcPct val="95800"/>
              </a:lnSpc>
            </a:pPr>
            <a:r>
              <a:rPr dirty="0" sz="1100" spc="-5">
                <a:latin typeface="Arial"/>
                <a:cs typeface="Arial"/>
              </a:rPr>
              <a:t>The specialized farm represents the final and most advanced stage of individual holding in a  mixed market economy. It is the most prevalent type of farming in advanced industrial nations. It  has evolved in response to and parallel with development in other areas of the national  economy. General rises in living standards, biological and technical progress, and the  expansion of national and international markets have provided the main impetus for </a:t>
            </a:r>
            <a:r>
              <a:rPr dirty="0" sz="1100">
                <a:latin typeface="Arial"/>
                <a:cs typeface="Arial"/>
              </a:rPr>
              <a:t>its  </a:t>
            </a:r>
            <a:r>
              <a:rPr dirty="0" sz="1100" spc="-5">
                <a:latin typeface="Arial"/>
                <a:cs typeface="Arial"/>
              </a:rPr>
              <a:t>emergence and</a:t>
            </a:r>
            <a:r>
              <a:rPr dirty="0" sz="1100">
                <a:latin typeface="Arial"/>
                <a:cs typeface="Arial"/>
              </a:rPr>
              <a:t> </a:t>
            </a:r>
            <a:r>
              <a:rPr dirty="0" sz="1100" spc="-5">
                <a:latin typeface="Arial"/>
                <a:cs typeface="Arial"/>
              </a:rPr>
              <a:t>growth.</a:t>
            </a:r>
            <a:endParaRPr sz="1100">
              <a:latin typeface="Arial"/>
              <a:cs typeface="Arial"/>
            </a:endParaRPr>
          </a:p>
          <a:p>
            <a:pPr>
              <a:lnSpc>
                <a:spcPct val="100000"/>
              </a:lnSpc>
              <a:spcBef>
                <a:spcPts val="50"/>
              </a:spcBef>
            </a:pPr>
            <a:endParaRPr sz="1050">
              <a:latin typeface="Arial"/>
              <a:cs typeface="Arial"/>
            </a:endParaRPr>
          </a:p>
          <a:p>
            <a:pPr algn="just" marL="12700" marR="6985">
              <a:lnSpc>
                <a:spcPct val="95900"/>
              </a:lnSpc>
            </a:pPr>
            <a:r>
              <a:rPr dirty="0" sz="1100" spc="-5">
                <a:latin typeface="Arial"/>
                <a:cs typeface="Arial"/>
              </a:rPr>
              <a:t>In specialized farming, the provision of food for the family with some marketable surplus is no  longer the basic goal. Instead, pure commercial profit becomes the criterion of success, and  maximum per-hectare yields derived from synthetic (irrigation, fertilizer, pesticides, hybrid  seeds, etc.) and natural resources become the object of farm activity. Production, in short, is  entirely for the market. Economic concepts such as fixed and variable costs, saving, investment  and rates of return, optimal factor combinations, </a:t>
            </a:r>
            <a:r>
              <a:rPr dirty="0" sz="1100">
                <a:latin typeface="Arial"/>
                <a:cs typeface="Arial"/>
              </a:rPr>
              <a:t>maximum </a:t>
            </a:r>
            <a:r>
              <a:rPr dirty="0" sz="1100" spc="-5">
                <a:latin typeface="Arial"/>
                <a:cs typeface="Arial"/>
              </a:rPr>
              <a:t>production possibilities, market  prices, and price supports take on quantitative and qualitative significance. The emphasis in  resource utilization is on capital formation, technological progress, and scientific research and  development in stimulating higher levels of output and</a:t>
            </a:r>
            <a:r>
              <a:rPr dirty="0" sz="1100" spc="55">
                <a:latin typeface="Arial"/>
                <a:cs typeface="Arial"/>
              </a:rPr>
              <a:t> </a:t>
            </a:r>
            <a:r>
              <a:rPr dirty="0" sz="1100" spc="-5">
                <a:latin typeface="Arial"/>
                <a:cs typeface="Arial"/>
              </a:rPr>
              <a:t>productivity.</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Specialized farms vary in both size and function. They </a:t>
            </a:r>
            <a:r>
              <a:rPr dirty="0" sz="1100">
                <a:latin typeface="Arial"/>
                <a:cs typeface="Arial"/>
              </a:rPr>
              <a:t>range </a:t>
            </a:r>
            <a:r>
              <a:rPr dirty="0" sz="1100" spc="-5">
                <a:latin typeface="Arial"/>
                <a:cs typeface="Arial"/>
              </a:rPr>
              <a:t>from intensively cultivated fruit and  vegetable farms to the vast wheat and corn fields of North America. In most cases,  sophisticated laborsaving mechanical equipment, ranging from huge tractors and combine  harvesters to airborne spraying techniques, permits a single family to cultivate many thousands  of hectares of</a:t>
            </a:r>
            <a:r>
              <a:rPr dirty="0" sz="1100">
                <a:latin typeface="Arial"/>
                <a:cs typeface="Arial"/>
              </a:rPr>
              <a:t> </a:t>
            </a:r>
            <a:r>
              <a:rPr dirty="0" sz="1100" spc="-5">
                <a:latin typeface="Arial"/>
                <a:cs typeface="Arial"/>
              </a:rPr>
              <a:t>land.</a:t>
            </a:r>
            <a:endParaRPr sz="1100">
              <a:latin typeface="Arial"/>
              <a:cs typeface="Arial"/>
            </a:endParaRPr>
          </a:p>
          <a:p>
            <a:pPr>
              <a:lnSpc>
                <a:spcPct val="100000"/>
              </a:lnSpc>
              <a:spcBef>
                <a:spcPts val="15"/>
              </a:spcBef>
            </a:pPr>
            <a:endParaRPr sz="1000">
              <a:latin typeface="Arial"/>
              <a:cs typeface="Arial"/>
            </a:endParaRPr>
          </a:p>
          <a:p>
            <a:pPr marL="12700">
              <a:lnSpc>
                <a:spcPct val="100000"/>
              </a:lnSpc>
            </a:pPr>
            <a:r>
              <a:rPr dirty="0" sz="1100" spc="-5" b="1">
                <a:latin typeface="Arial"/>
                <a:cs typeface="Arial"/>
              </a:rPr>
              <a:t>LEARNING ABOUT </a:t>
            </a:r>
            <a:r>
              <a:rPr dirty="0" sz="1100" b="1">
                <a:latin typeface="Arial"/>
                <a:cs typeface="Arial"/>
              </a:rPr>
              <a:t>FARMING: THE </a:t>
            </a:r>
            <a:r>
              <a:rPr dirty="0" sz="1100" spc="-5" b="1">
                <a:latin typeface="Arial"/>
                <a:cs typeface="Arial"/>
              </a:rPr>
              <a:t>DIFFUSION OF PINEAPPLE GROWING IN</a:t>
            </a:r>
            <a:r>
              <a:rPr dirty="0" sz="1100" spc="95" b="1">
                <a:latin typeface="Arial"/>
                <a:cs typeface="Arial"/>
              </a:rPr>
              <a:t> </a:t>
            </a:r>
            <a:r>
              <a:rPr dirty="0" sz="1100" spc="-5" b="1">
                <a:latin typeface="Arial"/>
                <a:cs typeface="Arial"/>
              </a:rPr>
              <a:t>GHANA</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Agricultural experts cannot train millions of farmers— who sometimes </a:t>
            </a:r>
            <a:r>
              <a:rPr dirty="0" sz="1100">
                <a:latin typeface="Arial"/>
                <a:cs typeface="Arial"/>
              </a:rPr>
              <a:t>also </a:t>
            </a:r>
            <a:r>
              <a:rPr dirty="0" sz="1100" spc="-5">
                <a:latin typeface="Arial"/>
                <a:cs typeface="Arial"/>
              </a:rPr>
              <a:t>know constraints and  opportunities that trainers do not. So farmers must partly learn new products and techniques  from each other, and social learning is very difficult to identify. But Timothy Conley and  Christopher Udry collected detailed information from farmers in the Akwapim </a:t>
            </a:r>
            <a:r>
              <a:rPr dirty="0" sz="1100">
                <a:latin typeface="Arial"/>
                <a:cs typeface="Arial"/>
              </a:rPr>
              <a:t>South </a:t>
            </a:r>
            <a:r>
              <a:rPr dirty="0" sz="1100" spc="-5">
                <a:latin typeface="Arial"/>
                <a:cs typeface="Arial"/>
              </a:rPr>
              <a:t>district of  Ghana, asking them whom they </a:t>
            </a:r>
            <a:r>
              <a:rPr dirty="0" sz="1100">
                <a:latin typeface="Arial"/>
                <a:cs typeface="Arial"/>
              </a:rPr>
              <a:t>know </a:t>
            </a:r>
            <a:r>
              <a:rPr dirty="0" sz="1100" spc="-5">
                <a:latin typeface="Arial"/>
                <a:cs typeface="Arial"/>
              </a:rPr>
              <a:t>and talk to about farming, to better understand and test  for “social learning in the diffusion of a new agricultural</a:t>
            </a:r>
            <a:r>
              <a:rPr dirty="0" sz="1100" spc="55">
                <a:latin typeface="Arial"/>
                <a:cs typeface="Arial"/>
              </a:rPr>
              <a:t> </a:t>
            </a:r>
            <a:r>
              <a:rPr dirty="0" sz="1100" spc="-5">
                <a:latin typeface="Arial"/>
                <a:cs typeface="Arial"/>
              </a:rPr>
              <a:t>technology.”</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spcBef>
                <a:spcPts val="5"/>
              </a:spcBef>
            </a:pPr>
            <a:r>
              <a:rPr dirty="0" sz="1100" spc="-5" b="1">
                <a:latin typeface="Arial"/>
                <a:cs typeface="Arial"/>
              </a:rPr>
              <a:t>Important findings include the</a:t>
            </a:r>
            <a:r>
              <a:rPr dirty="0" sz="1100" spc="15" b="1">
                <a:latin typeface="Arial"/>
                <a:cs typeface="Arial"/>
              </a:rPr>
              <a:t> </a:t>
            </a:r>
            <a:r>
              <a:rPr dirty="0" sz="1100" spc="-5" b="1">
                <a:latin typeface="Arial"/>
                <a:cs typeface="Arial"/>
              </a:rPr>
              <a:t>following:</a:t>
            </a:r>
            <a:endParaRPr sz="1100">
              <a:latin typeface="Arial"/>
              <a:cs typeface="Arial"/>
            </a:endParaRPr>
          </a:p>
          <a:p>
            <a:pPr>
              <a:lnSpc>
                <a:spcPct val="100000"/>
              </a:lnSpc>
              <a:spcBef>
                <a:spcPts val="50"/>
              </a:spcBef>
            </a:pPr>
            <a:endParaRPr sz="1150">
              <a:latin typeface="Arial"/>
              <a:cs typeface="Arial"/>
            </a:endParaRPr>
          </a:p>
          <a:p>
            <a:pPr marL="469900" marR="7620" indent="-228600">
              <a:lnSpc>
                <a:spcPts val="1260"/>
              </a:lnSpc>
              <a:buFont typeface="Symbol"/>
              <a:buChar char=""/>
              <a:tabLst>
                <a:tab pos="469265" algn="l"/>
                <a:tab pos="470534" algn="l"/>
              </a:tabLst>
            </a:pPr>
            <a:r>
              <a:rPr dirty="0" sz="1100" spc="-5">
                <a:latin typeface="Arial"/>
                <a:cs typeface="Arial"/>
              </a:rPr>
              <a:t>A farmer is “more likely to change his fertilizer use after his information neighbors who  use similar amounts of fertilizer achieve lower than expected</a:t>
            </a:r>
            <a:r>
              <a:rPr dirty="0" sz="1100" spc="65">
                <a:latin typeface="Arial"/>
                <a:cs typeface="Arial"/>
              </a:rPr>
              <a:t> </a:t>
            </a:r>
            <a:r>
              <a:rPr dirty="0" sz="1100" spc="-5">
                <a:latin typeface="Arial"/>
                <a:cs typeface="Arial"/>
              </a:rPr>
              <a:t>profits.”</a:t>
            </a:r>
            <a:endParaRPr sz="1100">
              <a:latin typeface="Arial"/>
              <a:cs typeface="Arial"/>
            </a:endParaRPr>
          </a:p>
          <a:p>
            <a:pPr marL="469900" marR="8890" indent="-228600">
              <a:lnSpc>
                <a:spcPts val="1270"/>
              </a:lnSpc>
              <a:spcBef>
                <a:spcPts val="70"/>
              </a:spcBef>
              <a:buFont typeface="Symbol"/>
              <a:buChar char=""/>
              <a:tabLst>
                <a:tab pos="469265" algn="l"/>
                <a:tab pos="470534" algn="l"/>
              </a:tabLst>
            </a:pPr>
            <a:r>
              <a:rPr dirty="0" sz="1100" spc="-5">
                <a:latin typeface="Arial"/>
                <a:cs typeface="Arial"/>
              </a:rPr>
              <a:t>A farmer “increases (decreases) his use of fertilizer after his information neighbors  achieve unexpectedly high profits when using more (less) fertilizer than he</a:t>
            </a:r>
            <a:r>
              <a:rPr dirty="0" sz="1100" spc="114">
                <a:latin typeface="Arial"/>
                <a:cs typeface="Arial"/>
              </a:rPr>
              <a:t> </a:t>
            </a:r>
            <a:r>
              <a:rPr dirty="0" sz="1100" spc="-5">
                <a:latin typeface="Arial"/>
                <a:cs typeface="Arial"/>
              </a:rPr>
              <a:t>did.”</a:t>
            </a:r>
            <a:endParaRPr sz="1100">
              <a:latin typeface="Arial"/>
              <a:cs typeface="Arial"/>
            </a:endParaRPr>
          </a:p>
          <a:p>
            <a:pPr marL="469900" marR="7620" indent="-228600">
              <a:lnSpc>
                <a:spcPts val="1270"/>
              </a:lnSpc>
              <a:spcBef>
                <a:spcPts val="65"/>
              </a:spcBef>
              <a:buFont typeface="Symbol"/>
              <a:buChar char=""/>
              <a:tabLst>
                <a:tab pos="469265" algn="l"/>
                <a:tab pos="470534" algn="l"/>
              </a:tabLst>
            </a:pPr>
            <a:r>
              <a:rPr dirty="0" sz="1100" spc="-5">
                <a:latin typeface="Arial"/>
                <a:cs typeface="Arial"/>
              </a:rPr>
              <a:t>A farmer’s “responsiveness to news about the productivity of fertilizer in his information  neighborhood is much greater if he has only recently begun cultivating</a:t>
            </a:r>
            <a:r>
              <a:rPr dirty="0" sz="1100" spc="125">
                <a:latin typeface="Arial"/>
                <a:cs typeface="Arial"/>
              </a:rPr>
              <a:t> </a:t>
            </a:r>
            <a:r>
              <a:rPr dirty="0" sz="1100" spc="-5">
                <a:latin typeface="Arial"/>
                <a:cs typeface="Arial"/>
              </a:rPr>
              <a:t>pineapple.”</a:t>
            </a:r>
            <a:endParaRPr sz="1100">
              <a:latin typeface="Arial"/>
              <a:cs typeface="Arial"/>
            </a:endParaRPr>
          </a:p>
          <a:p>
            <a:pPr marL="469900" marR="7620" indent="-228600">
              <a:lnSpc>
                <a:spcPts val="1270"/>
              </a:lnSpc>
              <a:spcBef>
                <a:spcPts val="65"/>
              </a:spcBef>
              <a:buFont typeface="Symbol"/>
              <a:buChar char=""/>
              <a:tabLst>
                <a:tab pos="469265" algn="l"/>
                <a:tab pos="470534" algn="l"/>
              </a:tabLst>
            </a:pPr>
            <a:r>
              <a:rPr dirty="0" sz="1100" spc="-5">
                <a:latin typeface="Arial"/>
                <a:cs typeface="Arial"/>
              </a:rPr>
              <a:t>A farmer “responds more to news about the productivity of fertilizer on plots cultivated by  veteran farmers and farmers with wealth similar to</a:t>
            </a:r>
            <a:r>
              <a:rPr dirty="0" sz="1100" spc="45">
                <a:latin typeface="Arial"/>
                <a:cs typeface="Arial"/>
              </a:rPr>
              <a:t> </a:t>
            </a:r>
            <a:r>
              <a:rPr dirty="0" sz="1100" spc="-5">
                <a:latin typeface="Arial"/>
                <a:cs typeface="Arial"/>
              </a:rPr>
              <a:t>his.”</a:t>
            </a:r>
            <a:endParaRPr sz="1100">
              <a:latin typeface="Arial"/>
              <a:cs typeface="Arial"/>
            </a:endParaRPr>
          </a:p>
          <a:p>
            <a:pPr>
              <a:lnSpc>
                <a:spcPct val="100000"/>
              </a:lnSpc>
              <a:spcBef>
                <a:spcPts val="50"/>
              </a:spcBef>
            </a:pPr>
            <a:endParaRPr sz="1050">
              <a:latin typeface="Arial"/>
              <a:cs typeface="Arial"/>
            </a:endParaRPr>
          </a:p>
          <a:p>
            <a:pPr marL="12700" marR="8890">
              <a:lnSpc>
                <a:spcPts val="1270"/>
              </a:lnSpc>
              <a:tabLst>
                <a:tab pos="573405" algn="l"/>
                <a:tab pos="1856739" algn="l"/>
                <a:tab pos="2209165" algn="l"/>
                <a:tab pos="2467610" algn="l"/>
                <a:tab pos="3386454" algn="l"/>
                <a:tab pos="3738879" algn="l"/>
                <a:tab pos="5005070" algn="l"/>
                <a:tab pos="5465445" algn="l"/>
              </a:tabLst>
            </a:pPr>
            <a:r>
              <a:rPr dirty="0" sz="1100" spc="-10" b="1">
                <a:latin typeface="Arial"/>
                <a:cs typeface="Arial"/>
              </a:rPr>
              <a:t>CO</a:t>
            </a:r>
            <a:r>
              <a:rPr dirty="0" sz="1100" b="1">
                <a:latin typeface="Arial"/>
                <a:cs typeface="Arial"/>
              </a:rPr>
              <a:t>R</a:t>
            </a:r>
            <a:r>
              <a:rPr dirty="0" sz="1100" spc="-5" b="1">
                <a:latin typeface="Arial"/>
                <a:cs typeface="Arial"/>
              </a:rPr>
              <a:t>E</a:t>
            </a:r>
            <a:r>
              <a:rPr dirty="0" sz="1100" b="1">
                <a:latin typeface="Arial"/>
                <a:cs typeface="Arial"/>
              </a:rPr>
              <a:t>	</a:t>
            </a:r>
            <a:r>
              <a:rPr dirty="0" sz="1100" b="1">
                <a:latin typeface="Arial"/>
                <a:cs typeface="Arial"/>
              </a:rPr>
              <a:t>R</a:t>
            </a:r>
            <a:r>
              <a:rPr dirty="0" sz="1100" b="1">
                <a:latin typeface="Arial"/>
                <a:cs typeface="Arial"/>
              </a:rPr>
              <a:t>E</a:t>
            </a:r>
            <a:r>
              <a:rPr dirty="0" sz="1100" spc="-10" b="1">
                <a:latin typeface="Arial"/>
                <a:cs typeface="Arial"/>
              </a:rPr>
              <a:t>QUI</a:t>
            </a:r>
            <a:r>
              <a:rPr dirty="0" sz="1100" b="1">
                <a:latin typeface="Arial"/>
                <a:cs typeface="Arial"/>
              </a:rPr>
              <a:t>R</a:t>
            </a:r>
            <a:r>
              <a:rPr dirty="0" sz="1100" spc="-10" b="1">
                <a:latin typeface="Arial"/>
                <a:cs typeface="Arial"/>
              </a:rPr>
              <a:t>EME</a:t>
            </a:r>
            <a:r>
              <a:rPr dirty="0" sz="1100" b="1">
                <a:latin typeface="Arial"/>
                <a:cs typeface="Arial"/>
              </a:rPr>
              <a:t>N</a:t>
            </a:r>
            <a:r>
              <a:rPr dirty="0" sz="1100" spc="-10" b="1">
                <a:latin typeface="Arial"/>
                <a:cs typeface="Arial"/>
              </a:rPr>
              <a:t>T</a:t>
            </a:r>
            <a:r>
              <a:rPr dirty="0" sz="1100" spc="-5" b="1">
                <a:latin typeface="Arial"/>
                <a:cs typeface="Arial"/>
              </a:rPr>
              <a:t>S</a:t>
            </a:r>
            <a:r>
              <a:rPr dirty="0" sz="1100" b="1">
                <a:latin typeface="Arial"/>
                <a:cs typeface="Arial"/>
              </a:rPr>
              <a:t>	</a:t>
            </a:r>
            <a:r>
              <a:rPr dirty="0" sz="1100" spc="-10" b="1">
                <a:latin typeface="Arial"/>
                <a:cs typeface="Arial"/>
              </a:rPr>
              <a:t>O</a:t>
            </a:r>
            <a:r>
              <a:rPr dirty="0" sz="1100" spc="-5" b="1">
                <a:latin typeface="Arial"/>
                <a:cs typeface="Arial"/>
              </a:rPr>
              <a:t>F</a:t>
            </a:r>
            <a:r>
              <a:rPr dirty="0" sz="1100" b="1">
                <a:latin typeface="Arial"/>
                <a:cs typeface="Arial"/>
              </a:rPr>
              <a:t>	</a:t>
            </a:r>
            <a:r>
              <a:rPr dirty="0" sz="1100" spc="-5" b="1">
                <a:latin typeface="Arial"/>
                <a:cs typeface="Arial"/>
              </a:rPr>
              <a:t>A</a:t>
            </a:r>
            <a:r>
              <a:rPr dirty="0" sz="1100" b="1">
                <a:latin typeface="Arial"/>
                <a:cs typeface="Arial"/>
              </a:rPr>
              <a:t>	</a:t>
            </a:r>
            <a:r>
              <a:rPr dirty="0" sz="1100" spc="-10" b="1">
                <a:latin typeface="Arial"/>
                <a:cs typeface="Arial"/>
              </a:rPr>
              <a:t>ST</a:t>
            </a:r>
            <a:r>
              <a:rPr dirty="0" sz="1100" b="1">
                <a:latin typeface="Arial"/>
                <a:cs typeface="Arial"/>
              </a:rPr>
              <a:t>R</a:t>
            </a:r>
            <a:r>
              <a:rPr dirty="0" sz="1100" spc="-10" b="1">
                <a:latin typeface="Arial"/>
                <a:cs typeface="Arial"/>
              </a:rPr>
              <a:t>A</a:t>
            </a:r>
            <a:r>
              <a:rPr dirty="0" sz="1100" b="1">
                <a:latin typeface="Arial"/>
                <a:cs typeface="Arial"/>
              </a:rPr>
              <a:t>T</a:t>
            </a:r>
            <a:r>
              <a:rPr dirty="0" sz="1100" spc="-10" b="1">
                <a:latin typeface="Arial"/>
                <a:cs typeface="Arial"/>
              </a:rPr>
              <a:t>E</a:t>
            </a:r>
            <a:r>
              <a:rPr dirty="0" sz="1100" spc="-10" b="1">
                <a:latin typeface="Arial"/>
                <a:cs typeface="Arial"/>
              </a:rPr>
              <a:t>G</a:t>
            </a:r>
            <a:r>
              <a:rPr dirty="0" sz="1100" spc="-5" b="1">
                <a:latin typeface="Arial"/>
                <a:cs typeface="Arial"/>
              </a:rPr>
              <a:t>Y</a:t>
            </a:r>
            <a:r>
              <a:rPr dirty="0" sz="1100" b="1">
                <a:latin typeface="Arial"/>
                <a:cs typeface="Arial"/>
              </a:rPr>
              <a:t>	</a:t>
            </a:r>
            <a:r>
              <a:rPr dirty="0" sz="1100" spc="-10" b="1">
                <a:latin typeface="Arial"/>
                <a:cs typeface="Arial"/>
              </a:rPr>
              <a:t>O</a:t>
            </a:r>
            <a:r>
              <a:rPr dirty="0" sz="1100" spc="-5" b="1">
                <a:latin typeface="Arial"/>
                <a:cs typeface="Arial"/>
              </a:rPr>
              <a:t>F</a:t>
            </a:r>
            <a:r>
              <a:rPr dirty="0" sz="1100" b="1">
                <a:latin typeface="Arial"/>
                <a:cs typeface="Arial"/>
              </a:rPr>
              <a:t>	</a:t>
            </a:r>
            <a:r>
              <a:rPr dirty="0" sz="1100" spc="-10" b="1">
                <a:latin typeface="Arial"/>
                <a:cs typeface="Arial"/>
              </a:rPr>
              <a:t>AGRIC</a:t>
            </a:r>
            <a:r>
              <a:rPr dirty="0" sz="1100" b="1">
                <a:latin typeface="Arial"/>
                <a:cs typeface="Arial"/>
              </a:rPr>
              <a:t>U</a:t>
            </a:r>
            <a:r>
              <a:rPr dirty="0" sz="1100" spc="-10" b="1">
                <a:latin typeface="Arial"/>
                <a:cs typeface="Arial"/>
              </a:rPr>
              <a:t>LTURA</a:t>
            </a:r>
            <a:r>
              <a:rPr dirty="0" sz="1100" spc="-5" b="1">
                <a:latin typeface="Arial"/>
                <a:cs typeface="Arial"/>
              </a:rPr>
              <a:t>L</a:t>
            </a:r>
            <a:r>
              <a:rPr dirty="0" sz="1100" b="1">
                <a:latin typeface="Arial"/>
                <a:cs typeface="Arial"/>
              </a:rPr>
              <a:t>	</a:t>
            </a:r>
            <a:r>
              <a:rPr dirty="0" sz="1100" spc="-10" b="1">
                <a:latin typeface="Arial"/>
                <a:cs typeface="Arial"/>
              </a:rPr>
              <a:t>AN</a:t>
            </a:r>
            <a:r>
              <a:rPr dirty="0" sz="1100" spc="-5" b="1">
                <a:latin typeface="Arial"/>
                <a:cs typeface="Arial"/>
              </a:rPr>
              <a:t>D</a:t>
            </a:r>
            <a:r>
              <a:rPr dirty="0" sz="1100" b="1">
                <a:latin typeface="Arial"/>
                <a:cs typeface="Arial"/>
              </a:rPr>
              <a:t>	</a:t>
            </a:r>
            <a:r>
              <a:rPr dirty="0" sz="1100" spc="-10" b="1">
                <a:latin typeface="Arial"/>
                <a:cs typeface="Arial"/>
              </a:rPr>
              <a:t>R</a:t>
            </a:r>
            <a:r>
              <a:rPr dirty="0" sz="1100" b="1">
                <a:latin typeface="Arial"/>
                <a:cs typeface="Arial"/>
              </a:rPr>
              <a:t>UR</a:t>
            </a:r>
            <a:r>
              <a:rPr dirty="0" sz="1100" spc="-10" b="1">
                <a:latin typeface="Arial"/>
                <a:cs typeface="Arial"/>
              </a:rPr>
              <a:t>A</a:t>
            </a:r>
            <a:r>
              <a:rPr dirty="0" sz="1100" spc="-5" b="1">
                <a:latin typeface="Arial"/>
                <a:cs typeface="Arial"/>
              </a:rPr>
              <a:t>L  </a:t>
            </a:r>
            <a:r>
              <a:rPr dirty="0" sz="1100" spc="-5" b="1">
                <a:latin typeface="Arial"/>
                <a:cs typeface="Arial"/>
              </a:rPr>
              <a:t>DEVELOPMENT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195</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10768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If the major objective of agricultural and rural development in developing nations is the  progressive improvement in rural levels of </a:t>
            </a:r>
            <a:r>
              <a:rPr dirty="0" sz="1100">
                <a:latin typeface="Arial"/>
                <a:cs typeface="Arial"/>
              </a:rPr>
              <a:t>living </a:t>
            </a:r>
            <a:r>
              <a:rPr dirty="0" sz="1100" spc="-5">
                <a:latin typeface="Arial"/>
                <a:cs typeface="Arial"/>
              </a:rPr>
              <a:t>achieved primarily through increases in small-  farm incomes, output, and productivity, along with genuine food security, it is important to  identify the principal sources of agricultural progress and the basic conditions essential to its  achievement.</a:t>
            </a:r>
            <a:endParaRPr sz="1100">
              <a:latin typeface="Arial"/>
              <a:cs typeface="Arial"/>
            </a:endParaRPr>
          </a:p>
          <a:p>
            <a:pPr marL="12700" marR="3055620">
              <a:lnSpc>
                <a:spcPts val="2650"/>
              </a:lnSpc>
              <a:spcBef>
                <a:spcPts val="200"/>
              </a:spcBef>
            </a:pPr>
            <a:r>
              <a:rPr dirty="0" sz="1100" spc="-5" b="1">
                <a:latin typeface="Arial"/>
                <a:cs typeface="Arial"/>
              </a:rPr>
              <a:t>IMPROVING SMALL-SCALE AGRICULTURE  TECHNOLOGY AND</a:t>
            </a:r>
            <a:r>
              <a:rPr dirty="0" sz="1100" spc="5" b="1">
                <a:latin typeface="Arial"/>
                <a:cs typeface="Arial"/>
              </a:rPr>
              <a:t> </a:t>
            </a:r>
            <a:r>
              <a:rPr dirty="0" sz="1100" spc="-10" b="1">
                <a:latin typeface="Arial"/>
                <a:cs typeface="Arial"/>
              </a:rPr>
              <a:t>INNOVATION</a:t>
            </a:r>
            <a:endParaRPr sz="1100">
              <a:latin typeface="Arial"/>
              <a:cs typeface="Arial"/>
            </a:endParaRPr>
          </a:p>
          <a:p>
            <a:pPr algn="just" marL="12700" marR="5080">
              <a:lnSpc>
                <a:spcPct val="95800"/>
              </a:lnSpc>
              <a:spcBef>
                <a:spcPts val="1055"/>
              </a:spcBef>
            </a:pPr>
            <a:r>
              <a:rPr dirty="0" sz="1100" spc="-5">
                <a:latin typeface="Arial"/>
                <a:cs typeface="Arial"/>
              </a:rPr>
              <a:t>In most developing countries, new agricultural technologies and innovations in farm practices  are preconditions for sustained improvements in </a:t>
            </a:r>
            <a:r>
              <a:rPr dirty="0" sz="1100">
                <a:latin typeface="Arial"/>
                <a:cs typeface="Arial"/>
              </a:rPr>
              <a:t>levels </a:t>
            </a:r>
            <a:r>
              <a:rPr dirty="0" sz="1100" spc="-5">
                <a:latin typeface="Arial"/>
                <a:cs typeface="Arial"/>
              </a:rPr>
              <a:t>of output and productivity. In many </a:t>
            </a:r>
            <a:r>
              <a:rPr dirty="0" sz="1100">
                <a:latin typeface="Arial"/>
                <a:cs typeface="Arial"/>
              </a:rPr>
              <a:t>parts  </a:t>
            </a:r>
            <a:r>
              <a:rPr dirty="0" sz="1100" spc="-5">
                <a:latin typeface="Arial"/>
                <a:cs typeface="Arial"/>
              </a:rPr>
              <a:t>of Africa, however, increased output in earlier years was achieved without the need for new  technology simply by extending cultivation into unused but potentially productive lands. Almost  all of these opportunities have by now been exploited, and there is little scope for further  significant or sustainable expansion. Two </a:t>
            </a:r>
            <a:r>
              <a:rPr dirty="0" sz="1100">
                <a:latin typeface="Arial"/>
                <a:cs typeface="Arial"/>
              </a:rPr>
              <a:t>major </a:t>
            </a:r>
            <a:r>
              <a:rPr dirty="0" sz="1100" spc="-5">
                <a:latin typeface="Arial"/>
                <a:cs typeface="Arial"/>
              </a:rPr>
              <a:t>sources of technological innovation can  increase farm yields. Unfortunately, both have somewhat problematic implications for  agricultural development. The first is the introduction of mechanized agriculture to replace  human </a:t>
            </a:r>
            <a:r>
              <a:rPr dirty="0" sz="1100">
                <a:latin typeface="Arial"/>
                <a:cs typeface="Arial"/>
              </a:rPr>
              <a:t>labor. </a:t>
            </a:r>
            <a:r>
              <a:rPr dirty="0" sz="1100" spc="-5">
                <a:latin typeface="Arial"/>
                <a:cs typeface="Arial"/>
              </a:rPr>
              <a:t>The introduction of laborsaving machinery can have a dramatic </a:t>
            </a:r>
            <a:r>
              <a:rPr dirty="0" sz="1100">
                <a:latin typeface="Arial"/>
                <a:cs typeface="Arial"/>
              </a:rPr>
              <a:t>effect </a:t>
            </a:r>
            <a:r>
              <a:rPr dirty="0" sz="1100" spc="-5">
                <a:latin typeface="Arial"/>
                <a:cs typeface="Arial"/>
              </a:rPr>
              <a:t>on the  volume of output per worker, especially where </a:t>
            </a:r>
            <a:r>
              <a:rPr dirty="0" sz="1100">
                <a:latin typeface="Arial"/>
                <a:cs typeface="Arial"/>
              </a:rPr>
              <a:t>land </a:t>
            </a:r>
            <a:r>
              <a:rPr dirty="0" sz="1100" spc="-5">
                <a:latin typeface="Arial"/>
                <a:cs typeface="Arial"/>
              </a:rPr>
              <a:t>is extensively cultivated and labor is scarce.  For example, one man operating a huge combine harvester can accomplish in a single hour  what would require hundreds of workers using traditional</a:t>
            </a:r>
            <a:r>
              <a:rPr dirty="0" sz="1100" spc="45">
                <a:latin typeface="Arial"/>
                <a:cs typeface="Arial"/>
              </a:rPr>
              <a:t> </a:t>
            </a:r>
            <a:r>
              <a:rPr dirty="0" sz="1100" spc="-5">
                <a:latin typeface="Arial"/>
                <a:cs typeface="Arial"/>
              </a:rPr>
              <a:t>methods.</a:t>
            </a:r>
            <a:endParaRPr sz="1100">
              <a:latin typeface="Arial"/>
              <a:cs typeface="Arial"/>
            </a:endParaRPr>
          </a:p>
          <a:p>
            <a:pPr>
              <a:lnSpc>
                <a:spcPct val="100000"/>
              </a:lnSpc>
            </a:pPr>
            <a:endParaRPr sz="1100">
              <a:latin typeface="Arial"/>
              <a:cs typeface="Arial"/>
            </a:endParaRPr>
          </a:p>
          <a:p>
            <a:pPr algn="just" marL="12700" marR="5715">
              <a:lnSpc>
                <a:spcPct val="95800"/>
              </a:lnSpc>
              <a:spcBef>
                <a:spcPts val="5"/>
              </a:spcBef>
            </a:pPr>
            <a:r>
              <a:rPr dirty="0" sz="1100" spc="-5">
                <a:latin typeface="Arial"/>
                <a:cs typeface="Arial"/>
              </a:rPr>
              <a:t>But in the rural areas of many developing nations, where land parcels are small, capital is  scarce, and labor is abundant, the introduction of heavily mechanized techniques is often ill  suited to the physical environment and has the effect of creating more rural unemployment  without necessarily lowering per-unit costs of food production. Importation of such machinery  can require large tracts of land (and thus the consolidation of small holdings) and tends to  exacerbate the already serious problems of rural poverty and underemployment. And if  mechanized techniques exclude women, the male-female productivity gap could widen further,  with serious repercussions.</a:t>
            </a:r>
            <a:endParaRPr sz="1100">
              <a:latin typeface="Arial"/>
              <a:cs typeface="Arial"/>
            </a:endParaRPr>
          </a:p>
          <a:p>
            <a:pPr>
              <a:lnSpc>
                <a:spcPct val="100000"/>
              </a:lnSpc>
              <a:spcBef>
                <a:spcPts val="30"/>
              </a:spcBef>
            </a:pPr>
            <a:endParaRPr sz="1100">
              <a:latin typeface="Arial"/>
              <a:cs typeface="Arial"/>
            </a:endParaRPr>
          </a:p>
          <a:p>
            <a:pPr marL="12700" marR="7620">
              <a:lnSpc>
                <a:spcPts val="1270"/>
              </a:lnSpc>
            </a:pPr>
            <a:r>
              <a:rPr dirty="0" sz="1100" spc="-5" b="1">
                <a:latin typeface="Arial"/>
                <a:cs typeface="Arial"/>
              </a:rPr>
              <a:t>INSTITUTIONAL </a:t>
            </a:r>
            <a:r>
              <a:rPr dirty="0" sz="1100" b="1">
                <a:latin typeface="Arial"/>
                <a:cs typeface="Arial"/>
              </a:rPr>
              <a:t>AND </a:t>
            </a:r>
            <a:r>
              <a:rPr dirty="0" sz="1100" spc="-5" b="1">
                <a:latin typeface="Arial"/>
                <a:cs typeface="Arial"/>
              </a:rPr>
              <a:t>PRICING POLICIES: PROVIDING THE NECESSARY ECONOMIC  INCENTIVES</a:t>
            </a:r>
            <a:endParaRPr sz="1100">
              <a:latin typeface="Arial"/>
              <a:cs typeface="Arial"/>
            </a:endParaRPr>
          </a:p>
          <a:p>
            <a:pPr>
              <a:lnSpc>
                <a:spcPct val="100000"/>
              </a:lnSpc>
              <a:spcBef>
                <a:spcPts val="10"/>
              </a:spcBef>
            </a:pPr>
            <a:endParaRPr sz="1150">
              <a:latin typeface="Arial"/>
              <a:cs typeface="Arial"/>
            </a:endParaRPr>
          </a:p>
          <a:p>
            <a:pPr algn="just" marL="12700" marR="5080">
              <a:lnSpc>
                <a:spcPct val="95900"/>
              </a:lnSpc>
              <a:spcBef>
                <a:spcPts val="5"/>
              </a:spcBef>
            </a:pPr>
            <a:r>
              <a:rPr dirty="0" sz="1100" spc="-5">
                <a:latin typeface="Arial"/>
                <a:cs typeface="Arial"/>
              </a:rPr>
              <a:t>Unfortunately, although the green revolution varieties of wheat, corn, and rice, together with  needed irrigation and chemicals, are scale neutral and thus offer the potential for continued  small-farm progress, the social institutions and government economic policies that accompany  their introduction into the rural economy are </a:t>
            </a:r>
            <a:r>
              <a:rPr dirty="0" sz="1100">
                <a:latin typeface="Arial"/>
                <a:cs typeface="Arial"/>
              </a:rPr>
              <a:t>often </a:t>
            </a:r>
            <a:r>
              <a:rPr dirty="0" sz="1100" spc="-5">
                <a:latin typeface="Arial"/>
                <a:cs typeface="Arial"/>
              </a:rPr>
              <a:t>not scale-neutral. On the contrary, they often  merely serve the needs and vested interests of the wealthy landowners. Because the new  hybrid seeds require access to complementary </a:t>
            </a:r>
            <a:r>
              <a:rPr dirty="0" sz="1100">
                <a:latin typeface="Arial"/>
                <a:cs typeface="Arial"/>
              </a:rPr>
              <a:t>inputs </a:t>
            </a:r>
            <a:r>
              <a:rPr dirty="0" sz="1100" spc="-5">
                <a:latin typeface="Arial"/>
                <a:cs typeface="Arial"/>
              </a:rPr>
              <a:t>such as irrigation, fertilizer, insecticides,  credit, and agricultural extension services, if these are provided only to a small minority of large  landowners, one impact of the green revolution can be (as in parts of South Asia and Mexico)  the further impoverishment of many</a:t>
            </a:r>
            <a:r>
              <a:rPr dirty="0" sz="1100" spc="25">
                <a:latin typeface="Arial"/>
                <a:cs typeface="Arial"/>
              </a:rPr>
              <a:t> </a:t>
            </a:r>
            <a:r>
              <a:rPr dirty="0" sz="1100" spc="-5">
                <a:latin typeface="Arial"/>
                <a:cs typeface="Arial"/>
              </a:rPr>
              <a:t>peasants.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Large landowners, with their disproportionate access to these complementary inputs and  support services, are able to gain a competitive advantage over smallholders and eventually  drive them out of the market. Large-scale farmers obtain access to low-interest government  credit, while smallholders are forced to turn to moneylenders. The result has all too often been  the further widening of the gap between rich and poor and the increased consolidation</a:t>
            </a:r>
            <a:r>
              <a:rPr dirty="0" sz="1100" spc="80">
                <a:latin typeface="Arial"/>
                <a:cs typeface="Arial"/>
              </a:rPr>
              <a:t> </a:t>
            </a:r>
            <a:r>
              <a:rPr dirty="0" sz="1100" spc="-5">
                <a:latin typeface="Arial"/>
                <a:cs typeface="Arial"/>
              </a:rPr>
              <a:t>of</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196</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81216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agricultural land in the hands of a very </a:t>
            </a:r>
            <a:r>
              <a:rPr dirty="0" sz="1100">
                <a:latin typeface="Arial"/>
                <a:cs typeface="Arial"/>
              </a:rPr>
              <a:t>few </a:t>
            </a:r>
            <a:r>
              <a:rPr dirty="0" sz="1100" spc="-5">
                <a:latin typeface="Arial"/>
                <a:cs typeface="Arial"/>
              </a:rPr>
              <a:t>so-called progressive farmers. A developmental  innovation with great potential for alleviating rural poverty and raising agricultural output can  thus turn out to be anti developmental if public policies and social institutions militate against the  active participation of the small farmer in the evolving agrarian</a:t>
            </a:r>
            <a:r>
              <a:rPr dirty="0" sz="1100" spc="75">
                <a:latin typeface="Arial"/>
                <a:cs typeface="Arial"/>
              </a:rPr>
              <a:t> </a:t>
            </a:r>
            <a:r>
              <a:rPr dirty="0" sz="1100" spc="-5">
                <a:latin typeface="Arial"/>
                <a:cs typeface="Arial"/>
              </a:rPr>
              <a:t>structure.</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Another critical area of many past </a:t>
            </a:r>
            <a:r>
              <a:rPr dirty="0" sz="1100">
                <a:latin typeface="Arial"/>
                <a:cs typeface="Arial"/>
              </a:rPr>
              <a:t>and </a:t>
            </a:r>
            <a:r>
              <a:rPr dirty="0" sz="1100" spc="-5">
                <a:latin typeface="Arial"/>
                <a:cs typeface="Arial"/>
              </a:rPr>
              <a:t>some continued failures in government policies relates to  the pricing of agricultural commodities, especially food grains and other staples produced for  local markets. Many governments in developing nations, in their headlong pursuit of rapid  industrial and urban development, maintained low agricultural prices in an attempt to provide  cheap food for the urban modern sector. Farmers were paid prices below either world  competitive or free-market internal prices. The relative internal price ratio between food and  manufactured goods (the domestic terms of trade) thus turned against farmers and in favor </a:t>
            </a:r>
            <a:r>
              <a:rPr dirty="0" sz="1100">
                <a:latin typeface="Arial"/>
                <a:cs typeface="Arial"/>
              </a:rPr>
              <a:t>of  </a:t>
            </a:r>
            <a:r>
              <a:rPr dirty="0" sz="1100" spc="-5">
                <a:latin typeface="Arial"/>
                <a:cs typeface="Arial"/>
              </a:rPr>
              <a:t>urban manufacturers. With farm prices so low—in some cases below the costs of production—  there was no incentive for farmers to expand output or invest in new productivity raising  technology. As a result, local food supplies continually fell short of demand, and </a:t>
            </a:r>
            <a:r>
              <a:rPr dirty="0" sz="1100">
                <a:latin typeface="Arial"/>
                <a:cs typeface="Arial"/>
              </a:rPr>
              <a:t>many  </a:t>
            </a:r>
            <a:r>
              <a:rPr dirty="0" sz="1100" spc="-5">
                <a:latin typeface="Arial"/>
                <a:cs typeface="Arial"/>
              </a:rPr>
              <a:t>developing nations, especially in sub-Saharan Africa, that were once self-sufficient in food  production had to import</a:t>
            </a:r>
            <a:r>
              <a:rPr dirty="0" sz="1100" spc="15">
                <a:latin typeface="Arial"/>
                <a:cs typeface="Arial"/>
              </a:rPr>
              <a:t> </a:t>
            </a:r>
            <a:r>
              <a:rPr dirty="0" sz="1100" spc="-5">
                <a:latin typeface="Arial"/>
                <a:cs typeface="Arial"/>
              </a:rPr>
              <a:t>food.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ADAPTING TO NEW OPPORTUNITIES </a:t>
            </a:r>
            <a:r>
              <a:rPr dirty="0" sz="1100" b="1">
                <a:latin typeface="Arial"/>
                <a:cs typeface="Arial"/>
              </a:rPr>
              <a:t>AND </a:t>
            </a:r>
            <a:r>
              <a:rPr dirty="0" sz="1100" spc="-5" b="1">
                <a:latin typeface="Arial"/>
                <a:cs typeface="Arial"/>
              </a:rPr>
              <a:t>NEW</a:t>
            </a:r>
            <a:r>
              <a:rPr dirty="0" sz="1100" spc="40" b="1">
                <a:latin typeface="Arial"/>
                <a:cs typeface="Arial"/>
              </a:rPr>
              <a:t> </a:t>
            </a:r>
            <a:r>
              <a:rPr dirty="0" sz="1100" spc="-5" b="1">
                <a:latin typeface="Arial"/>
                <a:cs typeface="Arial"/>
              </a:rPr>
              <a:t>CONSTRAINTS</a:t>
            </a:r>
            <a:endParaRPr sz="1100">
              <a:latin typeface="Arial"/>
              <a:cs typeface="Arial"/>
            </a:endParaRPr>
          </a:p>
          <a:p>
            <a:pPr>
              <a:lnSpc>
                <a:spcPct val="100000"/>
              </a:lnSpc>
              <a:spcBef>
                <a:spcPts val="45"/>
              </a:spcBef>
            </a:pPr>
            <a:endParaRPr sz="1150">
              <a:latin typeface="Arial"/>
              <a:cs typeface="Arial"/>
            </a:endParaRPr>
          </a:p>
          <a:p>
            <a:pPr algn="just" marL="12700" marR="6350" indent="38735">
              <a:lnSpc>
                <a:spcPct val="95800"/>
              </a:lnSpc>
            </a:pPr>
            <a:r>
              <a:rPr dirty="0" sz="1100" spc="-5">
                <a:latin typeface="Arial"/>
                <a:cs typeface="Arial"/>
              </a:rPr>
              <a:t>As a route out of poverty and toward genuine rural development, enhanced cereal productivity  (the classic green revolution characteristic) represents only a small part of the agricultural  opportunities. The best opportunities for sales to growing urban areas are generally found in  higher value-added activities, particularly horticulture (fruits, vegetables, and cut flowers) and  aquaculture. These products, along with organic and perhaps Fair Trade versions of some  otherwise traditional developing country exports such as coffee and spices, also provide good  opportunities for higher-value exports. But small farmers will need special organization and  assistance to take advantage of new opportunities. As the 2008 World Development Report  concluded, “Smallholders can bargain better as a group than as individuals. So a high priority is  to facilitate collective action through producer organizations to reach scale in marketing and  bargain for better prices.” Otherwise, the risk is large that these developments will benefit mainly  the larger</a:t>
            </a:r>
            <a:r>
              <a:rPr dirty="0" sz="1100">
                <a:latin typeface="Arial"/>
                <a:cs typeface="Arial"/>
              </a:rPr>
              <a:t> </a:t>
            </a:r>
            <a:r>
              <a:rPr dirty="0" sz="1100" spc="-5">
                <a:latin typeface="Arial"/>
                <a:cs typeface="Arial"/>
              </a:rPr>
              <a:t>farmers.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CONDITIONS FOR RURAL</a:t>
            </a:r>
            <a:r>
              <a:rPr dirty="0" sz="1100" spc="1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20"/>
              </a:spcBef>
            </a:pPr>
            <a:endParaRPr sz="1200">
              <a:latin typeface="Arial"/>
              <a:cs typeface="Arial"/>
            </a:endParaRPr>
          </a:p>
          <a:p>
            <a:pPr algn="just" marL="12700" marR="7620">
              <a:lnSpc>
                <a:spcPts val="1270"/>
              </a:lnSpc>
            </a:pPr>
            <a:r>
              <a:rPr dirty="0" sz="1100" spc="-5">
                <a:latin typeface="Arial"/>
                <a:cs typeface="Arial"/>
              </a:rPr>
              <a:t>We can draw three conclusions regarding the necessary conditions for the realization of a  people-oriented agricultural and rural development</a:t>
            </a:r>
            <a:r>
              <a:rPr dirty="0" sz="1100" spc="25">
                <a:latin typeface="Arial"/>
                <a:cs typeface="Arial"/>
              </a:rPr>
              <a:t> </a:t>
            </a:r>
            <a:r>
              <a:rPr dirty="0" sz="1100" spc="-5">
                <a:latin typeface="Arial"/>
                <a:cs typeface="Arial"/>
              </a:rPr>
              <a:t>strategy.</a:t>
            </a:r>
            <a:endParaRPr sz="1100">
              <a:latin typeface="Arial"/>
              <a:cs typeface="Arial"/>
            </a:endParaRPr>
          </a:p>
          <a:p>
            <a:pPr>
              <a:lnSpc>
                <a:spcPct val="100000"/>
              </a:lnSpc>
              <a:spcBef>
                <a:spcPts val="45"/>
              </a:spcBef>
            </a:pPr>
            <a:endParaRPr sz="1050">
              <a:latin typeface="Arial"/>
              <a:cs typeface="Arial"/>
            </a:endParaRPr>
          </a:p>
          <a:p>
            <a:pPr algn="just" marL="469265" indent="-229235">
              <a:lnSpc>
                <a:spcPts val="1285"/>
              </a:lnSpc>
              <a:buFont typeface="Symbol"/>
              <a:buChar char=""/>
              <a:tabLst>
                <a:tab pos="469900" algn="l"/>
              </a:tabLst>
            </a:pPr>
            <a:r>
              <a:rPr dirty="0" sz="1100" spc="-5" b="1">
                <a:latin typeface="Arial"/>
                <a:cs typeface="Arial"/>
              </a:rPr>
              <a:t>Land Reform</a:t>
            </a:r>
            <a:endParaRPr sz="1100">
              <a:latin typeface="Arial"/>
              <a:cs typeface="Arial"/>
            </a:endParaRPr>
          </a:p>
          <a:p>
            <a:pPr algn="just" marL="469265" marR="6985">
              <a:lnSpc>
                <a:spcPts val="1270"/>
              </a:lnSpc>
              <a:spcBef>
                <a:spcPts val="55"/>
              </a:spcBef>
            </a:pPr>
            <a:r>
              <a:rPr dirty="0" sz="1100" spc="-5" b="1">
                <a:latin typeface="Arial"/>
                <a:cs typeface="Arial"/>
              </a:rPr>
              <a:t>Conclusion 1: </a:t>
            </a:r>
            <a:r>
              <a:rPr dirty="0" sz="1100" spc="-5">
                <a:latin typeface="Arial"/>
                <a:cs typeface="Arial"/>
              </a:rPr>
              <a:t>Farm structures and land tenure patterns must be adapted to the </a:t>
            </a:r>
            <a:r>
              <a:rPr dirty="0" sz="1100">
                <a:latin typeface="Arial"/>
                <a:cs typeface="Arial"/>
              </a:rPr>
              <a:t>dual  </a:t>
            </a:r>
            <a:r>
              <a:rPr dirty="0" sz="1100" spc="-5">
                <a:latin typeface="Arial"/>
                <a:cs typeface="Arial"/>
              </a:rPr>
              <a:t>objectives of increasing food production and promoting a wider distribution of the  benefits of agrarian progress, allowing further progress against</a:t>
            </a:r>
            <a:r>
              <a:rPr dirty="0" sz="1100" spc="65">
                <a:latin typeface="Arial"/>
                <a:cs typeface="Arial"/>
              </a:rPr>
              <a:t> </a:t>
            </a:r>
            <a:r>
              <a:rPr dirty="0" sz="1100" spc="-5">
                <a:latin typeface="Arial"/>
                <a:cs typeface="Arial"/>
              </a:rPr>
              <a:t>poverty.</a:t>
            </a:r>
            <a:endParaRPr sz="1100">
              <a:latin typeface="Arial"/>
              <a:cs typeface="Arial"/>
            </a:endParaRPr>
          </a:p>
          <a:p>
            <a:pPr algn="just" marL="469265" indent="-229235">
              <a:lnSpc>
                <a:spcPts val="1275"/>
              </a:lnSpc>
              <a:buFont typeface="Symbol"/>
              <a:buChar char=""/>
              <a:tabLst>
                <a:tab pos="469900" algn="l"/>
              </a:tabLst>
            </a:pPr>
            <a:r>
              <a:rPr dirty="0" sz="1100" spc="-5" b="1">
                <a:latin typeface="Arial"/>
                <a:cs typeface="Arial"/>
              </a:rPr>
              <a:t>Supportive Policies</a:t>
            </a:r>
            <a:endParaRPr sz="1100">
              <a:latin typeface="Arial"/>
              <a:cs typeface="Arial"/>
            </a:endParaRPr>
          </a:p>
          <a:p>
            <a:pPr algn="just" marL="469265" marR="6350">
              <a:lnSpc>
                <a:spcPts val="1270"/>
              </a:lnSpc>
              <a:spcBef>
                <a:spcPts val="50"/>
              </a:spcBef>
            </a:pPr>
            <a:r>
              <a:rPr dirty="0" sz="1100" spc="-5" b="1">
                <a:latin typeface="Arial"/>
                <a:cs typeface="Arial"/>
              </a:rPr>
              <a:t>Conclusion 2: </a:t>
            </a:r>
            <a:r>
              <a:rPr dirty="0" sz="1100" spc="-5">
                <a:latin typeface="Arial"/>
                <a:cs typeface="Arial"/>
              </a:rPr>
              <a:t>The full benefits of small-scale agricultural development cannot be  realized unless government support systems are created that provide the necessary  incentives, economic opportunities, and access to needed credit and inputs to enable  small cultivators to expand their output and raise their</a:t>
            </a:r>
            <a:r>
              <a:rPr dirty="0" sz="1100" spc="60">
                <a:latin typeface="Arial"/>
                <a:cs typeface="Arial"/>
              </a:rPr>
              <a:t> </a:t>
            </a:r>
            <a:r>
              <a:rPr dirty="0" sz="1100" spc="-5">
                <a:latin typeface="Arial"/>
                <a:cs typeface="Arial"/>
              </a:rPr>
              <a:t>productivity.</a:t>
            </a:r>
            <a:endParaRPr sz="1100">
              <a:latin typeface="Arial"/>
              <a:cs typeface="Arial"/>
            </a:endParaRPr>
          </a:p>
          <a:p>
            <a:pPr algn="just" marL="469265" indent="-229235">
              <a:lnSpc>
                <a:spcPts val="1270"/>
              </a:lnSpc>
              <a:buFont typeface="Symbol"/>
              <a:buChar char=""/>
              <a:tabLst>
                <a:tab pos="469900" algn="l"/>
              </a:tabLst>
            </a:pPr>
            <a:r>
              <a:rPr dirty="0" sz="1100" spc="-5" b="1">
                <a:latin typeface="Arial"/>
                <a:cs typeface="Arial"/>
              </a:rPr>
              <a:t>Integrated Development</a:t>
            </a:r>
            <a:r>
              <a:rPr dirty="0" sz="1100" spc="5" b="1">
                <a:latin typeface="Arial"/>
                <a:cs typeface="Arial"/>
              </a:rPr>
              <a:t> </a:t>
            </a:r>
            <a:r>
              <a:rPr dirty="0" sz="1100" spc="-5" b="1">
                <a:latin typeface="Arial"/>
                <a:cs typeface="Arial"/>
              </a:rPr>
              <a:t>Objectives</a:t>
            </a:r>
            <a:endParaRPr sz="1100">
              <a:latin typeface="Arial"/>
              <a:cs typeface="Arial"/>
            </a:endParaRPr>
          </a:p>
          <a:p>
            <a:pPr algn="just" marL="469265" marR="8255">
              <a:lnSpc>
                <a:spcPts val="1260"/>
              </a:lnSpc>
              <a:spcBef>
                <a:spcPts val="60"/>
              </a:spcBef>
            </a:pPr>
            <a:r>
              <a:rPr dirty="0" sz="1100" spc="-5" b="1">
                <a:latin typeface="Arial"/>
                <a:cs typeface="Arial"/>
              </a:rPr>
              <a:t>Conclusion 3: </a:t>
            </a:r>
            <a:r>
              <a:rPr dirty="0" sz="1100" spc="-5">
                <a:latin typeface="Arial"/>
                <a:cs typeface="Arial"/>
              </a:rPr>
              <a:t>Rural development, though dependent primarily on small-farmer  agricultural</a:t>
            </a:r>
            <a:r>
              <a:rPr dirty="0" sz="1100" spc="105">
                <a:latin typeface="Arial"/>
                <a:cs typeface="Arial"/>
              </a:rPr>
              <a:t> </a:t>
            </a:r>
            <a:r>
              <a:rPr dirty="0" sz="1100" spc="-5">
                <a:latin typeface="Arial"/>
                <a:cs typeface="Arial"/>
              </a:rPr>
              <a:t>progress,</a:t>
            </a:r>
            <a:r>
              <a:rPr dirty="0" sz="1100" spc="114">
                <a:latin typeface="Arial"/>
                <a:cs typeface="Arial"/>
              </a:rPr>
              <a:t> </a:t>
            </a:r>
            <a:r>
              <a:rPr dirty="0" sz="1100" spc="-5">
                <a:latin typeface="Arial"/>
                <a:cs typeface="Arial"/>
              </a:rPr>
              <a:t>implies</a:t>
            </a:r>
            <a:r>
              <a:rPr dirty="0" sz="1100" spc="114">
                <a:latin typeface="Arial"/>
                <a:cs typeface="Arial"/>
              </a:rPr>
              <a:t> </a:t>
            </a:r>
            <a:r>
              <a:rPr dirty="0" sz="1100" spc="-5">
                <a:latin typeface="Arial"/>
                <a:cs typeface="Arial"/>
              </a:rPr>
              <a:t>much</a:t>
            </a:r>
            <a:r>
              <a:rPr dirty="0" sz="1100" spc="114">
                <a:latin typeface="Arial"/>
                <a:cs typeface="Arial"/>
              </a:rPr>
              <a:t> </a:t>
            </a:r>
            <a:r>
              <a:rPr dirty="0" sz="1100" spc="-5">
                <a:latin typeface="Arial"/>
                <a:cs typeface="Arial"/>
              </a:rPr>
              <a:t>more.</a:t>
            </a:r>
            <a:r>
              <a:rPr dirty="0" sz="1100" spc="114">
                <a:latin typeface="Arial"/>
                <a:cs typeface="Arial"/>
              </a:rPr>
              <a:t> </a:t>
            </a:r>
            <a:r>
              <a:rPr dirty="0" sz="1100" spc="-5">
                <a:latin typeface="Arial"/>
                <a:cs typeface="Arial"/>
              </a:rPr>
              <a:t>It</a:t>
            </a:r>
            <a:r>
              <a:rPr dirty="0" sz="1100" spc="114">
                <a:latin typeface="Arial"/>
                <a:cs typeface="Arial"/>
              </a:rPr>
              <a:t> </a:t>
            </a:r>
            <a:r>
              <a:rPr dirty="0" sz="1100" spc="-5">
                <a:latin typeface="Arial"/>
                <a:cs typeface="Arial"/>
              </a:rPr>
              <a:t>encompasses</a:t>
            </a:r>
            <a:r>
              <a:rPr dirty="0" sz="1100" spc="110">
                <a:latin typeface="Arial"/>
                <a:cs typeface="Arial"/>
              </a:rPr>
              <a:t> </a:t>
            </a:r>
            <a:r>
              <a:rPr dirty="0" sz="1100" spc="-5">
                <a:latin typeface="Arial"/>
                <a:cs typeface="Arial"/>
              </a:rPr>
              <a:t>(a)</a:t>
            </a:r>
            <a:r>
              <a:rPr dirty="0" sz="1100" spc="114">
                <a:latin typeface="Arial"/>
                <a:cs typeface="Arial"/>
              </a:rPr>
              <a:t> </a:t>
            </a:r>
            <a:r>
              <a:rPr dirty="0" sz="1100" spc="-5">
                <a:latin typeface="Arial"/>
                <a:cs typeface="Arial"/>
              </a:rPr>
              <a:t>efforts</a:t>
            </a:r>
            <a:r>
              <a:rPr dirty="0" sz="1100" spc="114">
                <a:latin typeface="Arial"/>
                <a:cs typeface="Arial"/>
              </a:rPr>
              <a:t> </a:t>
            </a:r>
            <a:r>
              <a:rPr dirty="0" sz="1100" spc="-5">
                <a:latin typeface="Arial"/>
                <a:cs typeface="Arial"/>
              </a:rPr>
              <a:t>to</a:t>
            </a:r>
            <a:r>
              <a:rPr dirty="0" sz="1100" spc="114">
                <a:latin typeface="Arial"/>
                <a:cs typeface="Arial"/>
              </a:rPr>
              <a:t> </a:t>
            </a:r>
            <a:r>
              <a:rPr dirty="0" sz="1100" spc="-5">
                <a:latin typeface="Arial"/>
                <a:cs typeface="Arial"/>
              </a:rPr>
              <a:t>raise</a:t>
            </a:r>
            <a:r>
              <a:rPr dirty="0" sz="1100" spc="114">
                <a:latin typeface="Arial"/>
                <a:cs typeface="Arial"/>
              </a:rPr>
              <a:t> </a:t>
            </a:r>
            <a:r>
              <a:rPr dirty="0" sz="1100" spc="-5">
                <a:latin typeface="Arial"/>
                <a:cs typeface="Arial"/>
              </a:rPr>
              <a:t>both</a:t>
            </a:r>
            <a:r>
              <a:rPr dirty="0" sz="1100" spc="114">
                <a:latin typeface="Arial"/>
                <a:cs typeface="Arial"/>
              </a:rPr>
              <a:t> </a:t>
            </a:r>
            <a:r>
              <a:rPr dirty="0" sz="1100" spc="-5">
                <a:latin typeface="Arial"/>
                <a:cs typeface="Arial"/>
              </a:rPr>
              <a:t>farm</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197</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1358900" y="891794"/>
            <a:ext cx="5513705" cy="1478280"/>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and non-farm rural real incomes through job creation, rural industrialization, and other  non-farm opportunities and the increased provision of education, health and nutrition,  housing, and a variety </a:t>
            </a:r>
            <a:r>
              <a:rPr dirty="0" sz="1100">
                <a:latin typeface="Arial"/>
                <a:cs typeface="Arial"/>
              </a:rPr>
              <a:t>of </a:t>
            </a:r>
            <a:r>
              <a:rPr dirty="0" sz="1100" spc="-5">
                <a:latin typeface="Arial"/>
                <a:cs typeface="Arial"/>
              </a:rPr>
              <a:t>related social and welfare services; (b) a decreasing inequality  in the distribution of rural incomes and a lessening of urban rural imbalances in incomes  and economic opportunities; (c) successful attention to the need </a:t>
            </a:r>
            <a:r>
              <a:rPr dirty="0" sz="1100">
                <a:latin typeface="Arial"/>
                <a:cs typeface="Arial"/>
              </a:rPr>
              <a:t>for </a:t>
            </a:r>
            <a:r>
              <a:rPr dirty="0" sz="1100" spc="-5">
                <a:latin typeface="Arial"/>
                <a:cs typeface="Arial"/>
              </a:rPr>
              <a:t>environmental  sustainability—limiting the extension of farmland into remaining forests and other fragile  areas, promoting conservation, and preventing the harmful misuse of agrochemicals and  other inputs; and (d) the capacity of the rural sector to sustain and accelerate the pace of  these improvements over</a:t>
            </a:r>
            <a:r>
              <a:rPr dirty="0" sz="1100" spc="10">
                <a:latin typeface="Arial"/>
                <a:cs typeface="Arial"/>
              </a:rPr>
              <a:t> </a:t>
            </a:r>
            <a:r>
              <a:rPr dirty="0" sz="1100" spc="-5">
                <a:latin typeface="Arial"/>
                <a:cs typeface="Arial"/>
              </a:rPr>
              <a:t>time.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198</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54365"/>
          </a:xfrm>
          <a:prstGeom prst="rect">
            <a:avLst/>
          </a:prstGeom>
        </p:spPr>
        <p:txBody>
          <a:bodyPr wrap="square" lIns="0" tIns="12065" rIns="0" bIns="0" rtlCol="0" vert="horz">
            <a:spAutoFit/>
          </a:bodyPr>
          <a:lstStyle/>
          <a:p>
            <a:pPr algn="r" marR="5715">
              <a:lnSpc>
                <a:spcPts val="1295"/>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29</a:t>
            </a:r>
            <a:endParaRPr sz="1100">
              <a:latin typeface="Arial"/>
              <a:cs typeface="Arial"/>
            </a:endParaRPr>
          </a:p>
          <a:p>
            <a:pPr algn="ctr">
              <a:lnSpc>
                <a:spcPts val="1295"/>
              </a:lnSpc>
            </a:pPr>
            <a:r>
              <a:rPr dirty="0" sz="1100" spc="-5" b="1">
                <a:latin typeface="Arial"/>
                <a:cs typeface="Arial"/>
              </a:rPr>
              <a:t>THE ENVIRONMENT AND ECONOMIC</a:t>
            </a:r>
            <a:r>
              <a:rPr dirty="0" sz="1100" spc="25"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
              </a:spcBef>
            </a:pPr>
            <a:endParaRPr sz="1150">
              <a:latin typeface="Arial"/>
              <a:cs typeface="Arial"/>
            </a:endParaRPr>
          </a:p>
          <a:p>
            <a:pPr algn="just" marL="12700">
              <a:lnSpc>
                <a:spcPct val="100000"/>
              </a:lnSpc>
            </a:pPr>
            <a:r>
              <a:rPr dirty="0" sz="1100" spc="-5" b="1">
                <a:latin typeface="Arial"/>
                <a:cs typeface="Arial"/>
              </a:rPr>
              <a:t>ECONOMICS AND THE</a:t>
            </a:r>
            <a:r>
              <a:rPr dirty="0" sz="1100" spc="10"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800"/>
              </a:lnSpc>
            </a:pPr>
            <a:r>
              <a:rPr dirty="0" sz="1100" spc="-5">
                <a:latin typeface="Arial"/>
                <a:cs typeface="Arial"/>
              </a:rPr>
              <a:t>The livelihood of more than half of the economically active population in the developing world  directly depends in whole or part on the environment through agriculture, as well as animal  husbandry, hunting, fishing, forestry, and foraging. This alone underscores the importance of  the seventh Millennium Development Goal: to “ensure environmental sustainability.”  Environmental quality affects, and is affected by, economic development. In recent years,  economists have increasingly focused on the </a:t>
            </a:r>
            <a:r>
              <a:rPr dirty="0" sz="1100">
                <a:latin typeface="Arial"/>
                <a:cs typeface="Arial"/>
              </a:rPr>
              <a:t>important </a:t>
            </a:r>
            <a:r>
              <a:rPr dirty="0" sz="1100" spc="-5">
                <a:latin typeface="Arial"/>
                <a:cs typeface="Arial"/>
              </a:rPr>
              <a:t>implications of environmental issues for  the success of development efforts. It is clear that classic market failures lead to too much  environmental degradation. We now also understand that the interaction between poverty and  environmental degradation can lead to a self-perpetuating process in which, as a result of  ignorance or economic necessity, communities may inadvertently destroy or exhaust the  resources on which they depend for survival. Rising pressures on environmental resources in  developing countries can have severe consequences for self-sufficiency, income distribution,  and future growth</a:t>
            </a:r>
            <a:r>
              <a:rPr dirty="0" sz="1100" spc="5">
                <a:latin typeface="Arial"/>
                <a:cs typeface="Arial"/>
              </a:rPr>
              <a:t> </a:t>
            </a:r>
            <a:r>
              <a:rPr dirty="0" sz="1100" spc="-5">
                <a:latin typeface="Arial"/>
                <a:cs typeface="Arial"/>
              </a:rPr>
              <a:t>potential.</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Environmental degradation can also detract </a:t>
            </a:r>
            <a:r>
              <a:rPr dirty="0" sz="1100">
                <a:latin typeface="Arial"/>
                <a:cs typeface="Arial"/>
              </a:rPr>
              <a:t>from </a:t>
            </a:r>
            <a:r>
              <a:rPr dirty="0" sz="1100" spc="-5">
                <a:latin typeface="Arial"/>
                <a:cs typeface="Arial"/>
              </a:rPr>
              <a:t>the </a:t>
            </a:r>
            <a:r>
              <a:rPr dirty="0" sz="1100">
                <a:latin typeface="Arial"/>
                <a:cs typeface="Arial"/>
              </a:rPr>
              <a:t>pace </a:t>
            </a:r>
            <a:r>
              <a:rPr dirty="0" sz="1100" spc="-5">
                <a:latin typeface="Arial"/>
                <a:cs typeface="Arial"/>
              </a:rPr>
              <a:t>of economic development </a:t>
            </a:r>
            <a:r>
              <a:rPr dirty="0" sz="1100">
                <a:latin typeface="Arial"/>
                <a:cs typeface="Arial"/>
              </a:rPr>
              <a:t>by  </a:t>
            </a:r>
            <a:r>
              <a:rPr dirty="0" sz="1100" spc="-5">
                <a:latin typeface="Arial"/>
                <a:cs typeface="Arial"/>
              </a:rPr>
              <a:t>imposing high costs on developing countries through health related expenses and the reduced  productivity of resources. The poorest 20% of the poor in both rural and urban areas will  experience the consequences of environmental ills most acutely. Severe environmental  degradation, due to population pressures on marginal land, has led to falling farm productivity  and per capita food production. Since the cultivation of marginal land is largely the domain of  lower-income groups, the losses are suffered by those who can least afford them. Similarly, the  inaccessibility of sanitation and clean water mainly affects the poor and is believed to be  responsible for a preponderance of infectious disease worldwide. Because the solutions to  these and many other environmental problems involve enhancing the productivity of resources  and improving living conditions among the poor, achieving environmentally sustainable growth  is synonymous with our definition of economic</a:t>
            </a:r>
            <a:r>
              <a:rPr dirty="0" sz="1100" spc="30">
                <a:latin typeface="Arial"/>
                <a:cs typeface="Arial"/>
              </a:rPr>
              <a:t> </a:t>
            </a:r>
            <a:r>
              <a:rPr dirty="0" sz="1100" spc="-5">
                <a:latin typeface="Arial"/>
                <a:cs typeface="Arial"/>
              </a:rPr>
              <a:t>development.</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Although the environmental costs associated with various economic activities are disputed,  development economists agree that environmental considerations should form an integral part  of policy initiatives. The exclusion of </a:t>
            </a:r>
            <a:r>
              <a:rPr dirty="0" sz="1100">
                <a:latin typeface="Arial"/>
                <a:cs typeface="Arial"/>
              </a:rPr>
              <a:t>environmental </a:t>
            </a:r>
            <a:r>
              <a:rPr dirty="0" sz="1100" spc="-5">
                <a:latin typeface="Arial"/>
                <a:cs typeface="Arial"/>
              </a:rPr>
              <a:t>costs from calculations of GNI is a major  factor in the historical absence of environmental considerations from development economics.  Damage to soil, water supplies, and forests resulting from unsustainable methods of production  can greatly reduce long-term national productivity but will have a positive impact on current GNI  figures. It is thus very important </a:t>
            </a:r>
            <a:r>
              <a:rPr dirty="0" sz="1100">
                <a:latin typeface="Arial"/>
                <a:cs typeface="Arial"/>
              </a:rPr>
              <a:t>that </a:t>
            </a:r>
            <a:r>
              <a:rPr dirty="0" sz="1100" spc="-5">
                <a:latin typeface="Arial"/>
                <a:cs typeface="Arial"/>
              </a:rPr>
              <a:t>the long-term implications of environmental quality be  considered in economic analysis. Rapid </a:t>
            </a:r>
            <a:r>
              <a:rPr dirty="0" sz="1100">
                <a:latin typeface="Arial"/>
                <a:cs typeface="Arial"/>
              </a:rPr>
              <a:t>population </a:t>
            </a:r>
            <a:r>
              <a:rPr dirty="0" sz="1100" spc="-5">
                <a:latin typeface="Arial"/>
                <a:cs typeface="Arial"/>
              </a:rPr>
              <a:t>growth and expanding economic activity in  the developing world are likely to do extensive environmental damage unless steps are taken to  mitigate their negative</a:t>
            </a:r>
            <a:r>
              <a:rPr dirty="0" sz="1100" spc="10">
                <a:latin typeface="Arial"/>
                <a:cs typeface="Arial"/>
              </a:rPr>
              <a:t> </a:t>
            </a:r>
            <a:r>
              <a:rPr dirty="0" sz="1100" spc="-5">
                <a:latin typeface="Arial"/>
                <a:cs typeface="Arial"/>
              </a:rPr>
              <a:t>consequences.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The growing consumption needs of people in developing countries may have global implications  as well. There is increasing concern that the destruction of the world’s remaining forests, which  are concentrated in a number of highly indebted developing countries in Africa as well as such  countries as Indonesia, Brazil, Peru, and the Philippines, will greatly contribute to climate  change caused by global warming through the greenhouse effect. At the same time, developing  countries, particularly those in sub-Saharan </a:t>
            </a:r>
            <a:r>
              <a:rPr dirty="0" sz="1100">
                <a:latin typeface="Arial"/>
                <a:cs typeface="Arial"/>
              </a:rPr>
              <a:t>Africa </a:t>
            </a:r>
            <a:r>
              <a:rPr dirty="0" sz="1100" spc="-5">
                <a:latin typeface="Arial"/>
                <a:cs typeface="Arial"/>
              </a:rPr>
              <a:t>and South Asia, are predicted by climate  models to suffer most from future global warming and climate change. Yet to date, most of the  greenhouse gases causing the problem were emitted in developed countries, creating what </a:t>
            </a:r>
            <a:r>
              <a:rPr dirty="0" sz="1100">
                <a:latin typeface="Arial"/>
                <a:cs typeface="Arial"/>
              </a:rPr>
              <a:t>may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199</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be termed environmental dependence: Developing nations will be reliant on the developed  world to take immediate steps to reduce emissions, as well as to develop new technologies that  will enable further reductions and successful adaptation to the already inevitable warming </a:t>
            </a:r>
            <a:r>
              <a:rPr dirty="0" sz="1100">
                <a:latin typeface="Arial"/>
                <a:cs typeface="Arial"/>
              </a:rPr>
              <a:t>and  </a:t>
            </a:r>
            <a:r>
              <a:rPr dirty="0" sz="1100" spc="-5">
                <a:latin typeface="Arial"/>
                <a:cs typeface="Arial"/>
              </a:rPr>
              <a:t>resulting climate change. However, developing countries, most prominently China at this stage,  will also have to reduce emissions well below current forecasts, or any reductions in the  developed world will only delay </a:t>
            </a:r>
            <a:r>
              <a:rPr dirty="0" sz="1100">
                <a:latin typeface="Arial"/>
                <a:cs typeface="Arial"/>
              </a:rPr>
              <a:t>the </a:t>
            </a:r>
            <a:r>
              <a:rPr dirty="0" sz="1100" spc="-5">
                <a:latin typeface="Arial"/>
                <a:cs typeface="Arial"/>
              </a:rPr>
              <a:t>possibly catastrophic consequences. In this chapter, </a:t>
            </a:r>
            <a:r>
              <a:rPr dirty="0" sz="1100">
                <a:latin typeface="Arial"/>
                <a:cs typeface="Arial"/>
              </a:rPr>
              <a:t>we  </a:t>
            </a:r>
            <a:r>
              <a:rPr dirty="0" sz="1100" spc="-5">
                <a:latin typeface="Arial"/>
                <a:cs typeface="Arial"/>
              </a:rPr>
              <a:t>examine the economic causes and consequences of environmental crises and explore potential  solutions to the cycle of poverty and resource</a:t>
            </a:r>
            <a:r>
              <a:rPr dirty="0" sz="1100" spc="40">
                <a:latin typeface="Arial"/>
                <a:cs typeface="Arial"/>
              </a:rPr>
              <a:t> </a:t>
            </a:r>
            <a:r>
              <a:rPr dirty="0" sz="1100" spc="-5">
                <a:latin typeface="Arial"/>
                <a:cs typeface="Arial"/>
              </a:rPr>
              <a:t>degradation.</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We begin with a survey of basic issues, </a:t>
            </a:r>
            <a:r>
              <a:rPr dirty="0" sz="1100">
                <a:latin typeface="Arial"/>
                <a:cs typeface="Arial"/>
              </a:rPr>
              <a:t>including </a:t>
            </a:r>
            <a:r>
              <a:rPr dirty="0" sz="1100" spc="-5">
                <a:latin typeface="Arial"/>
                <a:cs typeface="Arial"/>
              </a:rPr>
              <a:t>discussions of sustainable development and  the linkages among population, poverty, economic growth, rural development, urbanization, and  the environment in developing countries. We next look at the applicability of traditional economic  models of the environment, depict some typical environmental situations, and provide some  relevant data. We then broaden </a:t>
            </a:r>
            <a:r>
              <a:rPr dirty="0" sz="1100">
                <a:latin typeface="Arial"/>
                <a:cs typeface="Arial"/>
              </a:rPr>
              <a:t>our </a:t>
            </a:r>
            <a:r>
              <a:rPr dirty="0" sz="1100" spc="-5">
                <a:latin typeface="Arial"/>
                <a:cs typeface="Arial"/>
              </a:rPr>
              <a:t>scope to examine </a:t>
            </a:r>
            <a:r>
              <a:rPr dirty="0" sz="1100">
                <a:latin typeface="Arial"/>
                <a:cs typeface="Arial"/>
              </a:rPr>
              <a:t>the </a:t>
            </a:r>
            <a:r>
              <a:rPr dirty="0" sz="1100" spc="-5">
                <a:latin typeface="Arial"/>
                <a:cs typeface="Arial"/>
              </a:rPr>
              <a:t>global environment and explore  policies for seeking worldwide sustainable development. The end-of-chapter comparative case  study of Haiti and the Dominican Republic—two nations sharing one island—examines the role  of environment as one of the dimensions of their very different development</a:t>
            </a:r>
            <a:r>
              <a:rPr dirty="0" sz="1100" spc="135">
                <a:latin typeface="Arial"/>
                <a:cs typeface="Arial"/>
              </a:rPr>
              <a:t> </a:t>
            </a:r>
            <a:r>
              <a:rPr dirty="0" sz="1100" spc="-5">
                <a:latin typeface="Arial"/>
                <a:cs typeface="Arial"/>
              </a:rPr>
              <a:t>outcomes.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Eight basic issues define the environment of development. Many grow out of the discussions in  the preceding chapters. The first is the concept of sustainable development; the others involve  linkages between the environment and population and resources, poverty, economic growth,  rural development, urbanization, the global economy, and </a:t>
            </a:r>
            <a:r>
              <a:rPr dirty="0" sz="1100">
                <a:latin typeface="Arial"/>
                <a:cs typeface="Arial"/>
              </a:rPr>
              <a:t>the </a:t>
            </a:r>
            <a:r>
              <a:rPr dirty="0" sz="1100" spc="-5">
                <a:latin typeface="Arial"/>
                <a:cs typeface="Arial"/>
              </a:rPr>
              <a:t>nature and pace of greenhouse  gas–induced climate change. We briefly discuss each in</a:t>
            </a:r>
            <a:r>
              <a:rPr dirty="0" sz="1100" spc="45">
                <a:latin typeface="Arial"/>
                <a:cs typeface="Arial"/>
              </a:rPr>
              <a:t> </a:t>
            </a:r>
            <a:r>
              <a:rPr dirty="0" sz="1100" spc="-5">
                <a:latin typeface="Arial"/>
                <a:cs typeface="Arial"/>
              </a:rPr>
              <a:t>turn.</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GLOBAL WARMING</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Increasing average air </a:t>
            </a:r>
            <a:r>
              <a:rPr dirty="0" sz="1100">
                <a:latin typeface="Arial"/>
                <a:cs typeface="Arial"/>
              </a:rPr>
              <a:t>and </a:t>
            </a:r>
            <a:r>
              <a:rPr dirty="0" sz="1100" spc="-5">
                <a:latin typeface="Arial"/>
                <a:cs typeface="Arial"/>
              </a:rPr>
              <a:t>ocean temperatures. Used in reference to the trend that began in the  mid-twentieth century and attributed largely to human industrial, forestry and agricultural  activities emitting greenhouse</a:t>
            </a:r>
            <a:r>
              <a:rPr dirty="0" sz="1100" spc="10">
                <a:latin typeface="Arial"/>
                <a:cs typeface="Arial"/>
              </a:rPr>
              <a:t> </a:t>
            </a:r>
            <a:r>
              <a:rPr dirty="0" sz="1100" spc="-5">
                <a:latin typeface="Arial"/>
                <a:cs typeface="Arial"/>
              </a:rPr>
              <a:t>gases.</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CLIMATE</a:t>
            </a:r>
            <a:r>
              <a:rPr dirty="0" sz="1100" spc="-10" b="1">
                <a:latin typeface="Arial"/>
                <a:cs typeface="Arial"/>
              </a:rPr>
              <a:t> </a:t>
            </a:r>
            <a:r>
              <a:rPr dirty="0" sz="1100" spc="-5" b="1">
                <a:latin typeface="Arial"/>
                <a:cs typeface="Arial"/>
              </a:rPr>
              <a:t>CHANGE</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Non transient altering of underlying climate, such as increased average temperature, decreased  annual precipitation or greater average intensity of droughts or storms. Used in reference to the  impact of the global warming phenomenon. Note the distinction between changes in weather  (which varies within a climate), and change in climate that alter underlying probabilities of  weather outcomes.</a:t>
            </a:r>
            <a:endParaRPr sz="1100">
              <a:latin typeface="Arial"/>
              <a:cs typeface="Arial"/>
            </a:endParaRPr>
          </a:p>
          <a:p>
            <a:pPr>
              <a:lnSpc>
                <a:spcPct val="100000"/>
              </a:lnSpc>
              <a:spcBef>
                <a:spcPts val="15"/>
              </a:spcBef>
            </a:pPr>
            <a:endParaRPr sz="1000">
              <a:latin typeface="Arial"/>
              <a:cs typeface="Arial"/>
            </a:endParaRPr>
          </a:p>
          <a:p>
            <a:pPr marL="12700">
              <a:lnSpc>
                <a:spcPct val="100000"/>
              </a:lnSpc>
            </a:pPr>
            <a:r>
              <a:rPr dirty="0" sz="1100" spc="-5" b="1">
                <a:latin typeface="Arial"/>
                <a:cs typeface="Arial"/>
              </a:rPr>
              <a:t>SUSTAINABLE DEVELOPMENT AND ENVIRONMENTAL</a:t>
            </a:r>
            <a:r>
              <a:rPr dirty="0" sz="1100" spc="15" b="1">
                <a:latin typeface="Arial"/>
                <a:cs typeface="Arial"/>
              </a:rPr>
              <a:t> </a:t>
            </a:r>
            <a:r>
              <a:rPr dirty="0" sz="1100" spc="-5" b="1">
                <a:latin typeface="Arial"/>
                <a:cs typeface="Arial"/>
              </a:rPr>
              <a:t>ACCOUNTING</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The term sustainability reflects the need for careful balance between economic growth </a:t>
            </a:r>
            <a:r>
              <a:rPr dirty="0" sz="1100">
                <a:latin typeface="Arial"/>
                <a:cs typeface="Arial"/>
              </a:rPr>
              <a:t>and  </a:t>
            </a:r>
            <a:r>
              <a:rPr dirty="0" sz="1100" spc="-5">
                <a:latin typeface="Arial"/>
                <a:cs typeface="Arial"/>
              </a:rPr>
              <a:t>environmental preservation. Although many </a:t>
            </a:r>
            <a:r>
              <a:rPr dirty="0" sz="1100">
                <a:latin typeface="Arial"/>
                <a:cs typeface="Arial"/>
              </a:rPr>
              <a:t>definitions </a:t>
            </a:r>
            <a:r>
              <a:rPr dirty="0" sz="1100" spc="-5">
                <a:latin typeface="Arial"/>
                <a:cs typeface="Arial"/>
              </a:rPr>
              <a:t>exist, sustainability generally refers to  “meeting </a:t>
            </a:r>
            <a:r>
              <a:rPr dirty="0" sz="1100">
                <a:latin typeface="Arial"/>
                <a:cs typeface="Arial"/>
              </a:rPr>
              <a:t>the </a:t>
            </a:r>
            <a:r>
              <a:rPr dirty="0" sz="1100" spc="-5">
                <a:latin typeface="Arial"/>
                <a:cs typeface="Arial"/>
              </a:rPr>
              <a:t>needs of the present generation without compromising the needs of future  generations.” In a classic definition, a development path is sustainable “if and only if the stock of  overall capital assets remains constant or rises over time.” But in this regard, natural resources  and other forms of capital are substitutes only at a limited scale and to a limited degree. Rather,  after the environment </a:t>
            </a:r>
            <a:r>
              <a:rPr dirty="0" sz="1100">
                <a:latin typeface="Arial"/>
                <a:cs typeface="Arial"/>
              </a:rPr>
              <a:t>has </a:t>
            </a:r>
            <a:r>
              <a:rPr dirty="0" sz="1100" spc="-5">
                <a:latin typeface="Arial"/>
                <a:cs typeface="Arial"/>
              </a:rPr>
              <a:t>been degraded to some extent, natural resources and other forms of  capital likely act as complements. Manufactured capital is generally unproductive without a  minimum of available environmental services. While future technological fixes </a:t>
            </a:r>
            <a:r>
              <a:rPr dirty="0" sz="1100">
                <a:latin typeface="Arial"/>
                <a:cs typeface="Arial"/>
              </a:rPr>
              <a:t>may </a:t>
            </a:r>
            <a:r>
              <a:rPr dirty="0" sz="1100" spc="-5">
                <a:latin typeface="Arial"/>
                <a:cs typeface="Arial"/>
              </a:rPr>
              <a:t>be imagined,  there is certainly no guarantee that they will</a:t>
            </a:r>
            <a:r>
              <a:rPr dirty="0" sz="1100" spc="40">
                <a:latin typeface="Arial"/>
                <a:cs typeface="Arial"/>
              </a:rPr>
              <a:t> </a:t>
            </a:r>
            <a:r>
              <a:rPr dirty="0" sz="1100" spc="-5">
                <a:latin typeface="Arial"/>
                <a:cs typeface="Arial"/>
              </a:rPr>
              <a:t>emerge.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200</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308483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Implicit in these statements is the fact that future growth and overall quality of life are critically  dependent on the quality of the environment. The natural resource base of a country and the  quality of its air, water, and land represent a common heritage for all generations. To destroy  that endowment indiscriminately in the pursuit of short-term economic goals penalizes both  present and, especially, future</a:t>
            </a:r>
            <a:r>
              <a:rPr dirty="0" sz="1100" spc="10">
                <a:latin typeface="Arial"/>
                <a:cs typeface="Arial"/>
              </a:rPr>
              <a:t> </a:t>
            </a:r>
            <a:r>
              <a:rPr dirty="0" sz="1100" spc="-5">
                <a:latin typeface="Arial"/>
                <a:cs typeface="Arial"/>
              </a:rPr>
              <a:t>generations.</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It is therefore important that development policymakers incorporate some form of environmental  accounting into their decisions. For example, the preservation or loss of valuable environmental  resources should be factored into estimates of economic growth and human well-being.  Alternatively, policymakers may </a:t>
            </a:r>
            <a:r>
              <a:rPr dirty="0" sz="1100">
                <a:latin typeface="Arial"/>
                <a:cs typeface="Arial"/>
              </a:rPr>
              <a:t>set </a:t>
            </a:r>
            <a:r>
              <a:rPr dirty="0" sz="1100" spc="-5">
                <a:latin typeface="Arial"/>
                <a:cs typeface="Arial"/>
              </a:rPr>
              <a:t>a goal of no net loss of environmental assets. In other  words, if an environmental resource is damaged or depleted in one area, a resource of equal or  greater value should be regenerated</a:t>
            </a:r>
            <a:r>
              <a:rPr dirty="0" sz="1100" spc="15">
                <a:latin typeface="Arial"/>
                <a:cs typeface="Arial"/>
              </a:rPr>
              <a:t> </a:t>
            </a:r>
            <a:r>
              <a:rPr dirty="0" sz="1100" spc="-5">
                <a:latin typeface="Arial"/>
                <a:cs typeface="Arial"/>
              </a:rPr>
              <a:t>elsewhere.</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Overall capital assets are meant to include not only manufactured capital (machines, factories,  roads) but also human capital (knowledge, experience, skills) and environmental capital  (forests, soil quality, </a:t>
            </a:r>
            <a:r>
              <a:rPr dirty="0" sz="1100">
                <a:latin typeface="Arial"/>
                <a:cs typeface="Arial"/>
              </a:rPr>
              <a:t>range </a:t>
            </a:r>
            <a:r>
              <a:rPr dirty="0" sz="1100" spc="-5">
                <a:latin typeface="Arial"/>
                <a:cs typeface="Arial"/>
              </a:rPr>
              <a:t>land). By this definition, sustainable development requires that these  overall capital assets not be decreasing and that the correct measure of sustainable net national  income (NNI*) is the amount that can be consumed without diminishing the capital stock.  Symbolically,</a:t>
            </a:r>
            <a:endParaRPr sz="1100">
              <a:latin typeface="Arial"/>
              <a:cs typeface="Arial"/>
            </a:endParaRPr>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4" name="object 14"/>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201</a:t>
            </a:r>
          </a:p>
        </p:txBody>
      </p:sp>
      <p:sp>
        <p:nvSpPr>
          <p:cNvPr id="7" name="object 7"/>
          <p:cNvSpPr txBox="1"/>
          <p:nvPr/>
        </p:nvSpPr>
        <p:spPr>
          <a:xfrm>
            <a:off x="901700" y="4425913"/>
            <a:ext cx="5969635" cy="83566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Where, </a:t>
            </a:r>
            <a:r>
              <a:rPr dirty="0" sz="1100">
                <a:latin typeface="Arial"/>
                <a:cs typeface="Arial"/>
              </a:rPr>
              <a:t>NNI* </a:t>
            </a:r>
            <a:r>
              <a:rPr dirty="0" sz="1100" spc="-5">
                <a:latin typeface="Arial"/>
                <a:cs typeface="Arial"/>
              </a:rPr>
              <a:t>is sustainable national income, Dm is depreciation of manufactured capital assets,  and Dn is depreciation of environmental capital—the monetary value </a:t>
            </a:r>
            <a:r>
              <a:rPr dirty="0" sz="1100">
                <a:latin typeface="Arial"/>
                <a:cs typeface="Arial"/>
              </a:rPr>
              <a:t>of </a:t>
            </a:r>
            <a:r>
              <a:rPr dirty="0" sz="1100" spc="-5">
                <a:latin typeface="Arial"/>
                <a:cs typeface="Arial"/>
              </a:rPr>
              <a:t>environmental decay  over the course of a year. NNI* includes costs of activities to reverse or avert environmental  decay. An even better measure, though more difficult to calculate with present data collection  methods, would</a:t>
            </a:r>
            <a:r>
              <a:rPr dirty="0" sz="1100">
                <a:latin typeface="Arial"/>
                <a:cs typeface="Arial"/>
              </a:rPr>
              <a:t> </a:t>
            </a:r>
            <a:r>
              <a:rPr dirty="0" sz="1100" spc="-5">
                <a:latin typeface="Arial"/>
                <a:cs typeface="Arial"/>
              </a:rPr>
              <a:t>be:</a:t>
            </a:r>
            <a:endParaRPr sz="1100">
              <a:latin typeface="Arial"/>
              <a:cs typeface="Arial"/>
            </a:endParaRPr>
          </a:p>
        </p:txBody>
      </p:sp>
      <p:sp>
        <p:nvSpPr>
          <p:cNvPr id="8" name="object 8"/>
          <p:cNvSpPr txBox="1"/>
          <p:nvPr/>
        </p:nvSpPr>
        <p:spPr>
          <a:xfrm>
            <a:off x="901700" y="5710629"/>
            <a:ext cx="5969000" cy="3112770"/>
          </a:xfrm>
          <a:prstGeom prst="rect">
            <a:avLst/>
          </a:prstGeom>
        </p:spPr>
        <p:txBody>
          <a:bodyPr wrap="square" lIns="0" tIns="19050" rIns="0" bIns="0" rtlCol="0" vert="horz">
            <a:spAutoFit/>
          </a:bodyPr>
          <a:lstStyle/>
          <a:p>
            <a:pPr algn="just" marL="12700" marR="5715">
              <a:lnSpc>
                <a:spcPct val="95900"/>
              </a:lnSpc>
              <a:spcBef>
                <a:spcPts val="150"/>
              </a:spcBef>
            </a:pPr>
            <a:r>
              <a:rPr dirty="0" sz="1100" spc="-5">
                <a:latin typeface="Arial"/>
                <a:cs typeface="Arial"/>
              </a:rPr>
              <a:t>Where, Dm and Dn are as before, R is expenditure required to restore environmental capital  (forests, fisheries, etc.), and A is expenditure required to avert destruction of environmental  capital (air pollution, water and soil quality, etc.). In light of rising consumption levels worldwide  combined with high rates of population growth, the realization of sustainable development will  be a major challenge. We must ask ourselves, what are realistic expectations about sustainable  standards of living? From present information concerning rapid destruction of many of the  world’s resources, it is clear that meeting the needs of a world population that is projected to  grow by </a:t>
            </a:r>
            <a:r>
              <a:rPr dirty="0" sz="1100">
                <a:latin typeface="Arial"/>
                <a:cs typeface="Arial"/>
              </a:rPr>
              <a:t>over </a:t>
            </a:r>
            <a:r>
              <a:rPr dirty="0" sz="1100" spc="-5">
                <a:latin typeface="Arial"/>
                <a:cs typeface="Arial"/>
              </a:rPr>
              <a:t>2 billion in the next 40 years will require radical and early changes in consumption  and production</a:t>
            </a:r>
            <a:r>
              <a:rPr dirty="0" sz="1100">
                <a:latin typeface="Arial"/>
                <a:cs typeface="Arial"/>
              </a:rPr>
              <a:t> </a:t>
            </a:r>
            <a:r>
              <a:rPr dirty="0" sz="1100" spc="-5">
                <a:latin typeface="Arial"/>
                <a:cs typeface="Arial"/>
              </a:rPr>
              <a:t>patterns.</a:t>
            </a:r>
            <a:endParaRPr sz="1100">
              <a:latin typeface="Arial"/>
              <a:cs typeface="Arial"/>
            </a:endParaRPr>
          </a:p>
          <a:p>
            <a:pPr>
              <a:lnSpc>
                <a:spcPct val="100000"/>
              </a:lnSpc>
              <a:spcBef>
                <a:spcPts val="30"/>
              </a:spcBef>
            </a:pPr>
            <a:endParaRPr sz="1100">
              <a:latin typeface="Arial"/>
              <a:cs typeface="Arial"/>
            </a:endParaRPr>
          </a:p>
          <a:p>
            <a:pPr marL="469265" indent="-229235">
              <a:lnSpc>
                <a:spcPts val="1285"/>
              </a:lnSpc>
              <a:buFont typeface="Symbol"/>
              <a:buChar char=""/>
              <a:tabLst>
                <a:tab pos="469265" algn="l"/>
                <a:tab pos="469900" algn="l"/>
              </a:tabLst>
            </a:pPr>
            <a:r>
              <a:rPr dirty="0" sz="1100" spc="-5" b="1">
                <a:latin typeface="Arial"/>
                <a:cs typeface="Arial"/>
              </a:rPr>
              <a:t>Environmental accounting</a:t>
            </a:r>
            <a:endParaRPr sz="1100">
              <a:latin typeface="Arial"/>
              <a:cs typeface="Arial"/>
            </a:endParaRPr>
          </a:p>
          <a:p>
            <a:pPr marL="469265" marR="5715">
              <a:lnSpc>
                <a:spcPts val="1270"/>
              </a:lnSpc>
              <a:spcBef>
                <a:spcPts val="55"/>
              </a:spcBef>
            </a:pPr>
            <a:r>
              <a:rPr dirty="0" sz="1100" spc="-5">
                <a:latin typeface="Arial"/>
                <a:cs typeface="Arial"/>
              </a:rPr>
              <a:t>The incorporation of environmental benefits and costs into the quantitative analysis of  economic activities.</a:t>
            </a:r>
            <a:endParaRPr sz="1100">
              <a:latin typeface="Arial"/>
              <a:cs typeface="Arial"/>
            </a:endParaRPr>
          </a:p>
          <a:p>
            <a:pPr marL="469265" indent="-229235">
              <a:lnSpc>
                <a:spcPts val="1275"/>
              </a:lnSpc>
              <a:buFont typeface="Symbol"/>
              <a:buChar char=""/>
              <a:tabLst>
                <a:tab pos="469265" algn="l"/>
                <a:tab pos="469900" algn="l"/>
              </a:tabLst>
            </a:pPr>
            <a:r>
              <a:rPr dirty="0" sz="1100" spc="-5" b="1">
                <a:latin typeface="Arial"/>
                <a:cs typeface="Arial"/>
              </a:rPr>
              <a:t>Environmental capital</a:t>
            </a:r>
            <a:endParaRPr sz="1100">
              <a:latin typeface="Arial"/>
              <a:cs typeface="Arial"/>
            </a:endParaRPr>
          </a:p>
          <a:p>
            <a:pPr marL="469265" marR="5080">
              <a:lnSpc>
                <a:spcPts val="1260"/>
              </a:lnSpc>
              <a:spcBef>
                <a:spcPts val="60"/>
              </a:spcBef>
            </a:pPr>
            <a:r>
              <a:rPr dirty="0" sz="1100" spc="-5">
                <a:latin typeface="Arial"/>
                <a:cs typeface="Arial"/>
              </a:rPr>
              <a:t>The portion of a country’s overall capital assets that directly relate to the environment—  for example, forests, soil quality, and ground</a:t>
            </a:r>
            <a:r>
              <a:rPr dirty="0" sz="1100" spc="40">
                <a:latin typeface="Arial"/>
                <a:cs typeface="Arial"/>
              </a:rPr>
              <a:t> </a:t>
            </a:r>
            <a:r>
              <a:rPr dirty="0" sz="1100" spc="-5">
                <a:latin typeface="Arial"/>
                <a:cs typeface="Arial"/>
              </a:rPr>
              <a:t>water.</a:t>
            </a:r>
            <a:endParaRPr sz="1100">
              <a:latin typeface="Arial"/>
              <a:cs typeface="Arial"/>
            </a:endParaRPr>
          </a:p>
          <a:p>
            <a:pPr marL="469265" indent="-229235">
              <a:lnSpc>
                <a:spcPts val="1285"/>
              </a:lnSpc>
              <a:buFont typeface="Symbol"/>
              <a:buChar char=""/>
              <a:tabLst>
                <a:tab pos="469265" algn="l"/>
                <a:tab pos="469900" algn="l"/>
              </a:tabLst>
            </a:pPr>
            <a:r>
              <a:rPr dirty="0" sz="1100" spc="-5" b="1">
                <a:latin typeface="Arial"/>
                <a:cs typeface="Arial"/>
              </a:rPr>
              <a:t>Sustainable development</a:t>
            </a:r>
            <a:endParaRPr sz="1100">
              <a:latin typeface="Arial"/>
              <a:cs typeface="Arial"/>
            </a:endParaRPr>
          </a:p>
          <a:p>
            <a:pPr marL="469265" marR="5080">
              <a:lnSpc>
                <a:spcPts val="1270"/>
              </a:lnSpc>
              <a:spcBef>
                <a:spcPts val="50"/>
              </a:spcBef>
            </a:pPr>
            <a:r>
              <a:rPr dirty="0" sz="1100" spc="-5">
                <a:latin typeface="Arial"/>
                <a:cs typeface="Arial"/>
              </a:rPr>
              <a:t>A pattern of development that permits future generations to live at least as well as the  current generation, generally requiring at least a minimum environmental</a:t>
            </a:r>
            <a:r>
              <a:rPr dirty="0" sz="1100" spc="140">
                <a:latin typeface="Arial"/>
                <a:cs typeface="Arial"/>
              </a:rPr>
              <a:t> </a:t>
            </a:r>
            <a:r>
              <a:rPr dirty="0" sz="1100" spc="-5">
                <a:latin typeface="Arial"/>
                <a:cs typeface="Arial"/>
              </a:rPr>
              <a:t>protection.</a:t>
            </a:r>
            <a:endParaRPr sz="1100">
              <a:latin typeface="Arial"/>
              <a:cs typeface="Arial"/>
            </a:endParaRPr>
          </a:p>
        </p:txBody>
      </p:sp>
      <p:sp>
        <p:nvSpPr>
          <p:cNvPr id="9" name="object 9"/>
          <p:cNvSpPr txBox="1"/>
          <p:nvPr/>
        </p:nvSpPr>
        <p:spPr>
          <a:xfrm>
            <a:off x="2462778" y="4011302"/>
            <a:ext cx="2534285" cy="280670"/>
          </a:xfrm>
          <a:prstGeom prst="rect">
            <a:avLst/>
          </a:prstGeom>
        </p:spPr>
        <p:txBody>
          <a:bodyPr wrap="square" lIns="0" tIns="15875" rIns="0" bIns="0" rtlCol="0" vert="horz">
            <a:spAutoFit/>
          </a:bodyPr>
          <a:lstStyle/>
          <a:p>
            <a:pPr marL="38100">
              <a:lnSpc>
                <a:spcPct val="100000"/>
              </a:lnSpc>
              <a:spcBef>
                <a:spcPts val="125"/>
              </a:spcBef>
              <a:tabLst>
                <a:tab pos="690245" algn="l"/>
                <a:tab pos="1438910" algn="l"/>
              </a:tabLst>
            </a:pPr>
            <a:r>
              <a:rPr dirty="0" sz="1650" spc="10" i="1">
                <a:latin typeface="Times New Roman"/>
                <a:cs typeface="Times New Roman"/>
              </a:rPr>
              <a:t>NNI	</a:t>
            </a:r>
            <a:r>
              <a:rPr dirty="0" sz="1650" spc="10">
                <a:latin typeface="Symbol"/>
                <a:cs typeface="Symbol"/>
              </a:rPr>
              <a:t></a:t>
            </a:r>
            <a:r>
              <a:rPr dirty="0" sz="1650" spc="275">
                <a:latin typeface="Times New Roman"/>
                <a:cs typeface="Times New Roman"/>
              </a:rPr>
              <a:t> </a:t>
            </a:r>
            <a:r>
              <a:rPr dirty="0" sz="1650" spc="10" i="1">
                <a:latin typeface="Times New Roman"/>
                <a:cs typeface="Times New Roman"/>
              </a:rPr>
              <a:t>GNI	</a:t>
            </a:r>
            <a:r>
              <a:rPr dirty="0" sz="1650" spc="10">
                <a:latin typeface="Symbol"/>
                <a:cs typeface="Symbol"/>
              </a:rPr>
              <a:t></a:t>
            </a:r>
            <a:r>
              <a:rPr dirty="0" sz="1650" spc="10">
                <a:latin typeface="Times New Roman"/>
                <a:cs typeface="Times New Roman"/>
              </a:rPr>
              <a:t> </a:t>
            </a:r>
            <a:r>
              <a:rPr dirty="0" sz="1650" spc="15" i="1">
                <a:latin typeface="Times New Roman"/>
                <a:cs typeface="Times New Roman"/>
              </a:rPr>
              <a:t>D </a:t>
            </a:r>
            <a:r>
              <a:rPr dirty="0" baseline="-23391" sz="1425" spc="22" i="1">
                <a:latin typeface="Times New Roman"/>
                <a:cs typeface="Times New Roman"/>
              </a:rPr>
              <a:t>m </a:t>
            </a:r>
            <a:r>
              <a:rPr dirty="0" sz="1650" spc="10">
                <a:latin typeface="Symbol"/>
                <a:cs typeface="Symbol"/>
              </a:rPr>
              <a:t></a:t>
            </a:r>
            <a:r>
              <a:rPr dirty="0" sz="1650" spc="10">
                <a:latin typeface="Times New Roman"/>
                <a:cs typeface="Times New Roman"/>
              </a:rPr>
              <a:t> </a:t>
            </a:r>
            <a:r>
              <a:rPr dirty="0" sz="1650" spc="15" i="1">
                <a:latin typeface="Times New Roman"/>
                <a:cs typeface="Times New Roman"/>
              </a:rPr>
              <a:t>D</a:t>
            </a:r>
            <a:r>
              <a:rPr dirty="0" sz="1650" spc="240" i="1">
                <a:latin typeface="Times New Roman"/>
                <a:cs typeface="Times New Roman"/>
              </a:rPr>
              <a:t> </a:t>
            </a:r>
            <a:r>
              <a:rPr dirty="0" baseline="-23391" sz="1425" spc="15" i="1">
                <a:latin typeface="Times New Roman"/>
                <a:cs typeface="Times New Roman"/>
              </a:rPr>
              <a:t>n</a:t>
            </a:r>
            <a:endParaRPr baseline="-23391" sz="1425">
              <a:latin typeface="Times New Roman"/>
              <a:cs typeface="Times New Roman"/>
            </a:endParaRPr>
          </a:p>
        </p:txBody>
      </p:sp>
      <p:sp>
        <p:nvSpPr>
          <p:cNvPr id="10" name="object 10"/>
          <p:cNvSpPr txBox="1"/>
          <p:nvPr/>
        </p:nvSpPr>
        <p:spPr>
          <a:xfrm>
            <a:off x="2978150" y="4004686"/>
            <a:ext cx="87630" cy="174625"/>
          </a:xfrm>
          <a:prstGeom prst="rect">
            <a:avLst/>
          </a:prstGeom>
        </p:spPr>
        <p:txBody>
          <a:bodyPr wrap="square" lIns="0" tIns="15875" rIns="0" bIns="0" rtlCol="0" vert="horz">
            <a:spAutoFit/>
          </a:bodyPr>
          <a:lstStyle/>
          <a:p>
            <a:pPr marL="12700">
              <a:lnSpc>
                <a:spcPct val="100000"/>
              </a:lnSpc>
              <a:spcBef>
                <a:spcPts val="125"/>
              </a:spcBef>
            </a:pPr>
            <a:r>
              <a:rPr dirty="0" sz="950" spc="10">
                <a:latin typeface="Times New Roman"/>
                <a:cs typeface="Times New Roman"/>
              </a:rPr>
              <a:t>*</a:t>
            </a:r>
            <a:endParaRPr sz="950">
              <a:latin typeface="Times New Roman"/>
              <a:cs typeface="Times New Roman"/>
            </a:endParaRPr>
          </a:p>
        </p:txBody>
      </p:sp>
      <p:sp>
        <p:nvSpPr>
          <p:cNvPr id="11" name="object 11"/>
          <p:cNvSpPr txBox="1"/>
          <p:nvPr/>
        </p:nvSpPr>
        <p:spPr>
          <a:xfrm>
            <a:off x="2029190" y="5423089"/>
            <a:ext cx="3542665" cy="248920"/>
          </a:xfrm>
          <a:prstGeom prst="rect">
            <a:avLst/>
          </a:prstGeom>
        </p:spPr>
        <p:txBody>
          <a:bodyPr wrap="square" lIns="0" tIns="14604" rIns="0" bIns="0" rtlCol="0" vert="horz">
            <a:spAutoFit/>
          </a:bodyPr>
          <a:lstStyle/>
          <a:p>
            <a:pPr marL="38100">
              <a:lnSpc>
                <a:spcPct val="100000"/>
              </a:lnSpc>
              <a:spcBef>
                <a:spcPts val="114"/>
              </a:spcBef>
              <a:tabLst>
                <a:tab pos="777875" algn="l"/>
                <a:tab pos="1544955" algn="l"/>
              </a:tabLst>
            </a:pPr>
            <a:r>
              <a:rPr dirty="0" sz="1450" spc="5" i="1">
                <a:latin typeface="Times New Roman"/>
                <a:cs typeface="Times New Roman"/>
              </a:rPr>
              <a:t>NNI	</a:t>
            </a:r>
            <a:r>
              <a:rPr dirty="0" sz="1450" spc="5">
                <a:latin typeface="Symbol"/>
                <a:cs typeface="Symbol"/>
              </a:rPr>
              <a:t></a:t>
            </a:r>
            <a:r>
              <a:rPr dirty="0" sz="1450" spc="5">
                <a:latin typeface="Times New Roman"/>
                <a:cs typeface="Times New Roman"/>
              </a:rPr>
              <a:t> </a:t>
            </a:r>
            <a:r>
              <a:rPr dirty="0" sz="1450" spc="110">
                <a:latin typeface="Times New Roman"/>
                <a:cs typeface="Times New Roman"/>
              </a:rPr>
              <a:t> </a:t>
            </a:r>
            <a:r>
              <a:rPr dirty="0" sz="1450" spc="5" i="1">
                <a:latin typeface="Times New Roman"/>
                <a:cs typeface="Times New Roman"/>
              </a:rPr>
              <a:t>GNI	</a:t>
            </a:r>
            <a:r>
              <a:rPr dirty="0" sz="1450" spc="5">
                <a:latin typeface="Symbol"/>
                <a:cs typeface="Symbol"/>
              </a:rPr>
              <a:t></a:t>
            </a:r>
            <a:r>
              <a:rPr dirty="0" sz="1450" spc="5">
                <a:latin typeface="Times New Roman"/>
                <a:cs typeface="Times New Roman"/>
              </a:rPr>
              <a:t> </a:t>
            </a:r>
            <a:r>
              <a:rPr dirty="0" sz="1450" spc="10" i="1">
                <a:latin typeface="Times New Roman"/>
                <a:cs typeface="Times New Roman"/>
              </a:rPr>
              <a:t>D </a:t>
            </a:r>
            <a:r>
              <a:rPr dirty="0" baseline="-22875" sz="1275" i="1">
                <a:latin typeface="Times New Roman"/>
                <a:cs typeface="Times New Roman"/>
              </a:rPr>
              <a:t>m </a:t>
            </a:r>
            <a:r>
              <a:rPr dirty="0" sz="1450" spc="5">
                <a:latin typeface="Symbol"/>
                <a:cs typeface="Symbol"/>
              </a:rPr>
              <a:t></a:t>
            </a:r>
            <a:r>
              <a:rPr dirty="0" sz="1450" spc="5">
                <a:latin typeface="Times New Roman"/>
                <a:cs typeface="Times New Roman"/>
              </a:rPr>
              <a:t> </a:t>
            </a:r>
            <a:r>
              <a:rPr dirty="0" sz="1450" spc="10" i="1">
                <a:latin typeface="Times New Roman"/>
                <a:cs typeface="Times New Roman"/>
              </a:rPr>
              <a:t>D </a:t>
            </a:r>
            <a:r>
              <a:rPr dirty="0" baseline="-22875" sz="1275" i="1">
                <a:latin typeface="Times New Roman"/>
                <a:cs typeface="Times New Roman"/>
              </a:rPr>
              <a:t>n </a:t>
            </a:r>
            <a:r>
              <a:rPr dirty="0" sz="1450" spc="5">
                <a:latin typeface="Symbol"/>
                <a:cs typeface="Symbol"/>
              </a:rPr>
              <a:t></a:t>
            </a:r>
            <a:r>
              <a:rPr dirty="0" sz="1450" spc="5">
                <a:latin typeface="Times New Roman"/>
                <a:cs typeface="Times New Roman"/>
              </a:rPr>
              <a:t> </a:t>
            </a:r>
            <a:r>
              <a:rPr dirty="0" sz="1450" spc="10" i="1">
                <a:latin typeface="Times New Roman"/>
                <a:cs typeface="Times New Roman"/>
              </a:rPr>
              <a:t>R</a:t>
            </a:r>
            <a:r>
              <a:rPr dirty="0" sz="1450" spc="110" i="1">
                <a:latin typeface="Times New Roman"/>
                <a:cs typeface="Times New Roman"/>
              </a:rPr>
              <a:t> </a:t>
            </a:r>
            <a:r>
              <a:rPr dirty="0" sz="1450" spc="5">
                <a:latin typeface="Symbol"/>
                <a:cs typeface="Symbol"/>
              </a:rPr>
              <a:t></a:t>
            </a:r>
            <a:r>
              <a:rPr dirty="0" sz="1450" spc="5">
                <a:latin typeface="Times New Roman"/>
                <a:cs typeface="Times New Roman"/>
              </a:rPr>
              <a:t>  </a:t>
            </a:r>
            <a:r>
              <a:rPr dirty="0" sz="1450" spc="10" i="1">
                <a:latin typeface="Times New Roman"/>
                <a:cs typeface="Times New Roman"/>
              </a:rPr>
              <a:t>A</a:t>
            </a:r>
            <a:endParaRPr sz="1450">
              <a:latin typeface="Times New Roman"/>
              <a:cs typeface="Times New Roman"/>
            </a:endParaRPr>
          </a:p>
        </p:txBody>
      </p:sp>
      <p:sp>
        <p:nvSpPr>
          <p:cNvPr id="12" name="object 12"/>
          <p:cNvSpPr txBox="1"/>
          <p:nvPr/>
        </p:nvSpPr>
        <p:spPr>
          <a:xfrm>
            <a:off x="2556760" y="5416871"/>
            <a:ext cx="151130" cy="156210"/>
          </a:xfrm>
          <a:prstGeom prst="rect">
            <a:avLst/>
          </a:prstGeom>
        </p:spPr>
        <p:txBody>
          <a:bodyPr wrap="square" lIns="0" tIns="13335" rIns="0" bIns="0" rtlCol="0" vert="horz">
            <a:spAutoFit/>
          </a:bodyPr>
          <a:lstStyle/>
          <a:p>
            <a:pPr marL="12700">
              <a:lnSpc>
                <a:spcPct val="100000"/>
              </a:lnSpc>
              <a:spcBef>
                <a:spcPts val="105"/>
              </a:spcBef>
            </a:pPr>
            <a:r>
              <a:rPr dirty="0" sz="850">
                <a:latin typeface="Times New Roman"/>
                <a:cs typeface="Times New Roman"/>
              </a:rPr>
              <a:t>*</a:t>
            </a:r>
            <a:r>
              <a:rPr dirty="0" sz="850" spc="-140">
                <a:latin typeface="Times New Roman"/>
                <a:cs typeface="Times New Roman"/>
              </a:rPr>
              <a:t> </a:t>
            </a:r>
            <a:r>
              <a:rPr dirty="0" sz="850">
                <a:latin typeface="Times New Roman"/>
                <a:cs typeface="Times New Roman"/>
              </a:rPr>
              <a:t>*</a:t>
            </a:r>
            <a:endParaRPr sz="850">
              <a:latin typeface="Times New Roman"/>
              <a:cs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2461"/>
            <a:ext cx="5970905" cy="7771130"/>
          </a:xfrm>
          <a:prstGeom prst="rect">
            <a:avLst/>
          </a:prstGeom>
        </p:spPr>
        <p:txBody>
          <a:bodyPr wrap="square" lIns="0" tIns="12065" rIns="0" bIns="0" rtlCol="0" vert="horz">
            <a:spAutoFit/>
          </a:bodyPr>
          <a:lstStyle/>
          <a:p>
            <a:pPr algn="just" marL="469900" indent="-228600">
              <a:lnSpc>
                <a:spcPts val="1285"/>
              </a:lnSpc>
              <a:spcBef>
                <a:spcPts val="95"/>
              </a:spcBef>
              <a:buFont typeface="Symbol"/>
              <a:buChar char=""/>
              <a:tabLst>
                <a:tab pos="469900" algn="l"/>
              </a:tabLst>
            </a:pPr>
            <a:r>
              <a:rPr dirty="0" sz="1100" spc="-5" b="1">
                <a:latin typeface="Arial"/>
                <a:cs typeface="Arial"/>
              </a:rPr>
              <a:t>Sustainable net national income</a:t>
            </a:r>
            <a:r>
              <a:rPr dirty="0" sz="1100" spc="15" b="1">
                <a:latin typeface="Arial"/>
                <a:cs typeface="Arial"/>
              </a:rPr>
              <a:t> </a:t>
            </a:r>
            <a:r>
              <a:rPr dirty="0" sz="1100" spc="-5" b="1">
                <a:latin typeface="Arial"/>
                <a:cs typeface="Arial"/>
              </a:rPr>
              <a:t>(NNI*)</a:t>
            </a:r>
            <a:endParaRPr sz="1100">
              <a:latin typeface="Arial"/>
              <a:cs typeface="Arial"/>
            </a:endParaRPr>
          </a:p>
          <a:p>
            <a:pPr algn="just" marL="469900" marR="6350">
              <a:lnSpc>
                <a:spcPts val="1270"/>
              </a:lnSpc>
              <a:spcBef>
                <a:spcPts val="55"/>
              </a:spcBef>
            </a:pPr>
            <a:r>
              <a:rPr dirty="0" sz="1100" spc="-5">
                <a:latin typeface="Arial"/>
                <a:cs typeface="Arial"/>
              </a:rPr>
              <a:t>An environmental accounting measure of the </a:t>
            </a:r>
            <a:r>
              <a:rPr dirty="0" sz="1100">
                <a:latin typeface="Arial"/>
                <a:cs typeface="Arial"/>
              </a:rPr>
              <a:t>total </a:t>
            </a:r>
            <a:r>
              <a:rPr dirty="0" sz="1100" spc="-5">
                <a:latin typeface="Arial"/>
                <a:cs typeface="Arial"/>
              </a:rPr>
              <a:t>annual income that </a:t>
            </a:r>
            <a:r>
              <a:rPr dirty="0" sz="1100">
                <a:latin typeface="Arial"/>
                <a:cs typeface="Arial"/>
              </a:rPr>
              <a:t>can </a:t>
            </a:r>
            <a:r>
              <a:rPr dirty="0" sz="1100" spc="-5">
                <a:latin typeface="Arial"/>
                <a:cs typeface="Arial"/>
              </a:rPr>
              <a:t>be consumed  without diminishing the overall capital assets of a nation (including environmental  capital).</a:t>
            </a:r>
            <a:endParaRPr sz="1100">
              <a:latin typeface="Arial"/>
              <a:cs typeface="Arial"/>
            </a:endParaRPr>
          </a:p>
          <a:p>
            <a:pPr>
              <a:lnSpc>
                <a:spcPct val="100000"/>
              </a:lnSpc>
              <a:spcBef>
                <a:spcPts val="15"/>
              </a:spcBef>
            </a:pPr>
            <a:endParaRPr sz="1000">
              <a:latin typeface="Arial"/>
              <a:cs typeface="Arial"/>
            </a:endParaRPr>
          </a:p>
          <a:p>
            <a:pPr algn="just" marL="12700">
              <a:lnSpc>
                <a:spcPct val="100000"/>
              </a:lnSpc>
              <a:spcBef>
                <a:spcPts val="5"/>
              </a:spcBef>
            </a:pPr>
            <a:r>
              <a:rPr dirty="0" sz="1100" spc="-5" b="1">
                <a:latin typeface="Arial"/>
                <a:cs typeface="Arial"/>
              </a:rPr>
              <a:t>POPULATION, RESOURCES, AND THE</a:t>
            </a:r>
            <a:r>
              <a:rPr dirty="0" sz="1100" spc="10"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900"/>
              </a:lnSpc>
            </a:pPr>
            <a:r>
              <a:rPr dirty="0" sz="1100" spc="-5">
                <a:latin typeface="Arial"/>
                <a:cs typeface="Arial"/>
              </a:rPr>
              <a:t>Much of the concern over environmental issues stems from the perception that we may reach a  limit to the number of people whose needs can be met </a:t>
            </a:r>
            <a:r>
              <a:rPr dirty="0" sz="1100">
                <a:latin typeface="Arial"/>
                <a:cs typeface="Arial"/>
              </a:rPr>
              <a:t>by the </a:t>
            </a:r>
            <a:r>
              <a:rPr dirty="0" sz="1100" spc="-5">
                <a:latin typeface="Arial"/>
                <a:cs typeface="Arial"/>
              </a:rPr>
              <a:t>earth’s finite resources. We </a:t>
            </a:r>
            <a:r>
              <a:rPr dirty="0" sz="1100">
                <a:latin typeface="Arial"/>
                <a:cs typeface="Arial"/>
              </a:rPr>
              <a:t>may  </a:t>
            </a:r>
            <a:r>
              <a:rPr dirty="0" sz="1100" spc="-5">
                <a:latin typeface="Arial"/>
                <a:cs typeface="Arial"/>
              </a:rPr>
              <a:t>or may not reach this point, given the potential for new technological discoveries, but it is clear  that continuing on our present path of accelerating environmental degradation would severely  compromise the ability of present and future generations to meet their needs. A slowing of  population growth rates would help ease the intensification of </a:t>
            </a:r>
            <a:r>
              <a:rPr dirty="0" sz="1100">
                <a:latin typeface="Arial"/>
                <a:cs typeface="Arial"/>
              </a:rPr>
              <a:t>many </a:t>
            </a:r>
            <a:r>
              <a:rPr dirty="0" sz="1100" spc="-5">
                <a:latin typeface="Arial"/>
                <a:cs typeface="Arial"/>
              </a:rPr>
              <a:t>environmental problems.  However, </a:t>
            </a:r>
            <a:r>
              <a:rPr dirty="0" sz="1100">
                <a:latin typeface="Arial"/>
                <a:cs typeface="Arial"/>
              </a:rPr>
              <a:t>the </a:t>
            </a:r>
            <a:r>
              <a:rPr dirty="0" sz="1100" spc="-5">
                <a:latin typeface="Arial"/>
                <a:cs typeface="Arial"/>
              </a:rPr>
              <a:t>rate and timing of fertility declines, and thus the eventual size of world population,  will largely depend on the commitment of governments to creating economic and institutional  conditions that are conducive to limiting</a:t>
            </a:r>
            <a:r>
              <a:rPr dirty="0" sz="1100" spc="30">
                <a:latin typeface="Arial"/>
                <a:cs typeface="Arial"/>
              </a:rPr>
              <a:t> </a:t>
            </a:r>
            <a:r>
              <a:rPr dirty="0" sz="1100" spc="-5">
                <a:latin typeface="Arial"/>
                <a:cs typeface="Arial"/>
              </a:rPr>
              <a:t>fertility.</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900"/>
              </a:lnSpc>
            </a:pPr>
            <a:r>
              <a:rPr dirty="0" sz="1100" spc="-5">
                <a:latin typeface="Arial"/>
                <a:cs typeface="Arial"/>
              </a:rPr>
              <a:t>Rapidly growing populations have led to land, water, and fuel wood shortages in rural areas and  to urban health crises stemming </a:t>
            </a:r>
            <a:r>
              <a:rPr dirty="0" sz="1100">
                <a:latin typeface="Arial"/>
                <a:cs typeface="Arial"/>
              </a:rPr>
              <a:t>from </a:t>
            </a:r>
            <a:r>
              <a:rPr dirty="0" sz="1100" spc="-5">
                <a:latin typeface="Arial"/>
                <a:cs typeface="Arial"/>
              </a:rPr>
              <a:t>lack of sanitation and clean water. In many of the poorest  regions of the globe, it is clear that increasing population density has contributed to severe and  accelerating degradation of the very resources that these growing populations depend on for  survival. To meet expanding needs in developing countries, environmental devastation must be  halted and the productivity of existing resources stretched further so as to benefit more people.  If increases in GNI and </a:t>
            </a:r>
            <a:r>
              <a:rPr dirty="0" sz="1100">
                <a:latin typeface="Arial"/>
                <a:cs typeface="Arial"/>
              </a:rPr>
              <a:t>food </a:t>
            </a:r>
            <a:r>
              <a:rPr dirty="0" sz="1100" spc="-5">
                <a:latin typeface="Arial"/>
                <a:cs typeface="Arial"/>
              </a:rPr>
              <a:t>production are slower than population growth, per capita levels of  production and food self-sufficiency will fall. Ironically, the resulting persistence of poverty would  be likely to perpetuate high fertility rates, given, as noted in Chapter 6, that the poor are often  dependent on large families for</a:t>
            </a:r>
            <a:r>
              <a:rPr dirty="0" sz="1100" spc="20">
                <a:latin typeface="Arial"/>
                <a:cs typeface="Arial"/>
              </a:rPr>
              <a:t> </a:t>
            </a:r>
            <a:r>
              <a:rPr dirty="0" sz="1100" spc="-5">
                <a:latin typeface="Arial"/>
                <a:cs typeface="Arial"/>
              </a:rPr>
              <a:t>survival.</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POVERTY AND THE</a:t>
            </a:r>
            <a:r>
              <a:rPr dirty="0" sz="1100" spc="10"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The poor are usually the main victims of environmental degradation. The poor suffer more from  environmental decay because they must </a:t>
            </a:r>
            <a:r>
              <a:rPr dirty="0" sz="1100">
                <a:latin typeface="Arial"/>
                <a:cs typeface="Arial"/>
              </a:rPr>
              <a:t>often </a:t>
            </a:r>
            <a:r>
              <a:rPr dirty="0" sz="1100" spc="-5">
                <a:latin typeface="Arial"/>
                <a:cs typeface="Arial"/>
              </a:rPr>
              <a:t>live on degraded lands that are less expensive  because the rich avoid them. Moreover, people living in poverty </a:t>
            </a:r>
            <a:r>
              <a:rPr dirty="0" sz="1100">
                <a:latin typeface="Arial"/>
                <a:cs typeface="Arial"/>
              </a:rPr>
              <a:t>have </a:t>
            </a:r>
            <a:r>
              <a:rPr dirty="0" sz="1100" spc="-5">
                <a:latin typeface="Arial"/>
                <a:cs typeface="Arial"/>
              </a:rPr>
              <a:t>less political clout to  reduce pollution where they live. </a:t>
            </a:r>
            <a:r>
              <a:rPr dirty="0" sz="1100">
                <a:latin typeface="Arial"/>
                <a:cs typeface="Arial"/>
              </a:rPr>
              <a:t>And </a:t>
            </a:r>
            <a:r>
              <a:rPr dirty="0" sz="1100" spc="-5">
                <a:latin typeface="Arial"/>
                <a:cs typeface="Arial"/>
              </a:rPr>
              <a:t>living in less productive polluted lands gives the poor less  opportunity to work their way out of poverty. But </a:t>
            </a:r>
            <a:r>
              <a:rPr dirty="0" sz="1100">
                <a:latin typeface="Arial"/>
                <a:cs typeface="Arial"/>
              </a:rPr>
              <a:t>in </a:t>
            </a:r>
            <a:r>
              <a:rPr dirty="0" sz="1100" spc="-5">
                <a:latin typeface="Arial"/>
                <a:cs typeface="Arial"/>
              </a:rPr>
              <a:t>some cases they are also its agents, typically  as a result of the constraints of their poverty. Too often, again, high fertility is blamed for  problems that are attributable to poverty itself. For example, China’s population density per acre  of arable land is twice that of India, yet yields are also twice as high. Though it is clear that  environmental destruction and high fertility go hand in hand, they are both direct outgrowths of a  third factor, absolute poverty. For environmental policies to succeed in developing countries,  they must first address the issues of landlessness, poverty, and lack of access to institutional  resources. Insecure land tenure rights, lack of credit and inputs, and absence of information  often prevent the poor from making resource-augmenting investments that would help preserve  the environmental assets from which they derive </a:t>
            </a:r>
            <a:r>
              <a:rPr dirty="0" sz="1100">
                <a:latin typeface="Arial"/>
                <a:cs typeface="Arial"/>
              </a:rPr>
              <a:t>their </a:t>
            </a:r>
            <a:r>
              <a:rPr dirty="0" sz="1100" spc="-5">
                <a:latin typeface="Arial"/>
                <a:cs typeface="Arial"/>
              </a:rPr>
              <a:t>livelihood. Hence preventing  environmental degradation includes as a key component the provision of institutional support to  the poor, rather than fighting an inevitable process of decay. For this reason, many goals on </a:t>
            </a:r>
            <a:r>
              <a:rPr dirty="0" sz="1100">
                <a:latin typeface="Arial"/>
                <a:cs typeface="Arial"/>
              </a:rPr>
              <a:t>the  </a:t>
            </a:r>
            <a:r>
              <a:rPr dirty="0" sz="1100" spc="-5">
                <a:latin typeface="Arial"/>
                <a:cs typeface="Arial"/>
              </a:rPr>
              <a:t>international environmental agenda are very much in harmony with the three objectives of  development articulated in Chapter</a:t>
            </a:r>
            <a:r>
              <a:rPr dirty="0" sz="1100" spc="10">
                <a:latin typeface="Arial"/>
                <a:cs typeface="Arial"/>
              </a:rPr>
              <a:t> </a:t>
            </a:r>
            <a:r>
              <a:rPr dirty="0" sz="1100" spc="-5">
                <a:latin typeface="Arial"/>
                <a:cs typeface="Arial"/>
              </a:rPr>
              <a:t>1.</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202</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5516880"/>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GROWTH VERSUS THE</a:t>
            </a:r>
            <a:r>
              <a:rPr dirty="0" sz="1100" spc="5"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If, in fact, it is possible to reduce environmental destruction by increasing the incomes of the  poor, is it then possible to achieve growth </a:t>
            </a:r>
            <a:r>
              <a:rPr dirty="0" sz="1100">
                <a:latin typeface="Arial"/>
                <a:cs typeface="Arial"/>
              </a:rPr>
              <a:t>without </a:t>
            </a:r>
            <a:r>
              <a:rPr dirty="0" sz="1100" spc="-5">
                <a:latin typeface="Arial"/>
                <a:cs typeface="Arial"/>
              </a:rPr>
              <a:t>further damage to the environment? Evidence  indicates that the very poor cause considerable environmental destruction as a direct result of  their poverty. It follows that increasing the economic status of the poorest group would provide  an environmental windfall. However, as the income and consumption levels of everyone else in  the economy also rise, there is likely to be a net increase in environmental destruction. Meeting  increasing consumption demand while keeping environmental degradation at a minimum will be  no small</a:t>
            </a:r>
            <a:r>
              <a:rPr dirty="0" sz="1100">
                <a:latin typeface="Arial"/>
                <a:cs typeface="Arial"/>
              </a:rPr>
              <a:t> </a:t>
            </a:r>
            <a:r>
              <a:rPr dirty="0" sz="1100" spc="-5">
                <a:latin typeface="Arial"/>
                <a:cs typeface="Arial"/>
              </a:rPr>
              <a:t>task.</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At one point, it was widely believed that as per capita incomes rose, pollution and other forms of  environmental degradation would first rise and then fall in an inverted-U pattern. (This idea is  referred to as the environmental Kuznets curve because Kuznets’s hypothesis that inequality  would first rise and then fall as incomes increased, as detailed in Chapter 5, also traces such an  inverted-U pattern.) According to the theory, as incomes rise, societies will have both the means  and the willingness to pay for environmental protection. Indeed, there is good evidence that this  inverted-U relationship holds for some local pollutants such as particulate matter in the air,  sulfur dioxide, and nitrogen oxides. However, there is no convincing evidence that other  environmental damage decreases with higher </a:t>
            </a:r>
            <a:r>
              <a:rPr dirty="0" sz="1100">
                <a:latin typeface="Arial"/>
                <a:cs typeface="Arial"/>
              </a:rPr>
              <a:t>incomes. </a:t>
            </a:r>
            <a:r>
              <a:rPr dirty="0" sz="1100" spc="-5">
                <a:latin typeface="Arial"/>
                <a:cs typeface="Arial"/>
              </a:rPr>
              <a:t>As we will see, this is a particular  problem </a:t>
            </a:r>
            <a:r>
              <a:rPr dirty="0" sz="1100">
                <a:latin typeface="Arial"/>
                <a:cs typeface="Arial"/>
              </a:rPr>
              <a:t>when </a:t>
            </a:r>
            <a:r>
              <a:rPr dirty="0" sz="1100" spc="-5">
                <a:latin typeface="Arial"/>
                <a:cs typeface="Arial"/>
              </a:rPr>
              <a:t>it comes to global public goods, such as greenhouse gases. Even if the  environmental Kuznets curve relationship does hold in the </a:t>
            </a:r>
            <a:r>
              <a:rPr dirty="0" sz="1100">
                <a:latin typeface="Arial"/>
                <a:cs typeface="Arial"/>
              </a:rPr>
              <a:t>very </a:t>
            </a:r>
            <a:r>
              <a:rPr dirty="0" sz="1100" spc="-5">
                <a:latin typeface="Arial"/>
                <a:cs typeface="Arial"/>
              </a:rPr>
              <a:t>long term, some damage, such  as loss of biodiversity, may well prove to be</a:t>
            </a:r>
            <a:r>
              <a:rPr dirty="0" sz="1100" spc="50">
                <a:latin typeface="Arial"/>
                <a:cs typeface="Arial"/>
              </a:rPr>
              <a:t> </a:t>
            </a:r>
            <a:r>
              <a:rPr dirty="0" sz="1100" spc="-5">
                <a:latin typeface="Arial"/>
                <a:cs typeface="Arial"/>
              </a:rPr>
              <a:t>irreversible.</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Active international policy will be needed. “Green growth”—partly involving lower greenhouse  gas emissions—is a major policy initiative in </a:t>
            </a:r>
            <a:r>
              <a:rPr dirty="0" sz="1100">
                <a:latin typeface="Arial"/>
                <a:cs typeface="Arial"/>
              </a:rPr>
              <a:t>many </a:t>
            </a:r>
            <a:r>
              <a:rPr dirty="0" sz="1100" spc="-5">
                <a:latin typeface="Arial"/>
                <a:cs typeface="Arial"/>
              </a:rPr>
              <a:t>nations. For example, South Korea has been  largely basing its recent development strategy around this approach; most of its stimulus budget  following the 2008 financial crisis was invested toward achieving a green</a:t>
            </a:r>
            <a:r>
              <a:rPr dirty="0" sz="1100" spc="105">
                <a:latin typeface="Arial"/>
                <a:cs typeface="Arial"/>
              </a:rPr>
              <a:t> </a:t>
            </a:r>
            <a:r>
              <a:rPr dirty="0" sz="1100" spc="-5">
                <a:latin typeface="Arial"/>
                <a:cs typeface="Arial"/>
              </a:rPr>
              <a:t>economy.</a:t>
            </a:r>
            <a:endParaRPr sz="1100">
              <a:latin typeface="Arial"/>
              <a:cs typeface="Arial"/>
            </a:endParaRPr>
          </a:p>
          <a:p>
            <a:pPr>
              <a:lnSpc>
                <a:spcPct val="100000"/>
              </a:lnSpc>
              <a:spcBef>
                <a:spcPts val="30"/>
              </a:spcBef>
            </a:pPr>
            <a:endParaRPr sz="1100">
              <a:latin typeface="Arial"/>
              <a:cs typeface="Arial"/>
            </a:endParaRPr>
          </a:p>
          <a:p>
            <a:pPr algn="just" marL="469265" indent="-229235">
              <a:lnSpc>
                <a:spcPts val="1285"/>
              </a:lnSpc>
              <a:buFont typeface="Symbol"/>
              <a:buChar char=""/>
              <a:tabLst>
                <a:tab pos="469900" algn="l"/>
              </a:tabLst>
            </a:pPr>
            <a:r>
              <a:rPr dirty="0" sz="1100" spc="-5" b="1">
                <a:latin typeface="Arial"/>
                <a:cs typeface="Arial"/>
              </a:rPr>
              <a:t>Environmental Kuznets</a:t>
            </a:r>
            <a:r>
              <a:rPr dirty="0" sz="1100" b="1">
                <a:latin typeface="Arial"/>
                <a:cs typeface="Arial"/>
              </a:rPr>
              <a:t> </a:t>
            </a:r>
            <a:r>
              <a:rPr dirty="0" sz="1100" spc="-5" b="1">
                <a:latin typeface="Arial"/>
                <a:cs typeface="Arial"/>
              </a:rPr>
              <a:t>curve</a:t>
            </a:r>
            <a:endParaRPr sz="1100">
              <a:latin typeface="Arial"/>
              <a:cs typeface="Arial"/>
            </a:endParaRPr>
          </a:p>
          <a:p>
            <a:pPr algn="just" marL="469265" marR="6350">
              <a:lnSpc>
                <a:spcPct val="95800"/>
              </a:lnSpc>
              <a:spcBef>
                <a:spcPts val="25"/>
              </a:spcBef>
            </a:pPr>
            <a:r>
              <a:rPr dirty="0" sz="1100" spc="-5">
                <a:latin typeface="Arial"/>
                <a:cs typeface="Arial"/>
              </a:rPr>
              <a:t>A graph reflecting the concept that pollution and other environmental degradation first  rises and then falls with increases in income per capita. There is evidence that this holds  for some pollutants, such as sulfur dioxide and particulate matter in the air, but not for  others, such as emissions of greenhouse</a:t>
            </a:r>
            <a:r>
              <a:rPr dirty="0" sz="1100" spc="20">
                <a:latin typeface="Arial"/>
                <a:cs typeface="Arial"/>
              </a:rPr>
              <a:t> </a:t>
            </a:r>
            <a:r>
              <a:rPr dirty="0" sz="1100" spc="-5">
                <a:latin typeface="Arial"/>
                <a:cs typeface="Arial"/>
              </a:rPr>
              <a:t>gases.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203</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10768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30</a:t>
            </a:r>
            <a:endParaRPr sz="1100">
              <a:latin typeface="Arial"/>
              <a:cs typeface="Arial"/>
            </a:endParaRPr>
          </a:p>
          <a:p>
            <a:pPr marL="12700" marR="657225" indent="651510">
              <a:lnSpc>
                <a:spcPct val="191400"/>
              </a:lnSpc>
              <a:spcBef>
                <a:spcPts val="15"/>
              </a:spcBef>
            </a:pPr>
            <a:r>
              <a:rPr dirty="0" sz="1100" spc="-5" b="1">
                <a:latin typeface="Arial"/>
                <a:cs typeface="Arial"/>
              </a:rPr>
              <a:t>THE ENVIRONMENT AND ECONOMIC DEVELOPMENT (CONTINUED1)  RURAL DEVELOPMENT AND </a:t>
            </a:r>
            <a:r>
              <a:rPr dirty="0" sz="1100" b="1">
                <a:latin typeface="Arial"/>
                <a:cs typeface="Arial"/>
              </a:rPr>
              <a:t>THE</a:t>
            </a:r>
            <a:r>
              <a:rPr dirty="0" sz="1100" spc="10"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To meet the expanded food needs of rapidly growing populations, it is estimated that food  production in developing countries will have to increase by at least 50% in the next three  decades. Because land in many areas of the developing world is being unsustainably  overexploited by existing populations, meeting this output target will require radical changes in  the distribution, use, and quantity of resources available to the agricultural sector. And because  women are frequently the caretakers of rural resources such as forests and water supplies and  provide </a:t>
            </a:r>
            <a:r>
              <a:rPr dirty="0" sz="1100">
                <a:latin typeface="Arial"/>
                <a:cs typeface="Arial"/>
              </a:rPr>
              <a:t>much </a:t>
            </a:r>
            <a:r>
              <a:rPr dirty="0" sz="1100" spc="-5">
                <a:latin typeface="Arial"/>
                <a:cs typeface="Arial"/>
              </a:rPr>
              <a:t>of the agricultural supply of labor, it is of primary importance that environmental  programs be designed around their role—not considered as an afterthought. In addition, poverty  alleviation efforts must target women’s economic status in particular to reduce their dependence  on unsustainable methods of</a:t>
            </a:r>
            <a:r>
              <a:rPr dirty="0" sz="1100" spc="15">
                <a:latin typeface="Arial"/>
                <a:cs typeface="Arial"/>
              </a:rPr>
              <a:t> </a:t>
            </a:r>
            <a:r>
              <a:rPr dirty="0" sz="1100" spc="-5">
                <a:latin typeface="Arial"/>
                <a:cs typeface="Arial"/>
              </a:rPr>
              <a:t>production.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The increased accessibility of agricultural inputs to small farmers and the introduction (or  reintroduction) of sustainable methods of farming will help create attractive alternatives to  current environmentally destructive patterns of resource use. Land-augmenting investments can  greatly increase the yields from cultivated land and help ensure future food</a:t>
            </a:r>
            <a:r>
              <a:rPr dirty="0" sz="1100" spc="180">
                <a:latin typeface="Arial"/>
                <a:cs typeface="Arial"/>
              </a:rPr>
              <a:t> </a:t>
            </a:r>
            <a:r>
              <a:rPr dirty="0" sz="1100" spc="-5">
                <a:latin typeface="Arial"/>
                <a:cs typeface="Arial"/>
              </a:rPr>
              <a:t>self-sufficiency.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URBAN DEVELOPMENT AND </a:t>
            </a:r>
            <a:r>
              <a:rPr dirty="0" sz="1100" b="1">
                <a:latin typeface="Arial"/>
                <a:cs typeface="Arial"/>
              </a:rPr>
              <a:t>THE</a:t>
            </a:r>
            <a:r>
              <a:rPr dirty="0" sz="1100" spc="-10"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Chapter 7 demonstrated that rapid population increases accompanied by heavy rural-urban  migration is leading to unprecedented rates of urban population growth, sometimes at twice the  rate of national growth. Consequently, few governments are prepared to cope with the vastly  increased strain on existing urban water supplies and sanitation facilities. The resulting  environmental ills pose extreme health hazards for the growing numbers of people exposed to  them. Such conditions threaten to precipitate the collapse of the existing urban infrastructure  and create circumstances ripe for epidemics and national health crises. These conditions are  exacerbated by the fact that under existing legislation, much urban housing is illegal. This  makes private household investments risky and renders large portions of urban populations  ineligible for government</a:t>
            </a:r>
            <a:r>
              <a:rPr dirty="0" sz="1100" spc="10">
                <a:latin typeface="Arial"/>
                <a:cs typeface="Arial"/>
              </a:rPr>
              <a:t> </a:t>
            </a:r>
            <a:r>
              <a:rPr dirty="0" sz="1100" spc="-5">
                <a:latin typeface="Arial"/>
                <a:cs typeface="Arial"/>
              </a:rPr>
              <a:t>services.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Congestion, vehicular and industrial </a:t>
            </a:r>
            <a:r>
              <a:rPr dirty="0" sz="1100">
                <a:latin typeface="Arial"/>
                <a:cs typeface="Arial"/>
              </a:rPr>
              <a:t>emissions, </a:t>
            </a:r>
            <a:r>
              <a:rPr dirty="0" sz="1100" spc="-5">
                <a:latin typeface="Arial"/>
                <a:cs typeface="Arial"/>
              </a:rPr>
              <a:t>and poorly ventilated household stoves also  inflate the tremendously high environmental costs of urban crowding. Lost productivity of ill or  diseased workers, contamination of existing </a:t>
            </a:r>
            <a:r>
              <a:rPr dirty="0" sz="1100">
                <a:latin typeface="Arial"/>
                <a:cs typeface="Arial"/>
              </a:rPr>
              <a:t>water </a:t>
            </a:r>
            <a:r>
              <a:rPr dirty="0" sz="1100" spc="-5">
                <a:latin typeface="Arial"/>
                <a:cs typeface="Arial"/>
              </a:rPr>
              <a:t>sources, and destruction of infrastructure, in  addition to increased fuel expenses incurred by people’s having to boil unsafe water, are just a  few of the costs associated with poor urban conditions. Research reveals that the urban  environment appears to worsen at a faster rate than urban population size increases, with the  result that the marginal environmental cost of additional residents rises over time. However, for  a given income, the carbon footprint of a city resident tends to be lower than that of a suburban  or rural resident. The importance of urban as well as rural environmental protection is  recognized in the seventh Millennium Development</a:t>
            </a:r>
            <a:r>
              <a:rPr dirty="0" sz="1100" spc="25">
                <a:latin typeface="Arial"/>
                <a:cs typeface="Arial"/>
              </a:rPr>
              <a:t> </a:t>
            </a:r>
            <a:r>
              <a:rPr dirty="0" sz="1100" spc="-5">
                <a:latin typeface="Arial"/>
                <a:cs typeface="Arial"/>
              </a:rPr>
              <a:t>Goal.</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GLOBAL ENVIRONMENT AND</a:t>
            </a:r>
            <a:r>
              <a:rPr dirty="0" sz="1100" spc="10" b="1">
                <a:latin typeface="Arial"/>
                <a:cs typeface="Arial"/>
              </a:rPr>
              <a:t> </a:t>
            </a:r>
            <a:r>
              <a:rPr dirty="0" sz="1100" spc="-5" b="1">
                <a:latin typeface="Arial"/>
                <a:cs typeface="Arial"/>
              </a:rPr>
              <a:t>ECONOMY</a:t>
            </a:r>
            <a:endParaRPr sz="1100">
              <a:latin typeface="Arial"/>
              <a:cs typeface="Arial"/>
            </a:endParaRPr>
          </a:p>
          <a:p>
            <a:pPr>
              <a:lnSpc>
                <a:spcPct val="100000"/>
              </a:lnSpc>
              <a:spcBef>
                <a:spcPts val="30"/>
              </a:spcBef>
            </a:pPr>
            <a:endParaRPr sz="1200">
              <a:latin typeface="Arial"/>
              <a:cs typeface="Arial"/>
            </a:endParaRPr>
          </a:p>
          <a:p>
            <a:pPr algn="just" marL="12700" marR="6985">
              <a:lnSpc>
                <a:spcPts val="1260"/>
              </a:lnSpc>
              <a:spcBef>
                <a:spcPts val="5"/>
              </a:spcBef>
            </a:pPr>
            <a:r>
              <a:rPr dirty="0" sz="1100" spc="-5">
                <a:latin typeface="Arial"/>
                <a:cs typeface="Arial"/>
              </a:rPr>
              <a:t>As total world population grows and incomes rise, net global environmental degradation is likely  to worsen. Some trade-offs will be necessary to achieve sustainable world development.</a:t>
            </a:r>
            <a:r>
              <a:rPr dirty="0" sz="1100" spc="110">
                <a:latin typeface="Arial"/>
                <a:cs typeface="Arial"/>
              </a:rPr>
              <a:t> </a:t>
            </a:r>
            <a:r>
              <a:rPr dirty="0" sz="1100" spc="-5">
                <a:latin typeface="Arial"/>
                <a:cs typeface="Arial"/>
              </a:rPr>
              <a:t>By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204</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5436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using resources more efficiently, a number of environmental changes will actually provide  economic savings, and others will be achieved at relatively minor expense. However, because  many essential changes will require substantial investments in pollution abatement technology  and resource management, significant trade-offs between output and environmental  improvements will occasionally become necessary. The poorer the country, the more difficult it  will be to absorb these costs. Yet a number of issues, including biodiversity, rain forest  destruction, and population growth, will focus international attention on some of the most  economically strapped countries in the world. In the absence of substantial assistance to low-  income countries, environmental efforts will necessarily have to be funded at the expense of  other social programs, such as education, health services, and employment schemes, that  themselves have important implications for the preservation of the global</a:t>
            </a:r>
            <a:r>
              <a:rPr dirty="0" sz="1100" spc="120">
                <a:latin typeface="Arial"/>
                <a:cs typeface="Arial"/>
              </a:rPr>
              <a:t> </a:t>
            </a:r>
            <a:r>
              <a:rPr dirty="0" sz="1100" spc="-5">
                <a:latin typeface="Arial"/>
                <a:cs typeface="Arial"/>
              </a:rPr>
              <a:t>environment.</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Most cumulative environmental destruction to date has been caused by the developed world.  However, with high fertility rates, rising average incomes, and increasing greenhouse gas  emissions in the developing world, this pattern is likely to reverse in the coming years. China is  now the world’s largest greenhouse gas emitter, albeit still lower on a per capita basis than most  rich countries. It is a matter of ongoing debate how the costs of global reform should be divided,  as witnessed in the climate change summit in Copenhagen in December 2009, and Cancun in  December </a:t>
            </a:r>
            <a:r>
              <a:rPr dirty="0" sz="1100">
                <a:latin typeface="Arial"/>
                <a:cs typeface="Arial"/>
              </a:rPr>
              <a:t>2010.</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THE NATURE AND PACE OF GREENHOUSE GAS–INDUCED CLIMATE</a:t>
            </a:r>
            <a:r>
              <a:rPr dirty="0" sz="1100" spc="40" b="1">
                <a:latin typeface="Arial"/>
                <a:cs typeface="Arial"/>
              </a:rPr>
              <a:t> </a:t>
            </a:r>
            <a:r>
              <a:rPr dirty="0" sz="1100" spc="-5" b="1">
                <a:latin typeface="Arial"/>
                <a:cs typeface="Arial"/>
              </a:rPr>
              <a:t>CHANGE</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Environmental scientists and economists are increasingly appreciating that the impacts of global  warming are likely to be felt earlier than expected—indeed, are already beginning to be felt in  parts of Africa—and that the window within </a:t>
            </a:r>
            <a:r>
              <a:rPr dirty="0" sz="1100">
                <a:latin typeface="Arial"/>
                <a:cs typeface="Arial"/>
              </a:rPr>
              <a:t>which </a:t>
            </a:r>
            <a:r>
              <a:rPr dirty="0" sz="1100" spc="-5">
                <a:latin typeface="Arial"/>
                <a:cs typeface="Arial"/>
              </a:rPr>
              <a:t>very large future costs can be averted is  starting to close. The developed countries will have to take the lead and bear most of the costs  in funding both remediation and adaptation in low-income countries, but developing countries  will also need to play a significant role in limiting global warming to safeguard their own futures.  We examine this issue in greater depth later in the</a:t>
            </a:r>
            <a:r>
              <a:rPr dirty="0" sz="1100" spc="55">
                <a:latin typeface="Arial"/>
                <a:cs typeface="Arial"/>
              </a:rPr>
              <a:t> </a:t>
            </a:r>
            <a:r>
              <a:rPr dirty="0" sz="1100" spc="-5">
                <a:latin typeface="Arial"/>
                <a:cs typeface="Arial"/>
              </a:rPr>
              <a:t>chapter.</a:t>
            </a:r>
            <a:endParaRPr sz="1100">
              <a:latin typeface="Arial"/>
              <a:cs typeface="Arial"/>
            </a:endParaRPr>
          </a:p>
          <a:p>
            <a:pPr>
              <a:lnSpc>
                <a:spcPct val="100000"/>
              </a:lnSpc>
              <a:spcBef>
                <a:spcPts val="45"/>
              </a:spcBef>
            </a:pPr>
            <a:endParaRPr sz="1100">
              <a:latin typeface="Arial"/>
              <a:cs typeface="Arial"/>
            </a:endParaRPr>
          </a:p>
          <a:p>
            <a:pPr algn="just" marL="12700" marR="6985">
              <a:lnSpc>
                <a:spcPts val="1260"/>
              </a:lnSpc>
            </a:pPr>
            <a:r>
              <a:rPr dirty="0" sz="1100" spc="-5" b="1">
                <a:latin typeface="Arial"/>
                <a:cs typeface="Arial"/>
              </a:rPr>
              <a:t>NATURAL RESOURCE–BASED </a:t>
            </a:r>
            <a:r>
              <a:rPr dirty="0" sz="1100" spc="-10" b="1">
                <a:latin typeface="Arial"/>
                <a:cs typeface="Arial"/>
              </a:rPr>
              <a:t>LIVELIHOODS </a:t>
            </a:r>
            <a:r>
              <a:rPr dirty="0" sz="1100" spc="-5" b="1">
                <a:latin typeface="Arial"/>
                <a:cs typeface="Arial"/>
              </a:rPr>
              <a:t>AS A PATHWAY OUT OF POVERTY:  </a:t>
            </a:r>
            <a:r>
              <a:rPr dirty="0" sz="1100" spc="-10" b="1">
                <a:latin typeface="Arial"/>
                <a:cs typeface="Arial"/>
              </a:rPr>
              <a:t>PROMISE </a:t>
            </a:r>
            <a:r>
              <a:rPr dirty="0" sz="1100" spc="-5" b="1">
                <a:latin typeface="Arial"/>
                <a:cs typeface="Arial"/>
              </a:rPr>
              <a:t>AND</a:t>
            </a:r>
            <a:r>
              <a:rPr dirty="0" sz="1100" spc="10" b="1">
                <a:latin typeface="Arial"/>
                <a:cs typeface="Arial"/>
              </a:rPr>
              <a:t> </a:t>
            </a:r>
            <a:r>
              <a:rPr dirty="0" sz="1100" spc="-5" b="1">
                <a:latin typeface="Arial"/>
                <a:cs typeface="Arial"/>
              </a:rPr>
              <a:t>LIMITATIONS</a:t>
            </a:r>
            <a:endParaRPr sz="1100">
              <a:latin typeface="Arial"/>
              <a:cs typeface="Arial"/>
            </a:endParaRPr>
          </a:p>
          <a:p>
            <a:pPr>
              <a:lnSpc>
                <a:spcPct val="100000"/>
              </a:lnSpc>
              <a:spcBef>
                <a:spcPts val="25"/>
              </a:spcBef>
            </a:pPr>
            <a:endParaRPr sz="1150">
              <a:latin typeface="Arial"/>
              <a:cs typeface="Arial"/>
            </a:endParaRPr>
          </a:p>
          <a:p>
            <a:pPr algn="just" marL="12700" marR="5080">
              <a:lnSpc>
                <a:spcPct val="95800"/>
              </a:lnSpc>
            </a:pPr>
            <a:r>
              <a:rPr dirty="0" sz="1100" spc="-5">
                <a:latin typeface="Arial"/>
                <a:cs typeface="Arial"/>
              </a:rPr>
              <a:t>As noted at the start of this chapter, more </a:t>
            </a:r>
            <a:r>
              <a:rPr dirty="0" sz="1100">
                <a:latin typeface="Arial"/>
                <a:cs typeface="Arial"/>
              </a:rPr>
              <a:t>than </a:t>
            </a:r>
            <a:r>
              <a:rPr dirty="0" sz="1100" spc="-5">
                <a:latin typeface="Arial"/>
                <a:cs typeface="Arial"/>
              </a:rPr>
              <a:t>half of the economically active people in the  developing world depend on agriculture, hunting, fishing, or forestry. This environmental  income, along with foraging and other activities, is vitally important to a majority of the poor and  under the right policy conditions can offer a pathway out of poverty. But access to the benefits of  environmental resources is often highly inequitable and in some cases increasingly so. In </a:t>
            </a:r>
            <a:r>
              <a:rPr dirty="0" sz="1100">
                <a:latin typeface="Arial"/>
                <a:cs typeface="Arial"/>
              </a:rPr>
              <a:t>many  </a:t>
            </a:r>
            <a:r>
              <a:rPr dirty="0" sz="1100" spc="-5">
                <a:latin typeface="Arial"/>
                <a:cs typeface="Arial"/>
              </a:rPr>
              <a:t>countries, the poor have been </a:t>
            </a:r>
            <a:r>
              <a:rPr dirty="0" sz="1100">
                <a:latin typeface="Arial"/>
                <a:cs typeface="Arial"/>
              </a:rPr>
              <a:t>losing </a:t>
            </a:r>
            <a:r>
              <a:rPr dirty="0" sz="1100" spc="-5">
                <a:latin typeface="Arial"/>
                <a:cs typeface="Arial"/>
              </a:rPr>
              <a:t>control of some </a:t>
            </a:r>
            <a:r>
              <a:rPr dirty="0" sz="1100">
                <a:latin typeface="Arial"/>
                <a:cs typeface="Arial"/>
              </a:rPr>
              <a:t>of </a:t>
            </a:r>
            <a:r>
              <a:rPr dirty="0" sz="1100" spc="-5">
                <a:latin typeface="Arial"/>
                <a:cs typeface="Arial"/>
              </a:rPr>
              <a:t>their traditional natural resource  commons, including forests, fields, and fishing areas, to new private property rights  arrangements or to corrupt public land management. This trend is being widely resisted by  communities and their supporters in NGOs, agencies, and local governments. </a:t>
            </a:r>
            <a:r>
              <a:rPr dirty="0" sz="1100">
                <a:latin typeface="Arial"/>
                <a:cs typeface="Arial"/>
              </a:rPr>
              <a:t>Many </a:t>
            </a:r>
            <a:r>
              <a:rPr dirty="0" sz="1100" spc="-5">
                <a:latin typeface="Arial"/>
                <a:cs typeface="Arial"/>
              </a:rPr>
              <a:t>of the rural  poor lacking access to adequate farmland or to resources for earning adequate livelihoods from  nature, such as access to forests, cattle to graze, or boats and equipment for fishing, have seen  few gains or suffered</a:t>
            </a:r>
            <a:r>
              <a:rPr dirty="0" sz="1100" spc="5">
                <a:latin typeface="Arial"/>
                <a:cs typeface="Arial"/>
              </a:rPr>
              <a:t> </a:t>
            </a:r>
            <a:r>
              <a:rPr dirty="0" sz="1100" spc="-5">
                <a:latin typeface="Arial"/>
                <a:cs typeface="Arial"/>
              </a:rPr>
              <a:t>setbacks.</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In developing countries, much natural resource exploitation has been locally unsustainable and  has occurred in a manner and on a scale that often bypasses the poor. In Africa and Asia, what  had been common village lands may be “spontaneously” privatized. Governments may grant </a:t>
            </a:r>
            <a:r>
              <a:rPr dirty="0" sz="1100">
                <a:latin typeface="Arial"/>
                <a:cs typeface="Arial"/>
              </a:rPr>
              <a:t>or  </a:t>
            </a:r>
            <a:r>
              <a:rPr dirty="0" sz="1100" spc="-5">
                <a:latin typeface="Arial"/>
                <a:cs typeface="Arial"/>
              </a:rPr>
              <a:t>allow (or overlook) foreign or national companies’ logging, fishing, and mining without regard to  the</a:t>
            </a:r>
            <a:r>
              <a:rPr dirty="0" sz="1100" spc="135">
                <a:latin typeface="Arial"/>
                <a:cs typeface="Arial"/>
              </a:rPr>
              <a:t> </a:t>
            </a:r>
            <a:r>
              <a:rPr dirty="0" sz="1100" spc="-5">
                <a:latin typeface="Arial"/>
                <a:cs typeface="Arial"/>
              </a:rPr>
              <a:t>people</a:t>
            </a:r>
            <a:r>
              <a:rPr dirty="0" sz="1100" spc="125">
                <a:latin typeface="Arial"/>
                <a:cs typeface="Arial"/>
              </a:rPr>
              <a:t> </a:t>
            </a:r>
            <a:r>
              <a:rPr dirty="0" sz="1100" spc="-5">
                <a:latin typeface="Arial"/>
                <a:cs typeface="Arial"/>
              </a:rPr>
              <a:t>who</a:t>
            </a:r>
            <a:r>
              <a:rPr dirty="0" sz="1100" spc="135">
                <a:latin typeface="Arial"/>
                <a:cs typeface="Arial"/>
              </a:rPr>
              <a:t> </a:t>
            </a:r>
            <a:r>
              <a:rPr dirty="0" sz="1100" spc="-5">
                <a:latin typeface="Arial"/>
                <a:cs typeface="Arial"/>
              </a:rPr>
              <a:t>depend</a:t>
            </a:r>
            <a:r>
              <a:rPr dirty="0" sz="1100" spc="135">
                <a:latin typeface="Arial"/>
                <a:cs typeface="Arial"/>
              </a:rPr>
              <a:t> </a:t>
            </a:r>
            <a:r>
              <a:rPr dirty="0" sz="1100" spc="-5">
                <a:latin typeface="Arial"/>
                <a:cs typeface="Arial"/>
              </a:rPr>
              <a:t>on</a:t>
            </a:r>
            <a:r>
              <a:rPr dirty="0" sz="1100" spc="135">
                <a:latin typeface="Arial"/>
                <a:cs typeface="Arial"/>
              </a:rPr>
              <a:t> </a:t>
            </a:r>
            <a:r>
              <a:rPr dirty="0" sz="1100" spc="-5">
                <a:latin typeface="Arial"/>
                <a:cs typeface="Arial"/>
              </a:rPr>
              <a:t>these</a:t>
            </a:r>
            <a:r>
              <a:rPr dirty="0" sz="1100" spc="140">
                <a:latin typeface="Arial"/>
                <a:cs typeface="Arial"/>
              </a:rPr>
              <a:t> </a:t>
            </a:r>
            <a:r>
              <a:rPr dirty="0" sz="1100" spc="-5">
                <a:latin typeface="Arial"/>
                <a:cs typeface="Arial"/>
              </a:rPr>
              <a:t>lands</a:t>
            </a:r>
            <a:r>
              <a:rPr dirty="0" sz="1100" spc="135">
                <a:latin typeface="Arial"/>
                <a:cs typeface="Arial"/>
              </a:rPr>
              <a:t> </a:t>
            </a:r>
            <a:r>
              <a:rPr dirty="0" sz="1100" spc="-5">
                <a:latin typeface="Arial"/>
                <a:cs typeface="Arial"/>
              </a:rPr>
              <a:t>and</a:t>
            </a:r>
            <a:r>
              <a:rPr dirty="0" sz="1100" spc="135">
                <a:latin typeface="Arial"/>
                <a:cs typeface="Arial"/>
              </a:rPr>
              <a:t> </a:t>
            </a:r>
            <a:r>
              <a:rPr dirty="0" sz="1100" spc="-5">
                <a:latin typeface="Arial"/>
                <a:cs typeface="Arial"/>
              </a:rPr>
              <a:t>resources</a:t>
            </a:r>
            <a:r>
              <a:rPr dirty="0" sz="1100" spc="135">
                <a:latin typeface="Arial"/>
                <a:cs typeface="Arial"/>
              </a:rPr>
              <a:t> </a:t>
            </a:r>
            <a:r>
              <a:rPr dirty="0" sz="1100" spc="-5">
                <a:latin typeface="Arial"/>
                <a:cs typeface="Arial"/>
              </a:rPr>
              <a:t>for</a:t>
            </a:r>
            <a:r>
              <a:rPr dirty="0" sz="1100" spc="130">
                <a:latin typeface="Arial"/>
                <a:cs typeface="Arial"/>
              </a:rPr>
              <a:t> </a:t>
            </a:r>
            <a:r>
              <a:rPr dirty="0" sz="1100" spc="-5">
                <a:latin typeface="Arial"/>
                <a:cs typeface="Arial"/>
              </a:rPr>
              <a:t>their</a:t>
            </a:r>
            <a:r>
              <a:rPr dirty="0" sz="1100" spc="140">
                <a:latin typeface="Arial"/>
                <a:cs typeface="Arial"/>
              </a:rPr>
              <a:t> </a:t>
            </a:r>
            <a:r>
              <a:rPr dirty="0" sz="1100" spc="-5">
                <a:latin typeface="Arial"/>
                <a:cs typeface="Arial"/>
              </a:rPr>
              <a:t>livelihoods</a:t>
            </a:r>
            <a:r>
              <a:rPr dirty="0" sz="1100" spc="135">
                <a:latin typeface="Arial"/>
                <a:cs typeface="Arial"/>
              </a:rPr>
              <a:t> </a:t>
            </a:r>
            <a:r>
              <a:rPr dirty="0" sz="1100" spc="-5">
                <a:latin typeface="Arial"/>
                <a:cs typeface="Arial"/>
              </a:rPr>
              <a:t>and</a:t>
            </a:r>
            <a:r>
              <a:rPr dirty="0" sz="1100" spc="135">
                <a:latin typeface="Arial"/>
                <a:cs typeface="Arial"/>
              </a:rPr>
              <a:t> </a:t>
            </a:r>
            <a:r>
              <a:rPr dirty="0" sz="1100" spc="-5">
                <a:latin typeface="Arial"/>
                <a:cs typeface="Arial"/>
              </a:rPr>
              <a:t>way</a:t>
            </a:r>
            <a:r>
              <a:rPr dirty="0" sz="1100" spc="135">
                <a:latin typeface="Arial"/>
                <a:cs typeface="Arial"/>
              </a:rPr>
              <a:t> </a:t>
            </a:r>
            <a:r>
              <a:rPr dirty="0" sz="1100" spc="-5">
                <a:latin typeface="Arial"/>
                <a:cs typeface="Arial"/>
              </a:rPr>
              <a:t>of</a:t>
            </a:r>
            <a:r>
              <a:rPr dirty="0" sz="1100" spc="135">
                <a:latin typeface="Arial"/>
                <a:cs typeface="Arial"/>
              </a:rPr>
              <a:t> </a:t>
            </a:r>
            <a:r>
              <a:rPr dirty="0" sz="1100" spc="-5">
                <a:latin typeface="Arial"/>
                <a:cs typeface="Arial"/>
              </a:rPr>
              <a:t>life.</a:t>
            </a:r>
            <a:r>
              <a:rPr dirty="0" sz="1100" spc="130">
                <a:latin typeface="Arial"/>
                <a:cs typeface="Arial"/>
              </a:rPr>
              <a:t> </a:t>
            </a:r>
            <a:r>
              <a:rPr dirty="0" sz="1100" spc="-5">
                <a:latin typeface="Arial"/>
                <a:cs typeface="Arial"/>
              </a:rPr>
              <a:t>Or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205</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07910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they </a:t>
            </a:r>
            <a:r>
              <a:rPr dirty="0" sz="1100">
                <a:latin typeface="Arial"/>
                <a:cs typeface="Arial"/>
              </a:rPr>
              <a:t>may </a:t>
            </a:r>
            <a:r>
              <a:rPr dirty="0" sz="1100" spc="-5">
                <a:latin typeface="Arial"/>
                <a:cs typeface="Arial"/>
              </a:rPr>
              <a:t>designate common </a:t>
            </a:r>
            <a:r>
              <a:rPr dirty="0" sz="1100">
                <a:latin typeface="Arial"/>
                <a:cs typeface="Arial"/>
              </a:rPr>
              <a:t>lands </a:t>
            </a:r>
            <a:r>
              <a:rPr dirty="0" sz="1100" spc="-5">
                <a:latin typeface="Arial"/>
                <a:cs typeface="Arial"/>
              </a:rPr>
              <a:t>used by the poor to be “protected” areas—although  corruption and poaching </a:t>
            </a:r>
            <a:r>
              <a:rPr dirty="0" sz="1100">
                <a:latin typeface="Arial"/>
                <a:cs typeface="Arial"/>
              </a:rPr>
              <a:t>may </a:t>
            </a:r>
            <a:r>
              <a:rPr dirty="0" sz="1100" spc="-5">
                <a:latin typeface="Arial"/>
                <a:cs typeface="Arial"/>
              </a:rPr>
              <a:t>negate any ecological gains—thereby banning the livelihood </a:t>
            </a:r>
            <a:r>
              <a:rPr dirty="0" sz="1100">
                <a:latin typeface="Arial"/>
                <a:cs typeface="Arial"/>
              </a:rPr>
              <a:t>and  </a:t>
            </a:r>
            <a:r>
              <a:rPr dirty="0" sz="1100" spc="-5">
                <a:latin typeface="Arial"/>
                <a:cs typeface="Arial"/>
              </a:rPr>
              <a:t>way of life </a:t>
            </a:r>
            <a:r>
              <a:rPr dirty="0" sz="1100">
                <a:latin typeface="Arial"/>
                <a:cs typeface="Arial"/>
              </a:rPr>
              <a:t>of </a:t>
            </a:r>
            <a:r>
              <a:rPr dirty="0" sz="1100" spc="-5">
                <a:latin typeface="Arial"/>
                <a:cs typeface="Arial"/>
              </a:rPr>
              <a:t>the poor, giving them </a:t>
            </a:r>
            <a:r>
              <a:rPr dirty="0" sz="1100">
                <a:latin typeface="Arial"/>
                <a:cs typeface="Arial"/>
              </a:rPr>
              <a:t>no </a:t>
            </a:r>
            <a:r>
              <a:rPr dirty="0" sz="1100" spc="-5">
                <a:latin typeface="Arial"/>
                <a:cs typeface="Arial"/>
              </a:rPr>
              <a:t>incentive to take part in protection. Part of the solution is  “pro-poor governance,” with the genuine empowerment of poor people and their communities to  assert their rights. This magnifies the impact of training that helps fuse scientific management  with traditional community practices. The empowerment of women in their communities is often  a key aspect of program success. Many outstanding examples, such as the Suledo Forest  Community and the HASHI project in Tanzania, are found among winners and runners-up of the  United Nations Equator Prize, which recognizes “local efforts to reduce poverty through the  conservation and sustainable use of</a:t>
            </a:r>
            <a:r>
              <a:rPr dirty="0" sz="1100" spc="15">
                <a:latin typeface="Arial"/>
                <a:cs typeface="Arial"/>
              </a:rPr>
              <a:t> </a:t>
            </a:r>
            <a:r>
              <a:rPr dirty="0" sz="1100" spc="-5">
                <a:latin typeface="Arial"/>
                <a:cs typeface="Arial"/>
              </a:rPr>
              <a:t>biodiversity.”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THE SCOPE OF DOMESTIC-ORIGIN ENVIRONMENTAL </a:t>
            </a:r>
            <a:r>
              <a:rPr dirty="0" sz="1100" spc="-10" b="1">
                <a:latin typeface="Arial"/>
                <a:cs typeface="Arial"/>
              </a:rPr>
              <a:t>DEGRADATION: </a:t>
            </a:r>
            <a:r>
              <a:rPr dirty="0" sz="1100" spc="-5" b="1">
                <a:latin typeface="Arial"/>
                <a:cs typeface="Arial"/>
              </a:rPr>
              <a:t>AN</a:t>
            </a:r>
            <a:r>
              <a:rPr dirty="0" sz="1100" spc="105" b="1">
                <a:latin typeface="Arial"/>
                <a:cs typeface="Arial"/>
              </a:rPr>
              <a:t> </a:t>
            </a:r>
            <a:r>
              <a:rPr dirty="0" sz="1100" spc="-5" b="1">
                <a:latin typeface="Arial"/>
                <a:cs typeface="Arial"/>
              </a:rPr>
              <a:t>OVERVIEW</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Environmental challenges in developing countries caused by poverty include health hazards  created by lack of access to clean water </a:t>
            </a:r>
            <a:r>
              <a:rPr dirty="0" sz="1100">
                <a:latin typeface="Arial"/>
                <a:cs typeface="Arial"/>
              </a:rPr>
              <a:t>and </a:t>
            </a:r>
            <a:r>
              <a:rPr dirty="0" sz="1100" spc="-5">
                <a:latin typeface="Arial"/>
                <a:cs typeface="Arial"/>
              </a:rPr>
              <a:t>sanitation, indoor air pollution from biomass  stoves, and deforestation and severe soil degradation— all most common where households  lack economic alternatives to unsustainable patterns of living. The principal health and  productivity consequences of environmental damage include water pollution and scarcity, air  pollution, solid and hazardous wastes, soil degradation, deforestation, loss of biodiversity, and  global warming–caused climate change. It is estimated that over 60% of the poorest people  residing in developing countries struggle for survival on agriculturally marginal soils. This trend  is greatly worsened in some areas of the developing world by strong inequalities in the  distribution of land, which force an ever-growing class of landless workers onto increasingly  taxed, ecologically sensitive soils. The growing intensification of cultivation on fragile lands  leads to rapid soil degradation and loss of productivity. It has been estimated that roughly  270,000 square kilometers of soil lose virtually all of their productivity each year. An area  greater than the size of India and China combined has been significantly</a:t>
            </a:r>
            <a:r>
              <a:rPr dirty="0" sz="1100" spc="105">
                <a:latin typeface="Arial"/>
                <a:cs typeface="Arial"/>
              </a:rPr>
              <a:t> </a:t>
            </a:r>
            <a:r>
              <a:rPr dirty="0" sz="1100" spc="-5">
                <a:latin typeface="Arial"/>
                <a:cs typeface="Arial"/>
              </a:rPr>
              <a:t>degraded.</a:t>
            </a:r>
            <a:endParaRPr sz="1100">
              <a:latin typeface="Arial"/>
              <a:cs typeface="Arial"/>
            </a:endParaRPr>
          </a:p>
          <a:p>
            <a:pPr>
              <a:lnSpc>
                <a:spcPct val="100000"/>
              </a:lnSpc>
            </a:pPr>
            <a:endParaRPr sz="1100">
              <a:latin typeface="Arial"/>
              <a:cs typeface="Arial"/>
            </a:endParaRPr>
          </a:p>
          <a:p>
            <a:pPr algn="just" marL="12700" marR="5715">
              <a:lnSpc>
                <a:spcPct val="95900"/>
              </a:lnSpc>
            </a:pPr>
            <a:r>
              <a:rPr dirty="0" sz="1100" spc="-5">
                <a:latin typeface="Arial"/>
                <a:cs typeface="Arial"/>
              </a:rPr>
              <a:t>The resulting annual loss in agricultural productivity is estimated to be between 0.5% and 1.5%  of annual worldwide GNI. As a result of rapid population increases and the failure of agricultural  production to keep pace, per capita food production declined in sub-Saharan Africa during the  1980s and 1990s (see Chapter 9). The higher commodity prices of this century have apparently  encouraged poaching and illegal logging in countries such as Indonesia. High fish prices have  been associated with over-fishing in restricted areas and environmentally destructive fishing  practices. Runoffs and collateral damage </a:t>
            </a:r>
            <a:r>
              <a:rPr dirty="0" sz="1100">
                <a:latin typeface="Arial"/>
                <a:cs typeface="Arial"/>
              </a:rPr>
              <a:t>have </a:t>
            </a:r>
            <a:r>
              <a:rPr dirty="0" sz="1100" spc="-5">
                <a:latin typeface="Arial"/>
                <a:cs typeface="Arial"/>
              </a:rPr>
              <a:t>resulted from expansion of mining activities into  sensitive areas. In many of these cases, indigenous and poor people dependent on natural  resources for their survival have</a:t>
            </a:r>
            <a:r>
              <a:rPr dirty="0" sz="1100" spc="20">
                <a:latin typeface="Arial"/>
                <a:cs typeface="Arial"/>
              </a:rPr>
              <a:t> </a:t>
            </a:r>
            <a:r>
              <a:rPr dirty="0" sz="1100" spc="-5">
                <a:latin typeface="Arial"/>
                <a:cs typeface="Arial"/>
              </a:rPr>
              <a:t>suffered.</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An environmental problem shared by both the </a:t>
            </a:r>
            <a:r>
              <a:rPr dirty="0" sz="1100">
                <a:latin typeface="Arial"/>
                <a:cs typeface="Arial"/>
              </a:rPr>
              <a:t>urban </a:t>
            </a:r>
            <a:r>
              <a:rPr dirty="0" sz="1100" spc="-5">
                <a:latin typeface="Arial"/>
                <a:cs typeface="Arial"/>
              </a:rPr>
              <a:t>and the rural poor is the prevalence of  unhealthy conditions created by the lack of clean water and sanitation. This in turn contributes  greatly to the spread of infectious diseases. It has been estimated that waterborne pathogens  that cause typhoid, cholera, amoebic infections, bacillary dysentery, and diarrhea account for  80% of all disease in developing countries and at least in part for up to 90% of the nearly 9  million child deaths each year. Deteriorating environmental conditions were cited as a  contributing factor to the spread of cholera epidemics and other health problems in a number of  countries in Latin America and Africa in the 1990s (see Chapter 8). And as noted in Chapter 7,  rapid population growth and heavy rural-urban migration make it difficult to extend urban  services to many people who need them. Airborne pollutants also take a high toll on the health  of citizens in developing countries. Dependence on biomass fuels such as wood, straw, and  manure is closely related to</a:t>
            </a:r>
            <a:r>
              <a:rPr dirty="0" sz="1100" spc="20">
                <a:latin typeface="Arial"/>
                <a:cs typeface="Arial"/>
              </a:rPr>
              <a:t> </a:t>
            </a:r>
            <a:r>
              <a:rPr dirty="0" sz="1100" spc="-5">
                <a:latin typeface="Arial"/>
                <a:cs typeface="Arial"/>
              </a:rPr>
              <a:t>poverty.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206</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79324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burning of biomass fuels for cooking and the boiling of water create dangerously high levels  of indoor pollution to which 400 million to 700 million people, mostly women and children, are  exposed each year. Smoke and fumes from indoor stoves are believed to contribute significantly  to some 4 million childhood deaths each year from respiratory diseases and to an ever-larger  number of chronic respiratory illnesses. In urban areas, other sources of pollution pose serious  threats to physical well-being. According to the World Health Organization, 1.3 billion people live  in urban areas with unsafe levels of airborne pollutants. Yet, it has been projected that by 2030,  manufacturing in developing countries will expand to 600% of 2000 levels, vastly increasing  potential concentrations of pollutants. Just to maintain current urban air standards until 2030  (which means conceding to conditions much worse than those existing in the urban centers of  developed countries), average emissions from industries and electric generators in developing  countries would have to be reduced by 90% to 95% per unit of</a:t>
            </a:r>
            <a:r>
              <a:rPr dirty="0" sz="1100" spc="75">
                <a:latin typeface="Arial"/>
                <a:cs typeface="Arial"/>
              </a:rPr>
              <a:t> </a:t>
            </a:r>
            <a:r>
              <a:rPr dirty="0" sz="1100" spc="-5">
                <a:latin typeface="Arial"/>
                <a:cs typeface="Arial"/>
              </a:rPr>
              <a:t>output.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RURAL DEVELOPMENT AND </a:t>
            </a:r>
            <a:r>
              <a:rPr dirty="0" sz="1100" b="1">
                <a:latin typeface="Arial"/>
                <a:cs typeface="Arial"/>
              </a:rPr>
              <a:t>THE </a:t>
            </a:r>
            <a:r>
              <a:rPr dirty="0" sz="1100" spc="-5" b="1">
                <a:latin typeface="Arial"/>
                <a:cs typeface="Arial"/>
              </a:rPr>
              <a:t>ENVIRONMENT: A TALE OF TWO</a:t>
            </a:r>
            <a:r>
              <a:rPr dirty="0" sz="1100" spc="35" b="1">
                <a:latin typeface="Arial"/>
                <a:cs typeface="Arial"/>
              </a:rPr>
              <a:t> </a:t>
            </a:r>
            <a:r>
              <a:rPr dirty="0" sz="1100" spc="-5" b="1">
                <a:latin typeface="Arial"/>
                <a:cs typeface="Arial"/>
              </a:rPr>
              <a:t>VILLAGES</a:t>
            </a:r>
            <a:endParaRPr sz="1100">
              <a:latin typeface="Arial"/>
              <a:cs typeface="Arial"/>
            </a:endParaRPr>
          </a:p>
          <a:p>
            <a:pPr>
              <a:lnSpc>
                <a:spcPct val="100000"/>
              </a:lnSpc>
              <a:spcBef>
                <a:spcPts val="15"/>
              </a:spcBef>
            </a:pPr>
            <a:endParaRPr sz="1200">
              <a:latin typeface="Arial"/>
              <a:cs typeface="Arial"/>
            </a:endParaRPr>
          </a:p>
          <a:p>
            <a:pPr algn="just" marL="12700" marR="8255">
              <a:lnSpc>
                <a:spcPts val="1270"/>
              </a:lnSpc>
            </a:pPr>
            <a:r>
              <a:rPr dirty="0" sz="1100" spc="-5">
                <a:latin typeface="Arial"/>
                <a:cs typeface="Arial"/>
              </a:rPr>
              <a:t>To clarify how rural poverty and environmental degradation interact, let us take a brief look at  two hypothetical developing-world villages, one in Africa and the other in South</a:t>
            </a:r>
            <a:r>
              <a:rPr dirty="0" sz="1100" spc="145">
                <a:latin typeface="Arial"/>
                <a:cs typeface="Arial"/>
              </a:rPr>
              <a:t> </a:t>
            </a:r>
            <a:r>
              <a:rPr dirty="0" sz="1100" spc="-5">
                <a:latin typeface="Arial"/>
                <a:cs typeface="Arial"/>
              </a:rPr>
              <a:t>America.</a:t>
            </a:r>
            <a:endParaRPr sz="1100">
              <a:latin typeface="Arial"/>
              <a:cs typeface="Arial"/>
            </a:endParaRPr>
          </a:p>
          <a:p>
            <a:pPr>
              <a:lnSpc>
                <a:spcPct val="100000"/>
              </a:lnSpc>
              <a:spcBef>
                <a:spcPts val="30"/>
              </a:spcBef>
            </a:pPr>
            <a:endParaRPr sz="1000">
              <a:latin typeface="Arial"/>
              <a:cs typeface="Arial"/>
            </a:endParaRPr>
          </a:p>
          <a:p>
            <a:pPr algn="just" marL="12700">
              <a:lnSpc>
                <a:spcPct val="100000"/>
              </a:lnSpc>
            </a:pPr>
            <a:r>
              <a:rPr dirty="0" sz="1100" spc="-5" b="1">
                <a:latin typeface="Arial"/>
                <a:cs typeface="Arial"/>
              </a:rPr>
              <a:t>A </a:t>
            </a:r>
            <a:r>
              <a:rPr dirty="0" sz="1100" spc="-10" b="1">
                <a:latin typeface="Arial"/>
                <a:cs typeface="Arial"/>
              </a:rPr>
              <a:t>VILLAGE </a:t>
            </a:r>
            <a:r>
              <a:rPr dirty="0" sz="1100" spc="-5" b="1">
                <a:latin typeface="Arial"/>
                <a:cs typeface="Arial"/>
              </a:rPr>
              <a:t>IN SUB-SAHARAN</a:t>
            </a:r>
            <a:r>
              <a:rPr dirty="0" sz="1100" spc="20" b="1">
                <a:latin typeface="Arial"/>
                <a:cs typeface="Arial"/>
              </a:rPr>
              <a:t> </a:t>
            </a:r>
            <a:r>
              <a:rPr dirty="0" sz="1100" spc="-5" b="1">
                <a:latin typeface="Arial"/>
                <a:cs typeface="Arial"/>
              </a:rPr>
              <a:t>AFRICA</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The residents of the African village, located in a semiarid landscape, have been warned by  international experts that cutting the remaining trees and cultivating marginal land will only  worsen the hardships that they already endure. The advice runs counter to each family’s first  priority, which remains obtaining the basic necessities for survival. Here trees serve </a:t>
            </a:r>
            <a:r>
              <a:rPr dirty="0" sz="1100">
                <a:latin typeface="Arial"/>
                <a:cs typeface="Arial"/>
              </a:rPr>
              <a:t>many  </a:t>
            </a:r>
            <a:r>
              <a:rPr dirty="0" sz="1100" spc="-5">
                <a:latin typeface="Arial"/>
                <a:cs typeface="Arial"/>
              </a:rPr>
              <a:t>functions, the most important of which is to provide firewood for cooking. Without wood, it would  be impossible to prepare </a:t>
            </a:r>
            <a:r>
              <a:rPr dirty="0" sz="1100">
                <a:latin typeface="Arial"/>
                <a:cs typeface="Arial"/>
              </a:rPr>
              <a:t>many </a:t>
            </a:r>
            <a:r>
              <a:rPr dirty="0" sz="1100" spc="-5">
                <a:latin typeface="Arial"/>
                <a:cs typeface="Arial"/>
              </a:rPr>
              <a:t>foods, make cornmeal, or boil water. As a </a:t>
            </a:r>
            <a:r>
              <a:rPr dirty="0" sz="1100">
                <a:latin typeface="Arial"/>
                <a:cs typeface="Arial"/>
              </a:rPr>
              <a:t>result </a:t>
            </a:r>
            <a:r>
              <a:rPr dirty="0" sz="1100" spc="-5">
                <a:latin typeface="Arial"/>
                <a:cs typeface="Arial"/>
              </a:rPr>
              <a:t>of the  intensification of land use by a rapidly growing population, the cutting of trees for firewood, and  the clearing of marginal land for cultivation, the soil is increasingly exposed to destructive  environmental forces.</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The loss of vegetation, which helps mitigate the destructive impact of heavy winds, rain, and  desiccation by the sun, leads to more rapid erosion of precious topsoil needed for cultivation.  Good yields are more difficult to obtain, and the consequences of drought years are more  intense. Desertification—encroachment of the desert into areas where erosion has been most  severe—threatens to consume even the more productive land. As a result of the loss of  precious topsoil and declining output, there are fewer crops to bring to market to barter for  necessities. In </a:t>
            </a:r>
            <a:r>
              <a:rPr dirty="0" sz="1100">
                <a:latin typeface="Arial"/>
                <a:cs typeface="Arial"/>
              </a:rPr>
              <a:t>many </a:t>
            </a:r>
            <a:r>
              <a:rPr dirty="0" sz="1100" spc="-5">
                <a:latin typeface="Arial"/>
                <a:cs typeface="Arial"/>
              </a:rPr>
              <a:t>households, there is less food for the children. Yet the family must spend  longer hours trying to obtain enough income to survive. Paid work is scarce, although some  households earn a small amount of additional income by sending family members to work on  larger, more prosperous</a:t>
            </a:r>
            <a:r>
              <a:rPr dirty="0" sz="1100" spc="5">
                <a:latin typeface="Arial"/>
                <a:cs typeface="Arial"/>
              </a:rPr>
              <a:t> </a:t>
            </a:r>
            <a:r>
              <a:rPr dirty="0" sz="1100" spc="-5">
                <a:latin typeface="Arial"/>
                <a:cs typeface="Arial"/>
              </a:rPr>
              <a:t>farms.</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It is generally the job of women to collect enough firewood for the </a:t>
            </a:r>
            <a:r>
              <a:rPr dirty="0" sz="1100">
                <a:latin typeface="Arial"/>
                <a:cs typeface="Arial"/>
              </a:rPr>
              <a:t>day’s </a:t>
            </a:r>
            <a:r>
              <a:rPr dirty="0" sz="1100" spc="-5">
                <a:latin typeface="Arial"/>
                <a:cs typeface="Arial"/>
              </a:rPr>
              <a:t>cooking. It may take  hours to walk to and from an area where it is available, adding considerably to the day’s work.  But no alternative forms of fuel are available in the local market, and even if they were,  household funds would be insufficient to purchase them. In fact, many women spend additional  time collecting precious firewood to make charcoal, which can then be sold in the cities for the  equivalent of a few pennies, which helps buy household necessities. The low opportunity cost of  a woman’s time perpetuates the wasteful use of forests and worsens local environmental  conditions.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207</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902461"/>
            <a:ext cx="5970270" cy="8092440"/>
          </a:xfrm>
          <a:prstGeom prst="rect">
            <a:avLst/>
          </a:prstGeom>
        </p:spPr>
        <p:txBody>
          <a:bodyPr wrap="square" lIns="0" tIns="12065" rIns="0" bIns="0" rtlCol="0" vert="horz">
            <a:spAutoFit/>
          </a:bodyPr>
          <a:lstStyle/>
          <a:p>
            <a:pPr marL="469900" indent="-228600">
              <a:lnSpc>
                <a:spcPts val="1285"/>
              </a:lnSpc>
              <a:spcBef>
                <a:spcPts val="95"/>
              </a:spcBef>
              <a:buFont typeface="Symbol"/>
              <a:buChar char=""/>
              <a:tabLst>
                <a:tab pos="469265" algn="l"/>
                <a:tab pos="469900" algn="l"/>
              </a:tabLst>
            </a:pPr>
            <a:r>
              <a:rPr dirty="0" sz="1100" spc="-5" b="1">
                <a:latin typeface="Arial"/>
                <a:cs typeface="Arial"/>
              </a:rPr>
              <a:t>Desertification</a:t>
            </a:r>
            <a:endParaRPr sz="1100">
              <a:latin typeface="Arial"/>
              <a:cs typeface="Arial"/>
            </a:endParaRPr>
          </a:p>
          <a:p>
            <a:pPr marL="469900" marR="6350">
              <a:lnSpc>
                <a:spcPts val="1270"/>
              </a:lnSpc>
              <a:spcBef>
                <a:spcPts val="55"/>
              </a:spcBef>
            </a:pPr>
            <a:r>
              <a:rPr dirty="0" sz="1100" spc="-5">
                <a:latin typeface="Arial"/>
                <a:cs typeface="Arial"/>
              </a:rPr>
              <a:t>The transformation of a region into dry, barren land with little or no capacity to sustain  life without an artificial source of</a:t>
            </a:r>
            <a:r>
              <a:rPr dirty="0" sz="1100" spc="25">
                <a:latin typeface="Arial"/>
                <a:cs typeface="Arial"/>
              </a:rPr>
              <a:t> </a:t>
            </a:r>
            <a:r>
              <a:rPr dirty="0" sz="1100" spc="-5">
                <a:latin typeface="Arial"/>
                <a:cs typeface="Arial"/>
              </a:rPr>
              <a:t>water.</a:t>
            </a:r>
            <a:endParaRPr sz="1100">
              <a:latin typeface="Arial"/>
              <a:cs typeface="Arial"/>
            </a:endParaRPr>
          </a:p>
          <a:p>
            <a:pPr>
              <a:lnSpc>
                <a:spcPct val="100000"/>
              </a:lnSpc>
              <a:spcBef>
                <a:spcPts val="25"/>
              </a:spcBef>
            </a:pPr>
            <a:endParaRPr sz="1000">
              <a:latin typeface="Arial"/>
              <a:cs typeface="Arial"/>
            </a:endParaRPr>
          </a:p>
          <a:p>
            <a:pPr algn="just" marL="12700">
              <a:lnSpc>
                <a:spcPct val="100000"/>
              </a:lnSpc>
              <a:spcBef>
                <a:spcPts val="5"/>
              </a:spcBef>
            </a:pPr>
            <a:r>
              <a:rPr dirty="0" sz="1100" spc="-5" b="1">
                <a:latin typeface="Arial"/>
                <a:cs typeface="Arial"/>
              </a:rPr>
              <a:t>A SETTLEMENT NEAR THE</a:t>
            </a:r>
            <a:r>
              <a:rPr dirty="0" sz="1100" spc="15" b="1">
                <a:latin typeface="Arial"/>
                <a:cs typeface="Arial"/>
              </a:rPr>
              <a:t> </a:t>
            </a:r>
            <a:r>
              <a:rPr dirty="0" sz="1100" spc="-5" b="1">
                <a:latin typeface="Arial"/>
                <a:cs typeface="Arial"/>
              </a:rPr>
              <a:t>AMAZON</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800"/>
              </a:lnSpc>
            </a:pPr>
            <a:r>
              <a:rPr dirty="0" sz="1100" spc="-5">
                <a:latin typeface="Arial"/>
                <a:cs typeface="Arial"/>
              </a:rPr>
              <a:t>Consider now the other hypothetical village, on the edge of a vast rain forest in South America.  The great majority of farmers here are newcomers, drawn by government promises of land and  prosperity. The public resettlement program, which distributes property titles to settlers willing to  clear the land, is designed to reduce the overcrowding of cities and stem the flow of rural-to  urban migrants. In contrast to the African village, this settlement has no shortage of rainfall,  wildlife, or trees. In fact, the forest is an obstacle for migrant farmers and is regularly burned to  make room </a:t>
            </a:r>
            <a:r>
              <a:rPr dirty="0" sz="1100">
                <a:latin typeface="Arial"/>
                <a:cs typeface="Arial"/>
              </a:rPr>
              <a:t>for</a:t>
            </a:r>
            <a:r>
              <a:rPr dirty="0" sz="1100" spc="5">
                <a:latin typeface="Arial"/>
                <a:cs typeface="Arial"/>
              </a:rPr>
              <a:t> </a:t>
            </a:r>
            <a:r>
              <a:rPr dirty="0" sz="1100" spc="-5">
                <a:latin typeface="Arial"/>
                <a:cs typeface="Arial"/>
              </a:rPr>
              <a:t>cultivation.</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Though burning the forest may temporarily provide the landless with a modest source of  income, the land, like 90% of rain forest soil worldwide, is not very </a:t>
            </a:r>
            <a:r>
              <a:rPr dirty="0" sz="1100">
                <a:latin typeface="Arial"/>
                <a:cs typeface="Arial"/>
              </a:rPr>
              <a:t>fertile </a:t>
            </a:r>
            <a:r>
              <a:rPr dirty="0" sz="1100" spc="-5">
                <a:latin typeface="Arial"/>
                <a:cs typeface="Arial"/>
              </a:rPr>
              <a:t>and can sustain  intensive cultivation for only a few years. Complementary inputs and farming know-how that  might help improve </a:t>
            </a:r>
            <a:r>
              <a:rPr dirty="0" sz="1100">
                <a:latin typeface="Arial"/>
                <a:cs typeface="Arial"/>
              </a:rPr>
              <a:t>levels </a:t>
            </a:r>
            <a:r>
              <a:rPr dirty="0" sz="1100" spc="-5">
                <a:latin typeface="Arial"/>
                <a:cs typeface="Arial"/>
              </a:rPr>
              <a:t>of output are in short supply, and yields begin to drop rapidly after the  first few years. Settlers are then forced to burn their way deeper into the forest. Because the  settlers are located on marginal soils and must constantly seek new arable ground, with little  prospect of rising above a subsistence existence, the government program may be anti-  developmental in the long run. Household incomes remain low and unstable, there is little gain  in average productivity, and the migrating population leaves environmental devastation in its  wake, further reducing the productivity of</a:t>
            </a:r>
            <a:r>
              <a:rPr dirty="0" sz="1100" spc="20">
                <a:latin typeface="Arial"/>
                <a:cs typeface="Arial"/>
              </a:rPr>
              <a:t> </a:t>
            </a:r>
            <a:r>
              <a:rPr dirty="0" sz="1100" spc="-5">
                <a:latin typeface="Arial"/>
                <a:cs typeface="Arial"/>
              </a:rPr>
              <a:t>all.</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ENVIRONMENTAL DETERIORATION IN</a:t>
            </a:r>
            <a:r>
              <a:rPr dirty="0" sz="1100" spc="10" b="1">
                <a:latin typeface="Arial"/>
                <a:cs typeface="Arial"/>
              </a:rPr>
              <a:t> </a:t>
            </a:r>
            <a:r>
              <a:rPr dirty="0" sz="1100" b="1">
                <a:latin typeface="Arial"/>
                <a:cs typeface="Arial"/>
              </a:rPr>
              <a:t>VILLAGES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Although heavy urbanization is leading to rapid demographic changes, the majority of the </a:t>
            </a:r>
            <a:r>
              <a:rPr dirty="0" sz="1100">
                <a:latin typeface="Arial"/>
                <a:cs typeface="Arial"/>
              </a:rPr>
              <a:t>very  </a:t>
            </a:r>
            <a:r>
              <a:rPr dirty="0" sz="1100" spc="-5">
                <a:latin typeface="Arial"/>
                <a:cs typeface="Arial"/>
              </a:rPr>
              <a:t>poor live in rural areas similar to the two villages just described. Economic necessity often  forces small farmers to use resources in ways that guarantee short-term survival but reduce the  future productivity of environmental assets. Unsustainable patterns of living may be imposed by  economic necessity. In periods of prolonged and severe food shortages, desperately hungry  farmers have been known to eat </a:t>
            </a:r>
            <a:r>
              <a:rPr dirty="0" sz="1100">
                <a:latin typeface="Arial"/>
                <a:cs typeface="Arial"/>
              </a:rPr>
              <a:t>the </a:t>
            </a:r>
            <a:r>
              <a:rPr dirty="0" sz="1100" spc="-5">
                <a:latin typeface="Arial"/>
                <a:cs typeface="Arial"/>
              </a:rPr>
              <a:t>seeds with which they would </a:t>
            </a:r>
            <a:r>
              <a:rPr dirty="0" sz="1100">
                <a:latin typeface="Arial"/>
                <a:cs typeface="Arial"/>
              </a:rPr>
              <a:t>have </a:t>
            </a:r>
            <a:r>
              <a:rPr dirty="0" sz="1100" spc="-5">
                <a:latin typeface="Arial"/>
                <a:cs typeface="Arial"/>
              </a:rPr>
              <a:t>planted the next year’s  crop, knowingly paving the way for future disaster. Because it happens more slowly, the  tendency of impoverished people to degrade agricultural resources on which they depend </a:t>
            </a:r>
            <a:r>
              <a:rPr dirty="0" sz="1100">
                <a:latin typeface="Arial"/>
                <a:cs typeface="Arial"/>
              </a:rPr>
              <a:t>for  </a:t>
            </a:r>
            <a:r>
              <a:rPr dirty="0" sz="1100" spc="-5">
                <a:latin typeface="Arial"/>
                <a:cs typeface="Arial"/>
              </a:rPr>
              <a:t>survival is less dramatic, but it is motivated by similar</a:t>
            </a:r>
            <a:r>
              <a:rPr dirty="0" sz="1100" spc="65">
                <a:latin typeface="Arial"/>
                <a:cs typeface="Arial"/>
              </a:rPr>
              <a:t> </a:t>
            </a:r>
            <a:r>
              <a:rPr dirty="0" sz="1100" spc="-5">
                <a:latin typeface="Arial"/>
                <a:cs typeface="Arial"/>
              </a:rPr>
              <a:t>circumstances.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causes and consequences of rural environmental destruction vary greatly by region.  However, persistent poverty is frequently the root of much locally caused damage. The majority  of the poor in developing countries survive on the meager yield obtained from cultivation of  small plots of land whose soil may be too shallow, too dry, or too sandy to sustain permanent  agriculture. If the land is not in some way replenished through either shifting cultivation or the  use of manufactured fertilizers, it becomes exhausted, and yields decrease with successive  harvests. But the poor generally do not have the wherewithal to increase the productivity of the  land by allowing it to lay fallow or by making investments in irrigation and</a:t>
            </a:r>
            <a:r>
              <a:rPr dirty="0" sz="1100" spc="130">
                <a:latin typeface="Arial"/>
                <a:cs typeface="Arial"/>
              </a:rPr>
              <a:t> </a:t>
            </a:r>
            <a:r>
              <a:rPr dirty="0" sz="1100" spc="-5">
                <a:latin typeface="Arial"/>
                <a:cs typeface="Arial"/>
              </a:rPr>
              <a:t>fertilizer.</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In addition, where fertility rates are high and children provide a </a:t>
            </a:r>
            <a:r>
              <a:rPr dirty="0" sz="1100">
                <a:latin typeface="Arial"/>
                <a:cs typeface="Arial"/>
              </a:rPr>
              <a:t>vital </a:t>
            </a:r>
            <a:r>
              <a:rPr dirty="0" sz="1100" spc="-5">
                <a:latin typeface="Arial"/>
                <a:cs typeface="Arial"/>
              </a:rPr>
              <a:t>economic contribution  through wages or on-farm labor, population and the intensity of cultivation are likely to increase  over time, speeding the rate at which the soil becomes exhausted. One immediate result of this  type</a:t>
            </a:r>
            <a:r>
              <a:rPr dirty="0" sz="1100" spc="70">
                <a:latin typeface="Arial"/>
                <a:cs typeface="Arial"/>
              </a:rPr>
              <a:t> </a:t>
            </a:r>
            <a:r>
              <a:rPr dirty="0" sz="1100" spc="-5">
                <a:latin typeface="Arial"/>
                <a:cs typeface="Arial"/>
              </a:rPr>
              <a:t>of</a:t>
            </a:r>
            <a:r>
              <a:rPr dirty="0" sz="1100" spc="75">
                <a:latin typeface="Arial"/>
                <a:cs typeface="Arial"/>
              </a:rPr>
              <a:t> </a:t>
            </a:r>
            <a:r>
              <a:rPr dirty="0" sz="1100" spc="-5">
                <a:latin typeface="Arial"/>
                <a:cs typeface="Arial"/>
              </a:rPr>
              <a:t>environmental</a:t>
            </a:r>
            <a:r>
              <a:rPr dirty="0" sz="1100" spc="75">
                <a:latin typeface="Arial"/>
                <a:cs typeface="Arial"/>
              </a:rPr>
              <a:t> </a:t>
            </a:r>
            <a:r>
              <a:rPr dirty="0" sz="1100" spc="-5">
                <a:latin typeface="Arial"/>
                <a:cs typeface="Arial"/>
              </a:rPr>
              <a:t>pressure</a:t>
            </a:r>
            <a:r>
              <a:rPr dirty="0" sz="1100" spc="75">
                <a:latin typeface="Arial"/>
                <a:cs typeface="Arial"/>
              </a:rPr>
              <a:t> </a:t>
            </a:r>
            <a:r>
              <a:rPr dirty="0" sz="1100" spc="-5">
                <a:latin typeface="Arial"/>
                <a:cs typeface="Arial"/>
              </a:rPr>
              <a:t>is</a:t>
            </a:r>
            <a:r>
              <a:rPr dirty="0" sz="1100" spc="70">
                <a:latin typeface="Arial"/>
                <a:cs typeface="Arial"/>
              </a:rPr>
              <a:t> </a:t>
            </a:r>
            <a:r>
              <a:rPr dirty="0" sz="1100" spc="-5">
                <a:latin typeface="Arial"/>
                <a:cs typeface="Arial"/>
              </a:rPr>
              <a:t>soil</a:t>
            </a:r>
            <a:r>
              <a:rPr dirty="0" sz="1100" spc="75">
                <a:latin typeface="Arial"/>
                <a:cs typeface="Arial"/>
              </a:rPr>
              <a:t> </a:t>
            </a:r>
            <a:r>
              <a:rPr dirty="0" sz="1100" spc="-5">
                <a:latin typeface="Arial"/>
                <a:cs typeface="Arial"/>
              </a:rPr>
              <a:t>erosion.</a:t>
            </a:r>
            <a:r>
              <a:rPr dirty="0" sz="1100" spc="75">
                <a:latin typeface="Arial"/>
                <a:cs typeface="Arial"/>
              </a:rPr>
              <a:t> </a:t>
            </a:r>
            <a:r>
              <a:rPr dirty="0" sz="1100">
                <a:latin typeface="Arial"/>
                <a:cs typeface="Arial"/>
              </a:rPr>
              <a:t>With</a:t>
            </a:r>
            <a:r>
              <a:rPr dirty="0" sz="1100" spc="75">
                <a:latin typeface="Arial"/>
                <a:cs typeface="Arial"/>
              </a:rPr>
              <a:t> </a:t>
            </a:r>
            <a:r>
              <a:rPr dirty="0" sz="1100" spc="-5">
                <a:latin typeface="Arial"/>
                <a:cs typeface="Arial"/>
              </a:rPr>
              <a:t>little</a:t>
            </a:r>
            <a:r>
              <a:rPr dirty="0" sz="1100" spc="70">
                <a:latin typeface="Arial"/>
                <a:cs typeface="Arial"/>
              </a:rPr>
              <a:t> </a:t>
            </a:r>
            <a:r>
              <a:rPr dirty="0" sz="1100" spc="-5">
                <a:latin typeface="Arial"/>
                <a:cs typeface="Arial"/>
              </a:rPr>
              <a:t>plant</a:t>
            </a:r>
            <a:r>
              <a:rPr dirty="0" sz="1100" spc="75">
                <a:latin typeface="Arial"/>
                <a:cs typeface="Arial"/>
              </a:rPr>
              <a:t> </a:t>
            </a:r>
            <a:r>
              <a:rPr dirty="0" sz="1100" spc="-5">
                <a:latin typeface="Arial"/>
                <a:cs typeface="Arial"/>
              </a:rPr>
              <a:t>cover</a:t>
            </a:r>
            <a:r>
              <a:rPr dirty="0" sz="1100" spc="75">
                <a:latin typeface="Arial"/>
                <a:cs typeface="Arial"/>
              </a:rPr>
              <a:t> </a:t>
            </a:r>
            <a:r>
              <a:rPr dirty="0" sz="1100" spc="-5">
                <a:latin typeface="Arial"/>
                <a:cs typeface="Arial"/>
              </a:rPr>
              <a:t>to</a:t>
            </a:r>
            <a:r>
              <a:rPr dirty="0" sz="1100" spc="80">
                <a:latin typeface="Arial"/>
                <a:cs typeface="Arial"/>
              </a:rPr>
              <a:t> </a:t>
            </a:r>
            <a:r>
              <a:rPr dirty="0" sz="1100" spc="-5">
                <a:latin typeface="Arial"/>
                <a:cs typeface="Arial"/>
              </a:rPr>
              <a:t>protect</a:t>
            </a:r>
            <a:r>
              <a:rPr dirty="0" sz="1100" spc="70">
                <a:latin typeface="Arial"/>
                <a:cs typeface="Arial"/>
              </a:rPr>
              <a:t> </a:t>
            </a:r>
            <a:r>
              <a:rPr dirty="0" sz="1100" spc="-5">
                <a:latin typeface="Arial"/>
                <a:cs typeface="Arial"/>
              </a:rPr>
              <a:t>it</a:t>
            </a:r>
            <a:r>
              <a:rPr dirty="0" sz="1100" spc="75">
                <a:latin typeface="Arial"/>
                <a:cs typeface="Arial"/>
              </a:rPr>
              <a:t> </a:t>
            </a:r>
            <a:r>
              <a:rPr dirty="0" sz="1100" spc="-5">
                <a:latin typeface="Arial"/>
                <a:cs typeface="Arial"/>
              </a:rPr>
              <a:t>from</a:t>
            </a:r>
            <a:r>
              <a:rPr dirty="0" sz="1100" spc="75">
                <a:latin typeface="Arial"/>
                <a:cs typeface="Arial"/>
              </a:rPr>
              <a:t> </a:t>
            </a:r>
            <a:r>
              <a:rPr dirty="0" sz="1100" spc="-5">
                <a:latin typeface="Arial"/>
                <a:cs typeface="Arial"/>
              </a:rPr>
              <a:t>wind</a:t>
            </a:r>
            <a:r>
              <a:rPr dirty="0" sz="1100" spc="80">
                <a:latin typeface="Arial"/>
                <a:cs typeface="Arial"/>
              </a:rPr>
              <a:t> </a:t>
            </a:r>
            <a:r>
              <a:rPr dirty="0" sz="1100" spc="-5">
                <a:latin typeface="Arial"/>
                <a:cs typeface="Arial"/>
              </a:rPr>
              <a:t>and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208</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599503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water, precious topsoil may be blown or washed away, further reducing the productivity of the  land. This process of environmental degradation leads to persistent declines in local per capita  food production and may eventually lead to desertification. This phenomenon is likely to spur  increases in rural-to-urban migration or may </a:t>
            </a:r>
            <a:r>
              <a:rPr dirty="0" sz="1100">
                <a:latin typeface="Arial"/>
                <a:cs typeface="Arial"/>
              </a:rPr>
              <a:t>force </a:t>
            </a:r>
            <a:r>
              <a:rPr dirty="0" sz="1100" spc="-5">
                <a:latin typeface="Arial"/>
                <a:cs typeface="Arial"/>
              </a:rPr>
              <a:t>the remaining local population onto even less  fertile land, where the process is</a:t>
            </a:r>
            <a:r>
              <a:rPr dirty="0" sz="1100" spc="20">
                <a:latin typeface="Arial"/>
                <a:cs typeface="Arial"/>
              </a:rPr>
              <a:t> </a:t>
            </a:r>
            <a:r>
              <a:rPr dirty="0" sz="1100" spc="-5">
                <a:latin typeface="Arial"/>
                <a:cs typeface="Arial"/>
              </a:rPr>
              <a:t>repeated.</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Another factor in the cycle of rural poverty and environmental destruction is deforestation. The  vast majority of wood cut in the developing world is used as fuel for cooking. Loss of tree </a:t>
            </a:r>
            <a:r>
              <a:rPr dirty="0" sz="1100">
                <a:latin typeface="Arial"/>
                <a:cs typeface="Arial"/>
              </a:rPr>
              <a:t>cover  </a:t>
            </a:r>
            <a:r>
              <a:rPr dirty="0" sz="1100" spc="-5">
                <a:latin typeface="Arial"/>
                <a:cs typeface="Arial"/>
              </a:rPr>
              <a:t>has two potentially devastating environmental implications for predominantly poor rural  populations. Deforestation can lead to a number of environmental maladies that over time can  greatly lower agricultural yields and increase rural hardships. On a day-today basis, however,  the increasing scarcity of firewood means that women must spend large portions of the day </a:t>
            </a:r>
            <a:r>
              <a:rPr dirty="0" sz="1100">
                <a:latin typeface="Arial"/>
                <a:cs typeface="Arial"/>
              </a:rPr>
              <a:t>in  </a:t>
            </a:r>
            <a:r>
              <a:rPr dirty="0" sz="1100" spc="-5">
                <a:latin typeface="Arial"/>
                <a:cs typeface="Arial"/>
              </a:rPr>
              <a:t>search of fuel, diverting time from other important activities such as income generation and child  care. In the worst cases, fuel shortages are sufficient to require the burning of biomass or  natural fertilizers, such as manure, which are important farm inputs for maintaining crop</a:t>
            </a:r>
            <a:r>
              <a:rPr dirty="0" sz="1100" spc="240">
                <a:latin typeface="Arial"/>
                <a:cs typeface="Arial"/>
              </a:rPr>
              <a:t> </a:t>
            </a:r>
            <a:r>
              <a:rPr dirty="0" sz="1100" spc="-5">
                <a:latin typeface="Arial"/>
                <a:cs typeface="Arial"/>
              </a:rPr>
              <a:t>yields.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Environmental degradation that begins on a local scale can quickly escalate into a regional  problem. For example, clearing of vegetation at high elevations may increase the exposure </a:t>
            </a:r>
            <a:r>
              <a:rPr dirty="0" sz="1100">
                <a:latin typeface="Arial"/>
                <a:cs typeface="Arial"/>
              </a:rPr>
              <a:t>of  </a:t>
            </a:r>
            <a:r>
              <a:rPr dirty="0" sz="1100" spc="-5">
                <a:latin typeface="Arial"/>
                <a:cs typeface="Arial"/>
              </a:rPr>
              <a:t>cultivated lands at lower altitudes. Soil that has been carried away by heavy rains may silt rivers  and pollute drinking water. Plants help retain rainfall, which percolates down through the soil  into underground reserves of groundwater. The water is in turn tapped by a variety of plants  during dry seasons in arid regions. The loss of vegetation and forest leads to a decrease in the  rate at which groundwater is replenished and can even cause a decrease in local</a:t>
            </a:r>
            <a:r>
              <a:rPr dirty="0" sz="1100" spc="170">
                <a:latin typeface="Arial"/>
                <a:cs typeface="Arial"/>
              </a:rPr>
              <a:t> </a:t>
            </a:r>
            <a:r>
              <a:rPr dirty="0" sz="1100" spc="-5">
                <a:latin typeface="Arial"/>
                <a:cs typeface="Arial"/>
              </a:rPr>
              <a:t>rainfall.</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subsequent drop in the water level leads to the death of plants with shallow root systems,  including young trees. This self-perpetuating process can spread the malady to previously  unaffected regions. Not surprisingly, the increase in natural disasters associated with local  environmental degradation, including floods, droughts, and mudslides, can have a devastating  impact on both the local and the regional agricultural economy. These problems are expected to  be severely exacerbated by climate change associated with global warming in coming</a:t>
            </a:r>
            <a:r>
              <a:rPr dirty="0" sz="1100" spc="235">
                <a:latin typeface="Arial"/>
                <a:cs typeface="Arial"/>
              </a:rPr>
              <a:t> </a:t>
            </a:r>
            <a:r>
              <a:rPr dirty="0" sz="1100" spc="-5">
                <a:latin typeface="Arial"/>
                <a:cs typeface="Arial"/>
              </a:rPr>
              <a:t>decades.</a:t>
            </a:r>
            <a:endParaRPr sz="1100">
              <a:latin typeface="Arial"/>
              <a:cs typeface="Arial"/>
            </a:endParaRPr>
          </a:p>
          <a:p>
            <a:pPr>
              <a:lnSpc>
                <a:spcPct val="100000"/>
              </a:lnSpc>
              <a:spcBef>
                <a:spcPts val="25"/>
              </a:spcBef>
            </a:pPr>
            <a:endParaRPr sz="1100">
              <a:latin typeface="Arial"/>
              <a:cs typeface="Arial"/>
            </a:endParaRPr>
          </a:p>
          <a:p>
            <a:pPr marL="469265" indent="-229235">
              <a:lnSpc>
                <a:spcPts val="1285"/>
              </a:lnSpc>
              <a:buFont typeface="Symbol"/>
              <a:buChar char=""/>
              <a:tabLst>
                <a:tab pos="469265" algn="l"/>
                <a:tab pos="469900" algn="l"/>
              </a:tabLst>
            </a:pPr>
            <a:r>
              <a:rPr dirty="0" sz="1100" spc="-5" b="1">
                <a:latin typeface="Arial"/>
                <a:cs typeface="Arial"/>
              </a:rPr>
              <a:t>Soil erosion</a:t>
            </a:r>
            <a:endParaRPr sz="1100">
              <a:latin typeface="Arial"/>
              <a:cs typeface="Arial"/>
            </a:endParaRPr>
          </a:p>
          <a:p>
            <a:pPr marL="469265" marR="5080">
              <a:lnSpc>
                <a:spcPts val="1270"/>
              </a:lnSpc>
              <a:spcBef>
                <a:spcPts val="50"/>
              </a:spcBef>
            </a:pPr>
            <a:r>
              <a:rPr dirty="0" sz="1100" spc="-5">
                <a:latin typeface="Arial"/>
                <a:cs typeface="Arial"/>
              </a:rPr>
              <a:t>Loss of valuable top soils resulting from overuse of farmland, and deforestation and  consequent flooding of farm</a:t>
            </a:r>
            <a:r>
              <a:rPr dirty="0" sz="1100" spc="10">
                <a:latin typeface="Arial"/>
                <a:cs typeface="Arial"/>
              </a:rPr>
              <a:t> </a:t>
            </a:r>
            <a:r>
              <a:rPr dirty="0" sz="1100" spc="-5">
                <a:latin typeface="Arial"/>
                <a:cs typeface="Arial"/>
              </a:rPr>
              <a:t>land.</a:t>
            </a:r>
            <a:endParaRPr sz="1100">
              <a:latin typeface="Arial"/>
              <a:cs typeface="Arial"/>
            </a:endParaRPr>
          </a:p>
          <a:p>
            <a:pPr marL="469265" indent="-229235">
              <a:lnSpc>
                <a:spcPts val="1280"/>
              </a:lnSpc>
              <a:buFont typeface="Symbol"/>
              <a:buChar char=""/>
              <a:tabLst>
                <a:tab pos="469265" algn="l"/>
                <a:tab pos="469900" algn="l"/>
              </a:tabLst>
            </a:pPr>
            <a:r>
              <a:rPr dirty="0" sz="1100" spc="-5" b="1">
                <a:latin typeface="Arial"/>
                <a:cs typeface="Arial"/>
              </a:rPr>
              <a:t>Deforestation</a:t>
            </a:r>
            <a:endParaRPr sz="1100">
              <a:latin typeface="Arial"/>
              <a:cs typeface="Arial"/>
            </a:endParaRPr>
          </a:p>
          <a:p>
            <a:pPr marL="469265" marR="6985">
              <a:lnSpc>
                <a:spcPts val="1270"/>
              </a:lnSpc>
              <a:spcBef>
                <a:spcPts val="50"/>
              </a:spcBef>
            </a:pPr>
            <a:r>
              <a:rPr dirty="0" sz="1100" spc="-5">
                <a:latin typeface="Arial"/>
                <a:cs typeface="Arial"/>
              </a:rPr>
              <a:t>The clearing of forested land either for agricultural purposes or for logging and for use as  fire wood.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209</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0" y="891794"/>
            <a:ext cx="5970270" cy="778700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31</a:t>
            </a:r>
            <a:endParaRPr sz="1100">
              <a:latin typeface="Arial"/>
              <a:cs typeface="Arial"/>
            </a:endParaRPr>
          </a:p>
          <a:p>
            <a:pPr marL="12700" marR="169545" indent="651510">
              <a:lnSpc>
                <a:spcPct val="195900"/>
              </a:lnSpc>
              <a:spcBef>
                <a:spcPts val="70"/>
              </a:spcBef>
            </a:pPr>
            <a:r>
              <a:rPr dirty="0" sz="1100" spc="-5" b="1">
                <a:latin typeface="Arial"/>
                <a:cs typeface="Arial"/>
              </a:rPr>
              <a:t>THE ENVIRONMENT AND ECONOMIC DEVELOPMENT (CONTINUED2)  </a:t>
            </a:r>
            <a:r>
              <a:rPr dirty="0" sz="1100" spc="-10" b="1">
                <a:latin typeface="Arial"/>
                <a:cs typeface="Arial"/>
              </a:rPr>
              <a:t>GLOBAL </a:t>
            </a:r>
            <a:r>
              <a:rPr dirty="0" sz="1100" spc="-5" b="1">
                <a:latin typeface="Arial"/>
                <a:cs typeface="Arial"/>
              </a:rPr>
              <a:t>WARMING AND CLIMATE CHANGE: </a:t>
            </a:r>
            <a:r>
              <a:rPr dirty="0" sz="1100" spc="-10" b="1">
                <a:latin typeface="Arial"/>
                <a:cs typeface="Arial"/>
              </a:rPr>
              <a:t>SCOPE, MITIGATION, </a:t>
            </a:r>
            <a:r>
              <a:rPr dirty="0" sz="1100" spc="-5" b="1">
                <a:latin typeface="Arial"/>
                <a:cs typeface="Arial"/>
              </a:rPr>
              <a:t>AND ADAPTATION  SCOPE OF THE</a:t>
            </a:r>
            <a:r>
              <a:rPr dirty="0" sz="1100" spc="10" b="1">
                <a:latin typeface="Arial"/>
                <a:cs typeface="Arial"/>
              </a:rPr>
              <a:t> </a:t>
            </a:r>
            <a:r>
              <a:rPr dirty="0" sz="1100" spc="-5" b="1">
                <a:latin typeface="Arial"/>
                <a:cs typeface="Arial"/>
              </a:rPr>
              <a:t>PROBLEM</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In 2007, the Intergovernmental </a:t>
            </a:r>
            <a:r>
              <a:rPr dirty="0" sz="1100">
                <a:latin typeface="Arial"/>
                <a:cs typeface="Arial"/>
              </a:rPr>
              <a:t>Panel </a:t>
            </a:r>
            <a:r>
              <a:rPr dirty="0" sz="1100" spc="-5">
                <a:latin typeface="Arial"/>
                <a:cs typeface="Arial"/>
              </a:rPr>
              <a:t>on Climate Change (IPCC) released its fourth assessment  report. It concluded that the developing world, particularly the poorest countries, can expect  major consequences from global warming, involving larger and more severe heat waves,  hurricanes, floods from heavy rains, prolonged droughts, losses of valuable species, and crop  and fishing losses. These conclusions have been strongly reinforced by subsequent research.  The IPCC identified four zones highly vulnerable to greenhouse gas–induced climate change:  sub-Saharan Africa because of drying, Asian mega deltas because of flooding, small islands  due to multiple sensitivities, and the Arctic. Sub-Saharan Africa will be hit particularly hard. The  IPCC report concluded that by 2020, although adaptations would help, and certain regions such  as Ethiopian highlands would gain from lengthened growing seasons, conditions will already  worsen.</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 study projected that 75 to 250 million people in Africa will be exposed to increased “water  stress due to climate change” by 2020. Coastal fisheries, mangroves, and coral reefs will be  further degraded and threatened by projected rises in sea level and storms. Freshwater lakes  will also be negatively</a:t>
            </a:r>
            <a:r>
              <a:rPr dirty="0" sz="1100" spc="10">
                <a:latin typeface="Arial"/>
                <a:cs typeface="Arial"/>
              </a:rPr>
              <a:t> </a:t>
            </a:r>
            <a:r>
              <a:rPr dirty="0" sz="1100" spc="-5">
                <a:latin typeface="Arial"/>
                <a:cs typeface="Arial"/>
              </a:rPr>
              <a:t>affected.</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In Asia, millions of people live in low-lying areas in the path of typhoons of expected increasing  frequency and intensity or otherwise at greater risk of ocean or river flooding. Glacier melting is  projected to increase flooding, but after a few decades, once the glaciers have receded, there  will be decreased flow, especially in the summer, when seasonal melt had been normal and  beneficial. Decreased freshwater availability could affect a billion people in Asia by the 2050s.  With moderate warming, crop yields are projected to rise in some northern areas in Asia but fall  in many tropical and subtropical areas. Increased flooding also threatens both rural and urban  infrastructure. Later in the century, South Asia faces further droughts, water shortages, and  declines in agricultural</a:t>
            </a:r>
            <a:r>
              <a:rPr dirty="0" sz="1100" spc="5">
                <a:latin typeface="Arial"/>
                <a:cs typeface="Arial"/>
              </a:rPr>
              <a:t> </a:t>
            </a:r>
            <a:r>
              <a:rPr dirty="0" sz="1100" spc="-5">
                <a:latin typeface="Arial"/>
                <a:cs typeface="Arial"/>
              </a:rPr>
              <a:t>productivity.</a:t>
            </a:r>
            <a:endParaRPr sz="1100">
              <a:latin typeface="Arial"/>
              <a:cs typeface="Arial"/>
            </a:endParaRPr>
          </a:p>
          <a:p>
            <a:pPr>
              <a:lnSpc>
                <a:spcPct val="100000"/>
              </a:lnSpc>
            </a:pPr>
            <a:endParaRPr sz="1100">
              <a:latin typeface="Arial"/>
              <a:cs typeface="Arial"/>
            </a:endParaRPr>
          </a:p>
          <a:p>
            <a:pPr algn="just" marL="12700" marR="5715">
              <a:lnSpc>
                <a:spcPct val="95800"/>
              </a:lnSpc>
              <a:spcBef>
                <a:spcPts val="5"/>
              </a:spcBef>
            </a:pPr>
            <a:r>
              <a:rPr dirty="0" sz="1100" spc="-5">
                <a:latin typeface="Arial"/>
                <a:cs typeface="Arial"/>
              </a:rPr>
              <a:t>In Latin America, warming was projected to cause further losses of Amazon forest and  biodiversity by mid century, while agriculture will be harmed in drier areas. Finally, many small  islands are at risk because of sensitivity and vulnerability to ocean flooding, erosion, and loss of  freshwater, fishing and tourism. In sum, prolonged droughts; expanded desertification;  increased severity of storms with heavy precipitation and flooding and consequent erosion;  longer and more severe heat waves; reduced summer river flow and water shortages;  decreased grain yields; climate-induced spreading ranges of pests and disease; lost and  contaminated groundwater; deteriorated freshwater lakes, coastal fisheries, mangroves, and  coral reefs; and coastal flooding—one or more of these impacts are expected to affect most of  the world’s poorest countries during this century, and sooner than once believed. Other likely  ecological damage includes loss of essential species such as pollinators and soil organisms,  forest and crop fires, and rising surface ozone levels. These problems mean that productivity  gains can be lost just trying to keep pace with the</a:t>
            </a:r>
            <a:r>
              <a:rPr dirty="0" sz="1100" spc="65">
                <a:latin typeface="Arial"/>
                <a:cs typeface="Arial"/>
              </a:rPr>
              <a:t> </a:t>
            </a:r>
            <a:r>
              <a:rPr dirty="0" sz="1100" spc="-5">
                <a:latin typeface="Arial"/>
                <a:cs typeface="Arial"/>
              </a:rPr>
              <a:t>deterioration.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210</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06450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That greenhouse gas–induced climate change has arrived and that much more is coming are  beyond any reasonable doubt. While weather and average annual temperatures fluctuate, as an  average, </a:t>
            </a:r>
            <a:r>
              <a:rPr dirty="0" sz="1100">
                <a:latin typeface="Arial"/>
                <a:cs typeface="Arial"/>
              </a:rPr>
              <a:t>there </a:t>
            </a:r>
            <a:r>
              <a:rPr dirty="0" sz="1100" spc="-5">
                <a:latin typeface="Arial"/>
                <a:cs typeface="Arial"/>
              </a:rPr>
              <a:t>is confirmation that some of these changes have already arrived. In July </a:t>
            </a:r>
            <a:r>
              <a:rPr dirty="0" sz="1100">
                <a:latin typeface="Arial"/>
                <a:cs typeface="Arial"/>
              </a:rPr>
              <a:t>2010,  </a:t>
            </a:r>
            <a:r>
              <a:rPr dirty="0" sz="1100" spc="-5">
                <a:latin typeface="Arial"/>
                <a:cs typeface="Arial"/>
              </a:rPr>
              <a:t>the U.S. National Oceanic and Atmospheric Administration (NOAA) released a study drawing </a:t>
            </a:r>
            <a:r>
              <a:rPr dirty="0" sz="1100">
                <a:latin typeface="Arial"/>
                <a:cs typeface="Arial"/>
              </a:rPr>
              <a:t>on  </a:t>
            </a:r>
            <a:r>
              <a:rPr dirty="0" sz="1100" spc="-5">
                <a:latin typeface="Arial"/>
                <a:cs typeface="Arial"/>
              </a:rPr>
              <a:t>11 indicators of climate and found that each one showed evidence of global warming due to the  influence of greenhouse gases. The study was able to draw on data not yet available when the  IPCC released its</a:t>
            </a:r>
            <a:r>
              <a:rPr dirty="0" sz="1100" spc="5">
                <a:latin typeface="Arial"/>
                <a:cs typeface="Arial"/>
              </a:rPr>
              <a:t> </a:t>
            </a:r>
            <a:r>
              <a:rPr dirty="0" sz="1100" spc="-5">
                <a:latin typeface="Arial"/>
                <a:cs typeface="Arial"/>
              </a:rPr>
              <a:t>report.</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Global warming is likely to present an unprecedented environmental challenge for the  developing world. The </a:t>
            </a:r>
            <a:r>
              <a:rPr dirty="0" sz="1100">
                <a:latin typeface="Arial"/>
                <a:cs typeface="Arial"/>
              </a:rPr>
              <a:t>2006 </a:t>
            </a:r>
            <a:r>
              <a:rPr dirty="0" sz="1100" spc="-5">
                <a:latin typeface="Arial"/>
                <a:cs typeface="Arial"/>
              </a:rPr>
              <a:t>Stern Review on the Economics of Climate Change concluded </a:t>
            </a:r>
            <a:r>
              <a:rPr dirty="0" sz="1100">
                <a:latin typeface="Arial"/>
                <a:cs typeface="Arial"/>
              </a:rPr>
              <a:t>that  </a:t>
            </a:r>
            <a:r>
              <a:rPr dirty="0" sz="1100" spc="-5">
                <a:latin typeface="Arial"/>
                <a:cs typeface="Arial"/>
              </a:rPr>
              <a:t>“the poorest developing countries will be hit earliest and hardest by climate change, even  though they have contributed little to causing the problem. Their low incomes make it difficult to  finance adaptation. The international community has an obligation to support them in adapting  to climate change. Without such support there is a serious risk that development progress will  be undermined.” The Review also concluded, consistent with other studies, that food production  in the tropics would be harmed: “In tropical regions, even small amounts of warming will lead to  declines in yield.” The greater the degree of warming, the larger the predicted global agricultural  and water impact. But generally, the Review found that effective remediation is surprisingly  affordable—if decisive action is taken</a:t>
            </a:r>
            <a:r>
              <a:rPr dirty="0" sz="1100" spc="15">
                <a:latin typeface="Arial"/>
                <a:cs typeface="Arial"/>
              </a:rPr>
              <a:t> </a:t>
            </a:r>
            <a:r>
              <a:rPr dirty="0" sz="1100" spc="-5">
                <a:latin typeface="Arial"/>
                <a:cs typeface="Arial"/>
              </a:rPr>
              <a:t>soon.</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worst of the impact will likely be felt by the very </a:t>
            </a:r>
            <a:r>
              <a:rPr dirty="0" sz="1100">
                <a:latin typeface="Arial"/>
                <a:cs typeface="Arial"/>
              </a:rPr>
              <a:t>poor, </a:t>
            </a:r>
            <a:r>
              <a:rPr dirty="0" sz="1100" spc="-5">
                <a:latin typeface="Arial"/>
                <a:cs typeface="Arial"/>
              </a:rPr>
              <a:t>who depend most on natural  resources, including rain-fed agriculture. Moreover, the housing of the poor in urban as well as  rural areas is often poorly constructed and located in the most environmentally stressed and  risky areas—largely because the rich do not want to live there. Houses of the poor constructed  of mud, bamboo, straw, and other inexpensive or gatherable materials are the </a:t>
            </a:r>
            <a:r>
              <a:rPr dirty="0" sz="1100">
                <a:latin typeface="Arial"/>
                <a:cs typeface="Arial"/>
              </a:rPr>
              <a:t>most </a:t>
            </a:r>
            <a:r>
              <a:rPr dirty="0" sz="1100" spc="-5">
                <a:latin typeface="Arial"/>
                <a:cs typeface="Arial"/>
              </a:rPr>
              <a:t>vulnerable  to extreme weather events. The poor cannot get insurance against the risks to which they are  most exposed. The </a:t>
            </a:r>
            <a:r>
              <a:rPr dirty="0" sz="1100">
                <a:latin typeface="Arial"/>
                <a:cs typeface="Arial"/>
              </a:rPr>
              <a:t>World </a:t>
            </a:r>
            <a:r>
              <a:rPr dirty="0" sz="1100" spc="-5">
                <a:latin typeface="Arial"/>
                <a:cs typeface="Arial"/>
              </a:rPr>
              <a:t>Health Organization has estimated that 150,000 deaths per year are  caused by the global warming that has taken place since the 1970s, largely due to diarrhea,  malaria, and malnutrition. Some analysts predict that in addition to the direct environmental  impacts, social strains caused by increased resource scarcity may </a:t>
            </a:r>
            <a:r>
              <a:rPr dirty="0" sz="1100">
                <a:latin typeface="Arial"/>
                <a:cs typeface="Arial"/>
              </a:rPr>
              <a:t>lead </a:t>
            </a:r>
            <a:r>
              <a:rPr dirty="0" sz="1100" spc="-5">
                <a:latin typeface="Arial"/>
                <a:cs typeface="Arial"/>
              </a:rPr>
              <a:t>to greater conflict, with  the poor again being the most likely victims. The crisis in the Darfur region of Sudan is believed  by some analysts to have been triggered by environmental stress. Global warming </a:t>
            </a:r>
            <a:r>
              <a:rPr dirty="0" sz="1100">
                <a:latin typeface="Arial"/>
                <a:cs typeface="Arial"/>
              </a:rPr>
              <a:t>also  </a:t>
            </a:r>
            <a:r>
              <a:rPr dirty="0" sz="1100" spc="-5">
                <a:latin typeface="Arial"/>
                <a:cs typeface="Arial"/>
              </a:rPr>
              <a:t>portends adverse health impacts, again particularly for the poor. For example, mosquito-carried  malaria is expected to migrate to higher altitudes, newly threatening Nairobi, Harare, and other  cities.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Policy adaptations can help make the “livelihood assets” of the poor more resilient to  environmental stresses while providing other development benefits, for example, inventorying  and tracking ecological resources of the poor; addressing environmental deprivations including  susceptibility to ecological stresses in poverty assessments and programs; implementing early  warning systems to anticipate environmental emergencies and to prevent disasters (preserving  funds for development efforts); restoring and expanding natural ecosystem barriers (such as  reforestation and mangrove expansion) to extreme events such as flooding and water  shortages; constructing infrastructure to serve the poor while accounting for likely climate  change (including storm shelters and flood barriers as well as protected roads and bridges, with  a margin </a:t>
            </a:r>
            <a:r>
              <a:rPr dirty="0" sz="1100">
                <a:latin typeface="Arial"/>
                <a:cs typeface="Arial"/>
              </a:rPr>
              <a:t>for </a:t>
            </a:r>
            <a:r>
              <a:rPr dirty="0" sz="1100" spc="-5">
                <a:latin typeface="Arial"/>
                <a:cs typeface="Arial"/>
              </a:rPr>
              <a:t>safety); establishing micro insurance schemes for farmers; ensuring better voice  and empowerment of </a:t>
            </a:r>
            <a:r>
              <a:rPr dirty="0" sz="1100">
                <a:latin typeface="Arial"/>
                <a:cs typeface="Arial"/>
              </a:rPr>
              <a:t>the </a:t>
            </a:r>
            <a:r>
              <a:rPr dirty="0" sz="1100" spc="-5">
                <a:latin typeface="Arial"/>
                <a:cs typeface="Arial"/>
              </a:rPr>
              <a:t>poor and their organizations—in part to </a:t>
            </a:r>
            <a:r>
              <a:rPr dirty="0" sz="1100">
                <a:latin typeface="Arial"/>
                <a:cs typeface="Arial"/>
              </a:rPr>
              <a:t>get </a:t>
            </a:r>
            <a:r>
              <a:rPr dirty="0" sz="1100" spc="-5">
                <a:latin typeface="Arial"/>
                <a:cs typeface="Arial"/>
              </a:rPr>
              <a:t>information about the  environmental stresses they face to government, media, and the public and to </a:t>
            </a:r>
            <a:r>
              <a:rPr dirty="0" sz="1100">
                <a:latin typeface="Arial"/>
                <a:cs typeface="Arial"/>
              </a:rPr>
              <a:t>make </a:t>
            </a:r>
            <a:r>
              <a:rPr dirty="0" sz="1100" spc="-5">
                <a:latin typeface="Arial"/>
                <a:cs typeface="Arial"/>
              </a:rPr>
              <a:t>it more  likely that the poor will get a fair share of government services; sharing economic growth more  equitably; and supporting all this, demanding </a:t>
            </a:r>
            <a:r>
              <a:rPr dirty="0" sz="1100">
                <a:latin typeface="Arial"/>
                <a:cs typeface="Arial"/>
              </a:rPr>
              <a:t>more </a:t>
            </a:r>
            <a:r>
              <a:rPr dirty="0" sz="1100" spc="-5">
                <a:latin typeface="Arial"/>
                <a:cs typeface="Arial"/>
              </a:rPr>
              <a:t>government transparency and</a:t>
            </a:r>
            <a:r>
              <a:rPr dirty="0" sz="1100" spc="235">
                <a:latin typeface="Arial"/>
                <a:cs typeface="Arial"/>
              </a:rPr>
              <a:t> </a:t>
            </a:r>
            <a:r>
              <a:rPr dirty="0" sz="1100" spc="-5">
                <a:latin typeface="Arial"/>
                <a:cs typeface="Arial"/>
              </a:rPr>
              <a:t>accountability.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211</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825373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MITIGATION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Many strategies have been proposed for mitigation of emissions, including development of  “carbon markets,” taxes on carbon, and subsidies to encourage faster technological progress.  For regulation, given uncertainties in both benefits and costs of emissions reductions, there are  difficult economic questions in devising the most efficient permit or emissions tax regimes. As a  policy strategy, the Stern Review suggests establishing a long-term quantity cap on greenhouse  gases in the atmosphere to guard against environmental catastrophe. This would involve long-  term limits on the amount of greenhouse emissions equal to a quantity that the earth can  absorb. In the short term, policies could be designed to limit the economic burden if abatement  costs turn out initially to be unexpectedly</a:t>
            </a:r>
            <a:r>
              <a:rPr dirty="0" sz="1100" spc="35">
                <a:latin typeface="Arial"/>
                <a:cs typeface="Arial"/>
              </a:rPr>
              <a:t> </a:t>
            </a:r>
            <a:r>
              <a:rPr dirty="0" sz="1100" spc="-5">
                <a:latin typeface="Arial"/>
                <a:cs typeface="Arial"/>
              </a:rPr>
              <a:t>high.</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Global warming is primarily but not exclusively a developed-country caused problem. Although  much of the accumulated greenhouse gases to date has been emitted by the high-income  countries, even if the developed world were to drastically reduce greenhouse gas pollution now,  we would still have to </a:t>
            </a:r>
            <a:r>
              <a:rPr dirty="0" sz="1100">
                <a:latin typeface="Arial"/>
                <a:cs typeface="Arial"/>
              </a:rPr>
              <a:t>act </a:t>
            </a:r>
            <a:r>
              <a:rPr dirty="0" sz="1100" spc="-5">
                <a:latin typeface="Arial"/>
                <a:cs typeface="Arial"/>
              </a:rPr>
              <a:t>to contain greenhouse gas emissions of the developing world, which  are projected to grow at alarming rates. This has many causes, but the rapid industrial growth in  Asia is already a major contributor, and this is expected to worsen substantially with the planned  expansion of coal-fired electrical generation in China, India, and elsewhere. Policies and  mechanisms have been introduced essentially to pay for costs of avoiding emissions in  developing countries.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Deforestation in developing countries contributes over 20% of harmful greenhouse gases, in  addition to the losses it causes of valuable biodiversity </a:t>
            </a:r>
            <a:r>
              <a:rPr dirty="0" sz="1100">
                <a:latin typeface="Arial"/>
                <a:cs typeface="Arial"/>
              </a:rPr>
              <a:t>and </a:t>
            </a:r>
            <a:r>
              <a:rPr dirty="0" sz="1100" spc="-5">
                <a:latin typeface="Arial"/>
                <a:cs typeface="Arial"/>
              </a:rPr>
              <a:t>the environmental services of  cleaning air and water. Helping developing countries reduce greenhouse gas emissions has  emerged as an important dimension for foreign aid. Indeed, the need to develop </a:t>
            </a:r>
            <a:r>
              <a:rPr dirty="0" sz="1100">
                <a:latin typeface="Arial"/>
                <a:cs typeface="Arial"/>
              </a:rPr>
              <a:t>and </a:t>
            </a:r>
            <a:r>
              <a:rPr dirty="0" sz="1100" spc="-5">
                <a:latin typeface="Arial"/>
                <a:cs typeface="Arial"/>
              </a:rPr>
              <a:t>implement  a mechanism for paying developing countries for forest preservation was agreed at the 2007  Bali negotiations on climate change and was to have been finalized at the 2009 Copenhagen  summit. The resulting Reducing Emissions from Deforestation and Forest Degradation (REDD)  mechanism, along with enhanced incentives for reestablishing and maintaining forests with  engagement of indigenous communities that depend on them (known </a:t>
            </a:r>
            <a:r>
              <a:rPr dirty="0" sz="1100">
                <a:latin typeface="Arial"/>
                <a:cs typeface="Arial"/>
              </a:rPr>
              <a:t>as </a:t>
            </a:r>
            <a:r>
              <a:rPr dirty="0" sz="1100" spc="-5">
                <a:latin typeface="Arial"/>
                <a:cs typeface="Arial"/>
              </a:rPr>
              <a:t>REDD-plus), became  part of the December </a:t>
            </a:r>
            <a:r>
              <a:rPr dirty="0" sz="1100">
                <a:latin typeface="Arial"/>
                <a:cs typeface="Arial"/>
              </a:rPr>
              <a:t>2009 </a:t>
            </a:r>
            <a:r>
              <a:rPr dirty="0" sz="1100" spc="-5">
                <a:latin typeface="Arial"/>
                <a:cs typeface="Arial"/>
              </a:rPr>
              <a:t>Copenhagen accord. Although the parties “took note of” rather than  signed the accord, activity in this area is expected to grow, albeit slowly. Modest progress was  made at the December </a:t>
            </a:r>
            <a:r>
              <a:rPr dirty="0" sz="1100">
                <a:latin typeface="Arial"/>
                <a:cs typeface="Arial"/>
              </a:rPr>
              <a:t>2010 </a:t>
            </a:r>
            <a:r>
              <a:rPr dirty="0" sz="1100" spc="-5">
                <a:latin typeface="Arial"/>
                <a:cs typeface="Arial"/>
              </a:rPr>
              <a:t>Cancun</a:t>
            </a:r>
            <a:r>
              <a:rPr dirty="0" sz="1100" spc="20">
                <a:latin typeface="Arial"/>
                <a:cs typeface="Arial"/>
              </a:rPr>
              <a:t> </a:t>
            </a:r>
            <a:r>
              <a:rPr dirty="0" sz="1100" spc="-5">
                <a:latin typeface="Arial"/>
                <a:cs typeface="Arial"/>
              </a:rPr>
              <a:t>summit.</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ADAPTATION</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700"/>
              </a:lnSpc>
            </a:pPr>
            <a:r>
              <a:rPr dirty="0" sz="1100" spc="-5">
                <a:latin typeface="Arial"/>
                <a:cs typeface="Arial"/>
              </a:rPr>
              <a:t>A significant amount of climate change is now essentially inevitable. Thus adaptation to climate  change in developing countries is critical for protecting livelihoods and continuing to make  development gains.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700"/>
              </a:lnSpc>
            </a:pPr>
            <a:r>
              <a:rPr dirty="0" sz="1100" spc="-5">
                <a:latin typeface="Arial"/>
                <a:cs typeface="Arial"/>
              </a:rPr>
              <a:t>The UNDP has defined climate change adaptation as “a process by which strategies to  moderate, cope with and take advantage of the consequences of climatic events are enhanced,  developed and</a:t>
            </a:r>
            <a:r>
              <a:rPr dirty="0" sz="1100" spc="5">
                <a:latin typeface="Arial"/>
                <a:cs typeface="Arial"/>
              </a:rPr>
              <a:t> </a:t>
            </a:r>
            <a:r>
              <a:rPr dirty="0" sz="1100" spc="-5">
                <a:latin typeface="Arial"/>
                <a:cs typeface="Arial"/>
              </a:rPr>
              <a:t>implemented.”</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Adaptation takes place in two forms: “planned” (or policy) adaptation undertaken by  governments and “autonomous” </a:t>
            </a:r>
            <a:r>
              <a:rPr dirty="0" sz="1100">
                <a:latin typeface="Arial"/>
                <a:cs typeface="Arial"/>
              </a:rPr>
              <a:t>(or </a:t>
            </a:r>
            <a:r>
              <a:rPr dirty="0" sz="1100" spc="-5">
                <a:latin typeface="Arial"/>
                <a:cs typeface="Arial"/>
              </a:rPr>
              <a:t>private) adaptation undertaken directly by households,  farms, and firms in response to climate change they experience or anticipate. The distinction  between autonomous </a:t>
            </a:r>
            <a:r>
              <a:rPr dirty="0" sz="1100">
                <a:latin typeface="Arial"/>
                <a:cs typeface="Arial"/>
              </a:rPr>
              <a:t>or </a:t>
            </a:r>
            <a:r>
              <a:rPr dirty="0" sz="1100" spc="-5">
                <a:latin typeface="Arial"/>
                <a:cs typeface="Arial"/>
              </a:rPr>
              <a:t>private </a:t>
            </a:r>
            <a:r>
              <a:rPr dirty="0" sz="1100">
                <a:latin typeface="Arial"/>
                <a:cs typeface="Arial"/>
              </a:rPr>
              <a:t>and </a:t>
            </a:r>
            <a:r>
              <a:rPr dirty="0" sz="1100" spc="-5">
                <a:latin typeface="Arial"/>
                <a:cs typeface="Arial"/>
              </a:rPr>
              <a:t>planned or policy adaptation is not a sharp one—  governments respond to citizens, and government incentives affect what individuals choose to  do—but</a:t>
            </a:r>
            <a:r>
              <a:rPr dirty="0" sz="1100" spc="20">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categories</a:t>
            </a:r>
            <a:r>
              <a:rPr dirty="0" sz="1100" spc="20">
                <a:latin typeface="Arial"/>
                <a:cs typeface="Arial"/>
              </a:rPr>
              <a:t> </a:t>
            </a:r>
            <a:r>
              <a:rPr dirty="0" sz="1100" spc="-5">
                <a:latin typeface="Arial"/>
                <a:cs typeface="Arial"/>
              </a:rPr>
              <a:t>are</a:t>
            </a:r>
            <a:r>
              <a:rPr dirty="0" sz="1100" spc="25">
                <a:latin typeface="Arial"/>
                <a:cs typeface="Arial"/>
              </a:rPr>
              <a:t> </a:t>
            </a:r>
            <a:r>
              <a:rPr dirty="0" sz="1100" spc="-5">
                <a:latin typeface="Arial"/>
                <a:cs typeface="Arial"/>
              </a:rPr>
              <a:t>useful</a:t>
            </a:r>
            <a:r>
              <a:rPr dirty="0" sz="1100" spc="20">
                <a:latin typeface="Arial"/>
                <a:cs typeface="Arial"/>
              </a:rPr>
              <a:t> </a:t>
            </a:r>
            <a:r>
              <a:rPr dirty="0" sz="1100" spc="-5">
                <a:latin typeface="Arial"/>
                <a:cs typeface="Arial"/>
              </a:rPr>
              <a:t>for</a:t>
            </a:r>
            <a:r>
              <a:rPr dirty="0" sz="1100" spc="20">
                <a:latin typeface="Arial"/>
                <a:cs typeface="Arial"/>
              </a:rPr>
              <a:t> </a:t>
            </a:r>
            <a:r>
              <a:rPr dirty="0" sz="1100" spc="-5">
                <a:latin typeface="Arial"/>
                <a:cs typeface="Arial"/>
              </a:rPr>
              <a:t>analysis</a:t>
            </a:r>
            <a:r>
              <a:rPr dirty="0" sz="1100" spc="25">
                <a:latin typeface="Arial"/>
                <a:cs typeface="Arial"/>
              </a:rPr>
              <a:t> </a:t>
            </a:r>
            <a:r>
              <a:rPr dirty="0" sz="1100" spc="-5">
                <a:latin typeface="Arial"/>
                <a:cs typeface="Arial"/>
              </a:rPr>
              <a:t>of</a:t>
            </a:r>
            <a:r>
              <a:rPr dirty="0" sz="1100" spc="10">
                <a:latin typeface="Arial"/>
                <a:cs typeface="Arial"/>
              </a:rPr>
              <a:t> </a:t>
            </a:r>
            <a:r>
              <a:rPr dirty="0" sz="1100" spc="-5">
                <a:latin typeface="Arial"/>
                <a:cs typeface="Arial"/>
              </a:rPr>
              <a:t>adaptation.</a:t>
            </a:r>
            <a:r>
              <a:rPr dirty="0" sz="1100" spc="20">
                <a:latin typeface="Arial"/>
                <a:cs typeface="Arial"/>
              </a:rPr>
              <a:t> </a:t>
            </a:r>
            <a:r>
              <a:rPr dirty="0" sz="1100" spc="-5">
                <a:latin typeface="Arial"/>
                <a:cs typeface="Arial"/>
              </a:rPr>
              <a:t>These</a:t>
            </a:r>
            <a:r>
              <a:rPr dirty="0" sz="1100" spc="25">
                <a:latin typeface="Arial"/>
                <a:cs typeface="Arial"/>
              </a:rPr>
              <a:t> </a:t>
            </a:r>
            <a:r>
              <a:rPr dirty="0" sz="1100" spc="-5">
                <a:latin typeface="Arial"/>
                <a:cs typeface="Arial"/>
              </a:rPr>
              <a:t>responses</a:t>
            </a:r>
            <a:r>
              <a:rPr dirty="0" sz="1100" spc="25">
                <a:latin typeface="Arial"/>
                <a:cs typeface="Arial"/>
              </a:rPr>
              <a:t> </a:t>
            </a:r>
            <a:r>
              <a:rPr dirty="0" sz="1100" spc="-5">
                <a:latin typeface="Arial"/>
                <a:cs typeface="Arial"/>
              </a:rPr>
              <a:t>are</a:t>
            </a:r>
            <a:r>
              <a:rPr dirty="0" sz="1100" spc="20">
                <a:latin typeface="Arial"/>
                <a:cs typeface="Arial"/>
              </a:rPr>
              <a:t> </a:t>
            </a:r>
            <a:r>
              <a:rPr dirty="0" sz="1100" spc="-5">
                <a:latin typeface="Arial"/>
                <a:cs typeface="Arial"/>
              </a:rPr>
              <a:t>in</a:t>
            </a:r>
            <a:r>
              <a:rPr dirty="0" sz="1100" spc="20">
                <a:latin typeface="Arial"/>
                <a:cs typeface="Arial"/>
              </a:rPr>
              <a:t> </a:t>
            </a:r>
            <a:r>
              <a:rPr dirty="0" sz="1100" spc="-5">
                <a:latin typeface="Arial"/>
                <a:cs typeface="Arial"/>
              </a:rPr>
              <a:t>some</a:t>
            </a:r>
            <a:r>
              <a:rPr dirty="0" sz="1100" spc="25">
                <a:latin typeface="Arial"/>
                <a:cs typeface="Arial"/>
              </a:rPr>
              <a:t> </a:t>
            </a:r>
            <a:r>
              <a:rPr dirty="0" sz="1100" spc="-5">
                <a:latin typeface="Arial"/>
                <a:cs typeface="Arial"/>
              </a:rPr>
              <a:t>ways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212</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488061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complements and in other ways substitutes. If autonomous adaptation increases the marginal  benefit of planned adaptation and vice versa, they are considered complements—for example,  when farmers respond to increasing temperature by planting new varieties and government  research institutes develop new heat-resistant seeds. But if autonomous adaptation reduces the  need for planned adaptation and vice versa, then they are substitutes— for example, if  government builds reservoirs and irrigation systems, farmers have less incentive to change  crops or conserve</a:t>
            </a:r>
            <a:r>
              <a:rPr dirty="0" sz="1100" spc="5">
                <a:latin typeface="Arial"/>
                <a:cs typeface="Arial"/>
              </a:rPr>
              <a:t> </a:t>
            </a:r>
            <a:r>
              <a:rPr dirty="0" sz="1100" spc="-5">
                <a:latin typeface="Arial"/>
                <a:cs typeface="Arial"/>
              </a:rPr>
              <a:t>water.</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As suggested by Arun Agrawal and Nicolas Perrin, depending on how risks are reduced or  avoided, five classes of adaptation strategies can be identified. Mobility avoids risks across  space. Storage reduces risks experienced over </a:t>
            </a:r>
            <a:r>
              <a:rPr dirty="0" sz="1100">
                <a:latin typeface="Arial"/>
                <a:cs typeface="Arial"/>
              </a:rPr>
              <a:t>time. </a:t>
            </a:r>
            <a:r>
              <a:rPr dirty="0" sz="1100" spc="-5">
                <a:latin typeface="Arial"/>
                <a:cs typeface="Arial"/>
              </a:rPr>
              <a:t>Diversification reduces risks across assets  owned by households or collectives. Communal pooling involves joint ownership of assets and  resources; sharing of wealth, labor, or incomes from particular activities across households or  mobilization and use of resources held collectively during time of scarcity. Exchange can  substitute for the first four classes of adaptation</a:t>
            </a:r>
            <a:r>
              <a:rPr dirty="0" sz="1100" spc="40">
                <a:latin typeface="Arial"/>
                <a:cs typeface="Arial"/>
              </a:rPr>
              <a:t> </a:t>
            </a:r>
            <a:r>
              <a:rPr dirty="0" sz="1100" spc="-5">
                <a:latin typeface="Arial"/>
                <a:cs typeface="Arial"/>
              </a:rPr>
              <a:t>strategies.</a:t>
            </a:r>
            <a:endParaRPr sz="1100">
              <a:latin typeface="Arial"/>
              <a:cs typeface="Arial"/>
            </a:endParaRPr>
          </a:p>
          <a:p>
            <a:pPr marL="12700" marR="2689860">
              <a:lnSpc>
                <a:spcPts val="2650"/>
              </a:lnSpc>
              <a:spcBef>
                <a:spcPts val="200"/>
              </a:spcBef>
            </a:pPr>
            <a:r>
              <a:rPr dirty="0" sz="1100" spc="-5" b="1">
                <a:latin typeface="Arial"/>
                <a:cs typeface="Arial"/>
              </a:rPr>
              <a:t>ECONOMIC MODELS OF ENVIRONMENT ISSUES  PRIVATELY OWNED</a:t>
            </a:r>
            <a:r>
              <a:rPr dirty="0" sz="1100" spc="5" b="1">
                <a:latin typeface="Arial"/>
                <a:cs typeface="Arial"/>
              </a:rPr>
              <a:t> </a:t>
            </a:r>
            <a:r>
              <a:rPr dirty="0" sz="1100" spc="-5" b="1">
                <a:latin typeface="Arial"/>
                <a:cs typeface="Arial"/>
              </a:rPr>
              <a:t>RESOURCES</a:t>
            </a:r>
            <a:endParaRPr sz="1100">
              <a:latin typeface="Arial"/>
              <a:cs typeface="Arial"/>
            </a:endParaRPr>
          </a:p>
          <a:p>
            <a:pPr algn="just" marL="12700" marR="5080">
              <a:lnSpc>
                <a:spcPct val="95800"/>
              </a:lnSpc>
              <a:spcBef>
                <a:spcPts val="1060"/>
              </a:spcBef>
            </a:pPr>
            <a:r>
              <a:rPr dirty="0" sz="1100" spc="-5">
                <a:latin typeface="Arial"/>
                <a:cs typeface="Arial"/>
              </a:rPr>
              <a:t>We will review some common economic </a:t>
            </a:r>
            <a:r>
              <a:rPr dirty="0" sz="1100">
                <a:latin typeface="Arial"/>
                <a:cs typeface="Arial"/>
              </a:rPr>
              <a:t>models </a:t>
            </a:r>
            <a:r>
              <a:rPr dirty="0" sz="1100" spc="-5">
                <a:latin typeface="Arial"/>
                <a:cs typeface="Arial"/>
              </a:rPr>
              <a:t>of the environment. In each model, the  market’s failure to account for environmental externalities is the exception rather than the </a:t>
            </a:r>
            <a:r>
              <a:rPr dirty="0" sz="1100">
                <a:latin typeface="Arial"/>
                <a:cs typeface="Arial"/>
              </a:rPr>
              <a:t>rule,  </a:t>
            </a:r>
            <a:r>
              <a:rPr dirty="0" sz="1100" spc="-5">
                <a:latin typeface="Arial"/>
                <a:cs typeface="Arial"/>
              </a:rPr>
              <a:t>and neoclassical theory is then applied in order to cure or circumvent inefficiency. Neoclassical  theory has been applied to environmental issues to determine what conditions are necessary for  the efficient allocation of resources and how market failures lead to inefficiencies and to suggest  ways in which these distortions can be</a:t>
            </a:r>
            <a:r>
              <a:rPr dirty="0" sz="1100" spc="30">
                <a:latin typeface="Arial"/>
                <a:cs typeface="Arial"/>
              </a:rPr>
              <a:t> </a:t>
            </a:r>
            <a:r>
              <a:rPr dirty="0" sz="1100" spc="-5">
                <a:latin typeface="Arial"/>
                <a:cs typeface="Arial"/>
              </a:rPr>
              <a:t>corrected.</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Figure 10.1 demonstrates how the market determines the optimal consumption of a natural  resource. Finding the optimal market outcome involves maximizing the total net benefits to  society from a resource, which is the difference between the total benefits derived from</a:t>
            </a:r>
            <a:r>
              <a:rPr dirty="0" sz="1100" spc="25">
                <a:latin typeface="Arial"/>
                <a:cs typeface="Arial"/>
              </a:rPr>
              <a:t> </a:t>
            </a:r>
            <a:r>
              <a:rPr dirty="0" sz="1100" spc="-5">
                <a:latin typeface="Arial"/>
                <a:cs typeface="Arial"/>
              </a:rPr>
              <a:t>a</a:t>
            </a:r>
            <a:endParaRPr sz="1100">
              <a:latin typeface="Arial"/>
              <a:cs typeface="Arial"/>
            </a:endParaRPr>
          </a:p>
        </p:txBody>
      </p:sp>
      <p:sp>
        <p:nvSpPr>
          <p:cNvPr id="7" name="object 7"/>
          <p:cNvSpPr/>
          <p:nvPr/>
        </p:nvSpPr>
        <p:spPr>
          <a:xfrm>
            <a:off x="1447800" y="5867400"/>
            <a:ext cx="3695700" cy="3196959"/>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213</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4715" cy="5815965"/>
          </a:xfrm>
          <a:prstGeom prst="rect">
            <a:avLst/>
          </a:prstGeom>
        </p:spPr>
        <p:txBody>
          <a:bodyPr wrap="square" lIns="0" tIns="19050" rIns="0" bIns="0" rtlCol="0" vert="horz">
            <a:spAutoFit/>
          </a:bodyPr>
          <a:lstStyle/>
          <a:p>
            <a:pPr algn="just" marL="12700" marR="10160">
              <a:lnSpc>
                <a:spcPct val="95800"/>
              </a:lnSpc>
              <a:spcBef>
                <a:spcPts val="150"/>
              </a:spcBef>
            </a:pPr>
            <a:r>
              <a:rPr dirty="0" sz="1100" spc="-5">
                <a:latin typeface="Arial"/>
                <a:cs typeface="Arial"/>
              </a:rPr>
              <a:t>resource and the total costs to producers of providing it. This is equal to the shaded area in  Figure 10.1. Total net benefit is maximized when the marginal cost of producing or extracting  one more </a:t>
            </a:r>
            <a:r>
              <a:rPr dirty="0" sz="1100">
                <a:latin typeface="Arial"/>
                <a:cs typeface="Arial"/>
              </a:rPr>
              <a:t>unit </a:t>
            </a:r>
            <a:r>
              <a:rPr dirty="0" sz="1100" spc="-5">
                <a:latin typeface="Arial"/>
                <a:cs typeface="Arial"/>
              </a:rPr>
              <a:t>of the resource is equal to its marginal benefit to the consumer. This occurs at Q*,  where the demand and supply curves intersect. In a perfectly competitive market, </a:t>
            </a:r>
            <a:r>
              <a:rPr dirty="0" sz="1100">
                <a:latin typeface="Arial"/>
                <a:cs typeface="Arial"/>
              </a:rPr>
              <a:t>the </a:t>
            </a:r>
            <a:r>
              <a:rPr dirty="0" sz="1100" spc="-5">
                <a:latin typeface="Arial"/>
                <a:cs typeface="Arial"/>
              </a:rPr>
              <a:t>“invisible  hand” will ensure that Q* is the quantity produced. The marginal cost curve in Figure 10.1 is  upward-sloping because extraction costs increase as a resource becomes more scarce. The  resulting producer surplus is area aPb, and </a:t>
            </a:r>
            <a:r>
              <a:rPr dirty="0" sz="1100">
                <a:latin typeface="Arial"/>
                <a:cs typeface="Arial"/>
              </a:rPr>
              <a:t>the </a:t>
            </a:r>
            <a:r>
              <a:rPr dirty="0" sz="1100" spc="-5">
                <a:latin typeface="Arial"/>
                <a:cs typeface="Arial"/>
              </a:rPr>
              <a:t>consumer surplus is area DPb. Together they  yield a maximum net benefit equal to</a:t>
            </a:r>
            <a:r>
              <a:rPr dirty="0" sz="1100" spc="30">
                <a:latin typeface="Arial"/>
                <a:cs typeface="Arial"/>
              </a:rPr>
              <a:t> </a:t>
            </a:r>
            <a:r>
              <a:rPr dirty="0" sz="1100" spc="-5">
                <a:latin typeface="Arial"/>
                <a:cs typeface="Arial"/>
              </a:rPr>
              <a:t>Dab.</a:t>
            </a:r>
            <a:endParaRPr sz="1100">
              <a:latin typeface="Arial"/>
              <a:cs typeface="Arial"/>
            </a:endParaRPr>
          </a:p>
          <a:p>
            <a:pPr>
              <a:lnSpc>
                <a:spcPct val="100000"/>
              </a:lnSpc>
              <a:spcBef>
                <a:spcPts val="55"/>
              </a:spcBef>
            </a:pPr>
            <a:endParaRPr sz="1050">
              <a:latin typeface="Arial"/>
              <a:cs typeface="Arial"/>
            </a:endParaRPr>
          </a:p>
          <a:p>
            <a:pPr algn="just" marL="12700" marR="9525">
              <a:lnSpc>
                <a:spcPct val="95900"/>
              </a:lnSpc>
            </a:pPr>
            <a:r>
              <a:rPr dirty="0" sz="1100" spc="-5">
                <a:latin typeface="Arial"/>
                <a:cs typeface="Arial"/>
              </a:rPr>
              <a:t>If resources are scarce and are rationed over time, scarcity rents may arise; these may obtain  even when the marginal cost of production is constant, as in Figure 10.2. The owner of a scarce  resource has a finite volume of a resource X to sell (75 units) and knows that by saving a  portion of it for future sales; he or she can charge a higher price today. The price of a good that  is being rationed inter temporally </a:t>
            </a:r>
            <a:r>
              <a:rPr dirty="0" sz="1100">
                <a:latin typeface="Arial"/>
                <a:cs typeface="Arial"/>
              </a:rPr>
              <a:t>(over </a:t>
            </a:r>
            <a:r>
              <a:rPr dirty="0" sz="1100" spc="-5">
                <a:latin typeface="Arial"/>
                <a:cs typeface="Arial"/>
              </a:rPr>
              <a:t>time) must equate the present value of the marginal net  benefit of the last unit consumed in each period. That is, the consumer must be indifferent  between obtaining the next unit today and obtaining it tomorrow. In Figure 10.2, assume that a  resource owner has 75 units available. If he or </a:t>
            </a:r>
            <a:r>
              <a:rPr dirty="0" sz="1100">
                <a:latin typeface="Arial"/>
                <a:cs typeface="Arial"/>
              </a:rPr>
              <a:t>she </a:t>
            </a:r>
            <a:r>
              <a:rPr dirty="0" sz="1100" spc="-5">
                <a:latin typeface="Arial"/>
                <a:cs typeface="Arial"/>
              </a:rPr>
              <a:t>is willing to offer only 50 units for sale today,  the market price for the scarce resource is</a:t>
            </a:r>
            <a:r>
              <a:rPr dirty="0" sz="1100" spc="35">
                <a:latin typeface="Arial"/>
                <a:cs typeface="Arial"/>
              </a:rPr>
              <a:t> </a:t>
            </a:r>
            <a:r>
              <a:rPr dirty="0" sz="1100" spc="-5">
                <a:latin typeface="Arial"/>
                <a:cs typeface="Arial"/>
              </a:rPr>
              <a:t>Ps.</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The scarcity rent collected by the owner of the resource is equal to PsabP, the shaded region in  the diagram between price and marginal cost. It is the owner’s ability to collect this rent that  creates the rationing effect to ensure the efficient allocation of resources over time. In the  absence of scarcity, all of the resource will be sold at the extraction cost P _ MC, 75 units will be  consumed at one time, and no rent will be</a:t>
            </a:r>
            <a:r>
              <a:rPr dirty="0" sz="1100" spc="45">
                <a:latin typeface="Arial"/>
                <a:cs typeface="Arial"/>
              </a:rPr>
              <a:t> </a:t>
            </a:r>
            <a:r>
              <a:rPr dirty="0" sz="1100" spc="-5">
                <a:latin typeface="Arial"/>
                <a:cs typeface="Arial"/>
              </a:rPr>
              <a:t>collected.</a:t>
            </a:r>
            <a:endParaRPr sz="1100">
              <a:latin typeface="Arial"/>
              <a:cs typeface="Arial"/>
            </a:endParaRPr>
          </a:p>
          <a:p>
            <a:pPr>
              <a:lnSpc>
                <a:spcPct val="100000"/>
              </a:lnSpc>
              <a:spcBef>
                <a:spcPts val="30"/>
              </a:spcBef>
            </a:pPr>
            <a:endParaRPr sz="1050">
              <a:latin typeface="Arial"/>
              <a:cs typeface="Arial"/>
            </a:endParaRPr>
          </a:p>
          <a:p>
            <a:pPr algn="just" marL="12700" marR="10160">
              <a:lnSpc>
                <a:spcPts val="1270"/>
              </a:lnSpc>
            </a:pPr>
            <a:r>
              <a:rPr dirty="0" sz="1100" spc="-5">
                <a:latin typeface="Arial"/>
                <a:cs typeface="Arial"/>
              </a:rPr>
              <a:t>The proponents of neoclassical free-market theory stress that inefficiencies in the allocation of  resources result from impediments to the operation of the free market or imperfections in the  property </a:t>
            </a:r>
            <a:r>
              <a:rPr dirty="0" sz="1100">
                <a:latin typeface="Arial"/>
                <a:cs typeface="Arial"/>
              </a:rPr>
              <a:t>rights </a:t>
            </a:r>
            <a:r>
              <a:rPr dirty="0" sz="1100" spc="-5">
                <a:latin typeface="Arial"/>
                <a:cs typeface="Arial"/>
              </a:rPr>
              <a:t>system. So long as all resources are privately owned </a:t>
            </a:r>
            <a:r>
              <a:rPr dirty="0" sz="1100">
                <a:latin typeface="Arial"/>
                <a:cs typeface="Arial"/>
              </a:rPr>
              <a:t>and </a:t>
            </a:r>
            <a:r>
              <a:rPr dirty="0" sz="1100" spc="-5">
                <a:latin typeface="Arial"/>
                <a:cs typeface="Arial"/>
              </a:rPr>
              <a:t>there are no market  distortions, resources will be allocated efficiently. Perfect property rights markets are  characterized by four</a:t>
            </a:r>
            <a:r>
              <a:rPr dirty="0" sz="1100" spc="10">
                <a:latin typeface="Arial"/>
                <a:cs typeface="Arial"/>
              </a:rPr>
              <a:t> </a:t>
            </a:r>
            <a:r>
              <a:rPr dirty="0" sz="1100" spc="-5">
                <a:latin typeface="Arial"/>
                <a:cs typeface="Arial"/>
              </a:rPr>
              <a:t>conditions:</a:t>
            </a:r>
            <a:endParaRPr sz="1100">
              <a:latin typeface="Arial"/>
              <a:cs typeface="Arial"/>
            </a:endParaRPr>
          </a:p>
          <a:p>
            <a:pPr>
              <a:lnSpc>
                <a:spcPct val="100000"/>
              </a:lnSpc>
              <a:spcBef>
                <a:spcPts val="5"/>
              </a:spcBef>
            </a:pPr>
            <a:endParaRPr sz="1000">
              <a:latin typeface="Arial"/>
              <a:cs typeface="Arial"/>
            </a:endParaRPr>
          </a:p>
          <a:p>
            <a:pPr marL="469265" indent="-229235">
              <a:lnSpc>
                <a:spcPts val="1295"/>
              </a:lnSpc>
              <a:spcBef>
                <a:spcPts val="5"/>
              </a:spcBef>
              <a:buAutoNum type="arabicPeriod"/>
              <a:tabLst>
                <a:tab pos="469900" algn="l"/>
              </a:tabLst>
            </a:pPr>
            <a:r>
              <a:rPr dirty="0" sz="1100" spc="-5" b="1">
                <a:latin typeface="Arial"/>
                <a:cs typeface="Arial"/>
              </a:rPr>
              <a:t>Universality</a:t>
            </a:r>
            <a:r>
              <a:rPr dirty="0" sz="1100" spc="-5">
                <a:latin typeface="Arial"/>
                <a:cs typeface="Arial"/>
              </a:rPr>
              <a:t>—all resources are privately</a:t>
            </a:r>
            <a:r>
              <a:rPr dirty="0" sz="1100" spc="15">
                <a:latin typeface="Arial"/>
                <a:cs typeface="Arial"/>
              </a:rPr>
              <a:t> </a:t>
            </a:r>
            <a:r>
              <a:rPr dirty="0" sz="1100" spc="-5">
                <a:latin typeface="Arial"/>
                <a:cs typeface="Arial"/>
              </a:rPr>
              <a:t>owned.</a:t>
            </a:r>
            <a:endParaRPr sz="1100">
              <a:latin typeface="Arial"/>
              <a:cs typeface="Arial"/>
            </a:endParaRPr>
          </a:p>
          <a:p>
            <a:pPr marL="469265" marR="10795" indent="-228600">
              <a:lnSpc>
                <a:spcPts val="1270"/>
              </a:lnSpc>
              <a:spcBef>
                <a:spcPts val="55"/>
              </a:spcBef>
              <a:buAutoNum type="arabicPeriod"/>
              <a:tabLst>
                <a:tab pos="470534" algn="l"/>
              </a:tabLst>
            </a:pPr>
            <a:r>
              <a:rPr dirty="0" sz="1100" spc="-5" b="1">
                <a:latin typeface="Arial"/>
                <a:cs typeface="Arial"/>
              </a:rPr>
              <a:t>Exclusivity or “excludability”</a:t>
            </a:r>
            <a:r>
              <a:rPr dirty="0" sz="1100" spc="-5">
                <a:latin typeface="Arial"/>
                <a:cs typeface="Arial"/>
              </a:rPr>
              <a:t>—it must be possible to prevent others from benefiting  from a privately owned</a:t>
            </a:r>
            <a:r>
              <a:rPr dirty="0" sz="1100" spc="15">
                <a:latin typeface="Arial"/>
                <a:cs typeface="Arial"/>
              </a:rPr>
              <a:t> </a:t>
            </a:r>
            <a:r>
              <a:rPr dirty="0" sz="1100" spc="-5">
                <a:latin typeface="Arial"/>
                <a:cs typeface="Arial"/>
              </a:rPr>
              <a:t>resource.</a:t>
            </a:r>
            <a:endParaRPr sz="1100">
              <a:latin typeface="Arial"/>
              <a:cs typeface="Arial"/>
            </a:endParaRPr>
          </a:p>
          <a:p>
            <a:pPr marL="469900" indent="-229870">
              <a:lnSpc>
                <a:spcPts val="1200"/>
              </a:lnSpc>
              <a:buAutoNum type="arabicPeriod"/>
              <a:tabLst>
                <a:tab pos="470534" algn="l"/>
              </a:tabLst>
            </a:pPr>
            <a:r>
              <a:rPr dirty="0" sz="1100" spc="-5" b="1">
                <a:latin typeface="Arial"/>
                <a:cs typeface="Arial"/>
              </a:rPr>
              <a:t>Transferability</a:t>
            </a:r>
            <a:r>
              <a:rPr dirty="0" sz="1100" spc="-5">
                <a:latin typeface="Arial"/>
                <a:cs typeface="Arial"/>
              </a:rPr>
              <a:t>—the owner of a resource may sell the resource when</a:t>
            </a:r>
            <a:r>
              <a:rPr dirty="0" sz="1100" spc="95">
                <a:latin typeface="Arial"/>
                <a:cs typeface="Arial"/>
              </a:rPr>
              <a:t> </a:t>
            </a:r>
            <a:r>
              <a:rPr dirty="0" sz="1100" spc="-5">
                <a:latin typeface="Arial"/>
                <a:cs typeface="Arial"/>
              </a:rPr>
              <a:t>desired.</a:t>
            </a:r>
            <a:endParaRPr sz="1100">
              <a:latin typeface="Arial"/>
              <a:cs typeface="Arial"/>
            </a:endParaRPr>
          </a:p>
          <a:p>
            <a:pPr marL="469900" indent="-229870">
              <a:lnSpc>
                <a:spcPts val="1295"/>
              </a:lnSpc>
              <a:buAutoNum type="arabicPeriod"/>
              <a:tabLst>
                <a:tab pos="470534" algn="l"/>
              </a:tabLst>
            </a:pPr>
            <a:r>
              <a:rPr dirty="0" sz="1100" spc="-5" b="1">
                <a:latin typeface="Arial"/>
                <a:cs typeface="Arial"/>
              </a:rPr>
              <a:t>Enforceability</a:t>
            </a:r>
            <a:r>
              <a:rPr dirty="0" sz="1100" spc="-5">
                <a:latin typeface="Arial"/>
                <a:cs typeface="Arial"/>
              </a:rPr>
              <a:t>—the</a:t>
            </a:r>
            <a:r>
              <a:rPr dirty="0" sz="1100" spc="55">
                <a:latin typeface="Arial"/>
                <a:cs typeface="Arial"/>
              </a:rPr>
              <a:t> </a:t>
            </a:r>
            <a:r>
              <a:rPr dirty="0" sz="1100" spc="-5">
                <a:latin typeface="Arial"/>
                <a:cs typeface="Arial"/>
              </a:rPr>
              <a:t>intended</a:t>
            </a:r>
            <a:r>
              <a:rPr dirty="0" sz="1100" spc="55">
                <a:latin typeface="Arial"/>
                <a:cs typeface="Arial"/>
              </a:rPr>
              <a:t> </a:t>
            </a:r>
            <a:r>
              <a:rPr dirty="0" sz="1100" spc="-5">
                <a:latin typeface="Arial"/>
                <a:cs typeface="Arial"/>
              </a:rPr>
              <a:t>market</a:t>
            </a:r>
            <a:r>
              <a:rPr dirty="0" sz="1100" spc="55">
                <a:latin typeface="Arial"/>
                <a:cs typeface="Arial"/>
              </a:rPr>
              <a:t> </a:t>
            </a:r>
            <a:r>
              <a:rPr dirty="0" sz="1100" spc="-5">
                <a:latin typeface="Arial"/>
                <a:cs typeface="Arial"/>
              </a:rPr>
              <a:t>distribution</a:t>
            </a:r>
            <a:r>
              <a:rPr dirty="0" sz="1100" spc="55">
                <a:latin typeface="Arial"/>
                <a:cs typeface="Arial"/>
              </a:rPr>
              <a:t> </a:t>
            </a:r>
            <a:r>
              <a:rPr dirty="0" sz="1100" spc="-5">
                <a:latin typeface="Arial"/>
                <a:cs typeface="Arial"/>
              </a:rPr>
              <a:t>of</a:t>
            </a:r>
            <a:r>
              <a:rPr dirty="0" sz="1100" spc="55">
                <a:latin typeface="Arial"/>
                <a:cs typeface="Arial"/>
              </a:rPr>
              <a:t> </a:t>
            </a:r>
            <a:r>
              <a:rPr dirty="0" sz="1100" spc="-5">
                <a:latin typeface="Arial"/>
                <a:cs typeface="Arial"/>
              </a:rPr>
              <a:t>the</a:t>
            </a:r>
            <a:r>
              <a:rPr dirty="0" sz="1100" spc="55">
                <a:latin typeface="Arial"/>
                <a:cs typeface="Arial"/>
              </a:rPr>
              <a:t> </a:t>
            </a:r>
            <a:r>
              <a:rPr dirty="0" sz="1100" spc="-5">
                <a:latin typeface="Arial"/>
                <a:cs typeface="Arial"/>
              </a:rPr>
              <a:t>benefits</a:t>
            </a:r>
            <a:r>
              <a:rPr dirty="0" sz="1100" spc="60">
                <a:latin typeface="Arial"/>
                <a:cs typeface="Arial"/>
              </a:rPr>
              <a:t> </a:t>
            </a:r>
            <a:r>
              <a:rPr dirty="0" sz="1100" spc="-5">
                <a:latin typeface="Arial"/>
                <a:cs typeface="Arial"/>
              </a:rPr>
              <a:t>from</a:t>
            </a:r>
            <a:r>
              <a:rPr dirty="0" sz="1100" spc="55">
                <a:latin typeface="Arial"/>
                <a:cs typeface="Arial"/>
              </a:rPr>
              <a:t> </a:t>
            </a:r>
            <a:r>
              <a:rPr dirty="0" sz="1100" spc="-5">
                <a:latin typeface="Arial"/>
                <a:cs typeface="Arial"/>
              </a:rPr>
              <a:t>resources</a:t>
            </a:r>
            <a:r>
              <a:rPr dirty="0" sz="1100" spc="55">
                <a:latin typeface="Arial"/>
                <a:cs typeface="Arial"/>
              </a:rPr>
              <a:t> </a:t>
            </a:r>
            <a:r>
              <a:rPr dirty="0" sz="1100" spc="-5">
                <a:latin typeface="Arial"/>
                <a:cs typeface="Arial"/>
              </a:rPr>
              <a:t>must</a:t>
            </a:r>
            <a:r>
              <a:rPr dirty="0" sz="1100" spc="55">
                <a:latin typeface="Arial"/>
                <a:cs typeface="Arial"/>
              </a:rPr>
              <a:t> </a:t>
            </a:r>
            <a:r>
              <a:rPr dirty="0" sz="1100" spc="-5">
                <a:latin typeface="Arial"/>
                <a:cs typeface="Arial"/>
              </a:rPr>
              <a:t>be</a:t>
            </a:r>
            <a:endParaRPr sz="1100">
              <a:latin typeface="Arial"/>
              <a:cs typeface="Arial"/>
            </a:endParaRPr>
          </a:p>
        </p:txBody>
      </p:sp>
      <p:sp>
        <p:nvSpPr>
          <p:cNvPr id="7" name="object 7"/>
          <p:cNvSpPr/>
          <p:nvPr/>
        </p:nvSpPr>
        <p:spPr>
          <a:xfrm>
            <a:off x="2209800" y="6858000"/>
            <a:ext cx="2590800" cy="2238241"/>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214</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8" y="891794"/>
            <a:ext cx="5969635" cy="6065520"/>
          </a:xfrm>
          <a:prstGeom prst="rect">
            <a:avLst/>
          </a:prstGeom>
        </p:spPr>
        <p:txBody>
          <a:bodyPr wrap="square" lIns="0" tIns="12065" rIns="0" bIns="0" rtlCol="0" vert="horz">
            <a:spAutoFit/>
          </a:bodyPr>
          <a:lstStyle/>
          <a:p>
            <a:pPr marL="469900">
              <a:lnSpc>
                <a:spcPct val="100000"/>
              </a:lnSpc>
              <a:spcBef>
                <a:spcPts val="95"/>
              </a:spcBef>
            </a:pPr>
            <a:r>
              <a:rPr dirty="0" sz="1100" spc="-5">
                <a:latin typeface="Arial"/>
                <a:cs typeface="Arial"/>
              </a:rPr>
              <a:t>enforceable.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Under these conditions, the owner of a scarce resource has an economic incentive to maximize  the net benefit from its sale or use. For </a:t>
            </a:r>
            <a:r>
              <a:rPr dirty="0" sz="1100">
                <a:latin typeface="Arial"/>
                <a:cs typeface="Arial"/>
              </a:rPr>
              <a:t>example, </a:t>
            </a:r>
            <a:r>
              <a:rPr dirty="0" sz="1100" spc="-5">
                <a:latin typeface="Arial"/>
                <a:cs typeface="Arial"/>
              </a:rPr>
              <a:t>a farmer who owns </a:t>
            </a:r>
            <a:r>
              <a:rPr dirty="0" sz="1100">
                <a:latin typeface="Arial"/>
                <a:cs typeface="Arial"/>
              </a:rPr>
              <a:t>his </a:t>
            </a:r>
            <a:r>
              <a:rPr dirty="0" sz="1100" spc="-5">
                <a:latin typeface="Arial"/>
                <a:cs typeface="Arial"/>
              </a:rPr>
              <a:t>land will choose the  levels of investment, technology, and output that maximize </a:t>
            </a:r>
            <a:r>
              <a:rPr dirty="0" sz="1100">
                <a:latin typeface="Arial"/>
                <a:cs typeface="Arial"/>
              </a:rPr>
              <a:t>the </a:t>
            </a:r>
            <a:r>
              <a:rPr dirty="0" sz="1100" spc="-5">
                <a:latin typeface="Arial"/>
                <a:cs typeface="Arial"/>
              </a:rPr>
              <a:t>net yield from the </a:t>
            </a:r>
            <a:r>
              <a:rPr dirty="0" sz="1100">
                <a:latin typeface="Arial"/>
                <a:cs typeface="Arial"/>
              </a:rPr>
              <a:t>land. </a:t>
            </a:r>
            <a:r>
              <a:rPr dirty="0" sz="1100" spc="-5">
                <a:latin typeface="Arial"/>
                <a:cs typeface="Arial"/>
              </a:rPr>
              <a:t>Because  the value of the land may be used as collateral, any viable farm investment can be financed by  obtaining a loan at the prevailing market rate of interest. If the foregoing conditions are not met  simultaneously, inefficiencies are likely to arise. Thus the way to correct the misallocation of  resources is generally to remove any market distortions. A number of models have been  designed to explain apparent inefficiencies in resource allocation and to evaluate alternative  remedies. We next </a:t>
            </a:r>
            <a:r>
              <a:rPr dirty="0" sz="1100">
                <a:latin typeface="Arial"/>
                <a:cs typeface="Arial"/>
              </a:rPr>
              <a:t>look </a:t>
            </a:r>
            <a:r>
              <a:rPr dirty="0" sz="1100" spc="-5">
                <a:latin typeface="Arial"/>
                <a:cs typeface="Arial"/>
              </a:rPr>
              <a:t>at two simple models of inefficiency arising from imperfections in  property markets.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DEFINITIONS:</a:t>
            </a:r>
            <a:endParaRPr sz="1100">
              <a:latin typeface="Arial"/>
              <a:cs typeface="Arial"/>
            </a:endParaRPr>
          </a:p>
          <a:p>
            <a:pPr>
              <a:lnSpc>
                <a:spcPct val="100000"/>
              </a:lnSpc>
              <a:spcBef>
                <a:spcPts val="15"/>
              </a:spcBef>
            </a:pPr>
            <a:endParaRPr sz="1200">
              <a:latin typeface="Arial"/>
              <a:cs typeface="Arial"/>
            </a:endParaRPr>
          </a:p>
          <a:p>
            <a:pPr algn="just" marL="469900" indent="-228600">
              <a:lnSpc>
                <a:spcPts val="1290"/>
              </a:lnSpc>
              <a:spcBef>
                <a:spcPts val="5"/>
              </a:spcBef>
              <a:buFont typeface="Symbol"/>
              <a:buChar char=""/>
              <a:tabLst>
                <a:tab pos="469900" algn="l"/>
              </a:tabLst>
            </a:pPr>
            <a:r>
              <a:rPr dirty="0" sz="1100" spc="-5" b="1">
                <a:latin typeface="Arial"/>
                <a:cs typeface="Arial"/>
              </a:rPr>
              <a:t>Total net</a:t>
            </a:r>
            <a:r>
              <a:rPr dirty="0" sz="1100" b="1">
                <a:latin typeface="Arial"/>
                <a:cs typeface="Arial"/>
              </a:rPr>
              <a:t> </a:t>
            </a:r>
            <a:r>
              <a:rPr dirty="0" sz="1100" spc="-5" b="1">
                <a:latin typeface="Arial"/>
                <a:cs typeface="Arial"/>
              </a:rPr>
              <a:t>benefit</a:t>
            </a:r>
            <a:endParaRPr sz="1100">
              <a:latin typeface="Arial"/>
              <a:cs typeface="Arial"/>
            </a:endParaRPr>
          </a:p>
          <a:p>
            <a:pPr algn="just" marL="469265">
              <a:lnSpc>
                <a:spcPts val="1290"/>
              </a:lnSpc>
            </a:pPr>
            <a:r>
              <a:rPr dirty="0" sz="1100" spc="-5">
                <a:latin typeface="Arial"/>
                <a:cs typeface="Arial"/>
              </a:rPr>
              <a:t>The sum of net benefits to all</a:t>
            </a:r>
            <a:r>
              <a:rPr dirty="0" sz="1100" spc="25">
                <a:latin typeface="Arial"/>
                <a:cs typeface="Arial"/>
              </a:rPr>
              <a:t> </a:t>
            </a:r>
            <a:r>
              <a:rPr dirty="0" sz="1100" spc="-5">
                <a:latin typeface="Arial"/>
                <a:cs typeface="Arial"/>
              </a:rPr>
              <a:t>consumers.</a:t>
            </a:r>
            <a:endParaRPr sz="1100">
              <a:latin typeface="Arial"/>
              <a:cs typeface="Arial"/>
            </a:endParaRPr>
          </a:p>
          <a:p>
            <a:pPr algn="just" marL="469900" indent="-228600">
              <a:lnSpc>
                <a:spcPts val="1290"/>
              </a:lnSpc>
              <a:spcBef>
                <a:spcPts val="20"/>
              </a:spcBef>
              <a:buFont typeface="Symbol"/>
              <a:buChar char=""/>
              <a:tabLst>
                <a:tab pos="469900" algn="l"/>
              </a:tabLst>
            </a:pPr>
            <a:r>
              <a:rPr dirty="0" sz="1100" spc="-5" b="1">
                <a:latin typeface="Arial"/>
                <a:cs typeface="Arial"/>
              </a:rPr>
              <a:t>Marginal </a:t>
            </a:r>
            <a:r>
              <a:rPr dirty="0" sz="1100" b="1">
                <a:latin typeface="Arial"/>
                <a:cs typeface="Arial"/>
              </a:rPr>
              <a:t>cost</a:t>
            </a:r>
            <a:endParaRPr sz="1100">
              <a:latin typeface="Arial"/>
              <a:cs typeface="Arial"/>
            </a:endParaRPr>
          </a:p>
          <a:p>
            <a:pPr algn="just" marL="469265" marR="6350">
              <a:lnSpc>
                <a:spcPts val="1260"/>
              </a:lnSpc>
              <a:spcBef>
                <a:spcPts val="65"/>
              </a:spcBef>
            </a:pPr>
            <a:r>
              <a:rPr dirty="0" sz="1100" spc="-5">
                <a:latin typeface="Arial"/>
                <a:cs typeface="Arial"/>
              </a:rPr>
              <a:t>The addition to total cost incurred by the producer as a result of increasing output by one  more unit.</a:t>
            </a:r>
            <a:endParaRPr sz="1100">
              <a:latin typeface="Arial"/>
              <a:cs typeface="Arial"/>
            </a:endParaRPr>
          </a:p>
          <a:p>
            <a:pPr algn="just" marL="469900" indent="-228600">
              <a:lnSpc>
                <a:spcPts val="1285"/>
              </a:lnSpc>
              <a:buFont typeface="Symbol"/>
              <a:buChar char=""/>
              <a:tabLst>
                <a:tab pos="469900" algn="l"/>
              </a:tabLst>
            </a:pPr>
            <a:r>
              <a:rPr dirty="0" sz="1100" spc="-5" b="1">
                <a:latin typeface="Arial"/>
                <a:cs typeface="Arial"/>
              </a:rPr>
              <a:t>Producer surplus</a:t>
            </a:r>
            <a:endParaRPr sz="1100">
              <a:latin typeface="Arial"/>
              <a:cs typeface="Arial"/>
            </a:endParaRPr>
          </a:p>
          <a:p>
            <a:pPr algn="just" marL="469265" marR="5715">
              <a:lnSpc>
                <a:spcPts val="1270"/>
              </a:lnSpc>
              <a:spcBef>
                <a:spcPts val="50"/>
              </a:spcBef>
            </a:pPr>
            <a:r>
              <a:rPr dirty="0" sz="1100" spc="-5">
                <a:latin typeface="Arial"/>
                <a:cs typeface="Arial"/>
              </a:rPr>
              <a:t>Excess of what a producer of a good receives and the minimum amount the producer  would be willing to accept because of a positive-sloping marginal cost</a:t>
            </a:r>
            <a:r>
              <a:rPr dirty="0" sz="1100" spc="95">
                <a:latin typeface="Arial"/>
                <a:cs typeface="Arial"/>
              </a:rPr>
              <a:t> </a:t>
            </a:r>
            <a:r>
              <a:rPr dirty="0" sz="1100" spc="-5">
                <a:latin typeface="Arial"/>
                <a:cs typeface="Arial"/>
              </a:rPr>
              <a:t>curve.</a:t>
            </a:r>
            <a:endParaRPr sz="1100">
              <a:latin typeface="Arial"/>
              <a:cs typeface="Arial"/>
            </a:endParaRPr>
          </a:p>
          <a:p>
            <a:pPr algn="just" marL="469900" indent="-228600">
              <a:lnSpc>
                <a:spcPts val="1280"/>
              </a:lnSpc>
              <a:buFont typeface="Symbol"/>
              <a:buChar char=""/>
              <a:tabLst>
                <a:tab pos="469900" algn="l"/>
              </a:tabLst>
            </a:pPr>
            <a:r>
              <a:rPr dirty="0" sz="1100" spc="-5" b="1">
                <a:latin typeface="Arial"/>
                <a:cs typeface="Arial"/>
              </a:rPr>
              <a:t>Consumer</a:t>
            </a:r>
            <a:r>
              <a:rPr dirty="0" sz="1100" b="1">
                <a:latin typeface="Arial"/>
                <a:cs typeface="Arial"/>
              </a:rPr>
              <a:t> </a:t>
            </a:r>
            <a:r>
              <a:rPr dirty="0" sz="1100" spc="-5" b="1">
                <a:latin typeface="Arial"/>
                <a:cs typeface="Arial"/>
              </a:rPr>
              <a:t>surplus</a:t>
            </a:r>
            <a:endParaRPr sz="1100">
              <a:latin typeface="Arial"/>
              <a:cs typeface="Arial"/>
            </a:endParaRPr>
          </a:p>
          <a:p>
            <a:pPr algn="just" marL="469265" marR="6350">
              <a:lnSpc>
                <a:spcPts val="1270"/>
              </a:lnSpc>
              <a:spcBef>
                <a:spcPts val="50"/>
              </a:spcBef>
            </a:pPr>
            <a:r>
              <a:rPr dirty="0" sz="1100" spc="-5">
                <a:latin typeface="Arial"/>
                <a:cs typeface="Arial"/>
              </a:rPr>
              <a:t>Excess utility over price derived by consumers because of a negative-sloping demand  curve.</a:t>
            </a:r>
            <a:endParaRPr sz="1100">
              <a:latin typeface="Arial"/>
              <a:cs typeface="Arial"/>
            </a:endParaRPr>
          </a:p>
          <a:p>
            <a:pPr algn="just" marL="469900" indent="-228600">
              <a:lnSpc>
                <a:spcPts val="1280"/>
              </a:lnSpc>
              <a:buFont typeface="Symbol"/>
              <a:buChar char=""/>
              <a:tabLst>
                <a:tab pos="469900" algn="l"/>
              </a:tabLst>
            </a:pPr>
            <a:r>
              <a:rPr dirty="0" sz="1100" spc="-5" b="1">
                <a:latin typeface="Arial"/>
                <a:cs typeface="Arial"/>
              </a:rPr>
              <a:t>Scarcity</a:t>
            </a:r>
            <a:r>
              <a:rPr dirty="0" sz="1100" spc="-10" b="1">
                <a:latin typeface="Arial"/>
                <a:cs typeface="Arial"/>
              </a:rPr>
              <a:t> </a:t>
            </a:r>
            <a:r>
              <a:rPr dirty="0" sz="1100" b="1">
                <a:latin typeface="Arial"/>
                <a:cs typeface="Arial"/>
              </a:rPr>
              <a:t>rent</a:t>
            </a:r>
            <a:endParaRPr sz="1100">
              <a:latin typeface="Arial"/>
              <a:cs typeface="Arial"/>
            </a:endParaRPr>
          </a:p>
          <a:p>
            <a:pPr algn="just" marL="469265" marR="5715">
              <a:lnSpc>
                <a:spcPts val="1270"/>
              </a:lnSpc>
              <a:spcBef>
                <a:spcPts val="50"/>
              </a:spcBef>
            </a:pPr>
            <a:r>
              <a:rPr dirty="0" sz="1100" spc="-5">
                <a:latin typeface="Arial"/>
                <a:cs typeface="Arial"/>
              </a:rPr>
              <a:t>The premium or additional rent charged for the use of a resource or good that is in fixed  or limited</a:t>
            </a:r>
            <a:r>
              <a:rPr dirty="0" sz="1100">
                <a:latin typeface="Arial"/>
                <a:cs typeface="Arial"/>
              </a:rPr>
              <a:t> </a:t>
            </a:r>
            <a:r>
              <a:rPr dirty="0" sz="1100" spc="-5">
                <a:latin typeface="Arial"/>
                <a:cs typeface="Arial"/>
              </a:rPr>
              <a:t>supply.</a:t>
            </a:r>
            <a:endParaRPr sz="1100">
              <a:latin typeface="Arial"/>
              <a:cs typeface="Arial"/>
            </a:endParaRPr>
          </a:p>
          <a:p>
            <a:pPr algn="just" marL="469900" indent="-228600">
              <a:lnSpc>
                <a:spcPts val="1280"/>
              </a:lnSpc>
              <a:buFont typeface="Symbol"/>
              <a:buChar char=""/>
              <a:tabLst>
                <a:tab pos="469900" algn="l"/>
              </a:tabLst>
            </a:pPr>
            <a:r>
              <a:rPr dirty="0" sz="1100" spc="-5" b="1">
                <a:latin typeface="Arial"/>
                <a:cs typeface="Arial"/>
              </a:rPr>
              <a:t>Present value</a:t>
            </a:r>
            <a:endParaRPr sz="1100">
              <a:latin typeface="Arial"/>
              <a:cs typeface="Arial"/>
            </a:endParaRPr>
          </a:p>
          <a:p>
            <a:pPr algn="just" marL="469265">
              <a:lnSpc>
                <a:spcPts val="1285"/>
              </a:lnSpc>
            </a:pPr>
            <a:r>
              <a:rPr dirty="0" sz="1100" spc="-5">
                <a:latin typeface="Arial"/>
                <a:cs typeface="Arial"/>
              </a:rPr>
              <a:t>The discounted value at the present time of a sum of money to be received in the</a:t>
            </a:r>
            <a:r>
              <a:rPr dirty="0" sz="1100" spc="245">
                <a:latin typeface="Arial"/>
                <a:cs typeface="Arial"/>
              </a:rPr>
              <a:t> </a:t>
            </a:r>
            <a:r>
              <a:rPr dirty="0" sz="1100" spc="-5">
                <a:latin typeface="Arial"/>
                <a:cs typeface="Arial"/>
              </a:rPr>
              <a:t>future.</a:t>
            </a:r>
            <a:endParaRPr sz="1100">
              <a:latin typeface="Arial"/>
              <a:cs typeface="Arial"/>
            </a:endParaRPr>
          </a:p>
          <a:p>
            <a:pPr algn="just" marL="469900" indent="-228600">
              <a:lnSpc>
                <a:spcPts val="1285"/>
              </a:lnSpc>
              <a:spcBef>
                <a:spcPts val="30"/>
              </a:spcBef>
              <a:buFont typeface="Symbol"/>
              <a:buChar char=""/>
              <a:tabLst>
                <a:tab pos="469900" algn="l"/>
              </a:tabLst>
            </a:pPr>
            <a:r>
              <a:rPr dirty="0" sz="1100" spc="-5" b="1">
                <a:latin typeface="Arial"/>
                <a:cs typeface="Arial"/>
              </a:rPr>
              <a:t>Marginal </a:t>
            </a:r>
            <a:r>
              <a:rPr dirty="0" sz="1100" b="1">
                <a:latin typeface="Arial"/>
                <a:cs typeface="Arial"/>
              </a:rPr>
              <a:t>net </a:t>
            </a:r>
            <a:r>
              <a:rPr dirty="0" sz="1100" spc="-5" b="1">
                <a:latin typeface="Arial"/>
                <a:cs typeface="Arial"/>
              </a:rPr>
              <a:t>benefit</a:t>
            </a:r>
            <a:endParaRPr sz="1100">
              <a:latin typeface="Arial"/>
              <a:cs typeface="Arial"/>
            </a:endParaRPr>
          </a:p>
          <a:p>
            <a:pPr algn="just" marL="469265">
              <a:lnSpc>
                <a:spcPts val="1285"/>
              </a:lnSpc>
            </a:pPr>
            <a:r>
              <a:rPr dirty="0" sz="1100" spc="-5">
                <a:latin typeface="Arial"/>
                <a:cs typeface="Arial"/>
              </a:rPr>
              <a:t>The benefit derived from the last unit of a good minus its</a:t>
            </a:r>
            <a:r>
              <a:rPr dirty="0" sz="1100" spc="60">
                <a:latin typeface="Arial"/>
                <a:cs typeface="Arial"/>
              </a:rPr>
              <a:t> </a:t>
            </a:r>
            <a:r>
              <a:rPr dirty="0" sz="1100" spc="-5">
                <a:latin typeface="Arial"/>
                <a:cs typeface="Arial"/>
              </a:rPr>
              <a:t>cost.</a:t>
            </a:r>
            <a:endParaRPr sz="1100">
              <a:latin typeface="Arial"/>
              <a:cs typeface="Arial"/>
            </a:endParaRPr>
          </a:p>
          <a:p>
            <a:pPr algn="just" marL="469900" indent="-228600">
              <a:lnSpc>
                <a:spcPts val="1285"/>
              </a:lnSpc>
              <a:spcBef>
                <a:spcPts val="30"/>
              </a:spcBef>
              <a:buFont typeface="Symbol"/>
              <a:buChar char=""/>
              <a:tabLst>
                <a:tab pos="469900" algn="l"/>
              </a:tabLst>
            </a:pPr>
            <a:r>
              <a:rPr dirty="0" sz="1100" spc="-5" b="1">
                <a:latin typeface="Arial"/>
                <a:cs typeface="Arial"/>
              </a:rPr>
              <a:t>Property</a:t>
            </a:r>
            <a:r>
              <a:rPr dirty="0" sz="1100" spc="-10" b="1">
                <a:latin typeface="Arial"/>
                <a:cs typeface="Arial"/>
              </a:rPr>
              <a:t> </a:t>
            </a:r>
            <a:r>
              <a:rPr dirty="0" sz="1100" spc="-5" b="1">
                <a:latin typeface="Arial"/>
                <a:cs typeface="Arial"/>
              </a:rPr>
              <a:t>rights</a:t>
            </a:r>
            <a:endParaRPr sz="1100">
              <a:latin typeface="Arial"/>
              <a:cs typeface="Arial"/>
            </a:endParaRPr>
          </a:p>
          <a:p>
            <a:pPr algn="just" marL="469265" marR="7620">
              <a:lnSpc>
                <a:spcPct val="95700"/>
              </a:lnSpc>
              <a:spcBef>
                <a:spcPts val="25"/>
              </a:spcBef>
            </a:pPr>
            <a:r>
              <a:rPr dirty="0" sz="1100" spc="-5">
                <a:latin typeface="Arial"/>
                <a:cs typeface="Arial"/>
              </a:rPr>
              <a:t>The acknowledged right to use and benefit from a tangible (e.g., land) or intangible (e.g.,  intellectual) entity that may include owning, using, deriving income from, selling, and  disposing.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215</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905" cy="375094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32</a:t>
            </a:r>
            <a:endParaRPr sz="1100">
              <a:latin typeface="Arial"/>
              <a:cs typeface="Arial"/>
            </a:endParaRPr>
          </a:p>
          <a:p>
            <a:pPr marL="12700" marR="657860" indent="651510">
              <a:lnSpc>
                <a:spcPct val="191400"/>
              </a:lnSpc>
              <a:spcBef>
                <a:spcPts val="15"/>
              </a:spcBef>
            </a:pPr>
            <a:r>
              <a:rPr dirty="0" sz="1100" spc="-5" b="1">
                <a:latin typeface="Arial"/>
                <a:cs typeface="Arial"/>
              </a:rPr>
              <a:t>THE ENVIRONMENT AND ECONOMIC DEVELOPMENT (CONTINUED3)  COMMON PROPERTY</a:t>
            </a:r>
            <a:r>
              <a:rPr dirty="0" sz="1100" spc="10" b="1">
                <a:latin typeface="Arial"/>
                <a:cs typeface="Arial"/>
              </a:rPr>
              <a:t> </a:t>
            </a:r>
            <a:r>
              <a:rPr dirty="0" sz="1100" spc="-5" b="1">
                <a:latin typeface="Arial"/>
                <a:cs typeface="Arial"/>
              </a:rPr>
              <a:t>RESOURCES</a:t>
            </a:r>
            <a:endParaRPr sz="1100">
              <a:latin typeface="Arial"/>
              <a:cs typeface="Arial"/>
            </a:endParaRPr>
          </a:p>
          <a:p>
            <a:pPr>
              <a:lnSpc>
                <a:spcPct val="100000"/>
              </a:lnSpc>
            </a:pPr>
            <a:endParaRPr sz="1300">
              <a:latin typeface="Arial"/>
              <a:cs typeface="Arial"/>
            </a:endParaRPr>
          </a:p>
          <a:p>
            <a:pPr marL="469900" marR="6985" indent="-228600">
              <a:lnSpc>
                <a:spcPts val="1260"/>
              </a:lnSpc>
              <a:buFont typeface="Symbol"/>
              <a:buChar char=""/>
              <a:tabLst>
                <a:tab pos="469265" algn="l"/>
                <a:tab pos="469900" algn="l"/>
              </a:tabLst>
            </a:pPr>
            <a:r>
              <a:rPr dirty="0" sz="1100" spc="-5" i="1">
                <a:latin typeface="Arial"/>
                <a:cs typeface="Arial"/>
              </a:rPr>
              <a:t>A resource that is collectively or publicly owned and allocated under a system of  </a:t>
            </a:r>
            <a:r>
              <a:rPr dirty="0" sz="1100" spc="-5" i="1">
                <a:latin typeface="Arial"/>
                <a:cs typeface="Arial"/>
              </a:rPr>
              <a:t>unrestricted access, or as self-regulated by</a:t>
            </a:r>
            <a:r>
              <a:rPr dirty="0" sz="1100" spc="20" i="1">
                <a:latin typeface="Arial"/>
                <a:cs typeface="Arial"/>
              </a:rPr>
              <a:t> </a:t>
            </a:r>
            <a:r>
              <a:rPr dirty="0" sz="1100" spc="-5" i="1">
                <a:latin typeface="Arial"/>
                <a:cs typeface="Arial"/>
              </a:rPr>
              <a:t>users.</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pPr>
            <a:r>
              <a:rPr dirty="0" sz="1100" spc="-5">
                <a:latin typeface="Arial"/>
                <a:cs typeface="Arial"/>
              </a:rPr>
              <a:t>If a scarce resource (such as arable land) is publicly owned and is freely available to all (for,  say, farming or grazing animals), as is the case with a common property resource, any potential  profits or scarcity rents will be competed away (unless efficient social conventions are binding,  as will be discussed shortly). As we have noted, neoclassical theory suggests that in the  absence of scarcity rents, inefficiencies will arise. Using a somewhat different framework, we  will investigate the misallocation of resources under a common property system. Figure 10.3  describes the relationship between the value per unit of labor on a given piece of land and the  number of laborers cultivating</a:t>
            </a:r>
            <a:r>
              <a:rPr dirty="0" sz="1100" spc="15">
                <a:latin typeface="Arial"/>
                <a:cs typeface="Arial"/>
              </a:rPr>
              <a:t> </a:t>
            </a:r>
            <a:r>
              <a:rPr dirty="0" sz="1100" spc="-5">
                <a:latin typeface="Arial"/>
                <a:cs typeface="Arial"/>
              </a:rPr>
              <a:t>it.</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Suppose for the moment that this piece of land is privately held. Conventional wisdom tells us  that the landowner will hire additional labor to work the land until the marginal product of the last  worker is equal to the market wage, W, at point L*. The workload is shared equally among the  employees, each of whom produces the average product. However, assuming decreasing  returns to labor, each</a:t>
            </a:r>
            <a:r>
              <a:rPr dirty="0" sz="1100" spc="20">
                <a:latin typeface="Arial"/>
                <a:cs typeface="Arial"/>
              </a:rPr>
              <a:t> </a:t>
            </a:r>
            <a:r>
              <a:rPr dirty="0" sz="1100" spc="-5">
                <a:latin typeface="Arial"/>
                <a:cs typeface="Arial"/>
              </a:rPr>
              <a:t>new</a:t>
            </a:r>
            <a:endParaRPr sz="1100">
              <a:latin typeface="Arial"/>
              <a:cs typeface="Arial"/>
            </a:endParaRPr>
          </a:p>
        </p:txBody>
      </p:sp>
      <p:sp>
        <p:nvSpPr>
          <p:cNvPr id="7" name="object 7"/>
          <p:cNvSpPr txBox="1"/>
          <p:nvPr/>
        </p:nvSpPr>
        <p:spPr>
          <a:xfrm>
            <a:off x="901692" y="4610316"/>
            <a:ext cx="1911350" cy="353695"/>
          </a:xfrm>
          <a:prstGeom prst="rect">
            <a:avLst/>
          </a:prstGeom>
        </p:spPr>
        <p:txBody>
          <a:bodyPr wrap="square" lIns="0" tIns="12065" rIns="0" bIns="0" rtlCol="0" vert="horz">
            <a:spAutoFit/>
          </a:bodyPr>
          <a:lstStyle/>
          <a:p>
            <a:pPr algn="r" marR="5080">
              <a:lnSpc>
                <a:spcPts val="1295"/>
              </a:lnSpc>
              <a:spcBef>
                <a:spcPts val="95"/>
              </a:spcBef>
              <a:tabLst>
                <a:tab pos="573405" algn="l"/>
                <a:tab pos="1038860" algn="l"/>
                <a:tab pos="1691005" algn="l"/>
              </a:tabLst>
            </a:pPr>
            <a:r>
              <a:rPr dirty="0" sz="1100" spc="-5">
                <a:latin typeface="Arial"/>
                <a:cs typeface="Arial"/>
              </a:rPr>
              <a:t>worker</a:t>
            </a:r>
            <a:r>
              <a:rPr dirty="0" sz="1100" spc="-5">
                <a:latin typeface="Arial"/>
                <a:cs typeface="Arial"/>
              </a:rPr>
              <a:t>	</a:t>
            </a:r>
            <a:r>
              <a:rPr dirty="0" sz="1100" spc="-5">
                <a:latin typeface="Arial"/>
                <a:cs typeface="Arial"/>
              </a:rPr>
              <a:t>hired</a:t>
            </a:r>
            <a:r>
              <a:rPr dirty="0" sz="1100" spc="-5">
                <a:latin typeface="Arial"/>
                <a:cs typeface="Arial"/>
              </a:rPr>
              <a:t>	</a:t>
            </a:r>
            <a:r>
              <a:rPr dirty="0" sz="1100" spc="-5">
                <a:latin typeface="Arial"/>
                <a:cs typeface="Arial"/>
              </a:rPr>
              <a:t>reduces</a:t>
            </a:r>
            <a:r>
              <a:rPr dirty="0" sz="1100" spc="-5">
                <a:latin typeface="Arial"/>
                <a:cs typeface="Arial"/>
              </a:rPr>
              <a:t>	</a:t>
            </a:r>
            <a:r>
              <a:rPr dirty="0" sz="1100" spc="-5">
                <a:latin typeface="Arial"/>
                <a:cs typeface="Arial"/>
              </a:rPr>
              <a:t>the</a:t>
            </a:r>
            <a:endParaRPr sz="1100">
              <a:latin typeface="Arial"/>
              <a:cs typeface="Arial"/>
            </a:endParaRPr>
          </a:p>
          <a:p>
            <a:pPr algn="r" marR="5715">
              <a:lnSpc>
                <a:spcPts val="1295"/>
              </a:lnSpc>
            </a:pPr>
            <a:r>
              <a:rPr dirty="0" sz="1100" spc="-5">
                <a:latin typeface="Arial"/>
                <a:cs typeface="Arial"/>
              </a:rPr>
              <a:t>all</a:t>
            </a:r>
            <a:endParaRPr sz="1100">
              <a:latin typeface="Arial"/>
              <a:cs typeface="Arial"/>
            </a:endParaRPr>
          </a:p>
        </p:txBody>
      </p:sp>
      <p:sp>
        <p:nvSpPr>
          <p:cNvPr id="8" name="object 8"/>
          <p:cNvSpPr txBox="1"/>
          <p:nvPr/>
        </p:nvSpPr>
        <p:spPr>
          <a:xfrm>
            <a:off x="901692" y="4771097"/>
            <a:ext cx="1551305" cy="514350"/>
          </a:xfrm>
          <a:prstGeom prst="rect">
            <a:avLst/>
          </a:prstGeom>
        </p:spPr>
        <p:txBody>
          <a:bodyPr wrap="square" lIns="0" tIns="22860" rIns="0" bIns="0" rtlCol="0" vert="horz">
            <a:spAutoFit/>
          </a:bodyPr>
          <a:lstStyle/>
          <a:p>
            <a:pPr marL="12700" marR="5080">
              <a:lnSpc>
                <a:spcPts val="1270"/>
              </a:lnSpc>
              <a:spcBef>
                <a:spcPts val="180"/>
              </a:spcBef>
              <a:tabLst>
                <a:tab pos="612140" algn="l"/>
                <a:tab pos="736600" algn="l"/>
                <a:tab pos="830580" algn="l"/>
                <a:tab pos="862330" algn="l"/>
                <a:tab pos="1421765" algn="l"/>
              </a:tabLst>
            </a:pPr>
            <a:r>
              <a:rPr dirty="0" sz="1100" spc="-5">
                <a:latin typeface="Arial"/>
                <a:cs typeface="Arial"/>
              </a:rPr>
              <a:t>average</a:t>
            </a:r>
            <a:r>
              <a:rPr dirty="0" sz="1100" spc="-5">
                <a:latin typeface="Arial"/>
                <a:cs typeface="Arial"/>
              </a:rPr>
              <a:t>		</a:t>
            </a:r>
            <a:r>
              <a:rPr dirty="0" sz="1100" spc="-5">
                <a:latin typeface="Arial"/>
                <a:cs typeface="Arial"/>
              </a:rPr>
              <a:t>product</a:t>
            </a:r>
            <a:r>
              <a:rPr dirty="0" sz="1100" spc="-5">
                <a:latin typeface="Arial"/>
                <a:cs typeface="Arial"/>
              </a:rPr>
              <a:t>	</a:t>
            </a:r>
            <a:r>
              <a:rPr dirty="0" sz="1100" spc="-5">
                <a:latin typeface="Arial"/>
                <a:cs typeface="Arial"/>
              </a:rPr>
              <a:t>of  </a:t>
            </a:r>
            <a:r>
              <a:rPr dirty="0" sz="1100" spc="-5">
                <a:latin typeface="Arial"/>
                <a:cs typeface="Arial"/>
              </a:rPr>
              <a:t>workers.			The  product	of			each</a:t>
            </a:r>
            <a:endParaRPr sz="1100">
              <a:latin typeface="Arial"/>
              <a:cs typeface="Arial"/>
            </a:endParaRPr>
          </a:p>
        </p:txBody>
      </p:sp>
      <p:sp>
        <p:nvSpPr>
          <p:cNvPr id="9" name="object 9"/>
          <p:cNvSpPr txBox="1"/>
          <p:nvPr/>
        </p:nvSpPr>
        <p:spPr>
          <a:xfrm>
            <a:off x="2188574" y="4931878"/>
            <a:ext cx="624205" cy="353695"/>
          </a:xfrm>
          <a:prstGeom prst="rect">
            <a:avLst/>
          </a:prstGeom>
        </p:spPr>
        <p:txBody>
          <a:bodyPr wrap="square" lIns="0" tIns="22860" rIns="0" bIns="0" rtlCol="0" vert="horz">
            <a:spAutoFit/>
          </a:bodyPr>
          <a:lstStyle/>
          <a:p>
            <a:pPr marL="12700" marR="5080" indent="62865">
              <a:lnSpc>
                <a:spcPts val="1270"/>
              </a:lnSpc>
              <a:spcBef>
                <a:spcPts val="180"/>
              </a:spcBef>
            </a:pPr>
            <a:r>
              <a:rPr dirty="0" sz="1100" spc="-5">
                <a:latin typeface="Arial"/>
                <a:cs typeface="Arial"/>
              </a:rPr>
              <a:t>marginal  additional</a:t>
            </a:r>
            <a:endParaRPr sz="1100">
              <a:latin typeface="Arial"/>
              <a:cs typeface="Arial"/>
            </a:endParaRPr>
          </a:p>
        </p:txBody>
      </p:sp>
      <p:sp>
        <p:nvSpPr>
          <p:cNvPr id="10" name="object 10"/>
          <p:cNvSpPr txBox="1"/>
          <p:nvPr/>
        </p:nvSpPr>
        <p:spPr>
          <a:xfrm>
            <a:off x="901692" y="5253440"/>
            <a:ext cx="1911985" cy="292354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worker is thus equal to his  average product minus the  decrease in the average  product across all other  workers. If an additional  employee is hired beyond L*,  his cost to the producer, W,  will be greater than his  marginal product, and the  difference will represent a net  loss to the landowner. A profit  maximizer will thus hire L*  workers, with a total output  equal to average product AP*  multiplied by the number of  workers, L*. Scarcity rents  collected by the landowner  will equal</a:t>
            </a:r>
            <a:r>
              <a:rPr dirty="0" sz="1100" spc="40">
                <a:latin typeface="Arial"/>
                <a:cs typeface="Arial"/>
              </a:rPr>
              <a:t> </a:t>
            </a:r>
            <a:r>
              <a:rPr dirty="0" sz="1100" spc="-5">
                <a:latin typeface="Arial"/>
                <a:cs typeface="Arial"/>
              </a:rPr>
              <a:t>AP*CDW.</a:t>
            </a:r>
            <a:endParaRPr sz="1100">
              <a:latin typeface="Arial"/>
              <a:cs typeface="Arial"/>
            </a:endParaRPr>
          </a:p>
        </p:txBody>
      </p:sp>
      <p:sp>
        <p:nvSpPr>
          <p:cNvPr id="11" name="object 11"/>
          <p:cNvSpPr/>
          <p:nvPr/>
        </p:nvSpPr>
        <p:spPr>
          <a:xfrm>
            <a:off x="2914650" y="4574285"/>
            <a:ext cx="3962400" cy="4556519"/>
          </a:xfrm>
          <a:prstGeom prst="rect">
            <a:avLst/>
          </a:prstGeom>
          <a:blipFill>
            <a:blip r:embed="rId2" cstate="print"/>
            <a:stretch>
              <a:fillRect/>
            </a:stretch>
          </a:blipFill>
        </p:spPr>
        <p:txBody>
          <a:bodyPr wrap="square" lIns="0" tIns="0" rIns="0" bIns="0" rtlCol="0"/>
          <a:lstStyle/>
          <a:p/>
        </p:txBody>
      </p:sp>
      <p:sp>
        <p:nvSpPr>
          <p:cNvPr id="12" name="object 12"/>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3" name="object 13"/>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216</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397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Society’s total net benefit from land will be lower under a system of common property unless  workers can coordinate their resource use decisions in a cooperative manner. Generally, if land  is commonly owned, </a:t>
            </a:r>
            <a:r>
              <a:rPr dirty="0" sz="1100">
                <a:latin typeface="Arial"/>
                <a:cs typeface="Arial"/>
              </a:rPr>
              <a:t>each </a:t>
            </a:r>
            <a:r>
              <a:rPr dirty="0" sz="1100" spc="-5">
                <a:latin typeface="Arial"/>
                <a:cs typeface="Arial"/>
              </a:rPr>
              <a:t>worker is able to appropriate the entire product of his work, which is  equal to the average product of all workers. Worker income will continue to exceed the wage  until enough workers are attracted so that the average product falls to the level of </a:t>
            </a:r>
            <a:r>
              <a:rPr dirty="0" sz="1100">
                <a:latin typeface="Arial"/>
                <a:cs typeface="Arial"/>
              </a:rPr>
              <a:t>the </a:t>
            </a:r>
            <a:r>
              <a:rPr dirty="0" sz="1100" spc="-5">
                <a:latin typeface="Arial"/>
                <a:cs typeface="Arial"/>
              </a:rPr>
              <a:t>wage, </a:t>
            </a:r>
            <a:r>
              <a:rPr dirty="0" sz="1100">
                <a:latin typeface="Arial"/>
                <a:cs typeface="Arial"/>
              </a:rPr>
              <a:t>at  </a:t>
            </a:r>
            <a:r>
              <a:rPr dirty="0" sz="1100" spc="-5">
                <a:latin typeface="Arial"/>
                <a:cs typeface="Arial"/>
              </a:rPr>
              <a:t>which point the labor force equals LC. Though total output may either rise or fall (depending on  whether MPL is positive or negative—it is </a:t>
            </a:r>
            <a:r>
              <a:rPr dirty="0" sz="1100">
                <a:latin typeface="Arial"/>
                <a:cs typeface="Arial"/>
              </a:rPr>
              <a:t>negative </a:t>
            </a:r>
            <a:r>
              <a:rPr dirty="0" sz="1100" spc="-5">
                <a:latin typeface="Arial"/>
                <a:cs typeface="Arial"/>
              </a:rPr>
              <a:t>as drawn in Figure 10.3), the marginal  product of the additional workers is below the wage. Because we are assuming that all workers  could be employed elsewhere with productivity equal to or greater than W, it follows that social  welfare must fall when marginal product falls below W. This situation is sometimes referred to  as the “tragedy of the commons.” No scarcity rent is collected at LC. The implication of the  common property resource model is that where possible, privatization of resources will lead to  an increase in aggregate welfare and an efficient allocation of</a:t>
            </a:r>
            <a:r>
              <a:rPr dirty="0" sz="1100" spc="50">
                <a:latin typeface="Arial"/>
                <a:cs typeface="Arial"/>
              </a:rPr>
              <a:t> </a:t>
            </a:r>
            <a:r>
              <a:rPr dirty="0" sz="1100" spc="-5">
                <a:latin typeface="Arial"/>
                <a:cs typeface="Arial"/>
              </a:rPr>
              <a:t>resources.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Note that these neoclassical models are strictly concerned with efficiency and do not address  issues related to equity. Income distribution is not considered, and the theory is unconcerned  with the distributional issues arising when all scarcity rents from national resources accrue to a  few private owners. Although neoclassical theorists have sometimes suggested that an optimal  outcome </a:t>
            </a:r>
            <a:r>
              <a:rPr dirty="0" sz="1100">
                <a:latin typeface="Arial"/>
                <a:cs typeface="Arial"/>
              </a:rPr>
              <a:t>may </a:t>
            </a:r>
            <a:r>
              <a:rPr dirty="0" sz="1100" spc="-5">
                <a:latin typeface="Arial"/>
                <a:cs typeface="Arial"/>
              </a:rPr>
              <a:t>be achieved through the taxation and then “lump sum” redistribution of the gains  accruing to the owners of scarce natural resources, the historical record for such efforts is not  encouraging. This is especially true where </a:t>
            </a:r>
            <a:r>
              <a:rPr dirty="0" sz="1100">
                <a:latin typeface="Arial"/>
                <a:cs typeface="Arial"/>
              </a:rPr>
              <a:t>the </a:t>
            </a:r>
            <a:r>
              <a:rPr dirty="0" sz="1100" spc="-5">
                <a:latin typeface="Arial"/>
                <a:cs typeface="Arial"/>
              </a:rPr>
              <a:t>authorities responsible for legislating and  coordinating such redistributions are also the owners. Thus the large-scale commercial  privatization of resources does not necessarily ensure an improvement </a:t>
            </a:r>
            <a:r>
              <a:rPr dirty="0" sz="1100">
                <a:latin typeface="Arial"/>
                <a:cs typeface="Arial"/>
              </a:rPr>
              <a:t>in </a:t>
            </a:r>
            <a:r>
              <a:rPr dirty="0" sz="1100" spc="-5">
                <a:latin typeface="Arial"/>
                <a:cs typeface="Arial"/>
              </a:rPr>
              <a:t>standards of living for  the impoverished</a:t>
            </a:r>
            <a:r>
              <a:rPr dirty="0" sz="1100" spc="5">
                <a:latin typeface="Arial"/>
                <a:cs typeface="Arial"/>
              </a:rPr>
              <a:t> </a:t>
            </a:r>
            <a:r>
              <a:rPr dirty="0" sz="1100" spc="-5">
                <a:latin typeface="Arial"/>
                <a:cs typeface="Arial"/>
              </a:rPr>
              <a:t>majority.</a:t>
            </a:r>
            <a:endParaRPr sz="1100">
              <a:latin typeface="Arial"/>
              <a:cs typeface="Arial"/>
            </a:endParaRPr>
          </a:p>
          <a:p>
            <a:pPr>
              <a:lnSpc>
                <a:spcPct val="100000"/>
              </a:lnSpc>
              <a:spcBef>
                <a:spcPts val="30"/>
              </a:spcBef>
            </a:pPr>
            <a:endParaRPr sz="1100">
              <a:latin typeface="Arial"/>
              <a:cs typeface="Arial"/>
            </a:endParaRPr>
          </a:p>
          <a:p>
            <a:pPr algn="just" marL="12700" marR="7620">
              <a:lnSpc>
                <a:spcPts val="1270"/>
              </a:lnSpc>
            </a:pPr>
            <a:r>
              <a:rPr dirty="0" sz="1100" spc="-10" b="1">
                <a:latin typeface="Arial"/>
                <a:cs typeface="Arial"/>
              </a:rPr>
              <a:t>PUBLIC GOODS </a:t>
            </a:r>
            <a:r>
              <a:rPr dirty="0" sz="1100" spc="-5" b="1">
                <a:latin typeface="Arial"/>
                <a:cs typeface="Arial"/>
              </a:rPr>
              <a:t>AND BADS: REGIONAL ENVIRONMENTAL DEGRADATION AND THE  FREE-RIDER </a:t>
            </a:r>
            <a:r>
              <a:rPr dirty="0" sz="1100" b="1">
                <a:latin typeface="Arial"/>
                <a:cs typeface="Arial"/>
              </a:rPr>
              <a:t>PROBLEM</a:t>
            </a:r>
            <a:endParaRPr sz="1100">
              <a:latin typeface="Arial"/>
              <a:cs typeface="Arial"/>
            </a:endParaRPr>
          </a:p>
          <a:p>
            <a:pPr>
              <a:lnSpc>
                <a:spcPct val="100000"/>
              </a:lnSpc>
              <a:spcBef>
                <a:spcPts val="15"/>
              </a:spcBef>
            </a:pPr>
            <a:endParaRPr sz="1150">
              <a:latin typeface="Arial"/>
              <a:cs typeface="Arial"/>
            </a:endParaRPr>
          </a:p>
          <a:p>
            <a:pPr algn="just" marL="12700" marR="5715">
              <a:lnSpc>
                <a:spcPct val="95900"/>
              </a:lnSpc>
            </a:pPr>
            <a:r>
              <a:rPr dirty="0" sz="1100" spc="-5">
                <a:latin typeface="Arial"/>
                <a:cs typeface="Arial"/>
              </a:rPr>
              <a:t>In the preceding discussion, the core economic problem was that each additional worker who  joined those cultivating commonly held land created a negative externality by lowering the  returns to all other workers without providing any compensation. An externality occurs when one  person’s consumption or production behavior affects that of another without any compensation.  The benefits and costs of one’s actions are said to be internalized when one is made to bear  them in full. In the previous common property problem, the externalities associated with  decreasing average product were easily internalized by reestablishing perfect property markets  through the privatization of public property. In many cases, the internalization of externalities is  not so easily</a:t>
            </a:r>
            <a:r>
              <a:rPr dirty="0" sz="1100" spc="5">
                <a:latin typeface="Arial"/>
                <a:cs typeface="Arial"/>
              </a:rPr>
              <a:t> </a:t>
            </a:r>
            <a:r>
              <a:rPr dirty="0" sz="1100" spc="-5">
                <a:latin typeface="Arial"/>
                <a:cs typeface="Arial"/>
              </a:rPr>
              <a:t>accomplished.</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This is especially the case where the consequences of an individual’s actions constitute a public  good or a public bad. A public good is anything that provides a benefit to everyone and the  availability of which is in no way diminished by its simultaneous enjoyment by others. Common  examples include clean air, economic institutions, and national defense. A public bad is any  product or condition that decreases the well-being of others in a non-exhaustive manner. Air  pollution and water pollution are examples. Intuitively, it is clear that given the fact that  individuals do not pay the full costs associated with their actions, too much of a public bad will  be produced. The result is a socially non-optimal outcome. We will demonstrate this shortly  using a diagrammatic representation. Public goods can be local, national, or, as with  greenhouse gases, even global in</a:t>
            </a:r>
            <a:r>
              <a:rPr dirty="0" sz="1100" spc="10">
                <a:latin typeface="Arial"/>
                <a:cs typeface="Arial"/>
              </a:rPr>
              <a:t> </a:t>
            </a:r>
            <a:r>
              <a:rPr dirty="0" sz="1100" spc="-5">
                <a:latin typeface="Arial"/>
                <a:cs typeface="Arial"/>
              </a:rPr>
              <a:t>scope.</a:t>
            </a:r>
            <a:endParaRPr sz="1100">
              <a:latin typeface="Arial"/>
              <a:cs typeface="Arial"/>
            </a:endParaRPr>
          </a:p>
          <a:p>
            <a:pPr>
              <a:lnSpc>
                <a:spcPct val="100000"/>
              </a:lnSpc>
              <a:spcBef>
                <a:spcPts val="30"/>
              </a:spcBef>
            </a:pPr>
            <a:endParaRPr sz="1100">
              <a:latin typeface="Arial"/>
              <a:cs typeface="Arial"/>
            </a:endParaRPr>
          </a:p>
          <a:p>
            <a:pPr algn="just" marL="12700" marR="6985">
              <a:lnSpc>
                <a:spcPts val="1270"/>
              </a:lnSpc>
            </a:pPr>
            <a:r>
              <a:rPr dirty="0" sz="1100" spc="-5">
                <a:latin typeface="Arial"/>
                <a:cs typeface="Arial"/>
              </a:rPr>
              <a:t>Let us consider the case of a particular </a:t>
            </a:r>
            <a:r>
              <a:rPr dirty="0" sz="1100">
                <a:latin typeface="Arial"/>
                <a:cs typeface="Arial"/>
              </a:rPr>
              <a:t>public </a:t>
            </a:r>
            <a:r>
              <a:rPr dirty="0" sz="1100" spc="-5">
                <a:latin typeface="Arial"/>
                <a:cs typeface="Arial"/>
              </a:rPr>
              <a:t>bad, regional environmental degradation caused  by</a:t>
            </a:r>
            <a:r>
              <a:rPr dirty="0" sz="1100" spc="254">
                <a:latin typeface="Arial"/>
                <a:cs typeface="Arial"/>
              </a:rPr>
              <a:t> </a:t>
            </a:r>
            <a:r>
              <a:rPr dirty="0" sz="1100" spc="-5">
                <a:latin typeface="Arial"/>
                <a:cs typeface="Arial"/>
              </a:rPr>
              <a:t>deforestation.</a:t>
            </a:r>
            <a:r>
              <a:rPr dirty="0" sz="1100" spc="254">
                <a:latin typeface="Arial"/>
                <a:cs typeface="Arial"/>
              </a:rPr>
              <a:t> </a:t>
            </a:r>
            <a:r>
              <a:rPr dirty="0" sz="1100" spc="-5">
                <a:latin typeface="Arial"/>
                <a:cs typeface="Arial"/>
              </a:rPr>
              <a:t>Increased</a:t>
            </a:r>
            <a:r>
              <a:rPr dirty="0" sz="1100" spc="260">
                <a:latin typeface="Arial"/>
                <a:cs typeface="Arial"/>
              </a:rPr>
              <a:t> </a:t>
            </a:r>
            <a:r>
              <a:rPr dirty="0" sz="1100" spc="-5">
                <a:latin typeface="Arial"/>
                <a:cs typeface="Arial"/>
              </a:rPr>
              <a:t>exposure</a:t>
            </a:r>
            <a:r>
              <a:rPr dirty="0" sz="1100" spc="254">
                <a:latin typeface="Arial"/>
                <a:cs typeface="Arial"/>
              </a:rPr>
              <a:t> </a:t>
            </a:r>
            <a:r>
              <a:rPr dirty="0" sz="1100" spc="-5">
                <a:latin typeface="Arial"/>
                <a:cs typeface="Arial"/>
              </a:rPr>
              <a:t>to</a:t>
            </a:r>
            <a:r>
              <a:rPr dirty="0" sz="1100" spc="260">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forces</a:t>
            </a:r>
            <a:r>
              <a:rPr dirty="0" sz="1100" spc="260">
                <a:latin typeface="Arial"/>
                <a:cs typeface="Arial"/>
              </a:rPr>
              <a:t> </a:t>
            </a:r>
            <a:r>
              <a:rPr dirty="0" sz="1100" spc="-5">
                <a:latin typeface="Arial"/>
                <a:cs typeface="Arial"/>
              </a:rPr>
              <a:t>of</a:t>
            </a:r>
            <a:r>
              <a:rPr dirty="0" sz="1100" spc="254">
                <a:latin typeface="Arial"/>
                <a:cs typeface="Arial"/>
              </a:rPr>
              <a:t> </a:t>
            </a:r>
            <a:r>
              <a:rPr dirty="0" sz="1100" spc="-5">
                <a:latin typeface="Arial"/>
                <a:cs typeface="Arial"/>
              </a:rPr>
              <a:t>erosion,</a:t>
            </a:r>
            <a:r>
              <a:rPr dirty="0" sz="1100" spc="254">
                <a:latin typeface="Arial"/>
                <a:cs typeface="Arial"/>
              </a:rPr>
              <a:t> </a:t>
            </a:r>
            <a:r>
              <a:rPr dirty="0" sz="1100" spc="-5">
                <a:latin typeface="Arial"/>
                <a:cs typeface="Arial"/>
              </a:rPr>
              <a:t>excessive</a:t>
            </a:r>
            <a:r>
              <a:rPr dirty="0" sz="1100" spc="260">
                <a:latin typeface="Arial"/>
                <a:cs typeface="Arial"/>
              </a:rPr>
              <a:t> </a:t>
            </a:r>
            <a:r>
              <a:rPr dirty="0" sz="1100" spc="-5">
                <a:latin typeface="Arial"/>
                <a:cs typeface="Arial"/>
              </a:rPr>
              <a:t>drying</a:t>
            </a:r>
            <a:r>
              <a:rPr dirty="0" sz="1100" spc="254">
                <a:latin typeface="Arial"/>
                <a:cs typeface="Arial"/>
              </a:rPr>
              <a:t> </a:t>
            </a:r>
            <a:r>
              <a:rPr dirty="0" sz="1100" spc="-5">
                <a:latin typeface="Arial"/>
                <a:cs typeface="Arial"/>
              </a:rPr>
              <a:t>of</a:t>
            </a:r>
            <a:r>
              <a:rPr dirty="0" sz="1100" spc="260">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soil,</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217</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3566160"/>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regional loss of groundwater, silting or pollution of public water supplies, and potential climatic  changes are all public bads associated with the clear-cutting or burning of trees. Whether these  trees are on private or commonly held property, the clearing of protective ground cover, either  for cultivation or for the extraction of timber, may lead to more widespread regional  environmental degradation. To simplify our analysis, we will translate this public-bad problem  into a public-good framework. Environmental conservation through the protection of trees  provides a benefit to all and is thus a public</a:t>
            </a:r>
            <a:r>
              <a:rPr dirty="0" sz="1100" spc="40">
                <a:latin typeface="Arial"/>
                <a:cs typeface="Arial"/>
              </a:rPr>
              <a:t> </a:t>
            </a:r>
            <a:r>
              <a:rPr dirty="0" sz="1100" spc="-5">
                <a:latin typeface="Arial"/>
                <a:cs typeface="Arial"/>
              </a:rPr>
              <a:t>good.</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most obvious difference between a public good and a purely private good is that aggregate  demand for the public resource is determined by summing individual demand curves vertically,  as in Figure 10.4a, rather than horizontally, as is the case for private goods as illustrated in  Figure 10.4b. The difference results from the </a:t>
            </a:r>
            <a:r>
              <a:rPr dirty="0" sz="1100">
                <a:latin typeface="Arial"/>
                <a:cs typeface="Arial"/>
              </a:rPr>
              <a:t>fact </a:t>
            </a:r>
            <a:r>
              <a:rPr dirty="0" sz="1100" spc="-5">
                <a:latin typeface="Arial"/>
                <a:cs typeface="Arial"/>
              </a:rPr>
              <a:t>that many individuals may enjoy </a:t>
            </a:r>
            <a:r>
              <a:rPr dirty="0" sz="1100">
                <a:latin typeface="Arial"/>
                <a:cs typeface="Arial"/>
              </a:rPr>
              <a:t>the </a:t>
            </a:r>
            <a:r>
              <a:rPr dirty="0" sz="1100" spc="-5">
                <a:latin typeface="Arial"/>
                <a:cs typeface="Arial"/>
              </a:rPr>
              <a:t>same unit  of a public good but only one may benefit from a unit of a normal, private consumption good.  Through vertical summation, we are sure to capture all benefits accruing to all individuals from  each unit of a public good. The marginal cost associated with the preservation of </a:t>
            </a:r>
            <a:r>
              <a:rPr dirty="0" sz="1100">
                <a:latin typeface="Arial"/>
                <a:cs typeface="Arial"/>
              </a:rPr>
              <a:t>an </a:t>
            </a:r>
            <a:r>
              <a:rPr dirty="0" sz="1100" spc="-5">
                <a:latin typeface="Arial"/>
                <a:cs typeface="Arial"/>
              </a:rPr>
              <a:t>additional  tree is equal to the forestry maintenance cost plus the opportunity cost of the tree, that is, the  most valuable alternative use of the tree, such as for firewood, charcoal, animal fodder, or  lumber. Figure 10.4 illustrates the problem of pricing public</a:t>
            </a:r>
            <a:r>
              <a:rPr dirty="0" sz="1100" spc="55">
                <a:latin typeface="Arial"/>
                <a:cs typeface="Arial"/>
              </a:rPr>
              <a:t> </a:t>
            </a:r>
            <a:r>
              <a:rPr dirty="0" sz="1100" spc="-5">
                <a:latin typeface="Arial"/>
                <a:cs typeface="Arial"/>
              </a:rPr>
              <a:t>goods.</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In Figure 10.4a, the socially optimal number of trees is Q*. It is determined by the intersection of  the (vertically summed) aggregate demand curve with the supply (MC) curve. At Q*, total net  benefits</a:t>
            </a:r>
            <a:r>
              <a:rPr dirty="0" sz="1100" spc="105">
                <a:latin typeface="Arial"/>
                <a:cs typeface="Arial"/>
              </a:rPr>
              <a:t> </a:t>
            </a:r>
            <a:r>
              <a:rPr dirty="0" sz="1100" spc="-5">
                <a:latin typeface="Arial"/>
                <a:cs typeface="Arial"/>
              </a:rPr>
              <a:t>to</a:t>
            </a:r>
            <a:r>
              <a:rPr dirty="0" sz="1100" spc="105">
                <a:latin typeface="Arial"/>
                <a:cs typeface="Arial"/>
              </a:rPr>
              <a:t> </a:t>
            </a:r>
            <a:r>
              <a:rPr dirty="0" sz="1100" spc="-5">
                <a:latin typeface="Arial"/>
                <a:cs typeface="Arial"/>
              </a:rPr>
              <a:t>society</a:t>
            </a:r>
            <a:r>
              <a:rPr dirty="0" sz="1100" spc="110">
                <a:latin typeface="Arial"/>
                <a:cs typeface="Arial"/>
              </a:rPr>
              <a:t> </a:t>
            </a:r>
            <a:r>
              <a:rPr dirty="0" sz="1100" spc="-5">
                <a:latin typeface="Arial"/>
                <a:cs typeface="Arial"/>
              </a:rPr>
              <a:t>from</a:t>
            </a:r>
            <a:r>
              <a:rPr dirty="0" sz="1100" spc="105">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public</a:t>
            </a:r>
            <a:r>
              <a:rPr dirty="0" sz="1100" spc="110">
                <a:latin typeface="Arial"/>
                <a:cs typeface="Arial"/>
              </a:rPr>
              <a:t> </a:t>
            </a:r>
            <a:r>
              <a:rPr dirty="0" sz="1100" spc="-5">
                <a:latin typeface="Arial"/>
                <a:cs typeface="Arial"/>
              </a:rPr>
              <a:t>good,</a:t>
            </a:r>
            <a:r>
              <a:rPr dirty="0" sz="1100" spc="105">
                <a:latin typeface="Arial"/>
                <a:cs typeface="Arial"/>
              </a:rPr>
              <a:t> </a:t>
            </a:r>
            <a:r>
              <a:rPr dirty="0" sz="1100" spc="-5">
                <a:latin typeface="Arial"/>
                <a:cs typeface="Arial"/>
              </a:rPr>
              <a:t>PMDc,</a:t>
            </a:r>
            <a:r>
              <a:rPr dirty="0" sz="1100" spc="114">
                <a:latin typeface="Arial"/>
                <a:cs typeface="Arial"/>
              </a:rPr>
              <a:t> </a:t>
            </a:r>
            <a:r>
              <a:rPr dirty="0" sz="1100" spc="-5">
                <a:latin typeface="Arial"/>
                <a:cs typeface="Arial"/>
              </a:rPr>
              <a:t>are</a:t>
            </a:r>
            <a:r>
              <a:rPr dirty="0" sz="1100" spc="110">
                <a:latin typeface="Arial"/>
                <a:cs typeface="Arial"/>
              </a:rPr>
              <a:t> </a:t>
            </a:r>
            <a:r>
              <a:rPr dirty="0" sz="1100" spc="-5">
                <a:latin typeface="Arial"/>
                <a:cs typeface="Arial"/>
              </a:rPr>
              <a:t>maximized.</a:t>
            </a:r>
            <a:r>
              <a:rPr dirty="0" sz="1100" spc="110">
                <a:latin typeface="Arial"/>
                <a:cs typeface="Arial"/>
              </a:rPr>
              <a:t> </a:t>
            </a:r>
            <a:r>
              <a:rPr dirty="0" sz="1100" spc="-5">
                <a:latin typeface="Arial"/>
                <a:cs typeface="Arial"/>
              </a:rPr>
              <a:t>However,</a:t>
            </a:r>
            <a:r>
              <a:rPr dirty="0" sz="1100" spc="105">
                <a:latin typeface="Arial"/>
                <a:cs typeface="Arial"/>
              </a:rPr>
              <a:t> </a:t>
            </a:r>
            <a:r>
              <a:rPr dirty="0" sz="1100" spc="-5">
                <a:latin typeface="Arial"/>
                <a:cs typeface="Arial"/>
              </a:rPr>
              <a:t>due</a:t>
            </a:r>
            <a:r>
              <a:rPr dirty="0" sz="1100" spc="110">
                <a:latin typeface="Arial"/>
                <a:cs typeface="Arial"/>
              </a:rPr>
              <a:t> </a:t>
            </a:r>
            <a:r>
              <a:rPr dirty="0" sz="1100" spc="-5">
                <a:latin typeface="Arial"/>
                <a:cs typeface="Arial"/>
              </a:rPr>
              <a:t>to</a:t>
            </a:r>
            <a:r>
              <a:rPr dirty="0" sz="1100" spc="110">
                <a:latin typeface="Arial"/>
                <a:cs typeface="Arial"/>
              </a:rPr>
              <a:t> </a:t>
            </a:r>
            <a:r>
              <a:rPr dirty="0" sz="1100" spc="-5">
                <a:latin typeface="Arial"/>
                <a:cs typeface="Arial"/>
              </a:rPr>
              <a:t>what</a:t>
            </a:r>
            <a:r>
              <a:rPr dirty="0" sz="1100" spc="105">
                <a:latin typeface="Arial"/>
                <a:cs typeface="Arial"/>
              </a:rPr>
              <a:t> </a:t>
            </a:r>
            <a:r>
              <a:rPr dirty="0" sz="1100" spc="-5">
                <a:latin typeface="Arial"/>
                <a:cs typeface="Arial"/>
              </a:rPr>
              <a:t>we</a:t>
            </a:r>
            <a:r>
              <a:rPr dirty="0" sz="1100" spc="110">
                <a:latin typeface="Arial"/>
                <a:cs typeface="Arial"/>
              </a:rPr>
              <a:t> </a:t>
            </a:r>
            <a:r>
              <a:rPr dirty="0" sz="1100" spc="-5">
                <a:latin typeface="Arial"/>
                <a:cs typeface="Arial"/>
              </a:rPr>
              <a:t>call</a:t>
            </a:r>
            <a:endParaRPr sz="1100">
              <a:latin typeface="Arial"/>
              <a:cs typeface="Arial"/>
            </a:endParaRPr>
          </a:p>
        </p:txBody>
      </p:sp>
      <p:sp>
        <p:nvSpPr>
          <p:cNvPr id="7" name="object 7"/>
          <p:cNvSpPr txBox="1"/>
          <p:nvPr/>
        </p:nvSpPr>
        <p:spPr>
          <a:xfrm>
            <a:off x="901700" y="7887674"/>
            <a:ext cx="5969635" cy="11569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free-rider problem, the free market will not lead to this optimal quantity. Because individuals  are able to enjoy the benefits of trees provided by others, each will contribute less than what he  or she would if acting independently. At a price of PM, the free market will satisfy person B’s  demand QB while not denying person A’s requirements of QA; that is, A can free ride on B’s  contribution. The market will therefore provide a suboptimal level of forest preservation, QB. To  restore optimality (Q* of the public good), some </a:t>
            </a:r>
            <a:r>
              <a:rPr dirty="0" sz="1100">
                <a:latin typeface="Arial"/>
                <a:cs typeface="Arial"/>
              </a:rPr>
              <a:t>form </a:t>
            </a:r>
            <a:r>
              <a:rPr dirty="0" sz="1100" spc="-5">
                <a:latin typeface="Arial"/>
                <a:cs typeface="Arial"/>
              </a:rPr>
              <a:t>of government intervention is required. The  most effective solution is to charge each consumer just enough </a:t>
            </a:r>
            <a:r>
              <a:rPr dirty="0" sz="1100">
                <a:latin typeface="Arial"/>
                <a:cs typeface="Arial"/>
              </a:rPr>
              <a:t>per </a:t>
            </a:r>
            <a:r>
              <a:rPr dirty="0" sz="1100" spc="-5">
                <a:latin typeface="Arial"/>
                <a:cs typeface="Arial"/>
              </a:rPr>
              <a:t>unit, PA and PB</a:t>
            </a:r>
            <a:r>
              <a:rPr dirty="0" sz="1100" spc="235">
                <a:latin typeface="Arial"/>
                <a:cs typeface="Arial"/>
              </a:rPr>
              <a:t> </a:t>
            </a:r>
            <a:r>
              <a:rPr dirty="0" sz="1100" spc="-5">
                <a:latin typeface="Arial"/>
                <a:cs typeface="Arial"/>
              </a:rPr>
              <a:t>for</a:t>
            </a:r>
            <a:endParaRPr sz="1100">
              <a:latin typeface="Arial"/>
              <a:cs typeface="Arial"/>
            </a:endParaRPr>
          </a:p>
        </p:txBody>
      </p:sp>
      <p:sp>
        <p:nvSpPr>
          <p:cNvPr id="8" name="object 8"/>
          <p:cNvSpPr/>
          <p:nvPr/>
        </p:nvSpPr>
        <p:spPr>
          <a:xfrm>
            <a:off x="933450" y="4460747"/>
            <a:ext cx="5943600" cy="34480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218</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individuals A and B, respectively, to entice each of them to demand the preservation of the  optimal</a:t>
            </a:r>
            <a:r>
              <a:rPr dirty="0" sz="1100" spc="290">
                <a:latin typeface="Arial"/>
                <a:cs typeface="Arial"/>
              </a:rPr>
              <a:t> </a:t>
            </a:r>
            <a:r>
              <a:rPr dirty="0" sz="1100" spc="-5">
                <a:latin typeface="Arial"/>
                <a:cs typeface="Arial"/>
              </a:rPr>
              <a:t>quantity</a:t>
            </a:r>
            <a:r>
              <a:rPr dirty="0" sz="1100" spc="290">
                <a:latin typeface="Arial"/>
                <a:cs typeface="Arial"/>
              </a:rPr>
              <a:t> </a:t>
            </a:r>
            <a:r>
              <a:rPr dirty="0" sz="1100" spc="-5">
                <a:latin typeface="Arial"/>
                <a:cs typeface="Arial"/>
              </a:rPr>
              <a:t>of</a:t>
            </a:r>
            <a:r>
              <a:rPr dirty="0" sz="1100" spc="290">
                <a:latin typeface="Arial"/>
                <a:cs typeface="Arial"/>
              </a:rPr>
              <a:t> </a:t>
            </a:r>
            <a:r>
              <a:rPr dirty="0" sz="1100" spc="-5">
                <a:latin typeface="Arial"/>
                <a:cs typeface="Arial"/>
              </a:rPr>
              <a:t>trees,  Q*.</a:t>
            </a:r>
            <a:r>
              <a:rPr dirty="0" sz="1100" spc="290">
                <a:latin typeface="Arial"/>
                <a:cs typeface="Arial"/>
              </a:rPr>
              <a:t> </a:t>
            </a:r>
            <a:r>
              <a:rPr dirty="0" sz="1100" spc="-5">
                <a:latin typeface="Arial"/>
                <a:cs typeface="Arial"/>
              </a:rPr>
              <a:t>Their</a:t>
            </a:r>
            <a:r>
              <a:rPr dirty="0" sz="1100" spc="290">
                <a:latin typeface="Arial"/>
                <a:cs typeface="Arial"/>
              </a:rPr>
              <a:t> </a:t>
            </a:r>
            <a:r>
              <a:rPr dirty="0" sz="1100" spc="-5">
                <a:latin typeface="Arial"/>
                <a:cs typeface="Arial"/>
              </a:rPr>
              <a:t>joint</a:t>
            </a:r>
            <a:r>
              <a:rPr dirty="0" sz="1100" spc="295">
                <a:latin typeface="Arial"/>
                <a:cs typeface="Arial"/>
              </a:rPr>
              <a:t> </a:t>
            </a:r>
            <a:r>
              <a:rPr dirty="0" sz="1100" spc="-5">
                <a:latin typeface="Arial"/>
                <a:cs typeface="Arial"/>
              </a:rPr>
              <a:t>payments,</a:t>
            </a:r>
            <a:r>
              <a:rPr dirty="0" sz="1100" spc="290">
                <a:latin typeface="Arial"/>
                <a:cs typeface="Arial"/>
              </a:rPr>
              <a:t> </a:t>
            </a:r>
            <a:r>
              <a:rPr dirty="0" sz="1100" spc="-5">
                <a:latin typeface="Arial"/>
                <a:cs typeface="Arial"/>
              </a:rPr>
              <a:t>PA</a:t>
            </a:r>
            <a:r>
              <a:rPr dirty="0" sz="1100" spc="290">
                <a:latin typeface="Arial"/>
                <a:cs typeface="Arial"/>
              </a:rPr>
              <a:t> </a:t>
            </a:r>
            <a:r>
              <a:rPr dirty="0" sz="1100" spc="85">
                <a:latin typeface="Arial"/>
                <a:cs typeface="Arial"/>
              </a:rPr>
              <a:t>&lt;&lt;</a:t>
            </a:r>
            <a:r>
              <a:rPr dirty="0" sz="1100" spc="-120">
                <a:latin typeface="Arial"/>
                <a:cs typeface="Arial"/>
              </a:rPr>
              <a:t> </a:t>
            </a:r>
            <a:r>
              <a:rPr dirty="0" sz="1100" spc="-5">
                <a:latin typeface="Arial"/>
                <a:cs typeface="Arial"/>
              </a:rPr>
              <a:t>Q*</a:t>
            </a:r>
            <a:r>
              <a:rPr dirty="0" sz="1100" spc="290">
                <a:latin typeface="Arial"/>
                <a:cs typeface="Arial"/>
              </a:rPr>
              <a:t> </a:t>
            </a:r>
            <a:r>
              <a:rPr dirty="0" sz="1100" spc="-5">
                <a:latin typeface="Arial"/>
                <a:cs typeface="Arial"/>
              </a:rPr>
              <a:t>for</a:t>
            </a:r>
            <a:r>
              <a:rPr dirty="0" sz="1100" spc="290">
                <a:latin typeface="Arial"/>
                <a:cs typeface="Arial"/>
              </a:rPr>
              <a:t> </a:t>
            </a:r>
            <a:r>
              <a:rPr dirty="0" sz="1100" spc="-5">
                <a:latin typeface="Arial"/>
                <a:cs typeface="Arial"/>
              </a:rPr>
              <a:t>A</a:t>
            </a:r>
            <a:r>
              <a:rPr dirty="0" sz="1100">
                <a:latin typeface="Arial"/>
                <a:cs typeface="Arial"/>
              </a:rPr>
              <a:t> </a:t>
            </a:r>
            <a:r>
              <a:rPr dirty="0" sz="1100" spc="-5">
                <a:latin typeface="Arial"/>
                <a:cs typeface="Arial"/>
              </a:rPr>
              <a:t>plus</a:t>
            </a:r>
            <a:r>
              <a:rPr dirty="0" sz="1100" spc="290">
                <a:latin typeface="Arial"/>
                <a:cs typeface="Arial"/>
              </a:rPr>
              <a:t> </a:t>
            </a:r>
            <a:r>
              <a:rPr dirty="0" sz="1100" spc="-5">
                <a:latin typeface="Arial"/>
                <a:cs typeface="Arial"/>
              </a:rPr>
              <a:t>PB</a:t>
            </a:r>
            <a:r>
              <a:rPr dirty="0" sz="1100" spc="290">
                <a:latin typeface="Arial"/>
                <a:cs typeface="Arial"/>
              </a:rPr>
              <a:t> </a:t>
            </a:r>
            <a:r>
              <a:rPr dirty="0" sz="1100" spc="85">
                <a:latin typeface="Arial"/>
                <a:cs typeface="Arial"/>
              </a:rPr>
              <a:t>&lt;&lt;</a:t>
            </a:r>
            <a:r>
              <a:rPr dirty="0" sz="1100" spc="-120">
                <a:latin typeface="Arial"/>
                <a:cs typeface="Arial"/>
              </a:rPr>
              <a:t> </a:t>
            </a:r>
            <a:r>
              <a:rPr dirty="0" sz="1100" spc="-5">
                <a:latin typeface="Arial"/>
                <a:cs typeface="Arial"/>
              </a:rPr>
              <a:t>Q*</a:t>
            </a:r>
            <a:r>
              <a:rPr dirty="0" sz="1100" spc="290">
                <a:latin typeface="Arial"/>
                <a:cs typeface="Arial"/>
              </a:rPr>
              <a:t> </a:t>
            </a:r>
            <a:r>
              <a:rPr dirty="0" sz="1100" spc="-5">
                <a:latin typeface="Arial"/>
                <a:cs typeface="Arial"/>
              </a:rPr>
              <a:t>for</a:t>
            </a:r>
            <a:r>
              <a:rPr dirty="0" sz="1100" spc="295">
                <a:latin typeface="Arial"/>
                <a:cs typeface="Arial"/>
              </a:rPr>
              <a:t> </a:t>
            </a:r>
            <a:r>
              <a:rPr dirty="0" sz="1100" spc="-5">
                <a:latin typeface="Arial"/>
                <a:cs typeface="Arial"/>
              </a:rPr>
              <a:t>B,  represent a total contribution equal to PM </a:t>
            </a:r>
            <a:r>
              <a:rPr dirty="0" sz="1100" spc="85">
                <a:latin typeface="Arial"/>
                <a:cs typeface="Arial"/>
              </a:rPr>
              <a:t>&lt;&lt; </a:t>
            </a:r>
            <a:r>
              <a:rPr dirty="0" sz="1100" spc="-5">
                <a:latin typeface="Arial"/>
                <a:cs typeface="Arial"/>
              </a:rPr>
              <a:t>Q*, exactly the sum required to purchase the  socially optimal level of</a:t>
            </a:r>
            <a:r>
              <a:rPr dirty="0" sz="1100" spc="15">
                <a:latin typeface="Arial"/>
                <a:cs typeface="Arial"/>
              </a:rPr>
              <a:t> </a:t>
            </a:r>
            <a:r>
              <a:rPr dirty="0" sz="1100" spc="-5">
                <a:latin typeface="Arial"/>
                <a:cs typeface="Arial"/>
              </a:rPr>
              <a:t>preservation.</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LIMITATIONS OF THE PUBLIC-GOOD</a:t>
            </a:r>
            <a:r>
              <a:rPr dirty="0" sz="1100" spc="15" b="1">
                <a:latin typeface="Arial"/>
                <a:cs typeface="Arial"/>
              </a:rPr>
              <a:t> </a:t>
            </a:r>
            <a:r>
              <a:rPr dirty="0" sz="1100" spc="-5" b="1">
                <a:latin typeface="Arial"/>
                <a:cs typeface="Arial"/>
              </a:rPr>
              <a:t>FRAMEWORK</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problem with the public-good pricing mechanism is, of course, how to know which prices to  charge. People have no incentive to divulge how much </a:t>
            </a:r>
            <a:r>
              <a:rPr dirty="0" sz="1100">
                <a:latin typeface="Arial"/>
                <a:cs typeface="Arial"/>
              </a:rPr>
              <a:t>they </a:t>
            </a:r>
            <a:r>
              <a:rPr dirty="0" sz="1100" spc="-5">
                <a:latin typeface="Arial"/>
                <a:cs typeface="Arial"/>
              </a:rPr>
              <a:t>really benefit from a public good  because by shirking, they </a:t>
            </a:r>
            <a:r>
              <a:rPr dirty="0" sz="1100">
                <a:latin typeface="Arial"/>
                <a:cs typeface="Arial"/>
              </a:rPr>
              <a:t>may </a:t>
            </a:r>
            <a:r>
              <a:rPr dirty="0" sz="1100" spc="-5">
                <a:latin typeface="Arial"/>
                <a:cs typeface="Arial"/>
              </a:rPr>
              <a:t>free-ride on the contributions of others and avoid paying their full  share. A government may be capable of reducing market inefficiencies, but it is unlikely to be  able to produce a perfect allocation of resources due to deficiencies in the information available  to it. Hypothetically, collected fees can be used to provide a public good by preserving existing  forests or managing a sustainable timber production program that will supply the community’s  needed timber. Although charging fees to the people benefiting from the preservation of a  resource may sound practical, it is exceedingly difficult. In a development context, the problems  become even more complicated. When the collection of fees entails taxing deeply impoverished  populations with little or no cash income, such a program becomes impossibility. It would be  equally difficult to collect payment </a:t>
            </a:r>
            <a:r>
              <a:rPr dirty="0" sz="1100">
                <a:latin typeface="Arial"/>
                <a:cs typeface="Arial"/>
              </a:rPr>
              <a:t>from </a:t>
            </a:r>
            <a:r>
              <a:rPr dirty="0" sz="1100" spc="-5">
                <a:latin typeface="Arial"/>
                <a:cs typeface="Arial"/>
              </a:rPr>
              <a:t>people </a:t>
            </a:r>
            <a:r>
              <a:rPr dirty="0" sz="1100">
                <a:latin typeface="Arial"/>
                <a:cs typeface="Arial"/>
              </a:rPr>
              <a:t>who </a:t>
            </a:r>
            <a:r>
              <a:rPr dirty="0" sz="1100" spc="-5">
                <a:latin typeface="Arial"/>
                <a:cs typeface="Arial"/>
              </a:rPr>
              <a:t>are cutting trees to meet subsistence needs.  However, neoclassical theory can be useful </a:t>
            </a:r>
            <a:r>
              <a:rPr dirty="0" sz="1100">
                <a:latin typeface="Arial"/>
                <a:cs typeface="Arial"/>
              </a:rPr>
              <a:t>for </a:t>
            </a:r>
            <a:r>
              <a:rPr dirty="0" sz="1100" spc="-5">
                <a:latin typeface="Arial"/>
                <a:cs typeface="Arial"/>
              </a:rPr>
              <a:t>explaining why market failures lead to the  inefficient allocation of resources in highly commercialized economies and how these  inefficiencies may be</a:t>
            </a:r>
            <a:r>
              <a:rPr dirty="0" sz="1100" spc="10">
                <a:latin typeface="Arial"/>
                <a:cs typeface="Arial"/>
              </a:rPr>
              <a:t> </a:t>
            </a:r>
            <a:r>
              <a:rPr dirty="0" sz="1100" spc="-5">
                <a:latin typeface="Arial"/>
                <a:cs typeface="Arial"/>
              </a:rPr>
              <a:t>mitigated.</a:t>
            </a:r>
            <a:endParaRPr sz="1100">
              <a:latin typeface="Arial"/>
              <a:cs typeface="Arial"/>
            </a:endParaRPr>
          </a:p>
          <a:p>
            <a:pPr marL="12700" marR="2597150">
              <a:lnSpc>
                <a:spcPts val="2650"/>
              </a:lnSpc>
              <a:spcBef>
                <a:spcPts val="200"/>
              </a:spcBef>
            </a:pPr>
            <a:r>
              <a:rPr dirty="0" sz="1100" spc="-5" b="1">
                <a:latin typeface="Arial"/>
                <a:cs typeface="Arial"/>
              </a:rPr>
              <a:t>URBAN DEVELOPMENT AND </a:t>
            </a:r>
            <a:r>
              <a:rPr dirty="0" sz="1100" b="1">
                <a:latin typeface="Arial"/>
                <a:cs typeface="Arial"/>
              </a:rPr>
              <a:t>THE </a:t>
            </a:r>
            <a:r>
              <a:rPr dirty="0" sz="1100" spc="-5" b="1">
                <a:latin typeface="Arial"/>
                <a:cs typeface="Arial"/>
              </a:rPr>
              <a:t>ENVIRONMENT  ENVIRONMENTAL PROBLEMS OF URBAN</a:t>
            </a:r>
            <a:r>
              <a:rPr dirty="0" sz="1100" spc="-25" b="1">
                <a:latin typeface="Arial"/>
                <a:cs typeface="Arial"/>
              </a:rPr>
              <a:t> </a:t>
            </a:r>
            <a:r>
              <a:rPr dirty="0" sz="1100" spc="-5" b="1">
                <a:latin typeface="Arial"/>
                <a:cs typeface="Arial"/>
              </a:rPr>
              <a:t>SLUMS</a:t>
            </a:r>
            <a:endParaRPr sz="1100">
              <a:latin typeface="Arial"/>
              <a:cs typeface="Arial"/>
            </a:endParaRPr>
          </a:p>
          <a:p>
            <a:pPr algn="just" marL="12700" marR="5715">
              <a:lnSpc>
                <a:spcPct val="95800"/>
              </a:lnSpc>
              <a:spcBef>
                <a:spcPts val="1060"/>
              </a:spcBef>
            </a:pPr>
            <a:r>
              <a:rPr dirty="0" sz="1100" spc="-5">
                <a:latin typeface="Arial"/>
                <a:cs typeface="Arial"/>
              </a:rPr>
              <a:t>In some ways, life among the poor in urban slums is similar to that of the poor in rural villages:  Families work long hours, income is uncertain, and difficult trade-offs must be </a:t>
            </a:r>
            <a:r>
              <a:rPr dirty="0" sz="1100">
                <a:latin typeface="Arial"/>
                <a:cs typeface="Arial"/>
              </a:rPr>
              <a:t>made </a:t>
            </a:r>
            <a:r>
              <a:rPr dirty="0" sz="1100" spc="-5">
                <a:latin typeface="Arial"/>
                <a:cs typeface="Arial"/>
              </a:rPr>
              <a:t>between  expenditures on nutrition, medical care, and education. Though on average, urban dwellers are  likely to have higher incomes, the poorest are frequently at greater risk of being exposed to  dangerous environmental conditions. Let us contrast our earlier look at environmental conditions  in an African and a South American rural community with those of an Asian urban</a:t>
            </a:r>
            <a:r>
              <a:rPr dirty="0" sz="1100" spc="170">
                <a:latin typeface="Arial"/>
                <a:cs typeface="Arial"/>
              </a:rPr>
              <a:t> </a:t>
            </a:r>
            <a:r>
              <a:rPr dirty="0" sz="1100" spc="-5">
                <a:latin typeface="Arial"/>
                <a:cs typeface="Arial"/>
              </a:rPr>
              <a:t>shanty.</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In a typical urban slum in an Asian metropolis, health-threatening pollutants are commonplace  both inside and outside the home. Many women are unaware that the smoke from the fuels they  burn in the home to cook and boil water </a:t>
            </a:r>
            <a:r>
              <a:rPr dirty="0" sz="1100">
                <a:latin typeface="Arial"/>
                <a:cs typeface="Arial"/>
              </a:rPr>
              <a:t>may </a:t>
            </a:r>
            <a:r>
              <a:rPr dirty="0" sz="1100" spc="-5">
                <a:latin typeface="Arial"/>
                <a:cs typeface="Arial"/>
              </a:rPr>
              <a:t>have severe long-term consequences for the  health of their children (though public health programs and NGOs have recently been  encouraging cooking with better alternatives, with some success). Conditions resulting from  poor ventilation in the home can be equivalent to smoking several packs of cigarettes per day,  and women and their children are exposed </a:t>
            </a:r>
            <a:r>
              <a:rPr dirty="0" sz="1100">
                <a:latin typeface="Arial"/>
                <a:cs typeface="Arial"/>
              </a:rPr>
              <a:t>to </a:t>
            </a:r>
            <a:r>
              <a:rPr dirty="0" sz="1100" spc="-5">
                <a:latin typeface="Arial"/>
                <a:cs typeface="Arial"/>
              </a:rPr>
              <a:t>these fumes for </a:t>
            </a:r>
            <a:r>
              <a:rPr dirty="0" sz="1100">
                <a:latin typeface="Arial"/>
                <a:cs typeface="Arial"/>
              </a:rPr>
              <a:t>long </a:t>
            </a:r>
            <a:r>
              <a:rPr dirty="0" sz="1100" spc="-5">
                <a:latin typeface="Arial"/>
                <a:cs typeface="Arial"/>
              </a:rPr>
              <a:t>portions of each day.  Though some children actually avoid much of this exposure by attending school, many are </a:t>
            </a:r>
            <a:r>
              <a:rPr dirty="0" sz="1100">
                <a:latin typeface="Arial"/>
                <a:cs typeface="Arial"/>
              </a:rPr>
              <a:t>kept  </a:t>
            </a:r>
            <a:r>
              <a:rPr dirty="0" sz="1100" spc="-5">
                <a:latin typeface="Arial"/>
                <a:cs typeface="Arial"/>
              </a:rPr>
              <a:t>out of school to assist their mothers in market work or the production of goods at home. Thus  from an early age, chronic and acute bronchitis is a cruel fact of life. Debilitating and ultimately  fatal respiratory infections among the poor are</a:t>
            </a:r>
            <a:r>
              <a:rPr dirty="0" sz="1100" spc="40">
                <a:latin typeface="Arial"/>
                <a:cs typeface="Arial"/>
              </a:rPr>
              <a:t> </a:t>
            </a:r>
            <a:r>
              <a:rPr dirty="0" sz="1100" spc="-5">
                <a:latin typeface="Arial"/>
                <a:cs typeface="Arial"/>
              </a:rPr>
              <a:t>commonplace.</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But it is not only in the home that individuals are exposed to harmful pollutants. Street vendors  and market workers are constantly exposed to high levels of other pollutants. Untreated sewage  runs in open drains along the roads, providing a conduit for infectious diseases. Because food  and</a:t>
            </a:r>
            <a:r>
              <a:rPr dirty="0" sz="1100" spc="50">
                <a:latin typeface="Arial"/>
                <a:cs typeface="Arial"/>
              </a:rPr>
              <a:t> </a:t>
            </a:r>
            <a:r>
              <a:rPr dirty="0" sz="1100" spc="-5">
                <a:latin typeface="Arial"/>
                <a:cs typeface="Arial"/>
              </a:rPr>
              <a:t>drinking</a:t>
            </a:r>
            <a:r>
              <a:rPr dirty="0" sz="1100" spc="50">
                <a:latin typeface="Arial"/>
                <a:cs typeface="Arial"/>
              </a:rPr>
              <a:t> </a:t>
            </a:r>
            <a:r>
              <a:rPr dirty="0" sz="1100" spc="-5">
                <a:latin typeface="Arial"/>
                <a:cs typeface="Arial"/>
              </a:rPr>
              <a:t>water</a:t>
            </a:r>
            <a:r>
              <a:rPr dirty="0" sz="1100" spc="55">
                <a:latin typeface="Arial"/>
                <a:cs typeface="Arial"/>
              </a:rPr>
              <a:t> </a:t>
            </a:r>
            <a:r>
              <a:rPr dirty="0" sz="1100" spc="-5">
                <a:latin typeface="Arial"/>
                <a:cs typeface="Arial"/>
              </a:rPr>
              <a:t>are</a:t>
            </a:r>
            <a:r>
              <a:rPr dirty="0" sz="1100" spc="50">
                <a:latin typeface="Arial"/>
                <a:cs typeface="Arial"/>
              </a:rPr>
              <a:t> </a:t>
            </a:r>
            <a:r>
              <a:rPr dirty="0" sz="1100" spc="-5">
                <a:latin typeface="Arial"/>
                <a:cs typeface="Arial"/>
              </a:rPr>
              <a:t>frequently</a:t>
            </a:r>
            <a:r>
              <a:rPr dirty="0" sz="1100" spc="55">
                <a:latin typeface="Arial"/>
                <a:cs typeface="Arial"/>
              </a:rPr>
              <a:t> </a:t>
            </a:r>
            <a:r>
              <a:rPr dirty="0" sz="1100" spc="-5">
                <a:latin typeface="Arial"/>
                <a:cs typeface="Arial"/>
              </a:rPr>
              <a:t>contaminated,</a:t>
            </a:r>
            <a:r>
              <a:rPr dirty="0" sz="1100" spc="50">
                <a:latin typeface="Arial"/>
                <a:cs typeface="Arial"/>
              </a:rPr>
              <a:t> </a:t>
            </a:r>
            <a:r>
              <a:rPr dirty="0" sz="1100" spc="-5">
                <a:latin typeface="Arial"/>
                <a:cs typeface="Arial"/>
              </a:rPr>
              <a:t>diarrhea</a:t>
            </a:r>
            <a:r>
              <a:rPr dirty="0" sz="1100" spc="55">
                <a:latin typeface="Arial"/>
                <a:cs typeface="Arial"/>
              </a:rPr>
              <a:t> </a:t>
            </a:r>
            <a:r>
              <a:rPr dirty="0" sz="1100" spc="-5">
                <a:latin typeface="Arial"/>
                <a:cs typeface="Arial"/>
              </a:rPr>
              <a:t>is</a:t>
            </a:r>
            <a:r>
              <a:rPr dirty="0" sz="1100" spc="50">
                <a:latin typeface="Arial"/>
                <a:cs typeface="Arial"/>
              </a:rPr>
              <a:t> </a:t>
            </a:r>
            <a:r>
              <a:rPr dirty="0" sz="1100" spc="-5">
                <a:latin typeface="Arial"/>
                <a:cs typeface="Arial"/>
              </a:rPr>
              <a:t>common,</a:t>
            </a:r>
            <a:r>
              <a:rPr dirty="0" sz="1100" spc="55">
                <a:latin typeface="Arial"/>
                <a:cs typeface="Arial"/>
              </a:rPr>
              <a:t> </a:t>
            </a:r>
            <a:r>
              <a:rPr dirty="0" sz="1100" spc="-5">
                <a:latin typeface="Arial"/>
                <a:cs typeface="Arial"/>
              </a:rPr>
              <a:t>especially</a:t>
            </a:r>
            <a:r>
              <a:rPr dirty="0" sz="1100" spc="50">
                <a:latin typeface="Arial"/>
                <a:cs typeface="Arial"/>
              </a:rPr>
              <a:t> </a:t>
            </a:r>
            <a:r>
              <a:rPr dirty="0" sz="1100" spc="-5">
                <a:latin typeface="Arial"/>
                <a:cs typeface="Arial"/>
              </a:rPr>
              <a:t>in</a:t>
            </a:r>
            <a:r>
              <a:rPr dirty="0" sz="1100" spc="55">
                <a:latin typeface="Arial"/>
                <a:cs typeface="Arial"/>
              </a:rPr>
              <a:t> </a:t>
            </a:r>
            <a:r>
              <a:rPr dirty="0" sz="1100" spc="-5">
                <a:latin typeface="Arial"/>
                <a:cs typeface="Arial"/>
              </a:rPr>
              <a:t>young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219</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615124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children. Frequent spells of the illness cause malnourishment, even when food is more plentiful,  making the young more susceptible to other diseases. Many of the weakest children die from  severe dehydration. Because the fuels used to cook foods and boil water must be purchased in  the market and consume a large portion of the daily earnings, there is sometimes insufficient  fuel to boil the household’s drinking water, increasing the chance of infection. The costs  associated with obtaining medical treatment for sick children may be very high; involving </a:t>
            </a:r>
            <a:r>
              <a:rPr dirty="0" sz="1100">
                <a:latin typeface="Arial"/>
                <a:cs typeface="Arial"/>
              </a:rPr>
              <a:t>the  </a:t>
            </a:r>
            <a:r>
              <a:rPr dirty="0" sz="1100" spc="-5">
                <a:latin typeface="Arial"/>
                <a:cs typeface="Arial"/>
              </a:rPr>
              <a:t>opportunity cost of time spent traveling to and from clinics and long hours in crowded waiting  rooms, in addition to medical fees. For many households, the forgone earnings can be ill  afforded. In many of the poorest households, only boys receive medical attention because they  are expected to contribute more to household income. It is thus not surprising that they are  more likely than their sisters to survive to</a:t>
            </a:r>
            <a:r>
              <a:rPr dirty="0" sz="1100" spc="40">
                <a:latin typeface="Arial"/>
                <a:cs typeface="Arial"/>
              </a:rPr>
              <a:t> </a:t>
            </a:r>
            <a:r>
              <a:rPr dirty="0" sz="1100" spc="-5">
                <a:latin typeface="Arial"/>
                <a:cs typeface="Arial"/>
              </a:rPr>
              <a:t>adulthood.</a:t>
            </a:r>
            <a:endParaRPr sz="1100">
              <a:latin typeface="Arial"/>
              <a:cs typeface="Arial"/>
            </a:endParaRPr>
          </a:p>
          <a:p>
            <a:pPr>
              <a:lnSpc>
                <a:spcPct val="100000"/>
              </a:lnSpc>
              <a:spcBef>
                <a:spcPts val="5"/>
              </a:spcBef>
            </a:pPr>
            <a:endParaRPr sz="1100">
              <a:latin typeface="Arial"/>
              <a:cs typeface="Arial"/>
            </a:endParaRPr>
          </a:p>
          <a:p>
            <a:pPr algn="just" marL="12700" marR="6985">
              <a:lnSpc>
                <a:spcPct val="95800"/>
              </a:lnSpc>
            </a:pPr>
            <a:r>
              <a:rPr dirty="0" sz="1100" spc="-5">
                <a:latin typeface="Arial"/>
                <a:cs typeface="Arial"/>
              </a:rPr>
              <a:t>Children playing in the streets and others working outdoors are also exposed to the combined  emissions from automobiles and factories. Dangerously high levels of atmospheric lead are  common because few cars are equipped with the expensive catalytic converters </a:t>
            </a:r>
            <a:r>
              <a:rPr dirty="0" sz="1100">
                <a:latin typeface="Arial"/>
                <a:cs typeface="Arial"/>
              </a:rPr>
              <a:t>now </a:t>
            </a:r>
            <a:r>
              <a:rPr dirty="0" sz="1100" spc="-5">
                <a:latin typeface="Arial"/>
                <a:cs typeface="Arial"/>
              </a:rPr>
              <a:t>mandated  in the West. Due both to physical and mental impairments suffered as a result of exposure to  environmental factors and repeated absence from school, children in the poorest neighborhoods  may find it difficult to meet basic academic standards. It is no wonder that improvement in the  lives of slum dwellers is a key part of the Millennium Development</a:t>
            </a:r>
            <a:r>
              <a:rPr dirty="0" sz="1100" spc="95">
                <a:latin typeface="Arial"/>
                <a:cs typeface="Arial"/>
              </a:rPr>
              <a:t> </a:t>
            </a:r>
            <a:r>
              <a:rPr dirty="0" sz="1100" spc="-5">
                <a:latin typeface="Arial"/>
                <a:cs typeface="Arial"/>
              </a:rPr>
              <a:t>Goals.</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Because the urban poor are much less able than the wealthy to insulate themselves from the  negative effects of a tainted environment, they are more likely to suffer serious consequences  resulting from environmental degradation. In addition, malnutrition and poor health among a  large proportion of urban dwellers in shantytowns tend to reduce individual resistance to  environmental hazards.</a:t>
            </a:r>
            <a:endParaRPr sz="1100">
              <a:latin typeface="Arial"/>
              <a:cs typeface="Arial"/>
            </a:endParaRPr>
          </a:p>
          <a:p>
            <a:pPr>
              <a:lnSpc>
                <a:spcPct val="100000"/>
              </a:lnSpc>
              <a:spcBef>
                <a:spcPts val="10"/>
              </a:spcBef>
            </a:pPr>
            <a:endParaRPr sz="1000">
              <a:latin typeface="Arial"/>
              <a:cs typeface="Arial"/>
            </a:endParaRPr>
          </a:p>
          <a:p>
            <a:pPr algn="just" marL="12700">
              <a:lnSpc>
                <a:spcPct val="100000"/>
              </a:lnSpc>
            </a:pPr>
            <a:r>
              <a:rPr dirty="0" sz="1100" spc="-5" b="1">
                <a:latin typeface="Arial"/>
                <a:cs typeface="Arial"/>
              </a:rPr>
              <a:t>INDUSTRIALIZATION AND URBAN AIR</a:t>
            </a:r>
            <a:r>
              <a:rPr dirty="0" sz="1100" spc="15" b="1">
                <a:latin typeface="Arial"/>
                <a:cs typeface="Arial"/>
              </a:rPr>
              <a:t> </a:t>
            </a:r>
            <a:r>
              <a:rPr dirty="0" sz="1100" spc="-5" b="1">
                <a:latin typeface="Arial"/>
                <a:cs typeface="Arial"/>
              </a:rPr>
              <a:t>POLLUTION</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The early stages of urbanization and industrialization in developing countries are generally  accompanied by rising incomes and worsening environmental conditions. Cross-sectional  analysis of numerous countries at different levels of income suggests that some types of urban  pollution tend first to rise with national income levels and then to fall. As noted earlier, this effect  has been dubbed the environmental Kuznets curve. According to the World Bank, pollution  levels for even the worst quartile of high-income cities are better than for the best quartile of  low-income cities. Indeed, at higher incomes, it is easier to afford expensive clean technologies.  However, </a:t>
            </a:r>
            <a:r>
              <a:rPr dirty="0" sz="1100">
                <a:latin typeface="Arial"/>
                <a:cs typeface="Arial"/>
              </a:rPr>
              <a:t>there </a:t>
            </a:r>
            <a:r>
              <a:rPr dirty="0" sz="1100" spc="-5">
                <a:latin typeface="Arial"/>
                <a:cs typeface="Arial"/>
              </a:rPr>
              <a:t>is nothing inevitable about the trend. Air (and water) quality is closely related to  the extent of government regulation, in both high- and low-income countries. Moreover, some  environmental resources may be irretrievably lost unless action is taken immediately.</a:t>
            </a:r>
            <a:r>
              <a:rPr dirty="0" sz="1100" spc="260">
                <a:latin typeface="Arial"/>
                <a:cs typeface="Arial"/>
              </a:rPr>
              <a:t> </a:t>
            </a:r>
            <a:r>
              <a:rPr dirty="0" sz="1100" spc="-5">
                <a:latin typeface="Arial"/>
                <a:cs typeface="Arial"/>
              </a:rPr>
              <a:t>The</a:t>
            </a:r>
            <a:endParaRPr sz="1100">
              <a:latin typeface="Arial"/>
              <a:cs typeface="Arial"/>
            </a:endParaRPr>
          </a:p>
        </p:txBody>
      </p:sp>
      <p:sp>
        <p:nvSpPr>
          <p:cNvPr id="7" name="object 7"/>
          <p:cNvSpPr/>
          <p:nvPr/>
        </p:nvSpPr>
        <p:spPr>
          <a:xfrm>
            <a:off x="1714500" y="7105650"/>
            <a:ext cx="3771900" cy="2376678"/>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220</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grpSp>
        <p:nvGrpSpPr>
          <p:cNvPr id="5" name="object 5"/>
          <p:cNvGrpSpPr/>
          <p:nvPr/>
        </p:nvGrpSpPr>
        <p:grpSpPr>
          <a:xfrm>
            <a:off x="923544" y="6958583"/>
            <a:ext cx="5867400" cy="2324100"/>
            <a:chOff x="923544" y="6958583"/>
            <a:chExt cx="5867400" cy="2324100"/>
          </a:xfrm>
        </p:grpSpPr>
        <p:sp>
          <p:nvSpPr>
            <p:cNvPr id="6" name="object 6"/>
            <p:cNvSpPr/>
            <p:nvPr/>
          </p:nvSpPr>
          <p:spPr>
            <a:xfrm>
              <a:off x="923544" y="9277349"/>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7" name="object 7"/>
            <p:cNvSpPr/>
            <p:nvPr/>
          </p:nvSpPr>
          <p:spPr>
            <a:xfrm>
              <a:off x="1550670" y="6958583"/>
              <a:ext cx="3592829" cy="2290572"/>
            </a:xfrm>
            <a:prstGeom prst="rect">
              <a:avLst/>
            </a:prstGeom>
            <a:blipFill>
              <a:blip r:embed="rId2" cstate="print"/>
              <a:stretch>
                <a:fillRect/>
              </a:stretch>
            </a:blipFill>
          </p:spPr>
          <p:txBody>
            <a:bodyPr wrap="square" lIns="0" tIns="0" rIns="0" bIns="0" rtlCol="0"/>
            <a:lstStyle/>
            <a:p/>
          </p:txBody>
        </p:sp>
      </p:grpSp>
      <p:sp>
        <p:nvSpPr>
          <p:cNvPr id="8" name="object 8"/>
          <p:cNvSpPr txBox="1"/>
          <p:nvPr/>
        </p:nvSpPr>
        <p:spPr>
          <a:xfrm>
            <a:off x="901700" y="891794"/>
            <a:ext cx="5970270" cy="597598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principal sources of air pollution, which pose the greatest health threat associated with  modernization, are energy use, vehicular emissions, and industrial production. Industrialization  can lead to increases in waste either directly through emissions or indirectly by altering patterns  of consumption and boosting demand for manufactured</a:t>
            </a:r>
            <a:r>
              <a:rPr dirty="0" sz="1100" spc="40">
                <a:latin typeface="Arial"/>
                <a:cs typeface="Arial"/>
              </a:rPr>
              <a:t> </a:t>
            </a:r>
            <a:r>
              <a:rPr dirty="0" sz="1100" spc="-5">
                <a:latin typeface="Arial"/>
                <a:cs typeface="Arial"/>
              </a:rPr>
              <a:t>goods.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The production of manufactured goods generally entails the creation of by-products that </a:t>
            </a:r>
            <a:r>
              <a:rPr dirty="0" sz="1100">
                <a:latin typeface="Arial"/>
                <a:cs typeface="Arial"/>
              </a:rPr>
              <a:t>may </a:t>
            </a:r>
            <a:r>
              <a:rPr dirty="0" sz="1100" spc="-5">
                <a:latin typeface="Arial"/>
                <a:cs typeface="Arial"/>
              </a:rPr>
              <a:t>be  detrimental to the environment. The extent to which they degrade the environment will depend  on a number of factors, including the type of by-products produced, their quantities, and their  means of disposal. Unfortunately, in the absence of regulation, the cheapest way </a:t>
            </a:r>
            <a:r>
              <a:rPr dirty="0" sz="1100">
                <a:latin typeface="Arial"/>
                <a:cs typeface="Arial"/>
              </a:rPr>
              <a:t>to </a:t>
            </a:r>
            <a:r>
              <a:rPr dirty="0" sz="1100" spc="-5">
                <a:latin typeface="Arial"/>
                <a:cs typeface="Arial"/>
              </a:rPr>
              <a:t>dispose of  unwanted by-products is usually to release them untreated into the air and waterways or to  dump them on the ground where </a:t>
            </a:r>
            <a:r>
              <a:rPr dirty="0" sz="1100">
                <a:latin typeface="Arial"/>
                <a:cs typeface="Arial"/>
              </a:rPr>
              <a:t>runoff </a:t>
            </a:r>
            <a:r>
              <a:rPr dirty="0" sz="1100" spc="-5">
                <a:latin typeface="Arial"/>
                <a:cs typeface="Arial"/>
              </a:rPr>
              <a:t>is free to sink into groundwater or wash into rivers. Due  to the broader transmission of ideas, greater availability of goods, and increased incomes,  changes in patterns of consumption and their environmental consequences are likely to appear  first in cities. Until technologies and infrastructures capable of coping with environmental  consequences are introduced, modernization is likely to lead to high urban environmental</a:t>
            </a:r>
            <a:r>
              <a:rPr dirty="0" sz="1100" spc="250">
                <a:latin typeface="Arial"/>
                <a:cs typeface="Arial"/>
              </a:rPr>
              <a:t> </a:t>
            </a:r>
            <a:r>
              <a:rPr dirty="0" sz="1100" spc="-5">
                <a:latin typeface="Arial"/>
                <a:cs typeface="Arial"/>
              </a:rPr>
              <a:t>costs.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We have already looked briefly at the issue of externalities and the fact that many of the costs of  pollutants are borne by someone other than the polluter. This suggests that the price paid for  the consumption of a good is below the social cost associated with the good. Figure 10.5  depicts the typical supply and demand curves. In this case, however, we have labeled the  supply curve S _ MCP because it represents the marginal private costs associated with  producing good </a:t>
            </a:r>
            <a:r>
              <a:rPr dirty="0" sz="1100" spc="-10">
                <a:latin typeface="Arial"/>
                <a:cs typeface="Arial"/>
              </a:rPr>
              <a:t>X. </a:t>
            </a:r>
            <a:r>
              <a:rPr dirty="0" sz="1100" spc="-5">
                <a:latin typeface="Arial"/>
                <a:cs typeface="Arial"/>
              </a:rPr>
              <a:t>The free-market equilibrium output and price are QM and PM, respectively. If  there are externalities associated with the consumption or production of each unit of good </a:t>
            </a:r>
            <a:r>
              <a:rPr dirty="0" sz="1100" spc="-10">
                <a:latin typeface="Arial"/>
                <a:cs typeface="Arial"/>
              </a:rPr>
              <a:t>X, </a:t>
            </a:r>
            <a:r>
              <a:rPr dirty="0" sz="1100" spc="-5">
                <a:latin typeface="Arial"/>
                <a:cs typeface="Arial"/>
              </a:rPr>
              <a:t>the  MCP curve does not represent the true costs of the good to society. If each unit of good X  imposes a cost of $2 on a third party, we can obtain the true marginal social cost curve MCS </a:t>
            </a:r>
            <a:r>
              <a:rPr dirty="0" sz="1100">
                <a:latin typeface="Arial"/>
                <a:cs typeface="Arial"/>
              </a:rPr>
              <a:t>by  </a:t>
            </a:r>
            <a:r>
              <a:rPr dirty="0" sz="1100" spc="-5">
                <a:latin typeface="Arial"/>
                <a:cs typeface="Arial"/>
              </a:rPr>
              <a:t>legislating a $2-per-unit sales tax on the</a:t>
            </a:r>
            <a:r>
              <a:rPr dirty="0" sz="1100" spc="20">
                <a:latin typeface="Arial"/>
                <a:cs typeface="Arial"/>
              </a:rPr>
              <a:t> </a:t>
            </a:r>
            <a:r>
              <a:rPr dirty="0" sz="1100" spc="-5">
                <a:latin typeface="Arial"/>
                <a:cs typeface="Arial"/>
              </a:rPr>
              <a:t>output.</a:t>
            </a:r>
            <a:endParaRPr sz="1100">
              <a:latin typeface="Arial"/>
              <a:cs typeface="Arial"/>
            </a:endParaRPr>
          </a:p>
          <a:p>
            <a:pPr>
              <a:lnSpc>
                <a:spcPct val="100000"/>
              </a:lnSpc>
              <a:spcBef>
                <a:spcPts val="5"/>
              </a:spcBef>
            </a:pPr>
            <a:endParaRPr sz="1050">
              <a:latin typeface="Arial"/>
              <a:cs typeface="Arial"/>
            </a:endParaRPr>
          </a:p>
          <a:p>
            <a:pPr algn="just" marL="12700">
              <a:lnSpc>
                <a:spcPts val="1295"/>
              </a:lnSpc>
            </a:pPr>
            <a:r>
              <a:rPr dirty="0" sz="1100" spc="-5">
                <a:latin typeface="Arial"/>
                <a:cs typeface="Arial"/>
              </a:rPr>
              <a:t>This</a:t>
            </a:r>
            <a:r>
              <a:rPr dirty="0" sz="1100" spc="160">
                <a:latin typeface="Arial"/>
                <a:cs typeface="Arial"/>
              </a:rPr>
              <a:t> </a:t>
            </a:r>
            <a:r>
              <a:rPr dirty="0" sz="1100" spc="-5">
                <a:latin typeface="Arial"/>
                <a:cs typeface="Arial"/>
              </a:rPr>
              <a:t>pollution</a:t>
            </a:r>
            <a:r>
              <a:rPr dirty="0" sz="1100" spc="160">
                <a:latin typeface="Arial"/>
                <a:cs typeface="Arial"/>
              </a:rPr>
              <a:t> </a:t>
            </a:r>
            <a:r>
              <a:rPr dirty="0" sz="1100" spc="-5">
                <a:latin typeface="Arial"/>
                <a:cs typeface="Arial"/>
              </a:rPr>
              <a:t>tax</a:t>
            </a:r>
            <a:r>
              <a:rPr dirty="0" sz="1100" spc="160">
                <a:latin typeface="Arial"/>
                <a:cs typeface="Arial"/>
              </a:rPr>
              <a:t> </a:t>
            </a:r>
            <a:r>
              <a:rPr dirty="0" sz="1100" spc="-5">
                <a:latin typeface="Arial"/>
                <a:cs typeface="Arial"/>
              </a:rPr>
              <a:t>shifts</a:t>
            </a:r>
            <a:r>
              <a:rPr dirty="0" sz="1100" spc="160">
                <a:latin typeface="Arial"/>
                <a:cs typeface="Arial"/>
              </a:rPr>
              <a:t> </a:t>
            </a:r>
            <a:r>
              <a:rPr dirty="0" sz="1100" spc="-5">
                <a:latin typeface="Arial"/>
                <a:cs typeface="Arial"/>
              </a:rPr>
              <a:t>the</a:t>
            </a:r>
            <a:r>
              <a:rPr dirty="0" sz="1100" spc="160">
                <a:latin typeface="Arial"/>
                <a:cs typeface="Arial"/>
              </a:rPr>
              <a:t> </a:t>
            </a:r>
            <a:r>
              <a:rPr dirty="0" sz="1100" spc="-5">
                <a:latin typeface="Arial"/>
                <a:cs typeface="Arial"/>
              </a:rPr>
              <a:t>private</a:t>
            </a:r>
            <a:r>
              <a:rPr dirty="0" sz="1100" spc="160">
                <a:latin typeface="Arial"/>
                <a:cs typeface="Arial"/>
              </a:rPr>
              <a:t> </a:t>
            </a:r>
            <a:r>
              <a:rPr dirty="0" sz="1100" spc="-5">
                <a:latin typeface="Arial"/>
                <a:cs typeface="Arial"/>
              </a:rPr>
              <a:t>cost</a:t>
            </a:r>
            <a:r>
              <a:rPr dirty="0" sz="1100" spc="160">
                <a:latin typeface="Arial"/>
                <a:cs typeface="Arial"/>
              </a:rPr>
              <a:t> </a:t>
            </a:r>
            <a:r>
              <a:rPr dirty="0" sz="1100" spc="-5">
                <a:latin typeface="Arial"/>
                <a:cs typeface="Arial"/>
              </a:rPr>
              <a:t>curve</a:t>
            </a:r>
            <a:r>
              <a:rPr dirty="0" sz="1100" spc="160">
                <a:latin typeface="Arial"/>
                <a:cs typeface="Arial"/>
              </a:rPr>
              <a:t> </a:t>
            </a:r>
            <a:r>
              <a:rPr dirty="0" sz="1100" spc="-5">
                <a:latin typeface="Arial"/>
                <a:cs typeface="Arial"/>
              </a:rPr>
              <a:t>upward</a:t>
            </a:r>
            <a:r>
              <a:rPr dirty="0" sz="1100" spc="160">
                <a:latin typeface="Arial"/>
                <a:cs typeface="Arial"/>
              </a:rPr>
              <a:t> </a:t>
            </a:r>
            <a:r>
              <a:rPr dirty="0" sz="1100" spc="-5">
                <a:latin typeface="Arial"/>
                <a:cs typeface="Arial"/>
              </a:rPr>
              <a:t>by</a:t>
            </a:r>
            <a:r>
              <a:rPr dirty="0" sz="1100" spc="160">
                <a:latin typeface="Arial"/>
                <a:cs typeface="Arial"/>
              </a:rPr>
              <a:t> </a:t>
            </a:r>
            <a:r>
              <a:rPr dirty="0" sz="1100" spc="-5">
                <a:latin typeface="Arial"/>
                <a:cs typeface="Arial"/>
              </a:rPr>
              <a:t>$2</a:t>
            </a:r>
            <a:r>
              <a:rPr dirty="0" sz="1100" spc="165">
                <a:latin typeface="Arial"/>
                <a:cs typeface="Arial"/>
              </a:rPr>
              <a:t> </a:t>
            </a:r>
            <a:r>
              <a:rPr dirty="0" sz="1100" spc="-5">
                <a:latin typeface="Arial"/>
                <a:cs typeface="Arial"/>
              </a:rPr>
              <a:t>at</a:t>
            </a:r>
            <a:r>
              <a:rPr dirty="0" sz="1100" spc="160">
                <a:latin typeface="Arial"/>
                <a:cs typeface="Arial"/>
              </a:rPr>
              <a:t> </a:t>
            </a:r>
            <a:r>
              <a:rPr dirty="0" sz="1100" spc="-5">
                <a:latin typeface="Arial"/>
                <a:cs typeface="Arial"/>
              </a:rPr>
              <a:t>every</a:t>
            </a:r>
            <a:r>
              <a:rPr dirty="0" sz="1100" spc="160">
                <a:latin typeface="Arial"/>
                <a:cs typeface="Arial"/>
              </a:rPr>
              <a:t> </a:t>
            </a:r>
            <a:r>
              <a:rPr dirty="0" sz="1100" spc="-5">
                <a:latin typeface="Arial"/>
                <a:cs typeface="Arial"/>
              </a:rPr>
              <a:t>point</a:t>
            </a:r>
            <a:r>
              <a:rPr dirty="0" sz="1100" spc="160">
                <a:latin typeface="Arial"/>
                <a:cs typeface="Arial"/>
              </a:rPr>
              <a:t> </a:t>
            </a:r>
            <a:r>
              <a:rPr dirty="0" sz="1100" spc="-5">
                <a:latin typeface="Arial"/>
                <a:cs typeface="Arial"/>
              </a:rPr>
              <a:t>to</a:t>
            </a:r>
            <a:r>
              <a:rPr dirty="0" sz="1100" spc="165">
                <a:latin typeface="Arial"/>
                <a:cs typeface="Arial"/>
              </a:rPr>
              <a:t> </a:t>
            </a:r>
            <a:r>
              <a:rPr dirty="0" sz="1100" spc="-10">
                <a:latin typeface="Arial"/>
                <a:cs typeface="Arial"/>
              </a:rPr>
              <a:t>MCS</a:t>
            </a:r>
            <a:r>
              <a:rPr dirty="0" sz="1100" spc="160">
                <a:latin typeface="Arial"/>
                <a:cs typeface="Arial"/>
              </a:rPr>
              <a:t> </a:t>
            </a:r>
            <a:r>
              <a:rPr dirty="0" sz="1100" spc="-5">
                <a:latin typeface="Arial"/>
                <a:cs typeface="Arial"/>
              </a:rPr>
              <a:t>in</a:t>
            </a:r>
            <a:r>
              <a:rPr dirty="0" sz="1100" spc="160">
                <a:latin typeface="Arial"/>
                <a:cs typeface="Arial"/>
              </a:rPr>
              <a:t> </a:t>
            </a:r>
            <a:r>
              <a:rPr dirty="0" sz="1100" spc="-5">
                <a:latin typeface="Arial"/>
                <a:cs typeface="Arial"/>
              </a:rPr>
              <a:t>Figure</a:t>
            </a:r>
            <a:endParaRPr sz="1100">
              <a:latin typeface="Arial"/>
              <a:cs typeface="Arial"/>
            </a:endParaRPr>
          </a:p>
          <a:p>
            <a:pPr algn="just" marL="12700" marR="5715">
              <a:lnSpc>
                <a:spcPct val="95800"/>
              </a:lnSpc>
              <a:spcBef>
                <a:spcPts val="30"/>
              </a:spcBef>
            </a:pPr>
            <a:r>
              <a:rPr dirty="0" sz="1100" spc="-5">
                <a:latin typeface="Arial"/>
                <a:cs typeface="Arial"/>
              </a:rPr>
              <a:t>10.5. At the new intersection between the demand curve and the marginal social cost curve, Q*  is the efficient outcome and P* the price. Therefore, by incorporating the social costs of pollution  into the analysis, the actual output of the polluting product is reduced to the socially optimal  level while the price charged to the consumer rises from PM to P* and the price received by the  producer falls from PM </a:t>
            </a:r>
            <a:r>
              <a:rPr dirty="0" sz="1100">
                <a:latin typeface="Arial"/>
                <a:cs typeface="Arial"/>
              </a:rPr>
              <a:t>to </a:t>
            </a:r>
            <a:r>
              <a:rPr dirty="0" sz="1100" spc="-5">
                <a:latin typeface="Arial"/>
                <a:cs typeface="Arial"/>
              </a:rPr>
              <a:t>PC. Depending on the relative elasticities of the demand and supply  curves, the burden of the pollution tax is shared by both consumers and producers. In Figure  10.5, the consumer pays ab and the producer bc of the ac</a:t>
            </a:r>
            <a:r>
              <a:rPr dirty="0" sz="1100" spc="65">
                <a:latin typeface="Arial"/>
                <a:cs typeface="Arial"/>
              </a:rPr>
              <a:t> </a:t>
            </a:r>
            <a:r>
              <a:rPr dirty="0" sz="1100" spc="-5">
                <a:latin typeface="Arial"/>
                <a:cs typeface="Arial"/>
              </a:rPr>
              <a:t>tax.</a:t>
            </a:r>
            <a:endParaRPr sz="1100">
              <a:latin typeface="Arial"/>
              <a:cs typeface="Arial"/>
            </a:endParaRPr>
          </a:p>
          <a:p>
            <a:pPr>
              <a:lnSpc>
                <a:spcPct val="100000"/>
              </a:lnSpc>
            </a:pPr>
            <a:endParaRPr sz="1050">
              <a:latin typeface="Arial"/>
              <a:cs typeface="Arial"/>
            </a:endParaRPr>
          </a:p>
          <a:p>
            <a:pPr algn="just" marL="12700">
              <a:lnSpc>
                <a:spcPct val="100000"/>
              </a:lnSpc>
            </a:pPr>
            <a:r>
              <a:rPr dirty="0" sz="1100" spc="-5">
                <a:latin typeface="Arial"/>
                <a:cs typeface="Arial"/>
              </a:rPr>
              <a:t>At</a:t>
            </a:r>
            <a:r>
              <a:rPr dirty="0" sz="1100" spc="60">
                <a:latin typeface="Arial"/>
                <a:cs typeface="Arial"/>
              </a:rPr>
              <a:t> </a:t>
            </a:r>
            <a:r>
              <a:rPr dirty="0" sz="1100" spc="-5">
                <a:latin typeface="Arial"/>
                <a:cs typeface="Arial"/>
              </a:rPr>
              <a:t>sufficiently</a:t>
            </a:r>
            <a:r>
              <a:rPr dirty="0" sz="1100" spc="60">
                <a:latin typeface="Arial"/>
                <a:cs typeface="Arial"/>
              </a:rPr>
              <a:t> </a:t>
            </a:r>
            <a:r>
              <a:rPr dirty="0" sz="1100" spc="-5">
                <a:latin typeface="Arial"/>
                <a:cs typeface="Arial"/>
              </a:rPr>
              <a:t>high</a:t>
            </a:r>
            <a:r>
              <a:rPr dirty="0" sz="1100" spc="60">
                <a:latin typeface="Arial"/>
                <a:cs typeface="Arial"/>
              </a:rPr>
              <a:t> </a:t>
            </a:r>
            <a:r>
              <a:rPr dirty="0" sz="1100" spc="-5">
                <a:latin typeface="Arial"/>
                <a:cs typeface="Arial"/>
              </a:rPr>
              <a:t>levels,</a:t>
            </a:r>
            <a:r>
              <a:rPr dirty="0" sz="1100" spc="65">
                <a:latin typeface="Arial"/>
                <a:cs typeface="Arial"/>
              </a:rPr>
              <a:t> </a:t>
            </a:r>
            <a:r>
              <a:rPr dirty="0" sz="1100" spc="-5">
                <a:latin typeface="Arial"/>
                <a:cs typeface="Arial"/>
              </a:rPr>
              <a:t>most</a:t>
            </a:r>
            <a:r>
              <a:rPr dirty="0" sz="1100" spc="65">
                <a:latin typeface="Arial"/>
                <a:cs typeface="Arial"/>
              </a:rPr>
              <a:t> </a:t>
            </a:r>
            <a:r>
              <a:rPr dirty="0" sz="1100" spc="-5">
                <a:latin typeface="Arial"/>
                <a:cs typeface="Arial"/>
              </a:rPr>
              <a:t>emissions</a:t>
            </a:r>
            <a:r>
              <a:rPr dirty="0" sz="1100" spc="65">
                <a:latin typeface="Arial"/>
                <a:cs typeface="Arial"/>
              </a:rPr>
              <a:t> </a:t>
            </a:r>
            <a:r>
              <a:rPr dirty="0" sz="1100" spc="-5">
                <a:latin typeface="Arial"/>
                <a:cs typeface="Arial"/>
              </a:rPr>
              <a:t>will</a:t>
            </a:r>
            <a:r>
              <a:rPr dirty="0" sz="1100" spc="60">
                <a:latin typeface="Arial"/>
                <a:cs typeface="Arial"/>
              </a:rPr>
              <a:t> </a:t>
            </a:r>
            <a:r>
              <a:rPr dirty="0" sz="1100" spc="-5">
                <a:latin typeface="Arial"/>
                <a:cs typeface="Arial"/>
              </a:rPr>
              <a:t>be</a:t>
            </a:r>
            <a:r>
              <a:rPr dirty="0" sz="1100" spc="60">
                <a:latin typeface="Arial"/>
                <a:cs typeface="Arial"/>
              </a:rPr>
              <a:t> </a:t>
            </a:r>
            <a:r>
              <a:rPr dirty="0" sz="1100" spc="-5">
                <a:latin typeface="Arial"/>
                <a:cs typeface="Arial"/>
              </a:rPr>
              <a:t>toxic</a:t>
            </a:r>
            <a:r>
              <a:rPr dirty="0" sz="1100" spc="65">
                <a:latin typeface="Arial"/>
                <a:cs typeface="Arial"/>
              </a:rPr>
              <a:t> </a:t>
            </a:r>
            <a:r>
              <a:rPr dirty="0" sz="1100" spc="-5">
                <a:latin typeface="Arial"/>
                <a:cs typeface="Arial"/>
              </a:rPr>
              <a:t>to</a:t>
            </a:r>
            <a:r>
              <a:rPr dirty="0" sz="1100" spc="65">
                <a:latin typeface="Arial"/>
                <a:cs typeface="Arial"/>
              </a:rPr>
              <a:t> </a:t>
            </a:r>
            <a:r>
              <a:rPr dirty="0" sz="1100" spc="-5">
                <a:latin typeface="Arial"/>
                <a:cs typeface="Arial"/>
              </a:rPr>
              <a:t>humans</a:t>
            </a:r>
            <a:r>
              <a:rPr dirty="0" sz="1100" spc="60">
                <a:latin typeface="Arial"/>
                <a:cs typeface="Arial"/>
              </a:rPr>
              <a:t> </a:t>
            </a:r>
            <a:r>
              <a:rPr dirty="0" sz="1100" spc="-5">
                <a:latin typeface="Arial"/>
                <a:cs typeface="Arial"/>
              </a:rPr>
              <a:t>or</a:t>
            </a:r>
            <a:r>
              <a:rPr dirty="0" sz="1100" spc="60">
                <a:latin typeface="Arial"/>
                <a:cs typeface="Arial"/>
              </a:rPr>
              <a:t> </a:t>
            </a:r>
            <a:r>
              <a:rPr dirty="0" sz="1100" spc="-5">
                <a:latin typeface="Arial"/>
                <a:cs typeface="Arial"/>
              </a:rPr>
              <a:t>otherwise</a:t>
            </a:r>
            <a:r>
              <a:rPr dirty="0" sz="1100" spc="60">
                <a:latin typeface="Arial"/>
                <a:cs typeface="Arial"/>
              </a:rPr>
              <a:t> </a:t>
            </a:r>
            <a:r>
              <a:rPr dirty="0" sz="1100" spc="-5">
                <a:latin typeface="Arial"/>
                <a:cs typeface="Arial"/>
              </a:rPr>
              <a:t>damaging</a:t>
            </a:r>
            <a:r>
              <a:rPr dirty="0" sz="1100" spc="55">
                <a:latin typeface="Arial"/>
                <a:cs typeface="Arial"/>
              </a:rPr>
              <a:t> </a:t>
            </a:r>
            <a:r>
              <a:rPr dirty="0" sz="1100" spc="-5">
                <a:latin typeface="Arial"/>
                <a:cs typeface="Arial"/>
              </a:rPr>
              <a:t>to</a:t>
            </a:r>
            <a:r>
              <a:rPr dirty="0" sz="1100" spc="65">
                <a:latin typeface="Arial"/>
                <a:cs typeface="Arial"/>
              </a:rPr>
              <a:t> </a:t>
            </a:r>
            <a:r>
              <a:rPr dirty="0" sz="1100" spc="-5">
                <a:latin typeface="Arial"/>
                <a:cs typeface="Arial"/>
              </a:rPr>
              <a:t>the</a:t>
            </a:r>
            <a:endParaRPr sz="1100">
              <a:latin typeface="Arial"/>
              <a:cs typeface="Arial"/>
            </a:endParaRPr>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221</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07910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environment, whereas at low levels, per-unit costs may be insignificant. This is due to the fact  that humans have some tolerance for most toxins, although the ability to tolerate exposure may  rapidly decline as concentrations in drinking water and air increase. The environment also has  an absorptive capacity that enables it to assimilate a quantity of </a:t>
            </a:r>
            <a:r>
              <a:rPr dirty="0" sz="1100">
                <a:latin typeface="Arial"/>
                <a:cs typeface="Arial"/>
              </a:rPr>
              <a:t>most </a:t>
            </a:r>
            <a:r>
              <a:rPr dirty="0" sz="1100" spc="-5">
                <a:latin typeface="Arial"/>
                <a:cs typeface="Arial"/>
              </a:rPr>
              <a:t>pollutants. Once this  critical quantity has been exceeded, however, concentrations and hence toxicity are </a:t>
            </a:r>
            <a:r>
              <a:rPr dirty="0" sz="1100">
                <a:latin typeface="Arial"/>
                <a:cs typeface="Arial"/>
              </a:rPr>
              <a:t>likely </a:t>
            </a:r>
            <a:r>
              <a:rPr dirty="0" sz="1100" spc="-5">
                <a:latin typeface="Arial"/>
                <a:cs typeface="Arial"/>
              </a:rPr>
              <a:t>to rise  rapidly. A more realistic marginal social cost curve is drawn in Figure 10.6. As concentrations of  pollutants increase (as total output increases), the gap between the social and private cost  curves increases. While aggregate demand remains low, this differential will be</a:t>
            </a:r>
            <a:r>
              <a:rPr dirty="0" sz="1100" spc="105">
                <a:latin typeface="Arial"/>
                <a:cs typeface="Arial"/>
              </a:rPr>
              <a:t> </a:t>
            </a:r>
            <a:r>
              <a:rPr dirty="0" sz="1100" spc="-5">
                <a:latin typeface="Arial"/>
                <a:cs typeface="Arial"/>
              </a:rPr>
              <a:t>small.</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However, </a:t>
            </a:r>
            <a:r>
              <a:rPr dirty="0" sz="1100">
                <a:latin typeface="Arial"/>
                <a:cs typeface="Arial"/>
              </a:rPr>
              <a:t>as </a:t>
            </a:r>
            <a:r>
              <a:rPr dirty="0" sz="1100" spc="-5">
                <a:latin typeface="Arial"/>
                <a:cs typeface="Arial"/>
              </a:rPr>
              <a:t>the demand curve shifts outward from D to D’ with rapid urbanization and rising  incomes, the importance of externalities rises at an increasing rate. This would suggest that the  costs associated with curing urban ills caused by congestion will increase faster than the rate of  increase of the</a:t>
            </a:r>
            <a:r>
              <a:rPr dirty="0" sz="1100" spc="5">
                <a:latin typeface="Arial"/>
                <a:cs typeface="Arial"/>
              </a:rPr>
              <a:t> </a:t>
            </a:r>
            <a:r>
              <a:rPr dirty="0" sz="1100" spc="-5">
                <a:latin typeface="Arial"/>
                <a:cs typeface="Arial"/>
              </a:rPr>
              <a:t>population.</a:t>
            </a:r>
            <a:endParaRPr sz="1100">
              <a:latin typeface="Arial"/>
              <a:cs typeface="Arial"/>
            </a:endParaRPr>
          </a:p>
          <a:p>
            <a:pPr>
              <a:lnSpc>
                <a:spcPct val="100000"/>
              </a:lnSpc>
              <a:spcBef>
                <a:spcPts val="10"/>
              </a:spcBef>
            </a:pPr>
            <a:endParaRPr sz="1050">
              <a:latin typeface="Arial"/>
              <a:cs typeface="Arial"/>
            </a:endParaRPr>
          </a:p>
          <a:p>
            <a:pPr algn="just" marL="12700" marR="5715">
              <a:lnSpc>
                <a:spcPct val="95900"/>
              </a:lnSpc>
            </a:pPr>
            <a:r>
              <a:rPr dirty="0" sz="1100" spc="-5">
                <a:latin typeface="Arial"/>
                <a:cs typeface="Arial"/>
              </a:rPr>
              <a:t>Health hazards are created by toxic air emissions as well as increasing volumes of waste that  contaminate water supplies and land. Though research on the issue has been scanty, there is  increasing evidence that in the absence of regulation, current and future increases </a:t>
            </a:r>
            <a:r>
              <a:rPr dirty="0" sz="1100">
                <a:latin typeface="Arial"/>
                <a:cs typeface="Arial"/>
              </a:rPr>
              <a:t>in  </a:t>
            </a:r>
            <a:r>
              <a:rPr dirty="0" sz="1100" spc="-5">
                <a:latin typeface="Arial"/>
                <a:cs typeface="Arial"/>
              </a:rPr>
              <a:t>manufacturing and transport in developing countries will have serious consequences for public  health. The World Health Organization (WHO) estimates that 1.5 billion people lived in cities  with unsafe levels of airborne particulate matter </a:t>
            </a:r>
            <a:r>
              <a:rPr dirty="0" sz="1100">
                <a:latin typeface="Arial"/>
                <a:cs typeface="Arial"/>
              </a:rPr>
              <a:t>and </a:t>
            </a:r>
            <a:r>
              <a:rPr dirty="0" sz="1100" spc="-5">
                <a:latin typeface="Arial"/>
                <a:cs typeface="Arial"/>
              </a:rPr>
              <a:t>1 billion were exposed to unacceptably high  levels of sulfur dioxide. Other compounds, such as nitrous oxides and organic compounds rise  in importance as industrialization proceeds. By contaminating water supplies, contributing to  dangerous levels of air pollution, and damaging public and private property, industrial pollution  can exact a high toll in terms of human health and economic</a:t>
            </a:r>
            <a:r>
              <a:rPr dirty="0" sz="1100" spc="70">
                <a:latin typeface="Arial"/>
                <a:cs typeface="Arial"/>
              </a:rPr>
              <a:t> </a:t>
            </a:r>
            <a:r>
              <a:rPr dirty="0" sz="1100" spc="-5">
                <a:latin typeface="Arial"/>
                <a:cs typeface="Arial"/>
              </a:rPr>
              <a:t>prosperity.</a:t>
            </a:r>
            <a:endParaRPr sz="1100">
              <a:latin typeface="Arial"/>
              <a:cs typeface="Arial"/>
            </a:endParaRPr>
          </a:p>
          <a:p>
            <a:pPr>
              <a:lnSpc>
                <a:spcPct val="100000"/>
              </a:lnSpc>
            </a:pPr>
            <a:endParaRPr sz="1050">
              <a:latin typeface="Arial"/>
              <a:cs typeface="Arial"/>
            </a:endParaRPr>
          </a:p>
          <a:p>
            <a:pPr algn="just" marL="12700">
              <a:lnSpc>
                <a:spcPct val="100000"/>
              </a:lnSpc>
              <a:spcBef>
                <a:spcPts val="5"/>
              </a:spcBef>
            </a:pPr>
            <a:r>
              <a:rPr dirty="0" sz="1100" spc="-5" b="1">
                <a:latin typeface="Arial"/>
                <a:cs typeface="Arial"/>
              </a:rPr>
              <a:t>PROBLEMS OF CONGESTION, CLEAN </a:t>
            </a:r>
            <a:r>
              <a:rPr dirty="0" sz="1100" b="1">
                <a:latin typeface="Arial"/>
                <a:cs typeface="Arial"/>
              </a:rPr>
              <a:t>WATER, AND</a:t>
            </a:r>
            <a:r>
              <a:rPr dirty="0" sz="1100" spc="75" b="1">
                <a:latin typeface="Arial"/>
                <a:cs typeface="Arial"/>
              </a:rPr>
              <a:t> </a:t>
            </a:r>
            <a:r>
              <a:rPr dirty="0" sz="1100" spc="-5" b="1">
                <a:latin typeface="Arial"/>
                <a:cs typeface="Arial"/>
              </a:rPr>
              <a:t>SANITATION</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As serious as the threat of rising levels of industrial emissions of pollution may be to the health  of urban inhabitants in developing countries, </a:t>
            </a:r>
            <a:r>
              <a:rPr dirty="0" sz="1100">
                <a:latin typeface="Arial"/>
                <a:cs typeface="Arial"/>
              </a:rPr>
              <a:t>the </a:t>
            </a:r>
            <a:r>
              <a:rPr dirty="0" sz="1100" spc="-5">
                <a:latin typeface="Arial"/>
                <a:cs typeface="Arial"/>
              </a:rPr>
              <a:t>two most important environmental factors  affecting the health of the urban poor are the inaccessibility of clean water and the lack of  sanitation. Although much progress has been made, in </a:t>
            </a:r>
            <a:r>
              <a:rPr dirty="0" sz="1100">
                <a:latin typeface="Arial"/>
                <a:cs typeface="Arial"/>
              </a:rPr>
              <a:t>2009, </a:t>
            </a:r>
            <a:r>
              <a:rPr dirty="0" sz="1100" spc="-5">
                <a:latin typeface="Arial"/>
                <a:cs typeface="Arial"/>
              </a:rPr>
              <a:t>over a </a:t>
            </a:r>
            <a:r>
              <a:rPr dirty="0" sz="1100">
                <a:latin typeface="Arial"/>
                <a:cs typeface="Arial"/>
              </a:rPr>
              <a:t>billion </a:t>
            </a:r>
            <a:r>
              <a:rPr dirty="0" sz="1100" spc="-5">
                <a:latin typeface="Arial"/>
                <a:cs typeface="Arial"/>
              </a:rPr>
              <a:t>people still had no  access to an improved water source, and 1.5 billion had no improved sanitation. The lack of  sanitary conditions in urban slums often presents severe threats to human health. The urban  statistics can be somewhat misleading because millions of urban residents were counted as  having access if they shared a single faucet with </a:t>
            </a:r>
            <a:r>
              <a:rPr dirty="0" sz="1100">
                <a:latin typeface="Arial"/>
                <a:cs typeface="Arial"/>
              </a:rPr>
              <a:t>over </a:t>
            </a:r>
            <a:r>
              <a:rPr dirty="0" sz="1100" spc="-5">
                <a:latin typeface="Arial"/>
                <a:cs typeface="Arial"/>
              </a:rPr>
              <a:t>1,000 residents at a considerable  distance from their homes. Because there are no alternative sources, many of the poor collect  drinking water from rivers, streams, and canals that are polluted with human excreta and  chemicals.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Although the poorest urban dwellers experience many of the same adverse environmental  conditions as the rural poor, including heavy indoor pollution and unsanitary conditions,  crowding can intensify exposure. </a:t>
            </a:r>
            <a:r>
              <a:rPr dirty="0" sz="1100">
                <a:latin typeface="Arial"/>
                <a:cs typeface="Arial"/>
              </a:rPr>
              <a:t>Raw </a:t>
            </a:r>
            <a:r>
              <a:rPr dirty="0" sz="1100" spc="-5">
                <a:latin typeface="Arial"/>
                <a:cs typeface="Arial"/>
              </a:rPr>
              <a:t>sewage runs in many streets, mixing with garbage and  contributing to the spread of disease. This is reflected in the fact that death rates in urban  shanties are occasionally higher than in rural areas, even though the latter generally have </a:t>
            </a:r>
            <a:r>
              <a:rPr dirty="0" sz="1100">
                <a:latin typeface="Arial"/>
                <a:cs typeface="Arial"/>
              </a:rPr>
              <a:t>fewer  </a:t>
            </a:r>
            <a:r>
              <a:rPr dirty="0" sz="1100" spc="-5">
                <a:latin typeface="Arial"/>
                <a:cs typeface="Arial"/>
              </a:rPr>
              <a:t>services.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health and economic costs associated with these conditions are enormous (see Chapter 8)  and represent formidable obstacles to the improvement of living standards. But children in  households with adequate facilities are 60% less likely to die from diarrhea than those in  households without such</a:t>
            </a:r>
            <a:r>
              <a:rPr dirty="0" sz="1100">
                <a:latin typeface="Arial"/>
                <a:cs typeface="Arial"/>
              </a:rPr>
              <a:t> </a:t>
            </a:r>
            <a:r>
              <a:rPr dirty="0" sz="1100" spc="-5">
                <a:latin typeface="Arial"/>
                <a:cs typeface="Arial"/>
              </a:rPr>
              <a:t>facilities.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222</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797687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33</a:t>
            </a:r>
            <a:endParaRPr sz="1100">
              <a:latin typeface="Arial"/>
              <a:cs typeface="Arial"/>
            </a:endParaRPr>
          </a:p>
          <a:p>
            <a:pPr marL="12700" marR="656590" indent="651510">
              <a:lnSpc>
                <a:spcPct val="191400"/>
              </a:lnSpc>
              <a:spcBef>
                <a:spcPts val="15"/>
              </a:spcBef>
            </a:pPr>
            <a:r>
              <a:rPr dirty="0" sz="1100" spc="-5" b="1">
                <a:latin typeface="Arial"/>
                <a:cs typeface="Arial"/>
              </a:rPr>
              <a:t>THE ENVIRONMENT AND ECONOMIC DEVELOPMENT (CONTINUED4)  POLICY OPTIONS IN DEVELOPING AND DEVELOPED</a:t>
            </a:r>
            <a:r>
              <a:rPr dirty="0" sz="1100" spc="50" b="1">
                <a:latin typeface="Arial"/>
                <a:cs typeface="Arial"/>
              </a:rPr>
              <a:t> </a:t>
            </a:r>
            <a:r>
              <a:rPr dirty="0" sz="1100" spc="-5" b="1">
                <a:latin typeface="Arial"/>
                <a:cs typeface="Arial"/>
              </a:rPr>
              <a:t>COUNTRIES</a:t>
            </a:r>
            <a:endParaRPr sz="1100">
              <a:latin typeface="Arial"/>
              <a:cs typeface="Arial"/>
            </a:endParaRPr>
          </a:p>
          <a:p>
            <a:pPr>
              <a:lnSpc>
                <a:spcPct val="100000"/>
              </a:lnSpc>
            </a:pPr>
            <a:endParaRPr sz="1150">
              <a:latin typeface="Arial"/>
              <a:cs typeface="Arial"/>
            </a:endParaRPr>
          </a:p>
          <a:p>
            <a:pPr marL="12700">
              <a:lnSpc>
                <a:spcPct val="100000"/>
              </a:lnSpc>
            </a:pPr>
            <a:r>
              <a:rPr dirty="0" sz="1100" spc="-10" b="1">
                <a:latin typeface="Arial"/>
                <a:cs typeface="Arial"/>
              </a:rPr>
              <a:t>WHAT </a:t>
            </a:r>
            <a:r>
              <a:rPr dirty="0" sz="1100" spc="-5" b="1">
                <a:latin typeface="Arial"/>
                <a:cs typeface="Arial"/>
              </a:rPr>
              <a:t>DEVELOPING COUNTRIES CAN</a:t>
            </a:r>
            <a:r>
              <a:rPr dirty="0" sz="1100" spc="20" b="1">
                <a:latin typeface="Arial"/>
                <a:cs typeface="Arial"/>
              </a:rPr>
              <a:t> </a:t>
            </a:r>
            <a:r>
              <a:rPr dirty="0" sz="1100" spc="-10" b="1">
                <a:latin typeface="Arial"/>
                <a:cs typeface="Arial"/>
              </a:rPr>
              <a:t>DO</a:t>
            </a:r>
            <a:endParaRPr sz="1100">
              <a:latin typeface="Arial"/>
              <a:cs typeface="Arial"/>
            </a:endParaRPr>
          </a:p>
          <a:p>
            <a:pPr>
              <a:lnSpc>
                <a:spcPct val="100000"/>
              </a:lnSpc>
            </a:pPr>
            <a:endParaRPr sz="1150">
              <a:latin typeface="Arial"/>
              <a:cs typeface="Arial"/>
            </a:endParaRPr>
          </a:p>
          <a:p>
            <a:pPr algn="r" marR="46355">
              <a:lnSpc>
                <a:spcPct val="100000"/>
              </a:lnSpc>
            </a:pPr>
            <a:r>
              <a:rPr dirty="0" sz="1100" spc="-5">
                <a:latin typeface="Arial"/>
                <a:cs typeface="Arial"/>
              </a:rPr>
              <a:t>A range of policy options is available for governments in developing countries. Seven stand</a:t>
            </a:r>
            <a:r>
              <a:rPr dirty="0" sz="1100" spc="285">
                <a:latin typeface="Arial"/>
                <a:cs typeface="Arial"/>
              </a:rPr>
              <a:t> </a:t>
            </a:r>
            <a:r>
              <a:rPr dirty="0" sz="1100" spc="-5">
                <a:latin typeface="Arial"/>
                <a:cs typeface="Arial"/>
              </a:rPr>
              <a:t>out:</a:t>
            </a:r>
            <a:endParaRPr sz="1100">
              <a:latin typeface="Arial"/>
              <a:cs typeface="Arial"/>
            </a:endParaRPr>
          </a:p>
          <a:p>
            <a:pPr>
              <a:lnSpc>
                <a:spcPct val="100000"/>
              </a:lnSpc>
              <a:spcBef>
                <a:spcPts val="55"/>
              </a:spcBef>
            </a:pPr>
            <a:endParaRPr sz="10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Proper resource</a:t>
            </a:r>
            <a:r>
              <a:rPr dirty="0" sz="1100">
                <a:latin typeface="Arial"/>
                <a:cs typeface="Arial"/>
              </a:rPr>
              <a:t> </a:t>
            </a:r>
            <a:r>
              <a:rPr dirty="0" sz="1100" spc="-5">
                <a:latin typeface="Arial"/>
                <a:cs typeface="Arial"/>
              </a:rPr>
              <a:t>pricing</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Community involvement</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Clearer property rights and resource</a:t>
            </a:r>
            <a:r>
              <a:rPr dirty="0" sz="1100" spc="15">
                <a:latin typeface="Arial"/>
                <a:cs typeface="Arial"/>
              </a:rPr>
              <a:t> </a:t>
            </a:r>
            <a:r>
              <a:rPr dirty="0" sz="1100" spc="-5">
                <a:latin typeface="Arial"/>
                <a:cs typeface="Arial"/>
              </a:rPr>
              <a:t>ownership</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Improving economic alternatives for the</a:t>
            </a:r>
            <a:r>
              <a:rPr dirty="0" sz="1100" spc="20">
                <a:latin typeface="Arial"/>
                <a:cs typeface="Arial"/>
              </a:rPr>
              <a:t> </a:t>
            </a:r>
            <a:r>
              <a:rPr dirty="0" sz="1100" spc="-5">
                <a:latin typeface="Arial"/>
                <a:cs typeface="Arial"/>
              </a:rPr>
              <a:t>poor</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Raising the economic status of</a:t>
            </a:r>
            <a:r>
              <a:rPr dirty="0" sz="1100" spc="15">
                <a:latin typeface="Arial"/>
                <a:cs typeface="Arial"/>
              </a:rPr>
              <a:t> </a:t>
            </a:r>
            <a:r>
              <a:rPr dirty="0" sz="1100" spc="-5">
                <a:latin typeface="Arial"/>
                <a:cs typeface="Arial"/>
              </a:rPr>
              <a:t>women</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Policies to abate industrial</a:t>
            </a:r>
            <a:r>
              <a:rPr dirty="0" sz="1100" spc="10">
                <a:latin typeface="Arial"/>
                <a:cs typeface="Arial"/>
              </a:rPr>
              <a:t> </a:t>
            </a:r>
            <a:r>
              <a:rPr dirty="0" sz="1100" spc="-5">
                <a:latin typeface="Arial"/>
                <a:cs typeface="Arial"/>
              </a:rPr>
              <a:t>emissions</a:t>
            </a:r>
            <a:endParaRPr sz="1100">
              <a:latin typeface="Arial"/>
              <a:cs typeface="Arial"/>
            </a:endParaRPr>
          </a:p>
          <a:p>
            <a:pPr marL="469900" indent="-228600">
              <a:lnSpc>
                <a:spcPts val="1290"/>
              </a:lnSpc>
              <a:buFont typeface="Arial"/>
              <a:buAutoNum type="arabicPeriod"/>
              <a:tabLst>
                <a:tab pos="469900" algn="l"/>
              </a:tabLst>
            </a:pPr>
            <a:r>
              <a:rPr dirty="0" sz="1100" spc="-5">
                <a:latin typeface="Arial"/>
                <a:cs typeface="Arial"/>
              </a:rPr>
              <a:t>Taking a proactive stance toward adapting to climate</a:t>
            </a:r>
            <a:r>
              <a:rPr dirty="0" sz="1100" spc="50">
                <a:latin typeface="Arial"/>
                <a:cs typeface="Arial"/>
              </a:rPr>
              <a:t> </a:t>
            </a:r>
            <a:r>
              <a:rPr dirty="0" sz="1100" spc="-5">
                <a:latin typeface="Arial"/>
                <a:cs typeface="Arial"/>
              </a:rPr>
              <a:t>change.</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a:tabLst>
                <a:tab pos="175895" algn="l"/>
              </a:tabLst>
            </a:pPr>
            <a:r>
              <a:rPr dirty="0" sz="1100" spc="-5" b="1">
                <a:latin typeface="Arial"/>
                <a:cs typeface="Arial"/>
              </a:rPr>
              <a:t>PROPER RESOURCE</a:t>
            </a:r>
            <a:r>
              <a:rPr dirty="0" sz="1100" b="1">
                <a:latin typeface="Arial"/>
                <a:cs typeface="Arial"/>
              </a:rPr>
              <a:t> </a:t>
            </a:r>
            <a:r>
              <a:rPr dirty="0" sz="1100" spc="-5" b="1">
                <a:latin typeface="Arial"/>
                <a:cs typeface="Arial"/>
              </a:rPr>
              <a:t>PRICING</a:t>
            </a:r>
            <a:endParaRPr sz="1100">
              <a:latin typeface="Arial"/>
              <a:cs typeface="Arial"/>
            </a:endParaRPr>
          </a:p>
          <a:p>
            <a:pPr>
              <a:lnSpc>
                <a:spcPct val="100000"/>
              </a:lnSpc>
              <a:spcBef>
                <a:spcPts val="55"/>
              </a:spcBef>
              <a:buFont typeface="Arial"/>
              <a:buAutoNum type="arabicPlain"/>
            </a:pPr>
            <a:endParaRPr sz="1150">
              <a:latin typeface="Arial"/>
              <a:cs typeface="Arial"/>
            </a:endParaRPr>
          </a:p>
          <a:p>
            <a:pPr algn="just" marL="12700" marR="5080">
              <a:lnSpc>
                <a:spcPct val="95800"/>
              </a:lnSpc>
            </a:pPr>
            <a:r>
              <a:rPr dirty="0" sz="1100" spc="-5">
                <a:latin typeface="Arial"/>
                <a:cs typeface="Arial"/>
              </a:rPr>
              <a:t>The most obvious area for reform </a:t>
            </a:r>
            <a:r>
              <a:rPr dirty="0" sz="1100">
                <a:latin typeface="Arial"/>
                <a:cs typeface="Arial"/>
              </a:rPr>
              <a:t>is </a:t>
            </a:r>
            <a:r>
              <a:rPr dirty="0" sz="1100" spc="-5">
                <a:latin typeface="Arial"/>
                <a:cs typeface="Arial"/>
              </a:rPr>
              <a:t>probably government pricing policy, including subsidies,  which can exacerbate resource shortages or encourage unsustainable methods of production.  Often programs that were ostensibly designed to reduce hardships for the very </a:t>
            </a:r>
            <a:r>
              <a:rPr dirty="0" sz="1100">
                <a:latin typeface="Arial"/>
                <a:cs typeface="Arial"/>
              </a:rPr>
              <a:t>poor </a:t>
            </a:r>
            <a:r>
              <a:rPr dirty="0" sz="1100" spc="-5">
                <a:latin typeface="Arial"/>
                <a:cs typeface="Arial"/>
              </a:rPr>
              <a:t>have had  little impact on poverty and have worsened </a:t>
            </a:r>
            <a:r>
              <a:rPr dirty="0" sz="1100">
                <a:latin typeface="Arial"/>
                <a:cs typeface="Arial"/>
              </a:rPr>
              <a:t>existing </a:t>
            </a:r>
            <a:r>
              <a:rPr dirty="0" sz="1100" spc="-5">
                <a:latin typeface="Arial"/>
                <a:cs typeface="Arial"/>
              </a:rPr>
              <a:t>inequalities. High-income households have  frequently been the predominant beneficiaries of environmentally damaging energy, water, and  agricultural subsidies. For example, on average in developing countries, the price paid for piped  water is less than the total cost of supplying it. Due to rationing, such subsidies frequently  benefit only people with higher incomes. Much public water is simply stolen—often by wealthy  individuals. The result has often been a wasteful and unsustainable use of resources. Even  though elimination of misdirected subsidies is a relatively costless (or profitable) way of  protecting the environment, the political stakes are high where powerful elites stand to lose  lucrative government</a:t>
            </a:r>
            <a:r>
              <a:rPr dirty="0" sz="1100" spc="5">
                <a:latin typeface="Arial"/>
                <a:cs typeface="Arial"/>
              </a:rPr>
              <a:t> </a:t>
            </a:r>
            <a:r>
              <a:rPr dirty="0" sz="1100" spc="-5">
                <a:latin typeface="Arial"/>
                <a:cs typeface="Arial"/>
              </a:rPr>
              <a:t>transfers.</a:t>
            </a:r>
            <a:endParaRPr sz="1100">
              <a:latin typeface="Arial"/>
              <a:cs typeface="Arial"/>
            </a:endParaRPr>
          </a:p>
          <a:p>
            <a:pPr>
              <a:lnSpc>
                <a:spcPct val="100000"/>
              </a:lnSpc>
              <a:spcBef>
                <a:spcPts val="5"/>
              </a:spcBef>
            </a:pPr>
            <a:endParaRPr sz="1050">
              <a:latin typeface="Arial"/>
              <a:cs typeface="Arial"/>
            </a:endParaRPr>
          </a:p>
          <a:p>
            <a:pPr marL="175260" indent="-163195">
              <a:lnSpc>
                <a:spcPct val="100000"/>
              </a:lnSpc>
              <a:buAutoNum type="arabicPlain" startAt="2"/>
              <a:tabLst>
                <a:tab pos="175895" algn="l"/>
              </a:tabLst>
            </a:pPr>
            <a:r>
              <a:rPr dirty="0" sz="1100" spc="-5" b="1">
                <a:latin typeface="Arial"/>
                <a:cs typeface="Arial"/>
              </a:rPr>
              <a:t>COMMUNITY INVOLVEMENT</a:t>
            </a:r>
            <a:endParaRPr sz="1100">
              <a:latin typeface="Arial"/>
              <a:cs typeface="Arial"/>
            </a:endParaRPr>
          </a:p>
          <a:p>
            <a:pPr>
              <a:lnSpc>
                <a:spcPct val="100000"/>
              </a:lnSpc>
              <a:spcBef>
                <a:spcPts val="50"/>
              </a:spcBef>
              <a:buFont typeface="Arial"/>
              <a:buAutoNum type="arabicPlain" startAt="2"/>
            </a:pPr>
            <a:endParaRPr sz="1150">
              <a:latin typeface="Arial"/>
              <a:cs typeface="Arial"/>
            </a:endParaRPr>
          </a:p>
          <a:p>
            <a:pPr algn="just" marL="12700" marR="5715">
              <a:lnSpc>
                <a:spcPct val="95800"/>
              </a:lnSpc>
            </a:pPr>
            <a:r>
              <a:rPr dirty="0" sz="1100" spc="-5">
                <a:latin typeface="Arial"/>
                <a:cs typeface="Arial"/>
              </a:rPr>
              <a:t>Programs to improve environmental conditions are likely to be most effective when </a:t>
            </a:r>
            <a:r>
              <a:rPr dirty="0" sz="1100">
                <a:latin typeface="Arial"/>
                <a:cs typeface="Arial"/>
              </a:rPr>
              <a:t>they </a:t>
            </a:r>
            <a:r>
              <a:rPr dirty="0" sz="1100" spc="-5">
                <a:latin typeface="Arial"/>
                <a:cs typeface="Arial"/>
              </a:rPr>
              <a:t>work in  tandem with community networks, ensuring that program design is consistent with both local  and national objectives. The experience of development agencies has demonstrated that  grassroots efforts can be more cost-effective because they generally involve the use of low-cost  alternatives and provide jobs to local populations. When poor communities truly benefit from  public-works programs, residents are often willing and able to contribute much of the program  costs. Institutions facilitating cooperative management of common property resources can also  be encouraged.</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startAt="3"/>
              <a:tabLst>
                <a:tab pos="175895" algn="l"/>
              </a:tabLst>
            </a:pPr>
            <a:r>
              <a:rPr dirty="0" sz="1100" spc="-5" b="1">
                <a:latin typeface="Arial"/>
                <a:cs typeface="Arial"/>
              </a:rPr>
              <a:t>CLEARER PROPERTY </a:t>
            </a:r>
            <a:r>
              <a:rPr dirty="0" sz="1100" spc="-10" b="1">
                <a:latin typeface="Arial"/>
                <a:cs typeface="Arial"/>
              </a:rPr>
              <a:t>RIGHTS </a:t>
            </a:r>
            <a:r>
              <a:rPr dirty="0" sz="1100" spc="-5" b="1">
                <a:latin typeface="Arial"/>
                <a:cs typeface="Arial"/>
              </a:rPr>
              <a:t>AND RESOURCE</a:t>
            </a:r>
            <a:r>
              <a:rPr dirty="0" sz="1100" spc="30" b="1">
                <a:latin typeface="Arial"/>
                <a:cs typeface="Arial"/>
              </a:rPr>
              <a:t> </a:t>
            </a:r>
            <a:r>
              <a:rPr dirty="0" sz="1100" spc="-5" b="1">
                <a:latin typeface="Arial"/>
                <a:cs typeface="Arial"/>
              </a:rPr>
              <a:t>OWNERSHIP</a:t>
            </a:r>
            <a:endParaRPr sz="1100">
              <a:latin typeface="Arial"/>
              <a:cs typeface="Arial"/>
            </a:endParaRPr>
          </a:p>
          <a:p>
            <a:pPr>
              <a:lnSpc>
                <a:spcPct val="100000"/>
              </a:lnSpc>
              <a:spcBef>
                <a:spcPts val="20"/>
              </a:spcBef>
            </a:pPr>
            <a:endParaRPr sz="1200">
              <a:latin typeface="Arial"/>
              <a:cs typeface="Arial"/>
            </a:endParaRPr>
          </a:p>
          <a:p>
            <a:pPr algn="just" marL="12700" marR="5715">
              <a:lnSpc>
                <a:spcPts val="1270"/>
              </a:lnSpc>
            </a:pPr>
            <a:r>
              <a:rPr dirty="0" sz="1100" spc="-5">
                <a:latin typeface="Arial"/>
                <a:cs typeface="Arial"/>
              </a:rPr>
              <a:t>Investments in household sanitation and water and on-farm improvements often represent a  large portion of lifetime savings for the poor, the loss of which can impose harsh economic  consequences</a:t>
            </a:r>
            <a:r>
              <a:rPr dirty="0" sz="1100" spc="100">
                <a:latin typeface="Arial"/>
                <a:cs typeface="Arial"/>
              </a:rPr>
              <a:t> </a:t>
            </a:r>
            <a:r>
              <a:rPr dirty="0" sz="1100" spc="-5">
                <a:latin typeface="Arial"/>
                <a:cs typeface="Arial"/>
              </a:rPr>
              <a:t>on</a:t>
            </a:r>
            <a:r>
              <a:rPr dirty="0" sz="1100" spc="105">
                <a:latin typeface="Arial"/>
                <a:cs typeface="Arial"/>
              </a:rPr>
              <a:t> </a:t>
            </a:r>
            <a:r>
              <a:rPr dirty="0" sz="1100" spc="-5">
                <a:latin typeface="Arial"/>
                <a:cs typeface="Arial"/>
              </a:rPr>
              <a:t>households.</a:t>
            </a:r>
            <a:r>
              <a:rPr dirty="0" sz="1100" spc="100">
                <a:latin typeface="Arial"/>
                <a:cs typeface="Arial"/>
              </a:rPr>
              <a:t> </a:t>
            </a:r>
            <a:r>
              <a:rPr dirty="0" sz="1100" spc="-5">
                <a:latin typeface="Arial"/>
                <a:cs typeface="Arial"/>
              </a:rPr>
              <a:t>Hence</a:t>
            </a:r>
            <a:r>
              <a:rPr dirty="0" sz="1100" spc="105">
                <a:latin typeface="Arial"/>
                <a:cs typeface="Arial"/>
              </a:rPr>
              <a:t> </a:t>
            </a:r>
            <a:r>
              <a:rPr dirty="0" sz="1100" spc="-5">
                <a:latin typeface="Arial"/>
                <a:cs typeface="Arial"/>
              </a:rPr>
              <a:t>the</a:t>
            </a:r>
            <a:r>
              <a:rPr dirty="0" sz="1100" spc="100">
                <a:latin typeface="Arial"/>
                <a:cs typeface="Arial"/>
              </a:rPr>
              <a:t> </a:t>
            </a:r>
            <a:r>
              <a:rPr dirty="0" sz="1100" spc="-5">
                <a:latin typeface="Arial"/>
                <a:cs typeface="Arial"/>
              </a:rPr>
              <a:t>lack</a:t>
            </a:r>
            <a:r>
              <a:rPr dirty="0" sz="1100" spc="100">
                <a:latin typeface="Arial"/>
                <a:cs typeface="Arial"/>
              </a:rPr>
              <a:t> </a:t>
            </a:r>
            <a:r>
              <a:rPr dirty="0" sz="1100" spc="-5">
                <a:latin typeface="Arial"/>
                <a:cs typeface="Arial"/>
              </a:rPr>
              <a:t>of</a:t>
            </a:r>
            <a:r>
              <a:rPr dirty="0" sz="1100" spc="100">
                <a:latin typeface="Arial"/>
                <a:cs typeface="Arial"/>
              </a:rPr>
              <a:t> </a:t>
            </a:r>
            <a:r>
              <a:rPr dirty="0" sz="1100" spc="-5">
                <a:latin typeface="Arial"/>
                <a:cs typeface="Arial"/>
              </a:rPr>
              <a:t>secure</a:t>
            </a:r>
            <a:r>
              <a:rPr dirty="0" sz="1100" spc="105">
                <a:latin typeface="Arial"/>
                <a:cs typeface="Arial"/>
              </a:rPr>
              <a:t> </a:t>
            </a:r>
            <a:r>
              <a:rPr dirty="0" sz="1100" spc="-5">
                <a:latin typeface="Arial"/>
                <a:cs typeface="Arial"/>
              </a:rPr>
              <a:t>tenure</a:t>
            </a:r>
            <a:r>
              <a:rPr dirty="0" sz="1100" spc="100">
                <a:latin typeface="Arial"/>
                <a:cs typeface="Arial"/>
              </a:rPr>
              <a:t> </a:t>
            </a:r>
            <a:r>
              <a:rPr dirty="0" sz="1100" spc="-5">
                <a:latin typeface="Arial"/>
                <a:cs typeface="Arial"/>
              </a:rPr>
              <a:t>on</a:t>
            </a:r>
            <a:r>
              <a:rPr dirty="0" sz="1100" spc="105">
                <a:latin typeface="Arial"/>
                <a:cs typeface="Arial"/>
              </a:rPr>
              <a:t> </a:t>
            </a:r>
            <a:r>
              <a:rPr dirty="0" sz="1100" spc="-5">
                <a:latin typeface="Arial"/>
                <a:cs typeface="Arial"/>
              </a:rPr>
              <a:t>rural</a:t>
            </a:r>
            <a:r>
              <a:rPr dirty="0" sz="1100" spc="100">
                <a:latin typeface="Arial"/>
                <a:cs typeface="Arial"/>
              </a:rPr>
              <a:t> </a:t>
            </a:r>
            <a:r>
              <a:rPr dirty="0" sz="1100" spc="-5">
                <a:latin typeface="Arial"/>
                <a:cs typeface="Arial"/>
              </a:rPr>
              <a:t>or</a:t>
            </a:r>
            <a:r>
              <a:rPr dirty="0" sz="1100" spc="105">
                <a:latin typeface="Arial"/>
                <a:cs typeface="Arial"/>
              </a:rPr>
              <a:t> </a:t>
            </a:r>
            <a:r>
              <a:rPr dirty="0" sz="1100" spc="-5">
                <a:latin typeface="Arial"/>
                <a:cs typeface="Arial"/>
              </a:rPr>
              <a:t>urban</a:t>
            </a:r>
            <a:r>
              <a:rPr dirty="0" sz="1100" spc="95">
                <a:latin typeface="Arial"/>
                <a:cs typeface="Arial"/>
              </a:rPr>
              <a:t> </a:t>
            </a:r>
            <a:r>
              <a:rPr dirty="0" sz="1100" spc="-5">
                <a:latin typeface="Arial"/>
                <a:cs typeface="Arial"/>
              </a:rPr>
              <a:t>property</a:t>
            </a:r>
            <a:r>
              <a:rPr dirty="0" sz="1100" spc="105">
                <a:latin typeface="Arial"/>
                <a:cs typeface="Arial"/>
              </a:rPr>
              <a:t> </a:t>
            </a:r>
            <a:r>
              <a:rPr dirty="0" sz="1100" spc="-5">
                <a:latin typeface="Arial"/>
                <a:cs typeface="Arial"/>
              </a:rPr>
              <a:t>can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223</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47659"/>
          </a:xfrm>
          <a:prstGeom prst="rect">
            <a:avLst/>
          </a:prstGeom>
        </p:spPr>
        <p:txBody>
          <a:bodyPr wrap="square" lIns="0" tIns="22860" rIns="0" bIns="0" rtlCol="0" vert="horz">
            <a:spAutoFit/>
          </a:bodyPr>
          <a:lstStyle/>
          <a:p>
            <a:pPr marL="12700" marR="7620">
              <a:lnSpc>
                <a:spcPts val="1270"/>
              </a:lnSpc>
              <a:spcBef>
                <a:spcPts val="180"/>
              </a:spcBef>
            </a:pPr>
            <a:r>
              <a:rPr dirty="0" sz="1100" spc="-5">
                <a:latin typeface="Arial"/>
                <a:cs typeface="Arial"/>
              </a:rPr>
              <a:t>greatly hinder investment in environmental upgrading. Legalization of tenure can lead to  improved </a:t>
            </a:r>
            <a:r>
              <a:rPr dirty="0" sz="1100">
                <a:latin typeface="Arial"/>
                <a:cs typeface="Arial"/>
              </a:rPr>
              <a:t>living </a:t>
            </a:r>
            <a:r>
              <a:rPr dirty="0" sz="1100" spc="-5">
                <a:latin typeface="Arial"/>
                <a:cs typeface="Arial"/>
              </a:rPr>
              <a:t>conditions for the poor and increases in agricultural</a:t>
            </a:r>
            <a:r>
              <a:rPr dirty="0" sz="1100" spc="80">
                <a:latin typeface="Arial"/>
                <a:cs typeface="Arial"/>
              </a:rPr>
              <a:t> </a:t>
            </a:r>
            <a:r>
              <a:rPr dirty="0" sz="1100" spc="-5">
                <a:latin typeface="Arial"/>
                <a:cs typeface="Arial"/>
              </a:rPr>
              <a:t>investments.</a:t>
            </a:r>
            <a:endParaRPr sz="1100">
              <a:latin typeface="Arial"/>
              <a:cs typeface="Arial"/>
            </a:endParaRPr>
          </a:p>
          <a:p>
            <a:pPr marL="12700" marR="5080">
              <a:lnSpc>
                <a:spcPts val="1260"/>
              </a:lnSpc>
            </a:pPr>
            <a:r>
              <a:rPr dirty="0" sz="1100" spc="-5">
                <a:latin typeface="Arial"/>
                <a:cs typeface="Arial"/>
              </a:rPr>
              <a:t>In many cases, however, land reform </a:t>
            </a:r>
            <a:r>
              <a:rPr dirty="0" sz="1100">
                <a:latin typeface="Arial"/>
                <a:cs typeface="Arial"/>
              </a:rPr>
              <a:t>may </a:t>
            </a:r>
            <a:r>
              <a:rPr dirty="0" sz="1100" spc="-5">
                <a:latin typeface="Arial"/>
                <a:cs typeface="Arial"/>
              </a:rPr>
              <a:t>be </a:t>
            </a:r>
            <a:r>
              <a:rPr dirty="0" sz="1100">
                <a:latin typeface="Arial"/>
                <a:cs typeface="Arial"/>
              </a:rPr>
              <a:t>necessary </a:t>
            </a:r>
            <a:r>
              <a:rPr dirty="0" sz="1100" spc="-5">
                <a:latin typeface="Arial"/>
                <a:cs typeface="Arial"/>
              </a:rPr>
              <a:t>(see Chapter 9). It is not uncommon </a:t>
            </a:r>
            <a:r>
              <a:rPr dirty="0" sz="1100">
                <a:latin typeface="Arial"/>
                <a:cs typeface="Arial"/>
              </a:rPr>
              <a:t>for  </a:t>
            </a:r>
            <a:r>
              <a:rPr dirty="0" sz="1100" spc="-5">
                <a:latin typeface="Arial"/>
                <a:cs typeface="Arial"/>
              </a:rPr>
              <a:t>renters</a:t>
            </a:r>
            <a:r>
              <a:rPr dirty="0" sz="1100" spc="110">
                <a:latin typeface="Arial"/>
                <a:cs typeface="Arial"/>
              </a:rPr>
              <a:t> </a:t>
            </a:r>
            <a:r>
              <a:rPr dirty="0" sz="1100" spc="-5">
                <a:latin typeface="Arial"/>
                <a:cs typeface="Arial"/>
              </a:rPr>
              <a:t>or</a:t>
            </a:r>
            <a:r>
              <a:rPr dirty="0" sz="1100" spc="110">
                <a:latin typeface="Arial"/>
                <a:cs typeface="Arial"/>
              </a:rPr>
              <a:t> </a:t>
            </a:r>
            <a:r>
              <a:rPr dirty="0" sz="1100" spc="-5">
                <a:latin typeface="Arial"/>
                <a:cs typeface="Arial"/>
              </a:rPr>
              <a:t>sharecroppers</a:t>
            </a:r>
            <a:r>
              <a:rPr dirty="0" sz="1100" spc="110">
                <a:latin typeface="Arial"/>
                <a:cs typeface="Arial"/>
              </a:rPr>
              <a:t> </a:t>
            </a:r>
            <a:r>
              <a:rPr dirty="0" sz="1100" spc="-5">
                <a:latin typeface="Arial"/>
                <a:cs typeface="Arial"/>
              </a:rPr>
              <a:t>to</a:t>
            </a:r>
            <a:r>
              <a:rPr dirty="0" sz="1100" spc="114">
                <a:latin typeface="Arial"/>
                <a:cs typeface="Arial"/>
              </a:rPr>
              <a:t> </a:t>
            </a:r>
            <a:r>
              <a:rPr dirty="0" sz="1100" spc="-5">
                <a:latin typeface="Arial"/>
                <a:cs typeface="Arial"/>
              </a:rPr>
              <a:t>lose</a:t>
            </a:r>
            <a:r>
              <a:rPr dirty="0" sz="1100" spc="110">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economic</a:t>
            </a:r>
            <a:r>
              <a:rPr dirty="0" sz="1100" spc="114">
                <a:latin typeface="Arial"/>
                <a:cs typeface="Arial"/>
              </a:rPr>
              <a:t> </a:t>
            </a:r>
            <a:r>
              <a:rPr dirty="0" sz="1100" spc="-5">
                <a:latin typeface="Arial"/>
                <a:cs typeface="Arial"/>
              </a:rPr>
              <a:t>gains</a:t>
            </a:r>
            <a:r>
              <a:rPr dirty="0" sz="1100" spc="114">
                <a:latin typeface="Arial"/>
                <a:cs typeface="Arial"/>
              </a:rPr>
              <a:t> </a:t>
            </a:r>
            <a:r>
              <a:rPr dirty="0" sz="1100" spc="-5">
                <a:latin typeface="Arial"/>
                <a:cs typeface="Arial"/>
              </a:rPr>
              <a:t>from</a:t>
            </a:r>
            <a:r>
              <a:rPr dirty="0" sz="1100" spc="110">
                <a:latin typeface="Arial"/>
                <a:cs typeface="Arial"/>
              </a:rPr>
              <a:t> </a:t>
            </a:r>
            <a:r>
              <a:rPr dirty="0" sz="1100" spc="-5">
                <a:latin typeface="Arial"/>
                <a:cs typeface="Arial"/>
              </a:rPr>
              <a:t>their</a:t>
            </a:r>
            <a:r>
              <a:rPr dirty="0" sz="1100" spc="110">
                <a:latin typeface="Arial"/>
                <a:cs typeface="Arial"/>
              </a:rPr>
              <a:t> </a:t>
            </a:r>
            <a:r>
              <a:rPr dirty="0" sz="1100" spc="-5">
                <a:latin typeface="Arial"/>
                <a:cs typeface="Arial"/>
              </a:rPr>
              <a:t>farm</a:t>
            </a:r>
            <a:r>
              <a:rPr dirty="0" sz="1100" spc="114">
                <a:latin typeface="Arial"/>
                <a:cs typeface="Arial"/>
              </a:rPr>
              <a:t> </a:t>
            </a:r>
            <a:r>
              <a:rPr dirty="0" sz="1100" spc="-5">
                <a:latin typeface="Arial"/>
                <a:cs typeface="Arial"/>
              </a:rPr>
              <a:t>investments</a:t>
            </a:r>
            <a:r>
              <a:rPr dirty="0" sz="1100" spc="110">
                <a:latin typeface="Arial"/>
                <a:cs typeface="Arial"/>
              </a:rPr>
              <a:t> </a:t>
            </a:r>
            <a:r>
              <a:rPr dirty="0" sz="1100" spc="-5">
                <a:latin typeface="Arial"/>
                <a:cs typeface="Arial"/>
              </a:rPr>
              <a:t>because</a:t>
            </a:r>
            <a:r>
              <a:rPr dirty="0" sz="1100" spc="110">
                <a:latin typeface="Arial"/>
                <a:cs typeface="Arial"/>
              </a:rPr>
              <a:t> </a:t>
            </a:r>
            <a:r>
              <a:rPr dirty="0" sz="1100" spc="-5">
                <a:latin typeface="Arial"/>
                <a:cs typeface="Arial"/>
              </a:rPr>
              <a:t>it</a:t>
            </a:r>
            <a:r>
              <a:rPr dirty="0" sz="1100" spc="114">
                <a:latin typeface="Arial"/>
                <a:cs typeface="Arial"/>
              </a:rPr>
              <a:t> </a:t>
            </a:r>
            <a:r>
              <a:rPr dirty="0" sz="1100" spc="-5">
                <a:latin typeface="Arial"/>
                <a:cs typeface="Arial"/>
              </a:rPr>
              <a:t>is</a:t>
            </a:r>
            <a:endParaRPr sz="1100">
              <a:latin typeface="Arial"/>
              <a:cs typeface="Arial"/>
            </a:endParaRPr>
          </a:p>
          <a:p>
            <a:pPr marL="12700">
              <a:lnSpc>
                <a:spcPts val="1205"/>
              </a:lnSpc>
            </a:pPr>
            <a:r>
              <a:rPr dirty="0" sz="1100" spc="-5">
                <a:latin typeface="Arial"/>
                <a:cs typeface="Arial"/>
              </a:rPr>
              <a:t>relatively</a:t>
            </a:r>
            <a:r>
              <a:rPr dirty="0" sz="1100" spc="135">
                <a:latin typeface="Arial"/>
                <a:cs typeface="Arial"/>
              </a:rPr>
              <a:t> </a:t>
            </a:r>
            <a:r>
              <a:rPr dirty="0" sz="1100" spc="-5">
                <a:latin typeface="Arial"/>
                <a:cs typeface="Arial"/>
              </a:rPr>
              <a:t>easy</a:t>
            </a:r>
            <a:r>
              <a:rPr dirty="0" sz="1100" spc="135">
                <a:latin typeface="Arial"/>
                <a:cs typeface="Arial"/>
              </a:rPr>
              <a:t> </a:t>
            </a:r>
            <a:r>
              <a:rPr dirty="0" sz="1100" spc="-5">
                <a:latin typeface="Arial"/>
                <a:cs typeface="Arial"/>
              </a:rPr>
              <a:t>for</a:t>
            </a:r>
            <a:r>
              <a:rPr dirty="0" sz="1100" spc="140">
                <a:latin typeface="Arial"/>
                <a:cs typeface="Arial"/>
              </a:rPr>
              <a:t> </a:t>
            </a:r>
            <a:r>
              <a:rPr dirty="0" sz="1100" spc="-5">
                <a:latin typeface="Arial"/>
                <a:cs typeface="Arial"/>
              </a:rPr>
              <a:t>landlords</a:t>
            </a:r>
            <a:r>
              <a:rPr dirty="0" sz="1100" spc="135">
                <a:latin typeface="Arial"/>
                <a:cs typeface="Arial"/>
              </a:rPr>
              <a:t> </a:t>
            </a:r>
            <a:r>
              <a:rPr dirty="0" sz="1100" spc="-5">
                <a:latin typeface="Arial"/>
                <a:cs typeface="Arial"/>
              </a:rPr>
              <a:t>to</a:t>
            </a:r>
            <a:r>
              <a:rPr dirty="0" sz="1100" spc="140">
                <a:latin typeface="Arial"/>
                <a:cs typeface="Arial"/>
              </a:rPr>
              <a:t> </a:t>
            </a:r>
            <a:r>
              <a:rPr dirty="0" sz="1100" spc="-5">
                <a:latin typeface="Arial"/>
                <a:cs typeface="Arial"/>
              </a:rPr>
              <a:t>extract</a:t>
            </a:r>
            <a:r>
              <a:rPr dirty="0" sz="1100" spc="135">
                <a:latin typeface="Arial"/>
                <a:cs typeface="Arial"/>
              </a:rPr>
              <a:t> </a:t>
            </a:r>
            <a:r>
              <a:rPr dirty="0" sz="1100" spc="-5">
                <a:latin typeface="Arial"/>
                <a:cs typeface="Arial"/>
              </a:rPr>
              <a:t>higher</a:t>
            </a:r>
            <a:r>
              <a:rPr dirty="0" sz="1100" spc="135">
                <a:latin typeface="Arial"/>
                <a:cs typeface="Arial"/>
              </a:rPr>
              <a:t> </a:t>
            </a:r>
            <a:r>
              <a:rPr dirty="0" sz="1100" spc="-5">
                <a:latin typeface="Arial"/>
                <a:cs typeface="Arial"/>
              </a:rPr>
              <a:t>rents</a:t>
            </a:r>
            <a:r>
              <a:rPr dirty="0" sz="1100" spc="135">
                <a:latin typeface="Arial"/>
                <a:cs typeface="Arial"/>
              </a:rPr>
              <a:t> </a:t>
            </a:r>
            <a:r>
              <a:rPr dirty="0" sz="1100" spc="-5">
                <a:latin typeface="Arial"/>
                <a:cs typeface="Arial"/>
              </a:rPr>
              <a:t>once</a:t>
            </a:r>
            <a:r>
              <a:rPr dirty="0" sz="1100" spc="135">
                <a:latin typeface="Arial"/>
                <a:cs typeface="Arial"/>
              </a:rPr>
              <a:t> </a:t>
            </a:r>
            <a:r>
              <a:rPr dirty="0" sz="1100" spc="-5">
                <a:latin typeface="Arial"/>
                <a:cs typeface="Arial"/>
              </a:rPr>
              <a:t>the</a:t>
            </a:r>
            <a:r>
              <a:rPr dirty="0" sz="1100" spc="135">
                <a:latin typeface="Arial"/>
                <a:cs typeface="Arial"/>
              </a:rPr>
              <a:t> </a:t>
            </a:r>
            <a:r>
              <a:rPr dirty="0" sz="1100" spc="-5">
                <a:latin typeface="Arial"/>
                <a:cs typeface="Arial"/>
              </a:rPr>
              <a:t>productivity</a:t>
            </a:r>
            <a:r>
              <a:rPr dirty="0" sz="1100" spc="140">
                <a:latin typeface="Arial"/>
                <a:cs typeface="Arial"/>
              </a:rPr>
              <a:t> </a:t>
            </a:r>
            <a:r>
              <a:rPr dirty="0" sz="1100" spc="-5">
                <a:latin typeface="Arial"/>
                <a:cs typeface="Arial"/>
              </a:rPr>
              <a:t>of</a:t>
            </a:r>
            <a:r>
              <a:rPr dirty="0" sz="1100" spc="135">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land</a:t>
            </a:r>
            <a:r>
              <a:rPr dirty="0" sz="1100" spc="135">
                <a:latin typeface="Arial"/>
                <a:cs typeface="Arial"/>
              </a:rPr>
              <a:t> </a:t>
            </a:r>
            <a:r>
              <a:rPr dirty="0" sz="1100" spc="-5">
                <a:latin typeface="Arial"/>
                <a:cs typeface="Arial"/>
              </a:rPr>
              <a:t>has</a:t>
            </a:r>
            <a:r>
              <a:rPr dirty="0" sz="1100" spc="140">
                <a:latin typeface="Arial"/>
                <a:cs typeface="Arial"/>
              </a:rPr>
              <a:t> </a:t>
            </a:r>
            <a:r>
              <a:rPr dirty="0" sz="1100" spc="-5">
                <a:latin typeface="Arial"/>
                <a:cs typeface="Arial"/>
              </a:rPr>
              <a:t>been</a:t>
            </a:r>
            <a:endParaRPr sz="1100">
              <a:latin typeface="Arial"/>
              <a:cs typeface="Arial"/>
            </a:endParaRPr>
          </a:p>
          <a:p>
            <a:pPr algn="just" marL="12700" marR="5715">
              <a:lnSpc>
                <a:spcPct val="95800"/>
              </a:lnSpc>
              <a:spcBef>
                <a:spcPts val="30"/>
              </a:spcBef>
            </a:pPr>
            <a:r>
              <a:rPr dirty="0" sz="1100" spc="-5">
                <a:latin typeface="Arial"/>
                <a:cs typeface="Arial"/>
              </a:rPr>
              <a:t>improved. Transferring title to tenants may be </a:t>
            </a:r>
            <a:r>
              <a:rPr dirty="0" sz="1100">
                <a:latin typeface="Arial"/>
                <a:cs typeface="Arial"/>
              </a:rPr>
              <a:t>the </a:t>
            </a:r>
            <a:r>
              <a:rPr dirty="0" sz="1100" spc="-5">
                <a:latin typeface="Arial"/>
                <a:cs typeface="Arial"/>
              </a:rPr>
              <a:t>only means of ensuring that financial rewards  from land-augmenting investments accrue to the investor. Land reform </a:t>
            </a:r>
            <a:r>
              <a:rPr dirty="0" sz="1100">
                <a:latin typeface="Arial"/>
                <a:cs typeface="Arial"/>
              </a:rPr>
              <a:t>may </a:t>
            </a:r>
            <a:r>
              <a:rPr dirty="0" sz="1100" spc="-5">
                <a:latin typeface="Arial"/>
                <a:cs typeface="Arial"/>
              </a:rPr>
              <a:t>also </a:t>
            </a:r>
            <a:r>
              <a:rPr dirty="0" sz="1100">
                <a:latin typeface="Arial"/>
                <a:cs typeface="Arial"/>
              </a:rPr>
              <a:t>be </a:t>
            </a:r>
            <a:r>
              <a:rPr dirty="0" sz="1100" spc="-5">
                <a:latin typeface="Arial"/>
                <a:cs typeface="Arial"/>
              </a:rPr>
              <a:t>required  where unequal distribution of land has led to large tracts of uncultivated high-quality land in  close proximity to overexploited marginal lands cultivated by large numbers of landless workers.  If equitable and efficient common property resource use is to continue, well-designed facilitating  policies will be needed, taking into account what has been learned about the conditions in which  they are </a:t>
            </a:r>
            <a:r>
              <a:rPr dirty="0" sz="1100">
                <a:latin typeface="Arial"/>
                <a:cs typeface="Arial"/>
              </a:rPr>
              <a:t>most</a:t>
            </a:r>
            <a:r>
              <a:rPr dirty="0" sz="1100" spc="5">
                <a:latin typeface="Arial"/>
                <a:cs typeface="Arial"/>
              </a:rPr>
              <a:t> </a:t>
            </a:r>
            <a:r>
              <a:rPr dirty="0" sz="1100" spc="-5">
                <a:latin typeface="Arial"/>
                <a:cs typeface="Arial"/>
              </a:rPr>
              <a:t>effective.</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startAt="4"/>
              <a:tabLst>
                <a:tab pos="175895" algn="l"/>
              </a:tabLst>
            </a:pPr>
            <a:r>
              <a:rPr dirty="0" sz="1100" spc="-5" b="1">
                <a:latin typeface="Arial"/>
                <a:cs typeface="Arial"/>
              </a:rPr>
              <a:t>PROGRAMS </a:t>
            </a:r>
            <a:r>
              <a:rPr dirty="0" sz="1100" b="1">
                <a:latin typeface="Arial"/>
                <a:cs typeface="Arial"/>
              </a:rPr>
              <a:t>TO </a:t>
            </a:r>
            <a:r>
              <a:rPr dirty="0" sz="1100" spc="-5" b="1">
                <a:latin typeface="Arial"/>
                <a:cs typeface="Arial"/>
              </a:rPr>
              <a:t>IMPROVE THE ECONOMIC ALTERNATIVES OF THE</a:t>
            </a:r>
            <a:r>
              <a:rPr dirty="0" sz="1100" spc="50" b="1">
                <a:latin typeface="Arial"/>
                <a:cs typeface="Arial"/>
              </a:rPr>
              <a:t> </a:t>
            </a:r>
            <a:r>
              <a:rPr dirty="0" sz="1100" spc="-5" b="1">
                <a:latin typeface="Arial"/>
                <a:cs typeface="Arial"/>
              </a:rPr>
              <a:t>POOR</a:t>
            </a:r>
            <a:endParaRPr sz="1100">
              <a:latin typeface="Arial"/>
              <a:cs typeface="Arial"/>
            </a:endParaRPr>
          </a:p>
          <a:p>
            <a:pPr>
              <a:lnSpc>
                <a:spcPct val="100000"/>
              </a:lnSpc>
              <a:spcBef>
                <a:spcPts val="45"/>
              </a:spcBef>
              <a:buFont typeface="Arial"/>
              <a:buAutoNum type="arabicPlain" startAt="4"/>
            </a:pPr>
            <a:endParaRPr sz="1150">
              <a:latin typeface="Arial"/>
              <a:cs typeface="Arial"/>
            </a:endParaRPr>
          </a:p>
          <a:p>
            <a:pPr algn="just" marL="12700" marR="5715">
              <a:lnSpc>
                <a:spcPct val="95800"/>
              </a:lnSpc>
            </a:pPr>
            <a:r>
              <a:rPr dirty="0" sz="1100" spc="-5">
                <a:latin typeface="Arial"/>
                <a:cs typeface="Arial"/>
              </a:rPr>
              <a:t>Further environmental devastation in rural </a:t>
            </a:r>
            <a:r>
              <a:rPr dirty="0" sz="1100">
                <a:latin typeface="Arial"/>
                <a:cs typeface="Arial"/>
              </a:rPr>
              <a:t>areas </a:t>
            </a:r>
            <a:r>
              <a:rPr dirty="0" sz="1100" spc="-5">
                <a:latin typeface="Arial"/>
                <a:cs typeface="Arial"/>
              </a:rPr>
              <a:t>may be avoidable in many cases through on-  farm investments in irrigation and sustainable farming techniques, the use of alternative fuels,  and the creation of barriers to erosion. However, </a:t>
            </a:r>
            <a:r>
              <a:rPr dirty="0" sz="1100">
                <a:latin typeface="Arial"/>
                <a:cs typeface="Arial"/>
              </a:rPr>
              <a:t>the </a:t>
            </a:r>
            <a:r>
              <a:rPr dirty="0" sz="1100" spc="-5">
                <a:latin typeface="Arial"/>
                <a:cs typeface="Arial"/>
              </a:rPr>
              <a:t>economic cost of each of these alternatives  is prohibitive for the vast majority of impoverished family producers. Ironically, the greater the  environmental devastation, the less likely that a </a:t>
            </a:r>
            <a:r>
              <a:rPr dirty="0" sz="1100">
                <a:latin typeface="Arial"/>
                <a:cs typeface="Arial"/>
              </a:rPr>
              <a:t>rural </a:t>
            </a:r>
            <a:r>
              <a:rPr dirty="0" sz="1100" spc="-5">
                <a:latin typeface="Arial"/>
                <a:cs typeface="Arial"/>
              </a:rPr>
              <a:t>population will be able to afford alternative  methods of production. It is therefore important that government programs </a:t>
            </a:r>
            <a:r>
              <a:rPr dirty="0" sz="1100">
                <a:latin typeface="Arial"/>
                <a:cs typeface="Arial"/>
              </a:rPr>
              <a:t>make </a:t>
            </a:r>
            <a:r>
              <a:rPr dirty="0" sz="1100" spc="-5">
                <a:latin typeface="Arial"/>
                <a:cs typeface="Arial"/>
              </a:rPr>
              <a:t>credit and  land-augmenting inputs accessible to small farmers. By providing rural economic opportunities  outside the home, governments can also create alternative employment opportunities so that  the very </a:t>
            </a:r>
            <a:r>
              <a:rPr dirty="0" sz="1100">
                <a:latin typeface="Arial"/>
                <a:cs typeface="Arial"/>
              </a:rPr>
              <a:t>poor </a:t>
            </a:r>
            <a:r>
              <a:rPr dirty="0" sz="1100" spc="-5">
                <a:latin typeface="Arial"/>
                <a:cs typeface="Arial"/>
              </a:rPr>
              <a:t>are not forced to cultivate marginal lands. For example, programs </a:t>
            </a:r>
            <a:r>
              <a:rPr dirty="0" sz="1100">
                <a:latin typeface="Arial"/>
                <a:cs typeface="Arial"/>
              </a:rPr>
              <a:t>to </a:t>
            </a:r>
            <a:r>
              <a:rPr dirty="0" sz="1100" spc="-5">
                <a:latin typeface="Arial"/>
                <a:cs typeface="Arial"/>
              </a:rPr>
              <a:t>build rural  infrastructure (roads, storage facilities, etc.) create local jobs, alleviate population pressures on  ecologically sensitive land, stimulate rural development, and reduce the flow of rural-to-urban  migration.</a:t>
            </a:r>
            <a:endParaRPr sz="1100">
              <a:latin typeface="Arial"/>
              <a:cs typeface="Arial"/>
            </a:endParaRPr>
          </a:p>
          <a:p>
            <a:pPr>
              <a:lnSpc>
                <a:spcPct val="100000"/>
              </a:lnSpc>
              <a:spcBef>
                <a:spcPts val="10"/>
              </a:spcBef>
            </a:pPr>
            <a:endParaRPr sz="1050">
              <a:latin typeface="Arial"/>
              <a:cs typeface="Arial"/>
            </a:endParaRPr>
          </a:p>
          <a:p>
            <a:pPr marL="175260" indent="-163195">
              <a:lnSpc>
                <a:spcPct val="100000"/>
              </a:lnSpc>
              <a:buAutoNum type="arabicPlain" startAt="5"/>
              <a:tabLst>
                <a:tab pos="175895" algn="l"/>
              </a:tabLst>
            </a:pPr>
            <a:r>
              <a:rPr dirty="0" sz="1100" spc="-5" b="1">
                <a:latin typeface="Arial"/>
                <a:cs typeface="Arial"/>
              </a:rPr>
              <a:t>RAISING THE ECONOMIC STATUS OF</a:t>
            </a:r>
            <a:r>
              <a:rPr dirty="0" sz="1100" spc="15" b="1">
                <a:latin typeface="Arial"/>
                <a:cs typeface="Arial"/>
              </a:rPr>
              <a:t> </a:t>
            </a:r>
            <a:r>
              <a:rPr dirty="0" sz="1100" spc="-5" b="1">
                <a:latin typeface="Arial"/>
                <a:cs typeface="Arial"/>
              </a:rPr>
              <a:t>WOMEN</a:t>
            </a:r>
            <a:endParaRPr sz="1100">
              <a:latin typeface="Arial"/>
              <a:cs typeface="Arial"/>
            </a:endParaRPr>
          </a:p>
          <a:p>
            <a:pPr>
              <a:lnSpc>
                <a:spcPct val="100000"/>
              </a:lnSpc>
              <a:spcBef>
                <a:spcPts val="55"/>
              </a:spcBef>
              <a:buFont typeface="Arial"/>
              <a:buAutoNum type="arabicPlain" startAt="5"/>
            </a:pPr>
            <a:endParaRPr sz="1150">
              <a:latin typeface="Arial"/>
              <a:cs typeface="Arial"/>
            </a:endParaRPr>
          </a:p>
          <a:p>
            <a:pPr algn="just" marL="12700" marR="5715">
              <a:lnSpc>
                <a:spcPct val="95800"/>
              </a:lnSpc>
            </a:pPr>
            <a:r>
              <a:rPr dirty="0" sz="1100" spc="-5">
                <a:latin typeface="Arial"/>
                <a:cs typeface="Arial"/>
              </a:rPr>
              <a:t>Improving </a:t>
            </a:r>
            <a:r>
              <a:rPr dirty="0" sz="1100">
                <a:latin typeface="Arial"/>
                <a:cs typeface="Arial"/>
              </a:rPr>
              <a:t>the </a:t>
            </a:r>
            <a:r>
              <a:rPr dirty="0" sz="1100" spc="-5">
                <a:latin typeface="Arial"/>
                <a:cs typeface="Arial"/>
              </a:rPr>
              <a:t>educational attainment of women and increasing their range of economic  alternatives raise the opportunity cost of their time and </a:t>
            </a:r>
            <a:r>
              <a:rPr dirty="0" sz="1100">
                <a:latin typeface="Arial"/>
                <a:cs typeface="Arial"/>
              </a:rPr>
              <a:t>may </a:t>
            </a:r>
            <a:r>
              <a:rPr dirty="0" sz="1100" spc="-5">
                <a:latin typeface="Arial"/>
                <a:cs typeface="Arial"/>
              </a:rPr>
              <a:t>lead to decreases in desired family  size (see Chapter 6). Education also tends to increase women’s access to information  concerning child nutrition and hygiene, a factor that has been linked to rapid declines in child  mortality. It is important that community-based environmental programs work closely with  women because their own day-to-day activities </a:t>
            </a:r>
            <a:r>
              <a:rPr dirty="0" sz="1100">
                <a:latin typeface="Arial"/>
                <a:cs typeface="Arial"/>
              </a:rPr>
              <a:t>may </a:t>
            </a:r>
            <a:r>
              <a:rPr dirty="0" sz="1100" spc="-5">
                <a:latin typeface="Arial"/>
                <a:cs typeface="Arial"/>
              </a:rPr>
              <a:t>largely determine patterns of resource use  and their ability to meet the needs of their families is dependent on the sustainable management  of water and fuel</a:t>
            </a:r>
            <a:r>
              <a:rPr dirty="0" sz="1100" spc="10">
                <a:latin typeface="Arial"/>
                <a:cs typeface="Arial"/>
              </a:rPr>
              <a:t> </a:t>
            </a:r>
            <a:r>
              <a:rPr dirty="0" sz="1100" spc="-5">
                <a:latin typeface="Arial"/>
                <a:cs typeface="Arial"/>
              </a:rPr>
              <a:t>supplies.</a:t>
            </a:r>
            <a:endParaRPr sz="1100">
              <a:latin typeface="Arial"/>
              <a:cs typeface="Arial"/>
            </a:endParaRPr>
          </a:p>
          <a:p>
            <a:pPr>
              <a:lnSpc>
                <a:spcPct val="100000"/>
              </a:lnSpc>
              <a:spcBef>
                <a:spcPts val="5"/>
              </a:spcBef>
            </a:pPr>
            <a:endParaRPr sz="1050">
              <a:latin typeface="Arial"/>
              <a:cs typeface="Arial"/>
            </a:endParaRPr>
          </a:p>
          <a:p>
            <a:pPr marL="175260" indent="-163195">
              <a:lnSpc>
                <a:spcPct val="100000"/>
              </a:lnSpc>
              <a:buAutoNum type="arabicPlain" startAt="6"/>
              <a:tabLst>
                <a:tab pos="175895" algn="l"/>
              </a:tabLst>
            </a:pPr>
            <a:r>
              <a:rPr dirty="0" sz="1100" spc="-5" b="1">
                <a:latin typeface="Arial"/>
                <a:cs typeface="Arial"/>
              </a:rPr>
              <a:t>INDUSTRIAL EMISSIONS ABATEMENT</a:t>
            </a:r>
            <a:r>
              <a:rPr dirty="0" sz="1100" spc="15" b="1">
                <a:latin typeface="Arial"/>
                <a:cs typeface="Arial"/>
              </a:rPr>
              <a:t> </a:t>
            </a:r>
            <a:r>
              <a:rPr dirty="0" sz="1100" spc="-5" b="1">
                <a:latin typeface="Arial"/>
                <a:cs typeface="Arial"/>
              </a:rPr>
              <a:t>POLICIES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A range of policy options is available to developing-country governments for the purpose of  limiting industrial pollution, including the taxation of emissions, tradable emissions permits,  quotas, and standards. There is some evidence to suggest that the first two policies, which are  market-based, are more effective because they tend to reward the more efficient producers,  allow greater flexibility for firms, and are generally easier to enforce. Regulations should be as  simple as possible and must be enforceable. Additional incentives to adopt clean technologies  may be provided through tax credits and subsidies specifically tied to the purchase or  development</a:t>
            </a:r>
            <a:r>
              <a:rPr dirty="0" sz="1100" spc="150">
                <a:latin typeface="Arial"/>
                <a:cs typeface="Arial"/>
              </a:rPr>
              <a:t> </a:t>
            </a:r>
            <a:r>
              <a:rPr dirty="0" sz="1100" spc="-5">
                <a:latin typeface="Arial"/>
                <a:cs typeface="Arial"/>
              </a:rPr>
              <a:t>of</a:t>
            </a:r>
            <a:r>
              <a:rPr dirty="0" sz="1100" spc="155">
                <a:latin typeface="Arial"/>
                <a:cs typeface="Arial"/>
              </a:rPr>
              <a:t> </a:t>
            </a:r>
            <a:r>
              <a:rPr dirty="0" sz="1100" spc="-5">
                <a:latin typeface="Arial"/>
                <a:cs typeface="Arial"/>
              </a:rPr>
              <a:t>pollution</a:t>
            </a:r>
            <a:r>
              <a:rPr dirty="0" sz="1100" spc="150">
                <a:latin typeface="Arial"/>
                <a:cs typeface="Arial"/>
              </a:rPr>
              <a:t> </a:t>
            </a:r>
            <a:r>
              <a:rPr dirty="0" sz="1100" spc="-5">
                <a:latin typeface="Arial"/>
                <a:cs typeface="Arial"/>
              </a:rPr>
              <a:t>abatement</a:t>
            </a:r>
            <a:r>
              <a:rPr dirty="0" sz="1100" spc="155">
                <a:latin typeface="Arial"/>
                <a:cs typeface="Arial"/>
              </a:rPr>
              <a:t> </a:t>
            </a:r>
            <a:r>
              <a:rPr dirty="0" sz="1100" spc="-5">
                <a:latin typeface="Arial"/>
                <a:cs typeface="Arial"/>
              </a:rPr>
              <a:t>technologies.</a:t>
            </a:r>
            <a:r>
              <a:rPr dirty="0" sz="1100" spc="155">
                <a:latin typeface="Arial"/>
                <a:cs typeface="Arial"/>
              </a:rPr>
              <a:t> </a:t>
            </a:r>
            <a:r>
              <a:rPr dirty="0" sz="1100" spc="-5">
                <a:latin typeface="Arial"/>
                <a:cs typeface="Arial"/>
              </a:rPr>
              <a:t>Ironically,</a:t>
            </a:r>
            <a:r>
              <a:rPr dirty="0" sz="1100" spc="150">
                <a:latin typeface="Arial"/>
                <a:cs typeface="Arial"/>
              </a:rPr>
              <a:t> </a:t>
            </a:r>
            <a:r>
              <a:rPr dirty="0" sz="1100" spc="-5">
                <a:latin typeface="Arial"/>
                <a:cs typeface="Arial"/>
              </a:rPr>
              <a:t>the</a:t>
            </a:r>
            <a:r>
              <a:rPr dirty="0" sz="1100" spc="155">
                <a:latin typeface="Arial"/>
                <a:cs typeface="Arial"/>
              </a:rPr>
              <a:t> </a:t>
            </a:r>
            <a:r>
              <a:rPr dirty="0" sz="1100" spc="-5">
                <a:latin typeface="Arial"/>
                <a:cs typeface="Arial"/>
              </a:rPr>
              <a:t>hardest</a:t>
            </a:r>
            <a:r>
              <a:rPr dirty="0" sz="1100" spc="155">
                <a:latin typeface="Arial"/>
                <a:cs typeface="Arial"/>
              </a:rPr>
              <a:t> </a:t>
            </a:r>
            <a:r>
              <a:rPr dirty="0" sz="1100" spc="-5">
                <a:latin typeface="Arial"/>
                <a:cs typeface="Arial"/>
              </a:rPr>
              <a:t>industries</a:t>
            </a:r>
            <a:r>
              <a:rPr dirty="0" sz="1100" spc="150">
                <a:latin typeface="Arial"/>
                <a:cs typeface="Arial"/>
              </a:rPr>
              <a:t> </a:t>
            </a:r>
            <a:r>
              <a:rPr dirty="0" sz="1100" spc="-5">
                <a:latin typeface="Arial"/>
                <a:cs typeface="Arial"/>
              </a:rPr>
              <a:t>to</a:t>
            </a:r>
            <a:r>
              <a:rPr dirty="0" sz="1100" spc="155">
                <a:latin typeface="Arial"/>
                <a:cs typeface="Arial"/>
              </a:rPr>
              <a:t> </a:t>
            </a:r>
            <a:r>
              <a:rPr dirty="0" sz="1100" spc="-5">
                <a:latin typeface="Arial"/>
                <a:cs typeface="Arial"/>
              </a:rPr>
              <a:t>regulate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224</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13244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are those run by governments themselves because the profit motive is </a:t>
            </a:r>
            <a:r>
              <a:rPr dirty="0" sz="1100">
                <a:latin typeface="Arial"/>
                <a:cs typeface="Arial"/>
              </a:rPr>
              <a:t>often </a:t>
            </a:r>
            <a:r>
              <a:rPr dirty="0" sz="1100" spc="-5">
                <a:latin typeface="Arial"/>
                <a:cs typeface="Arial"/>
              </a:rPr>
              <a:t>not a consideration  and, as a general rule, it is difficult for any group to regulate</a:t>
            </a:r>
            <a:r>
              <a:rPr dirty="0" sz="1100" spc="75">
                <a:latin typeface="Arial"/>
                <a:cs typeface="Arial"/>
              </a:rPr>
              <a:t> </a:t>
            </a:r>
            <a:r>
              <a:rPr dirty="0" sz="1100" spc="-5">
                <a:latin typeface="Arial"/>
                <a:cs typeface="Arial"/>
              </a:rPr>
              <a:t>itself.</a:t>
            </a:r>
            <a:endParaRPr sz="1100">
              <a:latin typeface="Arial"/>
              <a:cs typeface="Arial"/>
            </a:endParaRPr>
          </a:p>
          <a:p>
            <a:pPr>
              <a:lnSpc>
                <a:spcPct val="100000"/>
              </a:lnSpc>
              <a:spcBef>
                <a:spcPts val="50"/>
              </a:spcBef>
            </a:pPr>
            <a:endParaRPr sz="1050">
              <a:latin typeface="Arial"/>
              <a:cs typeface="Arial"/>
            </a:endParaRPr>
          </a:p>
          <a:p>
            <a:pPr algn="just" marL="12700" marR="6350">
              <a:lnSpc>
                <a:spcPts val="1270"/>
              </a:lnSpc>
            </a:pPr>
            <a:r>
              <a:rPr dirty="0" sz="1100" spc="-5" b="1">
                <a:latin typeface="Arial"/>
                <a:cs typeface="Arial"/>
              </a:rPr>
              <a:t>7- PROACTIVE STANCE TOWARD CLIMATE CHANGE AND ENVIRONMENTAL  DEGRADATION</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pPr>
            <a:r>
              <a:rPr dirty="0" sz="1100" spc="-5">
                <a:latin typeface="Arial"/>
                <a:cs typeface="Arial"/>
              </a:rPr>
              <a:t>Proactive policies can help make the developing economy in general and the poor in particular  more resilient and able to adapt to climate change, much of which is already inevitable.  Developing nations can implement and continuously improve early warning systems to  anticipate environmental emergencies; promote reforestation; restore natural ecosystem  barriers such as mangroves; improve micro insurance programs; and construct storm shelters,  flood barriers, and protected roads and bridges. To protect forest cover, it may be effective to  employ the poor as guardians of these resources. Living on site, they are more likely than  absentee owners to </a:t>
            </a:r>
            <a:r>
              <a:rPr dirty="0" sz="1100">
                <a:latin typeface="Arial"/>
                <a:cs typeface="Arial"/>
              </a:rPr>
              <a:t>pay </a:t>
            </a:r>
            <a:r>
              <a:rPr dirty="0" sz="1100" spc="-5">
                <a:latin typeface="Arial"/>
                <a:cs typeface="Arial"/>
              </a:rPr>
              <a:t>attention to poaching and illegal logging. In </a:t>
            </a:r>
            <a:r>
              <a:rPr dirty="0" sz="1100">
                <a:latin typeface="Arial"/>
                <a:cs typeface="Arial"/>
              </a:rPr>
              <a:t>many </a:t>
            </a:r>
            <a:r>
              <a:rPr dirty="0" sz="1100" spc="-5">
                <a:latin typeface="Arial"/>
                <a:cs typeface="Arial"/>
              </a:rPr>
              <a:t>countries, more  government transparency and accountability are also needed. The empowerment of the poor  and their organizations can play an important role in protecting the natural resources on which  many of the poor depend for their livelihoods and in seeing that government helps meet their  generally greater needs for assistance with</a:t>
            </a:r>
            <a:r>
              <a:rPr dirty="0" sz="1100" spc="25">
                <a:latin typeface="Arial"/>
                <a:cs typeface="Arial"/>
              </a:rPr>
              <a:t> </a:t>
            </a:r>
            <a:r>
              <a:rPr dirty="0" sz="1100" spc="-5">
                <a:latin typeface="Arial"/>
                <a:cs typeface="Arial"/>
              </a:rPr>
              <a:t>adaptation.</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HOW DEVELOPED COUNTRIES CAN HELP DEVELOPING</a:t>
            </a:r>
            <a:r>
              <a:rPr dirty="0" sz="1100" spc="35"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Industrial countries can help developing nations in their efforts to improve the environment of  development in three areas: (1) trade liberalization, (2) debt relief, and (3) financial and  technological</a:t>
            </a:r>
            <a:r>
              <a:rPr dirty="0" sz="1100">
                <a:latin typeface="Arial"/>
                <a:cs typeface="Arial"/>
              </a:rPr>
              <a:t> </a:t>
            </a:r>
            <a:r>
              <a:rPr dirty="0" sz="1100" spc="-5">
                <a:latin typeface="Arial"/>
                <a:cs typeface="Arial"/>
              </a:rPr>
              <a:t>assistance.</a:t>
            </a:r>
            <a:endParaRPr sz="1100">
              <a:latin typeface="Arial"/>
              <a:cs typeface="Arial"/>
            </a:endParaRPr>
          </a:p>
          <a:p>
            <a:pPr>
              <a:lnSpc>
                <a:spcPct val="100000"/>
              </a:lnSpc>
              <a:spcBef>
                <a:spcPts val="25"/>
              </a:spcBef>
            </a:pPr>
            <a:endParaRPr sz="1000">
              <a:latin typeface="Arial"/>
              <a:cs typeface="Arial"/>
            </a:endParaRPr>
          </a:p>
          <a:p>
            <a:pPr marL="221615" indent="-209550">
              <a:lnSpc>
                <a:spcPct val="100000"/>
              </a:lnSpc>
              <a:buAutoNum type="arabicParenBoth"/>
              <a:tabLst>
                <a:tab pos="222250" algn="l"/>
              </a:tabLst>
            </a:pPr>
            <a:r>
              <a:rPr dirty="0" sz="1100" spc="-5" b="1">
                <a:latin typeface="Arial"/>
                <a:cs typeface="Arial"/>
              </a:rPr>
              <a:t>TRADE</a:t>
            </a:r>
            <a:r>
              <a:rPr dirty="0" sz="1100" b="1">
                <a:latin typeface="Arial"/>
                <a:cs typeface="Arial"/>
              </a:rPr>
              <a:t> </a:t>
            </a:r>
            <a:r>
              <a:rPr dirty="0" sz="1100" spc="-5" b="1">
                <a:latin typeface="Arial"/>
                <a:cs typeface="Arial"/>
              </a:rPr>
              <a:t>POLICIES</a:t>
            </a:r>
            <a:endParaRPr sz="1100">
              <a:latin typeface="Arial"/>
              <a:cs typeface="Arial"/>
            </a:endParaRPr>
          </a:p>
          <a:p>
            <a:pPr>
              <a:lnSpc>
                <a:spcPct val="100000"/>
              </a:lnSpc>
              <a:spcBef>
                <a:spcPts val="55"/>
              </a:spcBef>
              <a:buFont typeface="Arial"/>
              <a:buAutoNum type="arabicParenBoth"/>
            </a:pPr>
            <a:endParaRPr sz="1150">
              <a:latin typeface="Arial"/>
              <a:cs typeface="Arial"/>
            </a:endParaRPr>
          </a:p>
          <a:p>
            <a:pPr algn="just" marL="12700" marR="5080">
              <a:lnSpc>
                <a:spcPct val="95800"/>
              </a:lnSpc>
            </a:pPr>
            <a:r>
              <a:rPr dirty="0" sz="1100" spc="-5">
                <a:latin typeface="Arial"/>
                <a:cs typeface="Arial"/>
              </a:rPr>
              <a:t>The focus of much current discussion concerning the environment is the desperate need to  break the cycle of poverty and environmental destruction in developing countries. However,  protectionism in agricultural and other goods caused international markets and thus earning  capacity for these developing-country products to shrink dramatically (see Chapter 12).  According to a 2001 United Nations estimate, annual losses in the developing </a:t>
            </a:r>
            <a:r>
              <a:rPr dirty="0" sz="1100">
                <a:latin typeface="Arial"/>
                <a:cs typeface="Arial"/>
              </a:rPr>
              <a:t>world </a:t>
            </a:r>
            <a:r>
              <a:rPr dirty="0" sz="1100" spc="-5">
                <a:latin typeface="Arial"/>
                <a:cs typeface="Arial"/>
              </a:rPr>
              <a:t>due to the  lack of access to the goods markets of the developed world were more than double the total  amount of aid received in 2000 from all sources. If lack of access to capital and labor markets is  also included, losses totaled about $500 billion. Eliminating trade barriers against developing  country exports by stimulating economic growth in the developing world, creating new jobs, and  encouraging rural development could significantly reduce the level of absolute</a:t>
            </a:r>
            <a:r>
              <a:rPr dirty="0" sz="1100" spc="120">
                <a:latin typeface="Arial"/>
                <a:cs typeface="Arial"/>
              </a:rPr>
              <a:t> </a:t>
            </a:r>
            <a:r>
              <a:rPr dirty="0" sz="1100" spc="-5">
                <a:latin typeface="Arial"/>
                <a:cs typeface="Arial"/>
              </a:rPr>
              <a:t>poverty.</a:t>
            </a:r>
            <a:endParaRPr sz="1100">
              <a:latin typeface="Arial"/>
              <a:cs typeface="Arial"/>
            </a:endParaRPr>
          </a:p>
          <a:p>
            <a:pPr>
              <a:lnSpc>
                <a:spcPct val="100000"/>
              </a:lnSpc>
              <a:spcBef>
                <a:spcPts val="5"/>
              </a:spcBef>
            </a:pPr>
            <a:endParaRPr sz="1050">
              <a:latin typeface="Arial"/>
              <a:cs typeface="Arial"/>
            </a:endParaRPr>
          </a:p>
          <a:p>
            <a:pPr marL="222250" indent="-209550">
              <a:lnSpc>
                <a:spcPct val="100000"/>
              </a:lnSpc>
              <a:buAutoNum type="arabicParenBoth" startAt="2"/>
              <a:tabLst>
                <a:tab pos="222250" algn="l"/>
              </a:tabLst>
            </a:pPr>
            <a:r>
              <a:rPr dirty="0" sz="1100" spc="-5" b="1">
                <a:latin typeface="Arial"/>
                <a:cs typeface="Arial"/>
              </a:rPr>
              <a:t>DEBT RELIEF</a:t>
            </a:r>
            <a:endParaRPr sz="1100">
              <a:latin typeface="Arial"/>
              <a:cs typeface="Arial"/>
            </a:endParaRPr>
          </a:p>
          <a:p>
            <a:pPr>
              <a:lnSpc>
                <a:spcPct val="100000"/>
              </a:lnSpc>
              <a:spcBef>
                <a:spcPts val="20"/>
              </a:spcBef>
              <a:buFont typeface="Arial"/>
              <a:buAutoNum type="arabicParenBoth" startAt="2"/>
            </a:pPr>
            <a:endParaRPr sz="1200">
              <a:latin typeface="Arial"/>
              <a:cs typeface="Arial"/>
            </a:endParaRPr>
          </a:p>
          <a:p>
            <a:pPr algn="just" marL="12700" marR="7620">
              <a:lnSpc>
                <a:spcPts val="1270"/>
              </a:lnSpc>
              <a:spcBef>
                <a:spcPts val="5"/>
              </a:spcBef>
            </a:pPr>
            <a:r>
              <a:rPr dirty="0" sz="1100" spc="-5">
                <a:latin typeface="Arial"/>
                <a:cs typeface="Arial"/>
              </a:rPr>
              <a:t>Heavy debt servicing drastically reduces funds available to developing-country governments </a:t>
            </a:r>
            <a:r>
              <a:rPr dirty="0" sz="1100">
                <a:latin typeface="Arial"/>
                <a:cs typeface="Arial"/>
              </a:rPr>
              <a:t>for  </a:t>
            </a:r>
            <a:r>
              <a:rPr dirty="0" sz="1100" spc="-5">
                <a:latin typeface="Arial"/>
                <a:cs typeface="Arial"/>
              </a:rPr>
              <a:t>domestic social programs, including those designed to alleviate poverty and reduce  environmental degradation (see Chapter 13). Debt forgiveness may be required if governments  particularly in heavily indebted poor countries are to be given the flexibility to make the  sweeping changes necessary to achieve sustainable</a:t>
            </a:r>
            <a:r>
              <a:rPr dirty="0" sz="1100" spc="35">
                <a:latin typeface="Arial"/>
                <a:cs typeface="Arial"/>
              </a:rPr>
              <a:t> </a:t>
            </a:r>
            <a:r>
              <a:rPr dirty="0" sz="1100" spc="-5">
                <a:latin typeface="Arial"/>
                <a:cs typeface="Arial"/>
              </a:rPr>
              <a:t>development.</a:t>
            </a:r>
            <a:endParaRPr sz="1100">
              <a:latin typeface="Arial"/>
              <a:cs typeface="Arial"/>
            </a:endParaRPr>
          </a:p>
          <a:p>
            <a:pPr>
              <a:lnSpc>
                <a:spcPct val="100000"/>
              </a:lnSpc>
              <a:spcBef>
                <a:spcPts val="30"/>
              </a:spcBef>
            </a:pPr>
            <a:endParaRPr sz="1050">
              <a:latin typeface="Arial"/>
              <a:cs typeface="Arial"/>
            </a:endParaRPr>
          </a:p>
          <a:p>
            <a:pPr algn="just" lvl="1" marL="469265" indent="-229235">
              <a:lnSpc>
                <a:spcPts val="1285"/>
              </a:lnSpc>
              <a:buFont typeface="Symbol"/>
              <a:buChar char=""/>
              <a:tabLst>
                <a:tab pos="469900" algn="l"/>
              </a:tabLst>
            </a:pPr>
            <a:r>
              <a:rPr dirty="0" sz="1100" spc="-5" b="1">
                <a:latin typeface="Arial"/>
                <a:cs typeface="Arial"/>
              </a:rPr>
              <a:t>Debt-for-nature </a:t>
            </a:r>
            <a:r>
              <a:rPr dirty="0" sz="1100" b="1">
                <a:latin typeface="Arial"/>
                <a:cs typeface="Arial"/>
              </a:rPr>
              <a:t>swap</a:t>
            </a:r>
            <a:endParaRPr sz="1100">
              <a:latin typeface="Arial"/>
              <a:cs typeface="Arial"/>
            </a:endParaRPr>
          </a:p>
          <a:p>
            <a:pPr algn="just" marL="469265" marR="6985">
              <a:lnSpc>
                <a:spcPts val="1270"/>
              </a:lnSpc>
              <a:spcBef>
                <a:spcPts val="50"/>
              </a:spcBef>
            </a:pPr>
            <a:r>
              <a:rPr dirty="0" sz="1100" spc="-5">
                <a:latin typeface="Arial"/>
                <a:cs typeface="Arial"/>
              </a:rPr>
              <a:t>The exchange of foreign debt held by an organization for a larger quantity of domestic  debt that is used to finance the preservation of a natural resource or environment </a:t>
            </a:r>
            <a:r>
              <a:rPr dirty="0" sz="1100">
                <a:latin typeface="Arial"/>
                <a:cs typeface="Arial"/>
              </a:rPr>
              <a:t>in </a:t>
            </a:r>
            <a:r>
              <a:rPr dirty="0" sz="1100" spc="-5">
                <a:latin typeface="Arial"/>
                <a:cs typeface="Arial"/>
              </a:rPr>
              <a:t>the  debtor country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225</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3336"/>
            <a:ext cx="5970270" cy="794639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(3) DEVELOPMENT</a:t>
            </a:r>
            <a:r>
              <a:rPr dirty="0" sz="1100" spc="10" b="1">
                <a:latin typeface="Arial"/>
                <a:cs typeface="Arial"/>
              </a:rPr>
              <a:t> </a:t>
            </a:r>
            <a:r>
              <a:rPr dirty="0" sz="1100" spc="-5" b="1">
                <a:latin typeface="Arial"/>
                <a:cs typeface="Arial"/>
              </a:rPr>
              <a:t>ASSISTANCE</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Substantial new development assistance is necessary in developing countries to achieve  sustainable development. These investments </a:t>
            </a:r>
            <a:r>
              <a:rPr dirty="0" sz="1100">
                <a:latin typeface="Arial"/>
                <a:cs typeface="Arial"/>
              </a:rPr>
              <a:t>would </a:t>
            </a:r>
            <a:r>
              <a:rPr dirty="0" sz="1100" spc="-5">
                <a:latin typeface="Arial"/>
                <a:cs typeface="Arial"/>
              </a:rPr>
              <a:t>be used for a variety of programs to  alleviate poverty, provide services, and promote sustainable patterns of production. Additional  aid from developing countries earmarked for these purposes could have a positive impact </a:t>
            </a:r>
            <a:r>
              <a:rPr dirty="0" sz="1100">
                <a:latin typeface="Arial"/>
                <a:cs typeface="Arial"/>
              </a:rPr>
              <a:t>on  </a:t>
            </a:r>
            <a:r>
              <a:rPr dirty="0" sz="1100" spc="-5">
                <a:latin typeface="Arial"/>
                <a:cs typeface="Arial"/>
              </a:rPr>
              <a:t>developing-country environments (see Chapter 14). Even greater sums would be necessary to  maintain tropical rain forests, which provide benefits to the entire international </a:t>
            </a:r>
            <a:r>
              <a:rPr dirty="0" sz="1100">
                <a:latin typeface="Arial"/>
                <a:cs typeface="Arial"/>
              </a:rPr>
              <a:t>community  </a:t>
            </a:r>
            <a:r>
              <a:rPr dirty="0" sz="1100" spc="-5">
                <a:latin typeface="Arial"/>
                <a:cs typeface="Arial"/>
              </a:rPr>
              <a:t>through reduced CO2</a:t>
            </a:r>
            <a:r>
              <a:rPr dirty="0" sz="1100" spc="10">
                <a:latin typeface="Arial"/>
                <a:cs typeface="Arial"/>
              </a:rPr>
              <a:t> </a:t>
            </a:r>
            <a:r>
              <a:rPr dirty="0" sz="1100" spc="-5">
                <a:latin typeface="Arial"/>
                <a:cs typeface="Arial"/>
              </a:rPr>
              <a:t>emissions.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There are many tactics that can be evaluated on a case-by-case basis for cost-effectiveness.  The most general approach is to support programs to alleviate landlessness and poverty, to  help eliminate the socioeconomic causes of some of the tropical deforestation. Specific tactics  include purchase of timber rights by national and international agencies, together with paying  indigenous communities to monitor forest preservation (as originally proposed by Conservation  International, an NGO). Preservation efforts could be paid for by the international community as  a global public good, as was included in the pact “taken note of” following the December 2009  summit on climate change in Copenhagen, Denmark, and some progress was </a:t>
            </a:r>
            <a:r>
              <a:rPr dirty="0" sz="1100">
                <a:latin typeface="Arial"/>
                <a:cs typeface="Arial"/>
              </a:rPr>
              <a:t>made </a:t>
            </a:r>
            <a:r>
              <a:rPr dirty="0" sz="1100" spc="-5">
                <a:latin typeface="Arial"/>
                <a:cs typeface="Arial"/>
              </a:rPr>
              <a:t>in Cancun  in December</a:t>
            </a:r>
            <a:r>
              <a:rPr dirty="0" sz="1100">
                <a:latin typeface="Arial"/>
                <a:cs typeface="Arial"/>
              </a:rPr>
              <a:t> </a:t>
            </a:r>
            <a:r>
              <a:rPr dirty="0" sz="1100" spc="-5">
                <a:latin typeface="Arial"/>
                <a:cs typeface="Arial"/>
              </a:rPr>
              <a:t>2010.</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10" b="1">
                <a:latin typeface="Arial"/>
                <a:cs typeface="Arial"/>
              </a:rPr>
              <a:t>WHAT </a:t>
            </a:r>
            <a:r>
              <a:rPr dirty="0" sz="1100" spc="-5" b="1">
                <a:latin typeface="Arial"/>
                <a:cs typeface="Arial"/>
              </a:rPr>
              <a:t>DEVELOPED COUNTRIES CAN DO FOR THE GLOBAL</a:t>
            </a:r>
            <a:r>
              <a:rPr dirty="0" sz="1100" spc="55" b="1">
                <a:latin typeface="Arial"/>
                <a:cs typeface="Arial"/>
              </a:rPr>
              <a:t> </a:t>
            </a:r>
            <a:r>
              <a:rPr dirty="0" sz="1100" spc="-5" b="1">
                <a:latin typeface="Arial"/>
                <a:cs typeface="Arial"/>
              </a:rPr>
              <a:t>ENVIRONMENT</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Perhaps most important, developed countries, which currently consume over 70% of the earth’s  resources, can directly contribute to global environmental improvement through their own efforts  to (1) reduce harmful emissions, including greenhouse gases, (2) undertake R&amp;D to develop  green technologies and pollution control for themselves and for developing countries, and (3)  alter their own environmentally harmful patterns of</a:t>
            </a:r>
            <a:r>
              <a:rPr dirty="0" sz="1100" spc="40">
                <a:latin typeface="Arial"/>
                <a:cs typeface="Arial"/>
              </a:rPr>
              <a:t> </a:t>
            </a:r>
            <a:r>
              <a:rPr dirty="0" sz="1100" spc="-5">
                <a:latin typeface="Arial"/>
                <a:cs typeface="Arial"/>
              </a:rPr>
              <a:t>demand.</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 United States and other developed countries produce a majority of the greenhouse gas  emissions and consume a disproportionate share of environmentally sensitive products such as  ocean fish; their consumption of energy, </a:t>
            </a:r>
            <a:r>
              <a:rPr dirty="0" sz="1100">
                <a:latin typeface="Arial"/>
                <a:cs typeface="Arial"/>
              </a:rPr>
              <a:t>wood </a:t>
            </a:r>
            <a:r>
              <a:rPr dirty="0" sz="1100" spc="-5">
                <a:latin typeface="Arial"/>
                <a:cs typeface="Arial"/>
              </a:rPr>
              <a:t>products, and raw materials is even more  strikingly disproportionate. A substantial part of developed-country consumption is wasteful. It  seems clear that the world as a whole cannot consume at current U.S. or other developed  country levels; responsible consumption on the part of the developed countries is not just setting  a good example but an ecological necessity. This does not mean that economies cannot  continue to grow indefinitely—clearly they </a:t>
            </a:r>
            <a:r>
              <a:rPr dirty="0" sz="1100">
                <a:latin typeface="Arial"/>
                <a:cs typeface="Arial"/>
              </a:rPr>
              <a:t>can, </a:t>
            </a:r>
            <a:r>
              <a:rPr dirty="0" sz="1100" spc="-5">
                <a:latin typeface="Arial"/>
                <a:cs typeface="Arial"/>
              </a:rPr>
              <a:t>as more consumption becomes knowledge-  based and more modest in its use of raw materials. It is rather that the patterns of consumption  must change. As we have seen, price signals alone will not guide resource use when  substantial externalities and public goods are</a:t>
            </a:r>
            <a:r>
              <a:rPr dirty="0" sz="1100" spc="20">
                <a:latin typeface="Arial"/>
                <a:cs typeface="Arial"/>
              </a:rPr>
              <a:t> </a:t>
            </a:r>
            <a:r>
              <a:rPr dirty="0" sz="1100" spc="-5">
                <a:latin typeface="Arial"/>
                <a:cs typeface="Arial"/>
              </a:rPr>
              <a:t>involved.</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(1) EMISSION</a:t>
            </a:r>
            <a:r>
              <a:rPr dirty="0" sz="1100" b="1">
                <a:latin typeface="Arial"/>
                <a:cs typeface="Arial"/>
              </a:rPr>
              <a:t> </a:t>
            </a:r>
            <a:r>
              <a:rPr dirty="0" sz="1100" spc="-5" b="1">
                <a:latin typeface="Arial"/>
                <a:cs typeface="Arial"/>
              </a:rPr>
              <a:t>CONTROLS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Beyond responsible consumption, perhaps the greatest contribution that the developed world  can make to the global environment will be through a clear demonstration of their own  commitment to a cleaner environment. Because they remain the main polluters of air and </a:t>
            </a:r>
            <a:r>
              <a:rPr dirty="0" sz="1100">
                <a:latin typeface="Arial"/>
                <a:cs typeface="Arial"/>
              </a:rPr>
              <a:t>sea,  </a:t>
            </a:r>
            <a:r>
              <a:rPr dirty="0" sz="1100" spc="-5">
                <a:latin typeface="Arial"/>
                <a:cs typeface="Arial"/>
              </a:rPr>
              <a:t>developed countries must lead the way to global changes in current and future patterns of  production. If wealthy nations do not achieve significant and sustained reductions in the  production of greenhouse gases, it will be difficult to convince the developing world to do so,  considering that per capita emissions levels </a:t>
            </a:r>
            <a:r>
              <a:rPr dirty="0" sz="1100">
                <a:latin typeface="Arial"/>
                <a:cs typeface="Arial"/>
              </a:rPr>
              <a:t>are </a:t>
            </a:r>
            <a:r>
              <a:rPr dirty="0" sz="1100" spc="-5">
                <a:latin typeface="Arial"/>
                <a:cs typeface="Arial"/>
              </a:rPr>
              <a:t>far below those in the industrialized</a:t>
            </a:r>
            <a:r>
              <a:rPr dirty="0" sz="1100" spc="220">
                <a:latin typeface="Arial"/>
                <a:cs typeface="Arial"/>
              </a:rPr>
              <a:t> </a:t>
            </a:r>
            <a:r>
              <a:rPr dirty="0" sz="1100" spc="-5">
                <a:latin typeface="Arial"/>
                <a:cs typeface="Arial"/>
              </a:rPr>
              <a:t>countries.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226</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3342"/>
            <a:ext cx="5970270" cy="4879975"/>
          </a:xfrm>
          <a:prstGeom prst="rect">
            <a:avLst/>
          </a:prstGeom>
        </p:spPr>
        <p:txBody>
          <a:bodyPr wrap="square" lIns="0" tIns="12065" rIns="0" bIns="0" rtlCol="0" vert="horz">
            <a:spAutoFit/>
          </a:bodyPr>
          <a:lstStyle/>
          <a:p>
            <a:pPr marL="221615" indent="-209550">
              <a:lnSpc>
                <a:spcPct val="100000"/>
              </a:lnSpc>
              <a:spcBef>
                <a:spcPts val="95"/>
              </a:spcBef>
              <a:buAutoNum type="arabicParenBoth" startAt="2"/>
              <a:tabLst>
                <a:tab pos="222250" algn="l"/>
              </a:tabLst>
            </a:pPr>
            <a:r>
              <a:rPr dirty="0" sz="1100" spc="-5" b="1">
                <a:latin typeface="Arial"/>
                <a:cs typeface="Arial"/>
              </a:rPr>
              <a:t>RESEARCH AND</a:t>
            </a:r>
            <a:r>
              <a:rPr dirty="0" sz="1100" spc="1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5"/>
              </a:spcBef>
              <a:buFont typeface="Arial"/>
              <a:buAutoNum type="arabicParenBoth" startAt="2"/>
            </a:pPr>
            <a:endParaRPr sz="1150">
              <a:latin typeface="Arial"/>
              <a:cs typeface="Arial"/>
            </a:endParaRPr>
          </a:p>
          <a:p>
            <a:pPr algn="just" marL="12700" marR="5080">
              <a:lnSpc>
                <a:spcPct val="95800"/>
              </a:lnSpc>
            </a:pPr>
            <a:r>
              <a:rPr dirty="0" sz="1100" spc="-5">
                <a:latin typeface="Arial"/>
                <a:cs typeface="Arial"/>
              </a:rPr>
              <a:t>The high-income countries must also take a leadership role in research and development  efforts. Growing public support for stricter environmental regulation in the industrialized world is  likely to lead to the development of both cheaper emissions abatement technologies and  cleaner (or “greener”) production processes. Innovations resulting from research and  development will enhance efforts to reduce emissions if they are adopted in developing  countries. Currently, </a:t>
            </a:r>
            <a:r>
              <a:rPr dirty="0" sz="1100">
                <a:latin typeface="Arial"/>
                <a:cs typeface="Arial"/>
              </a:rPr>
              <a:t>many </a:t>
            </a:r>
            <a:r>
              <a:rPr dirty="0" sz="1100" spc="-5">
                <a:latin typeface="Arial"/>
                <a:cs typeface="Arial"/>
              </a:rPr>
              <a:t>clean technologies are prohibitively expensive for the developing  world’s industries. It is thus unrealistic to expect low-income countries to attain standards set in  high-income countries. However, it is not necessary for developing countries to reproduce  environmental debacles endured during the onset of industrialization in the developed world.  Making cheaper, cleaner abatement technologies accessible to developing countries can help  limit a principal source of global emissions— the rapid industrialization of the developing world.  Availability of low-carbon technologies will be crucial in the fight to limit climate</a:t>
            </a:r>
            <a:r>
              <a:rPr dirty="0" sz="1100" spc="150">
                <a:latin typeface="Arial"/>
                <a:cs typeface="Arial"/>
              </a:rPr>
              <a:t> </a:t>
            </a:r>
            <a:r>
              <a:rPr dirty="0" sz="1100" spc="-5">
                <a:latin typeface="Arial"/>
                <a:cs typeface="Arial"/>
              </a:rPr>
              <a:t>change.</a:t>
            </a:r>
            <a:endParaRPr sz="1100">
              <a:latin typeface="Arial"/>
              <a:cs typeface="Arial"/>
            </a:endParaRPr>
          </a:p>
          <a:p>
            <a:pPr>
              <a:lnSpc>
                <a:spcPct val="100000"/>
              </a:lnSpc>
              <a:spcBef>
                <a:spcPts val="5"/>
              </a:spcBef>
            </a:pPr>
            <a:endParaRPr sz="1050">
              <a:latin typeface="Arial"/>
              <a:cs typeface="Arial"/>
            </a:endParaRPr>
          </a:p>
          <a:p>
            <a:pPr marL="221615" indent="-209550">
              <a:lnSpc>
                <a:spcPct val="100000"/>
              </a:lnSpc>
              <a:buAutoNum type="arabicParenBoth" startAt="3"/>
              <a:tabLst>
                <a:tab pos="222250" algn="l"/>
              </a:tabLst>
            </a:pPr>
            <a:r>
              <a:rPr dirty="0" sz="1100" spc="-5" b="1">
                <a:latin typeface="Arial"/>
                <a:cs typeface="Arial"/>
              </a:rPr>
              <a:t>IMPORT</a:t>
            </a:r>
            <a:r>
              <a:rPr dirty="0" sz="1100" b="1">
                <a:latin typeface="Arial"/>
                <a:cs typeface="Arial"/>
              </a:rPr>
              <a:t> </a:t>
            </a:r>
            <a:r>
              <a:rPr dirty="0" sz="1100" spc="-10" b="1">
                <a:latin typeface="Arial"/>
                <a:cs typeface="Arial"/>
              </a:rPr>
              <a:t>RESTRICTIONS</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Through its importation of products that are associated with environmentally unsustainable  production, the developed world has an indirect </a:t>
            </a:r>
            <a:r>
              <a:rPr dirty="0" sz="1100">
                <a:latin typeface="Arial"/>
                <a:cs typeface="Arial"/>
              </a:rPr>
              <a:t>but </a:t>
            </a:r>
            <a:r>
              <a:rPr dirty="0" sz="1100" spc="-5">
                <a:latin typeface="Arial"/>
                <a:cs typeface="Arial"/>
              </a:rPr>
              <a:t>important impact on the global environment.  International treaties to limit the destruction of endangered resources will have little effect if  wealthy nations continue to provide lucrative markets for the sale of such goods. Import  restrictions are an effective way of reducing undesired international trade. Consumer  sovereignty expressed through boycotts and other forms </a:t>
            </a:r>
            <a:r>
              <a:rPr dirty="0" sz="1100">
                <a:latin typeface="Arial"/>
                <a:cs typeface="Arial"/>
              </a:rPr>
              <a:t>of </a:t>
            </a:r>
            <a:r>
              <a:rPr dirty="0" sz="1100" spc="-5">
                <a:latin typeface="Arial"/>
                <a:cs typeface="Arial"/>
              </a:rPr>
              <a:t>pressure on corporations can be  effective. However, </a:t>
            </a:r>
            <a:r>
              <a:rPr dirty="0" sz="1100">
                <a:latin typeface="Arial"/>
                <a:cs typeface="Arial"/>
              </a:rPr>
              <a:t>they </a:t>
            </a:r>
            <a:r>
              <a:rPr dirty="0" sz="1100" spc="-5">
                <a:latin typeface="Arial"/>
                <a:cs typeface="Arial"/>
              </a:rPr>
              <a:t>require strong leadership and tend to focus on large firms, which  represent only a relatively small portion of the overall</a:t>
            </a:r>
            <a:r>
              <a:rPr dirty="0" sz="1100" spc="55">
                <a:latin typeface="Arial"/>
                <a:cs typeface="Arial"/>
              </a:rPr>
              <a:t> </a:t>
            </a:r>
            <a:r>
              <a:rPr dirty="0" sz="1100" spc="-5">
                <a:latin typeface="Arial"/>
                <a:cs typeface="Arial"/>
              </a:rPr>
              <a:t>problem.</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Of course, it is important to make certain that such environmental restrictions applied by  government or civil society are not merely disguised protectionism against developing countries  and to ensure that the poor are provided opportunities to preserve their livelihoods through their  environmental wealth in a sustainable and equitable</a:t>
            </a:r>
            <a:r>
              <a:rPr dirty="0" sz="1100" spc="35">
                <a:latin typeface="Arial"/>
                <a:cs typeface="Arial"/>
              </a:rPr>
              <a:t> </a:t>
            </a:r>
            <a:r>
              <a:rPr dirty="0" sz="1100" spc="-5">
                <a:latin typeface="Arial"/>
                <a:cs typeface="Arial"/>
              </a:rPr>
              <a:t>manner.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227</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1540" cy="8093075"/>
          </a:xfrm>
          <a:prstGeom prst="rect">
            <a:avLst/>
          </a:prstGeom>
        </p:spPr>
        <p:txBody>
          <a:bodyPr wrap="square" lIns="0" tIns="12065" rIns="0" bIns="0" rtlCol="0" vert="horz">
            <a:spAutoFit/>
          </a:bodyPr>
          <a:lstStyle/>
          <a:p>
            <a:pPr algn="r" marR="635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34</a:t>
            </a:r>
            <a:endParaRPr sz="1100">
              <a:latin typeface="Arial"/>
              <a:cs typeface="Arial"/>
            </a:endParaRPr>
          </a:p>
          <a:p>
            <a:pPr marL="12700" marR="716915" indent="709295">
              <a:lnSpc>
                <a:spcPct val="191400"/>
              </a:lnSpc>
              <a:spcBef>
                <a:spcPts val="15"/>
              </a:spcBef>
            </a:pPr>
            <a:r>
              <a:rPr dirty="0" sz="1100" spc="-5" b="1">
                <a:latin typeface="Arial"/>
                <a:cs typeface="Arial"/>
              </a:rPr>
              <a:t>INTERNATIONAL TRADE THEORY AND DEVELOPMENT STRATEGY  CASE</a:t>
            </a:r>
            <a:r>
              <a:rPr dirty="0" sz="1100" b="1">
                <a:latin typeface="Arial"/>
                <a:cs typeface="Arial"/>
              </a:rPr>
              <a:t> </a:t>
            </a:r>
            <a:r>
              <a:rPr dirty="0" sz="1100" spc="-5" b="1">
                <a:latin typeface="Arial"/>
                <a:cs typeface="Arial"/>
              </a:rPr>
              <a:t>STUDY</a:t>
            </a:r>
            <a:endParaRPr sz="1100">
              <a:latin typeface="Arial"/>
              <a:cs typeface="Arial"/>
            </a:endParaRPr>
          </a:p>
          <a:p>
            <a:pPr>
              <a:lnSpc>
                <a:spcPct val="100000"/>
              </a:lnSpc>
            </a:pPr>
            <a:endParaRPr sz="1150">
              <a:latin typeface="Arial"/>
              <a:cs typeface="Arial"/>
            </a:endParaRPr>
          </a:p>
          <a:p>
            <a:pPr algn="just" marL="12700">
              <a:lnSpc>
                <a:spcPct val="100000"/>
              </a:lnSpc>
            </a:pPr>
            <a:r>
              <a:rPr dirty="0" sz="1100" spc="-5" b="1">
                <a:latin typeface="Arial"/>
                <a:cs typeface="Arial"/>
              </a:rPr>
              <a:t>A WORLD OF CONTRASTS ON ONE ISLAND: HAITI AND THE DOMINICAN</a:t>
            </a:r>
            <a:r>
              <a:rPr dirty="0" sz="1100" spc="45" b="1">
                <a:latin typeface="Arial"/>
                <a:cs typeface="Arial"/>
              </a:rPr>
              <a:t> </a:t>
            </a:r>
            <a:r>
              <a:rPr dirty="0" sz="1100" spc="-5" b="1">
                <a:latin typeface="Arial"/>
                <a:cs typeface="Arial"/>
              </a:rPr>
              <a:t>REPUBLIC</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The terrible earthquake that struck Haiti in January 2010 brought to public awareness an  immediate </a:t>
            </a:r>
            <a:r>
              <a:rPr dirty="0" sz="1100">
                <a:latin typeface="Arial"/>
                <a:cs typeface="Arial"/>
              </a:rPr>
              <a:t>crisis </a:t>
            </a:r>
            <a:r>
              <a:rPr dirty="0" sz="1100" spc="-5">
                <a:latin typeface="Arial"/>
                <a:cs typeface="Arial"/>
              </a:rPr>
              <a:t>of horrific proportions—and </a:t>
            </a:r>
            <a:r>
              <a:rPr dirty="0" sz="1100">
                <a:latin typeface="Arial"/>
                <a:cs typeface="Arial"/>
              </a:rPr>
              <a:t>also </a:t>
            </a:r>
            <a:r>
              <a:rPr dirty="0" sz="1100" spc="-5">
                <a:latin typeface="Arial"/>
                <a:cs typeface="Arial"/>
              </a:rPr>
              <a:t>an ongoing slow-motion disaster of poverty  and suffering in a nation of 10 million people, including an environmental crisis. News reports  showed its neighbor, the Dominican Republic (DR), also with a population of 10 million, with  higher incomes, less poverty, and much better environmental conditions. Haiti’s environmental  disaster could have been substantially averted with better domestic policies. And so it is not the  root cause of Haiti’s problems. But why were better environmental (and other supporting)  policies not in place? That is, what were the limits of Haiti’s institutions in this respect? And are  Haiti’s environmental problems caused by the country’s great poverty? Has environmental  degradation itself now also become one of the causes of continued economic and human  development stagnation? What could have </a:t>
            </a:r>
            <a:r>
              <a:rPr dirty="0" sz="1100">
                <a:latin typeface="Arial"/>
                <a:cs typeface="Arial"/>
              </a:rPr>
              <a:t>been </a:t>
            </a:r>
            <a:r>
              <a:rPr dirty="0" sz="1100" spc="-5">
                <a:latin typeface="Arial"/>
                <a:cs typeface="Arial"/>
              </a:rPr>
              <a:t>done with well targeted aid, and what role can  aid play</a:t>
            </a:r>
            <a:r>
              <a:rPr dirty="0" sz="1100">
                <a:latin typeface="Arial"/>
                <a:cs typeface="Arial"/>
              </a:rPr>
              <a:t> </a:t>
            </a:r>
            <a:r>
              <a:rPr dirty="0" sz="1100" spc="-5">
                <a:latin typeface="Arial"/>
                <a:cs typeface="Arial"/>
              </a:rPr>
              <a:t>now?</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900"/>
              </a:lnSpc>
            </a:pPr>
            <a:r>
              <a:rPr dirty="0" sz="1100" spc="-5">
                <a:latin typeface="Arial"/>
                <a:cs typeface="Arial"/>
              </a:rPr>
              <a:t>Travelers to Haiti who flew across the border with the DR saw an astonishing contrast: Haiti to  the west is barren, while the DR to the east is lush forest—except where Haitians desperate for  fuel wood for income from charcoal production have made forays across the border. In 2004,  the United Nations Development Program (UNDP) commented on this scene, noting “a cycle of  poverty and environmental destruction has denuded hillsides.” In 2005, Jared Diamond wrote  eloquently that “the border looks like a sharp line </a:t>
            </a:r>
            <a:r>
              <a:rPr dirty="0" sz="1100">
                <a:latin typeface="Arial"/>
                <a:cs typeface="Arial"/>
              </a:rPr>
              <a:t>with </a:t>
            </a:r>
            <a:r>
              <a:rPr dirty="0" sz="1100" spc="-5">
                <a:latin typeface="Arial"/>
                <a:cs typeface="Arial"/>
              </a:rPr>
              <a:t>bends, cut arbitrarily across the island by  a knife, and abruptly dividing a darker and greener landscape east of the line (the Dominican  side) from a paler and browner landscape west of the line (the Haitian side).” He added, “On the  ground, one can stand on the border at many places, face east, and look into pine forest, then  turn around, face west, and see nothing except fields almost devoid of trees.” Years after this  helpful publicity, little to address the problems was being</a:t>
            </a:r>
            <a:r>
              <a:rPr dirty="0" sz="1100" spc="55">
                <a:latin typeface="Arial"/>
                <a:cs typeface="Arial"/>
              </a:rPr>
              <a:t> </a:t>
            </a:r>
            <a:r>
              <a:rPr dirty="0" sz="1100" spc="-5">
                <a:latin typeface="Arial"/>
                <a:cs typeface="Arial"/>
              </a:rPr>
              <a:t>accomplished.</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On the eastern (nearly) two-thirds of the island of Hispaniola that the two nations share, the  Dominican Republic finds itself in the middle of the human development listing, at number 90 </a:t>
            </a:r>
            <a:r>
              <a:rPr dirty="0" sz="1100">
                <a:latin typeface="Arial"/>
                <a:cs typeface="Arial"/>
              </a:rPr>
              <a:t>on  </a:t>
            </a:r>
            <a:r>
              <a:rPr dirty="0" sz="1100" spc="-5">
                <a:latin typeface="Arial"/>
                <a:cs typeface="Arial"/>
              </a:rPr>
              <a:t>the 2009 HDI. On the western third of Hispaniola, Haiti just barely escapes a low human  development ranking, at number 149—a measurement taken before the impact of the  earthquake.</a:t>
            </a:r>
            <a:endParaRPr sz="1100">
              <a:latin typeface="Arial"/>
              <a:cs typeface="Arial"/>
            </a:endParaRPr>
          </a:p>
          <a:p>
            <a:pPr>
              <a:lnSpc>
                <a:spcPct val="100000"/>
              </a:lnSpc>
              <a:spcBef>
                <a:spcPts val="5"/>
              </a:spcBef>
            </a:pPr>
            <a:endParaRPr sz="1050">
              <a:latin typeface="Arial"/>
              <a:cs typeface="Arial"/>
            </a:endParaRPr>
          </a:p>
          <a:p>
            <a:pPr algn="just" marL="12700" marR="5715">
              <a:lnSpc>
                <a:spcPct val="95800"/>
              </a:lnSpc>
            </a:pPr>
            <a:r>
              <a:rPr dirty="0" sz="1100" spc="-5">
                <a:latin typeface="Arial"/>
                <a:cs typeface="Arial"/>
              </a:rPr>
              <a:t>The contrasts between the two nations sharing the island of Hispaniola were not always as stark  as today. In 1960, the first year for which reliable information is available for Haiti, real incomes  in these two countries were not very far apart, about $2,345 for the DR and $1,877 in Haiti—that  is, approximately 25% higher in the DR. Haiti had about 12% of average U.S. income levels at  the time, </a:t>
            </a:r>
            <a:r>
              <a:rPr dirty="0" sz="1100">
                <a:latin typeface="Arial"/>
                <a:cs typeface="Arial"/>
              </a:rPr>
              <a:t>while </a:t>
            </a:r>
            <a:r>
              <a:rPr dirty="0" sz="1100" spc="-5">
                <a:latin typeface="Arial"/>
                <a:cs typeface="Arial"/>
              </a:rPr>
              <a:t>the DR </a:t>
            </a:r>
            <a:r>
              <a:rPr dirty="0" sz="1100">
                <a:latin typeface="Arial"/>
                <a:cs typeface="Arial"/>
              </a:rPr>
              <a:t>had </a:t>
            </a:r>
            <a:r>
              <a:rPr dirty="0" sz="1100" spc="-5">
                <a:latin typeface="Arial"/>
                <a:cs typeface="Arial"/>
              </a:rPr>
              <a:t>16% of average U.S. income. </a:t>
            </a:r>
            <a:r>
              <a:rPr dirty="0" sz="1100">
                <a:latin typeface="Arial"/>
                <a:cs typeface="Arial"/>
              </a:rPr>
              <a:t>But </a:t>
            </a:r>
            <a:r>
              <a:rPr dirty="0" sz="1100" spc="-5">
                <a:latin typeface="Arial"/>
                <a:cs typeface="Arial"/>
              </a:rPr>
              <a:t>by 2007, real GDP in </a:t>
            </a:r>
            <a:r>
              <a:rPr dirty="0" sz="1100">
                <a:latin typeface="Arial"/>
                <a:cs typeface="Arial"/>
              </a:rPr>
              <a:t>the </a:t>
            </a:r>
            <a:r>
              <a:rPr dirty="0" sz="1100" spc="-5">
                <a:latin typeface="Arial"/>
                <a:cs typeface="Arial"/>
              </a:rPr>
              <a:t>DR had  risen to $9,664; but it actually fell in Haiti to $1,581. That is, income in the DR is </a:t>
            </a:r>
            <a:r>
              <a:rPr dirty="0" sz="1100">
                <a:latin typeface="Arial"/>
                <a:cs typeface="Arial"/>
              </a:rPr>
              <a:t>now </a:t>
            </a:r>
            <a:r>
              <a:rPr dirty="0" sz="1100" spc="-5">
                <a:latin typeface="Arial"/>
                <a:cs typeface="Arial"/>
              </a:rPr>
              <a:t>over six  times that of Haiti. U.S. incomes grew in this period such that Haiti’s average income by 2007  was less than 4% of </a:t>
            </a:r>
            <a:r>
              <a:rPr dirty="0" sz="1100">
                <a:latin typeface="Arial"/>
                <a:cs typeface="Arial"/>
              </a:rPr>
              <a:t>U.S. </a:t>
            </a:r>
            <a:r>
              <a:rPr dirty="0" sz="1100" spc="-5">
                <a:latin typeface="Arial"/>
                <a:cs typeface="Arial"/>
              </a:rPr>
              <a:t>levels. But the DR, which had grown somewhat faster than the United  States, now reached an average income that was more </a:t>
            </a:r>
            <a:r>
              <a:rPr dirty="0" sz="1100">
                <a:latin typeface="Arial"/>
                <a:cs typeface="Arial"/>
              </a:rPr>
              <a:t>than </a:t>
            </a:r>
            <a:r>
              <a:rPr dirty="0" sz="1100" spc="-5">
                <a:latin typeface="Arial"/>
                <a:cs typeface="Arial"/>
              </a:rPr>
              <a:t>22% of that in the United States.  (While estimates differ across methods, the qualitative comparisons are similar.) This fact  suggests</a:t>
            </a:r>
            <a:r>
              <a:rPr dirty="0" sz="1100" spc="110">
                <a:latin typeface="Arial"/>
                <a:cs typeface="Arial"/>
              </a:rPr>
              <a:t> </a:t>
            </a:r>
            <a:r>
              <a:rPr dirty="0" sz="1100" spc="-5">
                <a:latin typeface="Arial"/>
                <a:cs typeface="Arial"/>
              </a:rPr>
              <a:t>that</a:t>
            </a:r>
            <a:r>
              <a:rPr dirty="0" sz="1100" spc="110">
                <a:latin typeface="Arial"/>
                <a:cs typeface="Arial"/>
              </a:rPr>
              <a:t> </a:t>
            </a:r>
            <a:r>
              <a:rPr dirty="0" sz="1100" spc="-5">
                <a:latin typeface="Arial"/>
                <a:cs typeface="Arial"/>
              </a:rPr>
              <a:t>important</a:t>
            </a:r>
            <a:r>
              <a:rPr dirty="0" sz="1100" spc="114">
                <a:latin typeface="Arial"/>
                <a:cs typeface="Arial"/>
              </a:rPr>
              <a:t> </a:t>
            </a:r>
            <a:r>
              <a:rPr dirty="0" sz="1100" spc="-5">
                <a:latin typeface="Arial"/>
                <a:cs typeface="Arial"/>
              </a:rPr>
              <a:t>clues</a:t>
            </a:r>
            <a:r>
              <a:rPr dirty="0" sz="1100" spc="110">
                <a:latin typeface="Arial"/>
                <a:cs typeface="Arial"/>
              </a:rPr>
              <a:t> </a:t>
            </a:r>
            <a:r>
              <a:rPr dirty="0" sz="1100" spc="-5">
                <a:latin typeface="Arial"/>
                <a:cs typeface="Arial"/>
              </a:rPr>
              <a:t>are</a:t>
            </a:r>
            <a:r>
              <a:rPr dirty="0" sz="1100" spc="114">
                <a:latin typeface="Arial"/>
                <a:cs typeface="Arial"/>
              </a:rPr>
              <a:t> </a:t>
            </a:r>
            <a:r>
              <a:rPr dirty="0" sz="1100" spc="-5">
                <a:latin typeface="Arial"/>
                <a:cs typeface="Arial"/>
              </a:rPr>
              <a:t>to</a:t>
            </a:r>
            <a:r>
              <a:rPr dirty="0" sz="1100" spc="110">
                <a:latin typeface="Arial"/>
                <a:cs typeface="Arial"/>
              </a:rPr>
              <a:t> </a:t>
            </a:r>
            <a:r>
              <a:rPr dirty="0" sz="1100" spc="-5">
                <a:latin typeface="Arial"/>
                <a:cs typeface="Arial"/>
              </a:rPr>
              <a:t>be</a:t>
            </a:r>
            <a:r>
              <a:rPr dirty="0" sz="1100" spc="110">
                <a:latin typeface="Arial"/>
                <a:cs typeface="Arial"/>
              </a:rPr>
              <a:t> </a:t>
            </a:r>
            <a:r>
              <a:rPr dirty="0" sz="1100" spc="-5">
                <a:latin typeface="Arial"/>
                <a:cs typeface="Arial"/>
              </a:rPr>
              <a:t>found</a:t>
            </a:r>
            <a:r>
              <a:rPr dirty="0" sz="1100" spc="114">
                <a:latin typeface="Arial"/>
                <a:cs typeface="Arial"/>
              </a:rPr>
              <a:t> </a:t>
            </a:r>
            <a:r>
              <a:rPr dirty="0" sz="1100" spc="-5">
                <a:latin typeface="Arial"/>
                <a:cs typeface="Arial"/>
              </a:rPr>
              <a:t>in</a:t>
            </a:r>
            <a:r>
              <a:rPr dirty="0" sz="1100" spc="120">
                <a:latin typeface="Arial"/>
                <a:cs typeface="Arial"/>
              </a:rPr>
              <a:t> </a:t>
            </a:r>
            <a:r>
              <a:rPr dirty="0" sz="1100" spc="-5">
                <a:latin typeface="Arial"/>
                <a:cs typeface="Arial"/>
              </a:rPr>
              <a:t>events</a:t>
            </a:r>
            <a:r>
              <a:rPr dirty="0" sz="1100" spc="114">
                <a:latin typeface="Arial"/>
                <a:cs typeface="Arial"/>
              </a:rPr>
              <a:t> </a:t>
            </a:r>
            <a:r>
              <a:rPr dirty="0" sz="1100" spc="-5">
                <a:latin typeface="Arial"/>
                <a:cs typeface="Arial"/>
              </a:rPr>
              <a:t>and</a:t>
            </a:r>
            <a:r>
              <a:rPr dirty="0" sz="1100" spc="110">
                <a:latin typeface="Arial"/>
                <a:cs typeface="Arial"/>
              </a:rPr>
              <a:t> </a:t>
            </a:r>
            <a:r>
              <a:rPr dirty="0" sz="1100" spc="-5">
                <a:latin typeface="Arial"/>
                <a:cs typeface="Arial"/>
              </a:rPr>
              <a:t>policies</a:t>
            </a:r>
            <a:r>
              <a:rPr dirty="0" sz="1100" spc="105">
                <a:latin typeface="Arial"/>
                <a:cs typeface="Arial"/>
              </a:rPr>
              <a:t> </a:t>
            </a:r>
            <a:r>
              <a:rPr dirty="0" sz="1100" spc="-5">
                <a:latin typeface="Arial"/>
                <a:cs typeface="Arial"/>
              </a:rPr>
              <a:t>since</a:t>
            </a:r>
            <a:r>
              <a:rPr dirty="0" sz="1100" spc="114">
                <a:latin typeface="Arial"/>
                <a:cs typeface="Arial"/>
              </a:rPr>
              <a:t> </a:t>
            </a:r>
            <a:r>
              <a:rPr dirty="0" sz="1100" spc="-5">
                <a:latin typeface="Arial"/>
                <a:cs typeface="Arial"/>
              </a:rPr>
              <a:t>1960.</a:t>
            </a:r>
            <a:r>
              <a:rPr dirty="0" sz="1100" spc="105">
                <a:latin typeface="Arial"/>
                <a:cs typeface="Arial"/>
              </a:rPr>
              <a:t> </a:t>
            </a:r>
            <a:r>
              <a:rPr dirty="0" sz="1100" spc="-5">
                <a:latin typeface="Arial"/>
                <a:cs typeface="Arial"/>
              </a:rPr>
              <a:t>On</a:t>
            </a:r>
            <a:r>
              <a:rPr dirty="0" sz="1100" spc="114">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other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228</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8141334"/>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hand, to understand opportunities and constraints so that it becomes clearer why policies  diverged, it is often helpful to start with the beginnings of colonial</a:t>
            </a:r>
            <a:r>
              <a:rPr dirty="0" sz="1100" spc="85">
                <a:latin typeface="Arial"/>
                <a:cs typeface="Arial"/>
              </a:rPr>
              <a:t> </a:t>
            </a:r>
            <a:r>
              <a:rPr dirty="0" sz="1100" spc="-5">
                <a:latin typeface="Arial"/>
                <a:cs typeface="Arial"/>
              </a:rPr>
              <a:t>times.</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GEOGRAPHY </a:t>
            </a:r>
            <a:r>
              <a:rPr dirty="0" sz="1100" b="1">
                <a:latin typeface="Arial"/>
                <a:cs typeface="Arial"/>
              </a:rPr>
              <a:t>AND </a:t>
            </a:r>
            <a:r>
              <a:rPr dirty="0" sz="1100" spc="-5" b="1">
                <a:latin typeface="Arial"/>
                <a:cs typeface="Arial"/>
              </a:rPr>
              <a:t>ORIGINAL</a:t>
            </a:r>
            <a:r>
              <a:rPr dirty="0" sz="1100" spc="5" b="1">
                <a:latin typeface="Arial"/>
                <a:cs typeface="Arial"/>
              </a:rPr>
              <a:t> </a:t>
            </a:r>
            <a:r>
              <a:rPr dirty="0" sz="1100" spc="-5" b="1">
                <a:latin typeface="Arial"/>
                <a:cs typeface="Arial"/>
              </a:rPr>
              <a:t>ENVIRONMENTS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Hispaniola is a subtropical island of about 76,482 square kilometers—smaller than Cuba </a:t>
            </a:r>
            <a:r>
              <a:rPr dirty="0" sz="1100">
                <a:latin typeface="Arial"/>
                <a:cs typeface="Arial"/>
              </a:rPr>
              <a:t>but  </a:t>
            </a:r>
            <a:r>
              <a:rPr dirty="0" sz="1100" spc="-5">
                <a:latin typeface="Arial"/>
                <a:cs typeface="Arial"/>
              </a:rPr>
              <a:t>larger than Jamaica or Puerto Rico. Sharing the same island, both Haiti and the Dominican  Republic seem to have started with similar geographies and environments, with some modest  differences. The DR occupies about 64% of the land area; with the remaining 36%, Haiti is  about the size of the Hawaiian Islands. Rainfall is slightly higher in the DR because the rain  typically comes from the east; Haiti is more mountainous, and its mountains block the rain. The  rivers flow mostly eastward from </a:t>
            </a:r>
            <a:r>
              <a:rPr dirty="0" sz="1100">
                <a:latin typeface="Arial"/>
                <a:cs typeface="Arial"/>
              </a:rPr>
              <a:t>these </a:t>
            </a:r>
            <a:r>
              <a:rPr dirty="0" sz="1100" spc="-5">
                <a:latin typeface="Arial"/>
                <a:cs typeface="Arial"/>
              </a:rPr>
              <a:t>mountains, providing water for the Dominican Republic.  These modest initial environmental differences may </a:t>
            </a:r>
            <a:r>
              <a:rPr dirty="0" sz="1100">
                <a:latin typeface="Arial"/>
                <a:cs typeface="Arial"/>
              </a:rPr>
              <a:t>have </a:t>
            </a:r>
            <a:r>
              <a:rPr dirty="0" sz="1100" spc="-5">
                <a:latin typeface="Arial"/>
                <a:cs typeface="Arial"/>
              </a:rPr>
              <a:t>put Haiti at some disadvantage, but  Haiti has done well economically in comparison to the DR in some periods. Both countries were  once largely covered with forests. But environmental damage was already under way under  colonial rule, with deforestation due to extensive logging and overuse of the soil. Adverse  human influence has had a bigger impact in</a:t>
            </a:r>
            <a:r>
              <a:rPr dirty="0" sz="1100" spc="40">
                <a:latin typeface="Arial"/>
                <a:cs typeface="Arial"/>
              </a:rPr>
              <a:t> </a:t>
            </a:r>
            <a:r>
              <a:rPr dirty="0" sz="1100" spc="-5">
                <a:latin typeface="Arial"/>
                <a:cs typeface="Arial"/>
              </a:rPr>
              <a:t>Haiti.</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INSTITUTIONS: HISTORICAL</a:t>
            </a:r>
            <a:r>
              <a:rPr dirty="0" sz="1100" spc="5" b="1">
                <a:latin typeface="Arial"/>
                <a:cs typeface="Arial"/>
              </a:rPr>
              <a:t> </a:t>
            </a:r>
            <a:r>
              <a:rPr dirty="0" sz="1100" spc="-5" b="1">
                <a:latin typeface="Arial"/>
                <a:cs typeface="Arial"/>
              </a:rPr>
              <a:t>LEGACY</a:t>
            </a:r>
            <a:endParaRPr sz="1100">
              <a:latin typeface="Arial"/>
              <a:cs typeface="Arial"/>
            </a:endParaRPr>
          </a:p>
          <a:p>
            <a:pPr>
              <a:lnSpc>
                <a:spcPct val="100000"/>
              </a:lnSpc>
              <a:spcBef>
                <a:spcPts val="15"/>
              </a:spcBef>
            </a:pPr>
            <a:endParaRPr sz="1250">
              <a:latin typeface="Arial"/>
              <a:cs typeface="Arial"/>
            </a:endParaRPr>
          </a:p>
          <a:p>
            <a:pPr algn="just" marL="469900" marR="6350" indent="-228600">
              <a:lnSpc>
                <a:spcPct val="95700"/>
              </a:lnSpc>
              <a:buFont typeface="Symbol"/>
              <a:buChar char=""/>
              <a:tabLst>
                <a:tab pos="470534" algn="l"/>
              </a:tabLst>
            </a:pPr>
            <a:r>
              <a:rPr dirty="0" sz="1100" spc="-5">
                <a:latin typeface="Arial"/>
                <a:cs typeface="Arial"/>
              </a:rPr>
              <a:t>Clearly, neither country started with favorable institutions. The abundance of resources  and the island’s suitability for sugar production led the Spanish to create institutions  designed for extraction.</a:t>
            </a:r>
            <a:endParaRPr sz="1100">
              <a:latin typeface="Arial"/>
              <a:cs typeface="Arial"/>
            </a:endParaRPr>
          </a:p>
          <a:p>
            <a:pPr algn="just" marL="469900" marR="5715" indent="-228600">
              <a:lnSpc>
                <a:spcPct val="95700"/>
              </a:lnSpc>
              <a:spcBef>
                <a:spcPts val="75"/>
              </a:spcBef>
              <a:buFont typeface="Symbol"/>
              <a:buChar char=""/>
              <a:tabLst>
                <a:tab pos="470534" algn="l"/>
              </a:tabLst>
            </a:pPr>
            <a:r>
              <a:rPr dirty="0" sz="1100" spc="-5">
                <a:latin typeface="Arial"/>
                <a:cs typeface="Arial"/>
              </a:rPr>
              <a:t>Both Haiti and the DR suffered subsequent attempts to reinstate slavery and fought wars  against each other, including an 1821–1843 attempt at reunification (known as </a:t>
            </a:r>
            <a:r>
              <a:rPr dirty="0" sz="1100">
                <a:latin typeface="Arial"/>
                <a:cs typeface="Arial"/>
              </a:rPr>
              <a:t>the  </a:t>
            </a:r>
            <a:r>
              <a:rPr dirty="0" sz="1100" spc="-5">
                <a:latin typeface="Arial"/>
                <a:cs typeface="Arial"/>
              </a:rPr>
              <a:t>Haitian occupation in the DR, whose Independence Day celebrates freedom from</a:t>
            </a:r>
            <a:r>
              <a:rPr dirty="0" sz="1100" spc="200">
                <a:latin typeface="Arial"/>
                <a:cs typeface="Arial"/>
              </a:rPr>
              <a:t> </a:t>
            </a:r>
            <a:r>
              <a:rPr dirty="0" sz="1100" spc="-5">
                <a:latin typeface="Arial"/>
                <a:cs typeface="Arial"/>
              </a:rPr>
              <a:t>Haiti).</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10" b="1">
                <a:latin typeface="Arial"/>
                <a:cs typeface="Arial"/>
              </a:rPr>
              <a:t>HUMAN</a:t>
            </a:r>
            <a:r>
              <a:rPr dirty="0" sz="1100" b="1">
                <a:latin typeface="Arial"/>
                <a:cs typeface="Arial"/>
              </a:rPr>
              <a:t> </a:t>
            </a:r>
            <a:r>
              <a:rPr dirty="0" sz="1100" spc="-5" b="1">
                <a:latin typeface="Arial"/>
                <a:cs typeface="Arial"/>
              </a:rPr>
              <a:t>CAPITAL</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Haiti has the highest illiteracy rate in the western hemisphere, estimated at more than half the  population. The school system is badly under funded and disorganized. Health conditions are  equally bad and include high under-5 mortality, hunger, and a large HIV/AIDS problem. The  2010 cholera outbreak was a symptom of a broken health system. The DR, although not without  serious education problems, has done a far better job than Haiti at providing its people with the  human capital they need to compete in a globalizing</a:t>
            </a:r>
            <a:r>
              <a:rPr dirty="0" sz="1100" spc="55">
                <a:latin typeface="Arial"/>
                <a:cs typeface="Arial"/>
              </a:rPr>
              <a:t> </a:t>
            </a:r>
            <a:r>
              <a:rPr dirty="0" sz="1100" spc="-5">
                <a:latin typeface="Arial"/>
                <a:cs typeface="Arial"/>
              </a:rPr>
              <a:t>economy.</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10" b="1">
                <a:latin typeface="Arial"/>
                <a:cs typeface="Arial"/>
              </a:rPr>
              <a:t>POLICY</a:t>
            </a:r>
            <a:r>
              <a:rPr dirty="0" sz="1100" b="1">
                <a:latin typeface="Arial"/>
                <a:cs typeface="Arial"/>
              </a:rPr>
              <a:t> </a:t>
            </a:r>
            <a:r>
              <a:rPr dirty="0" sz="1100" spc="-5" b="1">
                <a:latin typeface="Arial"/>
                <a:cs typeface="Arial"/>
              </a:rPr>
              <a:t>EFFECTS</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800"/>
              </a:lnSpc>
            </a:pPr>
            <a:r>
              <a:rPr dirty="0" sz="1100" spc="-5">
                <a:latin typeface="Arial"/>
                <a:cs typeface="Arial"/>
              </a:rPr>
              <a:t>In the 1990s, growth rates accelerated in the DR due to improvements in education, trade  policies, and infrastructure. Remittances and tourism grew to become nearly a quarter of the  country’s GDP, and net manufactures exports per capita doubled. Haiti, however, suffered from  political instability during the same period. The army overthrew President Aristide in 1991 and  began a violent regime that damaged the economy directly and also indirectly through  subsequent UN and U.S. trade embargoes. Haiti also failed to diversify its economy; its  continued focus on sugar has left Haiti not only contending with volatile sugar prices but also  competing against sugar-subsidizing rich countries (most prominently the United States). The  DR’s diversification into tourism depended on a clean environment— </a:t>
            </a:r>
            <a:r>
              <a:rPr dirty="0" sz="1100">
                <a:latin typeface="Arial"/>
                <a:cs typeface="Arial"/>
              </a:rPr>
              <a:t>both </a:t>
            </a:r>
            <a:r>
              <a:rPr dirty="0" sz="1100" spc="-5">
                <a:latin typeface="Arial"/>
                <a:cs typeface="Arial"/>
              </a:rPr>
              <a:t>on its beaches and in  its forests for ecotourism. Policy in the DR actively sought out foreign investment </a:t>
            </a:r>
            <a:r>
              <a:rPr dirty="0" sz="1100">
                <a:latin typeface="Arial"/>
                <a:cs typeface="Arial"/>
              </a:rPr>
              <a:t>for  </a:t>
            </a:r>
            <a:r>
              <a:rPr dirty="0" sz="1100" spc="-5">
                <a:latin typeface="Arial"/>
                <a:cs typeface="Arial"/>
              </a:rPr>
              <a:t>manufacturing that provided higher-wage employment. The DR has long had far more nature  reserves</a:t>
            </a:r>
            <a:r>
              <a:rPr dirty="0" sz="1100" spc="200">
                <a:latin typeface="Arial"/>
                <a:cs typeface="Arial"/>
              </a:rPr>
              <a:t> </a:t>
            </a:r>
            <a:r>
              <a:rPr dirty="0" sz="1100" spc="-5">
                <a:latin typeface="Arial"/>
                <a:cs typeface="Arial"/>
              </a:rPr>
              <a:t>and</a:t>
            </a:r>
            <a:r>
              <a:rPr dirty="0" sz="1100" spc="200">
                <a:latin typeface="Arial"/>
                <a:cs typeface="Arial"/>
              </a:rPr>
              <a:t> </a:t>
            </a:r>
            <a:r>
              <a:rPr dirty="0" sz="1100" spc="-5">
                <a:latin typeface="Arial"/>
                <a:cs typeface="Arial"/>
              </a:rPr>
              <a:t>national</a:t>
            </a:r>
            <a:r>
              <a:rPr dirty="0" sz="1100" spc="200">
                <a:latin typeface="Arial"/>
                <a:cs typeface="Arial"/>
              </a:rPr>
              <a:t> </a:t>
            </a:r>
            <a:r>
              <a:rPr dirty="0" sz="1100" spc="-5">
                <a:latin typeface="Arial"/>
                <a:cs typeface="Arial"/>
              </a:rPr>
              <a:t>parks;</a:t>
            </a:r>
            <a:r>
              <a:rPr dirty="0" sz="1100" spc="204">
                <a:latin typeface="Arial"/>
                <a:cs typeface="Arial"/>
              </a:rPr>
              <a:t> </a:t>
            </a:r>
            <a:r>
              <a:rPr dirty="0" sz="1100" spc="-5">
                <a:latin typeface="Arial"/>
                <a:cs typeface="Arial"/>
              </a:rPr>
              <a:t>Trujillo’s</a:t>
            </a:r>
            <a:r>
              <a:rPr dirty="0" sz="1100" spc="200">
                <a:latin typeface="Arial"/>
                <a:cs typeface="Arial"/>
              </a:rPr>
              <a:t> </a:t>
            </a:r>
            <a:r>
              <a:rPr dirty="0" sz="1100" spc="-5">
                <a:latin typeface="Arial"/>
                <a:cs typeface="Arial"/>
              </a:rPr>
              <a:t>insistence</a:t>
            </a:r>
            <a:r>
              <a:rPr dirty="0" sz="1100" spc="200">
                <a:latin typeface="Arial"/>
                <a:cs typeface="Arial"/>
              </a:rPr>
              <a:t> </a:t>
            </a:r>
            <a:r>
              <a:rPr dirty="0" sz="1100" spc="-5">
                <a:latin typeface="Arial"/>
                <a:cs typeface="Arial"/>
              </a:rPr>
              <a:t>on</a:t>
            </a:r>
            <a:r>
              <a:rPr dirty="0" sz="1100" spc="204">
                <a:latin typeface="Arial"/>
                <a:cs typeface="Arial"/>
              </a:rPr>
              <a:t> </a:t>
            </a:r>
            <a:r>
              <a:rPr dirty="0" sz="1100" spc="-5">
                <a:latin typeface="Arial"/>
                <a:cs typeface="Arial"/>
              </a:rPr>
              <a:t>forest</a:t>
            </a:r>
            <a:r>
              <a:rPr dirty="0" sz="1100" spc="195">
                <a:latin typeface="Arial"/>
                <a:cs typeface="Arial"/>
              </a:rPr>
              <a:t> </a:t>
            </a:r>
            <a:r>
              <a:rPr dirty="0" sz="1100" spc="-5">
                <a:latin typeface="Arial"/>
                <a:cs typeface="Arial"/>
              </a:rPr>
              <a:t>preservation</a:t>
            </a:r>
            <a:r>
              <a:rPr dirty="0" sz="1100" spc="200">
                <a:latin typeface="Arial"/>
                <a:cs typeface="Arial"/>
              </a:rPr>
              <a:t> </a:t>
            </a:r>
            <a:r>
              <a:rPr dirty="0" sz="1100" spc="-5">
                <a:latin typeface="Arial"/>
                <a:cs typeface="Arial"/>
              </a:rPr>
              <a:t>had</a:t>
            </a:r>
            <a:r>
              <a:rPr dirty="0" sz="1100" spc="204">
                <a:latin typeface="Arial"/>
                <a:cs typeface="Arial"/>
              </a:rPr>
              <a:t> </a:t>
            </a:r>
            <a:r>
              <a:rPr dirty="0" sz="1100" spc="-5">
                <a:latin typeface="Arial"/>
                <a:cs typeface="Arial"/>
              </a:rPr>
              <a:t>long-run</a:t>
            </a:r>
            <a:r>
              <a:rPr dirty="0" sz="1100" spc="200">
                <a:latin typeface="Arial"/>
                <a:cs typeface="Arial"/>
              </a:rPr>
              <a:t> </a:t>
            </a:r>
            <a:r>
              <a:rPr dirty="0" sz="1100" spc="-5">
                <a:latin typeface="Arial"/>
                <a:cs typeface="Arial"/>
              </a:rPr>
              <a:t>positive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229</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905" cy="8103234"/>
          </a:xfrm>
          <a:prstGeom prst="rect">
            <a:avLst/>
          </a:prstGeom>
        </p:spPr>
        <p:txBody>
          <a:bodyPr wrap="square" lIns="0" tIns="22860" rIns="0" bIns="0" rtlCol="0" vert="horz">
            <a:spAutoFit/>
          </a:bodyPr>
          <a:lstStyle/>
          <a:p>
            <a:pPr algn="just" marL="12700" marR="6985">
              <a:lnSpc>
                <a:spcPts val="1270"/>
              </a:lnSpc>
              <a:spcBef>
                <a:spcPts val="180"/>
              </a:spcBef>
            </a:pPr>
            <a:r>
              <a:rPr dirty="0" sz="1100" spc="-5">
                <a:latin typeface="Arial"/>
                <a:cs typeface="Arial"/>
              </a:rPr>
              <a:t>effects on the environment and development. The DR </a:t>
            </a:r>
            <a:r>
              <a:rPr dirty="0" sz="1100">
                <a:latin typeface="Arial"/>
                <a:cs typeface="Arial"/>
              </a:rPr>
              <a:t>has </a:t>
            </a:r>
            <a:r>
              <a:rPr dirty="0" sz="1100" spc="-5">
                <a:latin typeface="Arial"/>
                <a:cs typeface="Arial"/>
              </a:rPr>
              <a:t>clearly had better policies, and  apparently, a long legacy of institutions mattered for the </a:t>
            </a:r>
            <a:r>
              <a:rPr dirty="0" sz="1100">
                <a:latin typeface="Arial"/>
                <a:cs typeface="Arial"/>
              </a:rPr>
              <a:t>policy </a:t>
            </a:r>
            <a:r>
              <a:rPr dirty="0" sz="1100" spc="-5">
                <a:latin typeface="Arial"/>
                <a:cs typeface="Arial"/>
              </a:rPr>
              <a:t>differences between the DR and  its neighbor.</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a:latin typeface="Arial"/>
                <a:cs typeface="Arial"/>
              </a:rPr>
              <a:t>Poverty can cause environmental damage, and </a:t>
            </a:r>
            <a:r>
              <a:rPr dirty="0" sz="1100">
                <a:latin typeface="Arial"/>
                <a:cs typeface="Arial"/>
              </a:rPr>
              <a:t>the </a:t>
            </a:r>
            <a:r>
              <a:rPr dirty="0" sz="1100" spc="-5">
                <a:latin typeface="Arial"/>
                <a:cs typeface="Arial"/>
              </a:rPr>
              <a:t>poor can in turn become its victims. Haiti’s  agricultural expansion was poorly managed. Deforestation has in turn led to the massive loss of  fertile soil, lowering productivity of farms. Currently, more than a quarter of the Dominican  Republic is forested, compared to </a:t>
            </a:r>
            <a:r>
              <a:rPr dirty="0" sz="1100">
                <a:latin typeface="Arial"/>
                <a:cs typeface="Arial"/>
              </a:rPr>
              <a:t>only </a:t>
            </a:r>
            <a:r>
              <a:rPr dirty="0" sz="1100" spc="-5">
                <a:latin typeface="Arial"/>
                <a:cs typeface="Arial"/>
              </a:rPr>
              <a:t>1% </a:t>
            </a:r>
            <a:r>
              <a:rPr dirty="0" sz="1100">
                <a:latin typeface="Arial"/>
                <a:cs typeface="Arial"/>
              </a:rPr>
              <a:t>forest </a:t>
            </a:r>
            <a:r>
              <a:rPr dirty="0" sz="1100" spc="-5">
                <a:latin typeface="Arial"/>
                <a:cs typeface="Arial"/>
              </a:rPr>
              <a:t>cover in Haiti. A similar cover existed in Haiti  as in the DR just a few decades ago. Other low-income countries have introduced and enforced  helpful environmental regulations; had Haiti done the same, despite deep historical roots, the  environmental disaster might at some level </a:t>
            </a:r>
            <a:r>
              <a:rPr dirty="0" sz="1100">
                <a:latin typeface="Arial"/>
                <a:cs typeface="Arial"/>
              </a:rPr>
              <a:t>have </a:t>
            </a:r>
            <a:r>
              <a:rPr dirty="0" sz="1100" spc="-5">
                <a:latin typeface="Arial"/>
                <a:cs typeface="Arial"/>
              </a:rPr>
              <a:t>been averted. The case of Haiti adds to the  growing evidence that environmental destruction can retard the development process more  generally and needs to be a bigger priority. Both countries have faced serious environmental  challenges, including hurricanes and earthquakes. It is critical to manage the risk of extreme  events before they become full-blown humanitarian</a:t>
            </a:r>
            <a:r>
              <a:rPr dirty="0" sz="1100" spc="35">
                <a:latin typeface="Arial"/>
                <a:cs typeface="Arial"/>
              </a:rPr>
              <a:t> </a:t>
            </a:r>
            <a:r>
              <a:rPr dirty="0" sz="1100" spc="-5">
                <a:latin typeface="Arial"/>
                <a:cs typeface="Arial"/>
              </a:rPr>
              <a:t>disasters.</a:t>
            </a:r>
            <a:endParaRPr sz="1100">
              <a:latin typeface="Arial"/>
              <a:cs typeface="Arial"/>
            </a:endParaRPr>
          </a:p>
          <a:p>
            <a:pPr marL="12700" marR="1425575">
              <a:lnSpc>
                <a:spcPts val="2650"/>
              </a:lnSpc>
              <a:spcBef>
                <a:spcPts val="200"/>
              </a:spcBef>
            </a:pPr>
            <a:r>
              <a:rPr dirty="0" sz="1100" spc="-5" b="1">
                <a:latin typeface="Arial"/>
                <a:cs typeface="Arial"/>
              </a:rPr>
              <a:t>INTERNATIONAL TRADE THEORY AND DEVELOPMENT STRATEGY  ECONOMIC GLOBALIZATION: AN</a:t>
            </a:r>
            <a:r>
              <a:rPr dirty="0" sz="1100" spc="25" b="1">
                <a:latin typeface="Arial"/>
                <a:cs typeface="Arial"/>
              </a:rPr>
              <a:t> </a:t>
            </a:r>
            <a:r>
              <a:rPr dirty="0" sz="1100" spc="-5" b="1">
                <a:latin typeface="Arial"/>
                <a:cs typeface="Arial"/>
              </a:rPr>
              <a:t>INTRODUCTION</a:t>
            </a:r>
            <a:endParaRPr sz="1100">
              <a:latin typeface="Arial"/>
              <a:cs typeface="Arial"/>
            </a:endParaRPr>
          </a:p>
          <a:p>
            <a:pPr>
              <a:lnSpc>
                <a:spcPct val="100000"/>
              </a:lnSpc>
              <a:spcBef>
                <a:spcPts val="25"/>
              </a:spcBef>
            </a:pPr>
            <a:endParaRPr sz="1000">
              <a:latin typeface="Arial"/>
              <a:cs typeface="Arial"/>
            </a:endParaRPr>
          </a:p>
          <a:p>
            <a:pPr marL="469900" marR="6985" indent="-228600">
              <a:lnSpc>
                <a:spcPts val="1260"/>
              </a:lnSpc>
              <a:buFont typeface="Symbol"/>
              <a:buChar char=""/>
              <a:tabLst>
                <a:tab pos="469265" algn="l"/>
                <a:tab pos="469900" algn="l"/>
              </a:tabLst>
            </a:pPr>
            <a:r>
              <a:rPr dirty="0" sz="1100" spc="-5" b="1">
                <a:latin typeface="Arial"/>
                <a:cs typeface="Arial"/>
              </a:rPr>
              <a:t>Globalization: </a:t>
            </a:r>
            <a:r>
              <a:rPr dirty="0" sz="1100" spc="-5">
                <a:latin typeface="Arial"/>
                <a:cs typeface="Arial"/>
              </a:rPr>
              <a:t>The increasing integration of national economies into expanding  international markets.</a:t>
            </a:r>
            <a:endParaRPr sz="1100">
              <a:latin typeface="Arial"/>
              <a:cs typeface="Arial"/>
            </a:endParaRPr>
          </a:p>
          <a:p>
            <a:pPr>
              <a:lnSpc>
                <a:spcPct val="100000"/>
              </a:lnSpc>
              <a:spcBef>
                <a:spcPts val="25"/>
              </a:spcBef>
            </a:pPr>
            <a:endParaRPr sz="1050">
              <a:latin typeface="Arial"/>
              <a:cs typeface="Arial"/>
            </a:endParaRPr>
          </a:p>
          <a:p>
            <a:pPr algn="just" marL="12700" marR="5080">
              <a:lnSpc>
                <a:spcPct val="95800"/>
              </a:lnSpc>
            </a:pPr>
            <a:r>
              <a:rPr dirty="0" sz="1100" spc="-5">
                <a:latin typeface="Arial"/>
                <a:cs typeface="Arial"/>
              </a:rPr>
              <a:t>Globalization is one of the most frequently used words in discussions of development, trade,  and international political economy. As the form of the word implies, globalization is a process  by which the economies of the world become more integrated, leading to a global economy and,  increasingly, global economic policymaking, </a:t>
            </a:r>
            <a:r>
              <a:rPr dirty="0" sz="1100">
                <a:latin typeface="Arial"/>
                <a:cs typeface="Arial"/>
              </a:rPr>
              <a:t>for </a:t>
            </a:r>
            <a:r>
              <a:rPr dirty="0" sz="1100" spc="-5">
                <a:latin typeface="Arial"/>
                <a:cs typeface="Arial"/>
              </a:rPr>
              <a:t>example, through international agencies such  as the World Trade Organization (WTO). Globalization also refers to an emerging “global  culture,” in which people consume similar goods and services across countries and use a  common language of business, English; these changes facilitate economic integration and are  in turn further promoted by it. But in its core economic meaning, globalization refers to the  increased openness of economies to international trade, financial flows, and direct foreign  investment, topics of this and the following two chapters. The growing interconnection of all  kinds across national governments and firms and directly between peoples is a process that  affects everyone in the world, one that so far still seems more visible in the developed countries.  But globalization can in many ways have a greater impact in developing</a:t>
            </a:r>
            <a:r>
              <a:rPr dirty="0" sz="1100" spc="120">
                <a:latin typeface="Arial"/>
                <a:cs typeface="Arial"/>
              </a:rPr>
              <a:t> </a:t>
            </a:r>
            <a:r>
              <a:rPr dirty="0" sz="1100" spc="-5">
                <a:latin typeface="Arial"/>
                <a:cs typeface="Arial"/>
              </a:rPr>
              <a:t>countries.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For some people, the term globalization suggests exciting business opportunities, efficiency  gains from trade, more rapid growth of knowledge and innovation, and the transfer of such  knowledge to developing countries facilitating faster growth, or the prospect of a world too  interdependent to engage in war. In part, globalization may well turn out to be all of these things.  For other people, however, globalization raises troubling concerns: that inequalities may be  accentuated both across and within countries, that environmental degradation may </a:t>
            </a:r>
            <a:r>
              <a:rPr dirty="0" sz="1100">
                <a:latin typeface="Arial"/>
                <a:cs typeface="Arial"/>
              </a:rPr>
              <a:t>be  </a:t>
            </a:r>
            <a:r>
              <a:rPr dirty="0" sz="1100" spc="-5">
                <a:latin typeface="Arial"/>
                <a:cs typeface="Arial"/>
              </a:rPr>
              <a:t>accelerated, that the international dominance of the richest countries may be expanded and  locked in, and that some peoples and regions may be left further behind. Nobel laureate  Muhammad Yunus captured some of these sentiments when he wrote </a:t>
            </a:r>
            <a:r>
              <a:rPr dirty="0" sz="1100">
                <a:latin typeface="Arial"/>
                <a:cs typeface="Arial"/>
              </a:rPr>
              <a:t>in </a:t>
            </a:r>
            <a:r>
              <a:rPr dirty="0" sz="1100" spc="-5">
                <a:latin typeface="Arial"/>
                <a:cs typeface="Arial"/>
              </a:rPr>
              <a:t>2008, “Global trade is  like a hundred-lane highway criss-crossing the world. If it is a free-for-all highway, with no stop  lights, speed limits, size restrictions, or even </a:t>
            </a:r>
            <a:r>
              <a:rPr dirty="0" sz="1100">
                <a:latin typeface="Arial"/>
                <a:cs typeface="Arial"/>
              </a:rPr>
              <a:t>lane </a:t>
            </a:r>
            <a:r>
              <a:rPr dirty="0" sz="1100" spc="-5">
                <a:latin typeface="Arial"/>
                <a:cs typeface="Arial"/>
              </a:rPr>
              <a:t>markers; its surface will be taken over by the  giant trucks from the world’s most powerful economies.” Appropriate policies and agreements  are needed to forestall such potential</a:t>
            </a:r>
            <a:r>
              <a:rPr dirty="0" sz="1100" spc="20">
                <a:latin typeface="Arial"/>
                <a:cs typeface="Arial"/>
              </a:rPr>
              <a:t> </a:t>
            </a:r>
            <a:r>
              <a:rPr dirty="0" sz="1100" spc="-5">
                <a:latin typeface="Arial"/>
                <a:cs typeface="Arial"/>
              </a:rPr>
              <a:t>problems.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230</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82397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Thus globalization carries benefits and opportunities as well as costs and risks. This is true for  all peoples in all countries but especially for poor families in low-income countries, for whom the  stakes are much higher. The potential upside is perhaps also greatest for developing countries;  globalization does present new possibilities for broad-based economic development. By  providing many types of interactions with people in other countries, globalization can potentially  benefit poor countries directly and indirectly through cultural, social, scientific, and technological  exchanges, as well as through conventional trade and finance. A faster diffusion of productive  ideas, such as a shorter time between innovation and adoption of new technologies around the  world, might help developing countries catch up more quickly. In short, globalization makes it  possible, at least in principle, for the less developed countries to more effectively absorb the  knowledge that is one of the foundations of the wealth of developed countries. In addition, as  Adam </a:t>
            </a:r>
            <a:r>
              <a:rPr dirty="0" sz="1100">
                <a:latin typeface="Arial"/>
                <a:cs typeface="Arial"/>
              </a:rPr>
              <a:t>Smith </a:t>
            </a:r>
            <a:r>
              <a:rPr dirty="0" sz="1100" spc="-5">
                <a:latin typeface="Arial"/>
                <a:cs typeface="Arial"/>
              </a:rPr>
              <a:t>wrote in 1776, “the division of labor is limited by the extent of the market.” The  larger the market that can be sold to, the greater the gains from trade and the division of labor.  Moreover, </a:t>
            </a:r>
            <a:r>
              <a:rPr dirty="0" sz="1100">
                <a:latin typeface="Arial"/>
                <a:cs typeface="Arial"/>
              </a:rPr>
              <a:t>the </a:t>
            </a:r>
            <a:r>
              <a:rPr dirty="0" sz="1100" spc="-5">
                <a:latin typeface="Arial"/>
                <a:cs typeface="Arial"/>
              </a:rPr>
              <a:t>greater is the incentive for innovation, because the potential return is much  larger.</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potential downside of globalization is also greater for poorer countries, if they become  locked into a pattern of dependence, if dualism within developing countries sharpens, or if some  of the poor are entirely bypassed by globalization. Critics have raised the legitimate worry that  many people living in poverty could find it all the harder to break out of poverty </a:t>
            </a:r>
            <a:r>
              <a:rPr dirty="0" sz="1100">
                <a:latin typeface="Arial"/>
                <a:cs typeface="Arial"/>
              </a:rPr>
              <a:t>traps </a:t>
            </a:r>
            <a:r>
              <a:rPr dirty="0" sz="1100" spc="-5">
                <a:latin typeface="Arial"/>
                <a:cs typeface="Arial"/>
              </a:rPr>
              <a:t>without  concerted public action—for example, if human capital falls below the minimum needed to  engage the global economy. The share of international investment received by the poorest  countries has been on a long-term trend of falling rather than rising. All countries may </a:t>
            </a:r>
            <a:r>
              <a:rPr dirty="0" sz="1100">
                <a:latin typeface="Arial"/>
                <a:cs typeface="Arial"/>
              </a:rPr>
              <a:t>be  </a:t>
            </a:r>
            <a:r>
              <a:rPr dirty="0" sz="1100" spc="-5">
                <a:latin typeface="Arial"/>
                <a:cs typeface="Arial"/>
              </a:rPr>
              <a:t>affected by increased vulnerability to capital flows, as the 2008 financial crisis seemed to  confirm, but developing countries more so. All countries may experience certain threats to their  cultural identities, but developing countries the</a:t>
            </a:r>
            <a:r>
              <a:rPr dirty="0" sz="1100" spc="25">
                <a:latin typeface="Arial"/>
                <a:cs typeface="Arial"/>
              </a:rPr>
              <a:t> </a:t>
            </a:r>
            <a:r>
              <a:rPr dirty="0" sz="1100" spc="-5">
                <a:latin typeface="Arial"/>
                <a:cs typeface="Arial"/>
              </a:rPr>
              <a:t>most.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INTERNATIONAL TRADE: SOME KEY</a:t>
            </a:r>
            <a:r>
              <a:rPr dirty="0" sz="1100" spc="15" b="1">
                <a:latin typeface="Arial"/>
                <a:cs typeface="Arial"/>
              </a:rPr>
              <a:t> </a:t>
            </a:r>
            <a:r>
              <a:rPr dirty="0" sz="1100" spc="-5" b="1">
                <a:latin typeface="Arial"/>
                <a:cs typeface="Arial"/>
              </a:rPr>
              <a:t>ISSUES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International trade has often played a central role in the historical experience of the developing  world. In recent years, much of the attention to trade and development issues has been focused  on understanding the spectacular export success of East Asia. Taiwan, South Korea, and other  East Asian economies pioneered this strategy, which has been successfully followed by </a:t>
            </a:r>
            <a:r>
              <a:rPr dirty="0" sz="1100">
                <a:latin typeface="Arial"/>
                <a:cs typeface="Arial"/>
              </a:rPr>
              <a:t>their  </a:t>
            </a:r>
            <a:r>
              <a:rPr dirty="0" sz="1100" spc="-5">
                <a:latin typeface="Arial"/>
                <a:cs typeface="Arial"/>
              </a:rPr>
              <a:t>much larger neighbor,</a:t>
            </a:r>
            <a:r>
              <a:rPr dirty="0" sz="1100" spc="10">
                <a:latin typeface="Arial"/>
                <a:cs typeface="Arial"/>
              </a:rPr>
              <a:t> </a:t>
            </a:r>
            <a:r>
              <a:rPr dirty="0" sz="1100" spc="-5">
                <a:latin typeface="Arial"/>
                <a:cs typeface="Arial"/>
              </a:rPr>
              <a:t>China.</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At the same time, throughout Africa, the Middle East, and Latin America, primary product  exports have traditionally accounted for a sizable proportion of individual gross domestic  products. In some of the smaller countries, a substantial percentage of the economy’s monetary  income is derived from the overseas sale of agricultural and other primary products or  commodities such as coffee, cotton, cacao, sugar, palm oil, bauxite, and copper. In the special  circumstances of the oil-producing nations in the Persian Gulf and elsewhere, the sale of  unrefined and refined petroleum products to countries throughout the world accounts for </a:t>
            </a:r>
            <a:r>
              <a:rPr dirty="0" sz="1100">
                <a:latin typeface="Arial"/>
                <a:cs typeface="Arial"/>
              </a:rPr>
              <a:t>over  </a:t>
            </a:r>
            <a:r>
              <a:rPr dirty="0" sz="1100" spc="-5">
                <a:latin typeface="Arial"/>
                <a:cs typeface="Arial"/>
              </a:rPr>
              <a:t>70% of their national incomes. But unlike the oil producing states and successfully  industrializing countries like South Korea, Taiwan, and now China, many developing countries  must still depend on non-mineral primary-product exports for a relatively large fraction of their  foreign- exchange earnings. This is a particularly serious problem in sub-Saharan Africa.  Because the markets and prices for these exports are often unstable, primary-product export  dependence carries with it a degree of risk and uncertainty that few nations’ desire. This is an  important issue because despite strength since 2002 and some rebounding after the 2008  crisis, the long-term </a:t>
            </a:r>
            <a:r>
              <a:rPr dirty="0" sz="1100">
                <a:latin typeface="Arial"/>
                <a:cs typeface="Arial"/>
              </a:rPr>
              <a:t>trend </a:t>
            </a:r>
            <a:r>
              <a:rPr dirty="0" sz="1100" spc="-5">
                <a:latin typeface="Arial"/>
                <a:cs typeface="Arial"/>
              </a:rPr>
              <a:t>for prices of primary goods is downward, as well as very volatile (as  we examine later in this</a:t>
            </a:r>
            <a:r>
              <a:rPr dirty="0" sz="1100" spc="15">
                <a:latin typeface="Arial"/>
                <a:cs typeface="Arial"/>
              </a:rPr>
              <a:t> </a:t>
            </a:r>
            <a:r>
              <a:rPr dirty="0" sz="1100" spc="-5">
                <a:latin typeface="Arial"/>
                <a:cs typeface="Arial"/>
              </a:rPr>
              <a:t>section).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231</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7942580"/>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Some African countries, including Mali, Niger, Burkina Faso, and Burundi, continue to receive  8% or less of their merchandise export earnings from manufactures (none of them received  more than 3% of their export earnings from fossil fuels in 2005). Nigeria received 98% of its  export earnings from fossil fuels in 2005. Indeed, some developing countries continue to receive  at least two-fifths of their export earnings from one or two agricultural or non fuel mineral  products. And as noted by </a:t>
            </a:r>
            <a:r>
              <a:rPr dirty="0" sz="1100">
                <a:latin typeface="Arial"/>
                <a:cs typeface="Arial"/>
              </a:rPr>
              <a:t>David </a:t>
            </a:r>
            <a:r>
              <a:rPr dirty="0" sz="1100" spc="-5">
                <a:latin typeface="Arial"/>
                <a:cs typeface="Arial"/>
              </a:rPr>
              <a:t>Harvey and his coauthors, “For 40 countries, the production of  three or fewer commodities explains all export earnings.” And UNCTAD reported in 2006 that  “out of 141 developing countries, 95 are more </a:t>
            </a:r>
            <a:r>
              <a:rPr dirty="0" sz="1100">
                <a:latin typeface="Arial"/>
                <a:cs typeface="Arial"/>
              </a:rPr>
              <a:t>than </a:t>
            </a:r>
            <a:r>
              <a:rPr dirty="0" sz="1100" spc="-5">
                <a:latin typeface="Arial"/>
                <a:cs typeface="Arial"/>
              </a:rPr>
              <a:t>50% dependent on commodity exports . . . In  most sub- Saharan African countries, the figure is</a:t>
            </a:r>
            <a:r>
              <a:rPr dirty="0" sz="1100" spc="45">
                <a:latin typeface="Arial"/>
                <a:cs typeface="Arial"/>
              </a:rPr>
              <a:t> </a:t>
            </a:r>
            <a:r>
              <a:rPr dirty="0" sz="1100" spc="-5">
                <a:latin typeface="Arial"/>
                <a:cs typeface="Arial"/>
              </a:rPr>
              <a:t>80%.”</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In addition to their export dependence, many developing countries rely, generally to an even  greater extent, on the importation of raw materials, machinery, capital goods, intermediate  producer goods, and consumer products to fuel their industrial expansion and satisfy the rising  consumption aspirations of their people. For a majority of developing nations, import demands  exceeded their capacity to generate sufficient revenues from the sale of exports for much of the  post–World War II period. This led to chronic deficits on their balance of payments position vis-  à-vis the </a:t>
            </a:r>
            <a:r>
              <a:rPr dirty="0" sz="1100">
                <a:latin typeface="Arial"/>
                <a:cs typeface="Arial"/>
              </a:rPr>
              <a:t>rest </a:t>
            </a:r>
            <a:r>
              <a:rPr dirty="0" sz="1100" spc="-5">
                <a:latin typeface="Arial"/>
                <a:cs typeface="Arial"/>
              </a:rPr>
              <a:t>of the world. Whereas such deficits on the current account (an excess of import  payments over export receipts for goods and services) were compensated for on their balance  of payments table by a surplus on the capital account (a receipt of foreign private and public  lending and investment in excess of repayment of principal and interest on former loans and  investments), the debt burden of repaying earlier international loans and investments often  becomes acute. In a number of developing countries, severe deficits on current and capital  accounts have led to a depletion of international monetary reserves, currency instability, and a  slowdown in economic</a:t>
            </a:r>
            <a:r>
              <a:rPr dirty="0" sz="1100" spc="5">
                <a:latin typeface="Arial"/>
                <a:cs typeface="Arial"/>
              </a:rPr>
              <a:t> </a:t>
            </a:r>
            <a:r>
              <a:rPr dirty="0" sz="1100" spc="-5">
                <a:latin typeface="Arial"/>
                <a:cs typeface="Arial"/>
              </a:rPr>
              <a:t>growth.</a:t>
            </a:r>
            <a:endParaRPr sz="1100">
              <a:latin typeface="Arial"/>
              <a:cs typeface="Arial"/>
            </a:endParaRPr>
          </a:p>
          <a:p>
            <a:pPr>
              <a:lnSpc>
                <a:spcPct val="100000"/>
              </a:lnSpc>
              <a:spcBef>
                <a:spcPts val="50"/>
              </a:spcBef>
            </a:pPr>
            <a:endParaRPr sz="1050">
              <a:latin typeface="Arial"/>
              <a:cs typeface="Arial"/>
            </a:endParaRPr>
          </a:p>
          <a:p>
            <a:pPr algn="just" marL="12700" marR="6350">
              <a:lnSpc>
                <a:spcPct val="95900"/>
              </a:lnSpc>
            </a:pPr>
            <a:r>
              <a:rPr dirty="0" sz="1100" spc="-5">
                <a:latin typeface="Arial"/>
                <a:cs typeface="Arial"/>
              </a:rPr>
              <a:t>In the 1980s and 1990s, this combination of rising trade deficits, growing foreign debts,  accelerated capital flight, and diminished international reserves led to the widespread adoption  of fiscal and monetary austerity measures, especially in Africa and Latin America (often with the  involvement of the International Monetary Fund), which may have further exacerbated the  slowdown in economic growth and </a:t>
            </a:r>
            <a:r>
              <a:rPr dirty="0" sz="1100">
                <a:latin typeface="Arial"/>
                <a:cs typeface="Arial"/>
              </a:rPr>
              <a:t>the </a:t>
            </a:r>
            <a:r>
              <a:rPr dirty="0" sz="1100" spc="-5">
                <a:latin typeface="Arial"/>
                <a:cs typeface="Arial"/>
              </a:rPr>
              <a:t>worsening of poverty and unemployment in much of the  developing world. These various concepts of international economics will be explained in more  detail later in this chapter and in the next. Here the point is merely </a:t>
            </a:r>
            <a:r>
              <a:rPr dirty="0" sz="1100">
                <a:latin typeface="Arial"/>
                <a:cs typeface="Arial"/>
              </a:rPr>
              <a:t>that </a:t>
            </a:r>
            <a:r>
              <a:rPr dirty="0" sz="1100" spc="-5">
                <a:latin typeface="Arial"/>
                <a:cs typeface="Arial"/>
              </a:rPr>
              <a:t>a chronic excess </a:t>
            </a:r>
            <a:r>
              <a:rPr dirty="0" sz="1100">
                <a:latin typeface="Arial"/>
                <a:cs typeface="Arial"/>
              </a:rPr>
              <a:t>of  </a:t>
            </a:r>
            <a:r>
              <a:rPr dirty="0" sz="1100" spc="-5">
                <a:latin typeface="Arial"/>
                <a:cs typeface="Arial"/>
              </a:rPr>
              <a:t>foreign expenditures over receipts (which may have nothing to do with a developing country’s  inability to handle its financial affairs but rather </a:t>
            </a:r>
            <a:r>
              <a:rPr dirty="0" sz="1100">
                <a:latin typeface="Arial"/>
                <a:cs typeface="Arial"/>
              </a:rPr>
              <a:t>may </a:t>
            </a:r>
            <a:r>
              <a:rPr dirty="0" sz="1100" spc="-5">
                <a:latin typeface="Arial"/>
                <a:cs typeface="Arial"/>
              </a:rPr>
              <a:t>be related to its vulnerability to global  economic disturbances) can significantly retard development efforts. It can also greatly limit a  poor nation’s ability to determine and pursue its most desirable economic</a:t>
            </a:r>
            <a:r>
              <a:rPr dirty="0" sz="1100" spc="110">
                <a:latin typeface="Arial"/>
                <a:cs typeface="Arial"/>
              </a:rPr>
              <a:t> </a:t>
            </a:r>
            <a:r>
              <a:rPr dirty="0" sz="1100" spc="-5">
                <a:latin typeface="Arial"/>
                <a:cs typeface="Arial"/>
              </a:rPr>
              <a:t>strategies.</a:t>
            </a:r>
            <a:endParaRPr sz="1100">
              <a:latin typeface="Arial"/>
              <a:cs typeface="Arial"/>
            </a:endParaRPr>
          </a:p>
          <a:p>
            <a:pPr>
              <a:lnSpc>
                <a:spcPct val="100000"/>
              </a:lnSpc>
              <a:spcBef>
                <a:spcPts val="55"/>
              </a:spcBef>
            </a:pPr>
            <a:endParaRPr sz="1150">
              <a:latin typeface="Arial"/>
              <a:cs typeface="Arial"/>
            </a:endParaRPr>
          </a:p>
          <a:p>
            <a:pPr algn="just" marL="469900" marR="6350" indent="-228600">
              <a:lnSpc>
                <a:spcPts val="1260"/>
              </a:lnSpc>
              <a:buFont typeface="Symbol"/>
              <a:buChar char=""/>
              <a:tabLst>
                <a:tab pos="469900" algn="l"/>
              </a:tabLst>
            </a:pPr>
            <a:r>
              <a:rPr dirty="0" sz="1100" spc="-5" b="1">
                <a:latin typeface="Arial"/>
                <a:cs typeface="Arial"/>
              </a:rPr>
              <a:t>Primary products</a:t>
            </a:r>
            <a:r>
              <a:rPr dirty="0" sz="1100" spc="-5">
                <a:latin typeface="Arial"/>
                <a:cs typeface="Arial"/>
              </a:rPr>
              <a:t>: Products derived from all extractive occupations— farming,  lumbering, fishing, mining, and quarrying, foodstuffs, and raw</a:t>
            </a:r>
            <a:r>
              <a:rPr dirty="0" sz="1100" spc="65">
                <a:latin typeface="Arial"/>
                <a:cs typeface="Arial"/>
              </a:rPr>
              <a:t> </a:t>
            </a:r>
            <a:r>
              <a:rPr dirty="0" sz="1100" spc="-5">
                <a:latin typeface="Arial"/>
                <a:cs typeface="Arial"/>
              </a:rPr>
              <a:t>materials.</a:t>
            </a:r>
            <a:endParaRPr sz="1100">
              <a:latin typeface="Arial"/>
              <a:cs typeface="Arial"/>
            </a:endParaRPr>
          </a:p>
          <a:p>
            <a:pPr algn="just" marL="469900" marR="6985" indent="-228600">
              <a:lnSpc>
                <a:spcPts val="1260"/>
              </a:lnSpc>
              <a:spcBef>
                <a:spcPts val="85"/>
              </a:spcBef>
              <a:buFont typeface="Symbol"/>
              <a:buChar char=""/>
              <a:tabLst>
                <a:tab pos="469900" algn="l"/>
              </a:tabLst>
            </a:pPr>
            <a:r>
              <a:rPr dirty="0" sz="1100" spc="-5" b="1">
                <a:latin typeface="Arial"/>
                <a:cs typeface="Arial"/>
              </a:rPr>
              <a:t>Export dependence: </a:t>
            </a:r>
            <a:r>
              <a:rPr dirty="0" sz="1100" spc="-5">
                <a:latin typeface="Arial"/>
                <a:cs typeface="Arial"/>
              </a:rPr>
              <a:t>A country’s reliance on exports as the major source of financing  for development</a:t>
            </a:r>
            <a:r>
              <a:rPr dirty="0" sz="1100" spc="5">
                <a:latin typeface="Arial"/>
                <a:cs typeface="Arial"/>
              </a:rPr>
              <a:t> </a:t>
            </a:r>
            <a:r>
              <a:rPr dirty="0" sz="1100" spc="-5">
                <a:latin typeface="Arial"/>
                <a:cs typeface="Arial"/>
              </a:rPr>
              <a:t>activities.</a:t>
            </a:r>
            <a:endParaRPr sz="1100">
              <a:latin typeface="Arial"/>
              <a:cs typeface="Arial"/>
            </a:endParaRPr>
          </a:p>
          <a:p>
            <a:pPr algn="just" marL="469900" marR="5715" indent="-228600">
              <a:lnSpc>
                <a:spcPct val="95700"/>
              </a:lnSpc>
              <a:spcBef>
                <a:spcPts val="50"/>
              </a:spcBef>
              <a:buFont typeface="Symbol"/>
              <a:buChar char=""/>
              <a:tabLst>
                <a:tab pos="469900" algn="l"/>
              </a:tabLst>
            </a:pPr>
            <a:r>
              <a:rPr dirty="0" sz="1100" spc="-5" b="1">
                <a:latin typeface="Arial"/>
                <a:cs typeface="Arial"/>
              </a:rPr>
              <a:t>Current account: </a:t>
            </a:r>
            <a:r>
              <a:rPr dirty="0" sz="1100" spc="-5">
                <a:latin typeface="Arial"/>
                <a:cs typeface="Arial"/>
              </a:rPr>
              <a:t>The portion of a country’s balance of payments that reflects the  market </a:t>
            </a:r>
            <a:r>
              <a:rPr dirty="0" sz="1100">
                <a:latin typeface="Arial"/>
                <a:cs typeface="Arial"/>
              </a:rPr>
              <a:t>value </a:t>
            </a:r>
            <a:r>
              <a:rPr dirty="0" sz="1100" spc="-5">
                <a:latin typeface="Arial"/>
                <a:cs typeface="Arial"/>
              </a:rPr>
              <a:t>of the country’s “visible” (e.g., commodity trade) and “invisible” (e.g.,  shipping services) exports and</a:t>
            </a:r>
            <a:r>
              <a:rPr dirty="0" sz="1100" spc="15">
                <a:latin typeface="Arial"/>
                <a:cs typeface="Arial"/>
              </a:rPr>
              <a:t> </a:t>
            </a:r>
            <a:r>
              <a:rPr dirty="0" sz="1100" spc="-5">
                <a:latin typeface="Arial"/>
                <a:cs typeface="Arial"/>
              </a:rPr>
              <a:t>imports.</a:t>
            </a:r>
            <a:endParaRPr sz="1100">
              <a:latin typeface="Arial"/>
              <a:cs typeface="Arial"/>
            </a:endParaRPr>
          </a:p>
          <a:p>
            <a:pPr algn="just" marL="469900" marR="5715" indent="-228600">
              <a:lnSpc>
                <a:spcPct val="95700"/>
              </a:lnSpc>
              <a:spcBef>
                <a:spcPts val="80"/>
              </a:spcBef>
              <a:buFont typeface="Symbol"/>
              <a:buChar char=""/>
              <a:tabLst>
                <a:tab pos="469900" algn="l"/>
              </a:tabLst>
            </a:pPr>
            <a:r>
              <a:rPr dirty="0" sz="1100" spc="-5" b="1">
                <a:latin typeface="Arial"/>
                <a:cs typeface="Arial"/>
              </a:rPr>
              <a:t>Capital account: </a:t>
            </a:r>
            <a:r>
              <a:rPr dirty="0" sz="1100" spc="-5">
                <a:latin typeface="Arial"/>
                <a:cs typeface="Arial"/>
              </a:rPr>
              <a:t>The portion of a country’s balance of payments that shows the volume  of private foreign investment and </a:t>
            </a:r>
            <a:r>
              <a:rPr dirty="0" sz="1100">
                <a:latin typeface="Arial"/>
                <a:cs typeface="Arial"/>
              </a:rPr>
              <a:t>public </a:t>
            </a:r>
            <a:r>
              <a:rPr dirty="0" sz="1100" spc="-5">
                <a:latin typeface="Arial"/>
                <a:cs typeface="Arial"/>
              </a:rPr>
              <a:t>grants and loans that flow into and out </a:t>
            </a:r>
            <a:r>
              <a:rPr dirty="0" sz="1100">
                <a:latin typeface="Arial"/>
                <a:cs typeface="Arial"/>
              </a:rPr>
              <a:t>of </a:t>
            </a:r>
            <a:r>
              <a:rPr dirty="0" sz="1100" spc="-5">
                <a:latin typeface="Arial"/>
                <a:cs typeface="Arial"/>
              </a:rPr>
              <a:t>the  country.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FIVE BASIC QUESTIONS ABOUT </a:t>
            </a:r>
            <a:r>
              <a:rPr dirty="0" sz="1100" spc="-10" b="1">
                <a:latin typeface="Arial"/>
                <a:cs typeface="Arial"/>
              </a:rPr>
              <a:t>TRADE </a:t>
            </a:r>
            <a:r>
              <a:rPr dirty="0" sz="1100" spc="-5" b="1">
                <a:latin typeface="Arial"/>
                <a:cs typeface="Arial"/>
              </a:rPr>
              <a:t>AND</a:t>
            </a:r>
            <a:r>
              <a:rPr dirty="0" sz="1100" spc="30" b="1">
                <a:latin typeface="Arial"/>
                <a:cs typeface="Arial"/>
              </a:rPr>
              <a:t> </a:t>
            </a:r>
            <a:r>
              <a:rPr dirty="0" sz="1100" spc="-5" b="1">
                <a:latin typeface="Arial"/>
                <a:cs typeface="Arial"/>
              </a:rPr>
              <a:t>DEVELOPMENT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232</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6501130"/>
          </a:xfrm>
          <a:prstGeom prst="rect">
            <a:avLst/>
          </a:prstGeom>
        </p:spPr>
        <p:txBody>
          <a:bodyPr wrap="square" lIns="0" tIns="22860" rIns="0" bIns="0" rtlCol="0" vert="horz">
            <a:spAutoFit/>
          </a:bodyPr>
          <a:lstStyle/>
          <a:p>
            <a:pPr algn="just" marL="469900" marR="5715" indent="-228600">
              <a:lnSpc>
                <a:spcPts val="1270"/>
              </a:lnSpc>
              <a:spcBef>
                <a:spcPts val="180"/>
              </a:spcBef>
              <a:buFont typeface="Arial"/>
              <a:buAutoNum type="arabicPeriod"/>
              <a:tabLst>
                <a:tab pos="469900" algn="l"/>
              </a:tabLst>
            </a:pPr>
            <a:r>
              <a:rPr dirty="0" sz="1100" spc="-5">
                <a:latin typeface="Arial"/>
                <a:cs typeface="Arial"/>
              </a:rPr>
              <a:t>How does international trade affect the rate, structure, and character of economic  growth? This is the traditional “trade as an engine of growth” controversy, set in terms of  contemporary development</a:t>
            </a:r>
            <a:r>
              <a:rPr dirty="0" sz="1100" spc="5">
                <a:latin typeface="Arial"/>
                <a:cs typeface="Arial"/>
              </a:rPr>
              <a:t> </a:t>
            </a:r>
            <a:r>
              <a:rPr dirty="0" sz="1100" spc="-5">
                <a:latin typeface="Arial"/>
                <a:cs typeface="Arial"/>
              </a:rPr>
              <a:t>aspirations.</a:t>
            </a:r>
            <a:endParaRPr sz="1100">
              <a:latin typeface="Arial"/>
              <a:cs typeface="Arial"/>
            </a:endParaRPr>
          </a:p>
          <a:p>
            <a:pPr algn="just" marL="469900" indent="-228600">
              <a:lnSpc>
                <a:spcPts val="1190"/>
              </a:lnSpc>
              <a:buFont typeface="Arial"/>
              <a:buAutoNum type="arabicPeriod"/>
              <a:tabLst>
                <a:tab pos="469900" algn="l"/>
              </a:tabLst>
            </a:pPr>
            <a:r>
              <a:rPr dirty="0" sz="1100" spc="-5">
                <a:latin typeface="Arial"/>
                <a:cs typeface="Arial"/>
              </a:rPr>
              <a:t>How</a:t>
            </a:r>
            <a:r>
              <a:rPr dirty="0" sz="1100" spc="85">
                <a:latin typeface="Arial"/>
                <a:cs typeface="Arial"/>
              </a:rPr>
              <a:t> </a:t>
            </a:r>
            <a:r>
              <a:rPr dirty="0" sz="1100" spc="-5">
                <a:latin typeface="Arial"/>
                <a:cs typeface="Arial"/>
              </a:rPr>
              <a:t>does</a:t>
            </a:r>
            <a:r>
              <a:rPr dirty="0" sz="1100" spc="85">
                <a:latin typeface="Arial"/>
                <a:cs typeface="Arial"/>
              </a:rPr>
              <a:t> </a:t>
            </a:r>
            <a:r>
              <a:rPr dirty="0" sz="1100" spc="-5">
                <a:latin typeface="Arial"/>
                <a:cs typeface="Arial"/>
              </a:rPr>
              <a:t>trade</a:t>
            </a:r>
            <a:r>
              <a:rPr dirty="0" sz="1100" spc="95">
                <a:latin typeface="Arial"/>
                <a:cs typeface="Arial"/>
              </a:rPr>
              <a:t> </a:t>
            </a:r>
            <a:r>
              <a:rPr dirty="0" sz="1100" spc="-5">
                <a:latin typeface="Arial"/>
                <a:cs typeface="Arial"/>
              </a:rPr>
              <a:t>alter</a:t>
            </a:r>
            <a:r>
              <a:rPr dirty="0" sz="1100" spc="85">
                <a:latin typeface="Arial"/>
                <a:cs typeface="Arial"/>
              </a:rPr>
              <a:t> </a:t>
            </a:r>
            <a:r>
              <a:rPr dirty="0" sz="1100" spc="-5">
                <a:latin typeface="Arial"/>
                <a:cs typeface="Arial"/>
              </a:rPr>
              <a:t>the</a:t>
            </a:r>
            <a:r>
              <a:rPr dirty="0" sz="1100" spc="95">
                <a:latin typeface="Arial"/>
                <a:cs typeface="Arial"/>
              </a:rPr>
              <a:t> </a:t>
            </a:r>
            <a:r>
              <a:rPr dirty="0" sz="1100" spc="-5">
                <a:latin typeface="Arial"/>
                <a:cs typeface="Arial"/>
              </a:rPr>
              <a:t>distribution</a:t>
            </a:r>
            <a:r>
              <a:rPr dirty="0" sz="1100" spc="85">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income</a:t>
            </a:r>
            <a:r>
              <a:rPr dirty="0" sz="1100" spc="95">
                <a:latin typeface="Arial"/>
                <a:cs typeface="Arial"/>
              </a:rPr>
              <a:t> </a:t>
            </a:r>
            <a:r>
              <a:rPr dirty="0" sz="1100" spc="-5">
                <a:latin typeface="Arial"/>
                <a:cs typeface="Arial"/>
              </a:rPr>
              <a:t>and</a:t>
            </a:r>
            <a:r>
              <a:rPr dirty="0" sz="1100" spc="90">
                <a:latin typeface="Arial"/>
                <a:cs typeface="Arial"/>
              </a:rPr>
              <a:t> </a:t>
            </a:r>
            <a:r>
              <a:rPr dirty="0" sz="1100" spc="-5">
                <a:latin typeface="Arial"/>
                <a:cs typeface="Arial"/>
              </a:rPr>
              <a:t>wealth</a:t>
            </a:r>
            <a:r>
              <a:rPr dirty="0" sz="1100" spc="95">
                <a:latin typeface="Arial"/>
                <a:cs typeface="Arial"/>
              </a:rPr>
              <a:t> </a:t>
            </a:r>
            <a:r>
              <a:rPr dirty="0" sz="1100" spc="-5">
                <a:latin typeface="Arial"/>
                <a:cs typeface="Arial"/>
              </a:rPr>
              <a:t>within</a:t>
            </a:r>
            <a:r>
              <a:rPr dirty="0" sz="1100" spc="90">
                <a:latin typeface="Arial"/>
                <a:cs typeface="Arial"/>
              </a:rPr>
              <a:t> </a:t>
            </a:r>
            <a:r>
              <a:rPr dirty="0" sz="1100" spc="-5">
                <a:latin typeface="Arial"/>
                <a:cs typeface="Arial"/>
              </a:rPr>
              <a:t>a</a:t>
            </a:r>
            <a:r>
              <a:rPr dirty="0" sz="1100" spc="85">
                <a:latin typeface="Arial"/>
                <a:cs typeface="Arial"/>
              </a:rPr>
              <a:t> </a:t>
            </a:r>
            <a:r>
              <a:rPr dirty="0" sz="1100" spc="-5">
                <a:latin typeface="Arial"/>
                <a:cs typeface="Arial"/>
              </a:rPr>
              <a:t>country</a:t>
            </a:r>
            <a:r>
              <a:rPr dirty="0" sz="1100" spc="90">
                <a:latin typeface="Arial"/>
                <a:cs typeface="Arial"/>
              </a:rPr>
              <a:t> </a:t>
            </a:r>
            <a:r>
              <a:rPr dirty="0" sz="1100" spc="-5">
                <a:latin typeface="Arial"/>
                <a:cs typeface="Arial"/>
              </a:rPr>
              <a:t>and</a:t>
            </a:r>
            <a:r>
              <a:rPr dirty="0" sz="1100" spc="85">
                <a:latin typeface="Arial"/>
                <a:cs typeface="Arial"/>
              </a:rPr>
              <a:t> </a:t>
            </a:r>
            <a:r>
              <a:rPr dirty="0" sz="1100" spc="-5">
                <a:latin typeface="Arial"/>
                <a:cs typeface="Arial"/>
              </a:rPr>
              <a:t>among</a:t>
            </a:r>
            <a:endParaRPr sz="1100">
              <a:latin typeface="Arial"/>
              <a:cs typeface="Arial"/>
            </a:endParaRPr>
          </a:p>
          <a:p>
            <a:pPr algn="just" marL="469900" marR="7620">
              <a:lnSpc>
                <a:spcPts val="1270"/>
              </a:lnSpc>
              <a:spcBef>
                <a:spcPts val="55"/>
              </a:spcBef>
            </a:pPr>
            <a:r>
              <a:rPr dirty="0" sz="1100" spc="-5">
                <a:latin typeface="Arial"/>
                <a:cs typeface="Arial"/>
              </a:rPr>
              <a:t>different countries? Is trade a force for international and domestic equality or inequality?  In other words, how are the gains and losses distributed, and who</a:t>
            </a:r>
            <a:r>
              <a:rPr dirty="0" sz="1100" spc="100">
                <a:latin typeface="Arial"/>
                <a:cs typeface="Arial"/>
              </a:rPr>
              <a:t> </a:t>
            </a:r>
            <a:r>
              <a:rPr dirty="0" sz="1100" spc="-5">
                <a:latin typeface="Arial"/>
                <a:cs typeface="Arial"/>
              </a:rPr>
              <a:t>benefits?</a:t>
            </a:r>
            <a:endParaRPr sz="1100">
              <a:latin typeface="Arial"/>
              <a:cs typeface="Arial"/>
            </a:endParaRPr>
          </a:p>
          <a:p>
            <a:pPr marL="469900" indent="-228600">
              <a:lnSpc>
                <a:spcPts val="1200"/>
              </a:lnSpc>
              <a:buFont typeface="Arial"/>
              <a:buAutoNum type="arabicPeriod" startAt="3"/>
              <a:tabLst>
                <a:tab pos="469900" algn="l"/>
              </a:tabLst>
            </a:pPr>
            <a:r>
              <a:rPr dirty="0" sz="1100" spc="-5">
                <a:latin typeface="Arial"/>
                <a:cs typeface="Arial"/>
              </a:rPr>
              <a:t>Under what conditions can trade help a nation to achieve its development</a:t>
            </a:r>
            <a:r>
              <a:rPr dirty="0" sz="1100" spc="170">
                <a:latin typeface="Arial"/>
                <a:cs typeface="Arial"/>
              </a:rPr>
              <a:t> </a:t>
            </a:r>
            <a:r>
              <a:rPr dirty="0" sz="1100" spc="-5">
                <a:latin typeface="Arial"/>
                <a:cs typeface="Arial"/>
              </a:rPr>
              <a:t>objectives?</a:t>
            </a:r>
            <a:endParaRPr sz="1100">
              <a:latin typeface="Arial"/>
              <a:cs typeface="Arial"/>
            </a:endParaRPr>
          </a:p>
          <a:p>
            <a:pPr marL="469900" marR="5080" indent="-228600">
              <a:lnSpc>
                <a:spcPts val="1270"/>
              </a:lnSpc>
              <a:spcBef>
                <a:spcPts val="60"/>
              </a:spcBef>
              <a:buFont typeface="Arial"/>
              <a:buAutoNum type="arabicPeriod" startAt="3"/>
              <a:tabLst>
                <a:tab pos="469900" algn="l"/>
              </a:tabLst>
            </a:pPr>
            <a:r>
              <a:rPr dirty="0" sz="1100" spc="-5">
                <a:latin typeface="Arial"/>
                <a:cs typeface="Arial"/>
              </a:rPr>
              <a:t>Can a developing country by its own actions determine how much it trades or which  products and services it</a:t>
            </a:r>
            <a:r>
              <a:rPr dirty="0" sz="1100" spc="10">
                <a:latin typeface="Arial"/>
                <a:cs typeface="Arial"/>
              </a:rPr>
              <a:t> </a:t>
            </a:r>
            <a:r>
              <a:rPr dirty="0" sz="1100" spc="-5">
                <a:latin typeface="Arial"/>
                <a:cs typeface="Arial"/>
              </a:rPr>
              <a:t>sells?</a:t>
            </a:r>
            <a:endParaRPr sz="1100">
              <a:latin typeface="Arial"/>
              <a:cs typeface="Arial"/>
            </a:endParaRPr>
          </a:p>
          <a:p>
            <a:pPr marL="469900" indent="-228600">
              <a:lnSpc>
                <a:spcPts val="1195"/>
              </a:lnSpc>
              <a:buFont typeface="Arial"/>
              <a:buAutoNum type="arabicPeriod" startAt="3"/>
              <a:tabLst>
                <a:tab pos="469900" algn="l"/>
              </a:tabLst>
            </a:pPr>
            <a:r>
              <a:rPr dirty="0" sz="1100" spc="-5">
                <a:latin typeface="Arial"/>
                <a:cs typeface="Arial"/>
              </a:rPr>
              <a:t>In</a:t>
            </a:r>
            <a:r>
              <a:rPr dirty="0" sz="1100" spc="145">
                <a:latin typeface="Arial"/>
                <a:cs typeface="Arial"/>
              </a:rPr>
              <a:t> </a:t>
            </a:r>
            <a:r>
              <a:rPr dirty="0" sz="1100" spc="-5">
                <a:latin typeface="Arial"/>
                <a:cs typeface="Arial"/>
              </a:rPr>
              <a:t>the</a:t>
            </a:r>
            <a:r>
              <a:rPr dirty="0" sz="1100" spc="145">
                <a:latin typeface="Arial"/>
                <a:cs typeface="Arial"/>
              </a:rPr>
              <a:t> </a:t>
            </a:r>
            <a:r>
              <a:rPr dirty="0" sz="1100" spc="-5">
                <a:latin typeface="Arial"/>
                <a:cs typeface="Arial"/>
              </a:rPr>
              <a:t>light</a:t>
            </a:r>
            <a:r>
              <a:rPr dirty="0" sz="1100" spc="145">
                <a:latin typeface="Arial"/>
                <a:cs typeface="Arial"/>
              </a:rPr>
              <a:t> </a:t>
            </a:r>
            <a:r>
              <a:rPr dirty="0" sz="1100" spc="-5">
                <a:latin typeface="Arial"/>
                <a:cs typeface="Arial"/>
              </a:rPr>
              <a:t>of</a:t>
            </a:r>
            <a:r>
              <a:rPr dirty="0" sz="1100" spc="145">
                <a:latin typeface="Arial"/>
                <a:cs typeface="Arial"/>
              </a:rPr>
              <a:t> </a:t>
            </a:r>
            <a:r>
              <a:rPr dirty="0" sz="1100" spc="-5">
                <a:latin typeface="Arial"/>
                <a:cs typeface="Arial"/>
              </a:rPr>
              <a:t>past</a:t>
            </a:r>
            <a:r>
              <a:rPr dirty="0" sz="1100" spc="150">
                <a:latin typeface="Arial"/>
                <a:cs typeface="Arial"/>
              </a:rPr>
              <a:t> </a:t>
            </a:r>
            <a:r>
              <a:rPr dirty="0" sz="1100" spc="-5">
                <a:latin typeface="Arial"/>
                <a:cs typeface="Arial"/>
              </a:rPr>
              <a:t>experience</a:t>
            </a:r>
            <a:r>
              <a:rPr dirty="0" sz="1100" spc="145">
                <a:latin typeface="Arial"/>
                <a:cs typeface="Arial"/>
              </a:rPr>
              <a:t> </a:t>
            </a:r>
            <a:r>
              <a:rPr dirty="0" sz="1100" spc="-5">
                <a:latin typeface="Arial"/>
                <a:cs typeface="Arial"/>
              </a:rPr>
              <a:t>and</a:t>
            </a:r>
            <a:r>
              <a:rPr dirty="0" sz="1100" spc="145">
                <a:latin typeface="Arial"/>
                <a:cs typeface="Arial"/>
              </a:rPr>
              <a:t> </a:t>
            </a:r>
            <a:r>
              <a:rPr dirty="0" sz="1100" spc="-5">
                <a:latin typeface="Arial"/>
                <a:cs typeface="Arial"/>
              </a:rPr>
              <a:t>prospective</a:t>
            </a:r>
            <a:r>
              <a:rPr dirty="0" sz="1100" spc="145">
                <a:latin typeface="Arial"/>
                <a:cs typeface="Arial"/>
              </a:rPr>
              <a:t> </a:t>
            </a:r>
            <a:r>
              <a:rPr dirty="0" sz="1100" spc="-5">
                <a:latin typeface="Arial"/>
                <a:cs typeface="Arial"/>
              </a:rPr>
              <a:t>judgment,</a:t>
            </a:r>
            <a:r>
              <a:rPr dirty="0" sz="1100" spc="150">
                <a:latin typeface="Arial"/>
                <a:cs typeface="Arial"/>
              </a:rPr>
              <a:t> </a:t>
            </a:r>
            <a:r>
              <a:rPr dirty="0" sz="1100" spc="-5">
                <a:latin typeface="Arial"/>
                <a:cs typeface="Arial"/>
              </a:rPr>
              <a:t>should</a:t>
            </a:r>
            <a:r>
              <a:rPr dirty="0" sz="1100" spc="150">
                <a:latin typeface="Arial"/>
                <a:cs typeface="Arial"/>
              </a:rPr>
              <a:t> </a:t>
            </a:r>
            <a:r>
              <a:rPr dirty="0" sz="1100" spc="-5">
                <a:latin typeface="Arial"/>
                <a:cs typeface="Arial"/>
              </a:rPr>
              <a:t>a</a:t>
            </a:r>
            <a:r>
              <a:rPr dirty="0" sz="1100" spc="145">
                <a:latin typeface="Arial"/>
                <a:cs typeface="Arial"/>
              </a:rPr>
              <a:t> </a:t>
            </a:r>
            <a:r>
              <a:rPr dirty="0" sz="1100" spc="-5">
                <a:latin typeface="Arial"/>
                <a:cs typeface="Arial"/>
              </a:rPr>
              <a:t>developing</a:t>
            </a:r>
            <a:r>
              <a:rPr dirty="0" sz="1100" spc="145">
                <a:latin typeface="Arial"/>
                <a:cs typeface="Arial"/>
              </a:rPr>
              <a:t> </a:t>
            </a:r>
            <a:r>
              <a:rPr dirty="0" sz="1100" spc="-5">
                <a:latin typeface="Arial"/>
                <a:cs typeface="Arial"/>
              </a:rPr>
              <a:t>country</a:t>
            </a:r>
            <a:endParaRPr sz="1100">
              <a:latin typeface="Arial"/>
              <a:cs typeface="Arial"/>
            </a:endParaRPr>
          </a:p>
          <a:p>
            <a:pPr algn="just" marL="469900" marR="5715">
              <a:lnSpc>
                <a:spcPct val="95800"/>
              </a:lnSpc>
              <a:spcBef>
                <a:spcPts val="30"/>
              </a:spcBef>
            </a:pPr>
            <a:r>
              <a:rPr dirty="0" sz="1100" spc="-5">
                <a:latin typeface="Arial"/>
                <a:cs typeface="Arial"/>
              </a:rPr>
              <a:t>adopt an outward-looking policy (freer trade, expanded flows of capital and human  resources, etc.) or an inward-looking one (protectionism in the interest of self-reliance),  or some combination of both, for example, in the form of regional economic cooperation  and strategic export policies? What are the arguments for </a:t>
            </a:r>
            <a:r>
              <a:rPr dirty="0" sz="1100">
                <a:latin typeface="Arial"/>
                <a:cs typeface="Arial"/>
              </a:rPr>
              <a:t>and </a:t>
            </a:r>
            <a:r>
              <a:rPr dirty="0" sz="1100" spc="-5">
                <a:latin typeface="Arial"/>
                <a:cs typeface="Arial"/>
              </a:rPr>
              <a:t>against these alternative  trade strategies for</a:t>
            </a:r>
            <a:r>
              <a:rPr dirty="0" sz="1100" spc="10">
                <a:latin typeface="Arial"/>
                <a:cs typeface="Arial"/>
              </a:rPr>
              <a:t> </a:t>
            </a:r>
            <a:r>
              <a:rPr dirty="0" sz="1100" spc="-5">
                <a:latin typeface="Arial"/>
                <a:cs typeface="Arial"/>
              </a:rPr>
              <a:t>development?</a:t>
            </a:r>
            <a:endParaRPr sz="1100">
              <a:latin typeface="Arial"/>
              <a:cs typeface="Arial"/>
            </a:endParaRPr>
          </a:p>
          <a:p>
            <a:pPr>
              <a:lnSpc>
                <a:spcPct val="100000"/>
              </a:lnSpc>
              <a:spcBef>
                <a:spcPts val="35"/>
              </a:spcBef>
            </a:pPr>
            <a:endParaRPr sz="1100">
              <a:latin typeface="Arial"/>
              <a:cs typeface="Arial"/>
            </a:endParaRPr>
          </a:p>
          <a:p>
            <a:pPr algn="just" marL="12700" marR="6350">
              <a:lnSpc>
                <a:spcPts val="1270"/>
              </a:lnSpc>
            </a:pPr>
            <a:r>
              <a:rPr dirty="0" sz="1100" spc="-5" b="1">
                <a:latin typeface="Arial"/>
                <a:cs typeface="Arial"/>
              </a:rPr>
              <a:t>DIFFERENCE BETWEEN INWARD-LOOKING OR AN OUTWARD-LOOKING TRADE  </a:t>
            </a:r>
            <a:r>
              <a:rPr dirty="0" sz="1100" spc="-10" b="1">
                <a:latin typeface="Arial"/>
                <a:cs typeface="Arial"/>
              </a:rPr>
              <a:t>POLICY</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pPr>
            <a:r>
              <a:rPr dirty="0" sz="1100" spc="-5">
                <a:latin typeface="Arial"/>
                <a:cs typeface="Arial"/>
              </a:rPr>
              <a:t>A traditional way to approach the complex issues of appropriate trade policies for development  is to set these specific policies in the context of a broader strategy of looking outward or looking  inward. In the words of Paul Streeten, outward-looking development policies “encourage not  only free trade but also the free movement of capital, workers, enterprises and students, the  multinational enterprise, and an open system of communications.” By contrast, inward-looking  development policies stress the need for nations to evolve </a:t>
            </a:r>
            <a:r>
              <a:rPr dirty="0" sz="1100">
                <a:latin typeface="Arial"/>
                <a:cs typeface="Arial"/>
              </a:rPr>
              <a:t>their </a:t>
            </a:r>
            <a:r>
              <a:rPr dirty="0" sz="1100" spc="-5">
                <a:latin typeface="Arial"/>
                <a:cs typeface="Arial"/>
              </a:rPr>
              <a:t>own styles of development and  to control their own destiny. This means policies to encourage indigenous “learning by doing” in  manufacturing and the development of technologies appropriate to a country’s resource  endowments. According to proponents of inward-looking trade policies, greater self-reliance can  be accomplished, in Streeten’s words, only if “you restrict trade, the movement of people, and  communications and if you keep out the multinational enterprise, with its wrong products and  wrong want-stimulation and hence its wrong</a:t>
            </a:r>
            <a:r>
              <a:rPr dirty="0" sz="1100" spc="25">
                <a:latin typeface="Arial"/>
                <a:cs typeface="Arial"/>
              </a:rPr>
              <a:t> </a:t>
            </a:r>
            <a:r>
              <a:rPr dirty="0" sz="1100" spc="-5">
                <a:latin typeface="Arial"/>
                <a:cs typeface="Arial"/>
              </a:rPr>
              <a:t>technology."</a:t>
            </a:r>
            <a:endParaRPr sz="1100">
              <a:latin typeface="Arial"/>
              <a:cs typeface="Arial"/>
            </a:endParaRPr>
          </a:p>
          <a:p>
            <a:pPr>
              <a:lnSpc>
                <a:spcPct val="100000"/>
              </a:lnSpc>
              <a:spcBef>
                <a:spcPts val="20"/>
              </a:spcBef>
            </a:pPr>
            <a:endParaRPr sz="1150">
              <a:latin typeface="Arial"/>
              <a:cs typeface="Arial"/>
            </a:endParaRPr>
          </a:p>
          <a:p>
            <a:pPr algn="just" marL="469265" marR="6985" indent="-228600">
              <a:lnSpc>
                <a:spcPct val="95700"/>
              </a:lnSpc>
              <a:buFont typeface="Symbol"/>
              <a:buChar char=""/>
              <a:tabLst>
                <a:tab pos="469900" algn="l"/>
              </a:tabLst>
            </a:pPr>
            <a:r>
              <a:rPr dirty="0" sz="1100" spc="-5" b="1">
                <a:latin typeface="Arial"/>
                <a:cs typeface="Arial"/>
              </a:rPr>
              <a:t>Outward-looking development policies: </a:t>
            </a:r>
            <a:r>
              <a:rPr dirty="0" sz="1100" spc="-5">
                <a:latin typeface="Arial"/>
                <a:cs typeface="Arial"/>
              </a:rPr>
              <a:t>Policies that encourage exports, often  through the free movement of capital, workers, enterprises, and students; a welcome </a:t>
            </a:r>
            <a:r>
              <a:rPr dirty="0" sz="1100">
                <a:latin typeface="Arial"/>
                <a:cs typeface="Arial"/>
              </a:rPr>
              <a:t>to  </a:t>
            </a:r>
            <a:r>
              <a:rPr dirty="0" sz="1100" spc="-5">
                <a:latin typeface="Arial"/>
                <a:cs typeface="Arial"/>
              </a:rPr>
              <a:t>multinational corporations; and open</a:t>
            </a:r>
            <a:r>
              <a:rPr dirty="0" sz="1100" spc="15">
                <a:latin typeface="Arial"/>
                <a:cs typeface="Arial"/>
              </a:rPr>
              <a:t> </a:t>
            </a:r>
            <a:r>
              <a:rPr dirty="0" sz="1100" spc="-5">
                <a:latin typeface="Arial"/>
                <a:cs typeface="Arial"/>
              </a:rPr>
              <a:t>communications.</a:t>
            </a:r>
            <a:endParaRPr sz="1100">
              <a:latin typeface="Arial"/>
              <a:cs typeface="Arial"/>
            </a:endParaRPr>
          </a:p>
          <a:p>
            <a:pPr algn="just" marL="469265" marR="5080" indent="-228600">
              <a:lnSpc>
                <a:spcPct val="95700"/>
              </a:lnSpc>
              <a:spcBef>
                <a:spcPts val="80"/>
              </a:spcBef>
              <a:buFont typeface="Symbol"/>
              <a:buChar char=""/>
              <a:tabLst>
                <a:tab pos="469900" algn="l"/>
              </a:tabLst>
            </a:pPr>
            <a:r>
              <a:rPr dirty="0" sz="1100" spc="-5" b="1">
                <a:latin typeface="Arial"/>
                <a:cs typeface="Arial"/>
              </a:rPr>
              <a:t>Inward-looking development policies: </a:t>
            </a:r>
            <a:r>
              <a:rPr dirty="0" sz="1100" spc="-5">
                <a:latin typeface="Arial"/>
                <a:cs typeface="Arial"/>
              </a:rPr>
              <a:t>Policies that stress economic self-reliance on  the part of developing countries including domestic development of technology, the  imposition of barriers to imports, and the discouragement of private foreign</a:t>
            </a:r>
            <a:r>
              <a:rPr dirty="0" sz="1100" spc="200">
                <a:latin typeface="Arial"/>
                <a:cs typeface="Arial"/>
              </a:rPr>
              <a:t> </a:t>
            </a:r>
            <a:r>
              <a:rPr dirty="0" sz="1100" spc="-5">
                <a:latin typeface="Arial"/>
                <a:cs typeface="Arial"/>
              </a:rPr>
              <a:t>investment.</a:t>
            </a:r>
            <a:endParaRPr sz="1100">
              <a:latin typeface="Arial"/>
              <a:cs typeface="Arial"/>
            </a:endParaRPr>
          </a:p>
          <a:p>
            <a:pPr algn="just" marL="469265" marR="7620" indent="-228600">
              <a:lnSpc>
                <a:spcPts val="1260"/>
              </a:lnSpc>
              <a:spcBef>
                <a:spcPts val="114"/>
              </a:spcBef>
              <a:buFont typeface="Symbol"/>
              <a:buChar char=""/>
              <a:tabLst>
                <a:tab pos="469900" algn="l"/>
              </a:tabLst>
            </a:pPr>
            <a:r>
              <a:rPr dirty="0" sz="1100" spc="-5" b="1">
                <a:latin typeface="Arial"/>
                <a:cs typeface="Arial"/>
              </a:rPr>
              <a:t>Import substitution: </a:t>
            </a:r>
            <a:r>
              <a:rPr dirty="0" sz="1100" spc="-5">
                <a:latin typeface="Arial"/>
                <a:cs typeface="Arial"/>
              </a:rPr>
              <a:t>A deliberate effort to replace consumer imports by promoting the  emergence and expansion of domestic</a:t>
            </a:r>
            <a:r>
              <a:rPr dirty="0" sz="1100" spc="25">
                <a:latin typeface="Arial"/>
                <a:cs typeface="Arial"/>
              </a:rPr>
              <a:t> </a:t>
            </a:r>
            <a:r>
              <a:rPr dirty="0" sz="1100" spc="-5">
                <a:latin typeface="Arial"/>
                <a:cs typeface="Arial"/>
              </a:rPr>
              <a:t>industries.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233</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602230"/>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35</a:t>
            </a:r>
            <a:endParaRPr sz="1100">
              <a:latin typeface="Arial"/>
              <a:cs typeface="Arial"/>
            </a:endParaRPr>
          </a:p>
          <a:p>
            <a:pPr marL="12700" marR="195580" indent="189230">
              <a:lnSpc>
                <a:spcPct val="191400"/>
              </a:lnSpc>
              <a:spcBef>
                <a:spcPts val="15"/>
              </a:spcBef>
            </a:pPr>
            <a:r>
              <a:rPr dirty="0" sz="1100" spc="-5" b="1">
                <a:latin typeface="Arial"/>
                <a:cs typeface="Arial"/>
              </a:rPr>
              <a:t>INTERNATIONAL TRADE THEORY AND DEVELOPMENT STRATEGY (CONTINUED1)  INTERNATIONAL TRADE: SOME KEY</a:t>
            </a:r>
            <a:r>
              <a:rPr dirty="0" sz="1100" spc="15" b="1">
                <a:latin typeface="Arial"/>
                <a:cs typeface="Arial"/>
              </a:rPr>
              <a:t> </a:t>
            </a:r>
            <a:r>
              <a:rPr dirty="0" sz="1100" spc="-5" b="1">
                <a:latin typeface="Arial"/>
                <a:cs typeface="Arial"/>
              </a:rPr>
              <a:t>ISSUES</a:t>
            </a:r>
            <a:endParaRPr sz="1100">
              <a:latin typeface="Arial"/>
              <a:cs typeface="Arial"/>
            </a:endParaRPr>
          </a:p>
          <a:p>
            <a:pPr>
              <a:lnSpc>
                <a:spcPct val="100000"/>
              </a:lnSpc>
            </a:pPr>
            <a:endParaRPr sz="1050">
              <a:latin typeface="Arial"/>
              <a:cs typeface="Arial"/>
            </a:endParaRPr>
          </a:p>
          <a:p>
            <a:pPr algn="just" marL="12700">
              <a:lnSpc>
                <a:spcPct val="100000"/>
              </a:lnSpc>
              <a:spcBef>
                <a:spcPts val="5"/>
              </a:spcBef>
            </a:pPr>
            <a:r>
              <a:rPr dirty="0" sz="1100" spc="-5" b="1">
                <a:latin typeface="Arial"/>
                <a:cs typeface="Arial"/>
              </a:rPr>
              <a:t>IMPORTANCE OF EXPORTS </a:t>
            </a:r>
            <a:r>
              <a:rPr dirty="0" sz="1100" b="1">
                <a:latin typeface="Arial"/>
                <a:cs typeface="Arial"/>
              </a:rPr>
              <a:t>TO </a:t>
            </a:r>
            <a:r>
              <a:rPr dirty="0" sz="1100" spc="-5" b="1">
                <a:latin typeface="Arial"/>
                <a:cs typeface="Arial"/>
              </a:rPr>
              <a:t>DIFFERENT DEVELOPING</a:t>
            </a:r>
            <a:r>
              <a:rPr dirty="0" sz="1100" spc="30" b="1">
                <a:latin typeface="Arial"/>
                <a:cs typeface="Arial"/>
              </a:rPr>
              <a:t> </a:t>
            </a:r>
            <a:r>
              <a:rPr dirty="0" sz="1100" spc="-5" b="1">
                <a:latin typeface="Arial"/>
                <a:cs typeface="Arial"/>
              </a:rPr>
              <a:t>NATIONS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Although the overall figures for export volumes and values of developing countries are important  indicators of patterns of trade for the group as a whole, the varying importance of exports to the  economic well-being of individual nations is masked by </a:t>
            </a:r>
            <a:r>
              <a:rPr dirty="0" sz="1100">
                <a:latin typeface="Arial"/>
                <a:cs typeface="Arial"/>
              </a:rPr>
              <a:t>these </a:t>
            </a:r>
            <a:r>
              <a:rPr dirty="0" sz="1100" spc="-5">
                <a:latin typeface="Arial"/>
                <a:cs typeface="Arial"/>
              </a:rPr>
              <a:t>aggregate statistics. Table 12.1  has been compiled to provide a capsule picture of the relative importance of commodity export  earnings to various developing nations of different sizes and in different regions. For purposes  of comparison, three key developed countries are included at the bottom of the</a:t>
            </a:r>
            <a:r>
              <a:rPr dirty="0" sz="1100" spc="135">
                <a:latin typeface="Arial"/>
                <a:cs typeface="Arial"/>
              </a:rPr>
              <a:t> </a:t>
            </a:r>
            <a:r>
              <a:rPr dirty="0" sz="1100" spc="-5">
                <a:latin typeface="Arial"/>
                <a:cs typeface="Arial"/>
              </a:rPr>
              <a:t>table.</a:t>
            </a:r>
            <a:endParaRPr sz="1100">
              <a:latin typeface="Arial"/>
              <a:cs typeface="Arial"/>
            </a:endParaRPr>
          </a:p>
          <a:p>
            <a:pPr>
              <a:lnSpc>
                <a:spcPct val="100000"/>
              </a:lnSpc>
            </a:pPr>
            <a:endParaRPr sz="1050">
              <a:latin typeface="Arial"/>
              <a:cs typeface="Arial"/>
            </a:endParaRPr>
          </a:p>
          <a:p>
            <a:pPr algn="r" marR="6350">
              <a:lnSpc>
                <a:spcPct val="100000"/>
              </a:lnSpc>
            </a:pPr>
            <a:r>
              <a:rPr dirty="0" sz="1100" spc="-5">
                <a:latin typeface="Arial"/>
                <a:cs typeface="Arial"/>
              </a:rPr>
              <a:t>Developing</a:t>
            </a:r>
            <a:r>
              <a:rPr dirty="0" sz="1100" spc="130">
                <a:latin typeface="Arial"/>
                <a:cs typeface="Arial"/>
              </a:rPr>
              <a:t> </a:t>
            </a:r>
            <a:r>
              <a:rPr dirty="0" sz="1100" spc="-5">
                <a:latin typeface="Arial"/>
                <a:cs typeface="Arial"/>
              </a:rPr>
              <a:t>countries</a:t>
            </a:r>
            <a:r>
              <a:rPr dirty="0" sz="1100" spc="130">
                <a:latin typeface="Arial"/>
                <a:cs typeface="Arial"/>
              </a:rPr>
              <a:t> </a:t>
            </a:r>
            <a:r>
              <a:rPr dirty="0" sz="1100" spc="-5">
                <a:latin typeface="Arial"/>
                <a:cs typeface="Arial"/>
              </a:rPr>
              <a:t>are</a:t>
            </a:r>
            <a:r>
              <a:rPr dirty="0" sz="1100" spc="130">
                <a:latin typeface="Arial"/>
                <a:cs typeface="Arial"/>
              </a:rPr>
              <a:t> </a:t>
            </a:r>
            <a:r>
              <a:rPr dirty="0" sz="1100" spc="-5">
                <a:latin typeface="Arial"/>
                <a:cs typeface="Arial"/>
              </a:rPr>
              <a:t>typically</a:t>
            </a:r>
            <a:r>
              <a:rPr dirty="0" sz="1100" spc="130">
                <a:latin typeface="Arial"/>
                <a:cs typeface="Arial"/>
              </a:rPr>
              <a:t> </a:t>
            </a:r>
            <a:r>
              <a:rPr dirty="0" sz="1100" spc="-5">
                <a:latin typeface="Arial"/>
                <a:cs typeface="Arial"/>
              </a:rPr>
              <a:t>more</a:t>
            </a:r>
            <a:r>
              <a:rPr dirty="0" sz="1100" spc="135">
                <a:latin typeface="Arial"/>
                <a:cs typeface="Arial"/>
              </a:rPr>
              <a:t> </a:t>
            </a:r>
            <a:r>
              <a:rPr dirty="0" sz="1100" spc="-5">
                <a:latin typeface="Arial"/>
                <a:cs typeface="Arial"/>
              </a:rPr>
              <a:t>dependent</a:t>
            </a:r>
            <a:r>
              <a:rPr dirty="0" sz="1100" spc="130">
                <a:latin typeface="Arial"/>
                <a:cs typeface="Arial"/>
              </a:rPr>
              <a:t> </a:t>
            </a:r>
            <a:r>
              <a:rPr dirty="0" sz="1100" spc="-5">
                <a:latin typeface="Arial"/>
                <a:cs typeface="Arial"/>
              </a:rPr>
              <a:t>on</a:t>
            </a:r>
            <a:r>
              <a:rPr dirty="0" sz="1100" spc="130">
                <a:latin typeface="Arial"/>
                <a:cs typeface="Arial"/>
              </a:rPr>
              <a:t> </a:t>
            </a:r>
            <a:r>
              <a:rPr dirty="0" sz="1100" spc="-5">
                <a:latin typeface="Arial"/>
                <a:cs typeface="Arial"/>
              </a:rPr>
              <a:t>trade</a:t>
            </a:r>
            <a:r>
              <a:rPr dirty="0" sz="1100" spc="130">
                <a:latin typeface="Arial"/>
                <a:cs typeface="Arial"/>
              </a:rPr>
              <a:t> </a:t>
            </a:r>
            <a:r>
              <a:rPr dirty="0" sz="1100" spc="-5">
                <a:latin typeface="Arial"/>
                <a:cs typeface="Arial"/>
              </a:rPr>
              <a:t>than</a:t>
            </a:r>
            <a:r>
              <a:rPr dirty="0" sz="1100" spc="135">
                <a:latin typeface="Arial"/>
                <a:cs typeface="Arial"/>
              </a:rPr>
              <a:t> </a:t>
            </a:r>
            <a:r>
              <a:rPr dirty="0" sz="1100" spc="-5">
                <a:latin typeface="Arial"/>
                <a:cs typeface="Arial"/>
              </a:rPr>
              <a:t>developed</a:t>
            </a:r>
            <a:r>
              <a:rPr dirty="0" sz="1100" spc="130">
                <a:latin typeface="Arial"/>
                <a:cs typeface="Arial"/>
              </a:rPr>
              <a:t> </a:t>
            </a:r>
            <a:r>
              <a:rPr dirty="0" sz="1100" spc="-5">
                <a:latin typeface="Arial"/>
                <a:cs typeface="Arial"/>
              </a:rPr>
              <a:t>countries</a:t>
            </a:r>
            <a:r>
              <a:rPr dirty="0" sz="1100" spc="130">
                <a:latin typeface="Arial"/>
                <a:cs typeface="Arial"/>
              </a:rPr>
              <a:t> </a:t>
            </a:r>
            <a:r>
              <a:rPr dirty="0" sz="1100" spc="-5">
                <a:latin typeface="Arial"/>
                <a:cs typeface="Arial"/>
              </a:rPr>
              <a:t>are.</a:t>
            </a:r>
            <a:r>
              <a:rPr dirty="0" sz="1100" spc="130">
                <a:latin typeface="Arial"/>
                <a:cs typeface="Arial"/>
              </a:rPr>
              <a:t> </a:t>
            </a:r>
            <a:r>
              <a:rPr dirty="0" sz="1100" spc="-5">
                <a:latin typeface="Arial"/>
                <a:cs typeface="Arial"/>
              </a:rPr>
              <a:t>As</a:t>
            </a:r>
            <a:endParaRPr sz="1100">
              <a:latin typeface="Arial"/>
              <a:cs typeface="Arial"/>
            </a:endParaRPr>
          </a:p>
        </p:txBody>
      </p:sp>
      <p:sp>
        <p:nvSpPr>
          <p:cNvPr id="7" name="object 7"/>
          <p:cNvSpPr txBox="1"/>
          <p:nvPr/>
        </p:nvSpPr>
        <p:spPr>
          <a:xfrm>
            <a:off x="901700" y="6968711"/>
            <a:ext cx="5970270" cy="179958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Table 12.1 indicates, while large countries are understandably less dependent on trade than  small countries, at any given size, developing countries tend to devote a larger share of their  output as merchandise exports than developed countries do. We see that some large countries  like Brazil and India, which have had unusually closed economies, tend to be less dependent on  foreign trade in terms </a:t>
            </a:r>
            <a:r>
              <a:rPr dirty="0" sz="1100">
                <a:latin typeface="Arial"/>
                <a:cs typeface="Arial"/>
              </a:rPr>
              <a:t>of </a:t>
            </a:r>
            <a:r>
              <a:rPr dirty="0" sz="1100" spc="-5">
                <a:latin typeface="Arial"/>
                <a:cs typeface="Arial"/>
              </a:rPr>
              <a:t>national income than most relatively small countries. And some very  low income countries such as Niger remain markedly divorced from the global economy. As a  group, however, less developed nations are more dependent on foreign trade in terms of its  share in national income than the very highly developed countries are. This is reflected in the  case of traditionally export-oriented Japan, whose exports amount </a:t>
            </a:r>
            <a:r>
              <a:rPr dirty="0" sz="1100">
                <a:latin typeface="Arial"/>
                <a:cs typeface="Arial"/>
              </a:rPr>
              <a:t>to </a:t>
            </a:r>
            <a:r>
              <a:rPr dirty="0" sz="1100" spc="-5">
                <a:latin typeface="Arial"/>
                <a:cs typeface="Arial"/>
              </a:rPr>
              <a:t>roughly </a:t>
            </a:r>
            <a:r>
              <a:rPr dirty="0" sz="1100">
                <a:latin typeface="Arial"/>
                <a:cs typeface="Arial"/>
              </a:rPr>
              <a:t>16% </a:t>
            </a:r>
            <a:r>
              <a:rPr dirty="0" sz="1100" spc="-5">
                <a:latin typeface="Arial"/>
                <a:cs typeface="Arial"/>
              </a:rPr>
              <a:t>of GDP,  whereas developing countries with somewhat larger populations, such as Indonesia and  Nigeria, export a higher share of</a:t>
            </a:r>
            <a:r>
              <a:rPr dirty="0" sz="1100" spc="20">
                <a:latin typeface="Arial"/>
                <a:cs typeface="Arial"/>
              </a:rPr>
              <a:t> </a:t>
            </a:r>
            <a:r>
              <a:rPr dirty="0" sz="1100" spc="-5">
                <a:latin typeface="Arial"/>
                <a:cs typeface="Arial"/>
              </a:rPr>
              <a:t>output.</a:t>
            </a:r>
            <a:endParaRPr sz="1100">
              <a:latin typeface="Arial"/>
              <a:cs typeface="Arial"/>
            </a:endParaRPr>
          </a:p>
        </p:txBody>
      </p:sp>
      <p:sp>
        <p:nvSpPr>
          <p:cNvPr id="8" name="object 8"/>
          <p:cNvSpPr/>
          <p:nvPr/>
        </p:nvSpPr>
        <p:spPr>
          <a:xfrm>
            <a:off x="933450" y="3589020"/>
            <a:ext cx="5945124" cy="3402329"/>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234</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37655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greater recorded share of developing-country exports in GDP is probably due in part to the  much higher relative prices of non-traded services in developed than in developing countries.  Nevertheless, the point remains that developing countries are generally more dependent on  trade in international economic relations because most </a:t>
            </a:r>
            <a:r>
              <a:rPr dirty="0" sz="1100">
                <a:latin typeface="Arial"/>
                <a:cs typeface="Arial"/>
              </a:rPr>
              <a:t>trade </a:t>
            </a:r>
            <a:r>
              <a:rPr dirty="0" sz="1100" spc="-5">
                <a:latin typeface="Arial"/>
                <a:cs typeface="Arial"/>
              </a:rPr>
              <a:t>is in merchandise, for which price  disparities are smaller across countries. Moreover, in general, the exports of developing  countries are much less diversified than those of the developed countries. While total exports  and the share of manufactures in merchandise exports have been rising for many developing  countries and major </a:t>
            </a:r>
            <a:r>
              <a:rPr dirty="0" sz="1100">
                <a:latin typeface="Arial"/>
                <a:cs typeface="Arial"/>
              </a:rPr>
              <a:t>new </a:t>
            </a:r>
            <a:r>
              <a:rPr dirty="0" sz="1100" spc="-5">
                <a:latin typeface="Arial"/>
                <a:cs typeface="Arial"/>
              </a:rPr>
              <a:t>exporters </a:t>
            </a:r>
            <a:r>
              <a:rPr dirty="0" sz="1100">
                <a:latin typeface="Arial"/>
                <a:cs typeface="Arial"/>
              </a:rPr>
              <a:t>such </a:t>
            </a:r>
            <a:r>
              <a:rPr dirty="0" sz="1100" spc="-5">
                <a:latin typeface="Arial"/>
                <a:cs typeface="Arial"/>
              </a:rPr>
              <a:t>as China have emerged, it is important to keep this rise  in perspective. A few NICs still command a dominant position in developing-country exports. For  example, in 2008, South Korea alone exported far more than either all of South Asia or all of  sub-Saharan Africa.</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TYPES OF</a:t>
            </a:r>
            <a:r>
              <a:rPr dirty="0" sz="1100" spc="10" b="1">
                <a:latin typeface="Arial"/>
                <a:cs typeface="Arial"/>
              </a:rPr>
              <a:t> </a:t>
            </a:r>
            <a:r>
              <a:rPr dirty="0" sz="1100" spc="-5" b="1">
                <a:latin typeface="Arial"/>
                <a:cs typeface="Arial"/>
              </a:rPr>
              <a:t>EXPORTS</a:t>
            </a:r>
            <a:endParaRPr sz="1100">
              <a:latin typeface="Arial"/>
              <a:cs typeface="Arial"/>
            </a:endParaRPr>
          </a:p>
          <a:p>
            <a:pPr>
              <a:lnSpc>
                <a:spcPct val="100000"/>
              </a:lnSpc>
              <a:spcBef>
                <a:spcPts val="45"/>
              </a:spcBef>
            </a:pPr>
            <a:endParaRPr sz="1000">
              <a:latin typeface="Arial"/>
              <a:cs typeface="Arial"/>
            </a:endParaRPr>
          </a:p>
          <a:p>
            <a:pPr marL="12700">
              <a:lnSpc>
                <a:spcPct val="100000"/>
              </a:lnSpc>
              <a:spcBef>
                <a:spcPts val="5"/>
              </a:spcBef>
            </a:pPr>
            <a:r>
              <a:rPr dirty="0" sz="1100" spc="-5">
                <a:latin typeface="Arial"/>
                <a:cs typeface="Arial"/>
              </a:rPr>
              <a:t>Exports are categorized on the basis of technological advancements</a:t>
            </a:r>
            <a:r>
              <a:rPr dirty="0" sz="1100" spc="60">
                <a:latin typeface="Arial"/>
                <a:cs typeface="Arial"/>
              </a:rPr>
              <a:t> </a:t>
            </a:r>
            <a:r>
              <a:rPr dirty="0" sz="1100" spc="-5">
                <a:latin typeface="Arial"/>
                <a:cs typeface="Arial"/>
              </a:rPr>
              <a:t>as:</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Resource based exports</a:t>
            </a:r>
            <a:r>
              <a:rPr dirty="0" sz="1100" spc="5">
                <a:latin typeface="Arial"/>
                <a:cs typeface="Arial"/>
              </a:rPr>
              <a:t> </a:t>
            </a:r>
            <a:r>
              <a:rPr dirty="0" sz="1100" spc="-5">
                <a:latin typeface="Arial"/>
                <a:cs typeface="Arial"/>
              </a:rPr>
              <a:t>(RB)</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Low level of technology exports</a:t>
            </a:r>
            <a:r>
              <a:rPr dirty="0" sz="1100" spc="20">
                <a:latin typeface="Arial"/>
                <a:cs typeface="Arial"/>
              </a:rPr>
              <a:t> </a:t>
            </a:r>
            <a:r>
              <a:rPr dirty="0" sz="1100" spc="-5">
                <a:latin typeface="Arial"/>
                <a:cs typeface="Arial"/>
              </a:rPr>
              <a:t>(LT)</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Exports that needed medium level technology to</a:t>
            </a:r>
            <a:r>
              <a:rPr dirty="0" sz="1100" spc="40">
                <a:latin typeface="Arial"/>
                <a:cs typeface="Arial"/>
              </a:rPr>
              <a:t> </a:t>
            </a:r>
            <a:r>
              <a:rPr dirty="0" sz="1100" spc="-5">
                <a:latin typeface="Arial"/>
                <a:cs typeface="Arial"/>
              </a:rPr>
              <a:t>manufacture</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Exports for which high level manufacturing process</a:t>
            </a:r>
            <a:r>
              <a:rPr dirty="0" sz="1100" spc="40">
                <a:latin typeface="Arial"/>
                <a:cs typeface="Arial"/>
              </a:rPr>
              <a:t> </a:t>
            </a:r>
            <a:r>
              <a:rPr dirty="0" sz="1100" spc="-5">
                <a:latin typeface="Arial"/>
                <a:cs typeface="Arial"/>
              </a:rPr>
              <a:t>involve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UNIDO REPORT HIGHLIGHTS:</a:t>
            </a:r>
            <a:endParaRPr sz="1100">
              <a:latin typeface="Arial"/>
              <a:cs typeface="Arial"/>
            </a:endParaRPr>
          </a:p>
          <a:p>
            <a:pPr>
              <a:lnSpc>
                <a:spcPct val="100000"/>
              </a:lnSpc>
            </a:pPr>
            <a:endParaRPr sz="1050">
              <a:latin typeface="Arial"/>
              <a:cs typeface="Arial"/>
            </a:endParaRPr>
          </a:p>
          <a:p>
            <a:pPr marL="12700">
              <a:lnSpc>
                <a:spcPct val="100000"/>
              </a:lnSpc>
            </a:pPr>
            <a:r>
              <a:rPr dirty="0" sz="1100" spc="-5" b="1">
                <a:latin typeface="Arial"/>
                <a:cs typeface="Arial"/>
              </a:rPr>
              <a:t>RESOURCE-BASED MANUFACTURED EXPORTS, 2007–2011 ($</a:t>
            </a:r>
            <a:r>
              <a:rPr dirty="0" sz="1100" spc="45" b="1">
                <a:latin typeface="Arial"/>
                <a:cs typeface="Arial"/>
              </a:rPr>
              <a:t> </a:t>
            </a:r>
            <a:r>
              <a:rPr dirty="0" sz="1100" spc="-5" b="1">
                <a:latin typeface="Arial"/>
                <a:cs typeface="Arial"/>
              </a:rPr>
              <a:t>BILLIONS)</a:t>
            </a:r>
            <a:endParaRPr sz="1100">
              <a:latin typeface="Arial"/>
              <a:cs typeface="Arial"/>
            </a:endParaRPr>
          </a:p>
        </p:txBody>
      </p:sp>
      <p:sp>
        <p:nvSpPr>
          <p:cNvPr id="7" name="object 7"/>
          <p:cNvSpPr/>
          <p:nvPr/>
        </p:nvSpPr>
        <p:spPr>
          <a:xfrm>
            <a:off x="933450" y="4775453"/>
            <a:ext cx="5943600" cy="363855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235</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3342"/>
            <a:ext cx="4991100" cy="19304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LOW-TECHNOLOGY MANUFACTURED EXPORTS, 2007–2011 ($</a:t>
            </a:r>
            <a:r>
              <a:rPr dirty="0" sz="1100" spc="125" b="1">
                <a:latin typeface="Arial"/>
                <a:cs typeface="Arial"/>
              </a:rPr>
              <a:t> </a:t>
            </a:r>
            <a:r>
              <a:rPr dirty="0" sz="1100" spc="-5" b="1">
                <a:latin typeface="Arial"/>
                <a:cs typeface="Arial"/>
              </a:rPr>
              <a:t>BILLIONS)</a:t>
            </a:r>
            <a:endParaRPr sz="1100">
              <a:latin typeface="Arial"/>
              <a:cs typeface="Arial"/>
            </a:endParaRPr>
          </a:p>
        </p:txBody>
      </p:sp>
      <p:sp>
        <p:nvSpPr>
          <p:cNvPr id="7" name="object 7"/>
          <p:cNvSpPr/>
          <p:nvPr/>
        </p:nvSpPr>
        <p:spPr>
          <a:xfrm>
            <a:off x="933450" y="1360932"/>
            <a:ext cx="5943600" cy="619125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236</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3342"/>
            <a:ext cx="5013960" cy="19304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HIGH-TECHNOLOGY MANUFACTURED EXPORTS, 2007–2011 ($</a:t>
            </a:r>
            <a:r>
              <a:rPr dirty="0" sz="1100" spc="135" b="1">
                <a:latin typeface="Arial"/>
                <a:cs typeface="Arial"/>
              </a:rPr>
              <a:t> </a:t>
            </a:r>
            <a:r>
              <a:rPr dirty="0" sz="1100" spc="-5" b="1">
                <a:latin typeface="Arial"/>
                <a:cs typeface="Arial"/>
              </a:rPr>
              <a:t>BILLIONS)</a:t>
            </a:r>
            <a:endParaRPr sz="1100">
              <a:latin typeface="Arial"/>
              <a:cs typeface="Arial"/>
            </a:endParaRPr>
          </a:p>
        </p:txBody>
      </p:sp>
      <p:sp>
        <p:nvSpPr>
          <p:cNvPr id="7" name="object 7"/>
          <p:cNvSpPr/>
          <p:nvPr/>
        </p:nvSpPr>
        <p:spPr>
          <a:xfrm>
            <a:off x="933450" y="1363217"/>
            <a:ext cx="5948172" cy="618363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237</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823912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DEMAND ELASTICITIES AND EXPORT EARNINGS</a:t>
            </a:r>
            <a:r>
              <a:rPr dirty="0" sz="1100" spc="30" b="1">
                <a:latin typeface="Arial"/>
                <a:cs typeface="Arial"/>
              </a:rPr>
              <a:t> </a:t>
            </a:r>
            <a:r>
              <a:rPr dirty="0" sz="1100" spc="-5" b="1">
                <a:latin typeface="Arial"/>
                <a:cs typeface="Arial"/>
              </a:rPr>
              <a:t>INSTABILITY</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Most statistical studies of world demand patterns for different commodity groups reveal that in  the case of primary products, the income elasticity of demand is relatively low. The percentage  increase in quantity of primary agricultural products and most raw materials demanded </a:t>
            </a:r>
            <a:r>
              <a:rPr dirty="0" sz="1100">
                <a:latin typeface="Arial"/>
                <a:cs typeface="Arial"/>
              </a:rPr>
              <a:t>by  </a:t>
            </a:r>
            <a:r>
              <a:rPr dirty="0" sz="1100" spc="-5">
                <a:latin typeface="Arial"/>
                <a:cs typeface="Arial"/>
              </a:rPr>
              <a:t>importers (mostly rich nations) will rise by less than the percentage increase in their GNIs. By  contrast, for fuels, certain raw materials, and manufactured goods, income elasticity is relatively  high. For example, it has been estimated that a 1% increase in developed-country incomes will  normally </a:t>
            </a:r>
            <a:r>
              <a:rPr dirty="0" sz="1100">
                <a:latin typeface="Arial"/>
                <a:cs typeface="Arial"/>
              </a:rPr>
              <a:t>raise </a:t>
            </a:r>
            <a:r>
              <a:rPr dirty="0" sz="1100" spc="-5">
                <a:latin typeface="Arial"/>
                <a:cs typeface="Arial"/>
              </a:rPr>
              <a:t>their imports of foodstuffs by a mere 0.6% and of agricultural raw materials such  as rubber and vegetable oils by 0.5% but raise imports of manufactures by about 1.9%.  Consequently, when incomes rise in rich countries, their demand for food, food products, and  raw materials from the developing nations goes up relatively slowly, whereas demand for  manufactures goes up relatively rapidly. The net result of these low income elasticities of  demand is the tendency for the relative price of primary products to decline over</a:t>
            </a:r>
            <a:r>
              <a:rPr dirty="0" sz="1100" spc="145">
                <a:latin typeface="Arial"/>
                <a:cs typeface="Arial"/>
              </a:rPr>
              <a:t> </a:t>
            </a:r>
            <a:r>
              <a:rPr dirty="0" sz="1100">
                <a:latin typeface="Arial"/>
                <a:cs typeface="Arial"/>
              </a:rPr>
              <a:t>time.</a:t>
            </a:r>
            <a:endParaRPr sz="1100">
              <a:latin typeface="Arial"/>
              <a:cs typeface="Arial"/>
            </a:endParaRPr>
          </a:p>
          <a:p>
            <a:pPr>
              <a:lnSpc>
                <a:spcPct val="100000"/>
              </a:lnSpc>
              <a:spcBef>
                <a:spcPts val="55"/>
              </a:spcBef>
            </a:pPr>
            <a:endParaRPr sz="1050">
              <a:latin typeface="Arial"/>
              <a:cs typeface="Arial"/>
            </a:endParaRPr>
          </a:p>
          <a:p>
            <a:pPr algn="just" marL="12700" marR="6350">
              <a:lnSpc>
                <a:spcPct val="95800"/>
              </a:lnSpc>
            </a:pPr>
            <a:r>
              <a:rPr dirty="0" sz="1100" spc="-5">
                <a:latin typeface="Arial"/>
                <a:cs typeface="Arial"/>
              </a:rPr>
              <a:t>Moreover, </a:t>
            </a:r>
            <a:r>
              <a:rPr dirty="0" sz="1100">
                <a:latin typeface="Arial"/>
                <a:cs typeface="Arial"/>
              </a:rPr>
              <a:t>since </a:t>
            </a:r>
            <a:r>
              <a:rPr dirty="0" sz="1100" spc="-5">
                <a:latin typeface="Arial"/>
                <a:cs typeface="Arial"/>
              </a:rPr>
              <a:t>the price elasticity of demand for (and supply of) primary commodities also  tends to be quite low (i.e., inelastic), any shifts in demand or supply curves can cause large and  volatile price fluctuations. Together these two elasticity phenomena contribute to what has come  to be known as export earnings instability, which has been shown to lead to lower and less  predictable rates of economic</a:t>
            </a:r>
            <a:r>
              <a:rPr dirty="0" sz="1100" spc="15">
                <a:latin typeface="Arial"/>
                <a:cs typeface="Arial"/>
              </a:rPr>
              <a:t> </a:t>
            </a:r>
            <a:r>
              <a:rPr dirty="0" sz="1100" spc="-5">
                <a:latin typeface="Arial"/>
                <a:cs typeface="Arial"/>
              </a:rPr>
              <a:t>growth.</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While almost all attention goes to merchandise exports, there has been a slow rise in the share  of commercial services in the exports of both developed and developing countries. For the  former, these are more likely to represent highly skilled activities such as investment banking  and management consulting, while for the latter, construction and other less skill-intensive  activities are more</a:t>
            </a:r>
            <a:r>
              <a:rPr dirty="0" sz="1100">
                <a:latin typeface="Arial"/>
                <a:cs typeface="Arial"/>
              </a:rPr>
              <a:t> </a:t>
            </a:r>
            <a:r>
              <a:rPr dirty="0" sz="1100" spc="-5">
                <a:latin typeface="Arial"/>
                <a:cs typeface="Arial"/>
              </a:rPr>
              <a:t>common.</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THE TERMS OF TRADE AND THE PREBISCH-SINGER</a:t>
            </a:r>
            <a:r>
              <a:rPr dirty="0" sz="1100" spc="30" b="1">
                <a:latin typeface="Arial"/>
                <a:cs typeface="Arial"/>
              </a:rPr>
              <a:t> </a:t>
            </a:r>
            <a:r>
              <a:rPr dirty="0" sz="1100" spc="-5" b="1">
                <a:latin typeface="Arial"/>
                <a:cs typeface="Arial"/>
              </a:rPr>
              <a:t>HYPOTHESIS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question of changing relative price levels for different commodities brings us to another  important quantitative dimension of the trade problems historically faced by developing nations.  The total value of export earnings depends not only on the volume of these exports sold abroad  but also on the price paid for them. If export </a:t>
            </a:r>
            <a:r>
              <a:rPr dirty="0" sz="1100">
                <a:latin typeface="Arial"/>
                <a:cs typeface="Arial"/>
              </a:rPr>
              <a:t>prices </a:t>
            </a:r>
            <a:r>
              <a:rPr dirty="0" sz="1100" spc="-5">
                <a:latin typeface="Arial"/>
                <a:cs typeface="Arial"/>
              </a:rPr>
              <a:t>decline, a greater volume of exports will have  to be sold merely to </a:t>
            </a:r>
            <a:r>
              <a:rPr dirty="0" sz="1100">
                <a:latin typeface="Arial"/>
                <a:cs typeface="Arial"/>
              </a:rPr>
              <a:t>keep </a:t>
            </a:r>
            <a:r>
              <a:rPr dirty="0" sz="1100" spc="-5">
                <a:latin typeface="Arial"/>
                <a:cs typeface="Arial"/>
              </a:rPr>
              <a:t>total earnings constant. Similarly, on the import side, the total foreign  exchange expended depends on both the quantity and the price of</a:t>
            </a:r>
            <a:r>
              <a:rPr dirty="0" sz="1100" spc="80">
                <a:latin typeface="Arial"/>
                <a:cs typeface="Arial"/>
              </a:rPr>
              <a:t> </a:t>
            </a:r>
            <a:r>
              <a:rPr dirty="0" sz="1100" spc="-5">
                <a:latin typeface="Arial"/>
                <a:cs typeface="Arial"/>
              </a:rPr>
              <a:t>imports.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Clearly, if the price of a country’s exports is falling relative to the prices of the products it  imports, it will have to sell that much more of its exports and enlist more of its scarce productive  resources merely to secure the same level </a:t>
            </a:r>
            <a:r>
              <a:rPr dirty="0" sz="1100">
                <a:latin typeface="Arial"/>
                <a:cs typeface="Arial"/>
              </a:rPr>
              <a:t>of </a:t>
            </a:r>
            <a:r>
              <a:rPr dirty="0" sz="1100" spc="-5">
                <a:latin typeface="Arial"/>
                <a:cs typeface="Arial"/>
              </a:rPr>
              <a:t>imported goods that it purchased in previous  years. In other words, the real or social opportunity costs of a unit of imports will rise for a  country when its export prices decline relative to its import</a:t>
            </a:r>
            <a:r>
              <a:rPr dirty="0" sz="1100" spc="65">
                <a:latin typeface="Arial"/>
                <a:cs typeface="Arial"/>
              </a:rPr>
              <a:t> </a:t>
            </a:r>
            <a:r>
              <a:rPr dirty="0" sz="1100" spc="-5">
                <a:latin typeface="Arial"/>
                <a:cs typeface="Arial"/>
              </a:rPr>
              <a:t>prices.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Economists have a special name for the relationship or ratio between </a:t>
            </a:r>
            <a:r>
              <a:rPr dirty="0" sz="1100">
                <a:latin typeface="Arial"/>
                <a:cs typeface="Arial"/>
              </a:rPr>
              <a:t>the </a:t>
            </a:r>
            <a:r>
              <a:rPr dirty="0" sz="1100" spc="-5">
                <a:latin typeface="Arial"/>
                <a:cs typeface="Arial"/>
              </a:rPr>
              <a:t>price of a typical unit  of exports and the price of a typical unit of imports. This relationship is called the </a:t>
            </a:r>
            <a:r>
              <a:rPr dirty="0" sz="1100">
                <a:latin typeface="Arial"/>
                <a:cs typeface="Arial"/>
              </a:rPr>
              <a:t>commodity  </a:t>
            </a:r>
            <a:r>
              <a:rPr dirty="0" sz="1100" spc="-5">
                <a:latin typeface="Arial"/>
                <a:cs typeface="Arial"/>
              </a:rPr>
              <a:t>terms of trade, and it is expressed as Px/Pm, where Px and Pm represent the export and import  price indexes, respectively, calculated on the same base period (e.g., 2005 _ 100). The  commodity </a:t>
            </a:r>
            <a:r>
              <a:rPr dirty="0" sz="1100">
                <a:latin typeface="Arial"/>
                <a:cs typeface="Arial"/>
              </a:rPr>
              <a:t>terms </a:t>
            </a:r>
            <a:r>
              <a:rPr dirty="0" sz="1100" spc="-5">
                <a:latin typeface="Arial"/>
                <a:cs typeface="Arial"/>
              </a:rPr>
              <a:t>of trade are said to deteriorate for a country if Px/Pm falls, that is, if export  prices decline relative to import prices, even though both may rise. Most scholarship has  broadly confirmed that historically, the prices of primary commodities </a:t>
            </a:r>
            <a:r>
              <a:rPr dirty="0" sz="1100">
                <a:latin typeface="Arial"/>
                <a:cs typeface="Arial"/>
              </a:rPr>
              <a:t>have </a:t>
            </a:r>
            <a:r>
              <a:rPr dirty="0" sz="1100" spc="-5">
                <a:latin typeface="Arial"/>
                <a:cs typeface="Arial"/>
              </a:rPr>
              <a:t>declined relative to  manufactured goods. As a result; the terms of trade have on </a:t>
            </a:r>
            <a:r>
              <a:rPr dirty="0" sz="1100">
                <a:latin typeface="Arial"/>
                <a:cs typeface="Arial"/>
              </a:rPr>
              <a:t>the </a:t>
            </a:r>
            <a:r>
              <a:rPr dirty="0" sz="1100" spc="-5">
                <a:latin typeface="Arial"/>
                <a:cs typeface="Arial"/>
              </a:rPr>
              <a:t>average tended to worsen </a:t>
            </a:r>
            <a:r>
              <a:rPr dirty="0" sz="1100">
                <a:latin typeface="Arial"/>
                <a:cs typeface="Arial"/>
              </a:rPr>
              <a:t>over  </a:t>
            </a:r>
            <a:r>
              <a:rPr dirty="0" sz="1100" spc="-5">
                <a:latin typeface="Arial"/>
                <a:cs typeface="Arial"/>
              </a:rPr>
              <a:t>time</a:t>
            </a:r>
            <a:r>
              <a:rPr dirty="0" sz="1100" spc="20">
                <a:latin typeface="Arial"/>
                <a:cs typeface="Arial"/>
              </a:rPr>
              <a:t> </a:t>
            </a:r>
            <a:r>
              <a:rPr dirty="0" sz="1100" spc="-5">
                <a:latin typeface="Arial"/>
                <a:cs typeface="Arial"/>
              </a:rPr>
              <a:t>for</a:t>
            </a:r>
            <a:r>
              <a:rPr dirty="0" sz="1100" spc="25">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non</a:t>
            </a:r>
            <a:r>
              <a:rPr dirty="0" sz="1100" spc="25">
                <a:latin typeface="Arial"/>
                <a:cs typeface="Arial"/>
              </a:rPr>
              <a:t> </a:t>
            </a:r>
            <a:r>
              <a:rPr dirty="0" sz="1100" spc="-5">
                <a:latin typeface="Arial"/>
                <a:cs typeface="Arial"/>
              </a:rPr>
              <a:t>oil-</a:t>
            </a:r>
            <a:r>
              <a:rPr dirty="0" sz="1100" spc="25">
                <a:latin typeface="Arial"/>
                <a:cs typeface="Arial"/>
              </a:rPr>
              <a:t> </a:t>
            </a:r>
            <a:r>
              <a:rPr dirty="0" sz="1100" spc="-5">
                <a:latin typeface="Arial"/>
                <a:cs typeface="Arial"/>
              </a:rPr>
              <a:t>exporting</a:t>
            </a:r>
            <a:r>
              <a:rPr dirty="0" sz="1100" spc="25">
                <a:latin typeface="Arial"/>
                <a:cs typeface="Arial"/>
              </a:rPr>
              <a:t> </a:t>
            </a:r>
            <a:r>
              <a:rPr dirty="0" sz="1100" spc="-5">
                <a:latin typeface="Arial"/>
                <a:cs typeface="Arial"/>
              </a:rPr>
              <a:t>developing</a:t>
            </a:r>
            <a:r>
              <a:rPr dirty="0" sz="1100" spc="25">
                <a:latin typeface="Arial"/>
                <a:cs typeface="Arial"/>
              </a:rPr>
              <a:t> </a:t>
            </a:r>
            <a:r>
              <a:rPr dirty="0" sz="1100" spc="-5">
                <a:latin typeface="Arial"/>
                <a:cs typeface="Arial"/>
              </a:rPr>
              <a:t>countries</a:t>
            </a:r>
            <a:r>
              <a:rPr dirty="0" sz="1100" spc="25">
                <a:latin typeface="Arial"/>
                <a:cs typeface="Arial"/>
              </a:rPr>
              <a:t> </a:t>
            </a:r>
            <a:r>
              <a:rPr dirty="0" sz="1100" spc="-5">
                <a:latin typeface="Arial"/>
                <a:cs typeface="Arial"/>
              </a:rPr>
              <a:t>while</a:t>
            </a:r>
            <a:r>
              <a:rPr dirty="0" sz="1100" spc="20">
                <a:latin typeface="Arial"/>
                <a:cs typeface="Arial"/>
              </a:rPr>
              <a:t> </a:t>
            </a:r>
            <a:r>
              <a:rPr dirty="0" sz="1100" spc="-5">
                <a:latin typeface="Arial"/>
                <a:cs typeface="Arial"/>
              </a:rPr>
              <a:t>showing</a:t>
            </a:r>
            <a:r>
              <a:rPr dirty="0" sz="1100" spc="25">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relative</a:t>
            </a:r>
            <a:r>
              <a:rPr dirty="0" sz="1100" spc="25">
                <a:latin typeface="Arial"/>
                <a:cs typeface="Arial"/>
              </a:rPr>
              <a:t> </a:t>
            </a:r>
            <a:r>
              <a:rPr dirty="0" sz="1100" spc="-5">
                <a:latin typeface="Arial"/>
                <a:cs typeface="Arial"/>
              </a:rPr>
              <a:t>improvement</a:t>
            </a:r>
            <a:r>
              <a:rPr dirty="0" sz="1100" spc="25">
                <a:latin typeface="Arial"/>
                <a:cs typeface="Arial"/>
              </a:rPr>
              <a:t> </a:t>
            </a:r>
            <a:r>
              <a:rPr dirty="0" sz="1100" spc="-5">
                <a:latin typeface="Arial"/>
                <a:cs typeface="Arial"/>
              </a:rPr>
              <a:t>for</a:t>
            </a:r>
            <a:r>
              <a:rPr dirty="0" sz="1100" spc="25">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238</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919084"/>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developed countries. Moreover, recent empirical studies suggest that real primary-product  prices declined at an average annual rate of 0.6% in the twentieth century; although the  commodity price boom prior to the financial crisis was the largest boom since 1900. The strong  increases since 2002 still have not negated the long-term</a:t>
            </a:r>
            <a:r>
              <a:rPr dirty="0" sz="1100" spc="55">
                <a:latin typeface="Arial"/>
                <a:cs typeface="Arial"/>
              </a:rPr>
              <a:t> </a:t>
            </a:r>
            <a:r>
              <a:rPr dirty="0" sz="1100" spc="-5">
                <a:latin typeface="Arial"/>
                <a:cs typeface="Arial"/>
              </a:rPr>
              <a:t>trends.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main theory for the declining commodity </a:t>
            </a:r>
            <a:r>
              <a:rPr dirty="0" sz="1100">
                <a:latin typeface="Arial"/>
                <a:cs typeface="Arial"/>
              </a:rPr>
              <a:t>terms </a:t>
            </a:r>
            <a:r>
              <a:rPr dirty="0" sz="1100" spc="-5">
                <a:latin typeface="Arial"/>
                <a:cs typeface="Arial"/>
              </a:rPr>
              <a:t>of </a:t>
            </a:r>
            <a:r>
              <a:rPr dirty="0" sz="1100">
                <a:latin typeface="Arial"/>
                <a:cs typeface="Arial"/>
              </a:rPr>
              <a:t>trade </a:t>
            </a:r>
            <a:r>
              <a:rPr dirty="0" sz="1100" spc="-5">
                <a:latin typeface="Arial"/>
                <a:cs typeface="Arial"/>
              </a:rPr>
              <a:t>is known as the Prebisch-Singer  hypothesis, after two famous development economists who explored its implications in the  1950s. They argued that there was and would continue to be a secular (long-term) decline in the  terms of </a:t>
            </a:r>
            <a:r>
              <a:rPr dirty="0" sz="1100">
                <a:latin typeface="Arial"/>
                <a:cs typeface="Arial"/>
              </a:rPr>
              <a:t>trade </a:t>
            </a:r>
            <a:r>
              <a:rPr dirty="0" sz="1100" spc="-5">
                <a:latin typeface="Arial"/>
                <a:cs typeface="Arial"/>
              </a:rPr>
              <a:t>of primary- commodity exporters due to a combination of low income and price  elasticities of demand. </a:t>
            </a:r>
            <a:r>
              <a:rPr dirty="0" sz="1100">
                <a:latin typeface="Arial"/>
                <a:cs typeface="Arial"/>
              </a:rPr>
              <a:t>This </a:t>
            </a:r>
            <a:r>
              <a:rPr dirty="0" sz="1100" spc="-5">
                <a:latin typeface="Arial"/>
                <a:cs typeface="Arial"/>
              </a:rPr>
              <a:t>decline would result in an ongoing transfer of income from poor to  rich countries that could be combated only </a:t>
            </a:r>
            <a:r>
              <a:rPr dirty="0" sz="1100">
                <a:latin typeface="Arial"/>
                <a:cs typeface="Arial"/>
              </a:rPr>
              <a:t>by </a:t>
            </a:r>
            <a:r>
              <a:rPr dirty="0" sz="1100" spc="-5">
                <a:latin typeface="Arial"/>
                <a:cs typeface="Arial"/>
              </a:rPr>
              <a:t>efforts to protect domestic manufacturing  industries through a process that has come to be known as import substitution, considered later  in this chapter. As noted in Box 12.1, recent research has added new evidence in support of the  hypothesis. Both because of this theory and because of the unfavorable terms-of-trade trends,  developing countries have been </a:t>
            </a:r>
            <a:r>
              <a:rPr dirty="0" sz="1100">
                <a:latin typeface="Arial"/>
                <a:cs typeface="Arial"/>
              </a:rPr>
              <a:t>doing </a:t>
            </a:r>
            <a:r>
              <a:rPr dirty="0" sz="1100" spc="-5">
                <a:latin typeface="Arial"/>
                <a:cs typeface="Arial"/>
              </a:rPr>
              <a:t>their utmost over the past several decades to diversify  into manufactures exports. After a slow and costly start, these efforts have resulted in a  dramatic shift in the composition of developing-country exports, especially among middle-  income countries. Led at first by the East Asian Tiger economies of </a:t>
            </a:r>
            <a:r>
              <a:rPr dirty="0" sz="1100">
                <a:latin typeface="Arial"/>
                <a:cs typeface="Arial"/>
              </a:rPr>
              <a:t>South </a:t>
            </a:r>
            <a:r>
              <a:rPr dirty="0" sz="1100" spc="-5">
                <a:latin typeface="Arial"/>
                <a:cs typeface="Arial"/>
              </a:rPr>
              <a:t>Korea, Taiwan, Hong  Kong, and Singapore and now followed by </a:t>
            </a:r>
            <a:r>
              <a:rPr dirty="0" sz="1100">
                <a:latin typeface="Arial"/>
                <a:cs typeface="Arial"/>
              </a:rPr>
              <a:t>many </a:t>
            </a:r>
            <a:r>
              <a:rPr dirty="0" sz="1100" spc="-5">
                <a:latin typeface="Arial"/>
                <a:cs typeface="Arial"/>
              </a:rPr>
              <a:t>other countries, including China, the share of  merchandise exports accounted for by manufactured goods has risen strongly in many  developing countries.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Unfortunately, this structural change has not brought as many benefits to most developing  countries as they had hoped, because relative prices within manufactures have </a:t>
            </a:r>
            <a:r>
              <a:rPr dirty="0" sz="1100">
                <a:latin typeface="Arial"/>
                <a:cs typeface="Arial"/>
              </a:rPr>
              <a:t>also </a:t>
            </a:r>
            <a:r>
              <a:rPr dirty="0" sz="1100" spc="-5">
                <a:latin typeface="Arial"/>
                <a:cs typeface="Arial"/>
              </a:rPr>
              <a:t>diverged:  Over the past few decades, the prices of the basic manufactured goods exported by poor  countries fell relative to the advanced products exported by rich countries. The price of textiles  fell especially precipitously, and low-skilled electronic goods are not far behind. Using  alternative methods, the United Nations found that the real decline in developing-country export  prices of manufactures in the 1980s was about 3.5% per year, or about 30% for the decade. In  a detailed study, Alf Maizels discovered that </a:t>
            </a:r>
            <a:r>
              <a:rPr dirty="0" sz="1100">
                <a:latin typeface="Arial"/>
                <a:cs typeface="Arial"/>
              </a:rPr>
              <a:t>the </a:t>
            </a:r>
            <a:r>
              <a:rPr dirty="0" sz="1100" spc="-5">
                <a:latin typeface="Arial"/>
                <a:cs typeface="Arial"/>
              </a:rPr>
              <a:t>terms of trade in manufacturing goods for  developing countries vis-à-vis the United States deteriorated over the 1981–1997 period. The  declines in textile prices accelerated dramatically starting in the late 1990s. Having reviewed  some of the international trade issues that developing countries face, we turn </a:t>
            </a:r>
            <a:r>
              <a:rPr dirty="0" sz="1100">
                <a:latin typeface="Arial"/>
                <a:cs typeface="Arial"/>
              </a:rPr>
              <a:t>next </a:t>
            </a:r>
            <a:r>
              <a:rPr dirty="0" sz="1100" spc="-5">
                <a:latin typeface="Arial"/>
                <a:cs typeface="Arial"/>
              </a:rPr>
              <a:t>to consider  alternative theories of the role that trade plays in economic</a:t>
            </a:r>
            <a:r>
              <a:rPr dirty="0" sz="1100" spc="65">
                <a:latin typeface="Arial"/>
                <a:cs typeface="Arial"/>
              </a:rPr>
              <a:t> </a:t>
            </a:r>
            <a:r>
              <a:rPr dirty="0" sz="1100" spc="-5">
                <a:latin typeface="Arial"/>
                <a:cs typeface="Arial"/>
              </a:rPr>
              <a:t>development.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THE TRADITIONAL THEORY OF INTERNATIONAL</a:t>
            </a:r>
            <a:r>
              <a:rPr dirty="0" sz="1100" spc="15" b="1">
                <a:latin typeface="Arial"/>
                <a:cs typeface="Arial"/>
              </a:rPr>
              <a:t> </a:t>
            </a:r>
            <a:r>
              <a:rPr dirty="0" sz="1100" spc="-5" b="1">
                <a:latin typeface="Arial"/>
                <a:cs typeface="Arial"/>
              </a:rPr>
              <a:t>TRADE</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900"/>
              </a:lnSpc>
            </a:pPr>
            <a:r>
              <a:rPr dirty="0" sz="1100" spc="-5">
                <a:latin typeface="Arial"/>
                <a:cs typeface="Arial"/>
              </a:rPr>
              <a:t>The phenomenon of transactions and exchange is a basic component of human activity  throughout the world. Even in the most remote villages of Africa, people regularly meet in the  marketplace to exchange goods, either for money or for other goods through simple barter  transactions. A transaction is an exchange of two things—something is given up in return for  something else. In an African village, women may barter food such as cassava for cloth or  simple jewelry for clay pots. Implicit in all transactions is a price. For example, if 20 kilos of  cassava are traded for a meter of bark cloth, the implicit price (or terms of trade) of the bark  cloth is 20 kilos of cassava. If 20 kilos of cassava can also be exchanged for one small clay pot,  it follows that clay pots and 1-meter pieces of bark cloth can be exchanged on a one-to-one  basis. A price system is already in the</a:t>
            </a:r>
            <a:r>
              <a:rPr dirty="0" sz="1100" spc="40">
                <a:latin typeface="Arial"/>
                <a:cs typeface="Arial"/>
              </a:rPr>
              <a:t> </a:t>
            </a:r>
            <a:r>
              <a:rPr dirty="0" sz="1100" spc="-5">
                <a:latin typeface="Arial"/>
                <a:cs typeface="Arial"/>
              </a:rPr>
              <a:t>making.</a:t>
            </a:r>
            <a:endParaRPr sz="1100">
              <a:latin typeface="Arial"/>
              <a:cs typeface="Arial"/>
            </a:endParaRPr>
          </a:p>
          <a:p>
            <a:pPr>
              <a:lnSpc>
                <a:spcPct val="100000"/>
              </a:lnSpc>
            </a:pPr>
            <a:endParaRPr sz="1050">
              <a:latin typeface="Arial"/>
              <a:cs typeface="Arial"/>
            </a:endParaRPr>
          </a:p>
          <a:p>
            <a:pPr algn="just" marL="12700">
              <a:lnSpc>
                <a:spcPct val="100000"/>
              </a:lnSpc>
              <a:spcBef>
                <a:spcPts val="5"/>
              </a:spcBef>
            </a:pPr>
            <a:r>
              <a:rPr dirty="0" sz="1100" spc="-5" b="1">
                <a:latin typeface="Arial"/>
                <a:cs typeface="Arial"/>
              </a:rPr>
              <a:t>COMPARATIVE ADVANTAGE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239</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26122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Why do people trade? Basically, because it is profitable to do so. Different people possess  different abilities and resources and may </a:t>
            </a:r>
            <a:r>
              <a:rPr dirty="0" sz="1100">
                <a:latin typeface="Arial"/>
                <a:cs typeface="Arial"/>
              </a:rPr>
              <a:t>want </a:t>
            </a:r>
            <a:r>
              <a:rPr dirty="0" sz="1100" spc="-5">
                <a:latin typeface="Arial"/>
                <a:cs typeface="Arial"/>
              </a:rPr>
              <a:t>to consume goods in different proportions.  Diverse preferences as well as varied physical and financial endowments open up the possibility  of profitable trade. People usually find it profitable to trade the things they possess in large  quantities relative to their tastes or needs in return for things they want more urgently. Because  it is virtually impossible for individuals or families to provide themselves with all the consumption  requirements of even the simplest life, they usually find it profitable to engage in the activities for  which they are best suited or have a comparative advantage in terms of their natural abilities or  resource endowments. They can then exchange any surplus of these home-produced  commodities for products that others may be relatively more suited to produce. The  phenomenon of specialization based on comparative advantage arises, therefore, to some  extent in even the most primitive of subsistence</a:t>
            </a:r>
            <a:r>
              <a:rPr dirty="0" sz="1100" spc="40">
                <a:latin typeface="Arial"/>
                <a:cs typeface="Arial"/>
              </a:rPr>
              <a:t> </a:t>
            </a:r>
            <a:r>
              <a:rPr dirty="0" sz="1100" spc="-5">
                <a:latin typeface="Arial"/>
                <a:cs typeface="Arial"/>
              </a:rPr>
              <a:t>economies.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These same principles of specialization and comparative advantage have long been applied by  economists to the exchange of goods between individual nations. In answer to the question of  what determines which goods are traded and why some countries produce some things while  others produce different things, economists since the time of Adam Smith have sought the  answer in terms of international differences in costs of production and prices of different  products. Countries, like people, specialize in a limited range of production activities because it  is to their advantage to do so. </a:t>
            </a:r>
            <a:r>
              <a:rPr dirty="0" sz="1100">
                <a:latin typeface="Arial"/>
                <a:cs typeface="Arial"/>
              </a:rPr>
              <a:t>They </a:t>
            </a:r>
            <a:r>
              <a:rPr dirty="0" sz="1100" spc="-5">
                <a:latin typeface="Arial"/>
                <a:cs typeface="Arial"/>
              </a:rPr>
              <a:t>specialize in activities where the gains from specialization  are likely to be the largest. But why, in the case of international trade, should costs differ from  country to country? For example, </a:t>
            </a:r>
            <a:r>
              <a:rPr dirty="0" sz="1100">
                <a:latin typeface="Arial"/>
                <a:cs typeface="Arial"/>
              </a:rPr>
              <a:t>how </a:t>
            </a:r>
            <a:r>
              <a:rPr dirty="0" sz="1100" spc="-5">
                <a:latin typeface="Arial"/>
                <a:cs typeface="Arial"/>
              </a:rPr>
              <a:t>can Germany produce cameras, electrical appliances,  and automobiles cheaper than Kenya and exchange these manufactured goods for Kenya’s  relatively cheaper agricultural produce (fruits, vegetables, coffee, and tea)? Again, the answer is  to be found in international differences in the structure of costs and prices. Some things  (manufactured goods) are relatively cheaper </a:t>
            </a:r>
            <a:r>
              <a:rPr dirty="0" sz="1100">
                <a:latin typeface="Arial"/>
                <a:cs typeface="Arial"/>
              </a:rPr>
              <a:t>to </a:t>
            </a:r>
            <a:r>
              <a:rPr dirty="0" sz="1100" spc="-5">
                <a:latin typeface="Arial"/>
                <a:cs typeface="Arial"/>
              </a:rPr>
              <a:t>produce in Germany and can profitably be  exported to other countries like Kenya; other things (agricultural goods) can be produced in  Kenya at a lower relative cost and are therefore imported into Germany in exchange for its  manufactures.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concept of relative cost and price differences is basic to the theory of international trade.  The principle of comparative advantage, as it is called, asserts that a country should, and under  competitive conditions will, specialize in the export of the products that it can produce at the  lowest relative cost. Germany </a:t>
            </a:r>
            <a:r>
              <a:rPr dirty="0" sz="1100">
                <a:latin typeface="Arial"/>
                <a:cs typeface="Arial"/>
              </a:rPr>
              <a:t>may </a:t>
            </a:r>
            <a:r>
              <a:rPr dirty="0" sz="1100" spc="-5">
                <a:latin typeface="Arial"/>
                <a:cs typeface="Arial"/>
              </a:rPr>
              <a:t>be able to produce cameras and cars as well as fruits and  vegetables at lower absolute unit costs than Kenya, but because the commodity cost  differences between countries are greater for the manufactured goods than for agricultural  products, it will be to Germany’s advantage to specialize in the production of manufactured  goods and exchange them for Kenya’s agricultural produce. So even though Germany </a:t>
            </a:r>
            <a:r>
              <a:rPr dirty="0" sz="1100">
                <a:latin typeface="Arial"/>
                <a:cs typeface="Arial"/>
              </a:rPr>
              <a:t>may  </a:t>
            </a:r>
            <a:r>
              <a:rPr dirty="0" sz="1100" spc="-5">
                <a:latin typeface="Arial"/>
                <a:cs typeface="Arial"/>
              </a:rPr>
              <a:t>have an absolute advantage in the cost of both commodities, its comparative cost advantage  lies in manufactured goods. Conversely, Kenya may be at an absolute disadvantage vis-à-vis  Germany in both manufacturing and agriculture in that its absolute unit costs of production are  higher for both types of products. It can nevertheless still engage in profitable trade because it  has a comparative advantage in agricultural specialization (or alternatively, because it’s  absolute disadvantage is less in agriculture). It is this phenomenon of differences in comparative  advantage that gives rise to beneficial trade even among the most unequal trading</a:t>
            </a:r>
            <a:r>
              <a:rPr dirty="0" sz="1100" spc="190">
                <a:latin typeface="Arial"/>
                <a:cs typeface="Arial"/>
              </a:rPr>
              <a:t> </a:t>
            </a:r>
            <a:r>
              <a:rPr dirty="0" sz="1100" spc="-5">
                <a:latin typeface="Arial"/>
                <a:cs typeface="Arial"/>
              </a:rPr>
              <a:t>partners.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240</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820864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36</a:t>
            </a:r>
            <a:endParaRPr sz="1100">
              <a:latin typeface="Arial"/>
              <a:cs typeface="Arial"/>
            </a:endParaRPr>
          </a:p>
          <a:p>
            <a:pPr marL="12700" marR="196215" indent="189230">
              <a:lnSpc>
                <a:spcPct val="191400"/>
              </a:lnSpc>
              <a:spcBef>
                <a:spcPts val="15"/>
              </a:spcBef>
            </a:pPr>
            <a:r>
              <a:rPr dirty="0" sz="1100" spc="-5" b="1">
                <a:latin typeface="Arial"/>
                <a:cs typeface="Arial"/>
              </a:rPr>
              <a:t>INTERNATIONAL TRADE THEORY AND DEVELOPMENT STRATEGY (CONTINUED2)  THEORETICAL CONTRIBUTIONS: WHY TRADE TAKE</a:t>
            </a:r>
            <a:r>
              <a:rPr dirty="0" sz="1100" spc="25" b="1">
                <a:latin typeface="Arial"/>
                <a:cs typeface="Arial"/>
              </a:rPr>
              <a:t> </a:t>
            </a:r>
            <a:r>
              <a:rPr dirty="0" sz="1100" spc="-5" b="1">
                <a:latin typeface="Arial"/>
                <a:cs typeface="Arial"/>
              </a:rPr>
              <a:t>PLACE?</a:t>
            </a:r>
            <a:endParaRPr sz="1100">
              <a:latin typeface="Arial"/>
              <a:cs typeface="Arial"/>
            </a:endParaRPr>
          </a:p>
          <a:p>
            <a:pPr>
              <a:lnSpc>
                <a:spcPct val="100000"/>
              </a:lnSpc>
            </a:pPr>
            <a:endParaRPr sz="1150">
              <a:latin typeface="Arial"/>
              <a:cs typeface="Arial"/>
            </a:endParaRPr>
          </a:p>
          <a:p>
            <a:pPr marL="12700">
              <a:lnSpc>
                <a:spcPct val="100000"/>
              </a:lnSpc>
            </a:pPr>
            <a:r>
              <a:rPr dirty="0" sz="1100" spc="-5" b="1">
                <a:latin typeface="Arial"/>
                <a:cs typeface="Arial"/>
              </a:rPr>
              <a:t>ABSOLUTE ADVANTAGE</a:t>
            </a:r>
            <a:r>
              <a:rPr dirty="0" sz="1100" spc="5" b="1">
                <a:latin typeface="Arial"/>
                <a:cs typeface="Arial"/>
              </a:rPr>
              <a:t> </a:t>
            </a:r>
            <a:r>
              <a:rPr dirty="0" sz="1100" spc="-5" b="1">
                <a:latin typeface="Arial"/>
                <a:cs typeface="Arial"/>
              </a:rPr>
              <a:t>THEORY</a:t>
            </a:r>
            <a:endParaRPr sz="1100">
              <a:latin typeface="Arial"/>
              <a:cs typeface="Arial"/>
            </a:endParaRPr>
          </a:p>
          <a:p>
            <a:pPr>
              <a:lnSpc>
                <a:spcPct val="100000"/>
              </a:lnSpc>
            </a:pPr>
            <a:endParaRPr sz="1150">
              <a:latin typeface="Arial"/>
              <a:cs typeface="Arial"/>
            </a:endParaRPr>
          </a:p>
          <a:p>
            <a:pPr algn="just" marL="12700">
              <a:lnSpc>
                <a:spcPct val="100000"/>
              </a:lnSpc>
            </a:pPr>
            <a:r>
              <a:rPr dirty="0" sz="1100" spc="-5">
                <a:latin typeface="Arial"/>
                <a:cs typeface="Arial"/>
              </a:rPr>
              <a:t>In 1776, Adam Smith promulgated this concept in his</a:t>
            </a:r>
            <a:r>
              <a:rPr dirty="0" sz="1100" spc="50">
                <a:latin typeface="Arial"/>
                <a:cs typeface="Arial"/>
              </a:rPr>
              <a:t> </a:t>
            </a:r>
            <a:r>
              <a:rPr dirty="0" sz="1100" spc="-5">
                <a:latin typeface="Arial"/>
                <a:cs typeface="Arial"/>
              </a:rPr>
              <a:t>book:</a:t>
            </a:r>
            <a:endParaRPr sz="1100">
              <a:latin typeface="Arial"/>
              <a:cs typeface="Arial"/>
            </a:endParaRPr>
          </a:p>
          <a:p>
            <a:pPr algn="just" marL="469900" marR="6350" indent="-228600">
              <a:lnSpc>
                <a:spcPts val="1260"/>
              </a:lnSpc>
              <a:spcBef>
                <a:spcPts val="114"/>
              </a:spcBef>
              <a:buFont typeface="Symbol"/>
              <a:buChar char=""/>
              <a:tabLst>
                <a:tab pos="470534" algn="l"/>
              </a:tabLst>
            </a:pPr>
            <a:r>
              <a:rPr dirty="0" sz="1100" spc="-5">
                <a:latin typeface="Arial"/>
                <a:cs typeface="Arial"/>
              </a:rPr>
              <a:t>Production of a commodity with the same amount of real resources as another producer  but at a lower absolute unit</a:t>
            </a:r>
            <a:r>
              <a:rPr dirty="0" sz="1100" spc="20">
                <a:latin typeface="Arial"/>
                <a:cs typeface="Arial"/>
              </a:rPr>
              <a:t> </a:t>
            </a:r>
            <a:r>
              <a:rPr dirty="0" sz="1100" spc="-5">
                <a:latin typeface="Arial"/>
                <a:cs typeface="Arial"/>
              </a:rPr>
              <a:t>cost.</a:t>
            </a:r>
            <a:endParaRPr sz="1100">
              <a:latin typeface="Arial"/>
              <a:cs typeface="Arial"/>
            </a:endParaRPr>
          </a:p>
          <a:p>
            <a:pPr>
              <a:lnSpc>
                <a:spcPct val="100000"/>
              </a:lnSpc>
              <a:spcBef>
                <a:spcPts val="30"/>
              </a:spcBef>
              <a:buFont typeface="Symbol"/>
              <a:buChar char=""/>
            </a:pPr>
            <a:endParaRPr sz="1000">
              <a:latin typeface="Arial"/>
              <a:cs typeface="Arial"/>
            </a:endParaRPr>
          </a:p>
          <a:p>
            <a:pPr marL="12700">
              <a:lnSpc>
                <a:spcPct val="100000"/>
              </a:lnSpc>
            </a:pPr>
            <a:r>
              <a:rPr dirty="0" sz="1100" spc="-5" b="1">
                <a:latin typeface="Arial"/>
                <a:cs typeface="Arial"/>
              </a:rPr>
              <a:t>COMPARATIVE ADVANTAGE </a:t>
            </a:r>
            <a:r>
              <a:rPr dirty="0" sz="1100" b="1">
                <a:latin typeface="Arial"/>
                <a:cs typeface="Arial"/>
              </a:rPr>
              <a:t>THEOREY: </a:t>
            </a:r>
            <a:r>
              <a:rPr dirty="0" sz="1100" spc="-5" b="1">
                <a:latin typeface="Arial"/>
                <a:cs typeface="Arial"/>
              </a:rPr>
              <a:t>BY DAVID</a:t>
            </a:r>
            <a:r>
              <a:rPr dirty="0" sz="1100" spc="25" b="1">
                <a:latin typeface="Arial"/>
                <a:cs typeface="Arial"/>
              </a:rPr>
              <a:t> </a:t>
            </a:r>
            <a:r>
              <a:rPr dirty="0" sz="1100" b="1">
                <a:latin typeface="Arial"/>
                <a:cs typeface="Arial"/>
              </a:rPr>
              <a:t>RICARDO</a:t>
            </a:r>
            <a:endParaRPr sz="1100">
              <a:latin typeface="Arial"/>
              <a:cs typeface="Arial"/>
            </a:endParaRPr>
          </a:p>
          <a:p>
            <a:pPr>
              <a:lnSpc>
                <a:spcPct val="100000"/>
              </a:lnSpc>
              <a:spcBef>
                <a:spcPts val="50"/>
              </a:spcBef>
            </a:pPr>
            <a:endParaRPr sz="1250">
              <a:latin typeface="Arial"/>
              <a:cs typeface="Arial"/>
            </a:endParaRPr>
          </a:p>
          <a:p>
            <a:pPr algn="just" marL="469900" marR="6985" indent="-228600">
              <a:lnSpc>
                <a:spcPts val="1260"/>
              </a:lnSpc>
              <a:spcBef>
                <a:spcPts val="5"/>
              </a:spcBef>
              <a:buFont typeface="Symbol"/>
              <a:buChar char=""/>
              <a:tabLst>
                <a:tab pos="470534" algn="l"/>
              </a:tabLst>
            </a:pPr>
            <a:r>
              <a:rPr dirty="0" sz="1100" spc="-5">
                <a:latin typeface="Arial"/>
                <a:cs typeface="Arial"/>
              </a:rPr>
              <a:t>Production of a commodity at a lower opportunity cost than any of the alternative  commodities that could be</a:t>
            </a:r>
            <a:r>
              <a:rPr dirty="0" sz="1100" spc="10">
                <a:latin typeface="Arial"/>
                <a:cs typeface="Arial"/>
              </a:rPr>
              <a:t> </a:t>
            </a:r>
            <a:r>
              <a:rPr dirty="0" sz="1100" spc="-5">
                <a:latin typeface="Arial"/>
                <a:cs typeface="Arial"/>
              </a:rPr>
              <a:t>produced.</a:t>
            </a:r>
            <a:endParaRPr sz="1100">
              <a:latin typeface="Arial"/>
              <a:cs typeface="Arial"/>
            </a:endParaRPr>
          </a:p>
          <a:p>
            <a:pPr>
              <a:lnSpc>
                <a:spcPct val="100000"/>
              </a:lnSpc>
              <a:spcBef>
                <a:spcPts val="35"/>
              </a:spcBef>
              <a:buFont typeface="Symbol"/>
              <a:buChar char=""/>
            </a:pPr>
            <a:endParaRPr sz="1000">
              <a:latin typeface="Arial"/>
              <a:cs typeface="Arial"/>
            </a:endParaRPr>
          </a:p>
          <a:p>
            <a:pPr marL="12700">
              <a:lnSpc>
                <a:spcPct val="100000"/>
              </a:lnSpc>
            </a:pPr>
            <a:r>
              <a:rPr dirty="0" sz="1100" spc="-5" b="1">
                <a:latin typeface="Arial"/>
                <a:cs typeface="Arial"/>
              </a:rPr>
              <a:t>SPECIALIZATION</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Concentration of resources in the production of relatively few</a:t>
            </a:r>
            <a:r>
              <a:rPr dirty="0" sz="1100" spc="75">
                <a:latin typeface="Arial"/>
                <a:cs typeface="Arial"/>
              </a:rPr>
              <a:t> </a:t>
            </a:r>
            <a:r>
              <a:rPr dirty="0" sz="1100" spc="-5">
                <a:latin typeface="Arial"/>
                <a:cs typeface="Arial"/>
              </a:rPr>
              <a:t>commodities.</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TYPES OF COMPARATIVE</a:t>
            </a:r>
            <a:r>
              <a:rPr dirty="0" sz="1100" spc="20" b="1">
                <a:latin typeface="Arial"/>
                <a:cs typeface="Arial"/>
              </a:rPr>
              <a:t> </a:t>
            </a:r>
            <a:r>
              <a:rPr dirty="0" sz="1100" spc="-5" b="1">
                <a:latin typeface="Arial"/>
                <a:cs typeface="Arial"/>
              </a:rPr>
              <a:t>ADVANTAGE</a:t>
            </a:r>
            <a:endParaRPr sz="1100">
              <a:latin typeface="Arial"/>
              <a:cs typeface="Arial"/>
            </a:endParaRPr>
          </a:p>
          <a:p>
            <a:pPr>
              <a:lnSpc>
                <a:spcPct val="100000"/>
              </a:lnSpc>
              <a:spcBef>
                <a:spcPts val="20"/>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Natural comparative</a:t>
            </a:r>
            <a:r>
              <a:rPr dirty="0" sz="1100" spc="5">
                <a:latin typeface="Arial"/>
                <a:cs typeface="Arial"/>
              </a:rPr>
              <a:t> </a:t>
            </a:r>
            <a:r>
              <a:rPr dirty="0" sz="1100" spc="-5">
                <a:latin typeface="Arial"/>
                <a:cs typeface="Arial"/>
              </a:rPr>
              <a:t>advantage</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Acquired comparative</a:t>
            </a:r>
            <a:r>
              <a:rPr dirty="0" sz="1100" spc="5">
                <a:latin typeface="Arial"/>
                <a:cs typeface="Arial"/>
              </a:rPr>
              <a:t> </a:t>
            </a:r>
            <a:r>
              <a:rPr dirty="0" sz="1100" spc="-5">
                <a:latin typeface="Arial"/>
                <a:cs typeface="Arial"/>
              </a:rPr>
              <a:t>advantage</a:t>
            </a:r>
            <a:endParaRPr sz="1100">
              <a:latin typeface="Arial"/>
              <a:cs typeface="Arial"/>
            </a:endParaRPr>
          </a:p>
          <a:p>
            <a:pPr>
              <a:lnSpc>
                <a:spcPct val="100000"/>
              </a:lnSpc>
              <a:spcBef>
                <a:spcPts val="30"/>
              </a:spcBef>
              <a:buFont typeface="Symbol"/>
              <a:buChar char=""/>
            </a:pPr>
            <a:endParaRPr sz="1100">
              <a:latin typeface="Arial"/>
              <a:cs typeface="Arial"/>
            </a:endParaRPr>
          </a:p>
          <a:p>
            <a:pPr marL="12700" marR="6350">
              <a:lnSpc>
                <a:spcPts val="1270"/>
              </a:lnSpc>
            </a:pPr>
            <a:r>
              <a:rPr dirty="0" sz="1100" spc="-5" b="1">
                <a:latin typeface="Arial"/>
                <a:cs typeface="Arial"/>
              </a:rPr>
              <a:t>RELATIVE FACTOR ENDOWMENTS AND INTERNATIONAL SPECIALIZATION: THE  NEOCLASSICAL MODEL</a:t>
            </a:r>
            <a:endParaRPr sz="1100">
              <a:latin typeface="Arial"/>
              <a:cs typeface="Arial"/>
            </a:endParaRPr>
          </a:p>
          <a:p>
            <a:pPr>
              <a:lnSpc>
                <a:spcPct val="100000"/>
              </a:lnSpc>
              <a:spcBef>
                <a:spcPts val="30"/>
              </a:spcBef>
            </a:pPr>
            <a:endParaRPr sz="1200">
              <a:latin typeface="Arial"/>
              <a:cs typeface="Arial"/>
            </a:endParaRPr>
          </a:p>
          <a:p>
            <a:pPr algn="just" marL="469900" marR="5080" indent="-228600">
              <a:lnSpc>
                <a:spcPct val="95700"/>
              </a:lnSpc>
              <a:buFont typeface="Symbol"/>
              <a:buChar char=""/>
              <a:tabLst>
                <a:tab pos="470534" algn="l"/>
              </a:tabLst>
            </a:pPr>
            <a:r>
              <a:rPr dirty="0" sz="1100" spc="-5" b="1">
                <a:latin typeface="Arial"/>
                <a:cs typeface="Arial"/>
              </a:rPr>
              <a:t>Factor endowment trade theory: </a:t>
            </a:r>
            <a:r>
              <a:rPr dirty="0" sz="1100" spc="-5">
                <a:latin typeface="Arial"/>
                <a:cs typeface="Arial"/>
              </a:rPr>
              <a:t>The neoclassical model of free trade, which  postulates that countries will tend to specialize in the production of the commodities that  make use of their abundant factors of production (land, labor, capital,</a:t>
            </a:r>
            <a:r>
              <a:rPr dirty="0" sz="1100" spc="85">
                <a:latin typeface="Arial"/>
                <a:cs typeface="Arial"/>
              </a:rPr>
              <a:t> </a:t>
            </a:r>
            <a:r>
              <a:rPr dirty="0" sz="1100" spc="-5">
                <a:latin typeface="Arial"/>
                <a:cs typeface="Arial"/>
              </a:rPr>
              <a:t>etc.).</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The classical comparative advantage theory of free trade is a static model based strictly on a  one-variable-factor (labor cost), complete-specialization approach to demonstrating the gains  from trade. This nineteenth-century free-trade model, primarily associated with David Ricardo  and John Stuart Mill, was modified and refined in the twentieth century by two Swedish  economists, Eli Hecksher and </a:t>
            </a:r>
            <a:r>
              <a:rPr dirty="0" sz="1100">
                <a:latin typeface="Arial"/>
                <a:cs typeface="Arial"/>
              </a:rPr>
              <a:t>Bertil </a:t>
            </a:r>
            <a:r>
              <a:rPr dirty="0" sz="1100" spc="-5">
                <a:latin typeface="Arial"/>
                <a:cs typeface="Arial"/>
              </a:rPr>
              <a:t>Ohlin, to take into account differences in factor supplies  (mainly land, labor, and capital) on international</a:t>
            </a:r>
            <a:r>
              <a:rPr dirty="0" sz="1100" spc="30">
                <a:latin typeface="Arial"/>
                <a:cs typeface="Arial"/>
              </a:rPr>
              <a:t> </a:t>
            </a:r>
            <a:r>
              <a:rPr dirty="0" sz="1100" spc="-5">
                <a:latin typeface="Arial"/>
                <a:cs typeface="Arial"/>
              </a:rPr>
              <a:t>specialization.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The Hecksher-Ohlin neoclassical (or variable-proportions) factor endowment trade theory also  enables us to describe analytically the impact of economic growth on trade patterns and the  impact of trade on the structure of national economies and on the differential returns or  payments to various factors of</a:t>
            </a:r>
            <a:r>
              <a:rPr dirty="0" sz="1100" spc="25">
                <a:latin typeface="Arial"/>
                <a:cs typeface="Arial"/>
              </a:rPr>
              <a:t> </a:t>
            </a:r>
            <a:r>
              <a:rPr dirty="0" sz="1100" spc="-5">
                <a:latin typeface="Arial"/>
                <a:cs typeface="Arial"/>
              </a:rPr>
              <a:t>production.</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Unlike the classical labor cost model, however, where trade arises because of fixed but differing  labor productivities for different commodities in different countries, the neoclassical factor  endowment model assumes away inherent differences in relative labor productivity by  postulating that all countries have access to the same technological possibilities for all  commodities.</a:t>
            </a:r>
            <a:r>
              <a:rPr dirty="0" sz="1100" spc="30">
                <a:latin typeface="Arial"/>
                <a:cs typeface="Arial"/>
              </a:rPr>
              <a:t> </a:t>
            </a:r>
            <a:r>
              <a:rPr dirty="0" sz="1100" spc="-5">
                <a:latin typeface="Arial"/>
                <a:cs typeface="Arial"/>
              </a:rPr>
              <a:t>If</a:t>
            </a:r>
            <a:r>
              <a:rPr dirty="0" sz="1100" spc="35">
                <a:latin typeface="Arial"/>
                <a:cs typeface="Arial"/>
              </a:rPr>
              <a:t> </a:t>
            </a:r>
            <a:r>
              <a:rPr dirty="0" sz="1100" spc="-5">
                <a:latin typeface="Arial"/>
                <a:cs typeface="Arial"/>
              </a:rPr>
              <a:t>domestic</a:t>
            </a:r>
            <a:r>
              <a:rPr dirty="0" sz="1100" spc="35">
                <a:latin typeface="Arial"/>
                <a:cs typeface="Arial"/>
              </a:rPr>
              <a:t> </a:t>
            </a:r>
            <a:r>
              <a:rPr dirty="0" sz="1100" spc="-5">
                <a:latin typeface="Arial"/>
                <a:cs typeface="Arial"/>
              </a:rPr>
              <a:t>factor</a:t>
            </a:r>
            <a:r>
              <a:rPr dirty="0" sz="1100" spc="35">
                <a:latin typeface="Arial"/>
                <a:cs typeface="Arial"/>
              </a:rPr>
              <a:t> </a:t>
            </a:r>
            <a:r>
              <a:rPr dirty="0" sz="1100" spc="-5">
                <a:latin typeface="Arial"/>
                <a:cs typeface="Arial"/>
              </a:rPr>
              <a:t>prices</a:t>
            </a:r>
            <a:r>
              <a:rPr dirty="0" sz="1100" spc="35">
                <a:latin typeface="Arial"/>
                <a:cs typeface="Arial"/>
              </a:rPr>
              <a:t> </a:t>
            </a:r>
            <a:r>
              <a:rPr dirty="0" sz="1100" spc="-5">
                <a:latin typeface="Arial"/>
                <a:cs typeface="Arial"/>
              </a:rPr>
              <a:t>were</a:t>
            </a:r>
            <a:r>
              <a:rPr dirty="0" sz="1100" spc="3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same,</a:t>
            </a:r>
            <a:r>
              <a:rPr dirty="0" sz="1100" spc="30">
                <a:latin typeface="Arial"/>
                <a:cs typeface="Arial"/>
              </a:rPr>
              <a:t> </a:t>
            </a:r>
            <a:r>
              <a:rPr dirty="0" sz="1100" spc="-5">
                <a:latin typeface="Arial"/>
                <a:cs typeface="Arial"/>
              </a:rPr>
              <a:t>all</a:t>
            </a:r>
            <a:r>
              <a:rPr dirty="0" sz="1100" spc="35">
                <a:latin typeface="Arial"/>
                <a:cs typeface="Arial"/>
              </a:rPr>
              <a:t> </a:t>
            </a:r>
            <a:r>
              <a:rPr dirty="0" sz="1100" spc="-5">
                <a:latin typeface="Arial"/>
                <a:cs typeface="Arial"/>
              </a:rPr>
              <a:t>countries</a:t>
            </a:r>
            <a:r>
              <a:rPr dirty="0" sz="1100" spc="30">
                <a:latin typeface="Arial"/>
                <a:cs typeface="Arial"/>
              </a:rPr>
              <a:t> </a:t>
            </a:r>
            <a:r>
              <a:rPr dirty="0" sz="1100" spc="-5">
                <a:latin typeface="Arial"/>
                <a:cs typeface="Arial"/>
              </a:rPr>
              <a:t>would</a:t>
            </a:r>
            <a:r>
              <a:rPr dirty="0" sz="1100" spc="35">
                <a:latin typeface="Arial"/>
                <a:cs typeface="Arial"/>
              </a:rPr>
              <a:t> </a:t>
            </a:r>
            <a:r>
              <a:rPr dirty="0" sz="1100" spc="-5">
                <a:latin typeface="Arial"/>
                <a:cs typeface="Arial"/>
              </a:rPr>
              <a:t>use</a:t>
            </a:r>
            <a:r>
              <a:rPr dirty="0" sz="1100" spc="30">
                <a:latin typeface="Arial"/>
                <a:cs typeface="Arial"/>
              </a:rPr>
              <a:t> </a:t>
            </a:r>
            <a:r>
              <a:rPr dirty="0" sz="1100" spc="-5">
                <a:latin typeface="Arial"/>
                <a:cs typeface="Arial"/>
              </a:rPr>
              <a:t>identical</a:t>
            </a:r>
            <a:r>
              <a:rPr dirty="0" sz="1100" spc="30">
                <a:latin typeface="Arial"/>
                <a:cs typeface="Arial"/>
              </a:rPr>
              <a:t> </a:t>
            </a:r>
            <a:r>
              <a:rPr dirty="0" sz="1100" spc="-5">
                <a:latin typeface="Arial"/>
                <a:cs typeface="Arial"/>
              </a:rPr>
              <a:t>methods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241</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25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of production and </a:t>
            </a:r>
            <a:r>
              <a:rPr dirty="0" sz="1100">
                <a:latin typeface="Arial"/>
                <a:cs typeface="Arial"/>
              </a:rPr>
              <a:t>would </a:t>
            </a:r>
            <a:r>
              <a:rPr dirty="0" sz="1100" spc="-5">
                <a:latin typeface="Arial"/>
                <a:cs typeface="Arial"/>
              </a:rPr>
              <a:t>therefore have the </a:t>
            </a:r>
            <a:r>
              <a:rPr dirty="0" sz="1100">
                <a:latin typeface="Arial"/>
                <a:cs typeface="Arial"/>
              </a:rPr>
              <a:t>same </a:t>
            </a:r>
            <a:r>
              <a:rPr dirty="0" sz="1100" spc="-5">
                <a:latin typeface="Arial"/>
                <a:cs typeface="Arial"/>
              </a:rPr>
              <a:t>relative domestic product price ratios and  factor productivities. The basis for trade arises not because of inherent technological differences  in labor productivity for different commodities between different countries but because countries  are endowed with different factor supplies. Given relative factor endowments, relative factor  prices will differ (e.g., labor will be relatively cheap in labor-abundant countries), and so will  domestic commodity </a:t>
            </a:r>
            <a:r>
              <a:rPr dirty="0" sz="1100">
                <a:latin typeface="Arial"/>
                <a:cs typeface="Arial"/>
              </a:rPr>
              <a:t>price </a:t>
            </a:r>
            <a:r>
              <a:rPr dirty="0" sz="1100" spc="-5">
                <a:latin typeface="Arial"/>
                <a:cs typeface="Arial"/>
              </a:rPr>
              <a:t>ratios and factor combinations. Countries with cheap labor will have a  relative cost and price advantage over countries </a:t>
            </a:r>
            <a:r>
              <a:rPr dirty="0" sz="1100">
                <a:latin typeface="Arial"/>
                <a:cs typeface="Arial"/>
              </a:rPr>
              <a:t>with </a:t>
            </a:r>
            <a:r>
              <a:rPr dirty="0" sz="1100" spc="-5">
                <a:latin typeface="Arial"/>
                <a:cs typeface="Arial"/>
              </a:rPr>
              <a:t>relatively expensive labor in commodities  that make intensive use of labor (e.g., primary products). They should therefore focus on the  production of these labor-intensive products and export the surplus in return for imports of  capital intensive</a:t>
            </a:r>
            <a:r>
              <a:rPr dirty="0" sz="1100">
                <a:latin typeface="Arial"/>
                <a:cs typeface="Arial"/>
              </a:rPr>
              <a:t> </a:t>
            </a:r>
            <a:r>
              <a:rPr dirty="0" sz="1100" spc="-5">
                <a:latin typeface="Arial"/>
                <a:cs typeface="Arial"/>
              </a:rPr>
              <a:t>goods.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Conversely, countries well endowed with capital will have a relative cost and price advantage in  the production of manufactured goods, which tend to require relatively large inputs of capital  compared with labor. They can thus benefit from specialization in and export of capital-intensive  manufactures in return for imports of labor-intensive products from labor-abundant countries.  Trade therefore serves as a vehicle for a nation to capitalize on its abundant resources through  more intensive production and export of commodities that require large inputs of those  resources while relieving its factor shortage through the importation of commodities that use  large amounts of its relatively scarce</a:t>
            </a:r>
            <a:r>
              <a:rPr dirty="0" sz="1100" spc="25">
                <a:latin typeface="Arial"/>
                <a:cs typeface="Arial"/>
              </a:rPr>
              <a:t> </a:t>
            </a:r>
            <a:r>
              <a:rPr dirty="0" sz="1100" spc="-5">
                <a:latin typeface="Arial"/>
                <a:cs typeface="Arial"/>
              </a:rPr>
              <a:t>resources.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To summarize, the factor endowment theory </a:t>
            </a:r>
            <a:r>
              <a:rPr dirty="0" sz="1100" b="1">
                <a:latin typeface="Arial"/>
                <a:cs typeface="Arial"/>
              </a:rPr>
              <a:t>is </a:t>
            </a:r>
            <a:r>
              <a:rPr dirty="0" sz="1100" spc="-5" b="1">
                <a:latin typeface="Arial"/>
                <a:cs typeface="Arial"/>
              </a:rPr>
              <a:t>based on </a:t>
            </a:r>
            <a:r>
              <a:rPr dirty="0" sz="1100" b="1">
                <a:latin typeface="Arial"/>
                <a:cs typeface="Arial"/>
              </a:rPr>
              <a:t>two </a:t>
            </a:r>
            <a:r>
              <a:rPr dirty="0" sz="1100" spc="-5" b="1">
                <a:latin typeface="Arial"/>
                <a:cs typeface="Arial"/>
              </a:rPr>
              <a:t>crucial</a:t>
            </a:r>
            <a:r>
              <a:rPr dirty="0" sz="1100" spc="90" b="1">
                <a:latin typeface="Arial"/>
                <a:cs typeface="Arial"/>
              </a:rPr>
              <a:t> </a:t>
            </a:r>
            <a:r>
              <a:rPr dirty="0" sz="1100" spc="-5" b="1">
                <a:latin typeface="Arial"/>
                <a:cs typeface="Arial"/>
              </a:rPr>
              <a:t>propositions: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spcBef>
                <a:spcPts val="5"/>
              </a:spcBef>
              <a:buAutoNum type="arabicPeriod"/>
              <a:tabLst>
                <a:tab pos="209550" algn="l"/>
              </a:tabLst>
            </a:pPr>
            <a:r>
              <a:rPr dirty="0" sz="1100" spc="-5" b="1">
                <a:latin typeface="Arial"/>
                <a:cs typeface="Arial"/>
              </a:rPr>
              <a:t>Different products require productive factors in different relative proportions. </a:t>
            </a:r>
            <a:r>
              <a:rPr dirty="0" sz="1100">
                <a:latin typeface="Arial"/>
                <a:cs typeface="Arial"/>
              </a:rPr>
              <a:t>For  </a:t>
            </a:r>
            <a:r>
              <a:rPr dirty="0" sz="1100" spc="-5">
                <a:latin typeface="Arial"/>
                <a:cs typeface="Arial"/>
              </a:rPr>
              <a:t>example, agricultural products generally require relatively greater proportions of labor per unit of  capital than manufactured goods, which require more machine time (capital) per worker than  most primary products. The proportions in which factors are actually used to produce different  goods will depend on their relative prices. But no matter what factor prices may </a:t>
            </a:r>
            <a:r>
              <a:rPr dirty="0" sz="1100">
                <a:latin typeface="Arial"/>
                <a:cs typeface="Arial"/>
              </a:rPr>
              <a:t>be, </a:t>
            </a:r>
            <a:r>
              <a:rPr dirty="0" sz="1100" spc="-5">
                <a:latin typeface="Arial"/>
                <a:cs typeface="Arial"/>
              </a:rPr>
              <a:t>the factor  endowment model assumes that certain products will always be relatively more capital-intensive  while others will be relatively more labor-intensive. These relative factor intensities will be no  different in India than in the United States; primary products will be the relatively labor-intensive  commodities compared with secondary manufactured goods in both India and the United  States.</a:t>
            </a:r>
            <a:endParaRPr sz="1100">
              <a:latin typeface="Arial"/>
              <a:cs typeface="Arial"/>
            </a:endParaRPr>
          </a:p>
          <a:p>
            <a:pPr>
              <a:lnSpc>
                <a:spcPct val="100000"/>
              </a:lnSpc>
              <a:buFont typeface="Arial"/>
              <a:buAutoNum type="arabicPeriod"/>
            </a:pPr>
            <a:endParaRPr sz="1100">
              <a:latin typeface="Arial"/>
              <a:cs typeface="Arial"/>
            </a:endParaRPr>
          </a:p>
          <a:p>
            <a:pPr algn="just" marL="12700" marR="5080">
              <a:lnSpc>
                <a:spcPct val="95800"/>
              </a:lnSpc>
              <a:buAutoNum type="arabicPeriod"/>
              <a:tabLst>
                <a:tab pos="177800" algn="l"/>
              </a:tabLst>
            </a:pPr>
            <a:r>
              <a:rPr dirty="0" sz="1100" spc="-5" b="1">
                <a:latin typeface="Arial"/>
                <a:cs typeface="Arial"/>
              </a:rPr>
              <a:t>Countries have different endowments of factors of production. </a:t>
            </a:r>
            <a:r>
              <a:rPr dirty="0" sz="1100" spc="-5">
                <a:latin typeface="Arial"/>
                <a:cs typeface="Arial"/>
              </a:rPr>
              <a:t>Some countries, like the  United States, have large amounts of capital per worker </a:t>
            </a:r>
            <a:r>
              <a:rPr dirty="0" sz="1100">
                <a:latin typeface="Arial"/>
                <a:cs typeface="Arial"/>
              </a:rPr>
              <a:t>and </a:t>
            </a:r>
            <a:r>
              <a:rPr dirty="0" sz="1100" spc="-5">
                <a:latin typeface="Arial"/>
                <a:cs typeface="Arial"/>
              </a:rPr>
              <a:t>are therefore designated capital-  abundant countries. Others, like India, Egypt, or Colombia, have little capital and much labor  and are designated labor-abundant countries. In general, developed countries are relatively  capital-abundant (one could also add that they are well endowed with skilled labor), while most  developing countries are</a:t>
            </a:r>
            <a:r>
              <a:rPr dirty="0" sz="1100" spc="10">
                <a:latin typeface="Arial"/>
                <a:cs typeface="Arial"/>
              </a:rPr>
              <a:t> </a:t>
            </a:r>
            <a:r>
              <a:rPr dirty="0" sz="1100" spc="-5">
                <a:latin typeface="Arial"/>
                <a:cs typeface="Arial"/>
              </a:rPr>
              <a:t>labor-abundant.</a:t>
            </a:r>
            <a:endParaRPr sz="1100">
              <a:latin typeface="Arial"/>
              <a:cs typeface="Arial"/>
            </a:endParaRPr>
          </a:p>
          <a:p>
            <a:pPr>
              <a:lnSpc>
                <a:spcPct val="100000"/>
              </a:lnSpc>
            </a:pPr>
            <a:endParaRPr sz="1100">
              <a:latin typeface="Arial"/>
              <a:cs typeface="Arial"/>
            </a:endParaRPr>
          </a:p>
          <a:p>
            <a:pPr algn="just" marL="12700" marR="5715">
              <a:lnSpc>
                <a:spcPct val="95800"/>
              </a:lnSpc>
              <a:spcBef>
                <a:spcPts val="5"/>
              </a:spcBef>
            </a:pPr>
            <a:r>
              <a:rPr dirty="0" sz="1100" spc="-5">
                <a:latin typeface="Arial"/>
                <a:cs typeface="Arial"/>
              </a:rPr>
              <a:t>The factor endowment theory </a:t>
            </a:r>
            <a:r>
              <a:rPr dirty="0" sz="1100">
                <a:latin typeface="Arial"/>
                <a:cs typeface="Arial"/>
              </a:rPr>
              <a:t>goes </a:t>
            </a:r>
            <a:r>
              <a:rPr dirty="0" sz="1100" spc="-5">
                <a:latin typeface="Arial"/>
                <a:cs typeface="Arial"/>
              </a:rPr>
              <a:t>on to </a:t>
            </a:r>
            <a:r>
              <a:rPr dirty="0" sz="1100">
                <a:latin typeface="Arial"/>
                <a:cs typeface="Arial"/>
              </a:rPr>
              <a:t>argue </a:t>
            </a:r>
            <a:r>
              <a:rPr dirty="0" sz="1100" spc="-5">
                <a:latin typeface="Arial"/>
                <a:cs typeface="Arial"/>
              </a:rPr>
              <a:t>that capital-abundant countries will tend to  specialize in such products as automobiles, aircraft, sophisticated electronics, communication  goods, and computers, which use capital intensively in their technology of production. They will  export some of these capital-intensive products in exchange for the labor- or land-intensive  products like food, raw materials, and minerals that can best be produced by countries that are  relatively </a:t>
            </a:r>
            <a:r>
              <a:rPr dirty="0" sz="1100">
                <a:latin typeface="Arial"/>
                <a:cs typeface="Arial"/>
              </a:rPr>
              <a:t>well </a:t>
            </a:r>
            <a:r>
              <a:rPr dirty="0" sz="1100" spc="-5">
                <a:latin typeface="Arial"/>
                <a:cs typeface="Arial"/>
              </a:rPr>
              <a:t>endowed with labor or</a:t>
            </a:r>
            <a:r>
              <a:rPr dirty="0" sz="1100" spc="15">
                <a:latin typeface="Arial"/>
                <a:cs typeface="Arial"/>
              </a:rPr>
              <a:t> </a:t>
            </a:r>
            <a:r>
              <a:rPr dirty="0" sz="1100" spc="-5">
                <a:latin typeface="Arial"/>
                <a:cs typeface="Arial"/>
              </a:rPr>
              <a:t>land.</a:t>
            </a:r>
            <a:endParaRPr sz="1100">
              <a:latin typeface="Arial"/>
              <a:cs typeface="Arial"/>
            </a:endParaRPr>
          </a:p>
          <a:p>
            <a:pPr>
              <a:lnSpc>
                <a:spcPct val="100000"/>
              </a:lnSpc>
              <a:spcBef>
                <a:spcPts val="20"/>
              </a:spcBef>
            </a:pPr>
            <a:endParaRPr sz="1100">
              <a:latin typeface="Arial"/>
              <a:cs typeface="Arial"/>
            </a:endParaRPr>
          </a:p>
          <a:p>
            <a:pPr algn="just" marL="12700" marR="5715">
              <a:lnSpc>
                <a:spcPts val="1270"/>
              </a:lnSpc>
              <a:spcBef>
                <a:spcPts val="5"/>
              </a:spcBef>
            </a:pPr>
            <a:r>
              <a:rPr dirty="0" sz="1100" spc="-5">
                <a:latin typeface="Arial"/>
                <a:cs typeface="Arial"/>
              </a:rPr>
              <a:t>This theory, which played a predominant role in the early literature and policy advice on </a:t>
            </a:r>
            <a:r>
              <a:rPr dirty="0" sz="1100">
                <a:latin typeface="Arial"/>
                <a:cs typeface="Arial"/>
              </a:rPr>
              <a:t>trade  </a:t>
            </a:r>
            <a:r>
              <a:rPr dirty="0" sz="1100" spc="-5">
                <a:latin typeface="Arial"/>
                <a:cs typeface="Arial"/>
              </a:rPr>
              <a:t>and development, encouraged developing countries to focus on their labor- and land-intensive  primary-product exports. It was argued that by trading these primary commodities for the  manufactured</a:t>
            </a:r>
            <a:r>
              <a:rPr dirty="0" sz="1100" spc="135">
                <a:latin typeface="Arial"/>
                <a:cs typeface="Arial"/>
              </a:rPr>
              <a:t> </a:t>
            </a:r>
            <a:r>
              <a:rPr dirty="0" sz="1100" spc="-5">
                <a:latin typeface="Arial"/>
                <a:cs typeface="Arial"/>
              </a:rPr>
              <a:t>goods</a:t>
            </a:r>
            <a:r>
              <a:rPr dirty="0" sz="1100" spc="140">
                <a:latin typeface="Arial"/>
                <a:cs typeface="Arial"/>
              </a:rPr>
              <a:t> </a:t>
            </a:r>
            <a:r>
              <a:rPr dirty="0" sz="1100" spc="-5">
                <a:latin typeface="Arial"/>
                <a:cs typeface="Arial"/>
              </a:rPr>
              <a:t>that</a:t>
            </a:r>
            <a:r>
              <a:rPr dirty="0" sz="1100" spc="135">
                <a:latin typeface="Arial"/>
                <a:cs typeface="Arial"/>
              </a:rPr>
              <a:t> </a:t>
            </a:r>
            <a:r>
              <a:rPr dirty="0" sz="1100" spc="-5">
                <a:latin typeface="Arial"/>
                <a:cs typeface="Arial"/>
              </a:rPr>
              <a:t>developed</a:t>
            </a:r>
            <a:r>
              <a:rPr dirty="0" sz="1100" spc="140">
                <a:latin typeface="Arial"/>
                <a:cs typeface="Arial"/>
              </a:rPr>
              <a:t> </a:t>
            </a:r>
            <a:r>
              <a:rPr dirty="0" sz="1100" spc="-5">
                <a:latin typeface="Arial"/>
                <a:cs typeface="Arial"/>
              </a:rPr>
              <a:t>countries</a:t>
            </a:r>
            <a:r>
              <a:rPr dirty="0" sz="1100" spc="135">
                <a:latin typeface="Arial"/>
                <a:cs typeface="Arial"/>
              </a:rPr>
              <a:t> </a:t>
            </a:r>
            <a:r>
              <a:rPr dirty="0" sz="1100" spc="-5">
                <a:latin typeface="Arial"/>
                <a:cs typeface="Arial"/>
              </a:rPr>
              <a:t>were</a:t>
            </a:r>
            <a:r>
              <a:rPr dirty="0" sz="1100" spc="135">
                <a:latin typeface="Arial"/>
                <a:cs typeface="Arial"/>
              </a:rPr>
              <a:t> </a:t>
            </a:r>
            <a:r>
              <a:rPr dirty="0" sz="1100" spc="-5">
                <a:latin typeface="Arial"/>
                <a:cs typeface="Arial"/>
              </a:rPr>
              <a:t>theoretically</a:t>
            </a:r>
            <a:r>
              <a:rPr dirty="0" sz="1100" spc="140">
                <a:latin typeface="Arial"/>
                <a:cs typeface="Arial"/>
              </a:rPr>
              <a:t> </a:t>
            </a:r>
            <a:r>
              <a:rPr dirty="0" sz="1100" spc="-5">
                <a:latin typeface="Arial"/>
                <a:cs typeface="Arial"/>
              </a:rPr>
              <a:t>best</a:t>
            </a:r>
            <a:r>
              <a:rPr dirty="0" sz="1100" spc="135">
                <a:latin typeface="Arial"/>
                <a:cs typeface="Arial"/>
              </a:rPr>
              <a:t> </a:t>
            </a:r>
            <a:r>
              <a:rPr dirty="0" sz="1100" spc="-5">
                <a:latin typeface="Arial"/>
                <a:cs typeface="Arial"/>
              </a:rPr>
              <a:t>suited</a:t>
            </a:r>
            <a:r>
              <a:rPr dirty="0" sz="1100" spc="140">
                <a:latin typeface="Arial"/>
                <a:cs typeface="Arial"/>
              </a:rPr>
              <a:t> </a:t>
            </a:r>
            <a:r>
              <a:rPr dirty="0" sz="1100" spc="-5">
                <a:latin typeface="Arial"/>
                <a:cs typeface="Arial"/>
              </a:rPr>
              <a:t>to</a:t>
            </a:r>
            <a:r>
              <a:rPr dirty="0" sz="1100" spc="140">
                <a:latin typeface="Arial"/>
                <a:cs typeface="Arial"/>
              </a:rPr>
              <a:t> </a:t>
            </a:r>
            <a:r>
              <a:rPr dirty="0" sz="1100" spc="-5">
                <a:latin typeface="Arial"/>
                <a:cs typeface="Arial"/>
              </a:rPr>
              <a:t>produce,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242</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2602230"/>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developing nations could realize the enormous potential benefits to be had from free trade with  the richer nations of the world. Little attention was given in this literature to diversification as an  objective or the productivity benefits of expanding manufactures’</a:t>
            </a:r>
            <a:r>
              <a:rPr dirty="0" sz="1100" spc="55">
                <a:latin typeface="Arial"/>
                <a:cs typeface="Arial"/>
              </a:rPr>
              <a:t> </a:t>
            </a:r>
            <a:r>
              <a:rPr dirty="0" sz="1100" spc="-5">
                <a:latin typeface="Arial"/>
                <a:cs typeface="Arial"/>
              </a:rPr>
              <a:t>share.</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a:latin typeface="Arial"/>
                <a:cs typeface="Arial"/>
              </a:rPr>
              <a:t>The mechanism whereby the benefits of trade are transmitted across national boundaries under  the factor endowment approach is analogous to that of the classical labor cost approach.  However, in the factor endowment </a:t>
            </a:r>
            <a:r>
              <a:rPr dirty="0" sz="1100">
                <a:latin typeface="Arial"/>
                <a:cs typeface="Arial"/>
              </a:rPr>
              <a:t>case, </a:t>
            </a:r>
            <a:r>
              <a:rPr dirty="0" sz="1100" spc="-5">
                <a:latin typeface="Arial"/>
                <a:cs typeface="Arial"/>
              </a:rPr>
              <a:t>with the possibility of differing factor combinations for  producing different commodities, nations are assumed to be operating initially at some point on  their concave (or increasing opportunity cost) production possibility frontier determined by  domestic demand conditions. For example, consider the standard two-country, two-commodity  model. Let the two countries be “Less Developed World” and “Rest of World” and the two  commodities be agricultural goods and manufactured goods. Figure 12.1 portrays the  theoretical benefits of free trade </a:t>
            </a:r>
            <a:r>
              <a:rPr dirty="0" sz="1100">
                <a:latin typeface="Arial"/>
                <a:cs typeface="Arial"/>
              </a:rPr>
              <a:t>with </a:t>
            </a:r>
            <a:r>
              <a:rPr dirty="0" sz="1100" spc="-5">
                <a:latin typeface="Arial"/>
                <a:cs typeface="Arial"/>
              </a:rPr>
              <a:t>Less Developed World’s domestic (no-trade) production  possibility frontier shown in Figure 12.1a and Rest of World’s frontier in Figure 12.1b. Point A on  the Less Developed World production possibility frontier PP in Figure 12.1a provides the  illustration. With full employment of all resources and under perfectly competitive</a:t>
            </a:r>
            <a:r>
              <a:rPr dirty="0" sz="1100" spc="225">
                <a:latin typeface="Arial"/>
                <a:cs typeface="Arial"/>
              </a:rPr>
              <a:t> </a:t>
            </a:r>
            <a:r>
              <a:rPr dirty="0" sz="1100" spc="-5">
                <a:latin typeface="Arial"/>
                <a:cs typeface="Arial"/>
              </a:rPr>
              <a:t>assumptions,</a:t>
            </a:r>
            <a:endParaRPr sz="1100">
              <a:latin typeface="Arial"/>
              <a:cs typeface="Arial"/>
            </a:endParaRPr>
          </a:p>
        </p:txBody>
      </p:sp>
      <p:sp>
        <p:nvSpPr>
          <p:cNvPr id="7" name="object 7"/>
          <p:cNvSpPr/>
          <p:nvPr/>
        </p:nvSpPr>
        <p:spPr>
          <a:xfrm>
            <a:off x="1066800" y="3556253"/>
            <a:ext cx="5619750" cy="544830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243</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3796284" y="2679954"/>
            <a:ext cx="438150" cy="333755"/>
          </a:xfrm>
          <a:prstGeom prst="rect">
            <a:avLst/>
          </a:prstGeom>
          <a:blipFill>
            <a:blip r:embed="rId2" cstate="print"/>
            <a:stretch>
              <a:fillRect/>
            </a:stretch>
          </a:blipFill>
        </p:spPr>
        <p:txBody>
          <a:bodyPr wrap="square" lIns="0" tIns="0" rIns="0" bIns="0" rtlCol="0"/>
          <a:lstStyle/>
          <a:p/>
        </p:txBody>
      </p:sp>
      <p:sp>
        <p:nvSpPr>
          <p:cNvPr id="7" name="object 7"/>
          <p:cNvSpPr/>
          <p:nvPr/>
        </p:nvSpPr>
        <p:spPr>
          <a:xfrm>
            <a:off x="2394966" y="3203448"/>
            <a:ext cx="438150" cy="333755"/>
          </a:xfrm>
          <a:prstGeom prst="rect">
            <a:avLst/>
          </a:prstGeom>
          <a:blipFill>
            <a:blip r:embed="rId3" cstate="print"/>
            <a:stretch>
              <a:fillRect/>
            </a:stretch>
          </a:blipFill>
        </p:spPr>
        <p:txBody>
          <a:bodyPr wrap="square" lIns="0" tIns="0" rIns="0" bIns="0" rtlCol="0"/>
          <a:lstStyle/>
          <a:p/>
        </p:txBody>
      </p:sp>
      <p:sp>
        <p:nvSpPr>
          <p:cNvPr id="8" name="object 8"/>
          <p:cNvSpPr/>
          <p:nvPr/>
        </p:nvSpPr>
        <p:spPr>
          <a:xfrm>
            <a:off x="4549902" y="3566159"/>
            <a:ext cx="438150" cy="333756"/>
          </a:xfrm>
          <a:prstGeom prst="rect">
            <a:avLst/>
          </a:prstGeom>
          <a:blipFill>
            <a:blip r:embed="rId4" cstate="print"/>
            <a:stretch>
              <a:fillRect/>
            </a:stretch>
          </a:blipFill>
        </p:spPr>
        <p:txBody>
          <a:bodyPr wrap="square" lIns="0" tIns="0" rIns="0" bIns="0" rtlCol="0"/>
          <a:lstStyle/>
          <a:p/>
        </p:txBody>
      </p:sp>
      <p:sp>
        <p:nvSpPr>
          <p:cNvPr id="9" name="object 9"/>
          <p:cNvSpPr/>
          <p:nvPr/>
        </p:nvSpPr>
        <p:spPr>
          <a:xfrm>
            <a:off x="1256538" y="4893564"/>
            <a:ext cx="438150" cy="333756"/>
          </a:xfrm>
          <a:prstGeom prst="rect">
            <a:avLst/>
          </a:prstGeom>
          <a:blipFill>
            <a:blip r:embed="rId5" cstate="print"/>
            <a:stretch>
              <a:fillRect/>
            </a:stretch>
          </a:blipFill>
        </p:spPr>
        <p:txBody>
          <a:bodyPr wrap="square" lIns="0" tIns="0" rIns="0" bIns="0" rtlCol="0"/>
          <a:lstStyle/>
          <a:p/>
        </p:txBody>
      </p:sp>
      <p:sp>
        <p:nvSpPr>
          <p:cNvPr id="10" name="object 10"/>
          <p:cNvSpPr/>
          <p:nvPr/>
        </p:nvSpPr>
        <p:spPr>
          <a:xfrm>
            <a:off x="1271777" y="5577840"/>
            <a:ext cx="438149" cy="333756"/>
          </a:xfrm>
          <a:prstGeom prst="rect">
            <a:avLst/>
          </a:prstGeom>
          <a:blipFill>
            <a:blip r:embed="rId6" cstate="print"/>
            <a:stretch>
              <a:fillRect/>
            </a:stretch>
          </a:blipFill>
        </p:spPr>
        <p:txBody>
          <a:bodyPr wrap="square" lIns="0" tIns="0" rIns="0" bIns="0" rtlCol="0"/>
          <a:lstStyle/>
          <a:p/>
        </p:txBody>
      </p:sp>
      <p:sp>
        <p:nvSpPr>
          <p:cNvPr id="11" name="object 11"/>
          <p:cNvSpPr txBox="1"/>
          <p:nvPr/>
        </p:nvSpPr>
        <p:spPr>
          <a:xfrm>
            <a:off x="901686" y="891794"/>
            <a:ext cx="5970905" cy="7951470"/>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Less Developed World will be producing and consuming at point A, where the relative price  ratio, </a:t>
            </a:r>
            <a:r>
              <a:rPr dirty="0" sz="1100" spc="-5" b="1">
                <a:latin typeface="Arial"/>
                <a:cs typeface="Arial"/>
              </a:rPr>
              <a:t>Pa/Pm</a:t>
            </a:r>
            <a:r>
              <a:rPr dirty="0" sz="1100" spc="-5">
                <a:latin typeface="Arial"/>
                <a:cs typeface="Arial"/>
              </a:rPr>
              <a:t>, will be given by the </a:t>
            </a:r>
            <a:r>
              <a:rPr dirty="0" sz="1100">
                <a:latin typeface="Arial"/>
                <a:cs typeface="Arial"/>
              </a:rPr>
              <a:t>slope </a:t>
            </a:r>
            <a:r>
              <a:rPr dirty="0" sz="1100" spc="-5">
                <a:latin typeface="Arial"/>
                <a:cs typeface="Arial"/>
              </a:rPr>
              <a:t>of the dotted line, </a:t>
            </a:r>
            <a:r>
              <a:rPr dirty="0" sz="1100" spc="-5" b="1">
                <a:latin typeface="Arial"/>
                <a:cs typeface="Arial"/>
              </a:rPr>
              <a:t>(Pa/Pm)L</a:t>
            </a:r>
            <a:r>
              <a:rPr dirty="0" sz="1100" spc="-5">
                <a:latin typeface="Arial"/>
                <a:cs typeface="Arial"/>
              </a:rPr>
              <a:t>, at point A. Similarly, Rest  of World may be producing and consuming at point A' in Figure 12.1b, with a domestic price  ratio, (</a:t>
            </a:r>
            <a:r>
              <a:rPr dirty="0" sz="1100" spc="-5" b="1">
                <a:latin typeface="Arial"/>
                <a:cs typeface="Arial"/>
              </a:rPr>
              <a:t>Pa/Pm</a:t>
            </a:r>
            <a:r>
              <a:rPr dirty="0" sz="1100" spc="-5">
                <a:latin typeface="Arial"/>
                <a:cs typeface="Arial"/>
              </a:rPr>
              <a:t>) </a:t>
            </a:r>
            <a:r>
              <a:rPr dirty="0" sz="1100" spc="-5" b="1">
                <a:latin typeface="Arial"/>
                <a:cs typeface="Arial"/>
              </a:rPr>
              <a:t>R</a:t>
            </a:r>
            <a:r>
              <a:rPr dirty="0" sz="1100" spc="-5">
                <a:latin typeface="Arial"/>
                <a:cs typeface="Arial"/>
              </a:rPr>
              <a:t>, that differs (agricultural goods are relatively more costly, or conversely,  manufactured goods are relatively cheaper) from that of Less Developed World. Note that with a  closed economy, both countries will be producing both commodities. However, Less Developed  World, being poorer, will produce a greater proportion of food products in its (smaller) total  output.</a:t>
            </a:r>
            <a:endParaRPr sz="1100">
              <a:latin typeface="Arial"/>
              <a:cs typeface="Arial"/>
            </a:endParaRPr>
          </a:p>
          <a:p>
            <a:pPr>
              <a:lnSpc>
                <a:spcPct val="100000"/>
              </a:lnSpc>
              <a:spcBef>
                <a:spcPts val="25"/>
              </a:spcBef>
            </a:pPr>
            <a:endParaRPr sz="1100">
              <a:latin typeface="Arial"/>
              <a:cs typeface="Arial"/>
            </a:endParaRPr>
          </a:p>
          <a:p>
            <a:pPr marL="12700" marR="6985">
              <a:lnSpc>
                <a:spcPts val="1270"/>
              </a:lnSpc>
            </a:pPr>
            <a:r>
              <a:rPr dirty="0" sz="1100" spc="-5">
                <a:latin typeface="Arial"/>
                <a:cs typeface="Arial"/>
              </a:rPr>
              <a:t>The relative difference in costs of production and prices at points A </a:t>
            </a:r>
            <a:r>
              <a:rPr dirty="0" sz="1100">
                <a:latin typeface="Arial"/>
                <a:cs typeface="Arial"/>
              </a:rPr>
              <a:t>and </a:t>
            </a:r>
            <a:r>
              <a:rPr dirty="0" sz="1100" spc="-5">
                <a:latin typeface="Arial"/>
                <a:cs typeface="Arial"/>
              </a:rPr>
              <a:t>A' (i.e., </a:t>
            </a:r>
            <a:r>
              <a:rPr dirty="0" sz="1100">
                <a:latin typeface="Arial"/>
                <a:cs typeface="Arial"/>
              </a:rPr>
              <a:t>their </a:t>
            </a:r>
            <a:r>
              <a:rPr dirty="0" sz="1100" spc="-5">
                <a:latin typeface="Arial"/>
                <a:cs typeface="Arial"/>
              </a:rPr>
              <a:t>different  slopes)</a:t>
            </a:r>
            <a:r>
              <a:rPr dirty="0" sz="1100" spc="30">
                <a:latin typeface="Arial"/>
                <a:cs typeface="Arial"/>
              </a:rPr>
              <a:t> </a:t>
            </a:r>
            <a:r>
              <a:rPr dirty="0" sz="1100" spc="-5">
                <a:latin typeface="Arial"/>
                <a:cs typeface="Arial"/>
              </a:rPr>
              <a:t>gives</a:t>
            </a:r>
            <a:r>
              <a:rPr dirty="0" sz="1100" spc="30">
                <a:latin typeface="Arial"/>
                <a:cs typeface="Arial"/>
              </a:rPr>
              <a:t> </a:t>
            </a:r>
            <a:r>
              <a:rPr dirty="0" sz="1100" spc="-5">
                <a:latin typeface="Arial"/>
                <a:cs typeface="Arial"/>
              </a:rPr>
              <a:t>rise</a:t>
            </a:r>
            <a:r>
              <a:rPr dirty="0" sz="1100" spc="30">
                <a:latin typeface="Arial"/>
                <a:cs typeface="Arial"/>
              </a:rPr>
              <a:t> </a:t>
            </a:r>
            <a:r>
              <a:rPr dirty="0" sz="1100" spc="-5">
                <a:latin typeface="Arial"/>
                <a:cs typeface="Arial"/>
              </a:rPr>
              <a:t>once</a:t>
            </a:r>
            <a:r>
              <a:rPr dirty="0" sz="1100" spc="30">
                <a:latin typeface="Arial"/>
                <a:cs typeface="Arial"/>
              </a:rPr>
              <a:t> </a:t>
            </a:r>
            <a:r>
              <a:rPr dirty="0" sz="1100" spc="-5">
                <a:latin typeface="Arial"/>
                <a:cs typeface="Arial"/>
              </a:rPr>
              <a:t>again</a:t>
            </a:r>
            <a:r>
              <a:rPr dirty="0" sz="1100" spc="30">
                <a:latin typeface="Arial"/>
                <a:cs typeface="Arial"/>
              </a:rPr>
              <a:t> </a:t>
            </a:r>
            <a:r>
              <a:rPr dirty="0" sz="1100" spc="-5">
                <a:latin typeface="Arial"/>
                <a:cs typeface="Arial"/>
              </a:rPr>
              <a:t>to</a:t>
            </a:r>
            <a:r>
              <a:rPr dirty="0" sz="1100" spc="35">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possibilities</a:t>
            </a:r>
            <a:r>
              <a:rPr dirty="0" sz="1100" spc="30">
                <a:latin typeface="Arial"/>
                <a:cs typeface="Arial"/>
              </a:rPr>
              <a:t> </a:t>
            </a:r>
            <a:r>
              <a:rPr dirty="0" sz="1100" spc="-5">
                <a:latin typeface="Arial"/>
                <a:cs typeface="Arial"/>
              </a:rPr>
              <a:t>of</a:t>
            </a:r>
            <a:r>
              <a:rPr dirty="0" sz="1100" spc="30">
                <a:latin typeface="Arial"/>
                <a:cs typeface="Arial"/>
              </a:rPr>
              <a:t> </a:t>
            </a:r>
            <a:r>
              <a:rPr dirty="0" sz="1100" spc="-5">
                <a:latin typeface="Arial"/>
                <a:cs typeface="Arial"/>
              </a:rPr>
              <a:t>profitable</a:t>
            </a:r>
            <a:r>
              <a:rPr dirty="0" sz="1100" spc="35">
                <a:latin typeface="Arial"/>
                <a:cs typeface="Arial"/>
              </a:rPr>
              <a:t> </a:t>
            </a:r>
            <a:r>
              <a:rPr dirty="0" sz="1100" spc="-5">
                <a:latin typeface="Arial"/>
                <a:cs typeface="Arial"/>
              </a:rPr>
              <a:t>trade.</a:t>
            </a:r>
            <a:r>
              <a:rPr dirty="0" sz="1100" spc="35">
                <a:latin typeface="Arial"/>
                <a:cs typeface="Arial"/>
              </a:rPr>
              <a:t> </a:t>
            </a:r>
            <a:r>
              <a:rPr dirty="0" sz="1100" spc="-5">
                <a:latin typeface="Arial"/>
                <a:cs typeface="Arial"/>
              </a:rPr>
              <a:t>As</a:t>
            </a:r>
            <a:r>
              <a:rPr dirty="0" sz="1100" spc="30">
                <a:latin typeface="Arial"/>
                <a:cs typeface="Arial"/>
              </a:rPr>
              <a:t> </a:t>
            </a:r>
            <a:r>
              <a:rPr dirty="0" sz="1100" spc="-5">
                <a:latin typeface="Arial"/>
                <a:cs typeface="Arial"/>
              </a:rPr>
              <a:t>in</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classical</a:t>
            </a:r>
            <a:r>
              <a:rPr dirty="0" sz="1100" spc="30">
                <a:latin typeface="Arial"/>
                <a:cs typeface="Arial"/>
              </a:rPr>
              <a:t> </a:t>
            </a:r>
            <a:r>
              <a:rPr dirty="0" sz="1100" spc="-5">
                <a:latin typeface="Arial"/>
                <a:cs typeface="Arial"/>
              </a:rPr>
              <a:t>labor</a:t>
            </a:r>
            <a:r>
              <a:rPr dirty="0" sz="1100" spc="30">
                <a:latin typeface="Arial"/>
                <a:cs typeface="Arial"/>
              </a:rPr>
              <a:t> </a:t>
            </a:r>
            <a:r>
              <a:rPr dirty="0" sz="1100" spc="-5">
                <a:latin typeface="Arial"/>
                <a:cs typeface="Arial"/>
              </a:rPr>
              <a:t>cost</a:t>
            </a:r>
            <a:endParaRPr sz="1100">
              <a:latin typeface="Arial"/>
              <a:cs typeface="Arial"/>
            </a:endParaRPr>
          </a:p>
          <a:p>
            <a:pPr>
              <a:lnSpc>
                <a:spcPct val="100000"/>
              </a:lnSpc>
              <a:spcBef>
                <a:spcPts val="10"/>
              </a:spcBef>
            </a:pPr>
            <a:endParaRPr sz="1300">
              <a:latin typeface="Arial"/>
              <a:cs typeface="Arial"/>
            </a:endParaRPr>
          </a:p>
          <a:p>
            <a:pPr marL="12700">
              <a:lnSpc>
                <a:spcPts val="1290"/>
              </a:lnSpc>
              <a:tabLst>
                <a:tab pos="3380104" algn="l"/>
              </a:tabLst>
            </a:pPr>
            <a:r>
              <a:rPr dirty="0" sz="1100" spc="-5">
                <a:latin typeface="Arial"/>
                <a:cs typeface="Arial"/>
              </a:rPr>
              <a:t>model, the international free-trade </a:t>
            </a:r>
            <a:r>
              <a:rPr dirty="0" sz="1100" spc="95">
                <a:latin typeface="Arial"/>
                <a:cs typeface="Arial"/>
              </a:rPr>
              <a:t> </a:t>
            </a:r>
            <a:r>
              <a:rPr dirty="0" sz="1100" spc="-5">
                <a:latin typeface="Arial"/>
                <a:cs typeface="Arial"/>
              </a:rPr>
              <a:t>price</a:t>
            </a:r>
            <a:r>
              <a:rPr dirty="0" sz="1100" spc="95">
                <a:latin typeface="Arial"/>
                <a:cs typeface="Arial"/>
              </a:rPr>
              <a:t> </a:t>
            </a:r>
            <a:r>
              <a:rPr dirty="0" sz="1100" spc="-5">
                <a:latin typeface="Arial"/>
                <a:cs typeface="Arial"/>
              </a:rPr>
              <a:t>ratio</a:t>
            </a:r>
            <a:r>
              <a:rPr dirty="0" sz="1100" spc="-5" b="1">
                <a:latin typeface="Arial"/>
                <a:cs typeface="Arial"/>
              </a:rPr>
              <a:t>,	</a:t>
            </a:r>
            <a:r>
              <a:rPr dirty="0" sz="1100" spc="-5">
                <a:latin typeface="Arial"/>
                <a:cs typeface="Arial"/>
              </a:rPr>
              <a:t>will settle somewhere between </a:t>
            </a:r>
            <a:r>
              <a:rPr dirty="0" sz="1100" spc="30">
                <a:latin typeface="Arial"/>
                <a:cs typeface="Arial"/>
              </a:rPr>
              <a:t> </a:t>
            </a:r>
            <a:r>
              <a:rPr dirty="0" sz="1100" spc="-5" b="1">
                <a:latin typeface="Arial"/>
                <a:cs typeface="Arial"/>
              </a:rPr>
              <a:t>(Pa/Pm)L</a:t>
            </a:r>
            <a:endParaRPr sz="1100">
              <a:latin typeface="Arial"/>
              <a:cs typeface="Arial"/>
            </a:endParaRPr>
          </a:p>
          <a:p>
            <a:pPr marL="12700">
              <a:lnSpc>
                <a:spcPts val="1290"/>
              </a:lnSpc>
            </a:pPr>
            <a:r>
              <a:rPr dirty="0" sz="1100" spc="-5">
                <a:latin typeface="Arial"/>
                <a:cs typeface="Arial"/>
              </a:rPr>
              <a:t>and </a:t>
            </a:r>
            <a:r>
              <a:rPr dirty="0" sz="1100" spc="110">
                <a:latin typeface="Arial"/>
                <a:cs typeface="Arial"/>
              </a:rPr>
              <a:t> </a:t>
            </a:r>
            <a:r>
              <a:rPr dirty="0" sz="1100" spc="-5" b="1">
                <a:latin typeface="Arial"/>
                <a:cs typeface="Arial"/>
              </a:rPr>
              <a:t>(Pa/Pm)R</a:t>
            </a:r>
            <a:r>
              <a:rPr dirty="0" sz="1100" spc="-5">
                <a:latin typeface="Arial"/>
                <a:cs typeface="Arial"/>
              </a:rPr>
              <a:t>, </a:t>
            </a:r>
            <a:r>
              <a:rPr dirty="0" sz="1100" spc="110">
                <a:latin typeface="Arial"/>
                <a:cs typeface="Arial"/>
              </a:rPr>
              <a:t> </a:t>
            </a:r>
            <a:r>
              <a:rPr dirty="0" sz="1100" spc="-5">
                <a:latin typeface="Arial"/>
                <a:cs typeface="Arial"/>
              </a:rPr>
              <a:t>the </a:t>
            </a:r>
            <a:r>
              <a:rPr dirty="0" sz="1100" spc="114">
                <a:latin typeface="Arial"/>
                <a:cs typeface="Arial"/>
              </a:rPr>
              <a:t> </a:t>
            </a:r>
            <a:r>
              <a:rPr dirty="0" sz="1100" spc="-5">
                <a:latin typeface="Arial"/>
                <a:cs typeface="Arial"/>
              </a:rPr>
              <a:t>domestic </a:t>
            </a:r>
            <a:r>
              <a:rPr dirty="0" sz="1100" spc="110">
                <a:latin typeface="Arial"/>
                <a:cs typeface="Arial"/>
              </a:rPr>
              <a:t> </a:t>
            </a:r>
            <a:r>
              <a:rPr dirty="0" sz="1100" spc="-5">
                <a:latin typeface="Arial"/>
                <a:cs typeface="Arial"/>
              </a:rPr>
              <a:t>price </a:t>
            </a:r>
            <a:r>
              <a:rPr dirty="0" sz="1100" spc="114">
                <a:latin typeface="Arial"/>
                <a:cs typeface="Arial"/>
              </a:rPr>
              <a:t> </a:t>
            </a:r>
            <a:r>
              <a:rPr dirty="0" sz="1100" spc="-5">
                <a:latin typeface="Arial"/>
                <a:cs typeface="Arial"/>
              </a:rPr>
              <a:t>ratios </a:t>
            </a:r>
            <a:r>
              <a:rPr dirty="0" sz="1100" spc="110">
                <a:latin typeface="Arial"/>
                <a:cs typeface="Arial"/>
              </a:rPr>
              <a:t> </a:t>
            </a:r>
            <a:r>
              <a:rPr dirty="0" sz="1100" spc="-5">
                <a:latin typeface="Arial"/>
                <a:cs typeface="Arial"/>
              </a:rPr>
              <a:t>of </a:t>
            </a:r>
            <a:r>
              <a:rPr dirty="0" sz="1100" spc="110">
                <a:latin typeface="Arial"/>
                <a:cs typeface="Arial"/>
              </a:rPr>
              <a:t> </a:t>
            </a:r>
            <a:r>
              <a:rPr dirty="0" sz="1100" spc="-5">
                <a:latin typeface="Arial"/>
                <a:cs typeface="Arial"/>
              </a:rPr>
              <a:t>Less </a:t>
            </a:r>
            <a:r>
              <a:rPr dirty="0" sz="1100" spc="114">
                <a:latin typeface="Arial"/>
                <a:cs typeface="Arial"/>
              </a:rPr>
              <a:t> </a:t>
            </a:r>
            <a:r>
              <a:rPr dirty="0" sz="1100" spc="-5">
                <a:latin typeface="Arial"/>
                <a:cs typeface="Arial"/>
              </a:rPr>
              <a:t>Developed </a:t>
            </a:r>
            <a:r>
              <a:rPr dirty="0" sz="1100" spc="110">
                <a:latin typeface="Arial"/>
                <a:cs typeface="Arial"/>
              </a:rPr>
              <a:t> </a:t>
            </a:r>
            <a:r>
              <a:rPr dirty="0" sz="1100" spc="-5">
                <a:latin typeface="Arial"/>
                <a:cs typeface="Arial"/>
              </a:rPr>
              <a:t>World </a:t>
            </a:r>
            <a:r>
              <a:rPr dirty="0" sz="1100" spc="114">
                <a:latin typeface="Arial"/>
                <a:cs typeface="Arial"/>
              </a:rPr>
              <a:t> </a:t>
            </a:r>
            <a:r>
              <a:rPr dirty="0" sz="1100" spc="-5">
                <a:latin typeface="Arial"/>
                <a:cs typeface="Arial"/>
              </a:rPr>
              <a:t>and </a:t>
            </a:r>
            <a:r>
              <a:rPr dirty="0" sz="1100" spc="110">
                <a:latin typeface="Arial"/>
                <a:cs typeface="Arial"/>
              </a:rPr>
              <a:t> </a:t>
            </a:r>
            <a:r>
              <a:rPr dirty="0" sz="1100" spc="-5">
                <a:latin typeface="Arial"/>
                <a:cs typeface="Arial"/>
              </a:rPr>
              <a:t>Rest </a:t>
            </a:r>
            <a:r>
              <a:rPr dirty="0" sz="1100" spc="110">
                <a:latin typeface="Arial"/>
                <a:cs typeface="Arial"/>
              </a:rPr>
              <a:t> </a:t>
            </a:r>
            <a:r>
              <a:rPr dirty="0" sz="1100" spc="-5">
                <a:latin typeface="Arial"/>
                <a:cs typeface="Arial"/>
              </a:rPr>
              <a:t>of </a:t>
            </a:r>
            <a:r>
              <a:rPr dirty="0" sz="1100" spc="114">
                <a:latin typeface="Arial"/>
                <a:cs typeface="Arial"/>
              </a:rPr>
              <a:t> </a:t>
            </a:r>
            <a:r>
              <a:rPr dirty="0" sz="1100" spc="-5">
                <a:latin typeface="Arial"/>
                <a:cs typeface="Arial"/>
              </a:rPr>
              <a:t>World,</a:t>
            </a:r>
            <a:endParaRPr sz="1100">
              <a:latin typeface="Arial"/>
              <a:cs typeface="Arial"/>
            </a:endParaRPr>
          </a:p>
          <a:p>
            <a:pPr>
              <a:lnSpc>
                <a:spcPct val="100000"/>
              </a:lnSpc>
              <a:spcBef>
                <a:spcPts val="45"/>
              </a:spcBef>
            </a:pPr>
            <a:endParaRPr sz="1300">
              <a:latin typeface="Arial"/>
              <a:cs typeface="Arial"/>
            </a:endParaRPr>
          </a:p>
          <a:p>
            <a:pPr marL="12700">
              <a:lnSpc>
                <a:spcPct val="100000"/>
              </a:lnSpc>
              <a:spcBef>
                <a:spcPts val="5"/>
              </a:spcBef>
              <a:tabLst>
                <a:tab pos="1989455" algn="l"/>
              </a:tabLst>
            </a:pPr>
            <a:r>
              <a:rPr dirty="0" sz="1100" spc="-5">
                <a:latin typeface="Arial"/>
                <a:cs typeface="Arial"/>
              </a:rPr>
              <a:t>respectively.</a:t>
            </a:r>
            <a:r>
              <a:rPr dirty="0" sz="1100" spc="180">
                <a:latin typeface="Arial"/>
                <a:cs typeface="Arial"/>
              </a:rPr>
              <a:t> </a:t>
            </a:r>
            <a:r>
              <a:rPr dirty="0" sz="1100" spc="-5">
                <a:latin typeface="Arial"/>
                <a:cs typeface="Arial"/>
              </a:rPr>
              <a:t>The</a:t>
            </a:r>
            <a:r>
              <a:rPr dirty="0" sz="1100" spc="180">
                <a:latin typeface="Arial"/>
                <a:cs typeface="Arial"/>
              </a:rPr>
              <a:t> </a:t>
            </a:r>
            <a:r>
              <a:rPr dirty="0" sz="1100" spc="-5">
                <a:latin typeface="Arial"/>
                <a:cs typeface="Arial"/>
              </a:rPr>
              <a:t>lines	in</a:t>
            </a:r>
            <a:r>
              <a:rPr dirty="0" sz="1100" spc="165">
                <a:latin typeface="Arial"/>
                <a:cs typeface="Arial"/>
              </a:rPr>
              <a:t> </a:t>
            </a:r>
            <a:r>
              <a:rPr dirty="0" sz="1100" spc="-5">
                <a:latin typeface="Arial"/>
                <a:cs typeface="Arial"/>
              </a:rPr>
              <a:t>both</a:t>
            </a:r>
            <a:r>
              <a:rPr dirty="0" sz="1100" spc="165">
                <a:latin typeface="Arial"/>
                <a:cs typeface="Arial"/>
              </a:rPr>
              <a:t> </a:t>
            </a:r>
            <a:r>
              <a:rPr dirty="0" sz="1100" spc="-5">
                <a:latin typeface="Arial"/>
                <a:cs typeface="Arial"/>
              </a:rPr>
              <a:t>graphs</a:t>
            </a:r>
            <a:r>
              <a:rPr dirty="0" sz="1100" spc="165">
                <a:latin typeface="Arial"/>
                <a:cs typeface="Arial"/>
              </a:rPr>
              <a:t> </a:t>
            </a:r>
            <a:r>
              <a:rPr dirty="0" sz="1100" spc="-5">
                <a:latin typeface="Arial"/>
                <a:cs typeface="Arial"/>
              </a:rPr>
              <a:t>in</a:t>
            </a:r>
            <a:r>
              <a:rPr dirty="0" sz="1100" spc="165">
                <a:latin typeface="Arial"/>
                <a:cs typeface="Arial"/>
              </a:rPr>
              <a:t> </a:t>
            </a:r>
            <a:r>
              <a:rPr dirty="0" sz="1100" spc="-5">
                <a:latin typeface="Arial"/>
                <a:cs typeface="Arial"/>
              </a:rPr>
              <a:t>Figure</a:t>
            </a:r>
            <a:r>
              <a:rPr dirty="0" sz="1100" spc="160">
                <a:latin typeface="Arial"/>
                <a:cs typeface="Arial"/>
              </a:rPr>
              <a:t> </a:t>
            </a:r>
            <a:r>
              <a:rPr dirty="0" sz="1100" spc="-5">
                <a:latin typeface="Arial"/>
                <a:cs typeface="Arial"/>
              </a:rPr>
              <a:t>12.1</a:t>
            </a:r>
            <a:r>
              <a:rPr dirty="0" sz="1100" spc="165">
                <a:latin typeface="Arial"/>
                <a:cs typeface="Arial"/>
              </a:rPr>
              <a:t> </a:t>
            </a:r>
            <a:r>
              <a:rPr dirty="0" sz="1100" spc="-5">
                <a:latin typeface="Arial"/>
                <a:cs typeface="Arial"/>
              </a:rPr>
              <a:t>denote</a:t>
            </a:r>
            <a:r>
              <a:rPr dirty="0" sz="1100" spc="165">
                <a:latin typeface="Arial"/>
                <a:cs typeface="Arial"/>
              </a:rPr>
              <a:t> </a:t>
            </a:r>
            <a:r>
              <a:rPr dirty="0" sz="1100" spc="-5">
                <a:latin typeface="Arial"/>
                <a:cs typeface="Arial"/>
              </a:rPr>
              <a:t>the</a:t>
            </a:r>
            <a:r>
              <a:rPr dirty="0" sz="1100" spc="165">
                <a:latin typeface="Arial"/>
                <a:cs typeface="Arial"/>
              </a:rPr>
              <a:t> </a:t>
            </a:r>
            <a:r>
              <a:rPr dirty="0" sz="1100" spc="-5">
                <a:latin typeface="Arial"/>
                <a:cs typeface="Arial"/>
              </a:rPr>
              <a:t>common</a:t>
            </a:r>
            <a:r>
              <a:rPr dirty="0" sz="1100" spc="165">
                <a:latin typeface="Arial"/>
                <a:cs typeface="Arial"/>
              </a:rPr>
              <a:t> </a:t>
            </a:r>
            <a:r>
              <a:rPr dirty="0" sz="1100" spc="-5">
                <a:latin typeface="Arial"/>
                <a:cs typeface="Arial"/>
              </a:rPr>
              <a:t>world</a:t>
            </a:r>
            <a:r>
              <a:rPr dirty="0" sz="1100" spc="165">
                <a:latin typeface="Arial"/>
                <a:cs typeface="Arial"/>
              </a:rPr>
              <a:t> </a:t>
            </a:r>
            <a:r>
              <a:rPr dirty="0" sz="1100" spc="-5">
                <a:latin typeface="Arial"/>
                <a:cs typeface="Arial"/>
              </a:rPr>
              <a:t>price</a:t>
            </a:r>
            <a:endParaRPr sz="1100">
              <a:latin typeface="Arial"/>
              <a:cs typeface="Arial"/>
            </a:endParaRPr>
          </a:p>
          <a:p>
            <a:pPr>
              <a:lnSpc>
                <a:spcPct val="100000"/>
              </a:lnSpc>
              <a:spcBef>
                <a:spcPts val="35"/>
              </a:spcBef>
            </a:pPr>
            <a:endParaRPr sz="1350">
              <a:latin typeface="Arial"/>
              <a:cs typeface="Arial"/>
            </a:endParaRPr>
          </a:p>
          <a:p>
            <a:pPr algn="just" marL="12700" marR="6350">
              <a:lnSpc>
                <a:spcPct val="95800"/>
              </a:lnSpc>
              <a:tabLst>
                <a:tab pos="4154804" algn="l"/>
              </a:tabLst>
            </a:pPr>
            <a:r>
              <a:rPr dirty="0" sz="1100" spc="-5">
                <a:latin typeface="Arial"/>
                <a:cs typeface="Arial"/>
              </a:rPr>
              <a:t>ratio.  For  Less  Developed  World,  this  steeper</a:t>
            </a:r>
            <a:r>
              <a:rPr dirty="0" sz="1100" spc="-20">
                <a:latin typeface="Arial"/>
                <a:cs typeface="Arial"/>
              </a:rPr>
              <a:t> </a:t>
            </a:r>
            <a:r>
              <a:rPr dirty="0" sz="1100" spc="-5">
                <a:latin typeface="Arial"/>
                <a:cs typeface="Arial"/>
              </a:rPr>
              <a:t>slope</a:t>
            </a:r>
            <a:r>
              <a:rPr dirty="0" sz="1100" spc="254">
                <a:latin typeface="Arial"/>
                <a:cs typeface="Arial"/>
              </a:rPr>
              <a:t> </a:t>
            </a:r>
            <a:r>
              <a:rPr dirty="0" sz="1100" spc="-5">
                <a:latin typeface="Arial"/>
                <a:cs typeface="Arial"/>
              </a:rPr>
              <a:t>of	means that it can get more  manufactured goods for a unit of agriculture than in the absence of trade; that is, the world price  of agricultural goods in terms of manufactures is higher than Less Developed World’s domestic  price ratio. It will therefore reallocate resources away from its costly capital-intensive  manufacturing sector and specialize more in labor-intensive agricultural production. Under  perfectly competitive assumptions, it will produce at point B on its production frontier, where its  relative</a:t>
            </a:r>
            <a:r>
              <a:rPr dirty="0" sz="1100" spc="140">
                <a:latin typeface="Arial"/>
                <a:cs typeface="Arial"/>
              </a:rPr>
              <a:t> </a:t>
            </a:r>
            <a:r>
              <a:rPr dirty="0" sz="1100" spc="-5">
                <a:latin typeface="Arial"/>
                <a:cs typeface="Arial"/>
              </a:rPr>
              <a:t>production</a:t>
            </a:r>
            <a:r>
              <a:rPr dirty="0" sz="1100" spc="140">
                <a:latin typeface="Arial"/>
                <a:cs typeface="Arial"/>
              </a:rPr>
              <a:t> </a:t>
            </a:r>
            <a:r>
              <a:rPr dirty="0" sz="1100" spc="-5">
                <a:latin typeface="Arial"/>
                <a:cs typeface="Arial"/>
              </a:rPr>
              <a:t>(opportunity)</a:t>
            </a:r>
            <a:r>
              <a:rPr dirty="0" sz="1100" spc="140">
                <a:latin typeface="Arial"/>
                <a:cs typeface="Arial"/>
              </a:rPr>
              <a:t> </a:t>
            </a:r>
            <a:r>
              <a:rPr dirty="0" sz="1100" spc="-5">
                <a:latin typeface="Arial"/>
                <a:cs typeface="Arial"/>
              </a:rPr>
              <a:t>costs</a:t>
            </a:r>
            <a:r>
              <a:rPr dirty="0" sz="1100" spc="140">
                <a:latin typeface="Arial"/>
                <a:cs typeface="Arial"/>
              </a:rPr>
              <a:t> </a:t>
            </a:r>
            <a:r>
              <a:rPr dirty="0" sz="1100" spc="-5">
                <a:latin typeface="Arial"/>
                <a:cs typeface="Arial"/>
              </a:rPr>
              <a:t>are</a:t>
            </a:r>
            <a:r>
              <a:rPr dirty="0" sz="1100" spc="140">
                <a:latin typeface="Arial"/>
                <a:cs typeface="Arial"/>
              </a:rPr>
              <a:t> </a:t>
            </a:r>
            <a:r>
              <a:rPr dirty="0" sz="1100" spc="-5">
                <a:latin typeface="Arial"/>
                <a:cs typeface="Arial"/>
              </a:rPr>
              <a:t>just</a:t>
            </a:r>
            <a:r>
              <a:rPr dirty="0" sz="1100" spc="140">
                <a:latin typeface="Arial"/>
                <a:cs typeface="Arial"/>
              </a:rPr>
              <a:t> </a:t>
            </a:r>
            <a:r>
              <a:rPr dirty="0" sz="1100" spc="-5">
                <a:latin typeface="Arial"/>
                <a:cs typeface="Arial"/>
              </a:rPr>
              <a:t>equal</a:t>
            </a:r>
            <a:r>
              <a:rPr dirty="0" sz="1100" spc="140">
                <a:latin typeface="Arial"/>
                <a:cs typeface="Arial"/>
              </a:rPr>
              <a:t> </a:t>
            </a:r>
            <a:r>
              <a:rPr dirty="0" sz="1100" spc="-5">
                <a:latin typeface="Arial"/>
                <a:cs typeface="Arial"/>
              </a:rPr>
              <a:t>to</a:t>
            </a:r>
            <a:r>
              <a:rPr dirty="0" sz="1100" spc="135">
                <a:latin typeface="Arial"/>
                <a:cs typeface="Arial"/>
              </a:rPr>
              <a:t> </a:t>
            </a:r>
            <a:r>
              <a:rPr dirty="0" sz="1100" spc="-5">
                <a:latin typeface="Arial"/>
                <a:cs typeface="Arial"/>
              </a:rPr>
              <a:t>relative</a:t>
            </a:r>
            <a:r>
              <a:rPr dirty="0" sz="1100" spc="145">
                <a:latin typeface="Arial"/>
                <a:cs typeface="Arial"/>
              </a:rPr>
              <a:t> </a:t>
            </a:r>
            <a:r>
              <a:rPr dirty="0" sz="1100" spc="-5">
                <a:latin typeface="Arial"/>
                <a:cs typeface="Arial"/>
              </a:rPr>
              <a:t>world</a:t>
            </a:r>
            <a:r>
              <a:rPr dirty="0" sz="1100" spc="140">
                <a:latin typeface="Arial"/>
                <a:cs typeface="Arial"/>
              </a:rPr>
              <a:t> </a:t>
            </a:r>
            <a:r>
              <a:rPr dirty="0" sz="1100" spc="-5">
                <a:latin typeface="Arial"/>
                <a:cs typeface="Arial"/>
              </a:rPr>
              <a:t>prices.</a:t>
            </a:r>
            <a:r>
              <a:rPr dirty="0" sz="1100" spc="135">
                <a:latin typeface="Arial"/>
                <a:cs typeface="Arial"/>
              </a:rPr>
              <a:t> </a:t>
            </a:r>
            <a:r>
              <a:rPr dirty="0" sz="1100" spc="-5">
                <a:latin typeface="Arial"/>
                <a:cs typeface="Arial"/>
              </a:rPr>
              <a:t>It</a:t>
            </a:r>
            <a:r>
              <a:rPr dirty="0" sz="1100" spc="135">
                <a:latin typeface="Arial"/>
                <a:cs typeface="Arial"/>
              </a:rPr>
              <a:t> </a:t>
            </a:r>
            <a:r>
              <a:rPr dirty="0" sz="1100" spc="-5">
                <a:latin typeface="Arial"/>
                <a:cs typeface="Arial"/>
              </a:rPr>
              <a:t>can</a:t>
            </a:r>
            <a:r>
              <a:rPr dirty="0" sz="1100" spc="140">
                <a:latin typeface="Arial"/>
                <a:cs typeface="Arial"/>
              </a:rPr>
              <a:t> </a:t>
            </a:r>
            <a:r>
              <a:rPr dirty="0" sz="1100" spc="-5">
                <a:latin typeface="Arial"/>
                <a:cs typeface="Arial"/>
              </a:rPr>
              <a:t>then</a:t>
            </a:r>
            <a:r>
              <a:rPr dirty="0" sz="1100" spc="145">
                <a:latin typeface="Arial"/>
                <a:cs typeface="Arial"/>
              </a:rPr>
              <a:t> </a:t>
            </a:r>
            <a:r>
              <a:rPr dirty="0" sz="1100" spc="-5">
                <a:latin typeface="Arial"/>
                <a:cs typeface="Arial"/>
              </a:rPr>
              <a:t>trade</a:t>
            </a:r>
            <a:endParaRPr sz="1100">
              <a:latin typeface="Arial"/>
              <a:cs typeface="Arial"/>
            </a:endParaRPr>
          </a:p>
          <a:p>
            <a:pPr>
              <a:lnSpc>
                <a:spcPct val="100000"/>
              </a:lnSpc>
              <a:spcBef>
                <a:spcPts val="50"/>
              </a:spcBef>
            </a:pPr>
            <a:endParaRPr sz="1350">
              <a:latin typeface="Arial"/>
              <a:cs typeface="Arial"/>
            </a:endParaRPr>
          </a:p>
          <a:p>
            <a:pPr algn="just" marL="12700" marR="5715">
              <a:lnSpc>
                <a:spcPct val="95700"/>
              </a:lnSpc>
              <a:tabLst>
                <a:tab pos="792480" algn="l"/>
              </a:tabLst>
            </a:pPr>
            <a:r>
              <a:rPr dirty="0" sz="1100" spc="-5">
                <a:latin typeface="Arial"/>
                <a:cs typeface="Arial"/>
              </a:rPr>
              <a:t>along	, the prevailing international price line; exporting BD agricultural products in return  for DC manufactured imports and arrives at a final consumption point C with more of both goods  than</a:t>
            </a:r>
            <a:r>
              <a:rPr dirty="0" sz="1100" spc="85">
                <a:latin typeface="Arial"/>
                <a:cs typeface="Arial"/>
              </a:rPr>
              <a:t> </a:t>
            </a:r>
            <a:r>
              <a:rPr dirty="0" sz="1100" spc="-5">
                <a:latin typeface="Arial"/>
                <a:cs typeface="Arial"/>
              </a:rPr>
              <a:t>before</a:t>
            </a:r>
            <a:r>
              <a:rPr dirty="0" sz="1100" spc="90">
                <a:latin typeface="Arial"/>
                <a:cs typeface="Arial"/>
              </a:rPr>
              <a:t> </a:t>
            </a:r>
            <a:r>
              <a:rPr dirty="0" sz="1100" spc="-5">
                <a:latin typeface="Arial"/>
                <a:cs typeface="Arial"/>
              </a:rPr>
              <a:t>trade.</a:t>
            </a:r>
            <a:r>
              <a:rPr dirty="0" sz="1100" spc="85">
                <a:latin typeface="Arial"/>
                <a:cs typeface="Arial"/>
              </a:rPr>
              <a:t> </a:t>
            </a:r>
            <a:r>
              <a:rPr dirty="0" sz="1100" spc="-5">
                <a:latin typeface="Arial"/>
                <a:cs typeface="Arial"/>
              </a:rPr>
              <a:t>To</a:t>
            </a:r>
            <a:r>
              <a:rPr dirty="0" sz="1100" spc="90">
                <a:latin typeface="Arial"/>
                <a:cs typeface="Arial"/>
              </a:rPr>
              <a:t> </a:t>
            </a:r>
            <a:r>
              <a:rPr dirty="0" sz="1100" spc="-5">
                <a:latin typeface="Arial"/>
                <a:cs typeface="Arial"/>
              </a:rPr>
              <a:t>give</a:t>
            </a:r>
            <a:r>
              <a:rPr dirty="0" sz="1100" spc="85">
                <a:latin typeface="Arial"/>
                <a:cs typeface="Arial"/>
              </a:rPr>
              <a:t> </a:t>
            </a:r>
            <a:r>
              <a:rPr dirty="0" sz="1100" spc="-5">
                <a:latin typeface="Arial"/>
                <a:cs typeface="Arial"/>
              </a:rPr>
              <a:t>a</a:t>
            </a:r>
            <a:r>
              <a:rPr dirty="0" sz="1100" spc="90">
                <a:latin typeface="Arial"/>
                <a:cs typeface="Arial"/>
              </a:rPr>
              <a:t> </a:t>
            </a:r>
            <a:r>
              <a:rPr dirty="0" sz="1100" spc="-5">
                <a:latin typeface="Arial"/>
                <a:cs typeface="Arial"/>
              </a:rPr>
              <a:t>numerical</a:t>
            </a:r>
            <a:r>
              <a:rPr dirty="0" sz="1100" spc="90">
                <a:latin typeface="Arial"/>
                <a:cs typeface="Arial"/>
              </a:rPr>
              <a:t> </a:t>
            </a:r>
            <a:r>
              <a:rPr dirty="0" sz="1100" spc="-5">
                <a:latin typeface="Arial"/>
                <a:cs typeface="Arial"/>
              </a:rPr>
              <a:t>example,</a:t>
            </a:r>
            <a:r>
              <a:rPr dirty="0" sz="1100" spc="85">
                <a:latin typeface="Arial"/>
                <a:cs typeface="Arial"/>
              </a:rPr>
              <a:t> </a:t>
            </a:r>
            <a:r>
              <a:rPr dirty="0" sz="1100" spc="-5">
                <a:latin typeface="Arial"/>
                <a:cs typeface="Arial"/>
              </a:rPr>
              <a:t>suppose</a:t>
            </a:r>
            <a:r>
              <a:rPr dirty="0" sz="1100" spc="90">
                <a:latin typeface="Arial"/>
                <a:cs typeface="Arial"/>
              </a:rPr>
              <a:t> </a:t>
            </a:r>
            <a:r>
              <a:rPr dirty="0" sz="1100" spc="-5">
                <a:latin typeface="Arial"/>
                <a:cs typeface="Arial"/>
              </a:rPr>
              <a:t>that</a:t>
            </a:r>
            <a:r>
              <a:rPr dirty="0" sz="1100" spc="85">
                <a:latin typeface="Arial"/>
                <a:cs typeface="Arial"/>
              </a:rPr>
              <a:t> </a:t>
            </a:r>
            <a:r>
              <a:rPr dirty="0" sz="1100" spc="-5">
                <a:latin typeface="Arial"/>
                <a:cs typeface="Arial"/>
              </a:rPr>
              <a:t>the</a:t>
            </a:r>
            <a:r>
              <a:rPr dirty="0" sz="1100" spc="90">
                <a:latin typeface="Arial"/>
                <a:cs typeface="Arial"/>
              </a:rPr>
              <a:t> </a:t>
            </a:r>
            <a:r>
              <a:rPr dirty="0" sz="1100" spc="-5">
                <a:latin typeface="Arial"/>
                <a:cs typeface="Arial"/>
              </a:rPr>
              <a:t>free-trade</a:t>
            </a:r>
            <a:r>
              <a:rPr dirty="0" sz="1100" spc="90">
                <a:latin typeface="Arial"/>
                <a:cs typeface="Arial"/>
              </a:rPr>
              <a:t> </a:t>
            </a:r>
            <a:r>
              <a:rPr dirty="0" sz="1100" spc="-5">
                <a:latin typeface="Arial"/>
                <a:cs typeface="Arial"/>
              </a:rPr>
              <a:t>international</a:t>
            </a:r>
            <a:r>
              <a:rPr dirty="0" sz="1100" spc="85">
                <a:latin typeface="Arial"/>
                <a:cs typeface="Arial"/>
              </a:rPr>
              <a:t> </a:t>
            </a:r>
            <a:r>
              <a:rPr dirty="0" sz="1100" spc="-5">
                <a:latin typeface="Arial"/>
                <a:cs typeface="Arial"/>
              </a:rPr>
              <a:t>price</a:t>
            </a:r>
            <a:endParaRPr sz="1100">
              <a:latin typeface="Arial"/>
              <a:cs typeface="Arial"/>
            </a:endParaRPr>
          </a:p>
          <a:p>
            <a:pPr>
              <a:lnSpc>
                <a:spcPct val="100000"/>
              </a:lnSpc>
              <a:spcBef>
                <a:spcPts val="45"/>
              </a:spcBef>
            </a:pPr>
            <a:endParaRPr sz="1350">
              <a:latin typeface="Arial"/>
              <a:cs typeface="Arial"/>
            </a:endParaRPr>
          </a:p>
          <a:p>
            <a:pPr algn="just" marL="12700" marR="6350">
              <a:lnSpc>
                <a:spcPct val="95700"/>
              </a:lnSpc>
              <a:tabLst>
                <a:tab pos="807720" algn="l"/>
              </a:tabLst>
            </a:pPr>
            <a:r>
              <a:rPr dirty="0" sz="1100" spc="-5">
                <a:latin typeface="Arial"/>
                <a:cs typeface="Arial"/>
              </a:rPr>
              <a:t>ratio,	, were 2 to 1. In other words, a unit of agricultural goods sells at a price twice that  of a unit of manufactured goods. This means that for every unit of agriculture that Less  Developed World exports to Rest of World, it can import two units of manufactured goods. The  slope of the international price line graphically portrays this trading ratio, these terms of trade. If  Less Developed World exports BD agriculture (say, 30 units), it will receive DC manufactures  (60 units) in</a:t>
            </a:r>
            <a:r>
              <a:rPr dirty="0" sz="1100">
                <a:latin typeface="Arial"/>
                <a:cs typeface="Arial"/>
              </a:rPr>
              <a:t> </a:t>
            </a:r>
            <a:r>
              <a:rPr dirty="0" sz="1100" spc="-5">
                <a:latin typeface="Arial"/>
                <a:cs typeface="Arial"/>
              </a:rPr>
              <a:t>return.</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Similarly, for Rest of World, the new international price ratio means more agricultural products in  exchange for manufactured goods than at domestic prices. Graphically, the international price  ratio has a lesser slope than Rest of World’s domestic price ratio (see Figure 12.1b). Rest of  World will therefore reallocate its abundant capital resources so as to produce more  manufactured goods and less agriculture, as at point B, where its relative domestic production  costs are just equal to relative world prices. It can then trade </a:t>
            </a:r>
            <a:r>
              <a:rPr dirty="0" sz="1100" spc="-5" b="1">
                <a:latin typeface="Arial"/>
                <a:cs typeface="Arial"/>
              </a:rPr>
              <a:t>B' D' (=DC) </a:t>
            </a:r>
            <a:r>
              <a:rPr dirty="0" sz="1100" spc="-5">
                <a:latin typeface="Arial"/>
                <a:cs typeface="Arial"/>
              </a:rPr>
              <a:t>of these manufactures  for </a:t>
            </a:r>
            <a:r>
              <a:rPr dirty="0" sz="1100" spc="-5" b="1">
                <a:latin typeface="Arial"/>
                <a:cs typeface="Arial"/>
              </a:rPr>
              <a:t>D' C' (=BD) </a:t>
            </a:r>
            <a:r>
              <a:rPr dirty="0" sz="1100" spc="-5">
                <a:latin typeface="Arial"/>
                <a:cs typeface="Arial"/>
              </a:rPr>
              <a:t>of Less Developed World’s agricultural products. Rest of World can therefore  also move outside the confines of its production frontier and end up consuming at a point like C'  in Figure 12.1b. Trade is balanced—the value of exports equals the value of imports for both  regions. Moreover, it has resulted in increased consumption of both goods for both regions, as  shown by a comparison between free-trade points C and C' and no-trade points </a:t>
            </a:r>
            <a:r>
              <a:rPr dirty="0" sz="1100" spc="-5" b="1">
                <a:latin typeface="Arial"/>
                <a:cs typeface="Arial"/>
              </a:rPr>
              <a:t>A </a:t>
            </a:r>
            <a:r>
              <a:rPr dirty="0" sz="1100" spc="-5">
                <a:latin typeface="Arial"/>
                <a:cs typeface="Arial"/>
              </a:rPr>
              <a:t>and </a:t>
            </a:r>
            <a:r>
              <a:rPr dirty="0" sz="1100" spc="-5" b="1">
                <a:latin typeface="Arial"/>
                <a:cs typeface="Arial"/>
              </a:rPr>
              <a:t>A</a:t>
            </a:r>
            <a:r>
              <a:rPr dirty="0" sz="1100" spc="-5">
                <a:latin typeface="Arial"/>
                <a:cs typeface="Arial"/>
              </a:rPr>
              <a:t>' in  Figure 12.1.</a:t>
            </a:r>
            <a:endParaRPr sz="1100">
              <a:latin typeface="Arial"/>
              <a:cs typeface="Arial"/>
            </a:endParaRPr>
          </a:p>
        </p:txBody>
      </p:sp>
      <p:sp>
        <p:nvSpPr>
          <p:cNvPr id="12" name="object 12"/>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3" name="object 13"/>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244</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25155"/>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The main conclusions of the neoclassical model of free trade are that all countries gain from  trade and world output is increased. However, </a:t>
            </a:r>
            <a:r>
              <a:rPr dirty="0" sz="1100">
                <a:latin typeface="Arial"/>
                <a:cs typeface="Arial"/>
              </a:rPr>
              <a:t>there </a:t>
            </a:r>
            <a:r>
              <a:rPr dirty="0" sz="1100" spc="-5">
                <a:latin typeface="Arial"/>
                <a:cs typeface="Arial"/>
              </a:rPr>
              <a:t>are several others in addition to these two  basic conclusions.</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b="1">
                <a:latin typeface="Arial"/>
                <a:cs typeface="Arial"/>
              </a:rPr>
              <a:t>First, </a:t>
            </a:r>
            <a:r>
              <a:rPr dirty="0" sz="1100" spc="-5">
                <a:latin typeface="Arial"/>
                <a:cs typeface="Arial"/>
              </a:rPr>
              <a:t>due to increasing opportunity costs associated with resource shifting among commodities  with different factor intensities of production, complete specialization will not occur as in the  classical comparative-advantage model. Countries will tend to specialize in products that use  their abundant resources intensively. They will compensate for their scarce resources by  importing products that use these scarce resources most intensively. But rising domestic costs  and therefore prices in excess of world prices will prevent complete specialization from  occurring.</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b="1">
                <a:latin typeface="Arial"/>
                <a:cs typeface="Arial"/>
              </a:rPr>
              <a:t>Second, </a:t>
            </a:r>
            <a:r>
              <a:rPr dirty="0" sz="1100" spc="-5">
                <a:latin typeface="Arial"/>
                <a:cs typeface="Arial"/>
              </a:rPr>
              <a:t>given identical technologies of production throughout the world, the equalization of  domestic product price ratios with the international free trade price ratio will tend to factor price  equalization across trading countries. Wage rates, for example, will rise in labor-abundant Less  Developed World as a result of the more intensive use of human resources in the production of  additional agricultural output. But the price of scarce capital will decline due to the diminished  production of manufactured goods, which are heavy users of capital. In Rest of World, the price  of its abundant capital will rise relative to its scarce labor as more emphasis is placed on the  production of capital-intensive manufactured goods and less on labor-intensive</a:t>
            </a:r>
            <a:r>
              <a:rPr dirty="0" sz="1100" spc="135">
                <a:latin typeface="Arial"/>
                <a:cs typeface="Arial"/>
              </a:rPr>
              <a:t> </a:t>
            </a:r>
            <a:r>
              <a:rPr dirty="0" sz="1100" spc="-5">
                <a:latin typeface="Arial"/>
                <a:cs typeface="Arial"/>
              </a:rPr>
              <a:t>agriculture.</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 neoclassical factor endowment theory therefore makes the important prediction that  international real wage rates and capital costs will gradually tend toward equalization. Much of  the direct competition is in the low-skilled labor that developing countries have in relative  abundance; </a:t>
            </a:r>
            <a:r>
              <a:rPr dirty="0" sz="1100">
                <a:latin typeface="Arial"/>
                <a:cs typeface="Arial"/>
              </a:rPr>
              <a:t>many </a:t>
            </a:r>
            <a:r>
              <a:rPr dirty="0" sz="1100" spc="-5">
                <a:latin typeface="Arial"/>
                <a:cs typeface="Arial"/>
              </a:rPr>
              <a:t>low-skilled manufacturing jobs have indeed been lost outright in developed  countries, and wage growth has at best been slow if not declining in real terms. In recent years,  many highly paid manufacturing workers in the more developed countries have been concerned  that freer trade and greater international competition would drive their wages down to  developing-country levels. However, on average, with the exception of a few Asian economies,  the wage </a:t>
            </a:r>
            <a:r>
              <a:rPr dirty="0" sz="1100">
                <a:latin typeface="Arial"/>
                <a:cs typeface="Arial"/>
              </a:rPr>
              <a:t>gap </a:t>
            </a:r>
            <a:r>
              <a:rPr dirty="0" sz="1100" spc="-5">
                <a:latin typeface="Arial"/>
                <a:cs typeface="Arial"/>
              </a:rPr>
              <a:t>between developed and less developed country manufacturing workers has  remained persistently wide. This is due in </a:t>
            </a:r>
            <a:r>
              <a:rPr dirty="0" sz="1100">
                <a:latin typeface="Arial"/>
                <a:cs typeface="Arial"/>
              </a:rPr>
              <a:t>part </a:t>
            </a:r>
            <a:r>
              <a:rPr dirty="0" sz="1100" spc="-5">
                <a:latin typeface="Arial"/>
                <a:cs typeface="Arial"/>
              </a:rPr>
              <a:t>to higher skills and in part to complementary  factors such as the higher general knowledge base embedded within corporations, so wages  can remain higher commensurate with the resulting higher productivity. But some part is likely  due to</a:t>
            </a:r>
            <a:r>
              <a:rPr dirty="0" sz="1100">
                <a:latin typeface="Arial"/>
                <a:cs typeface="Arial"/>
              </a:rPr>
              <a:t> </a:t>
            </a:r>
            <a:r>
              <a:rPr dirty="0" sz="1100" spc="-5">
                <a:latin typeface="Arial"/>
                <a:cs typeface="Arial"/>
              </a:rPr>
              <a:t>protectionism.</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b="1">
                <a:latin typeface="Arial"/>
                <a:cs typeface="Arial"/>
              </a:rPr>
              <a:t>Third, </a:t>
            </a:r>
            <a:r>
              <a:rPr dirty="0" sz="1100" spc="-5">
                <a:latin typeface="Arial"/>
                <a:cs typeface="Arial"/>
              </a:rPr>
              <a:t>within countries, the factor endowment theory predicts that the economic return to  owners of the abundant resources will rise in relation to owners of scarce resources as the  abundant factor is more intensively used; in developing countries, this would generally mean a  rise in the share of national income going to labor. In the absence of trade, labor’s share might  be smaller. Thus trade tends to promote more equality in domestic income distributions. Finally,  by enabling countries to move outside their production possibility frontiers and secure capital as  well as consumption goods from other parts of the world, trade is assumed to stimulate  economic growth. If developed countries have </a:t>
            </a:r>
            <a:r>
              <a:rPr dirty="0" sz="1100">
                <a:latin typeface="Arial"/>
                <a:cs typeface="Arial"/>
              </a:rPr>
              <a:t>the </a:t>
            </a:r>
            <a:r>
              <a:rPr dirty="0" sz="1100" spc="-5">
                <a:latin typeface="Arial"/>
                <a:cs typeface="Arial"/>
              </a:rPr>
              <a:t>comparative advantage in producing higher-  skill capital goods, trade would lower the </a:t>
            </a:r>
            <a:r>
              <a:rPr dirty="0" sz="1100">
                <a:latin typeface="Arial"/>
                <a:cs typeface="Arial"/>
              </a:rPr>
              <a:t>price </a:t>
            </a:r>
            <a:r>
              <a:rPr dirty="0" sz="1100" spc="-5">
                <a:latin typeface="Arial"/>
                <a:cs typeface="Arial"/>
              </a:rPr>
              <a:t>of equipment and machinery and stimulate  investment and growth for developing countries. Developing-country exporters learn from their  customers in developed countries, who </a:t>
            </a:r>
            <a:r>
              <a:rPr dirty="0" sz="1100">
                <a:latin typeface="Arial"/>
                <a:cs typeface="Arial"/>
              </a:rPr>
              <a:t>may </a:t>
            </a:r>
            <a:r>
              <a:rPr dirty="0" sz="1100" spc="-5">
                <a:latin typeface="Arial"/>
                <a:cs typeface="Arial"/>
              </a:rPr>
              <a:t>also alert them to </a:t>
            </a:r>
            <a:r>
              <a:rPr dirty="0" sz="1100">
                <a:latin typeface="Arial"/>
                <a:cs typeface="Arial"/>
              </a:rPr>
              <a:t>other </a:t>
            </a:r>
            <a:r>
              <a:rPr dirty="0" sz="1100" spc="-5">
                <a:latin typeface="Arial"/>
                <a:cs typeface="Arial"/>
              </a:rPr>
              <a:t>products they might  produce given their </a:t>
            </a:r>
            <a:r>
              <a:rPr dirty="0" sz="1100">
                <a:latin typeface="Arial"/>
                <a:cs typeface="Arial"/>
              </a:rPr>
              <a:t>mix </a:t>
            </a:r>
            <a:r>
              <a:rPr dirty="0" sz="1100" spc="-5">
                <a:latin typeface="Arial"/>
                <a:cs typeface="Arial"/>
              </a:rPr>
              <a:t>of skills, as the experience of Taiwan shows. Trade also enables a  nation to obtain the domestically expensive raw materials and other products (as well as  knowledge, ideas, new technologies, etc.) with which it is relatively less well endowed at lower  world market prices. It can thus create the conditions for a more broadly based and self-  sustaining growth of its industrial</a:t>
            </a:r>
            <a:r>
              <a:rPr dirty="0" sz="1100" spc="15">
                <a:latin typeface="Arial"/>
                <a:cs typeface="Arial"/>
              </a:rPr>
              <a:t> </a:t>
            </a:r>
            <a:r>
              <a:rPr dirty="0" sz="1100" spc="-5">
                <a:latin typeface="Arial"/>
                <a:cs typeface="Arial"/>
              </a:rPr>
              <a:t>output.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245</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1053342"/>
            <a:ext cx="5970270" cy="8092440"/>
          </a:xfrm>
          <a:prstGeom prst="rect">
            <a:avLst/>
          </a:prstGeom>
        </p:spPr>
        <p:txBody>
          <a:bodyPr wrap="square" lIns="0" tIns="12065" rIns="0" bIns="0" rtlCol="0" vert="horz">
            <a:spAutoFit/>
          </a:bodyPr>
          <a:lstStyle/>
          <a:p>
            <a:pPr algn="just" marL="12700">
              <a:lnSpc>
                <a:spcPct val="100000"/>
              </a:lnSpc>
              <a:spcBef>
                <a:spcPts val="95"/>
              </a:spcBef>
            </a:pPr>
            <a:r>
              <a:rPr dirty="0" sz="1100" spc="-10" b="1">
                <a:latin typeface="Arial"/>
                <a:cs typeface="Arial"/>
              </a:rPr>
              <a:t>TRADE </a:t>
            </a:r>
            <a:r>
              <a:rPr dirty="0" sz="1100" spc="-5" b="1">
                <a:latin typeface="Arial"/>
                <a:cs typeface="Arial"/>
              </a:rPr>
              <a:t>THEORY AND DEVELOPMENT: THE TRADITIONAL</a:t>
            </a:r>
            <a:r>
              <a:rPr dirty="0" sz="1100" spc="40" b="1">
                <a:latin typeface="Arial"/>
                <a:cs typeface="Arial"/>
              </a:rPr>
              <a:t> </a:t>
            </a:r>
            <a:r>
              <a:rPr dirty="0" sz="1100" spc="-5" b="1">
                <a:latin typeface="Arial"/>
                <a:cs typeface="Arial"/>
              </a:rPr>
              <a:t>ARGUMENTS</a:t>
            </a:r>
            <a:endParaRPr sz="1100">
              <a:latin typeface="Arial"/>
              <a:cs typeface="Arial"/>
            </a:endParaRPr>
          </a:p>
          <a:p>
            <a:pPr>
              <a:lnSpc>
                <a:spcPct val="100000"/>
              </a:lnSpc>
              <a:spcBef>
                <a:spcPts val="35"/>
              </a:spcBef>
            </a:pPr>
            <a:endParaRPr sz="1200">
              <a:latin typeface="Arial"/>
              <a:cs typeface="Arial"/>
            </a:endParaRPr>
          </a:p>
          <a:p>
            <a:pPr algn="just" marL="12700" marR="8890">
              <a:lnSpc>
                <a:spcPts val="1260"/>
              </a:lnSpc>
            </a:pPr>
            <a:r>
              <a:rPr dirty="0" sz="1100" spc="-5">
                <a:latin typeface="Arial"/>
                <a:cs typeface="Arial"/>
              </a:rPr>
              <a:t>We are now in a position to summarize the theoretical answers to our five basic questions about  trade and development derived from the neoclassical free trade</a:t>
            </a:r>
            <a:r>
              <a:rPr dirty="0" sz="1100" spc="60">
                <a:latin typeface="Arial"/>
                <a:cs typeface="Arial"/>
              </a:rPr>
              <a:t> </a:t>
            </a:r>
            <a:r>
              <a:rPr dirty="0" sz="1100" spc="-5">
                <a:latin typeface="Arial"/>
                <a:cs typeface="Arial"/>
              </a:rPr>
              <a:t>model.</a:t>
            </a:r>
            <a:endParaRPr sz="1100">
              <a:latin typeface="Arial"/>
              <a:cs typeface="Arial"/>
            </a:endParaRPr>
          </a:p>
          <a:p>
            <a:pPr>
              <a:lnSpc>
                <a:spcPct val="100000"/>
              </a:lnSpc>
              <a:spcBef>
                <a:spcPts val="55"/>
              </a:spcBef>
            </a:pPr>
            <a:endParaRPr sz="1050">
              <a:latin typeface="Arial"/>
              <a:cs typeface="Arial"/>
            </a:endParaRPr>
          </a:p>
          <a:p>
            <a:pPr algn="just" marL="469900" marR="6350" indent="-228600">
              <a:lnSpc>
                <a:spcPts val="1270"/>
              </a:lnSpc>
              <a:buFont typeface="Arial"/>
              <a:buAutoNum type="arabicPeriod"/>
              <a:tabLst>
                <a:tab pos="470534" algn="l"/>
              </a:tabLst>
            </a:pPr>
            <a:r>
              <a:rPr dirty="0" sz="1100" spc="-5">
                <a:latin typeface="Arial"/>
                <a:cs typeface="Arial"/>
              </a:rPr>
              <a:t>Trade is an important stimulator of economic growth. It enlarges a country’s  consumption capacities, increases world output, and provides access to scarce  resources and worldwide markets for products without which poor countries would be  unable to</a:t>
            </a:r>
            <a:r>
              <a:rPr dirty="0" sz="1100">
                <a:latin typeface="Arial"/>
                <a:cs typeface="Arial"/>
              </a:rPr>
              <a:t> </a:t>
            </a:r>
            <a:r>
              <a:rPr dirty="0" sz="1100" spc="-5">
                <a:latin typeface="Arial"/>
                <a:cs typeface="Arial"/>
              </a:rPr>
              <a:t>grow.</a:t>
            </a:r>
            <a:endParaRPr sz="1100">
              <a:latin typeface="Arial"/>
              <a:cs typeface="Arial"/>
            </a:endParaRPr>
          </a:p>
          <a:p>
            <a:pPr algn="just" marL="469900" indent="-229235">
              <a:lnSpc>
                <a:spcPts val="1185"/>
              </a:lnSpc>
              <a:buFont typeface="Arial"/>
              <a:buAutoNum type="arabicPeriod"/>
              <a:tabLst>
                <a:tab pos="470534" algn="l"/>
              </a:tabLst>
            </a:pPr>
            <a:r>
              <a:rPr dirty="0" sz="1100" spc="-5">
                <a:latin typeface="Arial"/>
                <a:cs typeface="Arial"/>
              </a:rPr>
              <a:t>Trade</a:t>
            </a:r>
            <a:r>
              <a:rPr dirty="0" sz="1100" spc="100">
                <a:latin typeface="Arial"/>
                <a:cs typeface="Arial"/>
              </a:rPr>
              <a:t> </a:t>
            </a:r>
            <a:r>
              <a:rPr dirty="0" sz="1100" spc="-5">
                <a:latin typeface="Arial"/>
                <a:cs typeface="Arial"/>
              </a:rPr>
              <a:t>tends</a:t>
            </a:r>
            <a:r>
              <a:rPr dirty="0" sz="1100" spc="105">
                <a:latin typeface="Arial"/>
                <a:cs typeface="Arial"/>
              </a:rPr>
              <a:t> </a:t>
            </a:r>
            <a:r>
              <a:rPr dirty="0" sz="1100" spc="-5">
                <a:latin typeface="Arial"/>
                <a:cs typeface="Arial"/>
              </a:rPr>
              <a:t>to</a:t>
            </a:r>
            <a:r>
              <a:rPr dirty="0" sz="1100" spc="100">
                <a:latin typeface="Arial"/>
                <a:cs typeface="Arial"/>
              </a:rPr>
              <a:t> </a:t>
            </a:r>
            <a:r>
              <a:rPr dirty="0" sz="1100" spc="-5">
                <a:latin typeface="Arial"/>
                <a:cs typeface="Arial"/>
              </a:rPr>
              <a:t>promote</a:t>
            </a:r>
            <a:r>
              <a:rPr dirty="0" sz="1100" spc="110">
                <a:latin typeface="Arial"/>
                <a:cs typeface="Arial"/>
              </a:rPr>
              <a:t> </a:t>
            </a:r>
            <a:r>
              <a:rPr dirty="0" sz="1100" spc="-5">
                <a:latin typeface="Arial"/>
                <a:cs typeface="Arial"/>
              </a:rPr>
              <a:t>greater</a:t>
            </a:r>
            <a:r>
              <a:rPr dirty="0" sz="1100" spc="105">
                <a:latin typeface="Arial"/>
                <a:cs typeface="Arial"/>
              </a:rPr>
              <a:t> </a:t>
            </a:r>
            <a:r>
              <a:rPr dirty="0" sz="1100" spc="-5">
                <a:latin typeface="Arial"/>
                <a:cs typeface="Arial"/>
              </a:rPr>
              <a:t>international</a:t>
            </a:r>
            <a:r>
              <a:rPr dirty="0" sz="1100" spc="100">
                <a:latin typeface="Arial"/>
                <a:cs typeface="Arial"/>
              </a:rPr>
              <a:t> </a:t>
            </a:r>
            <a:r>
              <a:rPr dirty="0" sz="1100" spc="-5">
                <a:latin typeface="Arial"/>
                <a:cs typeface="Arial"/>
              </a:rPr>
              <a:t>and</a:t>
            </a:r>
            <a:r>
              <a:rPr dirty="0" sz="1100" spc="95">
                <a:latin typeface="Arial"/>
                <a:cs typeface="Arial"/>
              </a:rPr>
              <a:t> </a:t>
            </a:r>
            <a:r>
              <a:rPr dirty="0" sz="1100" spc="-5">
                <a:latin typeface="Arial"/>
                <a:cs typeface="Arial"/>
              </a:rPr>
              <a:t>domestic</a:t>
            </a:r>
            <a:r>
              <a:rPr dirty="0" sz="1100" spc="105">
                <a:latin typeface="Arial"/>
                <a:cs typeface="Arial"/>
              </a:rPr>
              <a:t> </a:t>
            </a:r>
            <a:r>
              <a:rPr dirty="0" sz="1100" spc="-5">
                <a:latin typeface="Arial"/>
                <a:cs typeface="Arial"/>
              </a:rPr>
              <a:t>equality</a:t>
            </a:r>
            <a:r>
              <a:rPr dirty="0" sz="1100" spc="100">
                <a:latin typeface="Arial"/>
                <a:cs typeface="Arial"/>
              </a:rPr>
              <a:t> </a:t>
            </a:r>
            <a:r>
              <a:rPr dirty="0" sz="1100" spc="-5">
                <a:latin typeface="Arial"/>
                <a:cs typeface="Arial"/>
              </a:rPr>
              <a:t>by</a:t>
            </a:r>
            <a:r>
              <a:rPr dirty="0" sz="1100" spc="105">
                <a:latin typeface="Arial"/>
                <a:cs typeface="Arial"/>
              </a:rPr>
              <a:t> </a:t>
            </a:r>
            <a:r>
              <a:rPr dirty="0" sz="1100" spc="-5">
                <a:latin typeface="Arial"/>
                <a:cs typeface="Arial"/>
              </a:rPr>
              <a:t>equalizing</a:t>
            </a:r>
            <a:r>
              <a:rPr dirty="0" sz="1100" spc="105">
                <a:latin typeface="Arial"/>
                <a:cs typeface="Arial"/>
              </a:rPr>
              <a:t> </a:t>
            </a:r>
            <a:r>
              <a:rPr dirty="0" sz="1100" spc="-5">
                <a:latin typeface="Arial"/>
                <a:cs typeface="Arial"/>
              </a:rPr>
              <a:t>factor</a:t>
            </a:r>
            <a:endParaRPr sz="1100">
              <a:latin typeface="Arial"/>
              <a:cs typeface="Arial"/>
            </a:endParaRPr>
          </a:p>
          <a:p>
            <a:pPr algn="just" marL="469900" marR="6350">
              <a:lnSpc>
                <a:spcPts val="1270"/>
              </a:lnSpc>
              <a:spcBef>
                <a:spcPts val="55"/>
              </a:spcBef>
            </a:pPr>
            <a:r>
              <a:rPr dirty="0" sz="1100" spc="-5">
                <a:latin typeface="Arial"/>
                <a:cs typeface="Arial"/>
              </a:rPr>
              <a:t>prices, raising real incomes of trading countries, and making efficient use of each  nation’s and the world’s resource endowments (e.g., raising relative wages in labor-  abundant countries and lowering them in labor-scarce</a:t>
            </a:r>
            <a:r>
              <a:rPr dirty="0" sz="1100" spc="45">
                <a:latin typeface="Arial"/>
                <a:cs typeface="Arial"/>
              </a:rPr>
              <a:t> </a:t>
            </a:r>
            <a:r>
              <a:rPr dirty="0" sz="1100" spc="-5">
                <a:latin typeface="Arial"/>
                <a:cs typeface="Arial"/>
              </a:rPr>
              <a:t>countries).</a:t>
            </a:r>
            <a:endParaRPr sz="1100">
              <a:latin typeface="Arial"/>
              <a:cs typeface="Arial"/>
            </a:endParaRPr>
          </a:p>
          <a:p>
            <a:pPr algn="just" marL="469900" indent="-229235">
              <a:lnSpc>
                <a:spcPts val="1195"/>
              </a:lnSpc>
              <a:buFont typeface="Arial"/>
              <a:buAutoNum type="arabicPeriod" startAt="3"/>
              <a:tabLst>
                <a:tab pos="470534" algn="l"/>
              </a:tabLst>
            </a:pPr>
            <a:r>
              <a:rPr dirty="0" sz="1100" spc="-5">
                <a:latin typeface="Arial"/>
                <a:cs typeface="Arial"/>
              </a:rPr>
              <a:t>Trade</a:t>
            </a:r>
            <a:r>
              <a:rPr dirty="0" sz="1100" spc="110">
                <a:latin typeface="Arial"/>
                <a:cs typeface="Arial"/>
              </a:rPr>
              <a:t> </a:t>
            </a:r>
            <a:r>
              <a:rPr dirty="0" sz="1100" spc="-5">
                <a:latin typeface="Arial"/>
                <a:cs typeface="Arial"/>
              </a:rPr>
              <a:t>helps</a:t>
            </a:r>
            <a:r>
              <a:rPr dirty="0" sz="1100" spc="110">
                <a:latin typeface="Arial"/>
                <a:cs typeface="Arial"/>
              </a:rPr>
              <a:t> </a:t>
            </a:r>
            <a:r>
              <a:rPr dirty="0" sz="1100" spc="-5">
                <a:latin typeface="Arial"/>
                <a:cs typeface="Arial"/>
              </a:rPr>
              <a:t>countries</a:t>
            </a:r>
            <a:r>
              <a:rPr dirty="0" sz="1100" spc="110">
                <a:latin typeface="Arial"/>
                <a:cs typeface="Arial"/>
              </a:rPr>
              <a:t> </a:t>
            </a:r>
            <a:r>
              <a:rPr dirty="0" sz="1100" spc="-5">
                <a:latin typeface="Arial"/>
                <a:cs typeface="Arial"/>
              </a:rPr>
              <a:t>achieve</a:t>
            </a:r>
            <a:r>
              <a:rPr dirty="0" sz="1100" spc="110">
                <a:latin typeface="Arial"/>
                <a:cs typeface="Arial"/>
              </a:rPr>
              <a:t> </a:t>
            </a:r>
            <a:r>
              <a:rPr dirty="0" sz="1100" spc="-5">
                <a:latin typeface="Arial"/>
                <a:cs typeface="Arial"/>
              </a:rPr>
              <a:t>development</a:t>
            </a:r>
            <a:r>
              <a:rPr dirty="0" sz="1100" spc="110">
                <a:latin typeface="Arial"/>
                <a:cs typeface="Arial"/>
              </a:rPr>
              <a:t> </a:t>
            </a:r>
            <a:r>
              <a:rPr dirty="0" sz="1100" spc="-5">
                <a:latin typeface="Arial"/>
                <a:cs typeface="Arial"/>
              </a:rPr>
              <a:t>by</a:t>
            </a:r>
            <a:r>
              <a:rPr dirty="0" sz="1100" spc="114">
                <a:latin typeface="Arial"/>
                <a:cs typeface="Arial"/>
              </a:rPr>
              <a:t> </a:t>
            </a:r>
            <a:r>
              <a:rPr dirty="0" sz="1100" spc="-5">
                <a:latin typeface="Arial"/>
                <a:cs typeface="Arial"/>
              </a:rPr>
              <a:t>promoting</a:t>
            </a:r>
            <a:r>
              <a:rPr dirty="0" sz="1100" spc="110">
                <a:latin typeface="Arial"/>
                <a:cs typeface="Arial"/>
              </a:rPr>
              <a:t> </a:t>
            </a:r>
            <a:r>
              <a:rPr dirty="0" sz="1100" spc="-5">
                <a:latin typeface="Arial"/>
                <a:cs typeface="Arial"/>
              </a:rPr>
              <a:t>and</a:t>
            </a:r>
            <a:r>
              <a:rPr dirty="0" sz="1100" spc="110">
                <a:latin typeface="Arial"/>
                <a:cs typeface="Arial"/>
              </a:rPr>
              <a:t> </a:t>
            </a:r>
            <a:r>
              <a:rPr dirty="0" sz="1100" spc="-5">
                <a:latin typeface="Arial"/>
                <a:cs typeface="Arial"/>
              </a:rPr>
              <a:t>rewarding</a:t>
            </a:r>
            <a:r>
              <a:rPr dirty="0" sz="1100" spc="114">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sectors</a:t>
            </a:r>
            <a:r>
              <a:rPr dirty="0" sz="1100" spc="110">
                <a:latin typeface="Arial"/>
                <a:cs typeface="Arial"/>
              </a:rPr>
              <a:t> </a:t>
            </a:r>
            <a:r>
              <a:rPr dirty="0" sz="1100" spc="-5">
                <a:latin typeface="Arial"/>
                <a:cs typeface="Arial"/>
              </a:rPr>
              <a:t>of</a:t>
            </a:r>
            <a:endParaRPr sz="1100">
              <a:latin typeface="Arial"/>
              <a:cs typeface="Arial"/>
            </a:endParaRPr>
          </a:p>
          <a:p>
            <a:pPr algn="just" marL="469900" marR="5080">
              <a:lnSpc>
                <a:spcPts val="1270"/>
              </a:lnSpc>
              <a:spcBef>
                <a:spcPts val="55"/>
              </a:spcBef>
            </a:pPr>
            <a:r>
              <a:rPr dirty="0" sz="1100" spc="-5">
                <a:latin typeface="Arial"/>
                <a:cs typeface="Arial"/>
              </a:rPr>
              <a:t>the economy where individual countries possess a comparative advantage, whether in  terms of labor efficiency or factor endowments. It also lets them take advantage of  economies of scale.</a:t>
            </a:r>
            <a:endParaRPr sz="1100">
              <a:latin typeface="Arial"/>
              <a:cs typeface="Arial"/>
            </a:endParaRPr>
          </a:p>
          <a:p>
            <a:pPr algn="just" marL="469900" indent="-229235">
              <a:lnSpc>
                <a:spcPts val="1195"/>
              </a:lnSpc>
              <a:buFont typeface="Arial"/>
              <a:buAutoNum type="arabicPeriod" startAt="4"/>
              <a:tabLst>
                <a:tab pos="470534" algn="l"/>
              </a:tabLst>
            </a:pPr>
            <a:r>
              <a:rPr dirty="0" sz="1100" spc="-5">
                <a:latin typeface="Arial"/>
                <a:cs typeface="Arial"/>
              </a:rPr>
              <a:t>In</a:t>
            </a:r>
            <a:r>
              <a:rPr dirty="0" sz="1100" spc="20">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world</a:t>
            </a:r>
            <a:r>
              <a:rPr dirty="0" sz="1100" spc="20">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free</a:t>
            </a:r>
            <a:r>
              <a:rPr dirty="0" sz="1100" spc="20">
                <a:latin typeface="Arial"/>
                <a:cs typeface="Arial"/>
              </a:rPr>
              <a:t> </a:t>
            </a:r>
            <a:r>
              <a:rPr dirty="0" sz="1100" spc="-5">
                <a:latin typeface="Arial"/>
                <a:cs typeface="Arial"/>
              </a:rPr>
              <a:t>trade,</a:t>
            </a:r>
            <a:r>
              <a:rPr dirty="0" sz="1100" spc="25">
                <a:latin typeface="Arial"/>
                <a:cs typeface="Arial"/>
              </a:rPr>
              <a:t> </a:t>
            </a:r>
            <a:r>
              <a:rPr dirty="0" sz="1100" spc="-5">
                <a:latin typeface="Arial"/>
                <a:cs typeface="Arial"/>
              </a:rPr>
              <a:t>international</a:t>
            </a:r>
            <a:r>
              <a:rPr dirty="0" sz="1100" spc="20">
                <a:latin typeface="Arial"/>
                <a:cs typeface="Arial"/>
              </a:rPr>
              <a:t> </a:t>
            </a:r>
            <a:r>
              <a:rPr dirty="0" sz="1100" spc="-5">
                <a:latin typeface="Arial"/>
                <a:cs typeface="Arial"/>
              </a:rPr>
              <a:t>prices</a:t>
            </a:r>
            <a:r>
              <a:rPr dirty="0" sz="1100" spc="20">
                <a:latin typeface="Arial"/>
                <a:cs typeface="Arial"/>
              </a:rPr>
              <a:t> </a:t>
            </a:r>
            <a:r>
              <a:rPr dirty="0" sz="1100" spc="-5">
                <a:latin typeface="Arial"/>
                <a:cs typeface="Arial"/>
              </a:rPr>
              <a:t>and</a:t>
            </a:r>
            <a:r>
              <a:rPr dirty="0" sz="1100" spc="20">
                <a:latin typeface="Arial"/>
                <a:cs typeface="Arial"/>
              </a:rPr>
              <a:t> </a:t>
            </a:r>
            <a:r>
              <a:rPr dirty="0" sz="1100" spc="-5">
                <a:latin typeface="Arial"/>
                <a:cs typeface="Arial"/>
              </a:rPr>
              <a:t>costs</a:t>
            </a:r>
            <a:r>
              <a:rPr dirty="0" sz="1100" spc="20">
                <a:latin typeface="Arial"/>
                <a:cs typeface="Arial"/>
              </a:rPr>
              <a:t> </a:t>
            </a:r>
            <a:r>
              <a:rPr dirty="0" sz="1100" spc="-5">
                <a:latin typeface="Arial"/>
                <a:cs typeface="Arial"/>
              </a:rPr>
              <a:t>of</a:t>
            </a:r>
            <a:r>
              <a:rPr dirty="0" sz="1100" spc="25">
                <a:latin typeface="Arial"/>
                <a:cs typeface="Arial"/>
              </a:rPr>
              <a:t> </a:t>
            </a:r>
            <a:r>
              <a:rPr dirty="0" sz="1100" spc="-5">
                <a:latin typeface="Arial"/>
                <a:cs typeface="Arial"/>
              </a:rPr>
              <a:t>production</a:t>
            </a:r>
            <a:r>
              <a:rPr dirty="0" sz="1100" spc="20">
                <a:latin typeface="Arial"/>
                <a:cs typeface="Arial"/>
              </a:rPr>
              <a:t> </a:t>
            </a:r>
            <a:r>
              <a:rPr dirty="0" sz="1100" spc="-5">
                <a:latin typeface="Arial"/>
                <a:cs typeface="Arial"/>
              </a:rPr>
              <a:t>determine</a:t>
            </a:r>
            <a:r>
              <a:rPr dirty="0" sz="1100" spc="25">
                <a:latin typeface="Arial"/>
                <a:cs typeface="Arial"/>
              </a:rPr>
              <a:t> </a:t>
            </a:r>
            <a:r>
              <a:rPr dirty="0" sz="1100" spc="-5">
                <a:latin typeface="Arial"/>
                <a:cs typeface="Arial"/>
              </a:rPr>
              <a:t>how</a:t>
            </a:r>
            <a:r>
              <a:rPr dirty="0" sz="1100" spc="25">
                <a:latin typeface="Arial"/>
                <a:cs typeface="Arial"/>
              </a:rPr>
              <a:t> </a:t>
            </a:r>
            <a:r>
              <a:rPr dirty="0" sz="1100" spc="-5">
                <a:latin typeface="Arial"/>
                <a:cs typeface="Arial"/>
              </a:rPr>
              <a:t>much</a:t>
            </a:r>
            <a:endParaRPr sz="1100">
              <a:latin typeface="Arial"/>
              <a:cs typeface="Arial"/>
            </a:endParaRPr>
          </a:p>
          <a:p>
            <a:pPr algn="just" marL="469900" marR="5080">
              <a:lnSpc>
                <a:spcPct val="95700"/>
              </a:lnSpc>
              <a:spcBef>
                <a:spcPts val="30"/>
              </a:spcBef>
            </a:pPr>
            <a:r>
              <a:rPr dirty="0" sz="1100" spc="-5">
                <a:latin typeface="Arial"/>
                <a:cs typeface="Arial"/>
              </a:rPr>
              <a:t>a country should trade in order to maximize its national welfare. Countries should follow  the principle of comparative advantage and not try to interfere with the free workings of  the market through government policies that either promote exports or restrict</a:t>
            </a:r>
            <a:r>
              <a:rPr dirty="0" sz="1100" spc="185">
                <a:latin typeface="Arial"/>
                <a:cs typeface="Arial"/>
              </a:rPr>
              <a:t> </a:t>
            </a:r>
            <a:r>
              <a:rPr dirty="0" sz="1100" spc="-5">
                <a:latin typeface="Arial"/>
                <a:cs typeface="Arial"/>
              </a:rPr>
              <a:t>imports.</a:t>
            </a:r>
            <a:endParaRPr sz="1100">
              <a:latin typeface="Arial"/>
              <a:cs typeface="Arial"/>
            </a:endParaRPr>
          </a:p>
          <a:p>
            <a:pPr algn="just" marL="469900" marR="8255" indent="-228600">
              <a:lnSpc>
                <a:spcPts val="1270"/>
              </a:lnSpc>
              <a:spcBef>
                <a:spcPts val="30"/>
              </a:spcBef>
              <a:buFont typeface="Arial"/>
              <a:buAutoNum type="arabicPeriod" startAt="5"/>
              <a:tabLst>
                <a:tab pos="469900" algn="l"/>
              </a:tabLst>
            </a:pPr>
            <a:r>
              <a:rPr dirty="0" sz="1100" spc="-5">
                <a:latin typeface="Arial"/>
                <a:cs typeface="Arial"/>
              </a:rPr>
              <a:t>Finally, to promote growth and development, an outward-looking international policy is  required. In all cases, self-reliance based on partial or complete isolation is asserted to  be economically inferior to participation in a world of unlimited free</a:t>
            </a:r>
            <a:r>
              <a:rPr dirty="0" sz="1100" spc="85">
                <a:latin typeface="Arial"/>
                <a:cs typeface="Arial"/>
              </a:rPr>
              <a:t> </a:t>
            </a:r>
            <a:r>
              <a:rPr dirty="0" sz="1100" spc="-5">
                <a:latin typeface="Arial"/>
                <a:cs typeface="Arial"/>
              </a:rPr>
              <a:t>trade.</a:t>
            </a:r>
            <a:endParaRPr sz="1100">
              <a:latin typeface="Arial"/>
              <a:cs typeface="Arial"/>
            </a:endParaRPr>
          </a:p>
          <a:p>
            <a:pPr>
              <a:lnSpc>
                <a:spcPct val="100000"/>
              </a:lnSpc>
              <a:spcBef>
                <a:spcPts val="45"/>
              </a:spcBef>
            </a:pPr>
            <a:endParaRPr sz="1050">
              <a:latin typeface="Arial"/>
              <a:cs typeface="Arial"/>
            </a:endParaRPr>
          </a:p>
          <a:p>
            <a:pPr algn="just" marL="12700" marR="6350">
              <a:lnSpc>
                <a:spcPts val="1270"/>
              </a:lnSpc>
            </a:pPr>
            <a:r>
              <a:rPr dirty="0" sz="1100" spc="-5" b="1">
                <a:latin typeface="Arial"/>
                <a:cs typeface="Arial"/>
              </a:rPr>
              <a:t>THE CRITIQUE OF TRADITIONAL FREE-TRADE THEORY </a:t>
            </a:r>
            <a:r>
              <a:rPr dirty="0" sz="1100" b="1">
                <a:latin typeface="Arial"/>
                <a:cs typeface="Arial"/>
              </a:rPr>
              <a:t>IN </a:t>
            </a:r>
            <a:r>
              <a:rPr dirty="0" sz="1100" spc="-5" b="1">
                <a:latin typeface="Arial"/>
                <a:cs typeface="Arial"/>
              </a:rPr>
              <a:t>THE </a:t>
            </a:r>
            <a:r>
              <a:rPr dirty="0" sz="1100" spc="-10" b="1">
                <a:latin typeface="Arial"/>
                <a:cs typeface="Arial"/>
              </a:rPr>
              <a:t>CONTEXT OF  </a:t>
            </a:r>
            <a:r>
              <a:rPr dirty="0" sz="1100" spc="-5" b="1">
                <a:latin typeface="Arial"/>
                <a:cs typeface="Arial"/>
              </a:rPr>
              <a:t>DEVELOPING-COUNTRY EXPERIENCE</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spcBef>
                <a:spcPts val="5"/>
              </a:spcBef>
            </a:pPr>
            <a:r>
              <a:rPr dirty="0" sz="1100" spc="-5">
                <a:latin typeface="Arial"/>
                <a:cs typeface="Arial"/>
              </a:rPr>
              <a:t>The conclusions of traditional international trade theory are derived from a number of explicit  and implicit assumptions that in many </a:t>
            </a:r>
            <a:r>
              <a:rPr dirty="0" sz="1100">
                <a:latin typeface="Arial"/>
                <a:cs typeface="Arial"/>
              </a:rPr>
              <a:t>ways are </a:t>
            </a:r>
            <a:r>
              <a:rPr dirty="0" sz="1100" spc="-5">
                <a:latin typeface="Arial"/>
                <a:cs typeface="Arial"/>
              </a:rPr>
              <a:t>often contrary to the reality of contemporary  international economic relations. This is not to </a:t>
            </a:r>
            <a:r>
              <a:rPr dirty="0" sz="1100">
                <a:latin typeface="Arial"/>
                <a:cs typeface="Arial"/>
              </a:rPr>
              <a:t>deny </a:t>
            </a:r>
            <a:r>
              <a:rPr dirty="0" sz="1100" spc="-5">
                <a:latin typeface="Arial"/>
                <a:cs typeface="Arial"/>
              </a:rPr>
              <a:t>the potential benefits of a world of free trade  but rather to recognize that the real world is beset by national protectionism, international  noncompetitive pricing policies, and other market failures. What are the major and crucial  assumptions of the traditional factor endowment theory of trade, and how are these  assumptions violated in the real world? What are the implications for the trade and financial  prospects of developing nations when a more realistic assessment of the actual mechanism of  international economic and political relations is made? Six basic assumptions of the traditional  neoclassical trade model must be</a:t>
            </a:r>
            <a:r>
              <a:rPr dirty="0" sz="1100" spc="20">
                <a:latin typeface="Arial"/>
                <a:cs typeface="Arial"/>
              </a:rPr>
              <a:t> </a:t>
            </a:r>
            <a:r>
              <a:rPr dirty="0" sz="1100" spc="-5">
                <a:latin typeface="Arial"/>
                <a:cs typeface="Arial"/>
              </a:rPr>
              <a:t>scrutinized:</a:t>
            </a:r>
            <a:endParaRPr sz="1100">
              <a:latin typeface="Arial"/>
              <a:cs typeface="Arial"/>
            </a:endParaRPr>
          </a:p>
          <a:p>
            <a:pPr>
              <a:lnSpc>
                <a:spcPct val="100000"/>
              </a:lnSpc>
              <a:spcBef>
                <a:spcPts val="30"/>
              </a:spcBef>
            </a:pPr>
            <a:endParaRPr sz="1100">
              <a:latin typeface="Arial"/>
              <a:cs typeface="Arial"/>
            </a:endParaRPr>
          </a:p>
          <a:p>
            <a:pPr algn="just" marL="469900" marR="8255" indent="-228600">
              <a:lnSpc>
                <a:spcPts val="1270"/>
              </a:lnSpc>
              <a:buFont typeface="Arial"/>
              <a:buAutoNum type="arabicPeriod"/>
              <a:tabLst>
                <a:tab pos="470534" algn="l"/>
              </a:tabLst>
            </a:pPr>
            <a:r>
              <a:rPr dirty="0" sz="1100" spc="-5">
                <a:latin typeface="Arial"/>
                <a:cs typeface="Arial"/>
              </a:rPr>
              <a:t>All productive resources are fixed in quantity and constant in quality across nations and  are fully</a:t>
            </a:r>
            <a:r>
              <a:rPr dirty="0" sz="1100">
                <a:latin typeface="Arial"/>
                <a:cs typeface="Arial"/>
              </a:rPr>
              <a:t> </a:t>
            </a:r>
            <a:r>
              <a:rPr dirty="0" sz="1100" spc="-5">
                <a:latin typeface="Arial"/>
                <a:cs typeface="Arial"/>
              </a:rPr>
              <a:t>employed.</a:t>
            </a:r>
            <a:endParaRPr sz="1100">
              <a:latin typeface="Arial"/>
              <a:cs typeface="Arial"/>
            </a:endParaRPr>
          </a:p>
          <a:p>
            <a:pPr algn="just" marL="469900" marR="5715" indent="-228600">
              <a:lnSpc>
                <a:spcPts val="1260"/>
              </a:lnSpc>
              <a:buFont typeface="Arial"/>
              <a:buAutoNum type="arabicPeriod"/>
              <a:tabLst>
                <a:tab pos="470534" algn="l"/>
              </a:tabLst>
            </a:pPr>
            <a:r>
              <a:rPr dirty="0" sz="1100" spc="-5">
                <a:latin typeface="Arial"/>
                <a:cs typeface="Arial"/>
              </a:rPr>
              <a:t>The technology of production is fixed (classical model) or similar and freely available to  all</a:t>
            </a:r>
            <a:r>
              <a:rPr dirty="0" sz="1100" spc="30">
                <a:latin typeface="Arial"/>
                <a:cs typeface="Arial"/>
              </a:rPr>
              <a:t> </a:t>
            </a:r>
            <a:r>
              <a:rPr dirty="0" sz="1100" spc="-5">
                <a:latin typeface="Arial"/>
                <a:cs typeface="Arial"/>
              </a:rPr>
              <a:t>nations</a:t>
            </a:r>
            <a:r>
              <a:rPr dirty="0" sz="1100" spc="30">
                <a:latin typeface="Arial"/>
                <a:cs typeface="Arial"/>
              </a:rPr>
              <a:t> </a:t>
            </a:r>
            <a:r>
              <a:rPr dirty="0" sz="1100" spc="-5">
                <a:latin typeface="Arial"/>
                <a:cs typeface="Arial"/>
              </a:rPr>
              <a:t>(factor</a:t>
            </a:r>
            <a:r>
              <a:rPr dirty="0" sz="1100" spc="30">
                <a:latin typeface="Arial"/>
                <a:cs typeface="Arial"/>
              </a:rPr>
              <a:t> </a:t>
            </a:r>
            <a:r>
              <a:rPr dirty="0" sz="1100" spc="-5">
                <a:latin typeface="Arial"/>
                <a:cs typeface="Arial"/>
              </a:rPr>
              <a:t>endowment</a:t>
            </a:r>
            <a:r>
              <a:rPr dirty="0" sz="1100" spc="30">
                <a:latin typeface="Arial"/>
                <a:cs typeface="Arial"/>
              </a:rPr>
              <a:t> </a:t>
            </a:r>
            <a:r>
              <a:rPr dirty="0" sz="1100" spc="-5">
                <a:latin typeface="Arial"/>
                <a:cs typeface="Arial"/>
              </a:rPr>
              <a:t>model).</a:t>
            </a:r>
            <a:r>
              <a:rPr dirty="0" sz="1100" spc="30">
                <a:latin typeface="Arial"/>
                <a:cs typeface="Arial"/>
              </a:rPr>
              <a:t> </a:t>
            </a:r>
            <a:r>
              <a:rPr dirty="0" sz="1100" spc="-5">
                <a:latin typeface="Arial"/>
                <a:cs typeface="Arial"/>
              </a:rPr>
              <a:t>Moreover,</a:t>
            </a:r>
            <a:r>
              <a:rPr dirty="0" sz="1100" spc="40">
                <a:latin typeface="Arial"/>
                <a:cs typeface="Arial"/>
              </a:rPr>
              <a:t> </a:t>
            </a:r>
            <a:r>
              <a:rPr dirty="0" sz="1100" spc="-5">
                <a:latin typeface="Arial"/>
                <a:cs typeface="Arial"/>
              </a:rPr>
              <a:t>the</a:t>
            </a:r>
            <a:r>
              <a:rPr dirty="0" sz="1100" spc="35">
                <a:latin typeface="Arial"/>
                <a:cs typeface="Arial"/>
              </a:rPr>
              <a:t> </a:t>
            </a:r>
            <a:r>
              <a:rPr dirty="0" sz="1100" spc="-5">
                <a:latin typeface="Arial"/>
                <a:cs typeface="Arial"/>
              </a:rPr>
              <a:t>spread</a:t>
            </a:r>
            <a:r>
              <a:rPr dirty="0" sz="1100" spc="25">
                <a:latin typeface="Arial"/>
                <a:cs typeface="Arial"/>
              </a:rPr>
              <a:t> </a:t>
            </a:r>
            <a:r>
              <a:rPr dirty="0" sz="1100" spc="-5">
                <a:latin typeface="Arial"/>
                <a:cs typeface="Arial"/>
              </a:rPr>
              <a:t>of</a:t>
            </a:r>
            <a:r>
              <a:rPr dirty="0" sz="1100" spc="30">
                <a:latin typeface="Arial"/>
                <a:cs typeface="Arial"/>
              </a:rPr>
              <a:t> </a:t>
            </a:r>
            <a:r>
              <a:rPr dirty="0" sz="1100" spc="-5">
                <a:latin typeface="Arial"/>
                <a:cs typeface="Arial"/>
              </a:rPr>
              <a:t>such</a:t>
            </a:r>
            <a:r>
              <a:rPr dirty="0" sz="1100" spc="35">
                <a:latin typeface="Arial"/>
                <a:cs typeface="Arial"/>
              </a:rPr>
              <a:t> </a:t>
            </a:r>
            <a:r>
              <a:rPr dirty="0" sz="1100" spc="-5">
                <a:latin typeface="Arial"/>
                <a:cs typeface="Arial"/>
              </a:rPr>
              <a:t>technology</a:t>
            </a:r>
            <a:r>
              <a:rPr dirty="0" sz="1100" spc="30">
                <a:latin typeface="Arial"/>
                <a:cs typeface="Arial"/>
              </a:rPr>
              <a:t> </a:t>
            </a:r>
            <a:r>
              <a:rPr dirty="0" sz="1100" spc="-5">
                <a:latin typeface="Arial"/>
                <a:cs typeface="Arial"/>
              </a:rPr>
              <a:t>works</a:t>
            </a:r>
            <a:r>
              <a:rPr dirty="0" sz="1100" spc="30">
                <a:latin typeface="Arial"/>
                <a:cs typeface="Arial"/>
              </a:rPr>
              <a:t> </a:t>
            </a:r>
            <a:r>
              <a:rPr dirty="0" sz="1100" spc="-5">
                <a:latin typeface="Arial"/>
                <a:cs typeface="Arial"/>
              </a:rPr>
              <a:t>to</a:t>
            </a:r>
            <a:endParaRPr sz="1100">
              <a:latin typeface="Arial"/>
              <a:cs typeface="Arial"/>
            </a:endParaRPr>
          </a:p>
          <a:p>
            <a:pPr algn="just" marL="469900">
              <a:lnSpc>
                <a:spcPts val="1205"/>
              </a:lnSpc>
            </a:pPr>
            <a:r>
              <a:rPr dirty="0" sz="1100" spc="-5">
                <a:latin typeface="Arial"/>
                <a:cs typeface="Arial"/>
              </a:rPr>
              <a:t>the</a:t>
            </a:r>
            <a:r>
              <a:rPr dirty="0" sz="1100" spc="165">
                <a:latin typeface="Arial"/>
                <a:cs typeface="Arial"/>
              </a:rPr>
              <a:t> </a:t>
            </a:r>
            <a:r>
              <a:rPr dirty="0" sz="1100" spc="-5">
                <a:latin typeface="Arial"/>
                <a:cs typeface="Arial"/>
              </a:rPr>
              <a:t>benefit</a:t>
            </a:r>
            <a:r>
              <a:rPr dirty="0" sz="1100" spc="165">
                <a:latin typeface="Arial"/>
                <a:cs typeface="Arial"/>
              </a:rPr>
              <a:t> </a:t>
            </a:r>
            <a:r>
              <a:rPr dirty="0" sz="1100" spc="-5">
                <a:latin typeface="Arial"/>
                <a:cs typeface="Arial"/>
              </a:rPr>
              <a:t>of</a:t>
            </a:r>
            <a:r>
              <a:rPr dirty="0" sz="1100" spc="165">
                <a:latin typeface="Arial"/>
                <a:cs typeface="Arial"/>
              </a:rPr>
              <a:t> </a:t>
            </a:r>
            <a:r>
              <a:rPr dirty="0" sz="1100" spc="-5">
                <a:latin typeface="Arial"/>
                <a:cs typeface="Arial"/>
              </a:rPr>
              <a:t>all.</a:t>
            </a:r>
            <a:r>
              <a:rPr dirty="0" sz="1100" spc="170">
                <a:latin typeface="Arial"/>
                <a:cs typeface="Arial"/>
              </a:rPr>
              <a:t> </a:t>
            </a:r>
            <a:r>
              <a:rPr dirty="0" sz="1100" spc="-5">
                <a:latin typeface="Arial"/>
                <a:cs typeface="Arial"/>
              </a:rPr>
              <a:t>Consumer</a:t>
            </a:r>
            <a:r>
              <a:rPr dirty="0" sz="1100" spc="170">
                <a:latin typeface="Arial"/>
                <a:cs typeface="Arial"/>
              </a:rPr>
              <a:t> </a:t>
            </a:r>
            <a:r>
              <a:rPr dirty="0" sz="1100" spc="-5">
                <a:latin typeface="Arial"/>
                <a:cs typeface="Arial"/>
              </a:rPr>
              <a:t>tastes</a:t>
            </a:r>
            <a:r>
              <a:rPr dirty="0" sz="1100" spc="165">
                <a:latin typeface="Arial"/>
                <a:cs typeface="Arial"/>
              </a:rPr>
              <a:t> </a:t>
            </a:r>
            <a:r>
              <a:rPr dirty="0" sz="1100" spc="-5">
                <a:latin typeface="Arial"/>
                <a:cs typeface="Arial"/>
              </a:rPr>
              <a:t>are</a:t>
            </a:r>
            <a:r>
              <a:rPr dirty="0" sz="1100" spc="170">
                <a:latin typeface="Arial"/>
                <a:cs typeface="Arial"/>
              </a:rPr>
              <a:t> </a:t>
            </a:r>
            <a:r>
              <a:rPr dirty="0" sz="1100" spc="-5">
                <a:latin typeface="Arial"/>
                <a:cs typeface="Arial"/>
              </a:rPr>
              <a:t>also</a:t>
            </a:r>
            <a:r>
              <a:rPr dirty="0" sz="1100" spc="165">
                <a:latin typeface="Arial"/>
                <a:cs typeface="Arial"/>
              </a:rPr>
              <a:t> </a:t>
            </a:r>
            <a:r>
              <a:rPr dirty="0" sz="1100" spc="-5">
                <a:latin typeface="Arial"/>
                <a:cs typeface="Arial"/>
              </a:rPr>
              <a:t>fixed</a:t>
            </a:r>
            <a:r>
              <a:rPr dirty="0" sz="1100" spc="165">
                <a:latin typeface="Arial"/>
                <a:cs typeface="Arial"/>
              </a:rPr>
              <a:t> </a:t>
            </a:r>
            <a:r>
              <a:rPr dirty="0" sz="1100" spc="-5">
                <a:latin typeface="Arial"/>
                <a:cs typeface="Arial"/>
              </a:rPr>
              <a:t>and</a:t>
            </a:r>
            <a:r>
              <a:rPr dirty="0" sz="1100" spc="170">
                <a:latin typeface="Arial"/>
                <a:cs typeface="Arial"/>
              </a:rPr>
              <a:t> </a:t>
            </a:r>
            <a:r>
              <a:rPr dirty="0" sz="1100" spc="-5">
                <a:latin typeface="Arial"/>
                <a:cs typeface="Arial"/>
              </a:rPr>
              <a:t>independent</a:t>
            </a:r>
            <a:r>
              <a:rPr dirty="0" sz="1100" spc="170">
                <a:latin typeface="Arial"/>
                <a:cs typeface="Arial"/>
              </a:rPr>
              <a:t> </a:t>
            </a:r>
            <a:r>
              <a:rPr dirty="0" sz="1100" spc="-5">
                <a:latin typeface="Arial"/>
                <a:cs typeface="Arial"/>
              </a:rPr>
              <a:t>of</a:t>
            </a:r>
            <a:r>
              <a:rPr dirty="0" sz="1100" spc="165">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influence</a:t>
            </a:r>
            <a:r>
              <a:rPr dirty="0" sz="1100" spc="160">
                <a:latin typeface="Arial"/>
                <a:cs typeface="Arial"/>
              </a:rPr>
              <a:t> </a:t>
            </a:r>
            <a:r>
              <a:rPr dirty="0" sz="1100" spc="-5">
                <a:latin typeface="Arial"/>
                <a:cs typeface="Arial"/>
              </a:rPr>
              <a:t>of</a:t>
            </a:r>
            <a:endParaRPr sz="1100">
              <a:latin typeface="Arial"/>
              <a:cs typeface="Arial"/>
            </a:endParaRPr>
          </a:p>
          <a:p>
            <a:pPr algn="just" marL="469900">
              <a:lnSpc>
                <a:spcPts val="1265"/>
              </a:lnSpc>
            </a:pPr>
            <a:r>
              <a:rPr dirty="0" sz="1100" spc="-5">
                <a:latin typeface="Arial"/>
                <a:cs typeface="Arial"/>
              </a:rPr>
              <a:t>producers (international consumer sovereignty</a:t>
            </a:r>
            <a:r>
              <a:rPr dirty="0" sz="1100" spc="15">
                <a:latin typeface="Arial"/>
                <a:cs typeface="Arial"/>
              </a:rPr>
              <a:t> </a:t>
            </a:r>
            <a:r>
              <a:rPr dirty="0" sz="1100" spc="-5">
                <a:latin typeface="Arial"/>
                <a:cs typeface="Arial"/>
              </a:rPr>
              <a:t>prevails).</a:t>
            </a:r>
            <a:endParaRPr sz="1100">
              <a:latin typeface="Arial"/>
              <a:cs typeface="Arial"/>
            </a:endParaRPr>
          </a:p>
          <a:p>
            <a:pPr algn="just" marL="469900" marR="6350" indent="-228600">
              <a:lnSpc>
                <a:spcPct val="95700"/>
              </a:lnSpc>
              <a:spcBef>
                <a:spcPts val="30"/>
              </a:spcBef>
              <a:buFont typeface="Arial"/>
              <a:buAutoNum type="arabicPeriod" startAt="3"/>
              <a:tabLst>
                <a:tab pos="470534" algn="l"/>
              </a:tabLst>
            </a:pPr>
            <a:r>
              <a:rPr dirty="0" sz="1100" spc="-5">
                <a:latin typeface="Arial"/>
                <a:cs typeface="Arial"/>
              </a:rPr>
              <a:t>Within nations, factors of production are perfectly mobile between different production  activities, and the economy as a whole is characterized by the existence of perfect  competition. There are no risks or</a:t>
            </a:r>
            <a:r>
              <a:rPr dirty="0" sz="1100" spc="20">
                <a:latin typeface="Arial"/>
                <a:cs typeface="Arial"/>
              </a:rPr>
              <a:t> </a:t>
            </a:r>
            <a:r>
              <a:rPr dirty="0" sz="1100" spc="-5">
                <a:latin typeface="Arial"/>
                <a:cs typeface="Arial"/>
              </a:rPr>
              <a:t>uncertainties.</a:t>
            </a:r>
            <a:endParaRPr sz="1100">
              <a:latin typeface="Arial"/>
              <a:cs typeface="Arial"/>
            </a:endParaRPr>
          </a:p>
          <a:p>
            <a:pPr algn="just" marL="469900" marR="6985" indent="-228600">
              <a:lnSpc>
                <a:spcPts val="1270"/>
              </a:lnSpc>
              <a:spcBef>
                <a:spcPts val="30"/>
              </a:spcBef>
              <a:buFont typeface="Arial"/>
              <a:buAutoNum type="arabicPeriod" startAt="3"/>
              <a:tabLst>
                <a:tab pos="470534" algn="l"/>
              </a:tabLst>
            </a:pPr>
            <a:r>
              <a:rPr dirty="0" sz="1100" spc="-5">
                <a:latin typeface="Arial"/>
                <a:cs typeface="Arial"/>
              </a:rPr>
              <a:t>The national government plays no role in international economic relations; trade is  carried</a:t>
            </a:r>
            <a:r>
              <a:rPr dirty="0" sz="1100" spc="55">
                <a:latin typeface="Arial"/>
                <a:cs typeface="Arial"/>
              </a:rPr>
              <a:t> </a:t>
            </a:r>
            <a:r>
              <a:rPr dirty="0" sz="1100" spc="-5">
                <a:latin typeface="Arial"/>
                <a:cs typeface="Arial"/>
              </a:rPr>
              <a:t>out</a:t>
            </a:r>
            <a:r>
              <a:rPr dirty="0" sz="1100" spc="55">
                <a:latin typeface="Arial"/>
                <a:cs typeface="Arial"/>
              </a:rPr>
              <a:t> </a:t>
            </a:r>
            <a:r>
              <a:rPr dirty="0" sz="1100" spc="-5">
                <a:latin typeface="Arial"/>
                <a:cs typeface="Arial"/>
              </a:rPr>
              <a:t>among</a:t>
            </a:r>
            <a:r>
              <a:rPr dirty="0" sz="1100" spc="60">
                <a:latin typeface="Arial"/>
                <a:cs typeface="Arial"/>
              </a:rPr>
              <a:t> </a:t>
            </a:r>
            <a:r>
              <a:rPr dirty="0" sz="1100">
                <a:latin typeface="Arial"/>
                <a:cs typeface="Arial"/>
              </a:rPr>
              <a:t>many</a:t>
            </a:r>
            <a:r>
              <a:rPr dirty="0" sz="1100" spc="55">
                <a:latin typeface="Arial"/>
                <a:cs typeface="Arial"/>
              </a:rPr>
              <a:t> </a:t>
            </a:r>
            <a:r>
              <a:rPr dirty="0" sz="1100" spc="-5">
                <a:latin typeface="Arial"/>
                <a:cs typeface="Arial"/>
              </a:rPr>
              <a:t>atomistic</a:t>
            </a:r>
            <a:r>
              <a:rPr dirty="0" sz="1100" spc="60">
                <a:latin typeface="Arial"/>
                <a:cs typeface="Arial"/>
              </a:rPr>
              <a:t> </a:t>
            </a:r>
            <a:r>
              <a:rPr dirty="0" sz="1100" spc="-5">
                <a:latin typeface="Arial"/>
                <a:cs typeface="Arial"/>
              </a:rPr>
              <a:t>and</a:t>
            </a:r>
            <a:r>
              <a:rPr dirty="0" sz="1100" spc="60">
                <a:latin typeface="Arial"/>
                <a:cs typeface="Arial"/>
              </a:rPr>
              <a:t> </a:t>
            </a:r>
            <a:r>
              <a:rPr dirty="0" sz="1100" spc="-5">
                <a:latin typeface="Arial"/>
                <a:cs typeface="Arial"/>
              </a:rPr>
              <a:t>anonymous</a:t>
            </a:r>
            <a:r>
              <a:rPr dirty="0" sz="1100" spc="55">
                <a:latin typeface="Arial"/>
                <a:cs typeface="Arial"/>
              </a:rPr>
              <a:t> </a:t>
            </a:r>
            <a:r>
              <a:rPr dirty="0" sz="1100" spc="-5">
                <a:latin typeface="Arial"/>
                <a:cs typeface="Arial"/>
              </a:rPr>
              <a:t>producers</a:t>
            </a:r>
            <a:r>
              <a:rPr dirty="0" sz="1100" spc="60">
                <a:latin typeface="Arial"/>
                <a:cs typeface="Arial"/>
              </a:rPr>
              <a:t> </a:t>
            </a:r>
            <a:r>
              <a:rPr dirty="0" sz="1100" spc="-5">
                <a:latin typeface="Arial"/>
                <a:cs typeface="Arial"/>
              </a:rPr>
              <a:t>seeking</a:t>
            </a:r>
            <a:r>
              <a:rPr dirty="0" sz="1100" spc="60">
                <a:latin typeface="Arial"/>
                <a:cs typeface="Arial"/>
              </a:rPr>
              <a:t> </a:t>
            </a:r>
            <a:r>
              <a:rPr dirty="0" sz="1100" spc="-5">
                <a:latin typeface="Arial"/>
                <a:cs typeface="Arial"/>
              </a:rPr>
              <a:t>to</a:t>
            </a:r>
            <a:r>
              <a:rPr dirty="0" sz="1100" spc="60">
                <a:latin typeface="Arial"/>
                <a:cs typeface="Arial"/>
              </a:rPr>
              <a:t> </a:t>
            </a:r>
            <a:r>
              <a:rPr dirty="0" sz="1100" spc="-5">
                <a:latin typeface="Arial"/>
                <a:cs typeface="Arial"/>
              </a:rPr>
              <a:t>minimize</a:t>
            </a:r>
            <a:r>
              <a:rPr dirty="0" sz="1100" spc="55">
                <a:latin typeface="Arial"/>
                <a:cs typeface="Arial"/>
              </a:rPr>
              <a:t> </a:t>
            </a:r>
            <a:r>
              <a:rPr dirty="0" sz="1100" spc="-5">
                <a:latin typeface="Arial"/>
                <a:cs typeface="Arial"/>
              </a:rPr>
              <a:t>costs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246</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087995"/>
          </a:xfrm>
          <a:prstGeom prst="rect">
            <a:avLst/>
          </a:prstGeom>
        </p:spPr>
        <p:txBody>
          <a:bodyPr wrap="square" lIns="0" tIns="22860" rIns="0" bIns="0" rtlCol="0" vert="horz">
            <a:spAutoFit/>
          </a:bodyPr>
          <a:lstStyle/>
          <a:p>
            <a:pPr marL="469900" marR="6350">
              <a:lnSpc>
                <a:spcPts val="1270"/>
              </a:lnSpc>
              <a:spcBef>
                <a:spcPts val="180"/>
              </a:spcBef>
            </a:pPr>
            <a:r>
              <a:rPr dirty="0" sz="1100" spc="-5">
                <a:latin typeface="Arial"/>
                <a:cs typeface="Arial"/>
              </a:rPr>
              <a:t>and maximize profits. International prices are therefore set by the forces of supply and  demand.</a:t>
            </a:r>
            <a:endParaRPr sz="1100">
              <a:latin typeface="Arial"/>
              <a:cs typeface="Arial"/>
            </a:endParaRPr>
          </a:p>
          <a:p>
            <a:pPr marL="469900" marR="5715" indent="-228600">
              <a:lnSpc>
                <a:spcPts val="1260"/>
              </a:lnSpc>
              <a:buFont typeface="Arial"/>
              <a:buAutoNum type="arabicPeriod" startAt="5"/>
              <a:tabLst>
                <a:tab pos="470534" algn="l"/>
              </a:tabLst>
            </a:pPr>
            <a:r>
              <a:rPr dirty="0" sz="1100" spc="-5">
                <a:latin typeface="Arial"/>
                <a:cs typeface="Arial"/>
              </a:rPr>
              <a:t>Trade is balanced for each country at any point in time, and all economies are readily  able to adjust to changes in the international prices with a minimum of</a:t>
            </a:r>
            <a:r>
              <a:rPr dirty="0" sz="1100" spc="145">
                <a:latin typeface="Arial"/>
                <a:cs typeface="Arial"/>
              </a:rPr>
              <a:t> </a:t>
            </a:r>
            <a:r>
              <a:rPr dirty="0" sz="1100" spc="-5">
                <a:latin typeface="Arial"/>
                <a:cs typeface="Arial"/>
              </a:rPr>
              <a:t>dislocation.</a:t>
            </a:r>
            <a:endParaRPr sz="1100">
              <a:latin typeface="Arial"/>
              <a:cs typeface="Arial"/>
            </a:endParaRPr>
          </a:p>
          <a:p>
            <a:pPr marL="469900" indent="-229235">
              <a:lnSpc>
                <a:spcPts val="1235"/>
              </a:lnSpc>
              <a:buFont typeface="Arial"/>
              <a:buAutoNum type="arabicPeriod" startAt="5"/>
              <a:tabLst>
                <a:tab pos="470534" algn="l"/>
              </a:tabLst>
            </a:pPr>
            <a:r>
              <a:rPr dirty="0" sz="1100" spc="-5">
                <a:latin typeface="Arial"/>
                <a:cs typeface="Arial"/>
              </a:rPr>
              <a:t>The gains from trade that accrue to any country benefit the nationals of that</a:t>
            </a:r>
            <a:r>
              <a:rPr dirty="0" sz="1100" spc="170">
                <a:latin typeface="Arial"/>
                <a:cs typeface="Arial"/>
              </a:rPr>
              <a:t> </a:t>
            </a:r>
            <a:r>
              <a:rPr dirty="0" sz="1100" spc="-5">
                <a:latin typeface="Arial"/>
                <a:cs typeface="Arial"/>
              </a:rPr>
              <a:t>country.</a:t>
            </a:r>
            <a:endParaRPr sz="1100">
              <a:latin typeface="Arial"/>
              <a:cs typeface="Arial"/>
            </a:endParaRPr>
          </a:p>
          <a:p>
            <a:pPr>
              <a:lnSpc>
                <a:spcPct val="100000"/>
              </a:lnSpc>
              <a:spcBef>
                <a:spcPts val="35"/>
              </a:spcBef>
            </a:pPr>
            <a:endParaRPr sz="1100">
              <a:latin typeface="Arial"/>
              <a:cs typeface="Arial"/>
            </a:endParaRPr>
          </a:p>
          <a:p>
            <a:pPr algn="just" marL="12700" marR="6350">
              <a:lnSpc>
                <a:spcPts val="1270"/>
              </a:lnSpc>
              <a:spcBef>
                <a:spcPts val="5"/>
              </a:spcBef>
            </a:pPr>
            <a:r>
              <a:rPr dirty="0" sz="1100" spc="-5" b="1">
                <a:latin typeface="Arial"/>
                <a:cs typeface="Arial"/>
              </a:rPr>
              <a:t>FIXED RESOURCES, FULL EMPLOYMENT, AND THE INTERNATIONAL IMMOBILITY OF  </a:t>
            </a:r>
            <a:r>
              <a:rPr dirty="0" sz="1100" spc="-10" b="1">
                <a:latin typeface="Arial"/>
                <a:cs typeface="Arial"/>
              </a:rPr>
              <a:t>CAPITAL </a:t>
            </a:r>
            <a:r>
              <a:rPr dirty="0" sz="1100" spc="-5" b="1">
                <a:latin typeface="Arial"/>
                <a:cs typeface="Arial"/>
              </a:rPr>
              <a:t>AND SKILLED</a:t>
            </a:r>
            <a:r>
              <a:rPr dirty="0" sz="1100" spc="15" b="1">
                <a:latin typeface="Arial"/>
                <a:cs typeface="Arial"/>
              </a:rPr>
              <a:t> </a:t>
            </a:r>
            <a:r>
              <a:rPr dirty="0" sz="1100" spc="-5" b="1">
                <a:latin typeface="Arial"/>
                <a:cs typeface="Arial"/>
              </a:rPr>
              <a:t>LABOR</a:t>
            </a:r>
            <a:endParaRPr sz="1100">
              <a:latin typeface="Arial"/>
              <a:cs typeface="Arial"/>
            </a:endParaRPr>
          </a:p>
          <a:p>
            <a:pPr>
              <a:lnSpc>
                <a:spcPct val="100000"/>
              </a:lnSpc>
              <a:spcBef>
                <a:spcPts val="10"/>
              </a:spcBef>
            </a:pPr>
            <a:endParaRPr sz="1150">
              <a:latin typeface="Arial"/>
              <a:cs typeface="Arial"/>
            </a:endParaRPr>
          </a:p>
          <a:p>
            <a:pPr algn="just" marL="12700" marR="5080">
              <a:lnSpc>
                <a:spcPct val="95800"/>
              </a:lnSpc>
              <a:spcBef>
                <a:spcPts val="5"/>
              </a:spcBef>
            </a:pPr>
            <a:r>
              <a:rPr dirty="0" sz="1100" spc="-5">
                <a:latin typeface="Arial"/>
                <a:cs typeface="Arial"/>
              </a:rPr>
              <a:t>Trade and Resource Growth: North-South Models of Unequal Trade This initial assumption  about the static nature of international exchange—that resources are fixed, fully utilized, and  internationally immobile with same product production functions everywhere identical—is central  to the traditional theory of trade and finance. In reality, the world economy is characterized by  rapid change, and factors of production are </a:t>
            </a:r>
            <a:r>
              <a:rPr dirty="0" sz="1100">
                <a:latin typeface="Arial"/>
                <a:cs typeface="Arial"/>
              </a:rPr>
              <a:t>fixed </a:t>
            </a:r>
            <a:r>
              <a:rPr dirty="0" sz="1100" spc="-5">
                <a:latin typeface="Arial"/>
                <a:cs typeface="Arial"/>
              </a:rPr>
              <a:t>neither in quantity nor in quality. Critics point  out that this is especially true with respect to resources most crucial to growth and development,  such as physical capital, entrepreneurial abilities, scientific capacities, the ability to carry out  technological research and development, and the upgrading of technical skills in the labor force.  It follows, therefore, that relative factor endowments and comparative </a:t>
            </a:r>
            <a:r>
              <a:rPr dirty="0" sz="1100">
                <a:latin typeface="Arial"/>
                <a:cs typeface="Arial"/>
              </a:rPr>
              <a:t>costs </a:t>
            </a:r>
            <a:r>
              <a:rPr dirty="0" sz="1100" spc="-5">
                <a:latin typeface="Arial"/>
                <a:cs typeface="Arial"/>
              </a:rPr>
              <a:t>are not given but  are in a state of constant</a:t>
            </a:r>
            <a:r>
              <a:rPr dirty="0" sz="1100" spc="20">
                <a:latin typeface="Arial"/>
                <a:cs typeface="Arial"/>
              </a:rPr>
              <a:t> </a:t>
            </a:r>
            <a:r>
              <a:rPr dirty="0" sz="1100" spc="-5">
                <a:latin typeface="Arial"/>
                <a:cs typeface="Arial"/>
              </a:rPr>
              <a:t>change.</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pPr>
            <a:r>
              <a:rPr dirty="0" sz="1100" spc="-5">
                <a:latin typeface="Arial"/>
                <a:cs typeface="Arial"/>
              </a:rPr>
              <a:t>Moreover, they are </a:t>
            </a:r>
            <a:r>
              <a:rPr dirty="0" sz="1100">
                <a:latin typeface="Arial"/>
                <a:cs typeface="Arial"/>
              </a:rPr>
              <a:t>often </a:t>
            </a:r>
            <a:r>
              <a:rPr dirty="0" sz="1100" spc="-5">
                <a:latin typeface="Arial"/>
                <a:cs typeface="Arial"/>
              </a:rPr>
              <a:t>determined by, </a:t>
            </a:r>
            <a:r>
              <a:rPr dirty="0" sz="1100">
                <a:latin typeface="Arial"/>
                <a:cs typeface="Arial"/>
              </a:rPr>
              <a:t>rather </a:t>
            </a:r>
            <a:r>
              <a:rPr dirty="0" sz="1100" spc="-5">
                <a:latin typeface="Arial"/>
                <a:cs typeface="Arial"/>
              </a:rPr>
              <a:t>than themselves determine, the nature </a:t>
            </a:r>
            <a:r>
              <a:rPr dirty="0" sz="1100">
                <a:latin typeface="Arial"/>
                <a:cs typeface="Arial"/>
              </a:rPr>
              <a:t>and  </a:t>
            </a:r>
            <a:r>
              <a:rPr dirty="0" sz="1100" spc="-5">
                <a:latin typeface="Arial"/>
                <a:cs typeface="Arial"/>
              </a:rPr>
              <a:t>character of international specialization. Any </a:t>
            </a:r>
            <a:r>
              <a:rPr dirty="0" sz="1100">
                <a:latin typeface="Arial"/>
                <a:cs typeface="Arial"/>
              </a:rPr>
              <a:t>initial </a:t>
            </a:r>
            <a:r>
              <a:rPr dirty="0" sz="1100" spc="-5">
                <a:latin typeface="Arial"/>
                <a:cs typeface="Arial"/>
              </a:rPr>
              <a:t>state of unequal resource endowments </a:t>
            </a:r>
            <a:r>
              <a:rPr dirty="0" sz="1100">
                <a:latin typeface="Arial"/>
                <a:cs typeface="Arial"/>
              </a:rPr>
              <a:t>may  </a:t>
            </a:r>
            <a:r>
              <a:rPr dirty="0" sz="1100" spc="-5">
                <a:latin typeface="Arial"/>
                <a:cs typeface="Arial"/>
              </a:rPr>
              <a:t>be reinforced and exacerbated by the very trade that these differing resource endowments were  supposed to justify. Specifically, if rich nations (the North) as a result of historical forces, are  relatively well endowed with the vital resources of capital, entrepreneurial ability, and skilled  labor, their continued specialization in products and processes that use these resources  intensively can create the necessary conditions and economic incentives for their further growth.  By contrast, developing-world countries (the South), endowed with abundant supplies of  unskilled labor, by specializing in products that intensively use unskilled labor and for which  world demand prospects and terms of trade may be very unfavorable, often find themselves  locked into a stagnant situation that perpetuates their comparative advantage in unskilled,  unproductive</a:t>
            </a:r>
            <a:r>
              <a:rPr dirty="0" sz="1100">
                <a:latin typeface="Arial"/>
                <a:cs typeface="Arial"/>
              </a:rPr>
              <a:t> </a:t>
            </a:r>
            <a:r>
              <a:rPr dirty="0" sz="1100" spc="-5">
                <a:latin typeface="Arial"/>
                <a:cs typeface="Arial"/>
              </a:rPr>
              <a:t>activities.</a:t>
            </a:r>
            <a:endParaRPr sz="1100">
              <a:latin typeface="Arial"/>
              <a:cs typeface="Arial"/>
            </a:endParaRPr>
          </a:p>
          <a:p>
            <a:pPr>
              <a:lnSpc>
                <a:spcPct val="100000"/>
              </a:lnSpc>
            </a:pPr>
            <a:endParaRPr sz="1100">
              <a:latin typeface="Arial"/>
              <a:cs typeface="Arial"/>
            </a:endParaRPr>
          </a:p>
          <a:p>
            <a:pPr algn="just" marL="12700" marR="6350">
              <a:lnSpc>
                <a:spcPct val="95900"/>
              </a:lnSpc>
              <a:spcBef>
                <a:spcPts val="5"/>
              </a:spcBef>
            </a:pPr>
            <a:r>
              <a:rPr dirty="0" sz="1100" spc="-5">
                <a:latin typeface="Arial"/>
                <a:cs typeface="Arial"/>
              </a:rPr>
              <a:t>This in turn inhibits the domestic growth of needed capital, entrepreneurship, and technical  skills. As some developing-country scholars have effectively argued, static efficiency can  become dynamic inefficiency, and a cumulative process is set in motion in which trade  exacerbates already unequal trading relationships, distributes the benefits largely to the people  who are already relatively well off, and perpetuates the physical and human resource  underdevelopment that characterizes most poor nations. As one well-known developing-country  scholar put it, “With few exceptions, the technological distance between the developing and the  developed countries is widening. Neoclassical international trade theory, by postulating identical  production functions for different products in </a:t>
            </a:r>
            <a:r>
              <a:rPr dirty="0" sz="1100">
                <a:latin typeface="Arial"/>
                <a:cs typeface="Arial"/>
              </a:rPr>
              <a:t>various </a:t>
            </a:r>
            <a:r>
              <a:rPr dirty="0" sz="1100" spc="-5">
                <a:latin typeface="Arial"/>
                <a:cs typeface="Arial"/>
              </a:rPr>
              <a:t>countries, assumes this problem</a:t>
            </a:r>
            <a:r>
              <a:rPr dirty="0" sz="1100" spc="155">
                <a:latin typeface="Arial"/>
                <a:cs typeface="Arial"/>
              </a:rPr>
              <a:t> </a:t>
            </a:r>
            <a:r>
              <a:rPr dirty="0" sz="1100" spc="-5">
                <a:latin typeface="Arial"/>
                <a:cs typeface="Arial"/>
              </a:rPr>
              <a:t>away.”</a:t>
            </a:r>
            <a:endParaRPr sz="1100">
              <a:latin typeface="Arial"/>
              <a:cs typeface="Arial"/>
            </a:endParaRPr>
          </a:p>
          <a:p>
            <a:pPr>
              <a:lnSpc>
                <a:spcPct val="100000"/>
              </a:lnSpc>
              <a:spcBef>
                <a:spcPts val="15"/>
              </a:spcBef>
            </a:pPr>
            <a:endParaRPr sz="1150">
              <a:latin typeface="Arial"/>
              <a:cs typeface="Arial"/>
            </a:endParaRPr>
          </a:p>
          <a:p>
            <a:pPr algn="just" marL="469900" marR="5715" indent="-228600">
              <a:lnSpc>
                <a:spcPct val="95700"/>
              </a:lnSpc>
              <a:buFont typeface="Symbol"/>
              <a:buChar char=""/>
              <a:tabLst>
                <a:tab pos="469900" algn="l"/>
              </a:tabLst>
            </a:pPr>
            <a:r>
              <a:rPr dirty="0" sz="1100" spc="-5" b="1">
                <a:latin typeface="Arial"/>
                <a:cs typeface="Arial"/>
              </a:rPr>
              <a:t>North-South trade models: </a:t>
            </a:r>
            <a:r>
              <a:rPr dirty="0" sz="1100" spc="-5">
                <a:latin typeface="Arial"/>
                <a:cs typeface="Arial"/>
              </a:rPr>
              <a:t>Trade and development theories that focus on the unequal  exchange between the North developed countries and the South developing countries in  an attempt to explain why the South gains less from trade than the</a:t>
            </a:r>
            <a:r>
              <a:rPr dirty="0" sz="1100" spc="105">
                <a:latin typeface="Arial"/>
                <a:cs typeface="Arial"/>
              </a:rPr>
              <a:t> </a:t>
            </a:r>
            <a:r>
              <a:rPr dirty="0" sz="1100" spc="-5">
                <a:latin typeface="Arial"/>
                <a:cs typeface="Arial"/>
              </a:rPr>
              <a:t>North.</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700"/>
              </a:lnSpc>
            </a:pPr>
            <a:r>
              <a:rPr dirty="0" sz="1100" spc="-5">
                <a:latin typeface="Arial"/>
                <a:cs typeface="Arial"/>
              </a:rPr>
              <a:t>In recent years, some economists have </a:t>
            </a:r>
            <a:r>
              <a:rPr dirty="0" sz="1100">
                <a:latin typeface="Arial"/>
                <a:cs typeface="Arial"/>
              </a:rPr>
              <a:t>therefore </a:t>
            </a:r>
            <a:r>
              <a:rPr dirty="0" sz="1100" spc="-5">
                <a:latin typeface="Arial"/>
                <a:cs typeface="Arial"/>
              </a:rPr>
              <a:t>challenged the static neoclassical model with  alternative dynamic models of trade and growth that emphasize the process of factor  accumulation</a:t>
            </a:r>
            <a:r>
              <a:rPr dirty="0" sz="1100" spc="70">
                <a:latin typeface="Arial"/>
                <a:cs typeface="Arial"/>
              </a:rPr>
              <a:t> </a:t>
            </a:r>
            <a:r>
              <a:rPr dirty="0" sz="1100" spc="-5">
                <a:latin typeface="Arial"/>
                <a:cs typeface="Arial"/>
              </a:rPr>
              <a:t>and</a:t>
            </a:r>
            <a:r>
              <a:rPr dirty="0" sz="1100" spc="70">
                <a:latin typeface="Arial"/>
                <a:cs typeface="Arial"/>
              </a:rPr>
              <a:t> </a:t>
            </a:r>
            <a:r>
              <a:rPr dirty="0" sz="1100" spc="-5">
                <a:latin typeface="Arial"/>
                <a:cs typeface="Arial"/>
              </a:rPr>
              <a:t>uneven</a:t>
            </a:r>
            <a:r>
              <a:rPr dirty="0" sz="1100" spc="70">
                <a:latin typeface="Arial"/>
                <a:cs typeface="Arial"/>
              </a:rPr>
              <a:t> </a:t>
            </a:r>
            <a:r>
              <a:rPr dirty="0" sz="1100" spc="-5">
                <a:latin typeface="Arial"/>
                <a:cs typeface="Arial"/>
              </a:rPr>
              <a:t>development</a:t>
            </a:r>
            <a:r>
              <a:rPr dirty="0" sz="1100" spc="70">
                <a:latin typeface="Arial"/>
                <a:cs typeface="Arial"/>
              </a:rPr>
              <a:t> </a:t>
            </a:r>
            <a:r>
              <a:rPr dirty="0" sz="1100" spc="-5">
                <a:latin typeface="Arial"/>
                <a:cs typeface="Arial"/>
              </a:rPr>
              <a:t>along</a:t>
            </a:r>
            <a:r>
              <a:rPr dirty="0" sz="1100" spc="60">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lines</a:t>
            </a:r>
            <a:r>
              <a:rPr dirty="0" sz="1100" spc="70">
                <a:latin typeface="Arial"/>
                <a:cs typeface="Arial"/>
              </a:rPr>
              <a:t> </a:t>
            </a:r>
            <a:r>
              <a:rPr dirty="0" sz="1100" spc="-5">
                <a:latin typeface="Arial"/>
                <a:cs typeface="Arial"/>
              </a:rPr>
              <a:t>suggested</a:t>
            </a:r>
            <a:r>
              <a:rPr dirty="0" sz="1100" spc="75">
                <a:latin typeface="Arial"/>
                <a:cs typeface="Arial"/>
              </a:rPr>
              <a:t> </a:t>
            </a:r>
            <a:r>
              <a:rPr dirty="0" sz="1100" spc="-5">
                <a:latin typeface="Arial"/>
                <a:cs typeface="Arial"/>
              </a:rPr>
              <a:t>in</a:t>
            </a:r>
            <a:r>
              <a:rPr dirty="0" sz="1100" spc="65">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preceding</a:t>
            </a:r>
            <a:r>
              <a:rPr dirty="0" sz="1100" spc="70">
                <a:latin typeface="Arial"/>
                <a:cs typeface="Arial"/>
              </a:rPr>
              <a:t> </a:t>
            </a:r>
            <a:r>
              <a:rPr dirty="0" sz="1100" spc="-5">
                <a:latin typeface="Arial"/>
                <a:cs typeface="Arial"/>
              </a:rPr>
              <a:t>paragraphs.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247</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212090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These so-called North-South trade models focus specifically on trade relations between rich and  poor countries, whereas the traditional model was assumed to apply to all</a:t>
            </a:r>
            <a:r>
              <a:rPr dirty="0" sz="1100" spc="114">
                <a:latin typeface="Arial"/>
                <a:cs typeface="Arial"/>
              </a:rPr>
              <a:t> </a:t>
            </a:r>
            <a:r>
              <a:rPr dirty="0" sz="1100" spc="-5">
                <a:latin typeface="Arial"/>
                <a:cs typeface="Arial"/>
              </a:rPr>
              <a:t>nations.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The typical North-South model argues, for example, that initial higher endowments of capital in  the industrialized North generate external economies in manufacturing output and higher profit  rates. This, in combination with the rise in monopoly power, stimulates higher Northern growth  rates (in accordance with Harrod-Domar and </a:t>
            </a:r>
            <a:r>
              <a:rPr dirty="0" sz="1100">
                <a:latin typeface="Arial"/>
                <a:cs typeface="Arial"/>
              </a:rPr>
              <a:t>factor </a:t>
            </a:r>
            <a:r>
              <a:rPr dirty="0" sz="1100" spc="-5">
                <a:latin typeface="Arial"/>
                <a:cs typeface="Arial"/>
              </a:rPr>
              <a:t>share growth models discussed earlier)  through further capital accumulation. As a result, the rapidly growing North develops a  cumulative competitive advantage over the slower-growing South. If </a:t>
            </a:r>
            <a:r>
              <a:rPr dirty="0" sz="1100" spc="-10">
                <a:latin typeface="Arial"/>
                <a:cs typeface="Arial"/>
              </a:rPr>
              <a:t>we </a:t>
            </a:r>
            <a:r>
              <a:rPr dirty="0" sz="1100" spc="-5">
                <a:latin typeface="Arial"/>
                <a:cs typeface="Arial"/>
              </a:rPr>
              <a:t>then add differential  income elasticities of demand (higher for Northern “capital goods” than for Southern  “consumption goods”) and capital mobility to the model (in the form of South-to-North capital  flight, as occurred in the 1980s), the basis for the developing-world trade pessimism would be  further enhanced.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248</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752715"/>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37</a:t>
            </a:r>
            <a:endParaRPr sz="1100">
              <a:latin typeface="Arial"/>
              <a:cs typeface="Arial"/>
            </a:endParaRPr>
          </a:p>
          <a:p>
            <a:pPr>
              <a:lnSpc>
                <a:spcPct val="100000"/>
              </a:lnSpc>
              <a:spcBef>
                <a:spcPts val="10"/>
              </a:spcBef>
            </a:pPr>
            <a:endParaRPr sz="1050">
              <a:latin typeface="Arial"/>
              <a:cs typeface="Arial"/>
            </a:endParaRPr>
          </a:p>
          <a:p>
            <a:pPr marL="201930">
              <a:lnSpc>
                <a:spcPct val="100000"/>
              </a:lnSpc>
            </a:pPr>
            <a:r>
              <a:rPr dirty="0" sz="1100" spc="-5" b="1">
                <a:latin typeface="Arial"/>
                <a:cs typeface="Arial"/>
              </a:rPr>
              <a:t>INTERNATIONAL TRADE THEORY AND DEVELOPMENT STRATEGY</a:t>
            </a:r>
            <a:r>
              <a:rPr dirty="0" sz="1100" spc="95" b="1">
                <a:latin typeface="Arial"/>
                <a:cs typeface="Arial"/>
              </a:rPr>
              <a:t> </a:t>
            </a:r>
            <a:r>
              <a:rPr dirty="0" sz="1100" spc="-5" b="1">
                <a:latin typeface="Arial"/>
                <a:cs typeface="Arial"/>
              </a:rPr>
              <a:t>(CONTINUED3)</a:t>
            </a:r>
            <a:endParaRPr sz="1100">
              <a:latin typeface="Arial"/>
              <a:cs typeface="Arial"/>
            </a:endParaRPr>
          </a:p>
          <a:p>
            <a:pPr>
              <a:lnSpc>
                <a:spcPct val="100000"/>
              </a:lnSpc>
              <a:spcBef>
                <a:spcPts val="20"/>
              </a:spcBef>
            </a:pPr>
            <a:endParaRPr sz="1100">
              <a:latin typeface="Arial"/>
              <a:cs typeface="Arial"/>
            </a:endParaRPr>
          </a:p>
          <a:p>
            <a:pPr algn="just" marL="12700" marR="5715">
              <a:lnSpc>
                <a:spcPts val="1270"/>
              </a:lnSpc>
            </a:pPr>
            <a:r>
              <a:rPr dirty="0" sz="1100" spc="-5" b="1">
                <a:latin typeface="Arial"/>
                <a:cs typeface="Arial"/>
              </a:rPr>
              <a:t>Nobel laureate Paul Krugman </a:t>
            </a:r>
            <a:r>
              <a:rPr dirty="0" sz="1100" spc="-5">
                <a:latin typeface="Arial"/>
                <a:cs typeface="Arial"/>
              </a:rPr>
              <a:t>and other modern trade theorists have also introduced models  incorporating imperfect competition and other more realistic</a:t>
            </a:r>
            <a:r>
              <a:rPr dirty="0" sz="1100" spc="40">
                <a:latin typeface="Arial"/>
                <a:cs typeface="Arial"/>
              </a:rPr>
              <a:t> </a:t>
            </a:r>
            <a:r>
              <a:rPr dirty="0" sz="1100" spc="-5">
                <a:latin typeface="Arial"/>
                <a:cs typeface="Arial"/>
              </a:rPr>
              <a:t>features.</a:t>
            </a:r>
            <a:endParaRPr sz="1100">
              <a:latin typeface="Arial"/>
              <a:cs typeface="Arial"/>
            </a:endParaRPr>
          </a:p>
          <a:p>
            <a:pPr>
              <a:lnSpc>
                <a:spcPct val="100000"/>
              </a:lnSpc>
              <a:spcBef>
                <a:spcPts val="20"/>
              </a:spcBef>
            </a:pPr>
            <a:endParaRPr sz="1050">
              <a:latin typeface="Arial"/>
              <a:cs typeface="Arial"/>
            </a:endParaRPr>
          </a:p>
          <a:p>
            <a:pPr algn="just" marL="12700" marR="5080">
              <a:lnSpc>
                <a:spcPct val="95800"/>
              </a:lnSpc>
              <a:spcBef>
                <a:spcPts val="5"/>
              </a:spcBef>
            </a:pPr>
            <a:r>
              <a:rPr dirty="0" sz="1100" spc="-5">
                <a:latin typeface="Arial"/>
                <a:cs typeface="Arial"/>
              </a:rPr>
              <a:t>Some economies, like the Four Asian Tigers (Taiwan, South Korea, Singapore, and Hong  Kong), have succeeded in transforming their economies through purposeful effort from  unskilled-labor to skilled-labor to capital intensive production. Other Asian countries, notably  China, are following in their footsteps. However, for the vast majority of poor nations, the  possibility of trade itself stimulating similar structural economic changes is more remote without  the application of judicious development</a:t>
            </a:r>
            <a:r>
              <a:rPr dirty="0" sz="1100" spc="20">
                <a:latin typeface="Arial"/>
                <a:cs typeface="Arial"/>
              </a:rPr>
              <a:t> </a:t>
            </a:r>
            <a:r>
              <a:rPr dirty="0" sz="1100" spc="-5">
                <a:latin typeface="Arial"/>
                <a:cs typeface="Arial"/>
              </a:rPr>
              <a:t>policies.</a:t>
            </a:r>
            <a:endParaRPr sz="1100">
              <a:latin typeface="Arial"/>
              <a:cs typeface="Arial"/>
            </a:endParaRPr>
          </a:p>
          <a:p>
            <a:pPr>
              <a:lnSpc>
                <a:spcPct val="100000"/>
              </a:lnSpc>
            </a:pPr>
            <a:endParaRPr sz="1050">
              <a:latin typeface="Arial"/>
              <a:cs typeface="Arial"/>
            </a:endParaRPr>
          </a:p>
          <a:p>
            <a:pPr algn="just" marL="12700">
              <a:lnSpc>
                <a:spcPct val="100000"/>
              </a:lnSpc>
              <a:spcBef>
                <a:spcPts val="5"/>
              </a:spcBef>
            </a:pPr>
            <a:r>
              <a:rPr dirty="0" sz="1100" spc="-5" b="1">
                <a:latin typeface="Arial"/>
                <a:cs typeface="Arial"/>
              </a:rPr>
              <a:t>PORTER’S “COMPETITIVE ADVANTAGE”</a:t>
            </a:r>
            <a:r>
              <a:rPr dirty="0" sz="1100" spc="15" b="1">
                <a:latin typeface="Arial"/>
                <a:cs typeface="Arial"/>
              </a:rPr>
              <a:t> </a:t>
            </a:r>
            <a:r>
              <a:rPr dirty="0" sz="1100" spc="-5" b="1">
                <a:latin typeface="Arial"/>
                <a:cs typeface="Arial"/>
              </a:rPr>
              <a:t>THEORY</a:t>
            </a:r>
            <a:endParaRPr sz="1100">
              <a:latin typeface="Arial"/>
              <a:cs typeface="Arial"/>
            </a:endParaRPr>
          </a:p>
          <a:p>
            <a:pPr>
              <a:lnSpc>
                <a:spcPct val="100000"/>
              </a:lnSpc>
              <a:spcBef>
                <a:spcPts val="50"/>
              </a:spcBef>
            </a:pPr>
            <a:endParaRPr sz="1050">
              <a:latin typeface="Arial"/>
              <a:cs typeface="Arial"/>
            </a:endParaRPr>
          </a:p>
          <a:p>
            <a:pPr marL="12700" marR="5715">
              <a:lnSpc>
                <a:spcPct val="95800"/>
              </a:lnSpc>
            </a:pPr>
            <a:r>
              <a:rPr dirty="0" sz="1100" spc="-5">
                <a:latin typeface="Arial"/>
                <a:cs typeface="Arial"/>
              </a:rPr>
              <a:t>Another interesting example of the new, post neo-classical genre of international trade models  is contained in Michael Porter’s Competitive Advantage of Nations. Porter’s fundamental  departure from the standard, neoclassical factor endowment theory is to posit a qualitative  difference between basic factors and advanced factors of production. </a:t>
            </a:r>
            <a:r>
              <a:rPr dirty="0" sz="1100" spc="-10">
                <a:latin typeface="Arial"/>
                <a:cs typeface="Arial"/>
              </a:rPr>
              <a:t>He </a:t>
            </a:r>
            <a:r>
              <a:rPr dirty="0" sz="1100" spc="-5">
                <a:latin typeface="Arial"/>
                <a:cs typeface="Arial"/>
              </a:rPr>
              <a:t>argues that standard  trade theory applies only to basic factors like undeveloped physical resources and unskilled  labor. For the advanced factors, which are more specialized and include highly trained workers  with specific skills, and knowledge resources such as government and private research  institutes, major universities, and leading industry associations, standard theory does not apply.  Porter concludes that the central task facing developing countries is to escape from the  straitjacket of factor-driven national advantage . . . where natural resources, cheap labor,  locational factors and other basic factor advantages provide a fragile and often fleeting ability to  export . . . [and are] vulnerable to exchange rate and factor cost swings. Many of these  industries are also not growing, as the resource intensity of advanced economies falls and  demand becomes more sophisticated. . . . Creation of advanced factors is perhaps the first  priority.</a:t>
            </a:r>
            <a:endParaRPr sz="1100">
              <a:latin typeface="Arial"/>
              <a:cs typeface="Arial"/>
            </a:endParaRPr>
          </a:p>
          <a:p>
            <a:pPr>
              <a:lnSpc>
                <a:spcPct val="100000"/>
              </a:lnSpc>
              <a:spcBef>
                <a:spcPts val="40"/>
              </a:spcBef>
            </a:pPr>
            <a:endParaRPr sz="1100">
              <a:latin typeface="Arial"/>
              <a:cs typeface="Arial"/>
            </a:endParaRPr>
          </a:p>
          <a:p>
            <a:pPr marL="12700" marR="6985">
              <a:lnSpc>
                <a:spcPts val="1270"/>
              </a:lnSpc>
            </a:pPr>
            <a:r>
              <a:rPr dirty="0" sz="1100" spc="-5" b="1">
                <a:latin typeface="Arial"/>
                <a:cs typeface="Arial"/>
              </a:rPr>
              <a:t>UNEMPLOYMENT, RESOURCE UNDERUTILIZATION, AND </a:t>
            </a:r>
            <a:r>
              <a:rPr dirty="0" sz="1100" b="1">
                <a:latin typeface="Arial"/>
                <a:cs typeface="Arial"/>
              </a:rPr>
              <a:t>THE </a:t>
            </a:r>
            <a:r>
              <a:rPr dirty="0" sz="1100" spc="-5" b="1">
                <a:latin typeface="Arial"/>
                <a:cs typeface="Arial"/>
              </a:rPr>
              <a:t>VENT-FOR-SURPLUS  THEORY OF INTERNATIONAL</a:t>
            </a:r>
            <a:r>
              <a:rPr dirty="0" sz="1100" spc="5" b="1">
                <a:latin typeface="Arial"/>
                <a:cs typeface="Arial"/>
              </a:rPr>
              <a:t> </a:t>
            </a:r>
            <a:r>
              <a:rPr dirty="0" sz="1100" b="1">
                <a:latin typeface="Arial"/>
                <a:cs typeface="Arial"/>
              </a:rPr>
              <a:t>TRADE</a:t>
            </a:r>
            <a:endParaRPr sz="1100">
              <a:latin typeface="Arial"/>
              <a:cs typeface="Arial"/>
            </a:endParaRPr>
          </a:p>
          <a:p>
            <a:pPr>
              <a:lnSpc>
                <a:spcPct val="100000"/>
              </a:lnSpc>
              <a:spcBef>
                <a:spcPts val="15"/>
              </a:spcBef>
            </a:pPr>
            <a:endParaRPr sz="1050">
              <a:latin typeface="Arial"/>
              <a:cs typeface="Arial"/>
            </a:endParaRPr>
          </a:p>
          <a:p>
            <a:pPr algn="just" marL="12700" marR="5715">
              <a:lnSpc>
                <a:spcPct val="95800"/>
              </a:lnSpc>
            </a:pPr>
            <a:r>
              <a:rPr dirty="0" sz="1100" spc="-5">
                <a:latin typeface="Arial"/>
                <a:cs typeface="Arial"/>
              </a:rPr>
              <a:t>The assumption of full employment in traditional trade models, like that of the standard perfectly  competitive equilibrium model of microeconomic theory, violates the reality of unemployment  drawn from the recognition of widespread unemployment in the developing world. The first is  that underutilized human resources create the opportunity to expand productive capacity and  GNI at little or no real cost by producing for export markets products that are not demanded  locally. This is known as the vent-for-surplus theory of international trade. First formulated by  Adam Smith, it was expounded in the context of developing nations by the Burmese economist  Hla Myint.</a:t>
            </a:r>
            <a:endParaRPr sz="1100">
              <a:latin typeface="Arial"/>
              <a:cs typeface="Arial"/>
            </a:endParaRPr>
          </a:p>
          <a:p>
            <a:pPr>
              <a:lnSpc>
                <a:spcPct val="100000"/>
              </a:lnSpc>
              <a:spcBef>
                <a:spcPts val="20"/>
              </a:spcBef>
            </a:pPr>
            <a:endParaRPr sz="1150">
              <a:latin typeface="Arial"/>
              <a:cs typeface="Arial"/>
            </a:endParaRPr>
          </a:p>
          <a:p>
            <a:pPr algn="just" marL="469265" marR="6985" indent="-228600">
              <a:lnSpc>
                <a:spcPct val="95800"/>
              </a:lnSpc>
              <a:spcBef>
                <a:spcPts val="5"/>
              </a:spcBef>
              <a:buFont typeface="Symbol"/>
              <a:buChar char=""/>
              <a:tabLst>
                <a:tab pos="469900" algn="l"/>
              </a:tabLst>
            </a:pPr>
            <a:r>
              <a:rPr dirty="0" sz="1100" spc="-5" b="1">
                <a:latin typeface="Arial"/>
                <a:cs typeface="Arial"/>
              </a:rPr>
              <a:t>Vent-for-surplus theory of international trade: </a:t>
            </a:r>
            <a:r>
              <a:rPr dirty="0" sz="1100" spc="-5">
                <a:latin typeface="Arial"/>
                <a:cs typeface="Arial"/>
              </a:rPr>
              <a:t>The contention that opening world  markets to developing countries through international trade allows those countries to  make better use of formerly underutilized land and labor resources so as to produce  larger primary-product outputs, the surpluses of which can be</a:t>
            </a:r>
            <a:r>
              <a:rPr dirty="0" sz="1100" spc="70">
                <a:latin typeface="Arial"/>
                <a:cs typeface="Arial"/>
              </a:rPr>
              <a:t> </a:t>
            </a:r>
            <a:r>
              <a:rPr dirty="0" sz="1100" spc="-5">
                <a:latin typeface="Arial"/>
                <a:cs typeface="Arial"/>
              </a:rPr>
              <a:t>exported.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249</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1478280"/>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According to this theory, the opening of world markets to remote agrarian societies creates  opportunities not to reallocate fully employed resources as in the traditional models but rather to  make use of formerly underemployed land and labor resources to produce greater output for  export to foreign markets. The colonial system of plantation agriculture as well as the  commercialization of small-scale subsistence agriculture was made possible, according to this  view, by the availability of unemployed and underemployed human resources. In terms of our  production possibility analyses, the ventfor- surplus argument can be represented by a shift in  production from point V to point B in Figure 12.2, with trade enlarging final domestic  consumption from V to</a:t>
            </a:r>
            <a:r>
              <a:rPr dirty="0" sz="1100" spc="15">
                <a:latin typeface="Arial"/>
                <a:cs typeface="Arial"/>
              </a:rPr>
              <a:t> </a:t>
            </a:r>
            <a:r>
              <a:rPr dirty="0" sz="1100" spc="-5">
                <a:latin typeface="Arial"/>
                <a:cs typeface="Arial"/>
              </a:rPr>
              <a:t>C.</a:t>
            </a:r>
            <a:endParaRPr sz="1100">
              <a:latin typeface="Arial"/>
              <a:cs typeface="Arial"/>
            </a:endParaRPr>
          </a:p>
        </p:txBody>
      </p:sp>
      <p:sp>
        <p:nvSpPr>
          <p:cNvPr id="7" name="object 7"/>
          <p:cNvSpPr txBox="1"/>
          <p:nvPr/>
        </p:nvSpPr>
        <p:spPr>
          <a:xfrm>
            <a:off x="901700" y="5825728"/>
            <a:ext cx="5969635" cy="292481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We see that before trade, the resources of this closed developing-world economy were  underutilized. Production was occurring at point V, well within the confines of the production  possibility frontier, and 0X primary products and 0Y manufactures were being produced and  consumed. The opening up of the nation to foreign markets (probably as a result of colonization)  provides the economic impetus to utilize these idle resources (mostly excess land and labor)  and expand primary-product exportable production </a:t>
            </a:r>
            <a:r>
              <a:rPr dirty="0" sz="1100">
                <a:latin typeface="Arial"/>
                <a:cs typeface="Arial"/>
              </a:rPr>
              <a:t>from 0X </a:t>
            </a:r>
            <a:r>
              <a:rPr dirty="0" sz="1100" spc="-5">
                <a:latin typeface="Arial"/>
                <a:cs typeface="Arial"/>
              </a:rPr>
              <a:t>to </a:t>
            </a:r>
            <a:r>
              <a:rPr dirty="0" sz="1100">
                <a:latin typeface="Arial"/>
                <a:cs typeface="Arial"/>
              </a:rPr>
              <a:t>0X </a:t>
            </a:r>
            <a:r>
              <a:rPr dirty="0" sz="1100" spc="-5">
                <a:latin typeface="Arial"/>
                <a:cs typeface="Arial"/>
              </a:rPr>
              <a:t>at </a:t>
            </a:r>
            <a:r>
              <a:rPr dirty="0" sz="1100">
                <a:latin typeface="Arial"/>
                <a:cs typeface="Arial"/>
              </a:rPr>
              <a:t>point </a:t>
            </a:r>
            <a:r>
              <a:rPr dirty="0" sz="1100" spc="-5">
                <a:latin typeface="Arial"/>
                <a:cs typeface="Arial"/>
              </a:rPr>
              <a:t>B on the production  frontier. Given the international price ratio </a:t>
            </a:r>
            <a:r>
              <a:rPr dirty="0" sz="1100" spc="-5" b="1">
                <a:latin typeface="Arial"/>
                <a:cs typeface="Arial"/>
              </a:rPr>
              <a:t>Pa/Pm</a:t>
            </a:r>
            <a:r>
              <a:rPr dirty="0" sz="1100" spc="-5">
                <a:latin typeface="Arial"/>
                <a:cs typeface="Arial"/>
              </a:rPr>
              <a:t>, </a:t>
            </a:r>
            <a:r>
              <a:rPr dirty="0" sz="1100" spc="-5" b="1">
                <a:latin typeface="Arial"/>
                <a:cs typeface="Arial"/>
              </a:rPr>
              <a:t>X'-X </a:t>
            </a:r>
            <a:r>
              <a:rPr dirty="0" sz="1100" spc="-5">
                <a:latin typeface="Arial"/>
                <a:cs typeface="Arial"/>
              </a:rPr>
              <a:t>(equal to VB) primary products can now  be exported in exchange for </a:t>
            </a:r>
            <a:r>
              <a:rPr dirty="0" sz="1100" spc="-5" b="1">
                <a:latin typeface="Arial"/>
                <a:cs typeface="Arial"/>
              </a:rPr>
              <a:t>Y'-Y </a:t>
            </a:r>
            <a:r>
              <a:rPr dirty="0" sz="1100" spc="-5">
                <a:latin typeface="Arial"/>
                <a:cs typeface="Arial"/>
              </a:rPr>
              <a:t>(equal to </a:t>
            </a:r>
            <a:r>
              <a:rPr dirty="0" sz="1100" spc="-10">
                <a:latin typeface="Arial"/>
                <a:cs typeface="Arial"/>
              </a:rPr>
              <a:t>VC) </a:t>
            </a:r>
            <a:r>
              <a:rPr dirty="0" sz="1100" spc="-5">
                <a:latin typeface="Arial"/>
                <a:cs typeface="Arial"/>
              </a:rPr>
              <a:t>manufactures, with the result that the final  consumption point, C, </a:t>
            </a:r>
            <a:r>
              <a:rPr dirty="0" sz="1100">
                <a:latin typeface="Arial"/>
                <a:cs typeface="Arial"/>
              </a:rPr>
              <a:t>is </a:t>
            </a:r>
            <a:r>
              <a:rPr dirty="0" sz="1100" spc="-5">
                <a:latin typeface="Arial"/>
                <a:cs typeface="Arial"/>
              </a:rPr>
              <a:t>attained with the same primary products (X) </a:t>
            </a:r>
            <a:r>
              <a:rPr dirty="0" sz="1100">
                <a:latin typeface="Arial"/>
                <a:cs typeface="Arial"/>
              </a:rPr>
              <a:t>being </a:t>
            </a:r>
            <a:r>
              <a:rPr dirty="0" sz="1100" spc="-5">
                <a:latin typeface="Arial"/>
                <a:cs typeface="Arial"/>
              </a:rPr>
              <a:t>consumed as before  but with </a:t>
            </a:r>
            <a:r>
              <a:rPr dirty="0" sz="1100" spc="-5" b="1">
                <a:latin typeface="Arial"/>
                <a:cs typeface="Arial"/>
              </a:rPr>
              <a:t>Y'-Y </a:t>
            </a:r>
            <a:r>
              <a:rPr dirty="0" sz="1100" spc="-5">
                <a:latin typeface="Arial"/>
                <a:cs typeface="Arial"/>
              </a:rPr>
              <a:t>more imported manufactures now</a:t>
            </a:r>
            <a:r>
              <a:rPr dirty="0" sz="1100" spc="25">
                <a:latin typeface="Arial"/>
                <a:cs typeface="Arial"/>
              </a:rPr>
              <a:t> </a:t>
            </a:r>
            <a:r>
              <a:rPr dirty="0" sz="1100" spc="-5">
                <a:latin typeface="Arial"/>
                <a:cs typeface="Arial"/>
              </a:rPr>
              <a:t>available.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Unfortunately in the short run, the beneficiaries of this process were often colonial and  expatriate entrepreneurs rather than developing-country nationals. And in the long run, the  structural orientation of the developing-country economy toward primary-product exports in  many cases created an export “enclave” and inhibited needed structural transformation in the  direction of a more diversified</a:t>
            </a:r>
            <a:r>
              <a:rPr dirty="0" sz="1100" spc="15">
                <a:latin typeface="Arial"/>
                <a:cs typeface="Arial"/>
              </a:rPr>
              <a:t> </a:t>
            </a:r>
            <a:r>
              <a:rPr dirty="0" sz="1100" spc="-5">
                <a:latin typeface="Arial"/>
                <a:cs typeface="Arial"/>
              </a:rPr>
              <a:t>economy.</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10" b="1">
                <a:latin typeface="Arial"/>
                <a:cs typeface="Arial"/>
              </a:rPr>
              <a:t>FIXED, </a:t>
            </a:r>
            <a:r>
              <a:rPr dirty="0" sz="1100" spc="-5" b="1">
                <a:latin typeface="Arial"/>
                <a:cs typeface="Arial"/>
              </a:rPr>
              <a:t>FREELY AVAILABLE TECHNOLOGY AND CONSUMER</a:t>
            </a:r>
            <a:r>
              <a:rPr dirty="0" sz="1100" spc="30" b="1">
                <a:latin typeface="Arial"/>
                <a:cs typeface="Arial"/>
              </a:rPr>
              <a:t> </a:t>
            </a:r>
            <a:r>
              <a:rPr dirty="0" sz="1100" spc="-5" b="1">
                <a:latin typeface="Arial"/>
                <a:cs typeface="Arial"/>
              </a:rPr>
              <a:t>SOVEREIGNTY</a:t>
            </a:r>
            <a:endParaRPr sz="1100">
              <a:latin typeface="Arial"/>
              <a:cs typeface="Arial"/>
            </a:endParaRPr>
          </a:p>
        </p:txBody>
      </p:sp>
      <p:sp>
        <p:nvSpPr>
          <p:cNvPr id="8" name="object 8"/>
          <p:cNvSpPr/>
          <p:nvPr/>
        </p:nvSpPr>
        <p:spPr>
          <a:xfrm>
            <a:off x="1379982" y="2679192"/>
            <a:ext cx="5052060" cy="3168395"/>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250</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58" y="891794"/>
            <a:ext cx="5970270" cy="81216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Just as capital resources are rapidly growing and being dispersed to maximize the returns of  their owners throughout the world, rapid technological change is profoundly affecting world  trading relationships. One of the most obvious examples of the impact of developed-country  technological change on developing-country export earnings is the development of synthetic  substitutes for many traditional primary products. Since World War II, synthetic substitutes for  such diverse commodities as rubber, wool, cotton, sisal, jute, hides, and skins have been  manufactured in increasing quantities. The developing world’s market shares of these sectors  have fallen</a:t>
            </a:r>
            <a:r>
              <a:rPr dirty="0" sz="1100">
                <a:latin typeface="Arial"/>
                <a:cs typeface="Arial"/>
              </a:rPr>
              <a:t> </a:t>
            </a:r>
            <a:r>
              <a:rPr dirty="0" sz="1100" spc="-5">
                <a:latin typeface="Arial"/>
                <a:cs typeface="Arial"/>
              </a:rPr>
              <a:t>steadily.</a:t>
            </a:r>
            <a:endParaRPr sz="1100">
              <a:latin typeface="Arial"/>
              <a:cs typeface="Arial"/>
            </a:endParaRPr>
          </a:p>
          <a:p>
            <a:pPr>
              <a:lnSpc>
                <a:spcPct val="100000"/>
              </a:lnSpc>
              <a:spcBef>
                <a:spcPts val="20"/>
              </a:spcBef>
            </a:pPr>
            <a:endParaRPr sz="1150">
              <a:latin typeface="Arial"/>
              <a:cs typeface="Arial"/>
            </a:endParaRPr>
          </a:p>
          <a:p>
            <a:pPr algn="just" marL="469900" marR="5080" indent="-228600">
              <a:lnSpc>
                <a:spcPct val="95700"/>
              </a:lnSpc>
              <a:buFont typeface="Symbol"/>
              <a:buChar char=""/>
              <a:tabLst>
                <a:tab pos="470534" algn="l"/>
              </a:tabLst>
            </a:pPr>
            <a:r>
              <a:rPr dirty="0" sz="1100" spc="-5" b="1">
                <a:latin typeface="Arial"/>
                <a:cs typeface="Arial"/>
              </a:rPr>
              <a:t>Synthetic substitutes: </a:t>
            </a:r>
            <a:r>
              <a:rPr dirty="0" sz="1100" spc="-5">
                <a:latin typeface="Arial"/>
                <a:cs typeface="Arial"/>
              </a:rPr>
              <a:t>Commodities that are artificially produced but can be substituted  for the natural commodities (e.g., manufactured rubber, cotton, wool, camphor, and  pyrethrum).</a:t>
            </a:r>
            <a:endParaRPr sz="1100">
              <a:latin typeface="Arial"/>
              <a:cs typeface="Arial"/>
            </a:endParaRPr>
          </a:p>
          <a:p>
            <a:pPr algn="just" marL="469900" marR="6985" indent="-228600">
              <a:lnSpc>
                <a:spcPct val="95700"/>
              </a:lnSpc>
              <a:spcBef>
                <a:spcPts val="80"/>
              </a:spcBef>
              <a:buFont typeface="Symbol"/>
              <a:buChar char=""/>
              <a:tabLst>
                <a:tab pos="470534" algn="l"/>
              </a:tabLst>
            </a:pPr>
            <a:r>
              <a:rPr dirty="0" sz="1100" spc="-5" b="1">
                <a:latin typeface="Arial"/>
                <a:cs typeface="Arial"/>
              </a:rPr>
              <a:t>Product cycle: </a:t>
            </a:r>
            <a:r>
              <a:rPr dirty="0" sz="1100" spc="-5">
                <a:latin typeface="Arial"/>
                <a:cs typeface="Arial"/>
              </a:rPr>
              <a:t>In international trade, the progressive replacement of more developed  countries by less developed countries in the production of manufactures of increasing  complexity.</a:t>
            </a:r>
            <a:endParaRPr sz="1100">
              <a:latin typeface="Arial"/>
              <a:cs typeface="Arial"/>
            </a:endParaRPr>
          </a:p>
          <a:p>
            <a:pPr>
              <a:lnSpc>
                <a:spcPct val="100000"/>
              </a:lnSpc>
              <a:spcBef>
                <a:spcPts val="5"/>
              </a:spcBef>
              <a:buFont typeface="Symbol"/>
              <a:buChar char=""/>
            </a:pPr>
            <a:endParaRPr sz="1100">
              <a:latin typeface="Arial"/>
              <a:cs typeface="Arial"/>
            </a:endParaRPr>
          </a:p>
          <a:p>
            <a:pPr algn="just" marL="12700" marR="5080">
              <a:lnSpc>
                <a:spcPct val="95800"/>
              </a:lnSpc>
            </a:pPr>
            <a:r>
              <a:rPr dirty="0" sz="1100" spc="-5">
                <a:latin typeface="Arial"/>
                <a:cs typeface="Arial"/>
              </a:rPr>
              <a:t>On the other side of the ledger, however, is the argument that the worldwide availability of </a:t>
            </a:r>
            <a:r>
              <a:rPr dirty="0" sz="1100">
                <a:latin typeface="Arial"/>
                <a:cs typeface="Arial"/>
              </a:rPr>
              <a:t>new  </a:t>
            </a:r>
            <a:r>
              <a:rPr dirty="0" sz="1100" spc="-5">
                <a:latin typeface="Arial"/>
                <a:cs typeface="Arial"/>
              </a:rPr>
              <a:t>technologies developed in the West has given many newly industrializing countries the  opportunity to capitalize on Western research and development expenditures. By first imitating  products developed abroad but not on the frontiers of technological research, certain middle-  income countries with sufficient human capital (e.g., the Asian NICs) can follow the product  cycle of international trade. Using their relatively lower wages, they move from low-tech to high-  tech production, filling manufacturing gaps left vacant by the more industrialized nations.  Eventually, the hope is to catch up with the developed countries, as in the case of Japan,  Singapore, and South Korea. China has made striking progress through this</a:t>
            </a:r>
            <a:r>
              <a:rPr dirty="0" sz="1100" spc="114">
                <a:latin typeface="Arial"/>
                <a:cs typeface="Arial"/>
              </a:rPr>
              <a:t> </a:t>
            </a:r>
            <a:r>
              <a:rPr dirty="0" sz="1100" spc="-5">
                <a:latin typeface="Arial"/>
                <a:cs typeface="Arial"/>
              </a:rPr>
              <a:t>strategy.</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assumption of fixed worldwide consumer tastes and preferences dictating production  patterns to market-responsive atomistic producers is unrealistic. Not only are the capital and  production technologies disseminated throughout the world by means of the multinational  corporations often aided by their home governments, but consumer preferences and tastes are  often created and reinforced by </a:t>
            </a:r>
            <a:r>
              <a:rPr dirty="0" sz="1100">
                <a:latin typeface="Arial"/>
                <a:cs typeface="Arial"/>
              </a:rPr>
              <a:t>the </a:t>
            </a:r>
            <a:r>
              <a:rPr dirty="0" sz="1100" spc="-5">
                <a:latin typeface="Arial"/>
                <a:cs typeface="Arial"/>
              </a:rPr>
              <a:t>advertising campaigns that dominate local markets. By  creating demands for imported goods, market-dominating international enterprises can create  the conditions for increased profitability. This is particularly significant in developing countries,  where limited and imperfect information in both production and consumption creates a situation  of highly incomplete markets. For example, it has been estimated that in many developing  nations, more than 90% of all advertising is financed by foreign firms selling in the local</a:t>
            </a:r>
            <a:r>
              <a:rPr dirty="0" sz="1100" spc="280">
                <a:latin typeface="Arial"/>
                <a:cs typeface="Arial"/>
              </a:rPr>
              <a:t> </a:t>
            </a:r>
            <a:r>
              <a:rPr dirty="0" sz="1100" spc="-5">
                <a:latin typeface="Arial"/>
                <a:cs typeface="Arial"/>
              </a:rPr>
              <a:t>market.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MOST NEW PRODUCTS CONCEIVED / PRODUCED </a:t>
            </a:r>
            <a:r>
              <a:rPr dirty="0" sz="1100" b="1">
                <a:latin typeface="Arial"/>
                <a:cs typeface="Arial"/>
              </a:rPr>
              <a:t>IN </a:t>
            </a:r>
            <a:r>
              <a:rPr dirty="0" sz="1100" spc="-5" b="1">
                <a:latin typeface="Arial"/>
                <a:cs typeface="Arial"/>
              </a:rPr>
              <a:t>THE US </a:t>
            </a:r>
            <a:r>
              <a:rPr dirty="0" sz="1100" b="1">
                <a:latin typeface="Arial"/>
                <a:cs typeface="Arial"/>
              </a:rPr>
              <a:t>IN </a:t>
            </a:r>
            <a:r>
              <a:rPr dirty="0" sz="1100" spc="-5" b="1">
                <a:latin typeface="Arial"/>
                <a:cs typeface="Arial"/>
              </a:rPr>
              <a:t>20TH</a:t>
            </a:r>
            <a:r>
              <a:rPr dirty="0" sz="1100" spc="75" b="1">
                <a:latin typeface="Arial"/>
                <a:cs typeface="Arial"/>
              </a:rPr>
              <a:t> </a:t>
            </a:r>
            <a:r>
              <a:rPr dirty="0" sz="1100" spc="-5" b="1">
                <a:latin typeface="Arial"/>
                <a:cs typeface="Arial"/>
              </a:rPr>
              <a:t>CENTURY</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US firms </a:t>
            </a:r>
            <a:r>
              <a:rPr dirty="0" sz="1100" b="1">
                <a:latin typeface="Arial"/>
                <a:cs typeface="Arial"/>
              </a:rPr>
              <a:t>kept </a:t>
            </a:r>
            <a:r>
              <a:rPr dirty="0" sz="1100" spc="-5" b="1">
                <a:latin typeface="Arial"/>
                <a:cs typeface="Arial"/>
              </a:rPr>
              <a:t>production close to their market</a:t>
            </a:r>
            <a:r>
              <a:rPr dirty="0" sz="1100" spc="35" b="1">
                <a:latin typeface="Arial"/>
                <a:cs typeface="Arial"/>
              </a:rPr>
              <a:t> </a:t>
            </a:r>
            <a:r>
              <a:rPr dirty="0" sz="1100" spc="-5" b="1">
                <a:latin typeface="Arial"/>
                <a:cs typeface="Arial"/>
              </a:rPr>
              <a:t>initially</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Minimize risk of new product</a:t>
            </a:r>
            <a:r>
              <a:rPr dirty="0" sz="1100" spc="20">
                <a:latin typeface="Arial"/>
                <a:cs typeface="Arial"/>
              </a:rPr>
              <a:t> </a:t>
            </a:r>
            <a:r>
              <a:rPr dirty="0" sz="1100" spc="-5">
                <a:latin typeface="Arial"/>
                <a:cs typeface="Arial"/>
              </a:rPr>
              <a:t>introductions</a:t>
            </a:r>
            <a:endParaRPr sz="1100">
              <a:latin typeface="Arial"/>
              <a:cs typeface="Arial"/>
            </a:endParaRPr>
          </a:p>
          <a:p>
            <a:pPr marL="469900" indent="-229235">
              <a:lnSpc>
                <a:spcPct val="100000"/>
              </a:lnSpc>
              <a:spcBef>
                <a:spcPts val="15"/>
              </a:spcBef>
              <a:buFont typeface="Symbol"/>
              <a:buChar char=""/>
              <a:tabLst>
                <a:tab pos="469265" algn="l"/>
                <a:tab pos="470534" algn="l"/>
              </a:tabLst>
            </a:pPr>
            <a:r>
              <a:rPr dirty="0" sz="1100" spc="-5">
                <a:latin typeface="Arial"/>
                <a:cs typeface="Arial"/>
              </a:rPr>
              <a:t>Demand not based on price; low product cost not an</a:t>
            </a:r>
            <a:r>
              <a:rPr dirty="0" sz="1100" spc="60">
                <a:latin typeface="Arial"/>
                <a:cs typeface="Arial"/>
              </a:rPr>
              <a:t> </a:t>
            </a:r>
            <a:r>
              <a:rPr dirty="0" sz="1100" spc="-5">
                <a:latin typeface="Arial"/>
                <a:cs typeface="Arial"/>
              </a:rPr>
              <a:t>issue</a:t>
            </a:r>
            <a:endParaRPr sz="1100">
              <a:latin typeface="Arial"/>
              <a:cs typeface="Arial"/>
            </a:endParaRPr>
          </a:p>
          <a:p>
            <a:pPr>
              <a:lnSpc>
                <a:spcPct val="100000"/>
              </a:lnSpc>
              <a:spcBef>
                <a:spcPts val="5"/>
              </a:spcBef>
              <a:buFont typeface="Symbol"/>
              <a:buChar char=""/>
            </a:pPr>
            <a:endParaRPr sz="1050">
              <a:latin typeface="Arial"/>
              <a:cs typeface="Arial"/>
            </a:endParaRPr>
          </a:p>
          <a:p>
            <a:pPr marL="12700">
              <a:lnSpc>
                <a:spcPct val="100000"/>
              </a:lnSpc>
            </a:pPr>
            <a:r>
              <a:rPr dirty="0" sz="1100" spc="-5" b="1">
                <a:latin typeface="Arial"/>
                <a:cs typeface="Arial"/>
              </a:rPr>
              <a:t>Limited initial demand in other advanced countries</a:t>
            </a:r>
            <a:r>
              <a:rPr dirty="0" sz="1100" spc="40" b="1">
                <a:latin typeface="Arial"/>
                <a:cs typeface="Arial"/>
              </a:rPr>
              <a:t> </a:t>
            </a:r>
            <a:r>
              <a:rPr dirty="0" sz="1100" spc="-5" b="1">
                <a:latin typeface="Arial"/>
                <a:cs typeface="Arial"/>
              </a:rPr>
              <a:t>initially</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Exports more attractive than overseas</a:t>
            </a:r>
            <a:r>
              <a:rPr dirty="0" sz="1100" spc="25">
                <a:latin typeface="Arial"/>
                <a:cs typeface="Arial"/>
              </a:rPr>
              <a:t> </a:t>
            </a:r>
            <a:r>
              <a:rPr dirty="0" sz="1100" spc="-5">
                <a:latin typeface="Arial"/>
                <a:cs typeface="Arial"/>
              </a:rPr>
              <a:t>production</a:t>
            </a:r>
            <a:endParaRPr sz="1100">
              <a:latin typeface="Arial"/>
              <a:cs typeface="Arial"/>
            </a:endParaRPr>
          </a:p>
          <a:p>
            <a:pPr marL="12700" marR="1470025">
              <a:lnSpc>
                <a:spcPct val="191800"/>
              </a:lnSpc>
            </a:pPr>
            <a:r>
              <a:rPr dirty="0" sz="1100" spc="-5" b="1">
                <a:latin typeface="Arial"/>
                <a:cs typeface="Arial"/>
              </a:rPr>
              <a:t>When demand increases in advanced countries, production follows  With demand expansion in secondary</a:t>
            </a:r>
            <a:r>
              <a:rPr dirty="0" sz="1100" spc="15" b="1">
                <a:latin typeface="Arial"/>
                <a:cs typeface="Arial"/>
              </a:rPr>
              <a:t> </a:t>
            </a:r>
            <a:r>
              <a:rPr dirty="0" sz="1100" spc="-5" b="1">
                <a:latin typeface="Arial"/>
                <a:cs typeface="Arial"/>
              </a:rPr>
              <a:t>markets</a:t>
            </a:r>
            <a:endParaRPr sz="1100">
              <a:latin typeface="Arial"/>
              <a:cs typeface="Arial"/>
            </a:endParaRPr>
          </a:p>
          <a:p>
            <a:pPr marL="469900" indent="-229870">
              <a:lnSpc>
                <a:spcPct val="100000"/>
              </a:lnSpc>
              <a:spcBef>
                <a:spcPts val="15"/>
              </a:spcBef>
              <a:buFont typeface="Symbol"/>
              <a:buChar char=""/>
              <a:tabLst>
                <a:tab pos="469265" algn="l"/>
                <a:tab pos="470534" algn="l"/>
              </a:tabLst>
            </a:pPr>
            <a:r>
              <a:rPr dirty="0" sz="1100" spc="-5">
                <a:latin typeface="Arial"/>
                <a:cs typeface="Arial"/>
              </a:rPr>
              <a:t>Product becomes</a:t>
            </a:r>
            <a:r>
              <a:rPr dirty="0" sz="1100" spc="5">
                <a:latin typeface="Arial"/>
                <a:cs typeface="Arial"/>
              </a:rPr>
              <a:t> </a:t>
            </a:r>
            <a:r>
              <a:rPr dirty="0" sz="1100" spc="-5">
                <a:latin typeface="Arial"/>
                <a:cs typeface="Arial"/>
              </a:rPr>
              <a:t>standardized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251</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1130300" y="901699"/>
            <a:ext cx="3679190" cy="363220"/>
          </a:xfrm>
          <a:prstGeom prst="rect">
            <a:avLst/>
          </a:prstGeom>
        </p:spPr>
        <p:txBody>
          <a:bodyPr wrap="square" lIns="0" tIns="12065" rIns="0" bIns="0" rtlCol="0" vert="horz">
            <a:spAutoFit/>
          </a:bodyPr>
          <a:lstStyle/>
          <a:p>
            <a:pPr marL="241300" indent="-229235">
              <a:lnSpc>
                <a:spcPct val="100000"/>
              </a:lnSpc>
              <a:spcBef>
                <a:spcPts val="95"/>
              </a:spcBef>
              <a:buFont typeface="Symbol"/>
              <a:buChar char=""/>
              <a:tabLst>
                <a:tab pos="240665" algn="l"/>
                <a:tab pos="241935" algn="l"/>
              </a:tabLst>
            </a:pPr>
            <a:r>
              <a:rPr dirty="0" sz="1100" spc="-5">
                <a:latin typeface="Arial"/>
                <a:cs typeface="Arial"/>
              </a:rPr>
              <a:t>Production moves to low production cost</a:t>
            </a:r>
            <a:r>
              <a:rPr dirty="0" sz="1100" spc="35">
                <a:latin typeface="Arial"/>
                <a:cs typeface="Arial"/>
              </a:rPr>
              <a:t> </a:t>
            </a:r>
            <a:r>
              <a:rPr dirty="0" sz="1100" spc="-5">
                <a:latin typeface="Arial"/>
                <a:cs typeface="Arial"/>
              </a:rPr>
              <a:t>areas</a:t>
            </a:r>
            <a:endParaRPr sz="1100">
              <a:latin typeface="Arial"/>
              <a:cs typeface="Arial"/>
            </a:endParaRPr>
          </a:p>
          <a:p>
            <a:pPr marL="241300" indent="-229235">
              <a:lnSpc>
                <a:spcPct val="100000"/>
              </a:lnSpc>
              <a:spcBef>
                <a:spcPts val="20"/>
              </a:spcBef>
              <a:buFont typeface="Symbol"/>
              <a:buChar char=""/>
              <a:tabLst>
                <a:tab pos="240665" algn="l"/>
                <a:tab pos="241935" algn="l"/>
              </a:tabLst>
            </a:pPr>
            <a:r>
              <a:rPr dirty="0" sz="1100" spc="-5">
                <a:latin typeface="Arial"/>
                <a:cs typeface="Arial"/>
              </a:rPr>
              <a:t>Product now imported to US and to advanced</a:t>
            </a:r>
            <a:r>
              <a:rPr dirty="0" sz="1100" spc="105">
                <a:latin typeface="Arial"/>
                <a:cs typeface="Arial"/>
              </a:rPr>
              <a:t> </a:t>
            </a:r>
            <a:r>
              <a:rPr dirty="0" sz="1100" spc="-5">
                <a:latin typeface="Arial"/>
                <a:cs typeface="Arial"/>
              </a:rPr>
              <a:t>countries</a:t>
            </a:r>
            <a:endParaRPr sz="1100">
              <a:latin typeface="Arial"/>
              <a:cs typeface="Arial"/>
            </a:endParaRPr>
          </a:p>
        </p:txBody>
      </p:sp>
      <p:sp>
        <p:nvSpPr>
          <p:cNvPr id="7" name="object 7"/>
          <p:cNvSpPr/>
          <p:nvPr/>
        </p:nvSpPr>
        <p:spPr>
          <a:xfrm>
            <a:off x="838200" y="1643633"/>
            <a:ext cx="5943600" cy="4533899"/>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252</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905" cy="8224520"/>
          </a:xfrm>
          <a:prstGeom prst="rect">
            <a:avLst/>
          </a:prstGeom>
        </p:spPr>
        <p:txBody>
          <a:bodyPr wrap="square" lIns="0" tIns="22860" rIns="0" bIns="0" rtlCol="0" vert="horz">
            <a:spAutoFit/>
          </a:bodyPr>
          <a:lstStyle/>
          <a:p>
            <a:pPr algn="just" marL="12700" marR="6985">
              <a:lnSpc>
                <a:spcPts val="1270"/>
              </a:lnSpc>
              <a:spcBef>
                <a:spcPts val="180"/>
              </a:spcBef>
            </a:pPr>
            <a:r>
              <a:rPr dirty="0" sz="1100" spc="-5" b="1">
                <a:latin typeface="Arial"/>
                <a:cs typeface="Arial"/>
              </a:rPr>
              <a:t>INTERNAL FACTOR MOBILITY, </a:t>
            </a:r>
            <a:r>
              <a:rPr dirty="0" sz="1100" b="1">
                <a:latin typeface="Arial"/>
                <a:cs typeface="Arial"/>
              </a:rPr>
              <a:t>PERFECT </a:t>
            </a:r>
            <a:r>
              <a:rPr dirty="0" sz="1100" spc="-5" b="1">
                <a:latin typeface="Arial"/>
                <a:cs typeface="Arial"/>
              </a:rPr>
              <a:t>COMPETITION, AND UNCERTAINTY:  INCREASING RETURNS, IMPERFECT COMPETITION AND ISSUES IN</a:t>
            </a:r>
            <a:r>
              <a:rPr dirty="0" sz="1100" spc="20" b="1">
                <a:latin typeface="Arial"/>
                <a:cs typeface="Arial"/>
              </a:rPr>
              <a:t> </a:t>
            </a:r>
            <a:r>
              <a:rPr dirty="0" sz="1100" spc="-5" b="1">
                <a:latin typeface="Arial"/>
                <a:cs typeface="Arial"/>
              </a:rPr>
              <a:t>SPECIALIZATION</a:t>
            </a:r>
            <a:endParaRPr sz="1100">
              <a:latin typeface="Arial"/>
              <a:cs typeface="Arial"/>
            </a:endParaRPr>
          </a:p>
          <a:p>
            <a:pPr>
              <a:lnSpc>
                <a:spcPct val="100000"/>
              </a:lnSpc>
              <a:spcBef>
                <a:spcPts val="40"/>
              </a:spcBef>
            </a:pPr>
            <a:endParaRPr sz="1050">
              <a:latin typeface="Arial"/>
              <a:cs typeface="Arial"/>
            </a:endParaRPr>
          </a:p>
          <a:p>
            <a:pPr algn="just" marL="12700" marR="6350">
              <a:lnSpc>
                <a:spcPts val="1270"/>
              </a:lnSpc>
            </a:pPr>
            <a:r>
              <a:rPr dirty="0" sz="1100" spc="-5">
                <a:latin typeface="Arial"/>
                <a:cs typeface="Arial"/>
              </a:rPr>
              <a:t>The traditional theory of trade assumes that nations are readily able to adjust their economic  structures to the changing dictates of world prices and markets. Movements along production  possibility frontiers involving the reallocation of resources from one industry to another may </a:t>
            </a:r>
            <a:r>
              <a:rPr dirty="0" sz="1100">
                <a:latin typeface="Arial"/>
                <a:cs typeface="Arial"/>
              </a:rPr>
              <a:t>be  </a:t>
            </a:r>
            <a:r>
              <a:rPr dirty="0" sz="1100" spc="-5">
                <a:latin typeface="Arial"/>
                <a:cs typeface="Arial"/>
              </a:rPr>
              <a:t>easy to </a:t>
            </a:r>
            <a:r>
              <a:rPr dirty="0" sz="1100">
                <a:latin typeface="Arial"/>
                <a:cs typeface="Arial"/>
              </a:rPr>
              <a:t>make </a:t>
            </a:r>
            <a:r>
              <a:rPr dirty="0" sz="1100" spc="-5">
                <a:latin typeface="Arial"/>
                <a:cs typeface="Arial"/>
              </a:rPr>
              <a:t>on paper, but according to structuralist arguments, such reallocations are  extremely difficult to achieve in practice. This is especially true in developing nations, where  production structures are often rigid and factor movements are largely</a:t>
            </a:r>
            <a:r>
              <a:rPr dirty="0" sz="1100" spc="90">
                <a:latin typeface="Arial"/>
                <a:cs typeface="Arial"/>
              </a:rPr>
              <a:t> </a:t>
            </a:r>
            <a:r>
              <a:rPr dirty="0" sz="1100" spc="-5">
                <a:latin typeface="Arial"/>
                <a:cs typeface="Arial"/>
              </a:rPr>
              <a:t>restricted.</a:t>
            </a:r>
            <a:endParaRPr sz="1100">
              <a:latin typeface="Arial"/>
              <a:cs typeface="Arial"/>
            </a:endParaRPr>
          </a:p>
          <a:p>
            <a:pPr>
              <a:lnSpc>
                <a:spcPct val="100000"/>
              </a:lnSpc>
            </a:pPr>
            <a:endParaRPr sz="1050">
              <a:latin typeface="Arial"/>
              <a:cs typeface="Arial"/>
            </a:endParaRPr>
          </a:p>
          <a:p>
            <a:pPr algn="just" marL="12700" marR="5715">
              <a:lnSpc>
                <a:spcPct val="95800"/>
              </a:lnSpc>
            </a:pPr>
            <a:r>
              <a:rPr dirty="0" sz="1100" spc="-5">
                <a:latin typeface="Arial"/>
                <a:cs typeface="Arial"/>
              </a:rPr>
              <a:t>The most obvious example of this is plantation and small-farm commercial agriculture. In  economies that have gradually become heavily dependent on a few primary-product exports,  the whole economic and social infrastructure (roads, railways, communications, power  locations, credit and marketing arrangements, etc.) may be geared to facilitate the movement </a:t>
            </a:r>
            <a:r>
              <a:rPr dirty="0" sz="1100">
                <a:latin typeface="Arial"/>
                <a:cs typeface="Arial"/>
              </a:rPr>
              <a:t>of  </a:t>
            </a:r>
            <a:r>
              <a:rPr dirty="0" sz="1100" spc="-5">
                <a:latin typeface="Arial"/>
                <a:cs typeface="Arial"/>
              </a:rPr>
              <a:t>goods from production locations to shipping and storage depots for transfer to foreign markets.  Over </a:t>
            </a:r>
            <a:r>
              <a:rPr dirty="0" sz="1100">
                <a:latin typeface="Arial"/>
                <a:cs typeface="Arial"/>
              </a:rPr>
              <a:t>time, </a:t>
            </a:r>
            <a:r>
              <a:rPr dirty="0" sz="1100" spc="-5">
                <a:latin typeface="Arial"/>
                <a:cs typeface="Arial"/>
              </a:rPr>
              <a:t>cumulative investments of capital may have been sunk into these economic and  infrastructure facilities and they cannot easily be transferred to manufacturing activities located  elsewhere. Thus the more dependent nations become on a few primary-product exports, the  more inflexible their economic structures become, and the more vulnerable they are to the un-  predictabilities of international</a:t>
            </a:r>
            <a:r>
              <a:rPr dirty="0" sz="1100" spc="10">
                <a:latin typeface="Arial"/>
                <a:cs typeface="Arial"/>
              </a:rPr>
              <a:t> </a:t>
            </a:r>
            <a:r>
              <a:rPr dirty="0" sz="1100" spc="-5">
                <a:latin typeface="Arial"/>
                <a:cs typeface="Arial"/>
              </a:rPr>
              <a:t>markets.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It may take many years to transform an underdeveloped economy </a:t>
            </a:r>
            <a:r>
              <a:rPr dirty="0" sz="1100">
                <a:latin typeface="Arial"/>
                <a:cs typeface="Arial"/>
              </a:rPr>
              <a:t>from </a:t>
            </a:r>
            <a:r>
              <a:rPr dirty="0" sz="1100" spc="-5">
                <a:latin typeface="Arial"/>
                <a:cs typeface="Arial"/>
              </a:rPr>
              <a:t>an almost exclusively  primary-product, export-oriented reliance to a more diversified, multi-sector structure. More  generally, structuralist critics argue that all </a:t>
            </a:r>
            <a:r>
              <a:rPr dirty="0" sz="1100">
                <a:latin typeface="Arial"/>
                <a:cs typeface="Arial"/>
              </a:rPr>
              <a:t>kinds </a:t>
            </a:r>
            <a:r>
              <a:rPr dirty="0" sz="1100" spc="-5">
                <a:latin typeface="Arial"/>
                <a:cs typeface="Arial"/>
              </a:rPr>
              <a:t>of politically and institutionally generated  structural rigidities, including product supply inelasticities, lack of intermediate products,  fragmented money markets, limited foreign exchange, government licensing, import controls,  poor transport and distribution facilities, and scarcities of managerial and skilled labor, often  inhibit a developing country’s ability to respond to changing international price signals in the  smooth and frictionless way of the neoclassical trade</a:t>
            </a:r>
            <a:r>
              <a:rPr dirty="0" sz="1100" spc="40">
                <a:latin typeface="Arial"/>
                <a:cs typeface="Arial"/>
              </a:rPr>
              <a:t> </a:t>
            </a:r>
            <a:r>
              <a:rPr dirty="0" sz="1100" spc="-5">
                <a:latin typeface="Arial"/>
                <a:cs typeface="Arial"/>
              </a:rPr>
              <a:t>model.</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Thus the internal processes of adjustment and resource reallocation necessary to capitalize on  changing world economic conditions are much more difficult for the less diversified developing  economies to realize than for their rich counterparts in the northern hemisphere. And yet,  curiously enough, developing countries that begin to expand their capacities to produce low-  cost, labor-intensive manufactured goods for export in industries such as textiles, shoes,  sporting goods, handbags, processed foodstuffs, wigs, and rugs have often found these exports  blocked by tariff and non-tariff barriers erected by developed countries to restrict the entry of  such low-cost goods into their home markets. The United Nations estimated in 2001 that such  trade restrictions cost developing countries at least $100 billion annually—2% of </a:t>
            </a:r>
            <a:r>
              <a:rPr dirty="0" sz="1100">
                <a:latin typeface="Arial"/>
                <a:cs typeface="Arial"/>
              </a:rPr>
              <a:t>their </a:t>
            </a:r>
            <a:r>
              <a:rPr dirty="0" sz="1100" spc="-5">
                <a:latin typeface="Arial"/>
                <a:cs typeface="Arial"/>
              </a:rPr>
              <a:t>GDP. The  reasons usually given by the North are that this low-cost foreign competition will create  unemployment among the higher-cost domestic </a:t>
            </a:r>
            <a:r>
              <a:rPr dirty="0" sz="1100">
                <a:latin typeface="Arial"/>
                <a:cs typeface="Arial"/>
              </a:rPr>
              <a:t>industries </a:t>
            </a:r>
            <a:r>
              <a:rPr dirty="0" sz="1100" spc="-5">
                <a:latin typeface="Arial"/>
                <a:cs typeface="Arial"/>
              </a:rPr>
              <a:t>of the developed country and that the  problems of internal economic adjustment are too serious to permit such unfettered foreign  competition! And while notable improvements have been made through the WTO and bilateral  offers (discussed later in the chapter), protectionism in various </a:t>
            </a:r>
            <a:r>
              <a:rPr dirty="0" sz="1100">
                <a:latin typeface="Arial"/>
                <a:cs typeface="Arial"/>
              </a:rPr>
              <a:t>forms </a:t>
            </a:r>
            <a:r>
              <a:rPr dirty="0" sz="1100" spc="-5">
                <a:latin typeface="Arial"/>
                <a:cs typeface="Arial"/>
              </a:rPr>
              <a:t>remains a serious  impediment to growth in the developing world, especially for the least developed</a:t>
            </a:r>
            <a:r>
              <a:rPr dirty="0" sz="1100" spc="180">
                <a:latin typeface="Arial"/>
                <a:cs typeface="Arial"/>
              </a:rPr>
              <a:t> </a:t>
            </a:r>
            <a:r>
              <a:rPr dirty="0" sz="1100" spc="-5">
                <a:latin typeface="Arial"/>
                <a:cs typeface="Arial"/>
              </a:rPr>
              <a:t>countries.</a:t>
            </a:r>
            <a:endParaRPr sz="1100">
              <a:latin typeface="Arial"/>
              <a:cs typeface="Arial"/>
            </a:endParaRPr>
          </a:p>
          <a:p>
            <a:pPr>
              <a:lnSpc>
                <a:spcPct val="100000"/>
              </a:lnSpc>
            </a:pPr>
            <a:endParaRPr sz="1100">
              <a:latin typeface="Arial"/>
              <a:cs typeface="Arial"/>
            </a:endParaRPr>
          </a:p>
          <a:p>
            <a:pPr algn="just" marL="12700" marR="5715">
              <a:lnSpc>
                <a:spcPct val="95800"/>
              </a:lnSpc>
              <a:spcBef>
                <a:spcPts val="5"/>
              </a:spcBef>
            </a:pPr>
            <a:r>
              <a:rPr dirty="0" sz="1100" spc="-5">
                <a:latin typeface="Arial"/>
                <a:cs typeface="Arial"/>
              </a:rPr>
              <a:t>Moreover, by assuming either fixed or diminishing returns to scale (fixed or increasing  production costs as output is expanded), the labor cost and factor endowment theories of trade  neglect one of the most important phenomena in international economic relations. This is the  pervasive </a:t>
            </a:r>
            <a:r>
              <a:rPr dirty="0" sz="1100">
                <a:latin typeface="Arial"/>
                <a:cs typeface="Arial"/>
              </a:rPr>
              <a:t>and </a:t>
            </a:r>
            <a:r>
              <a:rPr dirty="0" sz="1100" spc="-5">
                <a:latin typeface="Arial"/>
                <a:cs typeface="Arial"/>
              </a:rPr>
              <a:t>income-widening effect of increasing returns to scale and hence decreasing costs  of</a:t>
            </a:r>
            <a:r>
              <a:rPr dirty="0" sz="1100" spc="195">
                <a:latin typeface="Arial"/>
                <a:cs typeface="Arial"/>
              </a:rPr>
              <a:t> </a:t>
            </a:r>
            <a:r>
              <a:rPr dirty="0" sz="1100" spc="-5">
                <a:latin typeface="Arial"/>
                <a:cs typeface="Arial"/>
              </a:rPr>
              <a:t>production.</a:t>
            </a:r>
            <a:r>
              <a:rPr dirty="0" sz="1100" spc="195">
                <a:latin typeface="Arial"/>
                <a:cs typeface="Arial"/>
              </a:rPr>
              <a:t> </a:t>
            </a:r>
            <a:r>
              <a:rPr dirty="0" sz="1100" spc="-5">
                <a:latin typeface="Arial"/>
                <a:cs typeface="Arial"/>
              </a:rPr>
              <a:t>Decreasing</a:t>
            </a:r>
            <a:r>
              <a:rPr dirty="0" sz="1100" spc="200">
                <a:latin typeface="Arial"/>
                <a:cs typeface="Arial"/>
              </a:rPr>
              <a:t> </a:t>
            </a:r>
            <a:r>
              <a:rPr dirty="0" sz="1100" spc="-5">
                <a:latin typeface="Arial"/>
                <a:cs typeface="Arial"/>
              </a:rPr>
              <a:t>production</a:t>
            </a:r>
            <a:r>
              <a:rPr dirty="0" sz="1100" spc="195">
                <a:latin typeface="Arial"/>
                <a:cs typeface="Arial"/>
              </a:rPr>
              <a:t> </a:t>
            </a:r>
            <a:r>
              <a:rPr dirty="0" sz="1100" spc="-5">
                <a:latin typeface="Arial"/>
                <a:cs typeface="Arial"/>
              </a:rPr>
              <a:t>costs</a:t>
            </a:r>
            <a:r>
              <a:rPr dirty="0" sz="1100" spc="200">
                <a:latin typeface="Arial"/>
                <a:cs typeface="Arial"/>
              </a:rPr>
              <a:t> </a:t>
            </a:r>
            <a:r>
              <a:rPr dirty="0" sz="1100" spc="-5">
                <a:latin typeface="Arial"/>
                <a:cs typeface="Arial"/>
              </a:rPr>
              <a:t>mean</a:t>
            </a:r>
            <a:r>
              <a:rPr dirty="0" sz="1100" spc="195">
                <a:latin typeface="Arial"/>
                <a:cs typeface="Arial"/>
              </a:rPr>
              <a:t> </a:t>
            </a:r>
            <a:r>
              <a:rPr dirty="0" sz="1100" spc="-5">
                <a:latin typeface="Arial"/>
                <a:cs typeface="Arial"/>
              </a:rPr>
              <a:t>simply</a:t>
            </a:r>
            <a:r>
              <a:rPr dirty="0" sz="1100" spc="200">
                <a:latin typeface="Arial"/>
                <a:cs typeface="Arial"/>
              </a:rPr>
              <a:t> </a:t>
            </a:r>
            <a:r>
              <a:rPr dirty="0" sz="1100" spc="-5">
                <a:latin typeface="Arial"/>
                <a:cs typeface="Arial"/>
              </a:rPr>
              <a:t>that</a:t>
            </a:r>
            <a:r>
              <a:rPr dirty="0" sz="1100" spc="195">
                <a:latin typeface="Arial"/>
                <a:cs typeface="Arial"/>
              </a:rPr>
              <a:t> </a:t>
            </a:r>
            <a:r>
              <a:rPr dirty="0" sz="1100" spc="-5">
                <a:latin typeface="Arial"/>
                <a:cs typeface="Arial"/>
              </a:rPr>
              <a:t>large</a:t>
            </a:r>
            <a:r>
              <a:rPr dirty="0" sz="1100" spc="200">
                <a:latin typeface="Arial"/>
                <a:cs typeface="Arial"/>
              </a:rPr>
              <a:t> </a:t>
            </a:r>
            <a:r>
              <a:rPr dirty="0" sz="1100" spc="-5">
                <a:latin typeface="Arial"/>
                <a:cs typeface="Arial"/>
              </a:rPr>
              <a:t>existing</a:t>
            </a:r>
            <a:r>
              <a:rPr dirty="0" sz="1100" spc="195">
                <a:latin typeface="Arial"/>
                <a:cs typeface="Arial"/>
              </a:rPr>
              <a:t> </a:t>
            </a:r>
            <a:r>
              <a:rPr dirty="0" sz="1100" spc="-5">
                <a:latin typeface="Arial"/>
                <a:cs typeface="Arial"/>
              </a:rPr>
              <a:t>firms</a:t>
            </a:r>
            <a:r>
              <a:rPr dirty="0" sz="1100" spc="200">
                <a:latin typeface="Arial"/>
                <a:cs typeface="Arial"/>
              </a:rPr>
              <a:t> </a:t>
            </a:r>
            <a:r>
              <a:rPr dirty="0" sz="1100" spc="-5">
                <a:latin typeface="Arial"/>
                <a:cs typeface="Arial"/>
              </a:rPr>
              <a:t>are</a:t>
            </a:r>
            <a:r>
              <a:rPr dirty="0" sz="1100" spc="195">
                <a:latin typeface="Arial"/>
                <a:cs typeface="Arial"/>
              </a:rPr>
              <a:t> </a:t>
            </a:r>
            <a:r>
              <a:rPr dirty="0" sz="1100" spc="-5">
                <a:latin typeface="Arial"/>
                <a:cs typeface="Arial"/>
              </a:rPr>
              <a:t>able</a:t>
            </a:r>
            <a:r>
              <a:rPr dirty="0" sz="1100" spc="200">
                <a:latin typeface="Arial"/>
                <a:cs typeface="Arial"/>
              </a:rPr>
              <a:t> </a:t>
            </a:r>
            <a:r>
              <a:rPr dirty="0" sz="1100" spc="-5">
                <a:latin typeface="Arial"/>
                <a:cs typeface="Arial"/>
              </a:rPr>
              <a:t>to</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253</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677862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under price smaller or new firms and thus exerts monopolistic control over world markets. Far  from being a rare exception, economies of scale are a common </a:t>
            </a:r>
            <a:r>
              <a:rPr dirty="0" sz="1100">
                <a:latin typeface="Arial"/>
                <a:cs typeface="Arial"/>
              </a:rPr>
              <a:t>factor </a:t>
            </a:r>
            <a:r>
              <a:rPr dirty="0" sz="1100" spc="-5">
                <a:latin typeface="Arial"/>
                <a:cs typeface="Arial"/>
              </a:rPr>
              <a:t>in determining trade  patterns. Economies of large scale production </a:t>
            </a:r>
            <a:r>
              <a:rPr dirty="0" sz="1100">
                <a:latin typeface="Arial"/>
                <a:cs typeface="Arial"/>
              </a:rPr>
              <a:t>lead </a:t>
            </a:r>
            <a:r>
              <a:rPr dirty="0" sz="1100" spc="-5">
                <a:latin typeface="Arial"/>
                <a:cs typeface="Arial"/>
              </a:rPr>
              <a:t>to monopolistic and oligopolistic control of  world supply conditions (just as they do in domestic markets) for a wide range of</a:t>
            </a:r>
            <a:r>
              <a:rPr dirty="0" sz="1100" spc="175">
                <a:latin typeface="Arial"/>
                <a:cs typeface="Arial"/>
              </a:rPr>
              <a:t> </a:t>
            </a:r>
            <a:r>
              <a:rPr dirty="0" sz="1100" spc="-5">
                <a:latin typeface="Arial"/>
                <a:cs typeface="Arial"/>
              </a:rPr>
              <a:t>products.</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In addition, monopolistic &amp; oligopolistic market control of internationally traded commodities,  along with widespread product differentiation, intra-industry trade, and external economies of  production, means that large individual corporations are able to manipulate world prices and  supplies in their own private interest. Instead of competition, we find </a:t>
            </a:r>
            <a:r>
              <a:rPr dirty="0" sz="1100">
                <a:latin typeface="Arial"/>
                <a:cs typeface="Arial"/>
              </a:rPr>
              <a:t>joint </a:t>
            </a:r>
            <a:r>
              <a:rPr dirty="0" sz="1100" spc="-5">
                <a:latin typeface="Arial"/>
                <a:cs typeface="Arial"/>
              </a:rPr>
              <a:t>producer activities and  oligopolistic bargaining among giant buyers and sellers as the most pervasive price- and  quantity-determining force in the international economy. </a:t>
            </a:r>
            <a:r>
              <a:rPr dirty="0" sz="1100">
                <a:latin typeface="Arial"/>
                <a:cs typeface="Arial"/>
              </a:rPr>
              <a:t>But </a:t>
            </a:r>
            <a:r>
              <a:rPr dirty="0" sz="1100" spc="-5">
                <a:latin typeface="Arial"/>
                <a:cs typeface="Arial"/>
              </a:rPr>
              <a:t>from the perspective of developing  nations trying to diversify their economies and promote industrial exports in particular, the  phenomenon of increasing returns and product differentiation (monopolistic competition),  combined with the non-economic power of large multinational corporations (their political  influence with </a:t>
            </a:r>
            <a:r>
              <a:rPr dirty="0" sz="1100">
                <a:latin typeface="Arial"/>
                <a:cs typeface="Arial"/>
              </a:rPr>
              <a:t>many </a:t>
            </a:r>
            <a:r>
              <a:rPr dirty="0" sz="1100" spc="-5">
                <a:latin typeface="Arial"/>
                <a:cs typeface="Arial"/>
              </a:rPr>
              <a:t>governments, means that the first nations to industrialize (the rich nations)  are often able to take advantage of these economies of scale and differentiated products to  perpetuate their dominant position in world</a:t>
            </a:r>
            <a:r>
              <a:rPr dirty="0" sz="1100" spc="25">
                <a:latin typeface="Arial"/>
                <a:cs typeface="Arial"/>
              </a:rPr>
              <a:t> </a:t>
            </a:r>
            <a:r>
              <a:rPr dirty="0" sz="1100" spc="-5">
                <a:latin typeface="Arial"/>
                <a:cs typeface="Arial"/>
              </a:rPr>
              <a:t>markets.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second major limitation of the perfectly competitive assumption of trade models is its  exclusion of risk and uncertainty in international trading arrangements. It may not </a:t>
            </a:r>
            <a:r>
              <a:rPr dirty="0" sz="1100">
                <a:latin typeface="Arial"/>
                <a:cs typeface="Arial"/>
              </a:rPr>
              <a:t>be </a:t>
            </a:r>
            <a:r>
              <a:rPr dirty="0" sz="1100" spc="-5">
                <a:latin typeface="Arial"/>
                <a:cs typeface="Arial"/>
              </a:rPr>
              <a:t>in a low-  income country’s long-run interest to invest heavily in primary-product export promotion, given  the historical instability of world markets for primary commodities in comparison with those for  manufactured goods. As was already pointed out, concentration on one or two vital primary  exports can play havoc with development </a:t>
            </a:r>
            <a:r>
              <a:rPr dirty="0" sz="1100">
                <a:latin typeface="Arial"/>
                <a:cs typeface="Arial"/>
              </a:rPr>
              <a:t>plans </a:t>
            </a:r>
            <a:r>
              <a:rPr dirty="0" sz="1100" spc="-5">
                <a:latin typeface="Arial"/>
                <a:cs typeface="Arial"/>
              </a:rPr>
              <a:t>when foreign-exchange earnings are largely  unpredictable from one year to the</a:t>
            </a:r>
            <a:r>
              <a:rPr dirty="0" sz="1100" spc="25">
                <a:latin typeface="Arial"/>
                <a:cs typeface="Arial"/>
              </a:rPr>
              <a:t> </a:t>
            </a:r>
            <a:r>
              <a:rPr dirty="0" sz="1100" spc="-5">
                <a:latin typeface="Arial"/>
                <a:cs typeface="Arial"/>
              </a:rPr>
              <a:t>next.</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Patterns of specialization in the process of economic development are still not fully understood,  and theory gives ambiguous answers. On the one hand, traditional theory suggests that  developing nations can reach higher levels of income by specializing in the world economy  according to comparative advantage and that as globalization proceeds, the opportunity and  benefits of doing so increase. On the other hand, as countries develop, they gain a wider range  of skills and technologies and can move beyond producing a few primary goods to become  competitive in a range of relatively advanced</a:t>
            </a:r>
            <a:r>
              <a:rPr dirty="0" sz="1100" spc="30">
                <a:latin typeface="Arial"/>
                <a:cs typeface="Arial"/>
              </a:rPr>
              <a:t> </a:t>
            </a:r>
            <a:r>
              <a:rPr dirty="0" sz="1100" spc="-5">
                <a:latin typeface="Arial"/>
                <a:cs typeface="Arial"/>
              </a:rPr>
              <a:t>goods.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In fact, a careful empirical study by Jean IMBS and Romain Wacziarg found that sectoral  concentration generally follows a U-shaped pattern in relation to the level of per capita income:  “Countries first diversify, in the sense that economic activity is spread more equally across  sectors, but there exists, relatively </a:t>
            </a:r>
            <a:r>
              <a:rPr dirty="0" sz="1100">
                <a:latin typeface="Arial"/>
                <a:cs typeface="Arial"/>
              </a:rPr>
              <a:t>late </a:t>
            </a:r>
            <a:r>
              <a:rPr dirty="0" sz="1100" spc="-5">
                <a:latin typeface="Arial"/>
                <a:cs typeface="Arial"/>
              </a:rPr>
              <a:t>in the development process, a point at which they start  specializing again.” And this pattern goes well beyond the tendency to move </a:t>
            </a:r>
            <a:r>
              <a:rPr dirty="0" sz="1100">
                <a:latin typeface="Arial"/>
                <a:cs typeface="Arial"/>
              </a:rPr>
              <a:t>from </a:t>
            </a:r>
            <a:r>
              <a:rPr dirty="0" sz="1100" spc="-5">
                <a:latin typeface="Arial"/>
                <a:cs typeface="Arial"/>
              </a:rPr>
              <a:t>dependence  on primary goods alone to manufacturing and services. The policy implications also remain  ambiguous. But their results are consistent with the view that development is not driven by a  simple process of gains from</a:t>
            </a:r>
            <a:r>
              <a:rPr dirty="0" sz="1100" spc="15">
                <a:latin typeface="Arial"/>
                <a:cs typeface="Arial"/>
              </a:rPr>
              <a:t> </a:t>
            </a:r>
            <a:r>
              <a:rPr dirty="0" sz="1100" spc="-5">
                <a:latin typeface="Arial"/>
                <a:cs typeface="Arial"/>
              </a:rPr>
              <a:t>specialization.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254</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8126095"/>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38</a:t>
            </a:r>
            <a:endParaRPr sz="1100">
              <a:latin typeface="Arial"/>
              <a:cs typeface="Arial"/>
            </a:endParaRPr>
          </a:p>
          <a:p>
            <a:pPr marL="12700" marR="29209" indent="189230">
              <a:lnSpc>
                <a:spcPct val="191400"/>
              </a:lnSpc>
              <a:spcBef>
                <a:spcPts val="15"/>
              </a:spcBef>
            </a:pPr>
            <a:r>
              <a:rPr dirty="0" sz="1100" spc="-5" b="1">
                <a:latin typeface="Arial"/>
                <a:cs typeface="Arial"/>
              </a:rPr>
              <a:t>INTERNATIONAL TRADE THEORY AND DEVELOPMENT STRATEGY (CONTINUED4)  SOME CONCLUSIONS ON TRADE THEORY AND ECONOMIC DEVELOPMENT</a:t>
            </a:r>
            <a:r>
              <a:rPr dirty="0" sz="1100" spc="165" b="1">
                <a:latin typeface="Arial"/>
                <a:cs typeface="Arial"/>
              </a:rPr>
              <a:t> </a:t>
            </a:r>
            <a:r>
              <a:rPr dirty="0" sz="1100" spc="-5" b="1">
                <a:latin typeface="Arial"/>
                <a:cs typeface="Arial"/>
              </a:rPr>
              <a:t>STRATEGY</a:t>
            </a:r>
            <a:endParaRPr sz="1100">
              <a:latin typeface="Arial"/>
              <a:cs typeface="Arial"/>
            </a:endParaRPr>
          </a:p>
          <a:p>
            <a:pPr>
              <a:lnSpc>
                <a:spcPct val="100000"/>
              </a:lnSpc>
              <a:spcBef>
                <a:spcPts val="15"/>
              </a:spcBef>
            </a:pPr>
            <a:endParaRPr sz="1200">
              <a:latin typeface="Arial"/>
              <a:cs typeface="Arial"/>
            </a:endParaRPr>
          </a:p>
          <a:p>
            <a:pPr marL="469900" indent="-229235">
              <a:lnSpc>
                <a:spcPct val="100000"/>
              </a:lnSpc>
              <a:buFont typeface="Symbol"/>
              <a:buChar char=""/>
              <a:tabLst>
                <a:tab pos="469265" algn="l"/>
                <a:tab pos="470534" algn="l"/>
              </a:tabLst>
            </a:pPr>
            <a:r>
              <a:rPr dirty="0" sz="1100" spc="-5">
                <a:latin typeface="Arial"/>
                <a:cs typeface="Arial"/>
              </a:rPr>
              <a:t>Trade can lead to rapid economic growth under some</a:t>
            </a:r>
            <a:r>
              <a:rPr dirty="0" sz="1100" spc="65">
                <a:latin typeface="Arial"/>
                <a:cs typeface="Arial"/>
              </a:rPr>
              <a:t> </a:t>
            </a:r>
            <a:r>
              <a:rPr dirty="0" sz="1100" spc="-5">
                <a:latin typeface="Arial"/>
                <a:cs typeface="Arial"/>
              </a:rPr>
              <a:t>circumstances.</a:t>
            </a:r>
            <a:endParaRPr sz="1100">
              <a:latin typeface="Arial"/>
              <a:cs typeface="Arial"/>
            </a:endParaRPr>
          </a:p>
          <a:p>
            <a:pPr marL="469900" indent="-229235">
              <a:lnSpc>
                <a:spcPct val="100000"/>
              </a:lnSpc>
              <a:spcBef>
                <a:spcPts val="20"/>
              </a:spcBef>
              <a:buFont typeface="Symbol"/>
              <a:buChar char=""/>
              <a:tabLst>
                <a:tab pos="469265" algn="l"/>
                <a:tab pos="470534" algn="l"/>
              </a:tabLst>
            </a:pPr>
            <a:r>
              <a:rPr dirty="0" sz="1100" spc="-5">
                <a:latin typeface="Arial"/>
                <a:cs typeface="Arial"/>
              </a:rPr>
              <a:t>Trade seems to reinforce the disparities in terms of income distribution in an</a:t>
            </a:r>
            <a:r>
              <a:rPr dirty="0" sz="1100" spc="195">
                <a:latin typeface="Arial"/>
                <a:cs typeface="Arial"/>
              </a:rPr>
              <a:t> </a:t>
            </a:r>
            <a:r>
              <a:rPr dirty="0" sz="1100" spc="-5">
                <a:latin typeface="Arial"/>
                <a:cs typeface="Arial"/>
              </a:rPr>
              <a:t>economy.</a:t>
            </a:r>
            <a:endParaRPr sz="1100">
              <a:latin typeface="Arial"/>
              <a:cs typeface="Arial"/>
            </a:endParaRPr>
          </a:p>
          <a:p>
            <a:pPr marL="469900" marR="5715" indent="-228600">
              <a:lnSpc>
                <a:spcPts val="1270"/>
              </a:lnSpc>
              <a:spcBef>
                <a:spcPts val="100"/>
              </a:spcBef>
              <a:buFont typeface="Symbol"/>
              <a:buChar char=""/>
              <a:tabLst>
                <a:tab pos="469265" algn="l"/>
                <a:tab pos="470534" algn="l"/>
              </a:tabLst>
            </a:pPr>
            <a:r>
              <a:rPr dirty="0" sz="1100" spc="-5">
                <a:latin typeface="Arial"/>
                <a:cs typeface="Arial"/>
              </a:rPr>
              <a:t>Trade can benefit developing countries if they can extract trade concessions from  developed countries.</a:t>
            </a:r>
            <a:endParaRPr sz="1100">
              <a:latin typeface="Arial"/>
              <a:cs typeface="Arial"/>
            </a:endParaRPr>
          </a:p>
          <a:p>
            <a:pPr marL="469900" indent="-229235">
              <a:lnSpc>
                <a:spcPts val="1300"/>
              </a:lnSpc>
              <a:buFont typeface="Symbol"/>
              <a:buChar char=""/>
              <a:tabLst>
                <a:tab pos="469265" algn="l"/>
                <a:tab pos="470534" algn="l"/>
              </a:tabLst>
            </a:pPr>
            <a:r>
              <a:rPr dirty="0" sz="1100" spc="-5">
                <a:latin typeface="Arial"/>
                <a:cs typeface="Arial"/>
              </a:rPr>
              <a:t>Developing countries must</a:t>
            </a:r>
            <a:r>
              <a:rPr dirty="0" sz="1100" spc="10">
                <a:latin typeface="Arial"/>
                <a:cs typeface="Arial"/>
              </a:rPr>
              <a:t> </a:t>
            </a:r>
            <a:r>
              <a:rPr dirty="0" sz="1100" spc="-5">
                <a:latin typeface="Arial"/>
                <a:cs typeface="Arial"/>
              </a:rPr>
              <a:t>trade.</a:t>
            </a:r>
            <a:endParaRPr sz="1100">
              <a:latin typeface="Arial"/>
              <a:cs typeface="Arial"/>
            </a:endParaRPr>
          </a:p>
          <a:p>
            <a:pPr marL="469900" indent="-229235">
              <a:lnSpc>
                <a:spcPct val="100000"/>
              </a:lnSpc>
              <a:spcBef>
                <a:spcPts val="25"/>
              </a:spcBef>
              <a:buFont typeface="Symbol"/>
              <a:buChar char=""/>
              <a:tabLst>
                <a:tab pos="469265" algn="l"/>
                <a:tab pos="470534" algn="l"/>
              </a:tabLst>
            </a:pPr>
            <a:r>
              <a:rPr dirty="0" sz="1100" spc="-5">
                <a:latin typeface="Arial"/>
                <a:cs typeface="Arial"/>
              </a:rPr>
              <a:t>Regional cooperation may help developing</a:t>
            </a:r>
            <a:r>
              <a:rPr dirty="0" sz="1100" spc="25">
                <a:latin typeface="Arial"/>
                <a:cs typeface="Arial"/>
              </a:rPr>
              <a:t> </a:t>
            </a:r>
            <a:r>
              <a:rPr dirty="0" sz="1100" spc="-5">
                <a:latin typeface="Arial"/>
                <a:cs typeface="Arial"/>
              </a:rPr>
              <a:t>countries.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We can now attempt </a:t>
            </a:r>
            <a:r>
              <a:rPr dirty="0" sz="1100">
                <a:latin typeface="Arial"/>
                <a:cs typeface="Arial"/>
              </a:rPr>
              <a:t>to </a:t>
            </a:r>
            <a:r>
              <a:rPr dirty="0" sz="1100" spc="-5">
                <a:latin typeface="Arial"/>
                <a:cs typeface="Arial"/>
              </a:rPr>
              <a:t>provide some preliminary general answers to the five questions posed  early in the chapter. We must stress that our conclusions are general and set in the context of  the diversity of developing countries. First, with regard to the rate, structure, and character of  economic growth, our conclusion is that trade can be an important stimulus to rapid economic  growth. This has been amply demonstrated by the successful experiences over the past half  century of countries like China, Malaysia, Thailand, Brazil, Chile, Taiwan, Singapore, and </a:t>
            </a:r>
            <a:r>
              <a:rPr dirty="0" sz="1100">
                <a:latin typeface="Arial"/>
                <a:cs typeface="Arial"/>
              </a:rPr>
              <a:t>South  </a:t>
            </a:r>
            <a:r>
              <a:rPr dirty="0" sz="1100" spc="-5">
                <a:latin typeface="Arial"/>
                <a:cs typeface="Arial"/>
              </a:rPr>
              <a:t>Korea. Access to the markets of developed nations (an important factor for developing nations  bent on export promotion) can provide an important stimulus for the greater utilization of idle  human and capital</a:t>
            </a:r>
            <a:r>
              <a:rPr dirty="0" sz="1100" spc="5">
                <a:latin typeface="Arial"/>
                <a:cs typeface="Arial"/>
              </a:rPr>
              <a:t> </a:t>
            </a:r>
            <a:r>
              <a:rPr dirty="0" sz="1100" spc="-5">
                <a:latin typeface="Arial"/>
                <a:cs typeface="Arial"/>
              </a:rPr>
              <a:t>resources.</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Expanded foreign-exchange earnings through improved export performance also provide the  wherewithal by which a developing country can augment its scarce physical and financial  resources. In short, where opportunities for profitable exchange arise, foreign trade can provide  an important stimulus to aggregate economic growth. But as noted in earlier chapters, growth of  national output </a:t>
            </a:r>
            <a:r>
              <a:rPr dirty="0" sz="1100">
                <a:latin typeface="Arial"/>
                <a:cs typeface="Arial"/>
              </a:rPr>
              <a:t>may have </a:t>
            </a:r>
            <a:r>
              <a:rPr dirty="0" sz="1100" spc="-5">
                <a:latin typeface="Arial"/>
                <a:cs typeface="Arial"/>
              </a:rPr>
              <a:t>little impact on development. An export-oriented strategy of growth,  particularly in commodities with few linkages and when a large proportion of export earnings  accrue to foreigners, may not only bias the structure of the economy in the wrong directions (by  not catering to the real needs of local people) but also reinforce the internal and external  dualistic and in egalitarian character of that growth. It all depends on the nature of the export  sector, the distribution of its benefits, and its linkages with the rest of the economy and </a:t>
            </a:r>
            <a:r>
              <a:rPr dirty="0" sz="1100">
                <a:latin typeface="Arial"/>
                <a:cs typeface="Arial"/>
              </a:rPr>
              <a:t>how  </a:t>
            </a:r>
            <a:r>
              <a:rPr dirty="0" sz="1100" spc="-5">
                <a:latin typeface="Arial"/>
                <a:cs typeface="Arial"/>
              </a:rPr>
              <a:t>these evolve over</a:t>
            </a:r>
            <a:r>
              <a:rPr dirty="0" sz="1100" spc="5">
                <a:latin typeface="Arial"/>
                <a:cs typeface="Arial"/>
              </a:rPr>
              <a:t> </a:t>
            </a:r>
            <a:r>
              <a:rPr dirty="0" sz="1100" spc="-5">
                <a:latin typeface="Arial"/>
                <a:cs typeface="Arial"/>
              </a:rPr>
              <a:t>time.</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900"/>
              </a:lnSpc>
            </a:pPr>
            <a:r>
              <a:rPr dirty="0" sz="1100" spc="-5">
                <a:latin typeface="Arial"/>
                <a:cs typeface="Arial"/>
              </a:rPr>
              <a:t>Factors such as the widespread existence of increasing returns, the highly unequal international  distribution of economic assets and power, the influence of large multinational corporations, and  the combined ability of both governments and businesses to manipulate international prices,  levels of production, and patterns of demand are crucial. Together, they </a:t>
            </a:r>
            <a:r>
              <a:rPr dirty="0" sz="1100">
                <a:latin typeface="Arial"/>
                <a:cs typeface="Arial"/>
              </a:rPr>
              <a:t>lead </a:t>
            </a:r>
            <a:r>
              <a:rPr dirty="0" sz="1100" spc="-5">
                <a:latin typeface="Arial"/>
                <a:cs typeface="Arial"/>
              </a:rPr>
              <a:t>us to the general  conclusion that many developing countries have in the past benefited disproportionately less  from their economic dealings with developed nations. It should be apparent by now that the  answer to the third question—the conditions under which trade can help a developing country  achieve development aspirations—is to be found largely in the ability of developing nations,—  for example, as a caucus within WTO negotiations or </a:t>
            </a:r>
            <a:r>
              <a:rPr dirty="0" sz="1100">
                <a:latin typeface="Arial"/>
                <a:cs typeface="Arial"/>
              </a:rPr>
              <a:t>G20 </a:t>
            </a:r>
            <a:r>
              <a:rPr dirty="0" sz="1100" spc="-5">
                <a:latin typeface="Arial"/>
                <a:cs typeface="Arial"/>
              </a:rPr>
              <a:t>forums to extract </a:t>
            </a:r>
            <a:r>
              <a:rPr dirty="0" sz="1100">
                <a:latin typeface="Arial"/>
                <a:cs typeface="Arial"/>
              </a:rPr>
              <a:t>and </a:t>
            </a:r>
            <a:r>
              <a:rPr dirty="0" sz="1100" spc="-5">
                <a:latin typeface="Arial"/>
                <a:cs typeface="Arial"/>
              </a:rPr>
              <a:t>maintain  favorable trade concessions from the developed</a:t>
            </a:r>
            <a:r>
              <a:rPr dirty="0" sz="1100" spc="30">
                <a:latin typeface="Arial"/>
                <a:cs typeface="Arial"/>
              </a:rPr>
              <a:t> </a:t>
            </a:r>
            <a:r>
              <a:rPr dirty="0" sz="1100" spc="-5">
                <a:latin typeface="Arial"/>
                <a:cs typeface="Arial"/>
              </a:rPr>
              <a:t>nations.</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As we address shortly, progress through the World Trade Organization and its predecessor,  along with bilateral programs, such as the U.S. Africa Growth and Opportunity Act (AGOA) and  the European Everything but Arms (EBA) initiative, provided a helpful but still very incomplete  start.</a:t>
            </a:r>
            <a:r>
              <a:rPr dirty="0" sz="1100" spc="254">
                <a:latin typeface="Arial"/>
                <a:cs typeface="Arial"/>
              </a:rPr>
              <a:t> </a:t>
            </a:r>
            <a:r>
              <a:rPr dirty="0" sz="1100" spc="-5">
                <a:latin typeface="Arial"/>
                <a:cs typeface="Arial"/>
              </a:rPr>
              <a:t>Also,</a:t>
            </a:r>
            <a:r>
              <a:rPr dirty="0" sz="1100" spc="260">
                <a:latin typeface="Arial"/>
                <a:cs typeface="Arial"/>
              </a:rPr>
              <a:t> </a:t>
            </a:r>
            <a:r>
              <a:rPr dirty="0" sz="1100" spc="-5">
                <a:latin typeface="Arial"/>
                <a:cs typeface="Arial"/>
              </a:rPr>
              <a:t>the</a:t>
            </a:r>
            <a:r>
              <a:rPr dirty="0" sz="1100" spc="254">
                <a:latin typeface="Arial"/>
                <a:cs typeface="Arial"/>
              </a:rPr>
              <a:t> </a:t>
            </a:r>
            <a:r>
              <a:rPr dirty="0" sz="1100" spc="-5">
                <a:latin typeface="Arial"/>
                <a:cs typeface="Arial"/>
              </a:rPr>
              <a:t>extent</a:t>
            </a:r>
            <a:r>
              <a:rPr dirty="0" sz="1100" spc="260">
                <a:latin typeface="Arial"/>
                <a:cs typeface="Arial"/>
              </a:rPr>
              <a:t> </a:t>
            </a:r>
            <a:r>
              <a:rPr dirty="0" sz="1100">
                <a:latin typeface="Arial"/>
                <a:cs typeface="Arial"/>
              </a:rPr>
              <a:t>to</a:t>
            </a:r>
            <a:r>
              <a:rPr dirty="0" sz="1100" spc="254">
                <a:latin typeface="Arial"/>
                <a:cs typeface="Arial"/>
              </a:rPr>
              <a:t> </a:t>
            </a:r>
            <a:r>
              <a:rPr dirty="0" sz="1100" spc="-5">
                <a:latin typeface="Arial"/>
                <a:cs typeface="Arial"/>
              </a:rPr>
              <a:t>which</a:t>
            </a:r>
            <a:r>
              <a:rPr dirty="0" sz="1100" spc="260">
                <a:latin typeface="Arial"/>
                <a:cs typeface="Arial"/>
              </a:rPr>
              <a:t> </a:t>
            </a:r>
            <a:r>
              <a:rPr dirty="0" sz="1100" spc="-5">
                <a:latin typeface="Arial"/>
                <a:cs typeface="Arial"/>
              </a:rPr>
              <a:t>exports</a:t>
            </a:r>
            <a:r>
              <a:rPr dirty="0" sz="1100" spc="260">
                <a:latin typeface="Arial"/>
                <a:cs typeface="Arial"/>
              </a:rPr>
              <a:t> </a:t>
            </a:r>
            <a:r>
              <a:rPr dirty="0" sz="1100" spc="-5">
                <a:latin typeface="Arial"/>
                <a:cs typeface="Arial"/>
              </a:rPr>
              <a:t>can</a:t>
            </a:r>
            <a:r>
              <a:rPr dirty="0" sz="1100" spc="254">
                <a:latin typeface="Arial"/>
                <a:cs typeface="Arial"/>
              </a:rPr>
              <a:t> </a:t>
            </a:r>
            <a:r>
              <a:rPr dirty="0" sz="1100" spc="-5">
                <a:latin typeface="Arial"/>
                <a:cs typeface="Arial"/>
              </a:rPr>
              <a:t>efficiently</a:t>
            </a:r>
            <a:r>
              <a:rPr dirty="0" sz="1100" spc="260">
                <a:latin typeface="Arial"/>
                <a:cs typeface="Arial"/>
              </a:rPr>
              <a:t> </a:t>
            </a:r>
            <a:r>
              <a:rPr dirty="0" sz="1100" spc="-5">
                <a:latin typeface="Arial"/>
                <a:cs typeface="Arial"/>
              </a:rPr>
              <a:t>utilize</a:t>
            </a:r>
            <a:r>
              <a:rPr dirty="0" sz="1100" spc="254">
                <a:latin typeface="Arial"/>
                <a:cs typeface="Arial"/>
              </a:rPr>
              <a:t> </a:t>
            </a:r>
            <a:r>
              <a:rPr dirty="0" sz="1100" spc="-5">
                <a:latin typeface="Arial"/>
                <a:cs typeface="Arial"/>
              </a:rPr>
              <a:t>scarce</a:t>
            </a:r>
            <a:r>
              <a:rPr dirty="0" sz="1100" spc="254">
                <a:latin typeface="Arial"/>
                <a:cs typeface="Arial"/>
              </a:rPr>
              <a:t> </a:t>
            </a:r>
            <a:r>
              <a:rPr dirty="0" sz="1100" spc="-5">
                <a:latin typeface="Arial"/>
                <a:cs typeface="Arial"/>
              </a:rPr>
              <a:t>capital</a:t>
            </a:r>
            <a:r>
              <a:rPr dirty="0" sz="1100" spc="254">
                <a:latin typeface="Arial"/>
                <a:cs typeface="Arial"/>
              </a:rPr>
              <a:t> </a:t>
            </a:r>
            <a:r>
              <a:rPr dirty="0" sz="1100" spc="-5">
                <a:latin typeface="Arial"/>
                <a:cs typeface="Arial"/>
              </a:rPr>
              <a:t>resources</a:t>
            </a:r>
            <a:r>
              <a:rPr dirty="0" sz="1100" spc="260">
                <a:latin typeface="Arial"/>
                <a:cs typeface="Arial"/>
              </a:rPr>
              <a:t> </a:t>
            </a:r>
            <a:r>
              <a:rPr dirty="0" sz="1100" spc="-5">
                <a:latin typeface="Arial"/>
                <a:cs typeface="Arial"/>
              </a:rPr>
              <a:t>while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255</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8064500"/>
          </a:xfrm>
          <a:prstGeom prst="rect">
            <a:avLst/>
          </a:prstGeom>
        </p:spPr>
        <p:txBody>
          <a:bodyPr wrap="square" lIns="0" tIns="19050" rIns="0" bIns="0" rtlCol="0" vert="horz">
            <a:spAutoFit/>
          </a:bodyPr>
          <a:lstStyle/>
          <a:p>
            <a:pPr algn="just" marL="12700" marR="7620">
              <a:lnSpc>
                <a:spcPct val="95800"/>
              </a:lnSpc>
              <a:spcBef>
                <a:spcPts val="150"/>
              </a:spcBef>
            </a:pPr>
            <a:r>
              <a:rPr dirty="0" sz="1100" spc="-5">
                <a:latin typeface="Arial"/>
                <a:cs typeface="Arial"/>
              </a:rPr>
              <a:t>making maximum use of abundant but presently underutilized labor supplies will determine the  degree to which export earnings benefit the ordinary citizen in developing countries. Again, links  between export earnings and other sectors of the economy are crucial. Finally, much will  depend on how well a developing nation can influence and control the activities of private  foreign enterprises. The ability to deal effectively with multinational corporations in guaranteeing  a fair share of the benefits to local citizens is extremely important. These issues are further  examined </a:t>
            </a:r>
            <a:r>
              <a:rPr dirty="0" sz="1100">
                <a:latin typeface="Arial"/>
                <a:cs typeface="Arial"/>
              </a:rPr>
              <a:t>later </a:t>
            </a:r>
            <a:r>
              <a:rPr dirty="0" sz="1100" spc="-5">
                <a:latin typeface="Arial"/>
                <a:cs typeface="Arial"/>
              </a:rPr>
              <a:t>in this chapter and in Chapter</a:t>
            </a:r>
            <a:r>
              <a:rPr dirty="0" sz="1100" spc="20">
                <a:latin typeface="Arial"/>
                <a:cs typeface="Arial"/>
              </a:rPr>
              <a:t> </a:t>
            </a:r>
            <a:r>
              <a:rPr dirty="0" sz="1100" spc="-5">
                <a:latin typeface="Arial"/>
                <a:cs typeface="Arial"/>
              </a:rPr>
              <a:t>14.</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The answer to the fourth question—whether developing countries can determine how much </a:t>
            </a:r>
            <a:r>
              <a:rPr dirty="0" sz="1100">
                <a:latin typeface="Arial"/>
                <a:cs typeface="Arial"/>
              </a:rPr>
              <a:t>they  </a:t>
            </a:r>
            <a:r>
              <a:rPr dirty="0" sz="1100" spc="-5">
                <a:latin typeface="Arial"/>
                <a:cs typeface="Arial"/>
              </a:rPr>
              <a:t>trade—can only be speculative. For small and poor countries, the option of not trading at all, by  closing their borders to the rest of the world, is obviously not realistic. Not only do they lack the  resources and market size to be self-sufficient, but their very survival, especially in the area of  food production, often depends on their ability to secure foreign goods and resources. Some </a:t>
            </a:r>
            <a:r>
              <a:rPr dirty="0" sz="1100">
                <a:latin typeface="Arial"/>
                <a:cs typeface="Arial"/>
              </a:rPr>
              <a:t>32  </a:t>
            </a:r>
            <a:r>
              <a:rPr dirty="0" sz="1100" spc="-5">
                <a:latin typeface="Arial"/>
                <a:cs typeface="Arial"/>
              </a:rPr>
              <a:t>of the least developed countries face annual threats of severe famine for which international  assistance is not a choice but a necessity. Whether to trade or to remain in isolation is not the  issue; the real issue turns out to be the balance between selling for the domestic market and  exporting and, if the latter is chosen, whether to encourage exporting across the board or to  promote targeted</a:t>
            </a:r>
            <a:r>
              <a:rPr dirty="0" sz="1100">
                <a:latin typeface="Arial"/>
                <a:cs typeface="Arial"/>
              </a:rPr>
              <a:t> </a:t>
            </a:r>
            <a:r>
              <a:rPr dirty="0" sz="1100" spc="-5">
                <a:latin typeface="Arial"/>
                <a:cs typeface="Arial"/>
              </a:rPr>
              <a:t>sectors.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Moreover, for most developing nations, the international economic system still offers the only  real source of scarce capital and needed technological knowledge. The conditions under which  such resources are obtained will greatly influence the character of the development process.  Finally, for countries rich in mineral resources and raw materials, especially those that have  been able to establish an effective international bargaining stance against the large corporations  that purchase their exports (e.g., the members of OPEC), </a:t>
            </a:r>
            <a:r>
              <a:rPr dirty="0" sz="1100">
                <a:latin typeface="Arial"/>
                <a:cs typeface="Arial"/>
              </a:rPr>
              <a:t>trade </a:t>
            </a:r>
            <a:r>
              <a:rPr dirty="0" sz="1100" spc="-5">
                <a:latin typeface="Arial"/>
                <a:cs typeface="Arial"/>
              </a:rPr>
              <a:t>has been and continues to be a  vital source of development finance. The fifth question—whether on balance it is better for  developing countries to look outward toward the rest of the world or more inward toward their  own capacities for development—turns out not to be an either-or question at all. While exploring  profitable opportunities for trade with the rest of the world, developing countries can effectively  seek ways to expand their share of world trade and extend their economic ties with one</a:t>
            </a:r>
            <a:r>
              <a:rPr dirty="0" sz="1100" spc="270">
                <a:latin typeface="Arial"/>
                <a:cs typeface="Arial"/>
              </a:rPr>
              <a:t> </a:t>
            </a:r>
            <a:r>
              <a:rPr dirty="0" sz="1100" spc="-5">
                <a:latin typeface="Arial"/>
                <a:cs typeface="Arial"/>
              </a:rPr>
              <a:t>another.</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For example, by pooling their resources, small countries can overcome the limits of their </a:t>
            </a:r>
            <a:r>
              <a:rPr dirty="0" sz="1100">
                <a:latin typeface="Arial"/>
                <a:cs typeface="Arial"/>
              </a:rPr>
              <a:t>small  </a:t>
            </a:r>
            <a:r>
              <a:rPr dirty="0" sz="1100" spc="-5">
                <a:latin typeface="Arial"/>
                <a:cs typeface="Arial"/>
              </a:rPr>
              <a:t>individual markets and their serious resource constraints while retaining an important degree of  autonomy </a:t>
            </a:r>
            <a:r>
              <a:rPr dirty="0" sz="1100">
                <a:latin typeface="Arial"/>
                <a:cs typeface="Arial"/>
              </a:rPr>
              <a:t>in </a:t>
            </a:r>
            <a:r>
              <a:rPr dirty="0" sz="1100" spc="-5">
                <a:latin typeface="Arial"/>
                <a:cs typeface="Arial"/>
              </a:rPr>
              <a:t>pursuing their individual development </a:t>
            </a:r>
            <a:r>
              <a:rPr dirty="0" sz="1100">
                <a:latin typeface="Arial"/>
                <a:cs typeface="Arial"/>
              </a:rPr>
              <a:t>aspirations. </a:t>
            </a:r>
            <a:r>
              <a:rPr dirty="0" sz="1100" spc="-5">
                <a:latin typeface="Arial"/>
                <a:cs typeface="Arial"/>
              </a:rPr>
              <a:t>In this way, groups of small  countries may have a better chance of achieving what China has been able to do in recent  years: leveraging the bargaining power of its large market to insist on the best deal from  potential foreign exporters and investors. Indeed, this strategy has likely been one of the factors  helping China realize very high growth rates in recent decades. Benefits are still to be had from  further expansion of trade among developing countries</a:t>
            </a:r>
            <a:r>
              <a:rPr dirty="0" sz="1100" spc="45">
                <a:latin typeface="Arial"/>
                <a:cs typeface="Arial"/>
              </a:rPr>
              <a:t> </a:t>
            </a:r>
            <a:r>
              <a:rPr dirty="0" sz="1100" spc="-5">
                <a:latin typeface="Arial"/>
                <a:cs typeface="Arial"/>
              </a:rPr>
              <a:t>themselves.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Although the preceding argument is often overstated, it seems clear that if interregional political  rivalries can be transcended, increased regional cooperation among developing nations offers  an important component of a trade and industrialization strategy. In fact, the share of  developing-country exports going to other developing countries increased dramatically from  about 17% in the 1960s to over 40% in the 2000s. Explicit developing-country policies, including  free-trade areas such as ASEAN in Southeast Asia and Mercosur in South America, are at least  partly responsible for this trend. Of course, the trend also reflects the development successes in  Asia, many of whose economies have been growing faster than those in North America and  Europe in recent years. Renewed efforts are being made in Africa, through the African Union  and</a:t>
            </a:r>
            <a:r>
              <a:rPr dirty="0" sz="1100" spc="105">
                <a:latin typeface="Arial"/>
                <a:cs typeface="Arial"/>
              </a:rPr>
              <a:t> </a:t>
            </a:r>
            <a:r>
              <a:rPr dirty="0" sz="1100" spc="-5">
                <a:latin typeface="Arial"/>
                <a:cs typeface="Arial"/>
              </a:rPr>
              <a:t>the</a:t>
            </a:r>
            <a:r>
              <a:rPr dirty="0" sz="1100" spc="110">
                <a:latin typeface="Arial"/>
                <a:cs typeface="Arial"/>
              </a:rPr>
              <a:t> </a:t>
            </a:r>
            <a:r>
              <a:rPr dirty="0" sz="1100" spc="-5">
                <a:latin typeface="Arial"/>
                <a:cs typeface="Arial"/>
              </a:rPr>
              <a:t>NEPAD</a:t>
            </a:r>
            <a:r>
              <a:rPr dirty="0" sz="1100" spc="105">
                <a:latin typeface="Arial"/>
                <a:cs typeface="Arial"/>
              </a:rPr>
              <a:t> </a:t>
            </a:r>
            <a:r>
              <a:rPr dirty="0" sz="1100" spc="-5">
                <a:latin typeface="Arial"/>
                <a:cs typeface="Arial"/>
              </a:rPr>
              <a:t>peer</a:t>
            </a:r>
            <a:r>
              <a:rPr dirty="0" sz="1100" spc="110">
                <a:latin typeface="Arial"/>
                <a:cs typeface="Arial"/>
              </a:rPr>
              <a:t> </a:t>
            </a:r>
            <a:r>
              <a:rPr dirty="0" sz="1100" spc="-5">
                <a:latin typeface="Arial"/>
                <a:cs typeface="Arial"/>
              </a:rPr>
              <a:t>review</a:t>
            </a:r>
            <a:r>
              <a:rPr dirty="0" sz="1100" spc="105">
                <a:latin typeface="Arial"/>
                <a:cs typeface="Arial"/>
              </a:rPr>
              <a:t> </a:t>
            </a:r>
            <a:r>
              <a:rPr dirty="0" sz="1100" spc="-5">
                <a:latin typeface="Arial"/>
                <a:cs typeface="Arial"/>
              </a:rPr>
              <a:t>program,</a:t>
            </a:r>
            <a:r>
              <a:rPr dirty="0" sz="1100" spc="110">
                <a:latin typeface="Arial"/>
                <a:cs typeface="Arial"/>
              </a:rPr>
              <a:t> </a:t>
            </a:r>
            <a:r>
              <a:rPr dirty="0" sz="1100" spc="-5">
                <a:latin typeface="Arial"/>
                <a:cs typeface="Arial"/>
              </a:rPr>
              <a:t>but</a:t>
            </a:r>
            <a:r>
              <a:rPr dirty="0" sz="1100" spc="105">
                <a:latin typeface="Arial"/>
                <a:cs typeface="Arial"/>
              </a:rPr>
              <a:t> </a:t>
            </a:r>
            <a:r>
              <a:rPr dirty="0" sz="1100" spc="-5">
                <a:latin typeface="Arial"/>
                <a:cs typeface="Arial"/>
              </a:rPr>
              <a:t>there</a:t>
            </a:r>
            <a:r>
              <a:rPr dirty="0" sz="1100" spc="110">
                <a:latin typeface="Arial"/>
                <a:cs typeface="Arial"/>
              </a:rPr>
              <a:t> </a:t>
            </a:r>
            <a:r>
              <a:rPr dirty="0" sz="1100" spc="-5">
                <a:latin typeface="Arial"/>
                <a:cs typeface="Arial"/>
              </a:rPr>
              <a:t>is</a:t>
            </a:r>
            <a:r>
              <a:rPr dirty="0" sz="1100" spc="100">
                <a:latin typeface="Arial"/>
                <a:cs typeface="Arial"/>
              </a:rPr>
              <a:t> </a:t>
            </a:r>
            <a:r>
              <a:rPr dirty="0" sz="1100" spc="-5">
                <a:latin typeface="Arial"/>
                <a:cs typeface="Arial"/>
              </a:rPr>
              <a:t>a</a:t>
            </a:r>
            <a:r>
              <a:rPr dirty="0" sz="1100" spc="114">
                <a:latin typeface="Arial"/>
                <a:cs typeface="Arial"/>
              </a:rPr>
              <a:t> </a:t>
            </a:r>
            <a:r>
              <a:rPr dirty="0" sz="1100" spc="-5">
                <a:latin typeface="Arial"/>
                <a:cs typeface="Arial"/>
              </a:rPr>
              <a:t>long</a:t>
            </a:r>
            <a:r>
              <a:rPr dirty="0" sz="1100" spc="100">
                <a:latin typeface="Arial"/>
                <a:cs typeface="Arial"/>
              </a:rPr>
              <a:t> </a:t>
            </a:r>
            <a:r>
              <a:rPr dirty="0" sz="1100" spc="-5">
                <a:latin typeface="Arial"/>
                <a:cs typeface="Arial"/>
              </a:rPr>
              <a:t>way</a:t>
            </a:r>
            <a:r>
              <a:rPr dirty="0" sz="1100" spc="110">
                <a:latin typeface="Arial"/>
                <a:cs typeface="Arial"/>
              </a:rPr>
              <a:t> </a:t>
            </a:r>
            <a:r>
              <a:rPr dirty="0" sz="1100" spc="-5">
                <a:latin typeface="Arial"/>
                <a:cs typeface="Arial"/>
              </a:rPr>
              <a:t>to</a:t>
            </a:r>
            <a:r>
              <a:rPr dirty="0" sz="1100" spc="105">
                <a:latin typeface="Arial"/>
                <a:cs typeface="Arial"/>
              </a:rPr>
              <a:t> </a:t>
            </a:r>
            <a:r>
              <a:rPr dirty="0" sz="1100" spc="-5">
                <a:latin typeface="Arial"/>
                <a:cs typeface="Arial"/>
              </a:rPr>
              <a:t>go.</a:t>
            </a:r>
            <a:r>
              <a:rPr dirty="0" sz="1100" spc="110">
                <a:latin typeface="Arial"/>
                <a:cs typeface="Arial"/>
              </a:rPr>
              <a:t> </a:t>
            </a:r>
            <a:r>
              <a:rPr dirty="0" sz="1100" spc="-5">
                <a:latin typeface="Arial"/>
                <a:cs typeface="Arial"/>
              </a:rPr>
              <a:t>We</a:t>
            </a:r>
            <a:r>
              <a:rPr dirty="0" sz="1100" spc="105">
                <a:latin typeface="Arial"/>
                <a:cs typeface="Arial"/>
              </a:rPr>
              <a:t> </a:t>
            </a:r>
            <a:r>
              <a:rPr dirty="0" sz="1100" spc="-5">
                <a:latin typeface="Arial"/>
                <a:cs typeface="Arial"/>
              </a:rPr>
              <a:t>turn</a:t>
            </a:r>
            <a:r>
              <a:rPr dirty="0" sz="1100" spc="110">
                <a:latin typeface="Arial"/>
                <a:cs typeface="Arial"/>
              </a:rPr>
              <a:t> </a:t>
            </a:r>
            <a:r>
              <a:rPr dirty="0" sz="1100" spc="-5">
                <a:latin typeface="Arial"/>
                <a:cs typeface="Arial"/>
              </a:rPr>
              <a:t>now</a:t>
            </a:r>
            <a:r>
              <a:rPr dirty="0" sz="1100" spc="105">
                <a:latin typeface="Arial"/>
                <a:cs typeface="Arial"/>
              </a:rPr>
              <a:t> </a:t>
            </a:r>
            <a:r>
              <a:rPr dirty="0" sz="1100" spc="-5">
                <a:latin typeface="Arial"/>
                <a:cs typeface="Arial"/>
              </a:rPr>
              <a:t>to</a:t>
            </a:r>
            <a:r>
              <a:rPr dirty="0" sz="1100" spc="110">
                <a:latin typeface="Arial"/>
                <a:cs typeface="Arial"/>
              </a:rPr>
              <a:t> </a:t>
            </a:r>
            <a:r>
              <a:rPr dirty="0" sz="1100" spc="-5">
                <a:latin typeface="Arial"/>
                <a:cs typeface="Arial"/>
              </a:rPr>
              <a:t>consider</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256</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7795259"/>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the advantages and disadvantages of alternative trade policies for developing countries in more  detail.</a:t>
            </a:r>
            <a:endParaRPr sz="1100">
              <a:latin typeface="Arial"/>
              <a:cs typeface="Arial"/>
            </a:endParaRPr>
          </a:p>
          <a:p>
            <a:pPr>
              <a:lnSpc>
                <a:spcPct val="100000"/>
              </a:lnSpc>
              <a:spcBef>
                <a:spcPts val="50"/>
              </a:spcBef>
            </a:pPr>
            <a:endParaRPr sz="1050">
              <a:latin typeface="Arial"/>
              <a:cs typeface="Arial"/>
            </a:endParaRPr>
          </a:p>
          <a:p>
            <a:pPr algn="just" marL="12700" marR="6350">
              <a:lnSpc>
                <a:spcPts val="1270"/>
              </a:lnSpc>
            </a:pPr>
            <a:r>
              <a:rPr dirty="0" sz="1100" spc="-5" b="1">
                <a:latin typeface="Arial"/>
                <a:cs typeface="Arial"/>
              </a:rPr>
              <a:t>TRADITIONAL </a:t>
            </a:r>
            <a:r>
              <a:rPr dirty="0" sz="1100" b="1">
                <a:latin typeface="Arial"/>
                <a:cs typeface="Arial"/>
              </a:rPr>
              <a:t>TRADE </a:t>
            </a:r>
            <a:r>
              <a:rPr dirty="0" sz="1100" spc="-5" b="1">
                <a:latin typeface="Arial"/>
                <a:cs typeface="Arial"/>
              </a:rPr>
              <a:t>STRATEGIES </a:t>
            </a:r>
            <a:r>
              <a:rPr dirty="0" sz="1100" b="1">
                <a:latin typeface="Arial"/>
                <a:cs typeface="Arial"/>
              </a:rPr>
              <a:t>FOR </a:t>
            </a:r>
            <a:r>
              <a:rPr dirty="0" sz="1100" spc="-5" b="1">
                <a:latin typeface="Arial"/>
                <a:cs typeface="Arial"/>
              </a:rPr>
              <a:t>DEVELOPMENT: EXPORT PROMOTION  VERSUS IMPORT</a:t>
            </a:r>
            <a:r>
              <a:rPr dirty="0" sz="1100" b="1">
                <a:latin typeface="Arial"/>
                <a:cs typeface="Arial"/>
              </a:rPr>
              <a:t> </a:t>
            </a:r>
            <a:r>
              <a:rPr dirty="0" sz="1100" spc="-5" b="1">
                <a:latin typeface="Arial"/>
                <a:cs typeface="Arial"/>
              </a:rPr>
              <a:t>SUBSTITUTION</a:t>
            </a:r>
            <a:endParaRPr sz="1100">
              <a:latin typeface="Arial"/>
              <a:cs typeface="Arial"/>
            </a:endParaRPr>
          </a:p>
          <a:p>
            <a:pPr>
              <a:lnSpc>
                <a:spcPct val="100000"/>
              </a:lnSpc>
              <a:spcBef>
                <a:spcPts val="15"/>
              </a:spcBef>
            </a:pPr>
            <a:endParaRPr sz="1150">
              <a:latin typeface="Arial"/>
              <a:cs typeface="Arial"/>
            </a:endParaRPr>
          </a:p>
          <a:p>
            <a:pPr algn="just" marL="12700" marR="5715">
              <a:lnSpc>
                <a:spcPct val="95800"/>
              </a:lnSpc>
            </a:pPr>
            <a:r>
              <a:rPr dirty="0" sz="1100" spc="-5">
                <a:latin typeface="Arial"/>
                <a:cs typeface="Arial"/>
              </a:rPr>
              <a:t>A traditional way to approach the complex issues of appropriate trade policies for development  is to set these specific policies in the context of a broader strategy of looking outward or looking  inward. In the words of Paul Streeten, outward-looking development policies “encourage not  only free trade but also the free movement of capital, workers, enterprises and students . . . , </a:t>
            </a:r>
            <a:r>
              <a:rPr dirty="0" sz="1100">
                <a:latin typeface="Arial"/>
                <a:cs typeface="Arial"/>
              </a:rPr>
              <a:t>the  </a:t>
            </a:r>
            <a:r>
              <a:rPr dirty="0" sz="1100" spc="-5">
                <a:latin typeface="Arial"/>
                <a:cs typeface="Arial"/>
              </a:rPr>
              <a:t>multinational enterprise, and an open system of communications.” By contrast, inward-looking  development policies stress the need for nations to evolve </a:t>
            </a:r>
            <a:r>
              <a:rPr dirty="0" sz="1100">
                <a:latin typeface="Arial"/>
                <a:cs typeface="Arial"/>
              </a:rPr>
              <a:t>their </a:t>
            </a:r>
            <a:r>
              <a:rPr dirty="0" sz="1100" spc="-5">
                <a:latin typeface="Arial"/>
                <a:cs typeface="Arial"/>
              </a:rPr>
              <a:t>own styles of development and  to control their own destiny. This means policies to encourage indigenous “learning by doing” in  manufacturing and the development of technologies appropriate to a country’s resource  endowments. According to proponents of inward-looking trade policies, greater self-reliance can  be accomplished, in Streeten’s words, only if “you restrict trade, the movement of people, and  communications and if you keep out the multinational enterprise, with its wrong products and  wrong want-stimulation and hence its wrong</a:t>
            </a:r>
            <a:r>
              <a:rPr dirty="0" sz="1100" spc="25">
                <a:latin typeface="Arial"/>
                <a:cs typeface="Arial"/>
              </a:rPr>
              <a:t> </a:t>
            </a:r>
            <a:r>
              <a:rPr dirty="0" sz="1100" spc="-5">
                <a:latin typeface="Arial"/>
                <a:cs typeface="Arial"/>
              </a:rPr>
              <a:t>technology.”</a:t>
            </a:r>
            <a:endParaRPr sz="1100">
              <a:latin typeface="Arial"/>
              <a:cs typeface="Arial"/>
            </a:endParaRPr>
          </a:p>
          <a:p>
            <a:pPr>
              <a:lnSpc>
                <a:spcPct val="100000"/>
              </a:lnSpc>
              <a:spcBef>
                <a:spcPts val="25"/>
              </a:spcBef>
            </a:pPr>
            <a:endParaRPr sz="1150">
              <a:latin typeface="Arial"/>
              <a:cs typeface="Arial"/>
            </a:endParaRPr>
          </a:p>
          <a:p>
            <a:pPr algn="just" marL="469900" marR="5715" indent="-228600">
              <a:lnSpc>
                <a:spcPct val="95700"/>
              </a:lnSpc>
              <a:buFont typeface="Symbol"/>
              <a:buChar char=""/>
              <a:tabLst>
                <a:tab pos="469900" algn="l"/>
              </a:tabLst>
            </a:pPr>
            <a:r>
              <a:rPr dirty="0" sz="1100" spc="-5" b="1">
                <a:latin typeface="Arial"/>
                <a:cs typeface="Arial"/>
              </a:rPr>
              <a:t>Outward-Looking Development Policies: </a:t>
            </a:r>
            <a:r>
              <a:rPr dirty="0" sz="1100" spc="-5">
                <a:latin typeface="Arial"/>
                <a:cs typeface="Arial"/>
              </a:rPr>
              <a:t>Policies that encourage exports, often  through the free movement of capital, workers, enterprises, and students; a welcome </a:t>
            </a:r>
            <a:r>
              <a:rPr dirty="0" sz="1100">
                <a:latin typeface="Arial"/>
                <a:cs typeface="Arial"/>
              </a:rPr>
              <a:t>to  </a:t>
            </a:r>
            <a:r>
              <a:rPr dirty="0" sz="1100" spc="-5">
                <a:latin typeface="Arial"/>
                <a:cs typeface="Arial"/>
              </a:rPr>
              <a:t>multinational corporations; and open</a:t>
            </a:r>
            <a:r>
              <a:rPr dirty="0" sz="1100" spc="15">
                <a:latin typeface="Arial"/>
                <a:cs typeface="Arial"/>
              </a:rPr>
              <a:t> </a:t>
            </a:r>
            <a:r>
              <a:rPr dirty="0" sz="1100" spc="-5">
                <a:latin typeface="Arial"/>
                <a:cs typeface="Arial"/>
              </a:rPr>
              <a:t>communications.</a:t>
            </a:r>
            <a:endParaRPr sz="1100">
              <a:latin typeface="Arial"/>
              <a:cs typeface="Arial"/>
            </a:endParaRPr>
          </a:p>
          <a:p>
            <a:pPr algn="just" marL="469900" marR="5080" indent="-228600">
              <a:lnSpc>
                <a:spcPct val="95700"/>
              </a:lnSpc>
              <a:spcBef>
                <a:spcPts val="75"/>
              </a:spcBef>
              <a:buFont typeface="Symbol"/>
              <a:buChar char=""/>
              <a:tabLst>
                <a:tab pos="469900" algn="l"/>
              </a:tabLst>
            </a:pPr>
            <a:r>
              <a:rPr dirty="0" sz="1100" spc="-5" b="1">
                <a:latin typeface="Arial"/>
                <a:cs typeface="Arial"/>
              </a:rPr>
              <a:t>Inward-Looking Development Policies: </a:t>
            </a:r>
            <a:r>
              <a:rPr dirty="0" sz="1100" spc="-5">
                <a:latin typeface="Arial"/>
                <a:cs typeface="Arial"/>
              </a:rPr>
              <a:t>Policies that stress economic self-reliance on  the part of developing countries including domestic development of technology, the  imposition of barriers to imports, and the discouragement of private foreign</a:t>
            </a:r>
            <a:r>
              <a:rPr dirty="0" sz="1100" spc="200">
                <a:latin typeface="Arial"/>
                <a:cs typeface="Arial"/>
              </a:rPr>
              <a:t> </a:t>
            </a:r>
            <a:r>
              <a:rPr dirty="0" sz="1100" spc="-5">
                <a:latin typeface="Arial"/>
                <a:cs typeface="Arial"/>
              </a:rPr>
              <a:t>investment.</a:t>
            </a:r>
            <a:endParaRPr sz="1100">
              <a:latin typeface="Arial"/>
              <a:cs typeface="Arial"/>
            </a:endParaRPr>
          </a:p>
          <a:p>
            <a:pPr algn="just" marL="469900" marR="6350" indent="-228600">
              <a:lnSpc>
                <a:spcPts val="1260"/>
              </a:lnSpc>
              <a:spcBef>
                <a:spcPts val="114"/>
              </a:spcBef>
              <a:buFont typeface="Symbol"/>
              <a:buChar char=""/>
              <a:tabLst>
                <a:tab pos="469900" algn="l"/>
              </a:tabLst>
            </a:pPr>
            <a:r>
              <a:rPr dirty="0" sz="1100" spc="-5" b="1">
                <a:latin typeface="Arial"/>
                <a:cs typeface="Arial"/>
              </a:rPr>
              <a:t>Import Substitution: </a:t>
            </a:r>
            <a:r>
              <a:rPr dirty="0" sz="1100" spc="-5">
                <a:latin typeface="Arial"/>
                <a:cs typeface="Arial"/>
              </a:rPr>
              <a:t>A deliberate effort to replace consumer imports </a:t>
            </a:r>
            <a:r>
              <a:rPr dirty="0" sz="1100">
                <a:latin typeface="Arial"/>
                <a:cs typeface="Arial"/>
              </a:rPr>
              <a:t>by </a:t>
            </a:r>
            <a:r>
              <a:rPr dirty="0" sz="1100" spc="-5">
                <a:latin typeface="Arial"/>
                <a:cs typeface="Arial"/>
              </a:rPr>
              <a:t>promoting the  emergence and expansion of domestic</a:t>
            </a:r>
            <a:r>
              <a:rPr dirty="0" sz="1100" spc="25">
                <a:latin typeface="Arial"/>
                <a:cs typeface="Arial"/>
              </a:rPr>
              <a:t> </a:t>
            </a:r>
            <a:r>
              <a:rPr dirty="0" sz="1100" spc="-5">
                <a:latin typeface="Arial"/>
                <a:cs typeface="Arial"/>
              </a:rPr>
              <a:t>industries.</a:t>
            </a:r>
            <a:endParaRPr sz="1100">
              <a:latin typeface="Arial"/>
              <a:cs typeface="Arial"/>
            </a:endParaRPr>
          </a:p>
          <a:p>
            <a:pPr algn="just" marL="469900" marR="5080" indent="-228600">
              <a:lnSpc>
                <a:spcPct val="95800"/>
              </a:lnSpc>
              <a:spcBef>
                <a:spcPts val="50"/>
              </a:spcBef>
              <a:buFont typeface="Symbol"/>
              <a:buChar char=""/>
              <a:tabLst>
                <a:tab pos="469900" algn="l"/>
              </a:tabLst>
            </a:pPr>
            <a:r>
              <a:rPr dirty="0" sz="1100" spc="-5" b="1">
                <a:latin typeface="Arial"/>
                <a:cs typeface="Arial"/>
              </a:rPr>
              <a:t>Export Promotion: </a:t>
            </a:r>
            <a:r>
              <a:rPr dirty="0" sz="1100" spc="-5">
                <a:latin typeface="Arial"/>
                <a:cs typeface="Arial"/>
              </a:rPr>
              <a:t>Governmental efforts to expand the volume of a country’s exports  through increasing export incentives, decreasing disincentives and other means in order  to generate more foreign exchange and improve the current account of its balance of  payments or achieve other</a:t>
            </a:r>
            <a:r>
              <a:rPr dirty="0" sz="1100" spc="15">
                <a:latin typeface="Arial"/>
                <a:cs typeface="Arial"/>
              </a:rPr>
              <a:t> </a:t>
            </a:r>
            <a:r>
              <a:rPr dirty="0" sz="1100" spc="-5">
                <a:latin typeface="Arial"/>
                <a:cs typeface="Arial"/>
              </a:rPr>
              <a:t>objectives.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A lively debate regarding these two philosophical approaches has been carried on in the  development literature since the 1950s. The debate pits the free traders, who advocate  outward-looking export promotion strategies of industrialization, against the protectionists, who  are proponents of inward looking import substitution strategies. The latter predominated into the  1970s; the former gained the upper hand in the late 1970s and especially among Western and  World Bank economists in the 1980s and early</a:t>
            </a:r>
            <a:r>
              <a:rPr dirty="0" sz="1100" spc="30">
                <a:latin typeface="Arial"/>
                <a:cs typeface="Arial"/>
              </a:rPr>
              <a:t> </a:t>
            </a:r>
            <a:r>
              <a:rPr dirty="0" sz="1100" spc="-5">
                <a:latin typeface="Arial"/>
                <a:cs typeface="Arial"/>
              </a:rPr>
              <a:t>1990s.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Basically, the distinction between these two traditional trade-related development strategies is  that advocates of import substitution (IS) believe that a developing economy should initially  substitute domestic production of previously imported simple consumer goods (first-stage IS)  and then substitute through domestic production for a wider range of more sophisticated  manufactured items (second-stage IS)—all behind the protection of high tariffs and quotas on  these imports. In the long run, IS advocates cite the benefits of greater domestic industrial  diversification (“balanced growth”) and the ultimate ability to export some previously protected  manufactured goods as economies of scale, low </a:t>
            </a:r>
            <a:r>
              <a:rPr dirty="0" sz="1100">
                <a:latin typeface="Arial"/>
                <a:cs typeface="Arial"/>
              </a:rPr>
              <a:t>labor </a:t>
            </a:r>
            <a:r>
              <a:rPr dirty="0" sz="1100" spc="-5">
                <a:latin typeface="Arial"/>
                <a:cs typeface="Arial"/>
              </a:rPr>
              <a:t>costs, and the positive externalities of  learning by doing cause domestic prices to become more competitive </a:t>
            </a:r>
            <a:r>
              <a:rPr dirty="0" sz="1100">
                <a:latin typeface="Arial"/>
                <a:cs typeface="Arial"/>
              </a:rPr>
              <a:t>with </a:t>
            </a:r>
            <a:r>
              <a:rPr dirty="0" sz="1100" spc="-5">
                <a:latin typeface="Arial"/>
                <a:cs typeface="Arial"/>
              </a:rPr>
              <a:t>world</a:t>
            </a:r>
            <a:r>
              <a:rPr dirty="0" sz="1100" spc="114">
                <a:latin typeface="Arial"/>
                <a:cs typeface="Arial"/>
              </a:rPr>
              <a:t> </a:t>
            </a:r>
            <a:r>
              <a:rPr dirty="0" sz="1100" spc="-5">
                <a:latin typeface="Arial"/>
                <a:cs typeface="Arial"/>
              </a:rPr>
              <a:t>prices.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257</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239759"/>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By contrast, advocates of export promotion </a:t>
            </a:r>
            <a:r>
              <a:rPr dirty="0" sz="1100">
                <a:latin typeface="Arial"/>
                <a:cs typeface="Arial"/>
              </a:rPr>
              <a:t>(EP) </a:t>
            </a:r>
            <a:r>
              <a:rPr dirty="0" sz="1100" spc="-5">
                <a:latin typeface="Arial"/>
                <a:cs typeface="Arial"/>
              </a:rPr>
              <a:t>of both primary and manufactured goods cite  the efficiency and growth benefits of free trade and competition, the importance of substituting  large world markets for narrow domestic markets, the distorting price and cost effects of  protection, and the tremendous successes of such export-oriented economies as South Korea,  Taiwan, Singapore, Hong Kong, China, and others in Asia. They stress that firms in these  economies have learned a great deal from the firms in the United States, Japan, and other  developed-country economies that have been their long-term customers. Sometimes a  distinction is made between “strong export promotion,” in which policies are explicitly geared to  expansion of exports (in general, such as through a weak currency), rather than production for  the domestic market, and “weak export promotion,” which emphasizes free trade and a level  playing field and is viewed by advocates as likely to promote exports by comparison with  previous import substitution policies (which tend to discourage exports in relative terms).  Beyond this, many Asian countries also adopted a more nuanced approach that draws on some  elements of both to develop targeted sectors, examined later in the</a:t>
            </a:r>
            <a:r>
              <a:rPr dirty="0" sz="1100" spc="80">
                <a:latin typeface="Arial"/>
                <a:cs typeface="Arial"/>
              </a:rPr>
              <a:t> </a:t>
            </a:r>
            <a:r>
              <a:rPr dirty="0" sz="1100" spc="-5">
                <a:latin typeface="Arial"/>
                <a:cs typeface="Arial"/>
              </a:rPr>
              <a:t>chapter.</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In practice, the distinction between IS and EP strategies is much less pronounced than </a:t>
            </a:r>
            <a:r>
              <a:rPr dirty="0" sz="1100">
                <a:latin typeface="Arial"/>
                <a:cs typeface="Arial"/>
              </a:rPr>
              <a:t>many  </a:t>
            </a:r>
            <a:r>
              <a:rPr dirty="0" sz="1100" spc="-5">
                <a:latin typeface="Arial"/>
                <a:cs typeface="Arial"/>
              </a:rPr>
              <a:t>advocates would imply. Most developing economies have employed both strategies with  different degrees of emphasis at one time or another. For example, in </a:t>
            </a:r>
            <a:r>
              <a:rPr dirty="0" sz="1100">
                <a:latin typeface="Arial"/>
                <a:cs typeface="Arial"/>
              </a:rPr>
              <a:t>the </a:t>
            </a:r>
            <a:r>
              <a:rPr dirty="0" sz="1100" spc="-5">
                <a:latin typeface="Arial"/>
                <a:cs typeface="Arial"/>
              </a:rPr>
              <a:t>1950s and 1960s, the  inward-looking industrialization strategies of the larger Latin American and Asian countries such  as Chile, Peru, Argentina, India, Pakistan, and the Philippines were heavily IS oriented. By the  end of the 1960s, some of the key sub-Saharan African countries like Nigeria, Ethiopia, Ghana,  and Zambia had begun to pursue IS strategies, and some smaller Latin American and Asian  countries also joined in. However, </a:t>
            </a:r>
            <a:r>
              <a:rPr dirty="0" sz="1100">
                <a:latin typeface="Arial"/>
                <a:cs typeface="Arial"/>
              </a:rPr>
              <a:t>since </a:t>
            </a:r>
            <a:r>
              <a:rPr dirty="0" sz="1100" spc="-5">
                <a:latin typeface="Arial"/>
                <a:cs typeface="Arial"/>
              </a:rPr>
              <a:t>the mid-1970s, the EP strategy has been increasingly  adopted by a growing number of countries. The early EP adherents—South Korea, Taiwan,  Singapore, and Hong Kong—were thus joined by the likes of Brazil, Chile, Thailand, and  Turkey, which switched from an earlier IS strategy. It must be stressed, however, that most  successful East Asian export promoters have pursued protectionist IS strategies sequentially  and simultaneously in certain industries, so it is inaccurate to call them free traders, even  though they are</a:t>
            </a:r>
            <a:r>
              <a:rPr dirty="0" sz="1100" spc="10">
                <a:latin typeface="Arial"/>
                <a:cs typeface="Arial"/>
              </a:rPr>
              <a:t> </a:t>
            </a:r>
            <a:r>
              <a:rPr dirty="0" sz="1100" spc="-5">
                <a:latin typeface="Arial"/>
                <a:cs typeface="Arial"/>
              </a:rPr>
              <a:t>outward-oriented.</a:t>
            </a:r>
            <a:endParaRPr sz="1100">
              <a:latin typeface="Arial"/>
              <a:cs typeface="Arial"/>
            </a:endParaRPr>
          </a:p>
          <a:p>
            <a:pPr>
              <a:lnSpc>
                <a:spcPct val="100000"/>
              </a:lnSpc>
              <a:spcBef>
                <a:spcPts val="25"/>
              </a:spcBef>
            </a:pPr>
            <a:endParaRPr sz="1100">
              <a:latin typeface="Arial"/>
              <a:cs typeface="Arial"/>
            </a:endParaRPr>
          </a:p>
          <a:p>
            <a:pPr algn="just" marL="12700" marR="8255">
              <a:lnSpc>
                <a:spcPts val="1270"/>
              </a:lnSpc>
            </a:pPr>
            <a:r>
              <a:rPr dirty="0" sz="1100" spc="-5">
                <a:latin typeface="Arial"/>
                <a:cs typeface="Arial"/>
              </a:rPr>
              <a:t>Against this background, we can </a:t>
            </a:r>
            <a:r>
              <a:rPr dirty="0" sz="1100">
                <a:latin typeface="Arial"/>
                <a:cs typeface="Arial"/>
              </a:rPr>
              <a:t>now </a:t>
            </a:r>
            <a:r>
              <a:rPr dirty="0" sz="1100" spc="-5">
                <a:latin typeface="Arial"/>
                <a:cs typeface="Arial"/>
              </a:rPr>
              <a:t>examine the issue of outward-looking export promotion  versus inward-looking import substitution in more detail by applying the following fourfold  categorization:</a:t>
            </a:r>
            <a:endParaRPr sz="1100">
              <a:latin typeface="Arial"/>
              <a:cs typeface="Arial"/>
            </a:endParaRPr>
          </a:p>
          <a:p>
            <a:pPr>
              <a:lnSpc>
                <a:spcPct val="100000"/>
              </a:lnSpc>
              <a:spcBef>
                <a:spcPts val="45"/>
              </a:spcBef>
            </a:pPr>
            <a:endParaRPr sz="1050">
              <a:latin typeface="Arial"/>
              <a:cs typeface="Arial"/>
            </a:endParaRPr>
          </a:p>
          <a:p>
            <a:pPr marL="469900" marR="8255" indent="-228600">
              <a:lnSpc>
                <a:spcPts val="1270"/>
              </a:lnSpc>
              <a:spcBef>
                <a:spcPts val="5"/>
              </a:spcBef>
              <a:buFont typeface="Arial"/>
              <a:buAutoNum type="arabicPeriod"/>
              <a:tabLst>
                <a:tab pos="469900" algn="l"/>
              </a:tabLst>
            </a:pPr>
            <a:r>
              <a:rPr dirty="0" sz="1100" spc="-5">
                <a:latin typeface="Arial"/>
                <a:cs typeface="Arial"/>
              </a:rPr>
              <a:t>Primary outward-looking policies (encouragement of agricultural and raw-materials  exports).</a:t>
            </a:r>
            <a:endParaRPr sz="1100">
              <a:latin typeface="Arial"/>
              <a:cs typeface="Arial"/>
            </a:endParaRPr>
          </a:p>
          <a:p>
            <a:pPr marL="469900" indent="-228600">
              <a:lnSpc>
                <a:spcPts val="1195"/>
              </a:lnSpc>
              <a:buFont typeface="Arial"/>
              <a:buAutoNum type="arabicPeriod"/>
              <a:tabLst>
                <a:tab pos="469900" algn="l"/>
              </a:tabLst>
            </a:pPr>
            <a:r>
              <a:rPr dirty="0" sz="1100" spc="-5">
                <a:latin typeface="Arial"/>
                <a:cs typeface="Arial"/>
              </a:rPr>
              <a:t>Secondary outward-looking policies (promotion of manufactured</a:t>
            </a:r>
            <a:r>
              <a:rPr dirty="0" sz="1100" spc="55">
                <a:latin typeface="Arial"/>
                <a:cs typeface="Arial"/>
              </a:rPr>
              <a:t> </a:t>
            </a:r>
            <a:r>
              <a:rPr dirty="0" sz="1100" spc="-5">
                <a:latin typeface="Arial"/>
                <a:cs typeface="Arial"/>
              </a:rPr>
              <a:t>exports).</a:t>
            </a:r>
            <a:endParaRPr sz="1100">
              <a:latin typeface="Arial"/>
              <a:cs typeface="Arial"/>
            </a:endParaRPr>
          </a:p>
          <a:p>
            <a:pPr marL="469900" indent="-228600">
              <a:lnSpc>
                <a:spcPts val="1265"/>
              </a:lnSpc>
              <a:buFont typeface="Arial"/>
              <a:buAutoNum type="arabicPeriod"/>
              <a:tabLst>
                <a:tab pos="469900" algn="l"/>
              </a:tabLst>
            </a:pPr>
            <a:r>
              <a:rPr dirty="0" sz="1100" spc="-5">
                <a:latin typeface="Arial"/>
                <a:cs typeface="Arial"/>
              </a:rPr>
              <a:t>Primary inward-looking policies (mainly agricultural</a:t>
            </a:r>
            <a:r>
              <a:rPr dirty="0" sz="1100" spc="35">
                <a:latin typeface="Arial"/>
                <a:cs typeface="Arial"/>
              </a:rPr>
              <a:t> </a:t>
            </a:r>
            <a:r>
              <a:rPr dirty="0" sz="1100" spc="-5">
                <a:latin typeface="Arial"/>
                <a:cs typeface="Arial"/>
              </a:rPr>
              <a:t>self-sufficiency).</a:t>
            </a:r>
            <a:endParaRPr sz="1100">
              <a:latin typeface="Arial"/>
              <a:cs typeface="Arial"/>
            </a:endParaRPr>
          </a:p>
          <a:p>
            <a:pPr marL="469900" marR="9525" indent="-228600">
              <a:lnSpc>
                <a:spcPts val="1270"/>
              </a:lnSpc>
              <a:spcBef>
                <a:spcPts val="55"/>
              </a:spcBef>
              <a:buFont typeface="Arial"/>
              <a:buAutoNum type="arabicPeriod"/>
              <a:tabLst>
                <a:tab pos="469900" algn="l"/>
              </a:tabLst>
            </a:pPr>
            <a:r>
              <a:rPr dirty="0" sz="1100" spc="-5">
                <a:latin typeface="Arial"/>
                <a:cs typeface="Arial"/>
              </a:rPr>
              <a:t>Secondary inward-looking policies (manufactured commodity self sufficiency through  import substitution).</a:t>
            </a:r>
            <a:endParaRPr sz="1100">
              <a:latin typeface="Arial"/>
              <a:cs typeface="Arial"/>
            </a:endParaRPr>
          </a:p>
          <a:p>
            <a:pPr>
              <a:lnSpc>
                <a:spcPct val="100000"/>
              </a:lnSpc>
              <a:spcBef>
                <a:spcPts val="45"/>
              </a:spcBef>
            </a:pPr>
            <a:endParaRPr sz="1050">
              <a:latin typeface="Arial"/>
              <a:cs typeface="Arial"/>
            </a:endParaRPr>
          </a:p>
          <a:p>
            <a:pPr algn="just" marL="12700" marR="6985">
              <a:lnSpc>
                <a:spcPts val="1270"/>
              </a:lnSpc>
            </a:pPr>
            <a:r>
              <a:rPr dirty="0" sz="1100" spc="-5">
                <a:latin typeface="Arial"/>
                <a:cs typeface="Arial"/>
              </a:rPr>
              <a:t>Then, we turn our attention to eclectic strategies, particularly export-oriented strategic  industrialization, and South-South economic</a:t>
            </a:r>
            <a:r>
              <a:rPr dirty="0" sz="1100" spc="20">
                <a:latin typeface="Arial"/>
                <a:cs typeface="Arial"/>
              </a:rPr>
              <a:t> </a:t>
            </a:r>
            <a:r>
              <a:rPr dirty="0" sz="1100" spc="-5">
                <a:latin typeface="Arial"/>
                <a:cs typeface="Arial"/>
              </a:rPr>
              <a:t>integration.</a:t>
            </a:r>
            <a:endParaRPr sz="1100">
              <a:latin typeface="Arial"/>
              <a:cs typeface="Arial"/>
            </a:endParaRPr>
          </a:p>
          <a:p>
            <a:pPr>
              <a:lnSpc>
                <a:spcPct val="100000"/>
              </a:lnSpc>
              <a:spcBef>
                <a:spcPts val="30"/>
              </a:spcBef>
            </a:pPr>
            <a:endParaRPr sz="1000">
              <a:latin typeface="Arial"/>
              <a:cs typeface="Arial"/>
            </a:endParaRPr>
          </a:p>
          <a:p>
            <a:pPr algn="just" marL="12700">
              <a:lnSpc>
                <a:spcPct val="100000"/>
              </a:lnSpc>
            </a:pPr>
            <a:r>
              <a:rPr dirty="0" sz="1100" spc="-10" b="1">
                <a:latin typeface="Arial"/>
                <a:cs typeface="Arial"/>
              </a:rPr>
              <a:t>EXPORT </a:t>
            </a:r>
            <a:r>
              <a:rPr dirty="0" sz="1100" spc="-5" b="1">
                <a:latin typeface="Arial"/>
                <a:cs typeface="Arial"/>
              </a:rPr>
              <a:t>PROMOTION: </a:t>
            </a:r>
            <a:r>
              <a:rPr dirty="0" sz="1100" spc="-10" b="1">
                <a:latin typeface="Arial"/>
                <a:cs typeface="Arial"/>
              </a:rPr>
              <a:t>LOOKING </a:t>
            </a:r>
            <a:r>
              <a:rPr dirty="0" sz="1100" spc="-5" b="1">
                <a:latin typeface="Arial"/>
                <a:cs typeface="Arial"/>
              </a:rPr>
              <a:t>OUTWARD AND SEEING TRADE</a:t>
            </a:r>
            <a:r>
              <a:rPr dirty="0" sz="1100" spc="50" b="1">
                <a:latin typeface="Arial"/>
                <a:cs typeface="Arial"/>
              </a:rPr>
              <a:t> </a:t>
            </a:r>
            <a:r>
              <a:rPr dirty="0" sz="1100" spc="-5" b="1">
                <a:latin typeface="Arial"/>
                <a:cs typeface="Arial"/>
              </a:rPr>
              <a:t>BARRIERS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The promotion of primary or secondary exports has long been considered a major ingredient in  any viable long-run development strategy. The colonial territories of Africa and Asia, with their  foreign-owned mines and plantations, were classic examples of primary outward-looking  regions. It was partly in reaction to this enclave economic structure and partly as a consequence  of</a:t>
            </a:r>
            <a:r>
              <a:rPr dirty="0" sz="1100" spc="165">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industrialization</a:t>
            </a:r>
            <a:r>
              <a:rPr dirty="0" sz="1100" spc="165">
                <a:latin typeface="Arial"/>
                <a:cs typeface="Arial"/>
              </a:rPr>
              <a:t> </a:t>
            </a:r>
            <a:r>
              <a:rPr dirty="0" sz="1100" spc="-5">
                <a:latin typeface="Arial"/>
                <a:cs typeface="Arial"/>
              </a:rPr>
              <a:t>bias</a:t>
            </a:r>
            <a:r>
              <a:rPr dirty="0" sz="1100" spc="170">
                <a:latin typeface="Arial"/>
                <a:cs typeface="Arial"/>
              </a:rPr>
              <a:t> </a:t>
            </a:r>
            <a:r>
              <a:rPr dirty="0" sz="1100" spc="-5">
                <a:latin typeface="Arial"/>
                <a:cs typeface="Arial"/>
              </a:rPr>
              <a:t>of</a:t>
            </a:r>
            <a:r>
              <a:rPr dirty="0" sz="1100" spc="160">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1950s</a:t>
            </a:r>
            <a:r>
              <a:rPr dirty="0" sz="1100" spc="170">
                <a:latin typeface="Arial"/>
                <a:cs typeface="Arial"/>
              </a:rPr>
              <a:t> </a:t>
            </a:r>
            <a:r>
              <a:rPr dirty="0" sz="1100" spc="-5">
                <a:latin typeface="Arial"/>
                <a:cs typeface="Arial"/>
              </a:rPr>
              <a:t>and</a:t>
            </a:r>
            <a:r>
              <a:rPr dirty="0" sz="1100" spc="165">
                <a:latin typeface="Arial"/>
                <a:cs typeface="Arial"/>
              </a:rPr>
              <a:t> </a:t>
            </a:r>
            <a:r>
              <a:rPr dirty="0" sz="1100" spc="-5">
                <a:latin typeface="Arial"/>
                <a:cs typeface="Arial"/>
              </a:rPr>
              <a:t>1960s</a:t>
            </a:r>
            <a:r>
              <a:rPr dirty="0" sz="1100" spc="170">
                <a:latin typeface="Arial"/>
                <a:cs typeface="Arial"/>
              </a:rPr>
              <a:t> </a:t>
            </a:r>
            <a:r>
              <a:rPr dirty="0" sz="1100" spc="-5">
                <a:latin typeface="Arial"/>
                <a:cs typeface="Arial"/>
              </a:rPr>
              <a:t>that</a:t>
            </a:r>
            <a:r>
              <a:rPr dirty="0" sz="1100" spc="165">
                <a:latin typeface="Arial"/>
                <a:cs typeface="Arial"/>
              </a:rPr>
              <a:t> </a:t>
            </a:r>
            <a:r>
              <a:rPr dirty="0" sz="1100" spc="-5">
                <a:latin typeface="Arial"/>
                <a:cs typeface="Arial"/>
              </a:rPr>
              <a:t>most</a:t>
            </a:r>
            <a:r>
              <a:rPr dirty="0" sz="1100" spc="170">
                <a:latin typeface="Arial"/>
                <a:cs typeface="Arial"/>
              </a:rPr>
              <a:t> </a:t>
            </a:r>
            <a:r>
              <a:rPr dirty="0" sz="1100" spc="-5">
                <a:latin typeface="Arial"/>
                <a:cs typeface="Arial"/>
              </a:rPr>
              <a:t>developing</a:t>
            </a:r>
            <a:r>
              <a:rPr dirty="0" sz="1100" spc="170">
                <a:latin typeface="Arial"/>
                <a:cs typeface="Arial"/>
              </a:rPr>
              <a:t> </a:t>
            </a:r>
            <a:r>
              <a:rPr dirty="0" sz="1100" spc="-5">
                <a:latin typeface="Arial"/>
                <a:cs typeface="Arial"/>
              </a:rPr>
              <a:t>countries</a:t>
            </a:r>
            <a:r>
              <a:rPr dirty="0" sz="1100" spc="165">
                <a:latin typeface="Arial"/>
                <a:cs typeface="Arial"/>
              </a:rPr>
              <a:t> </a:t>
            </a:r>
            <a:r>
              <a:rPr dirty="0" sz="1100" spc="-5">
                <a:latin typeface="Arial"/>
                <a:cs typeface="Arial"/>
              </a:rPr>
              <a:t>put</a:t>
            </a:r>
            <a:r>
              <a:rPr dirty="0" sz="1100" spc="170">
                <a:latin typeface="Arial"/>
                <a:cs typeface="Arial"/>
              </a:rPr>
              <a:t> </a:t>
            </a:r>
            <a:r>
              <a:rPr dirty="0" sz="1100" spc="-5">
                <a:latin typeface="Arial"/>
                <a:cs typeface="Arial"/>
              </a:rPr>
              <a:t>great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258</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397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emphasis on the production of manufactured goods initially for the home market (secondary  inward) and then for export (secondary outward). Primary-Commodity Export Expansion:  Limited Demand As </a:t>
            </a:r>
            <a:r>
              <a:rPr dirty="0" sz="1100">
                <a:latin typeface="Arial"/>
                <a:cs typeface="Arial"/>
              </a:rPr>
              <a:t>noted </a:t>
            </a:r>
            <a:r>
              <a:rPr dirty="0" sz="1100" spc="-5">
                <a:latin typeface="Arial"/>
                <a:cs typeface="Arial"/>
              </a:rPr>
              <a:t>earlier in this chapter, </a:t>
            </a:r>
            <a:r>
              <a:rPr dirty="0" sz="1100">
                <a:latin typeface="Arial"/>
                <a:cs typeface="Arial"/>
              </a:rPr>
              <a:t>many </a:t>
            </a:r>
            <a:r>
              <a:rPr dirty="0" sz="1100" spc="-5">
                <a:latin typeface="Arial"/>
                <a:cs typeface="Arial"/>
              </a:rPr>
              <a:t>low-income countries still rely on </a:t>
            </a:r>
            <a:r>
              <a:rPr dirty="0" sz="1100">
                <a:latin typeface="Arial"/>
                <a:cs typeface="Arial"/>
              </a:rPr>
              <a:t>primary  </a:t>
            </a:r>
            <a:r>
              <a:rPr dirty="0" sz="1100" spc="-5">
                <a:latin typeface="Arial"/>
                <a:cs typeface="Arial"/>
              </a:rPr>
              <a:t>products for a majority </a:t>
            </a:r>
            <a:r>
              <a:rPr dirty="0" sz="1100">
                <a:latin typeface="Arial"/>
                <a:cs typeface="Arial"/>
              </a:rPr>
              <a:t>of </a:t>
            </a:r>
            <a:r>
              <a:rPr dirty="0" sz="1100" spc="-5">
                <a:latin typeface="Arial"/>
                <a:cs typeface="Arial"/>
              </a:rPr>
              <a:t>their export earnings. With the notable exception of petroleum exports  and a few needed minerals, primary-product exports have grown more slowly than total world  trade.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On the demand side, there appear to be at least five factors working against the rapid  expansion of primary-product and especially </a:t>
            </a:r>
            <a:r>
              <a:rPr dirty="0" sz="1100">
                <a:latin typeface="Arial"/>
                <a:cs typeface="Arial"/>
              </a:rPr>
              <a:t>agricultural </a:t>
            </a:r>
            <a:r>
              <a:rPr dirty="0" sz="1100" spc="-5">
                <a:latin typeface="Arial"/>
                <a:cs typeface="Arial"/>
              </a:rPr>
              <a:t>exports. First, the income elasticities of  demand for agricultural foodstuffs and raw materials are relatively low compared with those for  fuels, certain minerals, and manufactures. For example, the income elasticities of demand for  sugar, cacao, tea, coffee, and bananas have all been estimated at less than 1, with most in the  range of 0.3– 0.6. Inelastic demand means that only a sustained high rate of per capita income  growth in the developed countries can lead to even modest export expansion of these particular  commodities from the developing countries. (Many primary exporters have benefited from </a:t>
            </a:r>
            <a:r>
              <a:rPr dirty="0" sz="1100">
                <a:latin typeface="Arial"/>
                <a:cs typeface="Arial"/>
              </a:rPr>
              <a:t>the  </a:t>
            </a:r>
            <a:r>
              <a:rPr dirty="0" sz="1100" spc="-5">
                <a:latin typeface="Arial"/>
                <a:cs typeface="Arial"/>
              </a:rPr>
              <a:t>boom in </a:t>
            </a:r>
            <a:r>
              <a:rPr dirty="0" sz="1100">
                <a:latin typeface="Arial"/>
                <a:cs typeface="Arial"/>
              </a:rPr>
              <a:t>China </a:t>
            </a:r>
            <a:r>
              <a:rPr dirty="0" sz="1100" spc="-5">
                <a:latin typeface="Arial"/>
                <a:cs typeface="Arial"/>
              </a:rPr>
              <a:t>since about 2002—excepting the 2008–2009 debacle—and this will be followed  carefully.) Second, developed-country population growth rates are now at or near the  replacement level, so little expansion can be expected from this source. Third, the price  elasticity of demand for most primary commodities is relatively</a:t>
            </a:r>
            <a:r>
              <a:rPr dirty="0" sz="1100" spc="60">
                <a:latin typeface="Arial"/>
                <a:cs typeface="Arial"/>
              </a:rPr>
              <a:t> </a:t>
            </a:r>
            <a:r>
              <a:rPr dirty="0" sz="1100" spc="-5">
                <a:latin typeface="Arial"/>
                <a:cs typeface="Arial"/>
              </a:rPr>
              <a:t>low.</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The fourth and fifth factors working against the long-run expansion of primary-product export  earnings—the development of synthetic substitutes and the growth of agricultural protection in  the developed countries—are perhaps the most important. Synthetic substitutes for  commodities like cotton, rubber, sisal, jute, hide, skins, and copper (replaced by glass fiber  optics for communication networks) act both as a brake against higher commodity prices and as  a direct source of competition in world export markets. The synthetic share of world market  export earnings has generally risen over time, while the share of natural products has fallen. In  the case of agricultural protection, which usually takes the form of tariffs, quotas, and non-tariff  barriers such as sometimes arbitrary sanitary </a:t>
            </a:r>
            <a:r>
              <a:rPr dirty="0" sz="1100">
                <a:latin typeface="Arial"/>
                <a:cs typeface="Arial"/>
              </a:rPr>
              <a:t>laws </a:t>
            </a:r>
            <a:r>
              <a:rPr dirty="0" sz="1100" spc="-5">
                <a:latin typeface="Arial"/>
                <a:cs typeface="Arial"/>
              </a:rPr>
              <a:t>regulating food and </a:t>
            </a:r>
            <a:r>
              <a:rPr dirty="0" sz="1100">
                <a:latin typeface="Arial"/>
                <a:cs typeface="Arial"/>
              </a:rPr>
              <a:t>fiber </a:t>
            </a:r>
            <a:r>
              <a:rPr dirty="0" sz="1100" spc="-5">
                <a:latin typeface="Arial"/>
                <a:cs typeface="Arial"/>
              </a:rPr>
              <a:t>imports, the effects  can be devastating to developing countries’ export</a:t>
            </a:r>
            <a:r>
              <a:rPr dirty="0" sz="1100" spc="40">
                <a:latin typeface="Arial"/>
                <a:cs typeface="Arial"/>
              </a:rPr>
              <a:t> </a:t>
            </a:r>
            <a:r>
              <a:rPr dirty="0" sz="1100" spc="-5">
                <a:latin typeface="Arial"/>
                <a:cs typeface="Arial"/>
              </a:rPr>
              <a:t>earnings.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common agricultural policy of the European Union, for example, has resulted in greater  subsidies that have harmed the competitiveness of developing countries. We may conclude,  therefore, that the successful promotion of primary product exports in low-income countries and  for the benefit of the poor cannot occur unless there is a reorganization of rural social and  economic structures along the lines suggested in Chapter 9 to raise total agricultural productivity  and distribute the benefits more widely. The primary objective of any rural development strategy  is widely accepted to be first to provide sufficient food to feed local people and only then to be  concerned about export expansion. Given the structure of world demands for primary products,  the threat of local food shortages and thus the desire of potential importers to focus on  agricultural self-sufficiency, the inevitability of the development of further synthetic substitutes,  and the (tragic) unlikelihood of significantly lower levels of agricultural protection among  developed nations in light of the stalled trade talks, the real scope for primary-product export  expansion in individual developing nations seems</a:t>
            </a:r>
            <a:r>
              <a:rPr dirty="0" sz="1100" spc="25">
                <a:latin typeface="Arial"/>
                <a:cs typeface="Arial"/>
              </a:rPr>
              <a:t> </a:t>
            </a:r>
            <a:r>
              <a:rPr dirty="0" sz="1100" spc="-5">
                <a:latin typeface="Arial"/>
                <a:cs typeface="Arial"/>
              </a:rPr>
              <a:t>limited.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EXPANDING </a:t>
            </a:r>
            <a:r>
              <a:rPr dirty="0" sz="1100" b="1">
                <a:latin typeface="Arial"/>
                <a:cs typeface="Arial"/>
              </a:rPr>
              <a:t>EXPORTS </a:t>
            </a:r>
            <a:r>
              <a:rPr dirty="0" sz="1100" spc="-5" b="1">
                <a:latin typeface="Arial"/>
                <a:cs typeface="Arial"/>
              </a:rPr>
              <a:t>OF MANUFACTURED</a:t>
            </a:r>
            <a:r>
              <a:rPr dirty="0" sz="1100" spc="20" b="1">
                <a:latin typeface="Arial"/>
                <a:cs typeface="Arial"/>
              </a:rPr>
              <a:t> </a:t>
            </a:r>
            <a:r>
              <a:rPr dirty="0" sz="1100" spc="-5" b="1">
                <a:latin typeface="Arial"/>
                <a:cs typeface="Arial"/>
              </a:rPr>
              <a:t>GOODS</a:t>
            </a:r>
            <a:endParaRPr sz="1100">
              <a:latin typeface="Arial"/>
              <a:cs typeface="Arial"/>
            </a:endParaRPr>
          </a:p>
          <a:p>
            <a:pPr>
              <a:lnSpc>
                <a:spcPct val="100000"/>
              </a:lnSpc>
              <a:spcBef>
                <a:spcPts val="15"/>
              </a:spcBef>
            </a:pPr>
            <a:endParaRPr sz="1200">
              <a:latin typeface="Arial"/>
              <a:cs typeface="Arial"/>
            </a:endParaRPr>
          </a:p>
          <a:p>
            <a:pPr algn="just" marL="12700" marR="6350">
              <a:lnSpc>
                <a:spcPts val="1270"/>
              </a:lnSpc>
              <a:spcBef>
                <a:spcPts val="5"/>
              </a:spcBef>
            </a:pPr>
            <a:r>
              <a:rPr dirty="0" sz="1100" spc="-5">
                <a:latin typeface="Arial"/>
                <a:cs typeface="Arial"/>
              </a:rPr>
              <a:t>The expansion of manufactured exports has been encouraged by the spectacular export  performances of countries like South Korea, Singapore, Hong Kong, Taiwan, and China. For  example, for decades, Taiwan’s total exports grew at an annual rate of over 20%, and exports  from</a:t>
            </a:r>
            <a:r>
              <a:rPr dirty="0" sz="1100" spc="60">
                <a:latin typeface="Arial"/>
                <a:cs typeface="Arial"/>
              </a:rPr>
              <a:t> </a:t>
            </a:r>
            <a:r>
              <a:rPr dirty="0" sz="1100" spc="-5">
                <a:latin typeface="Arial"/>
                <a:cs typeface="Arial"/>
              </a:rPr>
              <a:t>South</a:t>
            </a:r>
            <a:r>
              <a:rPr dirty="0" sz="1100" spc="70">
                <a:latin typeface="Arial"/>
                <a:cs typeface="Arial"/>
              </a:rPr>
              <a:t> </a:t>
            </a:r>
            <a:r>
              <a:rPr dirty="0" sz="1100" spc="-5">
                <a:latin typeface="Arial"/>
                <a:cs typeface="Arial"/>
              </a:rPr>
              <a:t>Korea</a:t>
            </a:r>
            <a:r>
              <a:rPr dirty="0" sz="1100" spc="60">
                <a:latin typeface="Arial"/>
                <a:cs typeface="Arial"/>
              </a:rPr>
              <a:t> </a:t>
            </a:r>
            <a:r>
              <a:rPr dirty="0" sz="1100" spc="-5">
                <a:latin typeface="Arial"/>
                <a:cs typeface="Arial"/>
              </a:rPr>
              <a:t>grew</a:t>
            </a:r>
            <a:r>
              <a:rPr dirty="0" sz="1100" spc="65">
                <a:latin typeface="Arial"/>
                <a:cs typeface="Arial"/>
              </a:rPr>
              <a:t> </a:t>
            </a:r>
            <a:r>
              <a:rPr dirty="0" sz="1100" spc="-5">
                <a:latin typeface="Arial"/>
                <a:cs typeface="Arial"/>
              </a:rPr>
              <a:t>even</a:t>
            </a:r>
            <a:r>
              <a:rPr dirty="0" sz="1100" spc="60">
                <a:latin typeface="Arial"/>
                <a:cs typeface="Arial"/>
              </a:rPr>
              <a:t> </a:t>
            </a:r>
            <a:r>
              <a:rPr dirty="0" sz="1100" spc="-5">
                <a:latin typeface="Arial"/>
                <a:cs typeface="Arial"/>
              </a:rPr>
              <a:t>faster.</a:t>
            </a:r>
            <a:r>
              <a:rPr dirty="0" sz="1100" spc="65">
                <a:latin typeface="Arial"/>
                <a:cs typeface="Arial"/>
              </a:rPr>
              <a:t> </a:t>
            </a:r>
            <a:r>
              <a:rPr dirty="0" sz="1100" spc="-5">
                <a:latin typeface="Arial"/>
                <a:cs typeface="Arial"/>
              </a:rPr>
              <a:t>In</a:t>
            </a:r>
            <a:r>
              <a:rPr dirty="0" sz="1100" spc="60">
                <a:latin typeface="Arial"/>
                <a:cs typeface="Arial"/>
              </a:rPr>
              <a:t> </a:t>
            </a:r>
            <a:r>
              <a:rPr dirty="0" sz="1100" spc="-5">
                <a:latin typeface="Arial"/>
                <a:cs typeface="Arial"/>
              </a:rPr>
              <a:t>both</a:t>
            </a:r>
            <a:r>
              <a:rPr dirty="0" sz="1100" spc="60">
                <a:latin typeface="Arial"/>
                <a:cs typeface="Arial"/>
              </a:rPr>
              <a:t> </a:t>
            </a:r>
            <a:r>
              <a:rPr dirty="0" sz="1100" spc="-5">
                <a:latin typeface="Arial"/>
                <a:cs typeface="Arial"/>
              </a:rPr>
              <a:t>cases,</a:t>
            </a:r>
            <a:r>
              <a:rPr dirty="0" sz="1100" spc="60">
                <a:latin typeface="Arial"/>
                <a:cs typeface="Arial"/>
              </a:rPr>
              <a:t> </a:t>
            </a:r>
            <a:r>
              <a:rPr dirty="0" sz="1100" spc="-5">
                <a:latin typeface="Arial"/>
                <a:cs typeface="Arial"/>
              </a:rPr>
              <a:t>this</a:t>
            </a:r>
            <a:r>
              <a:rPr dirty="0" sz="1100" spc="60">
                <a:latin typeface="Arial"/>
                <a:cs typeface="Arial"/>
              </a:rPr>
              <a:t> </a:t>
            </a:r>
            <a:r>
              <a:rPr dirty="0" sz="1100" spc="-5">
                <a:latin typeface="Arial"/>
                <a:cs typeface="Arial"/>
              </a:rPr>
              <a:t>export</a:t>
            </a:r>
            <a:r>
              <a:rPr dirty="0" sz="1100" spc="60">
                <a:latin typeface="Arial"/>
                <a:cs typeface="Arial"/>
              </a:rPr>
              <a:t> </a:t>
            </a:r>
            <a:r>
              <a:rPr dirty="0" sz="1100" spc="-5">
                <a:latin typeface="Arial"/>
                <a:cs typeface="Arial"/>
              </a:rPr>
              <a:t>growth</a:t>
            </a:r>
            <a:r>
              <a:rPr dirty="0" sz="1100" spc="55">
                <a:latin typeface="Arial"/>
                <a:cs typeface="Arial"/>
              </a:rPr>
              <a:t> </a:t>
            </a:r>
            <a:r>
              <a:rPr dirty="0" sz="1100" spc="-5">
                <a:latin typeface="Arial"/>
                <a:cs typeface="Arial"/>
              </a:rPr>
              <a:t>was</a:t>
            </a:r>
            <a:r>
              <a:rPr dirty="0" sz="1100" spc="60">
                <a:latin typeface="Arial"/>
                <a:cs typeface="Arial"/>
              </a:rPr>
              <a:t> </a:t>
            </a:r>
            <a:r>
              <a:rPr dirty="0" sz="1100" spc="-5">
                <a:latin typeface="Arial"/>
                <a:cs typeface="Arial"/>
              </a:rPr>
              <a:t>led</a:t>
            </a:r>
            <a:r>
              <a:rPr dirty="0" sz="1100" spc="60">
                <a:latin typeface="Arial"/>
                <a:cs typeface="Arial"/>
              </a:rPr>
              <a:t> </a:t>
            </a:r>
            <a:r>
              <a:rPr dirty="0" sz="1100" spc="-5">
                <a:latin typeface="Arial"/>
                <a:cs typeface="Arial"/>
              </a:rPr>
              <a:t>by</a:t>
            </a:r>
            <a:r>
              <a:rPr dirty="0" sz="1100" spc="65">
                <a:latin typeface="Arial"/>
                <a:cs typeface="Arial"/>
              </a:rPr>
              <a:t> </a:t>
            </a:r>
            <a:r>
              <a:rPr dirty="0" sz="1100" spc="-5">
                <a:latin typeface="Arial"/>
                <a:cs typeface="Arial"/>
              </a:rPr>
              <a:t>manufactured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p:nvPr/>
        </p:nvSpPr>
        <p:spPr>
          <a:xfrm>
            <a:off x="6632707" y="9275125"/>
            <a:ext cx="238125" cy="165100"/>
          </a:xfrm>
          <a:prstGeom prst="rect">
            <a:avLst/>
          </a:prstGeom>
        </p:spPr>
        <p:txBody>
          <a:bodyPr wrap="square" lIns="0" tIns="0" rIns="0" bIns="0" rtlCol="0" vert="horz">
            <a:spAutoFit/>
          </a:bodyPr>
          <a:lstStyle/>
          <a:p>
            <a:pPr marL="12700">
              <a:lnSpc>
                <a:spcPts val="1145"/>
              </a:lnSpc>
            </a:pPr>
            <a:r>
              <a:rPr dirty="0" sz="1100" spc="-5">
                <a:latin typeface="Carlito"/>
                <a:cs typeface="Carlito"/>
              </a:rPr>
              <a:t>259</a:t>
            </a:r>
            <a:endParaRPr sz="1100">
              <a:latin typeface="Carlito"/>
              <a:cs typeface="Carlito"/>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397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goods, which contributed over 80% of both nations’ foreign-exchange earnings. For the  developing world as a whole, manufactured exports grew from 6% of their total merchandise  exports in 1950 to almost 64% by 2000. Taken together, by 2002, the low- and middle-income  countries accounted for 25.7% of the world’s manufactured exports; China commanded a </a:t>
            </a:r>
            <a:r>
              <a:rPr dirty="0" sz="1100">
                <a:latin typeface="Arial"/>
                <a:cs typeface="Arial"/>
              </a:rPr>
              <a:t>fast-  </a:t>
            </a:r>
            <a:r>
              <a:rPr dirty="0" sz="1100" spc="-5">
                <a:latin typeface="Arial"/>
                <a:cs typeface="Arial"/>
              </a:rPr>
              <a:t>growing share. However, the low-income countries accounted for just over 1% of the world total.  The export successes of recent decades, especially among the Asian Tigers, have provided  impetus for arguments by market fundamentalists (see Chapter 3) that economic growth is best  served by allowing market forces, free enterprise, and open economies to prevail while  minimizing government intervention. However, evidence from East Asia does not support this  view of how export success was achieved. In South Korea, Taiwan, and Singapore (as in Japan  earlier and to a large degree China more recently), the production and composition of exports  was not left to the market but resulted from planned intervention by the government while  making ample use of the profit incentive. We return to this consideration later in the</a:t>
            </a:r>
            <a:r>
              <a:rPr dirty="0" sz="1100" spc="210">
                <a:latin typeface="Arial"/>
                <a:cs typeface="Arial"/>
              </a:rPr>
              <a:t> </a:t>
            </a:r>
            <a:r>
              <a:rPr dirty="0" sz="1100" spc="-5">
                <a:latin typeface="Arial"/>
                <a:cs typeface="Arial"/>
              </a:rPr>
              <a:t>chapter.</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The demand problems for export expansion of </a:t>
            </a:r>
            <a:r>
              <a:rPr dirty="0" sz="1100">
                <a:latin typeface="Arial"/>
                <a:cs typeface="Arial"/>
              </a:rPr>
              <a:t>many </a:t>
            </a:r>
            <a:r>
              <a:rPr dirty="0" sz="1100" spc="-5">
                <a:latin typeface="Arial"/>
                <a:cs typeface="Arial"/>
              </a:rPr>
              <a:t>manufactured goods, though different in  basic economic content from those for primary products, can still pose similar problems for  developing countries. For </a:t>
            </a:r>
            <a:r>
              <a:rPr dirty="0" sz="1100">
                <a:latin typeface="Arial"/>
                <a:cs typeface="Arial"/>
              </a:rPr>
              <a:t>many </a:t>
            </a:r>
            <a:r>
              <a:rPr dirty="0" sz="1100" spc="-5">
                <a:latin typeface="Arial"/>
                <a:cs typeface="Arial"/>
              </a:rPr>
              <a:t>years, there was widespread protection in developed nations  against the manufactured exports of developing countries, which was in part the direct result of  the successful penetration of low-cost labor-intensive manufactures from countries like Taiwan,  Hong Kong, and South Korea during the 1960s and 1970s. And as noted earlier, relative prices  of the most basic manufactured goods have also fallen. Industrial-nation trade barriers have  been extensive. During the 1980s, for example, 20 of the 24 industrialized countries increased  their protection against developing countries’ manufactured or processed products. Moreover,  their rates of protection were considerably higher against developing country exports than  against those of high-income</a:t>
            </a:r>
            <a:r>
              <a:rPr dirty="0" sz="1100" spc="15">
                <a:latin typeface="Arial"/>
                <a:cs typeface="Arial"/>
              </a:rPr>
              <a:t> </a:t>
            </a:r>
            <a:r>
              <a:rPr dirty="0" sz="1100" spc="-5">
                <a:latin typeface="Arial"/>
                <a:cs typeface="Arial"/>
              </a:rPr>
              <a:t>countries.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Then there are the non-tariff barriers, which came to </a:t>
            </a:r>
            <a:r>
              <a:rPr dirty="0" sz="1100">
                <a:latin typeface="Arial"/>
                <a:cs typeface="Arial"/>
              </a:rPr>
              <a:t>form </a:t>
            </a:r>
            <a:r>
              <a:rPr dirty="0" sz="1100" spc="-5">
                <a:latin typeface="Arial"/>
                <a:cs typeface="Arial"/>
              </a:rPr>
              <a:t>the main protection against  manufactured exports from developing countries, affecting at least one-third of them. A major  example </a:t>
            </a:r>
            <a:r>
              <a:rPr dirty="0" sz="1100">
                <a:latin typeface="Arial"/>
                <a:cs typeface="Arial"/>
              </a:rPr>
              <a:t>was </a:t>
            </a:r>
            <a:r>
              <a:rPr dirty="0" sz="1100" spc="-5">
                <a:latin typeface="Arial"/>
                <a:cs typeface="Arial"/>
              </a:rPr>
              <a:t>the Multi fiber Arrangement (MFA), in effect until 2005, a complex system of  mostly bilateral quotas against exports of cotton, wool, and synthetic fiber products. The United  Nations Development Program estimated that the MFA cost the developing world $24 billion a  year in lost textile and clothing export earnings. The end of the MFA has benefited China most,  though some other developing countries, notably Bangladesh, have been able to hold their  market share. Much-publicized initiatives for opening markets to the least developed countries,  most prominently through the African Growth and Opportunities Act in the United States and  Everything but Arms in the European Union, </a:t>
            </a:r>
            <a:r>
              <a:rPr dirty="0" sz="1100">
                <a:latin typeface="Arial"/>
                <a:cs typeface="Arial"/>
              </a:rPr>
              <a:t>noted </a:t>
            </a:r>
            <a:r>
              <a:rPr dirty="0" sz="1100" spc="-5">
                <a:latin typeface="Arial"/>
                <a:cs typeface="Arial"/>
              </a:rPr>
              <a:t>earlier, are bilateral offers that can later be  withdrawn. These programs also have impediments such as a time horizon that is too short to  be effective at encouraging investment or </a:t>
            </a:r>
            <a:r>
              <a:rPr dirty="0" sz="1100">
                <a:latin typeface="Arial"/>
                <a:cs typeface="Arial"/>
              </a:rPr>
              <a:t>requiring </a:t>
            </a:r>
            <a:r>
              <a:rPr dirty="0" sz="1100" spc="-5">
                <a:latin typeface="Arial"/>
                <a:cs typeface="Arial"/>
              </a:rPr>
              <a:t>costly and cumbersome documentation, as  stressed by Africa expert Paul</a:t>
            </a:r>
            <a:r>
              <a:rPr dirty="0" sz="1100" spc="15">
                <a:latin typeface="Arial"/>
                <a:cs typeface="Arial"/>
              </a:rPr>
              <a:t> </a:t>
            </a:r>
            <a:r>
              <a:rPr dirty="0" sz="1100" spc="-5">
                <a:latin typeface="Arial"/>
                <a:cs typeface="Arial"/>
              </a:rPr>
              <a:t>Collier.</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IMPORT SUBSTITUTION: LOOKING INWARD BUT STILL PAYING</a:t>
            </a:r>
            <a:r>
              <a:rPr dirty="0" sz="1100" spc="60" b="1">
                <a:latin typeface="Arial"/>
                <a:cs typeface="Arial"/>
              </a:rPr>
              <a:t> </a:t>
            </a:r>
            <a:r>
              <a:rPr dirty="0" sz="1100" spc="-5" b="1">
                <a:latin typeface="Arial"/>
                <a:cs typeface="Arial"/>
              </a:rPr>
              <a:t>OUTWARD</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900"/>
              </a:lnSpc>
            </a:pPr>
            <a:r>
              <a:rPr dirty="0" sz="1100" spc="-5">
                <a:latin typeface="Arial"/>
                <a:cs typeface="Arial"/>
              </a:rPr>
              <a:t>Observing weak world markets for their primary products and subscribing to the widespread  belief in the magic of industrialization and the Prebisch- Singer hypothesis, developing nations  turned to an import substitution strategy of </a:t>
            </a:r>
            <a:r>
              <a:rPr dirty="0" sz="1100">
                <a:latin typeface="Arial"/>
                <a:cs typeface="Arial"/>
              </a:rPr>
              <a:t>urban </a:t>
            </a:r>
            <a:r>
              <a:rPr dirty="0" sz="1100" spc="-5">
                <a:latin typeface="Arial"/>
                <a:cs typeface="Arial"/>
              </a:rPr>
              <a:t>industrial development in the post–World War  II decades. Some countries still follow this strategy for both economic and political reasons,  although pressure from the WTO, IMF, and World Bank impose high opportunity costs on such  endeavors. As noted earlier, import substitution entails an attempt to replace commodities that  are being imported, usually manufactured consumer goods, with domestic sources of production  and supply. The typical strategy is first to erect tariff barriers or quotas on certain imported  commodities</a:t>
            </a:r>
            <a:r>
              <a:rPr dirty="0" sz="1100" spc="100">
                <a:latin typeface="Arial"/>
                <a:cs typeface="Arial"/>
              </a:rPr>
              <a:t> </a:t>
            </a:r>
            <a:r>
              <a:rPr dirty="0" sz="1100" spc="-5">
                <a:latin typeface="Arial"/>
                <a:cs typeface="Arial"/>
              </a:rPr>
              <a:t>and</a:t>
            </a:r>
            <a:r>
              <a:rPr dirty="0" sz="1100" spc="100">
                <a:latin typeface="Arial"/>
                <a:cs typeface="Arial"/>
              </a:rPr>
              <a:t> </a:t>
            </a:r>
            <a:r>
              <a:rPr dirty="0" sz="1100" spc="-5">
                <a:latin typeface="Arial"/>
                <a:cs typeface="Arial"/>
              </a:rPr>
              <a:t>then</a:t>
            </a:r>
            <a:r>
              <a:rPr dirty="0" sz="1100" spc="105">
                <a:latin typeface="Arial"/>
                <a:cs typeface="Arial"/>
              </a:rPr>
              <a:t> </a:t>
            </a:r>
            <a:r>
              <a:rPr dirty="0" sz="1100">
                <a:latin typeface="Arial"/>
                <a:cs typeface="Arial"/>
              </a:rPr>
              <a:t>to</a:t>
            </a:r>
            <a:r>
              <a:rPr dirty="0" sz="1100" spc="100">
                <a:latin typeface="Arial"/>
                <a:cs typeface="Arial"/>
              </a:rPr>
              <a:t> </a:t>
            </a:r>
            <a:r>
              <a:rPr dirty="0" sz="1100" spc="-5">
                <a:latin typeface="Arial"/>
                <a:cs typeface="Arial"/>
              </a:rPr>
              <a:t>try</a:t>
            </a:r>
            <a:r>
              <a:rPr dirty="0" sz="1100" spc="105">
                <a:latin typeface="Arial"/>
                <a:cs typeface="Arial"/>
              </a:rPr>
              <a:t> </a:t>
            </a:r>
            <a:r>
              <a:rPr dirty="0" sz="1100" spc="-5">
                <a:latin typeface="Arial"/>
                <a:cs typeface="Arial"/>
              </a:rPr>
              <a:t>to</a:t>
            </a:r>
            <a:r>
              <a:rPr dirty="0" sz="1100" spc="100">
                <a:latin typeface="Arial"/>
                <a:cs typeface="Arial"/>
              </a:rPr>
              <a:t> </a:t>
            </a:r>
            <a:r>
              <a:rPr dirty="0" sz="1100" spc="-5">
                <a:latin typeface="Arial"/>
                <a:cs typeface="Arial"/>
              </a:rPr>
              <a:t>set</a:t>
            </a:r>
            <a:r>
              <a:rPr dirty="0" sz="1100" spc="110">
                <a:latin typeface="Arial"/>
                <a:cs typeface="Arial"/>
              </a:rPr>
              <a:t> </a:t>
            </a:r>
            <a:r>
              <a:rPr dirty="0" sz="1100" spc="-5">
                <a:latin typeface="Arial"/>
                <a:cs typeface="Arial"/>
              </a:rPr>
              <a:t>up</a:t>
            </a:r>
            <a:r>
              <a:rPr dirty="0" sz="1100" spc="100">
                <a:latin typeface="Arial"/>
                <a:cs typeface="Arial"/>
              </a:rPr>
              <a:t> </a:t>
            </a:r>
            <a:r>
              <a:rPr dirty="0" sz="1100" spc="-5">
                <a:latin typeface="Arial"/>
                <a:cs typeface="Arial"/>
              </a:rPr>
              <a:t>a</a:t>
            </a:r>
            <a:r>
              <a:rPr dirty="0" sz="1100" spc="105">
                <a:latin typeface="Arial"/>
                <a:cs typeface="Arial"/>
              </a:rPr>
              <a:t> </a:t>
            </a:r>
            <a:r>
              <a:rPr dirty="0" sz="1100" spc="-5">
                <a:latin typeface="Arial"/>
                <a:cs typeface="Arial"/>
              </a:rPr>
              <a:t>local</a:t>
            </a:r>
            <a:r>
              <a:rPr dirty="0" sz="1100" spc="100">
                <a:latin typeface="Arial"/>
                <a:cs typeface="Arial"/>
              </a:rPr>
              <a:t> </a:t>
            </a:r>
            <a:r>
              <a:rPr dirty="0" sz="1100" spc="-5">
                <a:latin typeface="Arial"/>
                <a:cs typeface="Arial"/>
              </a:rPr>
              <a:t>industry</a:t>
            </a:r>
            <a:r>
              <a:rPr dirty="0" sz="1100" spc="105">
                <a:latin typeface="Arial"/>
                <a:cs typeface="Arial"/>
              </a:rPr>
              <a:t> </a:t>
            </a:r>
            <a:r>
              <a:rPr dirty="0" sz="1100" spc="-5">
                <a:latin typeface="Arial"/>
                <a:cs typeface="Arial"/>
              </a:rPr>
              <a:t>to</a:t>
            </a:r>
            <a:r>
              <a:rPr dirty="0" sz="1100" spc="100">
                <a:latin typeface="Arial"/>
                <a:cs typeface="Arial"/>
              </a:rPr>
              <a:t> </a:t>
            </a:r>
            <a:r>
              <a:rPr dirty="0" sz="1100" spc="-5">
                <a:latin typeface="Arial"/>
                <a:cs typeface="Arial"/>
              </a:rPr>
              <a:t>produce</a:t>
            </a:r>
            <a:r>
              <a:rPr dirty="0" sz="1100" spc="105">
                <a:latin typeface="Arial"/>
                <a:cs typeface="Arial"/>
              </a:rPr>
              <a:t> </a:t>
            </a:r>
            <a:r>
              <a:rPr dirty="0" sz="1100" spc="-5">
                <a:latin typeface="Arial"/>
                <a:cs typeface="Arial"/>
              </a:rPr>
              <a:t>these</a:t>
            </a:r>
            <a:r>
              <a:rPr dirty="0" sz="1100" spc="100">
                <a:latin typeface="Arial"/>
                <a:cs typeface="Arial"/>
              </a:rPr>
              <a:t> </a:t>
            </a:r>
            <a:r>
              <a:rPr dirty="0" sz="1100" spc="-5">
                <a:latin typeface="Arial"/>
                <a:cs typeface="Arial"/>
              </a:rPr>
              <a:t>goods—items</a:t>
            </a:r>
            <a:r>
              <a:rPr dirty="0" sz="1100" spc="105">
                <a:latin typeface="Arial"/>
                <a:cs typeface="Arial"/>
              </a:rPr>
              <a:t> </a:t>
            </a:r>
            <a:r>
              <a:rPr dirty="0" sz="1100" spc="-5">
                <a:latin typeface="Arial"/>
                <a:cs typeface="Arial"/>
              </a:rPr>
              <a:t>such</a:t>
            </a:r>
            <a:r>
              <a:rPr dirty="0" sz="1100" spc="100">
                <a:latin typeface="Arial"/>
                <a:cs typeface="Arial"/>
              </a:rPr>
              <a:t> </a:t>
            </a:r>
            <a:r>
              <a:rPr dirty="0" sz="1100" spc="-5">
                <a:latin typeface="Arial"/>
                <a:cs typeface="Arial"/>
              </a:rPr>
              <a:t>as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260</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2" y="891794"/>
            <a:ext cx="5970270" cy="600011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radios, bicycles, or household appliances. Typically, this involves joint ventures with foreign  companies, which are encouraged to set up their plants behind the wall of tariff protection and  given all kinds of tax and investment</a:t>
            </a:r>
            <a:r>
              <a:rPr dirty="0" sz="1100" spc="35">
                <a:latin typeface="Arial"/>
                <a:cs typeface="Arial"/>
              </a:rPr>
              <a:t> </a:t>
            </a:r>
            <a:r>
              <a:rPr dirty="0" sz="1100" spc="-5">
                <a:latin typeface="Arial"/>
                <a:cs typeface="Arial"/>
              </a:rPr>
              <a:t>incentives.</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900"/>
              </a:lnSpc>
            </a:pPr>
            <a:r>
              <a:rPr dirty="0" sz="1100" spc="-5">
                <a:latin typeface="Arial"/>
                <a:cs typeface="Arial"/>
              </a:rPr>
              <a:t>Although initial costs of production </a:t>
            </a:r>
            <a:r>
              <a:rPr dirty="0" sz="1100">
                <a:latin typeface="Arial"/>
                <a:cs typeface="Arial"/>
              </a:rPr>
              <a:t>may </a:t>
            </a:r>
            <a:r>
              <a:rPr dirty="0" sz="1100" spc="-5">
                <a:latin typeface="Arial"/>
                <a:cs typeface="Arial"/>
              </a:rPr>
              <a:t>be higher than former import prices, the economic  rationale put forward for the establishment of import-substituting manufacturing operations is  either that the industry will eventually be able to reap the benefits of large-scale production and  lower costs (the so-called infant industry argument for tariff protection) or that the balance of  payments </a:t>
            </a:r>
            <a:r>
              <a:rPr dirty="0" sz="1100">
                <a:latin typeface="Arial"/>
                <a:cs typeface="Arial"/>
              </a:rPr>
              <a:t>will </a:t>
            </a:r>
            <a:r>
              <a:rPr dirty="0" sz="1100" spc="-5">
                <a:latin typeface="Arial"/>
                <a:cs typeface="Arial"/>
              </a:rPr>
              <a:t>be improved as fewer consumer goods are imported. Often a combination of both  arguments is advanced. Eventually, it is hoped, </a:t>
            </a:r>
            <a:r>
              <a:rPr dirty="0" sz="1100">
                <a:latin typeface="Arial"/>
                <a:cs typeface="Arial"/>
              </a:rPr>
              <a:t>the </a:t>
            </a:r>
            <a:r>
              <a:rPr dirty="0" sz="1100" spc="-5">
                <a:latin typeface="Arial"/>
                <a:cs typeface="Arial"/>
              </a:rPr>
              <a:t>infant industry will grow up </a:t>
            </a:r>
            <a:r>
              <a:rPr dirty="0" sz="1100">
                <a:latin typeface="Arial"/>
                <a:cs typeface="Arial"/>
              </a:rPr>
              <a:t>and </a:t>
            </a:r>
            <a:r>
              <a:rPr dirty="0" sz="1100" spc="-5">
                <a:latin typeface="Arial"/>
                <a:cs typeface="Arial"/>
              </a:rPr>
              <a:t>be able to  compete in world markets. It will then be able to generate net foreign exchange earnings once it  has lowered its average costs of production. Let us see how the theory of protection can be  used to demonstrate this</a:t>
            </a:r>
            <a:r>
              <a:rPr dirty="0" sz="1100" spc="15">
                <a:latin typeface="Arial"/>
                <a:cs typeface="Arial"/>
              </a:rPr>
              <a:t> </a:t>
            </a:r>
            <a:r>
              <a:rPr dirty="0" sz="1100" spc="-5">
                <a:latin typeface="Arial"/>
                <a:cs typeface="Arial"/>
              </a:rPr>
              <a:t>process.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TARIFFS, INFANT INDUSTRIES, AND </a:t>
            </a:r>
            <a:r>
              <a:rPr dirty="0" sz="1100" b="1">
                <a:latin typeface="Arial"/>
                <a:cs typeface="Arial"/>
              </a:rPr>
              <a:t>THE </a:t>
            </a:r>
            <a:r>
              <a:rPr dirty="0" sz="1100" spc="-5" b="1">
                <a:latin typeface="Arial"/>
                <a:cs typeface="Arial"/>
              </a:rPr>
              <a:t>THEORY OF</a:t>
            </a:r>
            <a:r>
              <a:rPr dirty="0" sz="1100" spc="40" b="1">
                <a:latin typeface="Arial"/>
                <a:cs typeface="Arial"/>
              </a:rPr>
              <a:t> </a:t>
            </a:r>
            <a:r>
              <a:rPr dirty="0" sz="1100" spc="-5" b="1">
                <a:latin typeface="Arial"/>
                <a:cs typeface="Arial"/>
              </a:rPr>
              <a:t>PROTECTION</a:t>
            </a:r>
            <a:endParaRPr sz="1100">
              <a:latin typeface="Arial"/>
              <a:cs typeface="Arial"/>
            </a:endParaRPr>
          </a:p>
          <a:p>
            <a:pPr>
              <a:lnSpc>
                <a:spcPct val="100000"/>
              </a:lnSpc>
              <a:spcBef>
                <a:spcPts val="55"/>
              </a:spcBef>
            </a:pPr>
            <a:endParaRPr sz="1250">
              <a:latin typeface="Arial"/>
              <a:cs typeface="Arial"/>
            </a:endParaRPr>
          </a:p>
          <a:p>
            <a:pPr marL="469900" marR="7620" indent="-228600">
              <a:lnSpc>
                <a:spcPts val="1260"/>
              </a:lnSpc>
              <a:buFont typeface="Symbol"/>
              <a:buChar char=""/>
              <a:tabLst>
                <a:tab pos="469265" algn="l"/>
                <a:tab pos="469900" algn="l"/>
              </a:tabLst>
            </a:pPr>
            <a:r>
              <a:rPr dirty="0" sz="1100" spc="-5" b="1">
                <a:latin typeface="Arial"/>
                <a:cs typeface="Arial"/>
              </a:rPr>
              <a:t>Infant industry: </a:t>
            </a:r>
            <a:r>
              <a:rPr dirty="0" sz="1100" spc="-5">
                <a:latin typeface="Arial"/>
                <a:cs typeface="Arial"/>
              </a:rPr>
              <a:t>A </a:t>
            </a:r>
            <a:r>
              <a:rPr dirty="0" sz="1100">
                <a:latin typeface="Arial"/>
                <a:cs typeface="Arial"/>
              </a:rPr>
              <a:t>newly </a:t>
            </a:r>
            <a:r>
              <a:rPr dirty="0" sz="1100" spc="-5">
                <a:latin typeface="Arial"/>
                <a:cs typeface="Arial"/>
              </a:rPr>
              <a:t>established industry, usually protected by a tariff barrier as part  of a policy of import</a:t>
            </a:r>
            <a:r>
              <a:rPr dirty="0" sz="1100" spc="20">
                <a:latin typeface="Arial"/>
                <a:cs typeface="Arial"/>
              </a:rPr>
              <a:t> </a:t>
            </a:r>
            <a:r>
              <a:rPr dirty="0" sz="1100" spc="-5">
                <a:latin typeface="Arial"/>
                <a:cs typeface="Arial"/>
              </a:rPr>
              <a:t>substitution.</a:t>
            </a:r>
            <a:endParaRPr sz="1100">
              <a:latin typeface="Arial"/>
              <a:cs typeface="Arial"/>
            </a:endParaRPr>
          </a:p>
          <a:p>
            <a:pPr>
              <a:lnSpc>
                <a:spcPct val="100000"/>
              </a:lnSpc>
              <a:spcBef>
                <a:spcPts val="25"/>
              </a:spcBef>
            </a:pPr>
            <a:endParaRPr sz="1050">
              <a:latin typeface="Arial"/>
              <a:cs typeface="Arial"/>
            </a:endParaRPr>
          </a:p>
          <a:p>
            <a:pPr algn="just" marL="12700" marR="5080">
              <a:lnSpc>
                <a:spcPct val="95900"/>
              </a:lnSpc>
            </a:pPr>
            <a:r>
              <a:rPr dirty="0" sz="1100" spc="-5">
                <a:latin typeface="Arial"/>
                <a:cs typeface="Arial"/>
              </a:rPr>
              <a:t>A principal mechanism of the import substitution strategy is the erection of protective tariffs  (taxes on imports) or quotas (limits on the quantity of imports) behind which IS industries are  permitted to operate. The basic economic rationale for such protection is the infant-industry  argument. Tariff protection against the imported commodity is needed, so the argument goes, in  order to allow the now higher-priced domestic producers enough time to </a:t>
            </a:r>
            <a:r>
              <a:rPr dirty="0" sz="1100">
                <a:latin typeface="Arial"/>
                <a:cs typeface="Arial"/>
              </a:rPr>
              <a:t>learn </a:t>
            </a:r>
            <a:r>
              <a:rPr dirty="0" sz="1100" spc="-5">
                <a:latin typeface="Arial"/>
                <a:cs typeface="Arial"/>
              </a:rPr>
              <a:t>the business and  to achieve </a:t>
            </a:r>
            <a:r>
              <a:rPr dirty="0" sz="1100">
                <a:latin typeface="Arial"/>
                <a:cs typeface="Arial"/>
              </a:rPr>
              <a:t>the </a:t>
            </a:r>
            <a:r>
              <a:rPr dirty="0" sz="1100" spc="-5">
                <a:latin typeface="Arial"/>
                <a:cs typeface="Arial"/>
              </a:rPr>
              <a:t>economies of scale in </a:t>
            </a:r>
            <a:r>
              <a:rPr dirty="0" sz="1100">
                <a:latin typeface="Arial"/>
                <a:cs typeface="Arial"/>
              </a:rPr>
              <a:t>production </a:t>
            </a:r>
            <a:r>
              <a:rPr dirty="0" sz="1100" spc="-5">
                <a:latin typeface="Arial"/>
                <a:cs typeface="Arial"/>
              </a:rPr>
              <a:t>and the external economies of learning by  doing that are necessary to </a:t>
            </a:r>
            <a:r>
              <a:rPr dirty="0" sz="1100">
                <a:latin typeface="Arial"/>
                <a:cs typeface="Arial"/>
              </a:rPr>
              <a:t>lower </a:t>
            </a:r>
            <a:r>
              <a:rPr dirty="0" sz="1100" spc="-5">
                <a:latin typeface="Arial"/>
                <a:cs typeface="Arial"/>
              </a:rPr>
              <a:t>unit costs and prices. With enough time </a:t>
            </a:r>
            <a:r>
              <a:rPr dirty="0" sz="1100">
                <a:latin typeface="Arial"/>
                <a:cs typeface="Arial"/>
              </a:rPr>
              <a:t>and </a:t>
            </a:r>
            <a:r>
              <a:rPr dirty="0" sz="1100" spc="-5">
                <a:latin typeface="Arial"/>
                <a:cs typeface="Arial"/>
              </a:rPr>
              <a:t>sufficient  protection, the infant will eventually grow up, </a:t>
            </a:r>
            <a:r>
              <a:rPr dirty="0" sz="1100">
                <a:latin typeface="Arial"/>
                <a:cs typeface="Arial"/>
              </a:rPr>
              <a:t>be </a:t>
            </a:r>
            <a:r>
              <a:rPr dirty="0" sz="1100" spc="-5">
                <a:latin typeface="Arial"/>
                <a:cs typeface="Arial"/>
              </a:rPr>
              <a:t>directly competitive with developed-country  producers, and no longer need this</a:t>
            </a:r>
            <a:r>
              <a:rPr dirty="0" sz="1100" spc="15">
                <a:latin typeface="Arial"/>
                <a:cs typeface="Arial"/>
              </a:rPr>
              <a:t> </a:t>
            </a:r>
            <a:r>
              <a:rPr dirty="0" sz="1100" spc="-5">
                <a:latin typeface="Arial"/>
                <a:cs typeface="Arial"/>
              </a:rPr>
              <a:t>protection.</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Ultimately, as actually seen in the case of many formerly protected IS industries in South Korea  and Taiwan, domestic producers hope to be able not only </a:t>
            </a:r>
            <a:r>
              <a:rPr dirty="0" sz="1100">
                <a:latin typeface="Arial"/>
                <a:cs typeface="Arial"/>
              </a:rPr>
              <a:t>to </a:t>
            </a:r>
            <a:r>
              <a:rPr dirty="0" sz="1100" spc="-5">
                <a:latin typeface="Arial"/>
                <a:cs typeface="Arial"/>
              </a:rPr>
              <a:t>produce for the domestic market  without a tariff wall or government subsidies but also to export their now lower-cost  manufactured goods to the rest of the world. Thus for many developing-country industries, in  theory, an </a:t>
            </a:r>
            <a:r>
              <a:rPr dirty="0" sz="1100">
                <a:latin typeface="Arial"/>
                <a:cs typeface="Arial"/>
              </a:rPr>
              <a:t>IS </a:t>
            </a:r>
            <a:r>
              <a:rPr dirty="0" sz="1100" spc="-5">
                <a:latin typeface="Arial"/>
                <a:cs typeface="Arial"/>
              </a:rPr>
              <a:t>strategy becomes the prerequisite for an EP strategy. It is for this reason, among  others (including the desire to reduce dependence and attain greater self-reliance, the need to  build a domestic industrial base, and the ease of raising substantial tax revenue from </a:t>
            </a:r>
            <a:r>
              <a:rPr dirty="0" sz="1100">
                <a:latin typeface="Arial"/>
                <a:cs typeface="Arial"/>
              </a:rPr>
              <a:t>tariff  </a:t>
            </a:r>
            <a:r>
              <a:rPr dirty="0" sz="1100" spc="-5">
                <a:latin typeface="Arial"/>
                <a:cs typeface="Arial"/>
              </a:rPr>
              <a:t>collections), that import substitution has been appealing to so many</a:t>
            </a:r>
            <a:r>
              <a:rPr dirty="0" sz="1100" spc="85">
                <a:latin typeface="Arial"/>
                <a:cs typeface="Arial"/>
              </a:rPr>
              <a:t> </a:t>
            </a:r>
            <a:r>
              <a:rPr dirty="0" sz="1100" spc="-5">
                <a:latin typeface="Arial"/>
                <a:cs typeface="Arial"/>
              </a:rPr>
              <a:t>governments.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261</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7730"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The basic theory of protection is an old and controversial issue in the field of international trade.  It is relatively simple to demonstrate. Consider Figure</a:t>
            </a:r>
            <a:r>
              <a:rPr dirty="0" sz="1100" spc="45">
                <a:latin typeface="Arial"/>
                <a:cs typeface="Arial"/>
              </a:rPr>
              <a:t> </a:t>
            </a:r>
            <a:r>
              <a:rPr dirty="0" sz="1100" spc="-5">
                <a:latin typeface="Arial"/>
                <a:cs typeface="Arial"/>
              </a:rPr>
              <a:t>12.3.</a:t>
            </a:r>
            <a:endParaRPr sz="1100">
              <a:latin typeface="Arial"/>
              <a:cs typeface="Arial"/>
            </a:endParaRPr>
          </a:p>
        </p:txBody>
      </p:sp>
      <p:sp>
        <p:nvSpPr>
          <p:cNvPr id="7" name="object 7"/>
          <p:cNvSpPr txBox="1"/>
          <p:nvPr/>
        </p:nvSpPr>
        <p:spPr>
          <a:xfrm>
            <a:off x="901700" y="6807204"/>
            <a:ext cx="5970270" cy="195961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top portion of the figure shows standard domestic supply and demand curves for the  industry in question (say, shoes) if there was no international trade—that is, in a closed  economy. The equilibrium home price and quantity would be P1 and Q1. If this country were  then to open its economy to world trade, its small size in relation to the world market would  mean that it would face a horizontal, perfectly elastic demand curve. In other words, it could sell  (or buy) all it wanted at a lower </a:t>
            </a:r>
            <a:r>
              <a:rPr dirty="0" sz="1100">
                <a:latin typeface="Arial"/>
                <a:cs typeface="Arial"/>
              </a:rPr>
              <a:t>world </a:t>
            </a:r>
            <a:r>
              <a:rPr dirty="0" sz="1100" spc="-5">
                <a:latin typeface="Arial"/>
                <a:cs typeface="Arial"/>
              </a:rPr>
              <a:t>price, P2. Domestic consumers would benefit from the  lower price of imports and the resultant greater quantity purchased, while domestic producers  and their employees would clearly suffer as they lose business to lower-cost foreign suppliers.  Thus at the lower world price, P2, the quantity demanded rises from Q1 to Q3, whereas the  quantity supplied by domestic producers falls from Q1 to Q2. The difference between </a:t>
            </a:r>
            <a:r>
              <a:rPr dirty="0" sz="1100">
                <a:latin typeface="Arial"/>
                <a:cs typeface="Arial"/>
              </a:rPr>
              <a:t>what  </a:t>
            </a:r>
            <a:r>
              <a:rPr dirty="0" sz="1100" spc="-5">
                <a:latin typeface="Arial"/>
                <a:cs typeface="Arial"/>
              </a:rPr>
              <a:t>domestic producers are willing to supply at the lower P2 world price (Q2) and what consumers  want to buy (Q3) is the amount that will be imported— shown as line ab in Figure</a:t>
            </a:r>
            <a:r>
              <a:rPr dirty="0" sz="1100" spc="155">
                <a:latin typeface="Arial"/>
                <a:cs typeface="Arial"/>
              </a:rPr>
              <a:t> </a:t>
            </a:r>
            <a:r>
              <a:rPr dirty="0" sz="1100" spc="-5">
                <a:latin typeface="Arial"/>
                <a:cs typeface="Arial"/>
              </a:rPr>
              <a:t>12.3.</a:t>
            </a:r>
            <a:endParaRPr sz="1100">
              <a:latin typeface="Arial"/>
              <a:cs typeface="Arial"/>
            </a:endParaRPr>
          </a:p>
        </p:txBody>
      </p:sp>
      <p:sp>
        <p:nvSpPr>
          <p:cNvPr id="8" name="object 8"/>
          <p:cNvSpPr/>
          <p:nvPr/>
        </p:nvSpPr>
        <p:spPr>
          <a:xfrm>
            <a:off x="1547622" y="1376933"/>
            <a:ext cx="4852416" cy="5413309"/>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262</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420878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Facing the potential loss of domestic production and jobs as a result of free trade and desiring  to obtain infant-industry protection, local </a:t>
            </a:r>
            <a:r>
              <a:rPr dirty="0" sz="1100">
                <a:latin typeface="Arial"/>
                <a:cs typeface="Arial"/>
              </a:rPr>
              <a:t>producers </a:t>
            </a:r>
            <a:r>
              <a:rPr dirty="0" sz="1100" spc="-5">
                <a:latin typeface="Arial"/>
                <a:cs typeface="Arial"/>
              </a:rPr>
              <a:t>will seek tariff relief from the government.  The effects of a tariff (equal to t0) are shown in the lower half of Figure 12.3. The tariff causes  the domestic price of shoes to rise from P2 to Pt—that is, Pt _ P2 (1 + t0). Local consumers </a:t>
            </a:r>
            <a:r>
              <a:rPr dirty="0" sz="1100">
                <a:latin typeface="Arial"/>
                <a:cs typeface="Arial"/>
              </a:rPr>
              <a:t>now  </a:t>
            </a:r>
            <a:r>
              <a:rPr dirty="0" sz="1100" spc="-5">
                <a:latin typeface="Arial"/>
                <a:cs typeface="Arial"/>
              </a:rPr>
              <a:t>have to </a:t>
            </a:r>
            <a:r>
              <a:rPr dirty="0" sz="1100">
                <a:latin typeface="Arial"/>
                <a:cs typeface="Arial"/>
              </a:rPr>
              <a:t>pay </a:t>
            </a:r>
            <a:r>
              <a:rPr dirty="0" sz="1100" spc="-5">
                <a:latin typeface="Arial"/>
                <a:cs typeface="Arial"/>
              </a:rPr>
              <a:t>the higher price and will reduce their quantity demanded from Q3 to Q5. Domestic  producers can now expand production (and employment) up to quantity Q4 </a:t>
            </a:r>
            <a:r>
              <a:rPr dirty="0" sz="1100">
                <a:latin typeface="Arial"/>
                <a:cs typeface="Arial"/>
              </a:rPr>
              <a:t>from </a:t>
            </a:r>
            <a:r>
              <a:rPr dirty="0" sz="1100" spc="-5">
                <a:latin typeface="Arial"/>
                <a:cs typeface="Arial"/>
              </a:rPr>
              <a:t>Q2. The  rectangular area cdfe measures the amount of the tariff revenue collected by the government on  imported shoes.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Clearly, the higher the tariff, the closer to the domestic price the sum </a:t>
            </a:r>
            <a:r>
              <a:rPr dirty="0" sz="1100">
                <a:latin typeface="Arial"/>
                <a:cs typeface="Arial"/>
              </a:rPr>
              <a:t>of </a:t>
            </a:r>
            <a:r>
              <a:rPr dirty="0" sz="1100" spc="-5">
                <a:latin typeface="Arial"/>
                <a:cs typeface="Arial"/>
              </a:rPr>
              <a:t>the world </a:t>
            </a:r>
            <a:r>
              <a:rPr dirty="0" sz="1100">
                <a:latin typeface="Arial"/>
                <a:cs typeface="Arial"/>
              </a:rPr>
              <a:t>price </a:t>
            </a:r>
            <a:r>
              <a:rPr dirty="0" sz="1100" spc="-5">
                <a:latin typeface="Arial"/>
                <a:cs typeface="Arial"/>
              </a:rPr>
              <a:t>plus the  import tax will be. In the classic infant-industry IS scenario, the tariff may be so high that it raises  the price of the imported product above P1 to, say, P3 in the upper diagram of Figure 12.3, so  that imports are effectively prohibited and the </a:t>
            </a:r>
            <a:r>
              <a:rPr dirty="0" sz="1100">
                <a:latin typeface="Arial"/>
                <a:cs typeface="Arial"/>
              </a:rPr>
              <a:t>local </a:t>
            </a:r>
            <a:r>
              <a:rPr dirty="0" sz="1100" spc="-5">
                <a:latin typeface="Arial"/>
                <a:cs typeface="Arial"/>
              </a:rPr>
              <a:t>industry is allowed to operate behind a fully  protective tariff wall, once again selling Q1 output at P1 price. In the short run, it is clear that the  impact of such a prohibitive tariff is to penalize consumers, who are in effect subsidizing  domestic producers and their employees through higher prices and lower</a:t>
            </a:r>
            <a:r>
              <a:rPr dirty="0" sz="1100" spc="114">
                <a:latin typeface="Arial"/>
                <a:cs typeface="Arial"/>
              </a:rPr>
              <a:t> </a:t>
            </a:r>
            <a:r>
              <a:rPr dirty="0" sz="1100" spc="-5">
                <a:latin typeface="Arial"/>
                <a:cs typeface="Arial"/>
              </a:rPr>
              <a:t>consumption.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Alternatively, we can say that a </a:t>
            </a:r>
            <a:r>
              <a:rPr dirty="0" sz="1100">
                <a:latin typeface="Arial"/>
                <a:cs typeface="Arial"/>
              </a:rPr>
              <a:t>tariff </a:t>
            </a:r>
            <a:r>
              <a:rPr dirty="0" sz="1100" spc="-5">
                <a:latin typeface="Arial"/>
                <a:cs typeface="Arial"/>
              </a:rPr>
              <a:t>redistributes income </a:t>
            </a:r>
            <a:r>
              <a:rPr dirty="0" sz="1100">
                <a:latin typeface="Arial"/>
                <a:cs typeface="Arial"/>
              </a:rPr>
              <a:t>from </a:t>
            </a:r>
            <a:r>
              <a:rPr dirty="0" sz="1100" spc="-5">
                <a:latin typeface="Arial"/>
                <a:cs typeface="Arial"/>
              </a:rPr>
              <a:t>consumers to producers.  However, in the longer run, advocates of IS protection for infant industries argue that everyone  will benefit as domestic and other shoe manufacturers reap the benefits of economies of scale  and learning by doing so that ultimately the domestic price falls below P2 (the world price).  Production will then occur for both the domestic and world markets, domestic consumers as well  as domestic producers and their employees will benefit, protective tariffs can be removed, and  the government will be able to replace any lost tariff revenue with taxes on the now very much  higher incomes of domestic manufactures. It all sounds logical and persuasive in theory. But  how has it performed in</a:t>
            </a:r>
            <a:r>
              <a:rPr dirty="0" sz="1100" spc="20">
                <a:latin typeface="Arial"/>
                <a:cs typeface="Arial"/>
              </a:rPr>
              <a:t> </a:t>
            </a:r>
            <a:r>
              <a:rPr dirty="0" sz="1100" spc="-5">
                <a:latin typeface="Arial"/>
                <a:cs typeface="Arial"/>
              </a:rPr>
              <a:t>practice?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263</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107045"/>
          </a:xfrm>
          <a:prstGeom prst="rect">
            <a:avLst/>
          </a:prstGeom>
        </p:spPr>
        <p:txBody>
          <a:bodyPr wrap="square" lIns="0" tIns="12065" rIns="0" bIns="0" rtlCol="0" vert="horz">
            <a:spAutoFit/>
          </a:bodyPr>
          <a:lstStyle/>
          <a:p>
            <a:pPr algn="r" marR="635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39</a:t>
            </a:r>
            <a:endParaRPr sz="1100">
              <a:latin typeface="Arial"/>
              <a:cs typeface="Arial"/>
            </a:endParaRPr>
          </a:p>
          <a:p>
            <a:pPr marL="12700" marR="196850" indent="189230">
              <a:lnSpc>
                <a:spcPct val="191400"/>
              </a:lnSpc>
              <a:spcBef>
                <a:spcPts val="15"/>
              </a:spcBef>
            </a:pPr>
            <a:r>
              <a:rPr dirty="0" sz="1100" spc="-5" b="1">
                <a:latin typeface="Arial"/>
                <a:cs typeface="Arial"/>
              </a:rPr>
              <a:t>INTERNATIONAL TRADE THEORY AND DEVELOPMENT STRATEGY (CONTINUED5)  THE IS INDUSTRIALIZATION STRATEGY </a:t>
            </a:r>
            <a:r>
              <a:rPr dirty="0" sz="1100" b="1">
                <a:latin typeface="Arial"/>
                <a:cs typeface="Arial"/>
              </a:rPr>
              <a:t>AND</a:t>
            </a:r>
            <a:r>
              <a:rPr dirty="0" sz="1100" spc="25" b="1">
                <a:latin typeface="Arial"/>
                <a:cs typeface="Arial"/>
              </a:rPr>
              <a:t> </a:t>
            </a:r>
            <a:r>
              <a:rPr dirty="0" sz="1100" spc="-5" b="1">
                <a:latin typeface="Arial"/>
                <a:cs typeface="Arial"/>
              </a:rPr>
              <a:t>RESULTS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Most observers agree that the import-substituting strategy of industrialization has been largely  unsuccessful. Specifically, there </a:t>
            </a:r>
            <a:r>
              <a:rPr dirty="0" sz="1100">
                <a:latin typeface="Arial"/>
                <a:cs typeface="Arial"/>
              </a:rPr>
              <a:t>have </a:t>
            </a:r>
            <a:r>
              <a:rPr dirty="0" sz="1100" spc="-5">
                <a:latin typeface="Arial"/>
                <a:cs typeface="Arial"/>
              </a:rPr>
              <a:t>been five undesirable outcomes. First, secure behind  protective tariff walls and immune from competitive pressures, many IS industries (both publicly  and privately owned) remain inefficient and costly to operate. Second, the main beneficiaries of  the import substitution process have been the foreign firms that were able to locate behind tariff  walls and take advantage of liberal tax and investment incentives. After deducting interest,  profits, and royalty and management fees, much of which are remitted abroad, the little that may  be left over usually accrues to the wealthy local industrialists with whom foreign manufacturers  cooperate and who provide their political and economic cover. Third, most import substitution  has been made possible by the heavy and </a:t>
            </a:r>
            <a:r>
              <a:rPr dirty="0" sz="1100">
                <a:latin typeface="Arial"/>
                <a:cs typeface="Arial"/>
              </a:rPr>
              <a:t>often </a:t>
            </a:r>
            <a:r>
              <a:rPr dirty="0" sz="1100" spc="-5">
                <a:latin typeface="Arial"/>
                <a:cs typeface="Arial"/>
              </a:rPr>
              <a:t>government-subsidized importation of capital  goods and intermediate products by foreign </a:t>
            </a:r>
            <a:r>
              <a:rPr dirty="0" sz="1100">
                <a:latin typeface="Arial"/>
                <a:cs typeface="Arial"/>
              </a:rPr>
              <a:t>and </a:t>
            </a:r>
            <a:r>
              <a:rPr dirty="0" sz="1100" spc="-5">
                <a:latin typeface="Arial"/>
                <a:cs typeface="Arial"/>
              </a:rPr>
              <a:t>domestic companies. In the case of foreign  companies, much of this is purchased from parent and sister companies abroad. There are two  immediate results. On the one hand, capital-intensive industries are set up, usually catering to  the consumption habits of the rich while having a minimal employment effect. On the </a:t>
            </a:r>
            <a:r>
              <a:rPr dirty="0" sz="1100">
                <a:latin typeface="Arial"/>
                <a:cs typeface="Arial"/>
              </a:rPr>
              <a:t>other  </a:t>
            </a:r>
            <a:r>
              <a:rPr dirty="0" sz="1100" spc="-5">
                <a:latin typeface="Arial"/>
                <a:cs typeface="Arial"/>
              </a:rPr>
              <a:t>hand, far from improving the developing nation’s balance of payments situation and alleviating  the debt problem, indiscriminate import substitution often worsens the situation by increasing a  need for imported capital-good inputs and intermediate products while, as just noted, a good  part of the profits is remitted abroad in the form of private transfer</a:t>
            </a:r>
            <a:r>
              <a:rPr dirty="0" sz="1100" spc="110">
                <a:latin typeface="Arial"/>
                <a:cs typeface="Arial"/>
              </a:rPr>
              <a:t> </a:t>
            </a:r>
            <a:r>
              <a:rPr dirty="0" sz="1100" spc="-5">
                <a:latin typeface="Arial"/>
                <a:cs typeface="Arial"/>
              </a:rPr>
              <a:t>payments.</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A fourth detrimental effect of many import substitution strategies has been their impact on  traditional primary-product exports. To encourage local manufacturing through the importation of  cheap capital and intermediate goods, </a:t>
            </a:r>
            <a:r>
              <a:rPr dirty="0" sz="1100" spc="-5" b="1">
                <a:latin typeface="Arial"/>
                <a:cs typeface="Arial"/>
              </a:rPr>
              <a:t>official exchange rates </a:t>
            </a:r>
            <a:r>
              <a:rPr dirty="0" sz="1100" spc="-5">
                <a:latin typeface="Arial"/>
                <a:cs typeface="Arial"/>
              </a:rPr>
              <a:t>(the rates at which the central  bank of a nation is prepared to purchase specific foreign currencies) have often </a:t>
            </a:r>
            <a:r>
              <a:rPr dirty="0" sz="1100">
                <a:latin typeface="Arial"/>
                <a:cs typeface="Arial"/>
              </a:rPr>
              <a:t>been </a:t>
            </a:r>
            <a:r>
              <a:rPr dirty="0" sz="1100" spc="-5">
                <a:latin typeface="Arial"/>
                <a:cs typeface="Arial"/>
              </a:rPr>
              <a:t>artificially  overvalued. This has had the effect of raising the price of exports and lowering the price of  imports in terms of the local currency. For example, if the free-market exchange rate between  Pakistani rupees and U.S. dollars was 20 to 1 but the official exchange rate was 10 to 1, an item  that cost $10 in the United States could be imported into Pakistan for 100 rupees (excluding  transport costs and other service charges). If the </a:t>
            </a:r>
            <a:r>
              <a:rPr dirty="0" sz="1100" spc="-5" b="1">
                <a:latin typeface="Arial"/>
                <a:cs typeface="Arial"/>
              </a:rPr>
              <a:t>free-market exchange rate </a:t>
            </a:r>
            <a:r>
              <a:rPr dirty="0" sz="1100" spc="-5">
                <a:latin typeface="Arial"/>
                <a:cs typeface="Arial"/>
              </a:rPr>
              <a:t>(the exchange  rate determined by the supply and demand for Pakistani rupees in terms of dollars) prevailed,  that item </a:t>
            </a:r>
            <a:r>
              <a:rPr dirty="0" sz="1100">
                <a:latin typeface="Arial"/>
                <a:cs typeface="Arial"/>
              </a:rPr>
              <a:t>would </a:t>
            </a:r>
            <a:r>
              <a:rPr dirty="0" sz="1100" spc="-5">
                <a:latin typeface="Arial"/>
                <a:cs typeface="Arial"/>
              </a:rPr>
              <a:t>cost 200 rupees. Thus by means of an </a:t>
            </a:r>
            <a:r>
              <a:rPr dirty="0" sz="1100" spc="-5" b="1">
                <a:latin typeface="Arial"/>
                <a:cs typeface="Arial"/>
              </a:rPr>
              <a:t>overvalued exchange rate</a:t>
            </a:r>
            <a:r>
              <a:rPr dirty="0" sz="1100" spc="-5">
                <a:latin typeface="Arial"/>
                <a:cs typeface="Arial"/>
              </a:rPr>
              <a:t>, developing-  country governments have effectively lowered the domestic currency price of their imports. At  the</a:t>
            </a:r>
            <a:r>
              <a:rPr dirty="0" sz="1100" spc="35">
                <a:latin typeface="Arial"/>
                <a:cs typeface="Arial"/>
              </a:rPr>
              <a:t> </a:t>
            </a:r>
            <a:r>
              <a:rPr dirty="0" sz="1100" spc="-5">
                <a:latin typeface="Arial"/>
                <a:cs typeface="Arial"/>
              </a:rPr>
              <a:t>same</a:t>
            </a:r>
            <a:r>
              <a:rPr dirty="0" sz="1100" spc="40">
                <a:latin typeface="Arial"/>
                <a:cs typeface="Arial"/>
              </a:rPr>
              <a:t> </a:t>
            </a:r>
            <a:r>
              <a:rPr dirty="0" sz="1100" spc="-5">
                <a:latin typeface="Arial"/>
                <a:cs typeface="Arial"/>
              </a:rPr>
              <a:t>time,</a:t>
            </a:r>
            <a:r>
              <a:rPr dirty="0" sz="1100" spc="35">
                <a:latin typeface="Arial"/>
                <a:cs typeface="Arial"/>
              </a:rPr>
              <a:t> </a:t>
            </a:r>
            <a:r>
              <a:rPr dirty="0" sz="1100" spc="-5">
                <a:latin typeface="Arial"/>
                <a:cs typeface="Arial"/>
              </a:rPr>
              <a:t>their</a:t>
            </a:r>
            <a:r>
              <a:rPr dirty="0" sz="1100" spc="40">
                <a:latin typeface="Arial"/>
                <a:cs typeface="Arial"/>
              </a:rPr>
              <a:t> </a:t>
            </a:r>
            <a:r>
              <a:rPr dirty="0" sz="1100" spc="-5">
                <a:latin typeface="Arial"/>
                <a:cs typeface="Arial"/>
              </a:rPr>
              <a:t>export</a:t>
            </a:r>
            <a:r>
              <a:rPr dirty="0" sz="1100" spc="35">
                <a:latin typeface="Arial"/>
                <a:cs typeface="Arial"/>
              </a:rPr>
              <a:t> </a:t>
            </a:r>
            <a:r>
              <a:rPr dirty="0" sz="1100" spc="-5">
                <a:latin typeface="Arial"/>
                <a:cs typeface="Arial"/>
              </a:rPr>
              <a:t>prices</a:t>
            </a:r>
            <a:r>
              <a:rPr dirty="0" sz="1100" spc="40">
                <a:latin typeface="Arial"/>
                <a:cs typeface="Arial"/>
              </a:rPr>
              <a:t> </a:t>
            </a:r>
            <a:r>
              <a:rPr dirty="0" sz="1100" spc="-5">
                <a:latin typeface="Arial"/>
                <a:cs typeface="Arial"/>
              </a:rPr>
              <a:t>have</a:t>
            </a:r>
            <a:r>
              <a:rPr dirty="0" sz="1100" spc="40">
                <a:latin typeface="Arial"/>
                <a:cs typeface="Arial"/>
              </a:rPr>
              <a:t> </a:t>
            </a:r>
            <a:r>
              <a:rPr dirty="0" sz="1100" spc="-5">
                <a:latin typeface="Arial"/>
                <a:cs typeface="Arial"/>
              </a:rPr>
              <a:t>increased—for</a:t>
            </a:r>
            <a:r>
              <a:rPr dirty="0" sz="1100" spc="35">
                <a:latin typeface="Arial"/>
                <a:cs typeface="Arial"/>
              </a:rPr>
              <a:t> </a:t>
            </a:r>
            <a:r>
              <a:rPr dirty="0" sz="1100" spc="-5">
                <a:latin typeface="Arial"/>
                <a:cs typeface="Arial"/>
              </a:rPr>
              <a:t>example,</a:t>
            </a:r>
            <a:r>
              <a:rPr dirty="0" sz="1100" spc="40">
                <a:latin typeface="Arial"/>
                <a:cs typeface="Arial"/>
              </a:rPr>
              <a:t> </a:t>
            </a:r>
            <a:r>
              <a:rPr dirty="0" sz="1100" spc="-5">
                <a:latin typeface="Arial"/>
                <a:cs typeface="Arial"/>
              </a:rPr>
              <a:t>at</a:t>
            </a:r>
            <a:r>
              <a:rPr dirty="0" sz="1100" spc="35">
                <a:latin typeface="Arial"/>
                <a:cs typeface="Arial"/>
              </a:rPr>
              <a:t> </a:t>
            </a:r>
            <a:r>
              <a:rPr dirty="0" sz="1100" spc="-5">
                <a:latin typeface="Arial"/>
                <a:cs typeface="Arial"/>
              </a:rPr>
              <a:t>an</a:t>
            </a:r>
            <a:r>
              <a:rPr dirty="0" sz="1100" spc="40">
                <a:latin typeface="Arial"/>
                <a:cs typeface="Arial"/>
              </a:rPr>
              <a:t> </a:t>
            </a:r>
            <a:r>
              <a:rPr dirty="0" sz="1100" spc="-5">
                <a:latin typeface="Arial"/>
                <a:cs typeface="Arial"/>
              </a:rPr>
              <a:t>exchange</a:t>
            </a:r>
            <a:r>
              <a:rPr dirty="0" sz="1100" spc="35">
                <a:latin typeface="Arial"/>
                <a:cs typeface="Arial"/>
              </a:rPr>
              <a:t> </a:t>
            </a:r>
            <a:r>
              <a:rPr dirty="0" sz="1100" spc="-5">
                <a:latin typeface="Arial"/>
                <a:cs typeface="Arial"/>
              </a:rPr>
              <a:t>rate</a:t>
            </a:r>
            <a:r>
              <a:rPr dirty="0" sz="1100" spc="40">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10</a:t>
            </a:r>
            <a:r>
              <a:rPr dirty="0" sz="1100" spc="35">
                <a:latin typeface="Arial"/>
                <a:cs typeface="Arial"/>
              </a:rPr>
              <a:t> </a:t>
            </a:r>
            <a:r>
              <a:rPr dirty="0" sz="1100" spc="-5">
                <a:latin typeface="Arial"/>
                <a:cs typeface="Arial"/>
              </a:rPr>
              <a:t>to</a:t>
            </a:r>
            <a:r>
              <a:rPr dirty="0" sz="1100" spc="40">
                <a:latin typeface="Arial"/>
                <a:cs typeface="Arial"/>
              </a:rPr>
              <a:t> </a:t>
            </a:r>
            <a:r>
              <a:rPr dirty="0" sz="1100" spc="-5">
                <a:latin typeface="Arial"/>
                <a:cs typeface="Arial"/>
              </a:rPr>
              <a:t>1,</a:t>
            </a:r>
            <a:endParaRPr sz="1100">
              <a:latin typeface="Arial"/>
              <a:cs typeface="Arial"/>
            </a:endParaRPr>
          </a:p>
          <a:p>
            <a:pPr algn="just" marL="12700" marR="6985">
              <a:lnSpc>
                <a:spcPts val="1270"/>
              </a:lnSpc>
              <a:spcBef>
                <a:spcPts val="30"/>
              </a:spcBef>
            </a:pPr>
            <a:r>
              <a:rPr dirty="0" sz="1100" spc="-5">
                <a:latin typeface="Arial"/>
                <a:cs typeface="Arial"/>
              </a:rPr>
              <a:t>U.S. importers would have to </a:t>
            </a:r>
            <a:r>
              <a:rPr dirty="0" sz="1100">
                <a:latin typeface="Arial"/>
                <a:cs typeface="Arial"/>
              </a:rPr>
              <a:t>pay </a:t>
            </a:r>
            <a:r>
              <a:rPr dirty="0" sz="1100" spc="-5">
                <a:latin typeface="Arial"/>
                <a:cs typeface="Arial"/>
              </a:rPr>
              <a:t>10 cents for every 1-rupee item </a:t>
            </a:r>
            <a:r>
              <a:rPr dirty="0" sz="1100">
                <a:latin typeface="Arial"/>
                <a:cs typeface="Arial"/>
              </a:rPr>
              <a:t>rather </a:t>
            </a:r>
            <a:r>
              <a:rPr dirty="0" sz="1100" spc="-5">
                <a:latin typeface="Arial"/>
                <a:cs typeface="Arial"/>
              </a:rPr>
              <a:t>than the 5 cents they  would pay if the hypothetical free-market ratio of 20 to 1 were in</a:t>
            </a:r>
            <a:r>
              <a:rPr dirty="0" sz="1100" spc="90">
                <a:latin typeface="Arial"/>
                <a:cs typeface="Arial"/>
              </a:rPr>
              <a:t> </a:t>
            </a:r>
            <a:r>
              <a:rPr dirty="0" sz="1100" spc="-5">
                <a:latin typeface="Arial"/>
                <a:cs typeface="Arial"/>
              </a:rPr>
              <a:t>effect.</a:t>
            </a:r>
            <a:endParaRPr sz="1100">
              <a:latin typeface="Arial"/>
              <a:cs typeface="Arial"/>
            </a:endParaRPr>
          </a:p>
          <a:p>
            <a:pPr>
              <a:lnSpc>
                <a:spcPct val="100000"/>
              </a:lnSpc>
              <a:spcBef>
                <a:spcPts val="20"/>
              </a:spcBef>
            </a:pPr>
            <a:endParaRPr sz="1150">
              <a:latin typeface="Arial"/>
              <a:cs typeface="Arial"/>
            </a:endParaRPr>
          </a:p>
          <a:p>
            <a:pPr marL="469900" marR="6985" indent="-228600">
              <a:lnSpc>
                <a:spcPts val="1260"/>
              </a:lnSpc>
              <a:buFont typeface="Symbol"/>
              <a:buChar char=""/>
              <a:tabLst>
                <a:tab pos="469265" algn="l"/>
                <a:tab pos="469900" algn="l"/>
              </a:tabLst>
            </a:pPr>
            <a:r>
              <a:rPr dirty="0" sz="1100" spc="-5" b="1">
                <a:latin typeface="Arial"/>
                <a:cs typeface="Arial"/>
              </a:rPr>
              <a:t>Official exchange rate: </a:t>
            </a:r>
            <a:r>
              <a:rPr dirty="0" sz="1100" spc="-5">
                <a:latin typeface="Arial"/>
                <a:cs typeface="Arial"/>
              </a:rPr>
              <a:t>Rate at which the central bank will buy and sell the domestic  currency in terms of a foreign currency such as the U.S.</a:t>
            </a:r>
            <a:r>
              <a:rPr dirty="0" sz="1100" spc="70">
                <a:latin typeface="Arial"/>
                <a:cs typeface="Arial"/>
              </a:rPr>
              <a:t> </a:t>
            </a:r>
            <a:r>
              <a:rPr dirty="0" sz="1100" spc="-5">
                <a:latin typeface="Arial"/>
                <a:cs typeface="Arial"/>
              </a:rPr>
              <a:t>dollar.</a:t>
            </a:r>
            <a:endParaRPr sz="1100">
              <a:latin typeface="Arial"/>
              <a:cs typeface="Arial"/>
            </a:endParaRPr>
          </a:p>
          <a:p>
            <a:pPr marL="469900" marR="8255" indent="-228600">
              <a:lnSpc>
                <a:spcPts val="1260"/>
              </a:lnSpc>
              <a:spcBef>
                <a:spcPts val="85"/>
              </a:spcBef>
              <a:buFont typeface="Symbol"/>
              <a:buChar char=""/>
              <a:tabLst>
                <a:tab pos="469265" algn="l"/>
                <a:tab pos="469900" algn="l"/>
              </a:tabLst>
            </a:pPr>
            <a:r>
              <a:rPr dirty="0" sz="1100" spc="-5" b="1">
                <a:latin typeface="Arial"/>
                <a:cs typeface="Arial"/>
              </a:rPr>
              <a:t>Free-market exchange rate: </a:t>
            </a:r>
            <a:r>
              <a:rPr dirty="0" sz="1100" spc="-5">
                <a:latin typeface="Arial"/>
                <a:cs typeface="Arial"/>
              </a:rPr>
              <a:t>Rate determined solely by international supply and  demand for domestic currency expressed in terms of, say, U.S.</a:t>
            </a:r>
            <a:r>
              <a:rPr dirty="0" sz="1100" spc="75">
                <a:latin typeface="Arial"/>
                <a:cs typeface="Arial"/>
              </a:rPr>
              <a:t> </a:t>
            </a:r>
            <a:r>
              <a:rPr dirty="0" sz="1100" spc="-5">
                <a:latin typeface="Arial"/>
                <a:cs typeface="Arial"/>
              </a:rPr>
              <a:t>dollars.</a:t>
            </a:r>
            <a:endParaRPr sz="1100">
              <a:latin typeface="Arial"/>
              <a:cs typeface="Arial"/>
            </a:endParaRPr>
          </a:p>
          <a:p>
            <a:pPr marL="469900" marR="6350" indent="-228600">
              <a:lnSpc>
                <a:spcPts val="1260"/>
              </a:lnSpc>
              <a:spcBef>
                <a:spcPts val="85"/>
              </a:spcBef>
              <a:buFont typeface="Symbol"/>
              <a:buChar char=""/>
              <a:tabLst>
                <a:tab pos="469265" algn="l"/>
                <a:tab pos="469900" algn="l"/>
              </a:tabLst>
            </a:pPr>
            <a:r>
              <a:rPr dirty="0" sz="1100" spc="-5" b="1">
                <a:latin typeface="Arial"/>
                <a:cs typeface="Arial"/>
              </a:rPr>
              <a:t>Overvalued exchange rate: </a:t>
            </a:r>
            <a:r>
              <a:rPr dirty="0" sz="1100" spc="-5">
                <a:latin typeface="Arial"/>
                <a:cs typeface="Arial"/>
              </a:rPr>
              <a:t>An official exchange rate set at a level higher than its real  or shadow</a:t>
            </a:r>
            <a:r>
              <a:rPr dirty="0" sz="1100">
                <a:latin typeface="Arial"/>
                <a:cs typeface="Arial"/>
              </a:rPr>
              <a:t> </a:t>
            </a:r>
            <a:r>
              <a:rPr dirty="0" sz="1100" spc="-5">
                <a:latin typeface="Arial"/>
                <a:cs typeface="Arial"/>
              </a:rPr>
              <a:t>value.</a:t>
            </a:r>
            <a:endParaRPr sz="1100">
              <a:latin typeface="Arial"/>
              <a:cs typeface="Arial"/>
            </a:endParaRPr>
          </a:p>
          <a:p>
            <a:pPr>
              <a:lnSpc>
                <a:spcPct val="100000"/>
              </a:lnSpc>
              <a:spcBef>
                <a:spcPts val="45"/>
              </a:spcBef>
            </a:pPr>
            <a:endParaRPr sz="1050">
              <a:latin typeface="Arial"/>
              <a:cs typeface="Arial"/>
            </a:endParaRPr>
          </a:p>
          <a:p>
            <a:pPr algn="just" marL="12700" marR="6985">
              <a:lnSpc>
                <a:spcPts val="1270"/>
              </a:lnSpc>
              <a:spcBef>
                <a:spcPts val="5"/>
              </a:spcBef>
            </a:pPr>
            <a:r>
              <a:rPr dirty="0" sz="1100" spc="-5">
                <a:latin typeface="Arial"/>
                <a:cs typeface="Arial"/>
              </a:rPr>
              <a:t>The net effect of overvaluing exchange rates in the context of import substitution policies is to  encourage capital-intensive production methods still further (because the price of</a:t>
            </a:r>
            <a:r>
              <a:rPr dirty="0" sz="1100" spc="105">
                <a:latin typeface="Arial"/>
                <a:cs typeface="Arial"/>
              </a:rPr>
              <a:t> </a:t>
            </a:r>
            <a:r>
              <a:rPr dirty="0" sz="1100" spc="-5">
                <a:latin typeface="Arial"/>
                <a:cs typeface="Arial"/>
              </a:rPr>
              <a:t>imported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264</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39759"/>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capital goods is artificially lowered) </a:t>
            </a:r>
            <a:r>
              <a:rPr dirty="0" sz="1100">
                <a:latin typeface="Arial"/>
                <a:cs typeface="Arial"/>
              </a:rPr>
              <a:t>and </a:t>
            </a:r>
            <a:r>
              <a:rPr dirty="0" sz="1100" spc="-5">
                <a:latin typeface="Arial"/>
                <a:cs typeface="Arial"/>
              </a:rPr>
              <a:t>to penalize the traditional primary-product export sector  by artificially raising the price of exports in terms of foreign currencies. This overvaluation, then,  causes local farmers to be less competitive in world markets. In terms of its income distribution  effects, the outcome of such government policies may be to penalize the small farmer and the  self-employed while improving the profits of the owners of capital, both foreign and domestic.  Industrial protection thus has the effect of taxing agricultural goods in the home market as well  as discouraging agricultural exports. Import substitution policies have in practice often worsened  the local distribution of income by favoring the urban sector and higher-income groups while  discriminating against the rural sector and lower-income</a:t>
            </a:r>
            <a:r>
              <a:rPr dirty="0" sz="1100" spc="40">
                <a:latin typeface="Arial"/>
                <a:cs typeface="Arial"/>
              </a:rPr>
              <a:t> </a:t>
            </a:r>
            <a:r>
              <a:rPr dirty="0" sz="1100" spc="-5">
                <a:latin typeface="Arial"/>
                <a:cs typeface="Arial"/>
              </a:rPr>
              <a:t>groups.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Fifth and finally, import substitution, which may have been conceived with the idea of stimulating  infant-industry growth </a:t>
            </a:r>
            <a:r>
              <a:rPr dirty="0" sz="1100">
                <a:latin typeface="Arial"/>
                <a:cs typeface="Arial"/>
              </a:rPr>
              <a:t>and </a:t>
            </a:r>
            <a:r>
              <a:rPr dirty="0" sz="1100" spc="-5">
                <a:latin typeface="Arial"/>
                <a:cs typeface="Arial"/>
              </a:rPr>
              <a:t>self-sustained industrialization by creating “forward” and “backward”  linkages with the rest of the economy, has often inhibited that industrialization. Many infants  never grow up, content to hide behind protective tariffs and governments loath to force them to  be more competitive by lowering tariffs. In fact, governments themselves often operate  protected industries as state-owned enterprises. </a:t>
            </a:r>
            <a:r>
              <a:rPr dirty="0" sz="1100">
                <a:latin typeface="Arial"/>
                <a:cs typeface="Arial"/>
              </a:rPr>
              <a:t>Moreover, </a:t>
            </a:r>
            <a:r>
              <a:rPr dirty="0" sz="1100" spc="-5">
                <a:latin typeface="Arial"/>
                <a:cs typeface="Arial"/>
              </a:rPr>
              <a:t>by increasing the costs of inputs to  potentially forward- linked industries (those that purchase the output </a:t>
            </a:r>
            <a:r>
              <a:rPr dirty="0" sz="1100">
                <a:latin typeface="Arial"/>
                <a:cs typeface="Arial"/>
              </a:rPr>
              <a:t>of </a:t>
            </a:r>
            <a:r>
              <a:rPr dirty="0" sz="1100" spc="-5">
                <a:latin typeface="Arial"/>
                <a:cs typeface="Arial"/>
              </a:rPr>
              <a:t>the protected firm as  inputs or intermediate products in their own productive process, such as a printer’s purchase of  paper from a locally protected paper mill) and by purchasing their own inputs from overseas  sources of supply rather than through backward linkages to domestic suppliers, inefficient  import-substituting firms may in fact block the hoped-for process of self-reliant integrated  industrialization.</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TARIFF STRUCTURES AND EFFECTIVE</a:t>
            </a:r>
            <a:r>
              <a:rPr dirty="0" sz="1100" spc="20" b="1">
                <a:latin typeface="Arial"/>
                <a:cs typeface="Arial"/>
              </a:rPr>
              <a:t> </a:t>
            </a:r>
            <a:r>
              <a:rPr dirty="0" sz="1100" spc="-5" b="1">
                <a:latin typeface="Arial"/>
                <a:cs typeface="Arial"/>
              </a:rPr>
              <a:t>PROTECTION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Because import substitution programs are based on the protection of local industries against  competing imports primarily through the use of tariffs and physical quotas, we need to analyze  the role and limitations of these commercial policy instruments in developing nations. As we  have already discussed, governments impose </a:t>
            </a:r>
            <a:r>
              <a:rPr dirty="0" sz="1100">
                <a:latin typeface="Arial"/>
                <a:cs typeface="Arial"/>
              </a:rPr>
              <a:t>tariffs </a:t>
            </a:r>
            <a:r>
              <a:rPr dirty="0" sz="1100" spc="-5">
                <a:latin typeface="Arial"/>
                <a:cs typeface="Arial"/>
              </a:rPr>
              <a:t>and physical quotas on imports for a  variety of reasons. For example, </a:t>
            </a:r>
            <a:r>
              <a:rPr dirty="0" sz="1100">
                <a:latin typeface="Arial"/>
                <a:cs typeface="Arial"/>
              </a:rPr>
              <a:t>tariff </a:t>
            </a:r>
            <a:r>
              <a:rPr dirty="0" sz="1100" spc="-5">
                <a:latin typeface="Arial"/>
                <a:cs typeface="Arial"/>
              </a:rPr>
              <a:t>barriers may be erected to raise public revenue. In fact,  given the administrative and political difficulties of collecting local income taxes, </a:t>
            </a:r>
            <a:r>
              <a:rPr dirty="0" sz="1100">
                <a:latin typeface="Arial"/>
                <a:cs typeface="Arial"/>
              </a:rPr>
              <a:t>fixed-  </a:t>
            </a:r>
            <a:r>
              <a:rPr dirty="0" sz="1100" spc="-5">
                <a:latin typeface="Arial"/>
                <a:cs typeface="Arial"/>
              </a:rPr>
              <a:t>percentage taxes on imports collected at a relatively few </a:t>
            </a:r>
            <a:r>
              <a:rPr dirty="0" sz="1100">
                <a:latin typeface="Arial"/>
                <a:cs typeface="Arial"/>
              </a:rPr>
              <a:t>ports </a:t>
            </a:r>
            <a:r>
              <a:rPr dirty="0" sz="1100" spc="-5">
                <a:latin typeface="Arial"/>
                <a:cs typeface="Arial"/>
              </a:rPr>
              <a:t>or border posts often constitute  one of the cheapest and most efficient ways to raise government revenue. In many developing  countries, these foreign-trade taxes are thus a central feature of the overall fiscal</a:t>
            </a:r>
            <a:r>
              <a:rPr dirty="0" sz="1100" spc="160">
                <a:latin typeface="Arial"/>
                <a:cs typeface="Arial"/>
              </a:rPr>
              <a:t> </a:t>
            </a:r>
            <a:r>
              <a:rPr dirty="0" sz="1100" spc="-5">
                <a:latin typeface="Arial"/>
                <a:cs typeface="Arial"/>
              </a:rPr>
              <a:t>system.</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b="1">
                <a:latin typeface="Arial"/>
                <a:cs typeface="Arial"/>
              </a:rPr>
              <a:t>Non-tariff trade barriers</a:t>
            </a:r>
            <a:r>
              <a:rPr dirty="0" sz="1100" spc="-5">
                <a:latin typeface="Arial"/>
                <a:cs typeface="Arial"/>
              </a:rPr>
              <a:t>, such as physical quotas on imports like automobiles and other luxury  consumer goods, though more difficult to </a:t>
            </a:r>
            <a:r>
              <a:rPr dirty="0" sz="1100">
                <a:latin typeface="Arial"/>
                <a:cs typeface="Arial"/>
              </a:rPr>
              <a:t>administer </a:t>
            </a:r>
            <a:r>
              <a:rPr dirty="0" sz="1100" spc="-5">
                <a:latin typeface="Arial"/>
                <a:cs typeface="Arial"/>
              </a:rPr>
              <a:t>and more subject to delay, inefficiency, and  rent-seeking corruption (e.g., with regard to the granting of import licenses), provide an effective  means of restricting the entry of particularly troublesome commodities. Tariffs, too, may serve </a:t>
            </a:r>
            <a:r>
              <a:rPr dirty="0" sz="1100">
                <a:latin typeface="Arial"/>
                <a:cs typeface="Arial"/>
              </a:rPr>
              <a:t>to  </a:t>
            </a:r>
            <a:r>
              <a:rPr dirty="0" sz="1100" spc="-5">
                <a:latin typeface="Arial"/>
                <a:cs typeface="Arial"/>
              </a:rPr>
              <a:t>restrict the importation of non necessity products (usually expensive consumer goods). By  restricting imports, both quotas and tariffs can improve the balance of payments. And like  overvaluing the official rate of foreign exchange, tariffs may be used to improve a nation’s terms  of trade. However, in a small developing country unable to influence world prices of its exports  or imports, this argument for tariffs (or devaluation) has little validity. Finally, as noted, tariffs  may form an integral component of an import substitution policy of</a:t>
            </a:r>
            <a:r>
              <a:rPr dirty="0" sz="1100" spc="110">
                <a:latin typeface="Arial"/>
                <a:cs typeface="Arial"/>
              </a:rPr>
              <a:t> </a:t>
            </a:r>
            <a:r>
              <a:rPr dirty="0" sz="1100" spc="-5">
                <a:latin typeface="Arial"/>
                <a:cs typeface="Arial"/>
              </a:rPr>
              <a:t>industrialization.</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Whatever the means used to restrict imports, such restriction always protects domestic firms  from competition with producers from other countries. To measure the degree of protection, we  need to ask by </a:t>
            </a:r>
            <a:r>
              <a:rPr dirty="0" sz="1100">
                <a:latin typeface="Arial"/>
                <a:cs typeface="Arial"/>
              </a:rPr>
              <a:t>how much </a:t>
            </a:r>
            <a:r>
              <a:rPr dirty="0" sz="1100" spc="-5">
                <a:latin typeface="Arial"/>
                <a:cs typeface="Arial"/>
              </a:rPr>
              <a:t>these restrictions cause the domestic prices of imports to exceed  what their prices would be if there were no protection. There are two basic measures of  protection: the nominal rate and the effective</a:t>
            </a:r>
            <a:r>
              <a:rPr dirty="0" sz="1100" spc="30">
                <a:latin typeface="Arial"/>
                <a:cs typeface="Arial"/>
              </a:rPr>
              <a:t> </a:t>
            </a:r>
            <a:r>
              <a:rPr dirty="0" sz="1100" spc="-5">
                <a:latin typeface="Arial"/>
                <a:cs typeface="Arial"/>
              </a:rPr>
              <a:t>rate.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265</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1052574"/>
            <a:ext cx="5970270" cy="6743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a:t>
            </a:r>
            <a:r>
              <a:rPr dirty="0" sz="1100" spc="-5" b="1">
                <a:latin typeface="Arial"/>
                <a:cs typeface="Arial"/>
              </a:rPr>
              <a:t>nominal rate of protection </a:t>
            </a:r>
            <a:r>
              <a:rPr dirty="0" sz="1100" spc="-5">
                <a:latin typeface="Arial"/>
                <a:cs typeface="Arial"/>
              </a:rPr>
              <a:t>shows the extent, in percentages, to which the domestic price  of imported goods exceeds what their price would be in the absence of protection. Thus the  nominal (ad-valorem) </a:t>
            </a:r>
            <a:r>
              <a:rPr dirty="0" sz="1100">
                <a:latin typeface="Arial"/>
                <a:cs typeface="Arial"/>
              </a:rPr>
              <a:t>tariff </a:t>
            </a:r>
            <a:r>
              <a:rPr dirty="0" sz="1100" spc="-5">
                <a:latin typeface="Arial"/>
                <a:cs typeface="Arial"/>
              </a:rPr>
              <a:t>rate, </a:t>
            </a:r>
            <a:r>
              <a:rPr dirty="0" sz="1100" spc="-5" i="1">
                <a:latin typeface="Arial"/>
                <a:cs typeface="Arial"/>
              </a:rPr>
              <a:t>t</a:t>
            </a:r>
            <a:r>
              <a:rPr dirty="0" sz="1100" spc="-5">
                <a:latin typeface="Arial"/>
                <a:cs typeface="Arial"/>
              </a:rPr>
              <a:t>, refers to the final prices of commodities and can be defined  simply</a:t>
            </a:r>
            <a:r>
              <a:rPr dirty="0" sz="1100" spc="-10">
                <a:latin typeface="Arial"/>
                <a:cs typeface="Arial"/>
              </a:rPr>
              <a:t> </a:t>
            </a:r>
            <a:r>
              <a:rPr dirty="0" sz="1100" spc="-5">
                <a:latin typeface="Arial"/>
                <a:cs typeface="Arial"/>
              </a:rPr>
              <a:t>as</a:t>
            </a:r>
            <a:endParaRPr sz="1100">
              <a:latin typeface="Arial"/>
              <a:cs typeface="Arial"/>
            </a:endParaRPr>
          </a:p>
        </p:txBody>
      </p:sp>
      <p:sp>
        <p:nvSpPr>
          <p:cNvPr id="7" name="object 7"/>
          <p:cNvSpPr/>
          <p:nvPr/>
        </p:nvSpPr>
        <p:spPr>
          <a:xfrm>
            <a:off x="914400" y="1719072"/>
            <a:ext cx="714756" cy="455675"/>
          </a:xfrm>
          <a:prstGeom prst="rect">
            <a:avLst/>
          </a:prstGeom>
          <a:blipFill>
            <a:blip r:embed="rId2" cstate="print"/>
            <a:stretch>
              <a:fillRect/>
            </a:stretch>
          </a:blipFill>
        </p:spPr>
        <p:txBody>
          <a:bodyPr wrap="square" lIns="0" tIns="0" rIns="0" bIns="0" rtlCol="0"/>
          <a:lstStyle/>
          <a:p/>
        </p:txBody>
      </p:sp>
      <p:sp>
        <p:nvSpPr>
          <p:cNvPr id="8" name="object 8"/>
          <p:cNvSpPr/>
          <p:nvPr/>
        </p:nvSpPr>
        <p:spPr>
          <a:xfrm>
            <a:off x="914400" y="4270247"/>
            <a:ext cx="742950" cy="412241"/>
          </a:xfrm>
          <a:prstGeom prst="rect">
            <a:avLst/>
          </a:prstGeom>
          <a:blipFill>
            <a:blip r:embed="rId3" cstate="print"/>
            <a:stretch>
              <a:fillRect/>
            </a:stretch>
          </a:blipFill>
        </p:spPr>
        <p:txBody>
          <a:bodyPr wrap="square" lIns="0" tIns="0" rIns="0" bIns="0" rtlCol="0"/>
          <a:lstStyle/>
          <a:p/>
        </p:txBody>
      </p:sp>
      <p:sp>
        <p:nvSpPr>
          <p:cNvPr id="9" name="object 9"/>
          <p:cNvSpPr txBox="1"/>
          <p:nvPr/>
        </p:nvSpPr>
        <p:spPr>
          <a:xfrm>
            <a:off x="901667" y="2152147"/>
            <a:ext cx="5971540" cy="6753859"/>
          </a:xfrm>
          <a:prstGeom prst="rect">
            <a:avLst/>
          </a:prstGeom>
        </p:spPr>
        <p:txBody>
          <a:bodyPr wrap="square" lIns="0" tIns="12065" rIns="0" bIns="0" rtlCol="0" vert="horz">
            <a:spAutoFit/>
          </a:bodyPr>
          <a:lstStyle/>
          <a:p>
            <a:pPr algn="just" marL="12700">
              <a:lnSpc>
                <a:spcPct val="100000"/>
              </a:lnSpc>
              <a:spcBef>
                <a:spcPts val="95"/>
              </a:spcBef>
            </a:pPr>
            <a:r>
              <a:rPr dirty="0" sz="1100" spc="-5">
                <a:latin typeface="Arial"/>
                <a:cs typeface="Arial"/>
              </a:rPr>
              <a:t>Where, </a:t>
            </a:r>
            <a:r>
              <a:rPr dirty="0" sz="1100" spc="-5" i="1">
                <a:latin typeface="Arial"/>
                <a:cs typeface="Arial"/>
              </a:rPr>
              <a:t>p </a:t>
            </a:r>
            <a:r>
              <a:rPr dirty="0" sz="1100" spc="-5">
                <a:latin typeface="Arial"/>
                <a:cs typeface="Arial"/>
              </a:rPr>
              <a:t>and </a:t>
            </a:r>
            <a:r>
              <a:rPr dirty="0" sz="1100" spc="-5" i="1">
                <a:latin typeface="Arial"/>
                <a:cs typeface="Arial"/>
              </a:rPr>
              <a:t>p </a:t>
            </a:r>
            <a:r>
              <a:rPr dirty="0" sz="1100" spc="-5">
                <a:latin typeface="Arial"/>
                <a:cs typeface="Arial"/>
              </a:rPr>
              <a:t>are the unit prices of industry’s output with and without tariffs,</a:t>
            </a:r>
            <a:r>
              <a:rPr dirty="0" sz="1100" spc="185">
                <a:latin typeface="Arial"/>
                <a:cs typeface="Arial"/>
              </a:rPr>
              <a:t> </a:t>
            </a:r>
            <a:r>
              <a:rPr dirty="0" sz="1100" spc="-5">
                <a:latin typeface="Arial"/>
                <a:cs typeface="Arial"/>
              </a:rPr>
              <a:t>respectively.</a:t>
            </a:r>
            <a:endParaRPr sz="1100">
              <a:latin typeface="Arial"/>
              <a:cs typeface="Arial"/>
            </a:endParaRPr>
          </a:p>
          <a:p>
            <a:pPr>
              <a:lnSpc>
                <a:spcPct val="100000"/>
              </a:lnSpc>
              <a:spcBef>
                <a:spcPts val="30"/>
              </a:spcBef>
            </a:pPr>
            <a:endParaRPr sz="1100">
              <a:latin typeface="Arial"/>
              <a:cs typeface="Arial"/>
            </a:endParaRPr>
          </a:p>
          <a:p>
            <a:pPr algn="just" marL="12700" marR="8255">
              <a:lnSpc>
                <a:spcPts val="1270"/>
              </a:lnSpc>
              <a:spcBef>
                <a:spcPts val="5"/>
              </a:spcBef>
            </a:pPr>
            <a:r>
              <a:rPr dirty="0" sz="1100" spc="-5">
                <a:latin typeface="Arial"/>
                <a:cs typeface="Arial"/>
              </a:rPr>
              <a:t>For example, if the domestic price, </a:t>
            </a:r>
            <a:r>
              <a:rPr dirty="0" sz="1100" spc="-5" i="1">
                <a:latin typeface="Arial"/>
                <a:cs typeface="Arial"/>
              </a:rPr>
              <a:t>p </a:t>
            </a:r>
            <a:r>
              <a:rPr dirty="0" sz="1100" spc="-5">
                <a:latin typeface="Arial"/>
                <a:cs typeface="Arial"/>
              </a:rPr>
              <a:t>, of an imported automobile is $5,000 whereas the CIF  (cost</a:t>
            </a:r>
            <a:r>
              <a:rPr dirty="0" sz="1100" spc="165">
                <a:latin typeface="Arial"/>
                <a:cs typeface="Arial"/>
              </a:rPr>
              <a:t> </a:t>
            </a:r>
            <a:r>
              <a:rPr dirty="0" sz="1100" spc="-5">
                <a:latin typeface="Arial"/>
                <a:cs typeface="Arial"/>
              </a:rPr>
              <a:t>plus</a:t>
            </a:r>
            <a:r>
              <a:rPr dirty="0" sz="1100" spc="170">
                <a:latin typeface="Arial"/>
                <a:cs typeface="Arial"/>
              </a:rPr>
              <a:t> </a:t>
            </a:r>
            <a:r>
              <a:rPr dirty="0" sz="1100" spc="-5">
                <a:latin typeface="Arial"/>
                <a:cs typeface="Arial"/>
              </a:rPr>
              <a:t>insurance</a:t>
            </a:r>
            <a:r>
              <a:rPr dirty="0" sz="1100" spc="170">
                <a:latin typeface="Arial"/>
                <a:cs typeface="Arial"/>
              </a:rPr>
              <a:t> </a:t>
            </a:r>
            <a:r>
              <a:rPr dirty="0" sz="1100" spc="-5">
                <a:latin typeface="Arial"/>
                <a:cs typeface="Arial"/>
              </a:rPr>
              <a:t>and</a:t>
            </a:r>
            <a:r>
              <a:rPr dirty="0" sz="1100" spc="170">
                <a:latin typeface="Arial"/>
                <a:cs typeface="Arial"/>
              </a:rPr>
              <a:t> </a:t>
            </a:r>
            <a:r>
              <a:rPr dirty="0" sz="1100" spc="-5">
                <a:latin typeface="Arial"/>
                <a:cs typeface="Arial"/>
              </a:rPr>
              <a:t>freight)</a:t>
            </a:r>
            <a:r>
              <a:rPr dirty="0" sz="1100" spc="170">
                <a:latin typeface="Arial"/>
                <a:cs typeface="Arial"/>
              </a:rPr>
              <a:t> </a:t>
            </a:r>
            <a:r>
              <a:rPr dirty="0" sz="1100" spc="-5">
                <a:latin typeface="Arial"/>
                <a:cs typeface="Arial"/>
              </a:rPr>
              <a:t>price,</a:t>
            </a:r>
            <a:r>
              <a:rPr dirty="0" sz="1100" spc="175">
                <a:latin typeface="Arial"/>
                <a:cs typeface="Arial"/>
              </a:rPr>
              <a:t> </a:t>
            </a:r>
            <a:r>
              <a:rPr dirty="0" sz="1100" spc="-5" i="1">
                <a:latin typeface="Arial"/>
                <a:cs typeface="Arial"/>
              </a:rPr>
              <a:t>p,</a:t>
            </a:r>
            <a:r>
              <a:rPr dirty="0" sz="1100" spc="165" i="1">
                <a:latin typeface="Arial"/>
                <a:cs typeface="Arial"/>
              </a:rPr>
              <a:t> </a:t>
            </a:r>
            <a:r>
              <a:rPr dirty="0" sz="1100" spc="-5">
                <a:latin typeface="Arial"/>
                <a:cs typeface="Arial"/>
              </a:rPr>
              <a:t>when</a:t>
            </a:r>
            <a:r>
              <a:rPr dirty="0" sz="1100" spc="170">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automobile</a:t>
            </a:r>
            <a:r>
              <a:rPr dirty="0" sz="1100" spc="170">
                <a:latin typeface="Arial"/>
                <a:cs typeface="Arial"/>
              </a:rPr>
              <a:t> </a:t>
            </a:r>
            <a:r>
              <a:rPr dirty="0" sz="1100" spc="-5">
                <a:latin typeface="Arial"/>
                <a:cs typeface="Arial"/>
              </a:rPr>
              <a:t>arrives</a:t>
            </a:r>
            <a:r>
              <a:rPr dirty="0" sz="1100" spc="170">
                <a:latin typeface="Arial"/>
                <a:cs typeface="Arial"/>
              </a:rPr>
              <a:t> </a:t>
            </a:r>
            <a:r>
              <a:rPr dirty="0" sz="1100" spc="-5">
                <a:latin typeface="Arial"/>
                <a:cs typeface="Arial"/>
              </a:rPr>
              <a:t>at</a:t>
            </a:r>
            <a:r>
              <a:rPr dirty="0" sz="1100" spc="170">
                <a:latin typeface="Arial"/>
                <a:cs typeface="Arial"/>
              </a:rPr>
              <a:t> </a:t>
            </a:r>
            <a:r>
              <a:rPr dirty="0" sz="1100" spc="-5">
                <a:latin typeface="Arial"/>
                <a:cs typeface="Arial"/>
              </a:rPr>
              <a:t>the</a:t>
            </a:r>
            <a:r>
              <a:rPr dirty="0" sz="1100" spc="170">
                <a:latin typeface="Arial"/>
                <a:cs typeface="Arial"/>
              </a:rPr>
              <a:t> </a:t>
            </a:r>
            <a:r>
              <a:rPr dirty="0" sz="1100" spc="-5">
                <a:latin typeface="Arial"/>
                <a:cs typeface="Arial"/>
              </a:rPr>
              <a:t>port</a:t>
            </a:r>
            <a:r>
              <a:rPr dirty="0" sz="1100" spc="165">
                <a:latin typeface="Arial"/>
                <a:cs typeface="Arial"/>
              </a:rPr>
              <a:t> </a:t>
            </a:r>
            <a:r>
              <a:rPr dirty="0" sz="1100" spc="-5">
                <a:latin typeface="Arial"/>
                <a:cs typeface="Arial"/>
              </a:rPr>
              <a:t>of</a:t>
            </a:r>
            <a:r>
              <a:rPr dirty="0" sz="1100" spc="170">
                <a:latin typeface="Arial"/>
                <a:cs typeface="Arial"/>
              </a:rPr>
              <a:t> </a:t>
            </a:r>
            <a:r>
              <a:rPr dirty="0" sz="1100" spc="-5">
                <a:latin typeface="Arial"/>
                <a:cs typeface="Arial"/>
              </a:rPr>
              <a:t>entry</a:t>
            </a:r>
            <a:r>
              <a:rPr dirty="0" sz="1100" spc="175">
                <a:latin typeface="Arial"/>
                <a:cs typeface="Arial"/>
              </a:rPr>
              <a:t> </a:t>
            </a:r>
            <a:r>
              <a:rPr dirty="0" sz="1100" spc="-5">
                <a:latin typeface="Arial"/>
                <a:cs typeface="Arial"/>
              </a:rPr>
              <a:t>is</a:t>
            </a:r>
            <a:endParaRPr sz="1100">
              <a:latin typeface="Arial"/>
              <a:cs typeface="Arial"/>
            </a:endParaRPr>
          </a:p>
          <a:p>
            <a:pPr algn="just" marL="12700">
              <a:lnSpc>
                <a:spcPts val="1195"/>
              </a:lnSpc>
            </a:pPr>
            <a:r>
              <a:rPr dirty="0" sz="1100" spc="-5">
                <a:latin typeface="Arial"/>
                <a:cs typeface="Arial"/>
              </a:rPr>
              <a:t>$4,000,</a:t>
            </a:r>
            <a:r>
              <a:rPr dirty="0" sz="1100" spc="15">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nominal</a:t>
            </a:r>
            <a:r>
              <a:rPr dirty="0" sz="1100" spc="20">
                <a:latin typeface="Arial"/>
                <a:cs typeface="Arial"/>
              </a:rPr>
              <a:t> </a:t>
            </a:r>
            <a:r>
              <a:rPr dirty="0" sz="1100" spc="-5">
                <a:latin typeface="Arial"/>
                <a:cs typeface="Arial"/>
              </a:rPr>
              <a:t>rate</a:t>
            </a:r>
            <a:r>
              <a:rPr dirty="0" sz="1100" spc="1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tariff</a:t>
            </a:r>
            <a:r>
              <a:rPr dirty="0" sz="1100" spc="20">
                <a:latin typeface="Arial"/>
                <a:cs typeface="Arial"/>
              </a:rPr>
              <a:t> </a:t>
            </a:r>
            <a:r>
              <a:rPr dirty="0" sz="1100" spc="-5">
                <a:latin typeface="Arial"/>
                <a:cs typeface="Arial"/>
              </a:rPr>
              <a:t>protection,</a:t>
            </a:r>
            <a:r>
              <a:rPr dirty="0" sz="1100" spc="25">
                <a:latin typeface="Arial"/>
                <a:cs typeface="Arial"/>
              </a:rPr>
              <a:t> </a:t>
            </a:r>
            <a:r>
              <a:rPr dirty="0" sz="1100" spc="-5" i="1">
                <a:latin typeface="Arial"/>
                <a:cs typeface="Arial"/>
              </a:rPr>
              <a:t>t,</a:t>
            </a:r>
            <a:r>
              <a:rPr dirty="0" sz="1100" spc="15" i="1">
                <a:latin typeface="Arial"/>
                <a:cs typeface="Arial"/>
              </a:rPr>
              <a:t> </a:t>
            </a:r>
            <a:r>
              <a:rPr dirty="0" sz="1100" spc="-5">
                <a:latin typeface="Arial"/>
                <a:cs typeface="Arial"/>
              </a:rPr>
              <a:t>would</a:t>
            </a:r>
            <a:r>
              <a:rPr dirty="0" sz="1100" spc="20">
                <a:latin typeface="Arial"/>
                <a:cs typeface="Arial"/>
              </a:rPr>
              <a:t> </a:t>
            </a:r>
            <a:r>
              <a:rPr dirty="0" sz="1100" spc="-5">
                <a:latin typeface="Arial"/>
                <a:cs typeface="Arial"/>
              </a:rPr>
              <a:t>be</a:t>
            </a:r>
            <a:r>
              <a:rPr dirty="0" sz="1100" spc="20">
                <a:latin typeface="Arial"/>
                <a:cs typeface="Arial"/>
              </a:rPr>
              <a:t> </a:t>
            </a:r>
            <a:r>
              <a:rPr dirty="0" sz="1100" spc="-5">
                <a:latin typeface="Arial"/>
                <a:cs typeface="Arial"/>
              </a:rPr>
              <a:t>25%.</a:t>
            </a:r>
            <a:r>
              <a:rPr dirty="0" sz="1100" spc="20">
                <a:latin typeface="Arial"/>
                <a:cs typeface="Arial"/>
              </a:rPr>
              <a:t> </a:t>
            </a:r>
            <a:r>
              <a:rPr dirty="0" sz="1100" spc="-5">
                <a:latin typeface="Arial"/>
                <a:cs typeface="Arial"/>
              </a:rPr>
              <a:t>This</a:t>
            </a:r>
            <a:r>
              <a:rPr dirty="0" sz="1100" spc="15">
                <a:latin typeface="Arial"/>
                <a:cs typeface="Arial"/>
              </a:rPr>
              <a:t> </a:t>
            </a:r>
            <a:r>
              <a:rPr dirty="0" sz="1100" spc="-5">
                <a:latin typeface="Arial"/>
                <a:cs typeface="Arial"/>
              </a:rPr>
              <a:t>is</a:t>
            </a:r>
            <a:r>
              <a:rPr dirty="0" sz="1100" spc="20">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kind</a:t>
            </a:r>
            <a:r>
              <a:rPr dirty="0" sz="1100" spc="1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tariff</a:t>
            </a:r>
            <a:r>
              <a:rPr dirty="0" sz="1100" spc="20">
                <a:latin typeface="Arial"/>
                <a:cs typeface="Arial"/>
              </a:rPr>
              <a:t> </a:t>
            </a:r>
            <a:r>
              <a:rPr dirty="0" sz="1100" spc="-5">
                <a:latin typeface="Arial"/>
                <a:cs typeface="Arial"/>
              </a:rPr>
              <a:t>depicted</a:t>
            </a:r>
            <a:r>
              <a:rPr dirty="0" sz="1100" spc="20">
                <a:latin typeface="Arial"/>
                <a:cs typeface="Arial"/>
              </a:rPr>
              <a:t> </a:t>
            </a:r>
            <a:r>
              <a:rPr dirty="0" sz="1100" spc="-5">
                <a:latin typeface="Arial"/>
                <a:cs typeface="Arial"/>
              </a:rPr>
              <a:t>as</a:t>
            </a:r>
            <a:endParaRPr sz="1100">
              <a:latin typeface="Arial"/>
              <a:cs typeface="Arial"/>
            </a:endParaRPr>
          </a:p>
          <a:p>
            <a:pPr algn="just" marL="12700" marR="6350">
              <a:lnSpc>
                <a:spcPct val="95800"/>
              </a:lnSpc>
              <a:spcBef>
                <a:spcPts val="25"/>
              </a:spcBef>
            </a:pPr>
            <a:r>
              <a:rPr dirty="0" sz="1100" spc="-5" i="1">
                <a:latin typeface="Arial"/>
                <a:cs typeface="Arial"/>
              </a:rPr>
              <a:t>t</a:t>
            </a:r>
            <a:r>
              <a:rPr dirty="0" sz="1100" spc="-5">
                <a:latin typeface="Arial"/>
                <a:cs typeface="Arial"/>
              </a:rPr>
              <a:t>0 in Figure 12.3. By contrast, the </a:t>
            </a:r>
            <a:r>
              <a:rPr dirty="0" sz="1100" spc="-5" b="1">
                <a:latin typeface="Arial"/>
                <a:cs typeface="Arial"/>
              </a:rPr>
              <a:t>effective rate of protection </a:t>
            </a:r>
            <a:r>
              <a:rPr dirty="0" sz="1100" spc="-5">
                <a:latin typeface="Arial"/>
                <a:cs typeface="Arial"/>
              </a:rPr>
              <a:t>shows the percentage by </a:t>
            </a:r>
            <a:r>
              <a:rPr dirty="0" sz="1100">
                <a:latin typeface="Arial"/>
                <a:cs typeface="Arial"/>
              </a:rPr>
              <a:t>which  </a:t>
            </a:r>
            <a:r>
              <a:rPr dirty="0" sz="1100" spc="-5">
                <a:latin typeface="Arial"/>
                <a:cs typeface="Arial"/>
              </a:rPr>
              <a:t>the </a:t>
            </a:r>
            <a:r>
              <a:rPr dirty="0" sz="1100" spc="-5" b="1">
                <a:latin typeface="Arial"/>
                <a:cs typeface="Arial"/>
              </a:rPr>
              <a:t>value added </a:t>
            </a:r>
            <a:r>
              <a:rPr dirty="0" sz="1100" spc="-5">
                <a:latin typeface="Arial"/>
                <a:cs typeface="Arial"/>
              </a:rPr>
              <a:t>at a particular stage of processing in a domestic industry can exceed what </a:t>
            </a:r>
            <a:r>
              <a:rPr dirty="0" sz="1100">
                <a:latin typeface="Arial"/>
                <a:cs typeface="Arial"/>
              </a:rPr>
              <a:t>it  </a:t>
            </a:r>
            <a:r>
              <a:rPr dirty="0" sz="1100" spc="-5">
                <a:latin typeface="Arial"/>
                <a:cs typeface="Arial"/>
              </a:rPr>
              <a:t>would be without protection. In other words, it shows by </a:t>
            </a:r>
            <a:r>
              <a:rPr dirty="0" sz="1100">
                <a:latin typeface="Arial"/>
                <a:cs typeface="Arial"/>
              </a:rPr>
              <a:t>what </a:t>
            </a:r>
            <a:r>
              <a:rPr dirty="0" sz="1100" spc="-5">
                <a:latin typeface="Arial"/>
                <a:cs typeface="Arial"/>
              </a:rPr>
              <a:t>percentage the sum of wages,  interest, profits, and depreciation allowances payable by local firms can, as a result of  protection, exceed </a:t>
            </a:r>
            <a:r>
              <a:rPr dirty="0" sz="1100">
                <a:latin typeface="Arial"/>
                <a:cs typeface="Arial"/>
              </a:rPr>
              <a:t>what </a:t>
            </a:r>
            <a:r>
              <a:rPr dirty="0" sz="1100" spc="-5">
                <a:latin typeface="Arial"/>
                <a:cs typeface="Arial"/>
              </a:rPr>
              <a:t>this sum would be if these same firms </a:t>
            </a:r>
            <a:r>
              <a:rPr dirty="0" sz="1100">
                <a:latin typeface="Arial"/>
                <a:cs typeface="Arial"/>
              </a:rPr>
              <a:t>had </a:t>
            </a:r>
            <a:r>
              <a:rPr dirty="0" sz="1100" spc="-5">
                <a:latin typeface="Arial"/>
                <a:cs typeface="Arial"/>
              </a:rPr>
              <a:t>to face unrestricted  competition (no tariff protection) from foreign producers. The effective rate, </a:t>
            </a:r>
            <a:r>
              <a:rPr dirty="0" sz="1100" spc="-5" i="1">
                <a:latin typeface="Arial"/>
                <a:cs typeface="Arial"/>
              </a:rPr>
              <a:t>, </a:t>
            </a:r>
            <a:r>
              <a:rPr dirty="0" sz="1100" spc="-5">
                <a:latin typeface="Arial"/>
                <a:cs typeface="Arial"/>
              </a:rPr>
              <a:t>can therefore be  defined as the difference between value added (percent of output) in domestic prices and value  added in world prices, expressed as a percentage of the latter, so</a:t>
            </a:r>
            <a:r>
              <a:rPr dirty="0" sz="1100" spc="80">
                <a:latin typeface="Arial"/>
                <a:cs typeface="Arial"/>
              </a:rPr>
              <a:t> </a:t>
            </a:r>
            <a:r>
              <a:rPr dirty="0" sz="1100" spc="-5">
                <a:latin typeface="Arial"/>
                <a:cs typeface="Arial"/>
              </a:rPr>
              <a:t>that:</a:t>
            </a:r>
            <a:endParaRPr sz="1100">
              <a:latin typeface="Arial"/>
              <a:cs typeface="Arial"/>
            </a:endParaRPr>
          </a:p>
          <a:p>
            <a:pPr>
              <a:lnSpc>
                <a:spcPct val="100000"/>
              </a:lnSpc>
            </a:pPr>
            <a:endParaRPr sz="1200">
              <a:latin typeface="Arial"/>
              <a:cs typeface="Arial"/>
            </a:endParaRPr>
          </a:p>
          <a:p>
            <a:pPr>
              <a:lnSpc>
                <a:spcPct val="100000"/>
              </a:lnSpc>
              <a:spcBef>
                <a:spcPts val="25"/>
              </a:spcBef>
            </a:pPr>
            <a:endParaRPr sz="1650">
              <a:latin typeface="Arial"/>
              <a:cs typeface="Arial"/>
            </a:endParaRPr>
          </a:p>
          <a:p>
            <a:pPr algn="just" marL="12700" marR="6350">
              <a:lnSpc>
                <a:spcPct val="95700"/>
              </a:lnSpc>
            </a:pPr>
            <a:r>
              <a:rPr dirty="0" sz="1100" spc="-5">
                <a:latin typeface="Arial"/>
                <a:cs typeface="Arial"/>
              </a:rPr>
              <a:t>Where, </a:t>
            </a:r>
            <a:r>
              <a:rPr dirty="0" sz="1100" spc="-5" i="1">
                <a:latin typeface="Arial"/>
                <a:cs typeface="Arial"/>
              </a:rPr>
              <a:t>v </a:t>
            </a:r>
            <a:r>
              <a:rPr dirty="0" sz="1100" spc="-5">
                <a:latin typeface="Arial"/>
                <a:cs typeface="Arial"/>
              </a:rPr>
              <a:t>and </a:t>
            </a:r>
            <a:r>
              <a:rPr dirty="0" sz="1100" spc="-5" i="1">
                <a:latin typeface="Arial"/>
                <a:cs typeface="Arial"/>
              </a:rPr>
              <a:t>v </a:t>
            </a:r>
            <a:r>
              <a:rPr dirty="0" sz="1100" spc="-5">
                <a:latin typeface="Arial"/>
                <a:cs typeface="Arial"/>
              </a:rPr>
              <a:t>are the value added per unit of output with and without protection, respectively.  The result can be either positive or negative, depending on whether </a:t>
            </a:r>
            <a:r>
              <a:rPr dirty="0" sz="1100" spc="-5" i="1">
                <a:latin typeface="Arial"/>
                <a:cs typeface="Arial"/>
              </a:rPr>
              <a:t>v </a:t>
            </a:r>
            <a:r>
              <a:rPr dirty="0" sz="1100" spc="-5">
                <a:latin typeface="Arial"/>
                <a:cs typeface="Arial"/>
              </a:rPr>
              <a:t>is greater or </a:t>
            </a:r>
            <a:r>
              <a:rPr dirty="0" sz="1100">
                <a:latin typeface="Arial"/>
                <a:cs typeface="Arial"/>
              </a:rPr>
              <a:t>less </a:t>
            </a:r>
            <a:r>
              <a:rPr dirty="0" sz="1100" spc="-5">
                <a:latin typeface="Arial"/>
                <a:cs typeface="Arial"/>
              </a:rPr>
              <a:t>than </a:t>
            </a:r>
            <a:r>
              <a:rPr dirty="0" sz="1100" spc="-5" i="1">
                <a:latin typeface="Arial"/>
                <a:cs typeface="Arial"/>
              </a:rPr>
              <a:t>v</a:t>
            </a:r>
            <a:r>
              <a:rPr dirty="0" sz="1100" spc="-5">
                <a:latin typeface="Arial"/>
                <a:cs typeface="Arial"/>
              </a:rPr>
              <a:t>.  For most developing economies, it is highly</a:t>
            </a:r>
            <a:r>
              <a:rPr dirty="0" sz="1100" spc="35">
                <a:latin typeface="Arial"/>
                <a:cs typeface="Arial"/>
              </a:rPr>
              <a:t> </a:t>
            </a:r>
            <a:r>
              <a:rPr dirty="0" sz="1100" spc="-5">
                <a:latin typeface="Arial"/>
                <a:cs typeface="Arial"/>
              </a:rPr>
              <a:t>positive.</a:t>
            </a:r>
            <a:endParaRPr sz="1100">
              <a:latin typeface="Arial"/>
              <a:cs typeface="Arial"/>
            </a:endParaRPr>
          </a:p>
          <a:p>
            <a:pPr>
              <a:lnSpc>
                <a:spcPct val="100000"/>
              </a:lnSpc>
              <a:spcBef>
                <a:spcPts val="5"/>
              </a:spcBef>
            </a:pPr>
            <a:endParaRPr sz="1200">
              <a:latin typeface="Arial"/>
              <a:cs typeface="Arial"/>
            </a:endParaRPr>
          </a:p>
          <a:p>
            <a:pPr marL="469900" marR="6350" indent="-228600">
              <a:lnSpc>
                <a:spcPts val="1260"/>
              </a:lnSpc>
              <a:buFont typeface="Symbol"/>
              <a:buChar char=""/>
              <a:tabLst>
                <a:tab pos="469265" algn="l"/>
                <a:tab pos="469900" algn="l"/>
              </a:tabLst>
            </a:pPr>
            <a:r>
              <a:rPr dirty="0" sz="1100" spc="-5" b="1">
                <a:latin typeface="Arial"/>
                <a:cs typeface="Arial"/>
              </a:rPr>
              <a:t>Non-tariff trade barrier </a:t>
            </a:r>
            <a:r>
              <a:rPr dirty="0" sz="1100" spc="-5">
                <a:latin typeface="Arial"/>
                <a:cs typeface="Arial"/>
              </a:rPr>
              <a:t>A barrier to free trade that takes a form other than a tariff, such  as quotas or (possibly arbitrary) sanitary</a:t>
            </a:r>
            <a:r>
              <a:rPr dirty="0" sz="1100" spc="20">
                <a:latin typeface="Arial"/>
                <a:cs typeface="Arial"/>
              </a:rPr>
              <a:t> </a:t>
            </a:r>
            <a:r>
              <a:rPr dirty="0" sz="1100" spc="-5">
                <a:latin typeface="Arial"/>
                <a:cs typeface="Arial"/>
              </a:rPr>
              <a:t>requirements.</a:t>
            </a:r>
            <a:endParaRPr sz="1100">
              <a:latin typeface="Arial"/>
              <a:cs typeface="Arial"/>
            </a:endParaRPr>
          </a:p>
          <a:p>
            <a:pPr marL="469900" indent="-228600">
              <a:lnSpc>
                <a:spcPts val="1310"/>
              </a:lnSpc>
              <a:buFont typeface="Symbol"/>
              <a:buChar char=""/>
              <a:tabLst>
                <a:tab pos="469265" algn="l"/>
                <a:tab pos="469900" algn="l"/>
              </a:tabLst>
            </a:pPr>
            <a:r>
              <a:rPr dirty="0" sz="1100" spc="-5" b="1">
                <a:latin typeface="Arial"/>
                <a:cs typeface="Arial"/>
              </a:rPr>
              <a:t>Nominal rate of protection </a:t>
            </a:r>
            <a:r>
              <a:rPr dirty="0" sz="1100" spc="-5">
                <a:latin typeface="Arial"/>
                <a:cs typeface="Arial"/>
              </a:rPr>
              <a:t>An ad valorem percentage tariff levied on</a:t>
            </a:r>
            <a:r>
              <a:rPr dirty="0" sz="1100" spc="105">
                <a:latin typeface="Arial"/>
                <a:cs typeface="Arial"/>
              </a:rPr>
              <a:t> </a:t>
            </a:r>
            <a:r>
              <a:rPr dirty="0" sz="1100" spc="-5">
                <a:latin typeface="Arial"/>
                <a:cs typeface="Arial"/>
              </a:rPr>
              <a:t>imports.</a:t>
            </a:r>
            <a:endParaRPr sz="1100">
              <a:latin typeface="Arial"/>
              <a:cs typeface="Arial"/>
            </a:endParaRPr>
          </a:p>
          <a:p>
            <a:pPr marL="469900" marR="7620" indent="-228600">
              <a:lnSpc>
                <a:spcPts val="1260"/>
              </a:lnSpc>
              <a:spcBef>
                <a:spcPts val="110"/>
              </a:spcBef>
              <a:buFont typeface="Symbol"/>
              <a:buChar char=""/>
              <a:tabLst>
                <a:tab pos="469265" algn="l"/>
                <a:tab pos="469900" algn="l"/>
              </a:tabLst>
            </a:pPr>
            <a:r>
              <a:rPr dirty="0" sz="1100" spc="-5" b="1">
                <a:latin typeface="Arial"/>
                <a:cs typeface="Arial"/>
              </a:rPr>
              <a:t>Effective </a:t>
            </a:r>
            <a:r>
              <a:rPr dirty="0" sz="1100" b="1">
                <a:latin typeface="Arial"/>
                <a:cs typeface="Arial"/>
              </a:rPr>
              <a:t>rate </a:t>
            </a:r>
            <a:r>
              <a:rPr dirty="0" sz="1100" spc="-5" b="1">
                <a:latin typeface="Arial"/>
                <a:cs typeface="Arial"/>
              </a:rPr>
              <a:t>of protection </a:t>
            </a:r>
            <a:r>
              <a:rPr dirty="0" sz="1100" spc="-5">
                <a:latin typeface="Arial"/>
                <a:cs typeface="Arial"/>
              </a:rPr>
              <a:t>The degree of protection on value added as opposed to the  final price of an imported product—usually higher than the nominal rate of</a:t>
            </a:r>
            <a:r>
              <a:rPr dirty="0" sz="1100" spc="160">
                <a:latin typeface="Arial"/>
                <a:cs typeface="Arial"/>
              </a:rPr>
              <a:t> </a:t>
            </a:r>
            <a:r>
              <a:rPr dirty="0" sz="1100" spc="-5">
                <a:latin typeface="Arial"/>
                <a:cs typeface="Arial"/>
              </a:rPr>
              <a:t>protection.</a:t>
            </a:r>
            <a:endParaRPr sz="1100">
              <a:latin typeface="Arial"/>
              <a:cs typeface="Arial"/>
            </a:endParaRPr>
          </a:p>
          <a:p>
            <a:pPr marL="469900" marR="7620" indent="-228600">
              <a:lnSpc>
                <a:spcPts val="1260"/>
              </a:lnSpc>
              <a:spcBef>
                <a:spcPts val="85"/>
              </a:spcBef>
              <a:buFont typeface="Symbol"/>
              <a:buChar char=""/>
              <a:tabLst>
                <a:tab pos="469265" algn="l"/>
                <a:tab pos="469900" algn="l"/>
              </a:tabLst>
            </a:pPr>
            <a:r>
              <a:rPr dirty="0" sz="1100" spc="-5" b="1">
                <a:latin typeface="Arial"/>
                <a:cs typeface="Arial"/>
              </a:rPr>
              <a:t>Value added </a:t>
            </a:r>
            <a:r>
              <a:rPr dirty="0" sz="1100" spc="-5">
                <a:latin typeface="Arial"/>
                <a:cs typeface="Arial"/>
              </a:rPr>
              <a:t>Amount of a product’s final value that is added at each stage of  production.</a:t>
            </a:r>
            <a:endParaRPr sz="1100">
              <a:latin typeface="Arial"/>
              <a:cs typeface="Arial"/>
            </a:endParaRPr>
          </a:p>
          <a:p>
            <a:pPr>
              <a:lnSpc>
                <a:spcPct val="100000"/>
              </a:lnSpc>
              <a:spcBef>
                <a:spcPts val="25"/>
              </a:spcBef>
            </a:pPr>
            <a:endParaRPr sz="1050">
              <a:latin typeface="Arial"/>
              <a:cs typeface="Arial"/>
            </a:endParaRPr>
          </a:p>
          <a:p>
            <a:pPr algn="just" marL="12700" marR="7620">
              <a:lnSpc>
                <a:spcPct val="95800"/>
              </a:lnSpc>
            </a:pPr>
            <a:r>
              <a:rPr dirty="0" sz="1100" spc="-5">
                <a:latin typeface="Arial"/>
                <a:cs typeface="Arial"/>
              </a:rPr>
              <a:t>The important difference between nominal and effective rates of protection can be illustrated by  means of an example. Consider a nation without tariffs in which automobiles are produced and  sold at the international or world price of $10,000. The value added by labor in the final  assembly  process is assumed  to  be  $2,000, and  the  total  value  of </a:t>
            </a:r>
            <a:r>
              <a:rPr dirty="0" sz="1100" spc="210">
                <a:latin typeface="Arial"/>
                <a:cs typeface="Arial"/>
              </a:rPr>
              <a:t> </a:t>
            </a:r>
            <a:r>
              <a:rPr dirty="0" sz="1100" spc="-5">
                <a:latin typeface="Arial"/>
                <a:cs typeface="Arial"/>
              </a:rPr>
              <a:t>the  remaining  inputs  is</a:t>
            </a:r>
            <a:endParaRPr sz="1100">
              <a:latin typeface="Arial"/>
              <a:cs typeface="Arial"/>
            </a:endParaRPr>
          </a:p>
          <a:p>
            <a:pPr algn="just" marL="12700" marR="6985">
              <a:lnSpc>
                <a:spcPts val="1270"/>
              </a:lnSpc>
              <a:spcBef>
                <a:spcPts val="30"/>
              </a:spcBef>
            </a:pPr>
            <a:r>
              <a:rPr dirty="0" sz="1100" spc="-5">
                <a:latin typeface="Arial"/>
                <a:cs typeface="Arial"/>
              </a:rPr>
              <a:t>$8,000. Assume for simplicity that the prices of these non labor inputs are equal to their world  prices. Suppose that a nominal tariff of 10% is now imposed on imported automobiles, which  raises the domestic price of cars to $11,000 but leaves the prices of all the other importable  intermediate</a:t>
            </a:r>
            <a:r>
              <a:rPr dirty="0" sz="1100" spc="100">
                <a:latin typeface="Arial"/>
                <a:cs typeface="Arial"/>
              </a:rPr>
              <a:t> </a:t>
            </a:r>
            <a:r>
              <a:rPr dirty="0" sz="1100" spc="-5">
                <a:latin typeface="Arial"/>
                <a:cs typeface="Arial"/>
              </a:rPr>
              <a:t>units</a:t>
            </a:r>
            <a:r>
              <a:rPr dirty="0" sz="1100" spc="105">
                <a:latin typeface="Arial"/>
                <a:cs typeface="Arial"/>
              </a:rPr>
              <a:t> </a:t>
            </a:r>
            <a:r>
              <a:rPr dirty="0" sz="1100" spc="-5">
                <a:latin typeface="Arial"/>
                <a:cs typeface="Arial"/>
              </a:rPr>
              <a:t>unchanged.</a:t>
            </a:r>
            <a:r>
              <a:rPr dirty="0" sz="1100" spc="100">
                <a:latin typeface="Arial"/>
                <a:cs typeface="Arial"/>
              </a:rPr>
              <a:t> </a:t>
            </a:r>
            <a:r>
              <a:rPr dirty="0" sz="1100" spc="-5">
                <a:latin typeface="Arial"/>
                <a:cs typeface="Arial"/>
              </a:rPr>
              <a:t>The</a:t>
            </a:r>
            <a:r>
              <a:rPr dirty="0" sz="1100" spc="105">
                <a:latin typeface="Arial"/>
                <a:cs typeface="Arial"/>
              </a:rPr>
              <a:t> </a:t>
            </a:r>
            <a:r>
              <a:rPr dirty="0" sz="1100" spc="-5">
                <a:latin typeface="Arial"/>
                <a:cs typeface="Arial"/>
              </a:rPr>
              <a:t>domestic</a:t>
            </a:r>
            <a:r>
              <a:rPr dirty="0" sz="1100" spc="100">
                <a:latin typeface="Arial"/>
                <a:cs typeface="Arial"/>
              </a:rPr>
              <a:t> </a:t>
            </a:r>
            <a:r>
              <a:rPr dirty="0" sz="1100" spc="-5">
                <a:latin typeface="Arial"/>
                <a:cs typeface="Arial"/>
              </a:rPr>
              <a:t>process</a:t>
            </a:r>
            <a:r>
              <a:rPr dirty="0" sz="1100" spc="105">
                <a:latin typeface="Arial"/>
                <a:cs typeface="Arial"/>
              </a:rPr>
              <a:t> </a:t>
            </a:r>
            <a:r>
              <a:rPr dirty="0" sz="1100" spc="-5">
                <a:latin typeface="Arial"/>
                <a:cs typeface="Arial"/>
              </a:rPr>
              <a:t>of</a:t>
            </a:r>
            <a:r>
              <a:rPr dirty="0" sz="1100" spc="100">
                <a:latin typeface="Arial"/>
                <a:cs typeface="Arial"/>
              </a:rPr>
              <a:t> </a:t>
            </a:r>
            <a:r>
              <a:rPr dirty="0" sz="1100" spc="-5">
                <a:latin typeface="Arial"/>
                <a:cs typeface="Arial"/>
              </a:rPr>
              <a:t>automobile</a:t>
            </a:r>
            <a:r>
              <a:rPr dirty="0" sz="1100" spc="105">
                <a:latin typeface="Arial"/>
                <a:cs typeface="Arial"/>
              </a:rPr>
              <a:t> </a:t>
            </a:r>
            <a:r>
              <a:rPr dirty="0" sz="1100" spc="-5">
                <a:latin typeface="Arial"/>
                <a:cs typeface="Arial"/>
              </a:rPr>
              <a:t>production</a:t>
            </a:r>
            <a:r>
              <a:rPr dirty="0" sz="1100" spc="100">
                <a:latin typeface="Arial"/>
                <a:cs typeface="Arial"/>
              </a:rPr>
              <a:t> </a:t>
            </a:r>
            <a:r>
              <a:rPr dirty="0" sz="1100" spc="-5">
                <a:latin typeface="Arial"/>
                <a:cs typeface="Arial"/>
              </a:rPr>
              <a:t>can</a:t>
            </a:r>
            <a:r>
              <a:rPr dirty="0" sz="1100" spc="105">
                <a:latin typeface="Arial"/>
                <a:cs typeface="Arial"/>
              </a:rPr>
              <a:t> </a:t>
            </a:r>
            <a:r>
              <a:rPr dirty="0" sz="1100" spc="-5">
                <a:latin typeface="Arial"/>
                <a:cs typeface="Arial"/>
              </a:rPr>
              <a:t>now</a:t>
            </a:r>
            <a:r>
              <a:rPr dirty="0" sz="1100" spc="100">
                <a:latin typeface="Arial"/>
                <a:cs typeface="Arial"/>
              </a:rPr>
              <a:t> </a:t>
            </a:r>
            <a:r>
              <a:rPr dirty="0" sz="1100" spc="-5">
                <a:latin typeface="Arial"/>
                <a:cs typeface="Arial"/>
              </a:rPr>
              <a:t>spend</a:t>
            </a:r>
            <a:endParaRPr sz="1100">
              <a:latin typeface="Arial"/>
              <a:cs typeface="Arial"/>
            </a:endParaRPr>
          </a:p>
          <a:p>
            <a:pPr algn="just" marL="12700">
              <a:lnSpc>
                <a:spcPts val="1185"/>
              </a:lnSpc>
            </a:pPr>
            <a:r>
              <a:rPr dirty="0" sz="1100" spc="-5">
                <a:latin typeface="Arial"/>
                <a:cs typeface="Arial"/>
              </a:rPr>
              <a:t>$3,000 per unit of output on labor inputs, as contrasted with $2,000 per unit before the tariff. </a:t>
            </a:r>
            <a:r>
              <a:rPr dirty="0" sz="1100" spc="5">
                <a:latin typeface="Arial"/>
                <a:cs typeface="Arial"/>
              </a:rPr>
              <a:t> </a:t>
            </a:r>
            <a:r>
              <a:rPr dirty="0" sz="1100" spc="-5">
                <a:latin typeface="Arial"/>
                <a:cs typeface="Arial"/>
              </a:rPr>
              <a:t>The</a:t>
            </a:r>
            <a:endParaRPr sz="1100">
              <a:latin typeface="Arial"/>
              <a:cs typeface="Arial"/>
            </a:endParaRPr>
          </a:p>
          <a:p>
            <a:pPr algn="just" marL="12700" marR="5080">
              <a:lnSpc>
                <a:spcPct val="95800"/>
              </a:lnSpc>
              <a:spcBef>
                <a:spcPts val="30"/>
              </a:spcBef>
            </a:pPr>
            <a:r>
              <a:rPr dirty="0" sz="1100" spc="-5">
                <a:latin typeface="Arial"/>
                <a:cs typeface="Arial"/>
              </a:rPr>
              <a:t>theory of effective protection therefore implies that under these conditions, the nominal tariff of  10% on the final product (automobiles) has resulted in an effective rate of protection of 50% for  the local assembly process in terms of its value added per unit of output. It follows that for any  given nominal tariff rate, the effective rate is greater the smaller the value added of the process;  that</a:t>
            </a:r>
            <a:r>
              <a:rPr dirty="0" sz="1100" spc="45">
                <a:latin typeface="Arial"/>
                <a:cs typeface="Arial"/>
              </a:rPr>
              <a:t> </a:t>
            </a:r>
            <a:r>
              <a:rPr dirty="0" sz="1100" spc="-5">
                <a:latin typeface="Arial"/>
                <a:cs typeface="Arial"/>
              </a:rPr>
              <a:t>is,</a:t>
            </a:r>
            <a:r>
              <a:rPr dirty="0" sz="1100" spc="45">
                <a:latin typeface="Arial"/>
                <a:cs typeface="Arial"/>
              </a:rPr>
              <a:t> </a:t>
            </a:r>
            <a:r>
              <a:rPr dirty="0" sz="1100" spc="-5">
                <a:latin typeface="Arial"/>
                <a:cs typeface="Arial"/>
              </a:rPr>
              <a:t>p</a:t>
            </a:r>
            <a:r>
              <a:rPr dirty="0" sz="1100" spc="45">
                <a:latin typeface="Arial"/>
                <a:cs typeface="Arial"/>
              </a:rPr>
              <a:t> </a:t>
            </a:r>
            <a:r>
              <a:rPr dirty="0" sz="1100" spc="-5">
                <a:latin typeface="Arial"/>
                <a:cs typeface="Arial"/>
              </a:rPr>
              <a:t>=</a:t>
            </a:r>
            <a:r>
              <a:rPr dirty="0" sz="1100" spc="45">
                <a:latin typeface="Arial"/>
                <a:cs typeface="Arial"/>
              </a:rPr>
              <a:t> </a:t>
            </a:r>
            <a:r>
              <a:rPr dirty="0" sz="1100" spc="-5" i="1">
                <a:latin typeface="Arial"/>
                <a:cs typeface="Arial"/>
              </a:rPr>
              <a:t>t</a:t>
            </a:r>
            <a:r>
              <a:rPr dirty="0" sz="1100" spc="-5">
                <a:latin typeface="Arial"/>
                <a:cs typeface="Arial"/>
              </a:rPr>
              <a:t>/(1</a:t>
            </a:r>
            <a:r>
              <a:rPr dirty="0" sz="1100" spc="50">
                <a:latin typeface="Arial"/>
                <a:cs typeface="Arial"/>
              </a:rPr>
              <a:t> </a:t>
            </a:r>
            <a:r>
              <a:rPr dirty="0" sz="1100" spc="-5">
                <a:latin typeface="Arial"/>
                <a:cs typeface="Arial"/>
              </a:rPr>
              <a:t>-</a:t>
            </a:r>
            <a:r>
              <a:rPr dirty="0" sz="1100" spc="45">
                <a:latin typeface="Arial"/>
                <a:cs typeface="Arial"/>
              </a:rPr>
              <a:t> </a:t>
            </a:r>
            <a:r>
              <a:rPr dirty="0" sz="1100" spc="-5" i="1">
                <a:latin typeface="Arial"/>
                <a:cs typeface="Arial"/>
              </a:rPr>
              <a:t>a</a:t>
            </a:r>
            <a:r>
              <a:rPr dirty="0" sz="1100" spc="-5">
                <a:latin typeface="Arial"/>
                <a:cs typeface="Arial"/>
              </a:rPr>
              <a:t>),</a:t>
            </a:r>
            <a:r>
              <a:rPr dirty="0" sz="1100" spc="45">
                <a:latin typeface="Arial"/>
                <a:cs typeface="Arial"/>
              </a:rPr>
              <a:t> </a:t>
            </a:r>
            <a:r>
              <a:rPr dirty="0" sz="1100" spc="-5">
                <a:latin typeface="Arial"/>
                <a:cs typeface="Arial"/>
              </a:rPr>
              <a:t>where</a:t>
            </a:r>
            <a:r>
              <a:rPr dirty="0" sz="1100" spc="45">
                <a:latin typeface="Arial"/>
                <a:cs typeface="Arial"/>
              </a:rPr>
              <a:t> </a:t>
            </a:r>
            <a:r>
              <a:rPr dirty="0" sz="1100" spc="-5" i="1">
                <a:latin typeface="Arial"/>
                <a:cs typeface="Arial"/>
              </a:rPr>
              <a:t>t</a:t>
            </a:r>
            <a:r>
              <a:rPr dirty="0" sz="1100" spc="45" i="1">
                <a:latin typeface="Arial"/>
                <a:cs typeface="Arial"/>
              </a:rPr>
              <a:t> </a:t>
            </a:r>
            <a:r>
              <a:rPr dirty="0" sz="1100" spc="-5">
                <a:latin typeface="Arial"/>
                <a:cs typeface="Arial"/>
              </a:rPr>
              <a:t>is</a:t>
            </a:r>
            <a:r>
              <a:rPr dirty="0" sz="1100" spc="5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nominal</a:t>
            </a:r>
            <a:r>
              <a:rPr dirty="0" sz="1100" spc="45">
                <a:latin typeface="Arial"/>
                <a:cs typeface="Arial"/>
              </a:rPr>
              <a:t> </a:t>
            </a:r>
            <a:r>
              <a:rPr dirty="0" sz="1100" spc="-5">
                <a:latin typeface="Arial"/>
                <a:cs typeface="Arial"/>
              </a:rPr>
              <a:t>rate</a:t>
            </a:r>
            <a:r>
              <a:rPr dirty="0" sz="1100" spc="45">
                <a:latin typeface="Arial"/>
                <a:cs typeface="Arial"/>
              </a:rPr>
              <a:t> </a:t>
            </a:r>
            <a:r>
              <a:rPr dirty="0" sz="1100" spc="-5">
                <a:latin typeface="Arial"/>
                <a:cs typeface="Arial"/>
              </a:rPr>
              <a:t>on</a:t>
            </a:r>
            <a:r>
              <a:rPr dirty="0" sz="1100" spc="50">
                <a:latin typeface="Arial"/>
                <a:cs typeface="Arial"/>
              </a:rPr>
              <a:t> </a:t>
            </a:r>
            <a:r>
              <a:rPr dirty="0" sz="1100" spc="-5">
                <a:latin typeface="Arial"/>
                <a:cs typeface="Arial"/>
              </a:rPr>
              <a:t>final</a:t>
            </a:r>
            <a:r>
              <a:rPr dirty="0" sz="1100" spc="45">
                <a:latin typeface="Arial"/>
                <a:cs typeface="Arial"/>
              </a:rPr>
              <a:t> </a:t>
            </a:r>
            <a:r>
              <a:rPr dirty="0" sz="1100" spc="-5">
                <a:latin typeface="Arial"/>
                <a:cs typeface="Arial"/>
              </a:rPr>
              <a:t>product</a:t>
            </a:r>
            <a:r>
              <a:rPr dirty="0" sz="1100" spc="45">
                <a:latin typeface="Arial"/>
                <a:cs typeface="Arial"/>
              </a:rPr>
              <a:t> </a:t>
            </a:r>
            <a:r>
              <a:rPr dirty="0" sz="1100" spc="-5">
                <a:latin typeface="Arial"/>
                <a:cs typeface="Arial"/>
              </a:rPr>
              <a:t>and</a:t>
            </a:r>
            <a:r>
              <a:rPr dirty="0" sz="1100" spc="50">
                <a:latin typeface="Arial"/>
                <a:cs typeface="Arial"/>
              </a:rPr>
              <a:t> </a:t>
            </a:r>
            <a:r>
              <a:rPr dirty="0" sz="1100" spc="-5" i="1">
                <a:latin typeface="Arial"/>
                <a:cs typeface="Arial"/>
              </a:rPr>
              <a:t>a</a:t>
            </a:r>
            <a:r>
              <a:rPr dirty="0" sz="1100" spc="45" i="1">
                <a:latin typeface="Arial"/>
                <a:cs typeface="Arial"/>
              </a:rPr>
              <a:t> </a:t>
            </a:r>
            <a:r>
              <a:rPr dirty="0" sz="1100" spc="-5">
                <a:latin typeface="Arial"/>
                <a:cs typeface="Arial"/>
              </a:rPr>
              <a:t>is</a:t>
            </a:r>
            <a:r>
              <a:rPr dirty="0" sz="1100" spc="50">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proportionate</a:t>
            </a:r>
            <a:r>
              <a:rPr dirty="0" sz="1100" spc="45">
                <a:latin typeface="Arial"/>
                <a:cs typeface="Arial"/>
              </a:rPr>
              <a:t> </a:t>
            </a:r>
            <a:r>
              <a:rPr dirty="0" sz="1100" spc="-5">
                <a:latin typeface="Arial"/>
                <a:cs typeface="Arial"/>
              </a:rPr>
              <a:t>value</a:t>
            </a:r>
            <a:endParaRPr sz="1100">
              <a:latin typeface="Arial"/>
              <a:cs typeface="Arial"/>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266</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8239759"/>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of the importable inputs in a free market where these inputs are assumed to enter the country  duty-free.</a:t>
            </a:r>
            <a:endParaRPr sz="1100">
              <a:latin typeface="Arial"/>
              <a:cs typeface="Arial"/>
            </a:endParaRPr>
          </a:p>
          <a:p>
            <a:pPr>
              <a:lnSpc>
                <a:spcPct val="100000"/>
              </a:lnSpc>
              <a:spcBef>
                <a:spcPts val="50"/>
              </a:spcBef>
            </a:pPr>
            <a:endParaRPr sz="1050">
              <a:latin typeface="Arial"/>
              <a:cs typeface="Arial"/>
            </a:endParaRPr>
          </a:p>
          <a:p>
            <a:pPr algn="just" marL="12700" marR="5080">
              <a:lnSpc>
                <a:spcPts val="1270"/>
              </a:lnSpc>
            </a:pPr>
            <a:r>
              <a:rPr dirty="0" sz="1100" spc="-5" b="1">
                <a:latin typeface="Arial"/>
                <a:cs typeface="Arial"/>
              </a:rPr>
              <a:t>To sum up, the standard argument for </a:t>
            </a:r>
            <a:r>
              <a:rPr dirty="0" sz="1100" b="1">
                <a:latin typeface="Arial"/>
                <a:cs typeface="Arial"/>
              </a:rPr>
              <a:t>tariff </a:t>
            </a:r>
            <a:r>
              <a:rPr dirty="0" sz="1100" spc="-5" b="1">
                <a:latin typeface="Arial"/>
                <a:cs typeface="Arial"/>
              </a:rPr>
              <a:t>protection in developing countries has four  major components:</a:t>
            </a:r>
            <a:endParaRPr sz="1100">
              <a:latin typeface="Arial"/>
              <a:cs typeface="Arial"/>
            </a:endParaRPr>
          </a:p>
          <a:p>
            <a:pPr>
              <a:lnSpc>
                <a:spcPct val="100000"/>
              </a:lnSpc>
              <a:spcBef>
                <a:spcPts val="45"/>
              </a:spcBef>
            </a:pPr>
            <a:endParaRPr sz="1050">
              <a:latin typeface="Arial"/>
              <a:cs typeface="Arial"/>
            </a:endParaRPr>
          </a:p>
          <a:p>
            <a:pPr algn="just" marL="469900" marR="6350" indent="-228600">
              <a:lnSpc>
                <a:spcPts val="1270"/>
              </a:lnSpc>
              <a:buFont typeface="Arial"/>
              <a:buAutoNum type="arabicPeriod"/>
              <a:tabLst>
                <a:tab pos="469900" algn="l"/>
              </a:tabLst>
            </a:pPr>
            <a:r>
              <a:rPr dirty="0" sz="1100" spc="-5">
                <a:latin typeface="Arial"/>
                <a:cs typeface="Arial"/>
              </a:rPr>
              <a:t>Duties on trade are a major source of government revenue in a majority of developing  countries because they are a relatively easy form of taxation to impose and even easier  to collect.</a:t>
            </a:r>
            <a:endParaRPr sz="1100">
              <a:latin typeface="Arial"/>
              <a:cs typeface="Arial"/>
            </a:endParaRPr>
          </a:p>
          <a:p>
            <a:pPr algn="just" marL="469900" indent="-228600">
              <a:lnSpc>
                <a:spcPts val="1190"/>
              </a:lnSpc>
              <a:buFont typeface="Arial"/>
              <a:buAutoNum type="arabicPeriod"/>
              <a:tabLst>
                <a:tab pos="469900" algn="l"/>
              </a:tabLst>
            </a:pPr>
            <a:r>
              <a:rPr dirty="0" sz="1100" spc="-5">
                <a:latin typeface="Arial"/>
                <a:cs typeface="Arial"/>
              </a:rPr>
              <a:t>Import</a:t>
            </a:r>
            <a:r>
              <a:rPr dirty="0" sz="1100" spc="135">
                <a:latin typeface="Arial"/>
                <a:cs typeface="Arial"/>
              </a:rPr>
              <a:t> </a:t>
            </a:r>
            <a:r>
              <a:rPr dirty="0" sz="1100" spc="-5">
                <a:latin typeface="Arial"/>
                <a:cs typeface="Arial"/>
              </a:rPr>
              <a:t>restrictions</a:t>
            </a:r>
            <a:r>
              <a:rPr dirty="0" sz="1100" spc="140">
                <a:latin typeface="Arial"/>
                <a:cs typeface="Arial"/>
              </a:rPr>
              <a:t> </a:t>
            </a:r>
            <a:r>
              <a:rPr dirty="0" sz="1100" spc="-5">
                <a:latin typeface="Arial"/>
                <a:cs typeface="Arial"/>
              </a:rPr>
              <a:t>represent</a:t>
            </a:r>
            <a:r>
              <a:rPr dirty="0" sz="1100" spc="140">
                <a:latin typeface="Arial"/>
                <a:cs typeface="Arial"/>
              </a:rPr>
              <a:t> </a:t>
            </a:r>
            <a:r>
              <a:rPr dirty="0" sz="1100" spc="-5">
                <a:latin typeface="Arial"/>
                <a:cs typeface="Arial"/>
              </a:rPr>
              <a:t>an</a:t>
            </a:r>
            <a:r>
              <a:rPr dirty="0" sz="1100" spc="140">
                <a:latin typeface="Arial"/>
                <a:cs typeface="Arial"/>
              </a:rPr>
              <a:t> </a:t>
            </a:r>
            <a:r>
              <a:rPr dirty="0" sz="1100" spc="-5">
                <a:latin typeface="Arial"/>
                <a:cs typeface="Arial"/>
              </a:rPr>
              <a:t>obvious</a:t>
            </a:r>
            <a:r>
              <a:rPr dirty="0" sz="1100" spc="140">
                <a:latin typeface="Arial"/>
                <a:cs typeface="Arial"/>
              </a:rPr>
              <a:t> </a:t>
            </a:r>
            <a:r>
              <a:rPr dirty="0" sz="1100" spc="-5">
                <a:latin typeface="Arial"/>
                <a:cs typeface="Arial"/>
              </a:rPr>
              <a:t>response</a:t>
            </a:r>
            <a:r>
              <a:rPr dirty="0" sz="1100" spc="140">
                <a:latin typeface="Arial"/>
                <a:cs typeface="Arial"/>
              </a:rPr>
              <a:t> </a:t>
            </a:r>
            <a:r>
              <a:rPr dirty="0" sz="1100" spc="-5">
                <a:latin typeface="Arial"/>
                <a:cs typeface="Arial"/>
              </a:rPr>
              <a:t>to</a:t>
            </a:r>
            <a:r>
              <a:rPr dirty="0" sz="1100" spc="140">
                <a:latin typeface="Arial"/>
                <a:cs typeface="Arial"/>
              </a:rPr>
              <a:t> </a:t>
            </a:r>
            <a:r>
              <a:rPr dirty="0" sz="1100" spc="-5">
                <a:latin typeface="Arial"/>
                <a:cs typeface="Arial"/>
              </a:rPr>
              <a:t>chronic</a:t>
            </a:r>
            <a:r>
              <a:rPr dirty="0" sz="1100" spc="140">
                <a:latin typeface="Arial"/>
                <a:cs typeface="Arial"/>
              </a:rPr>
              <a:t> </a:t>
            </a:r>
            <a:r>
              <a:rPr dirty="0" sz="1100" spc="-5">
                <a:latin typeface="Arial"/>
                <a:cs typeface="Arial"/>
              </a:rPr>
              <a:t>balance</a:t>
            </a:r>
            <a:r>
              <a:rPr dirty="0" sz="1100" spc="135">
                <a:latin typeface="Arial"/>
                <a:cs typeface="Arial"/>
              </a:rPr>
              <a:t> </a:t>
            </a:r>
            <a:r>
              <a:rPr dirty="0" sz="1100" spc="-5">
                <a:latin typeface="Arial"/>
                <a:cs typeface="Arial"/>
              </a:rPr>
              <a:t>of</a:t>
            </a:r>
            <a:r>
              <a:rPr dirty="0" sz="1100" spc="140">
                <a:latin typeface="Arial"/>
                <a:cs typeface="Arial"/>
              </a:rPr>
              <a:t> </a:t>
            </a:r>
            <a:r>
              <a:rPr dirty="0" sz="1100" spc="-5">
                <a:latin typeface="Arial"/>
                <a:cs typeface="Arial"/>
              </a:rPr>
              <a:t>payments</a:t>
            </a:r>
            <a:r>
              <a:rPr dirty="0" sz="1100" spc="140">
                <a:latin typeface="Arial"/>
                <a:cs typeface="Arial"/>
              </a:rPr>
              <a:t> </a:t>
            </a:r>
            <a:r>
              <a:rPr dirty="0" sz="1100" spc="-5">
                <a:latin typeface="Arial"/>
                <a:cs typeface="Arial"/>
              </a:rPr>
              <a:t>and</a:t>
            </a:r>
            <a:endParaRPr sz="1100">
              <a:latin typeface="Arial"/>
              <a:cs typeface="Arial"/>
            </a:endParaRPr>
          </a:p>
          <a:p>
            <a:pPr algn="just" marL="469900">
              <a:lnSpc>
                <a:spcPts val="1265"/>
              </a:lnSpc>
            </a:pPr>
            <a:r>
              <a:rPr dirty="0" sz="1100" spc="-5">
                <a:latin typeface="Arial"/>
                <a:cs typeface="Arial"/>
              </a:rPr>
              <a:t>debt problems.</a:t>
            </a:r>
            <a:endParaRPr sz="1100">
              <a:latin typeface="Arial"/>
              <a:cs typeface="Arial"/>
            </a:endParaRPr>
          </a:p>
          <a:p>
            <a:pPr algn="just" marL="469900" marR="5715" indent="-228600">
              <a:lnSpc>
                <a:spcPct val="95800"/>
              </a:lnSpc>
              <a:spcBef>
                <a:spcPts val="30"/>
              </a:spcBef>
              <a:buFont typeface="Arial"/>
              <a:buAutoNum type="arabicPeriod" startAt="3"/>
              <a:tabLst>
                <a:tab pos="469900" algn="l"/>
              </a:tabLst>
            </a:pPr>
            <a:r>
              <a:rPr dirty="0" sz="1100" spc="-5">
                <a:latin typeface="Arial"/>
                <a:cs typeface="Arial"/>
              </a:rPr>
              <a:t>Protection against imports is said to be an appropriate means for fostering economies of  scale, positive externalities, and industrial self-reliance as well as overcoming the  pervasive state of economic dependence in which many or most developing countries  understandably perceive</a:t>
            </a:r>
            <a:r>
              <a:rPr dirty="0" sz="1100" spc="5">
                <a:latin typeface="Arial"/>
                <a:cs typeface="Arial"/>
              </a:rPr>
              <a:t> </a:t>
            </a:r>
            <a:r>
              <a:rPr dirty="0" sz="1100" spc="-5">
                <a:latin typeface="Arial"/>
                <a:cs typeface="Arial"/>
              </a:rPr>
              <a:t>themselves.</a:t>
            </a:r>
            <a:endParaRPr sz="1100">
              <a:latin typeface="Arial"/>
              <a:cs typeface="Arial"/>
            </a:endParaRPr>
          </a:p>
          <a:p>
            <a:pPr algn="just" marL="469900" marR="5715" indent="-228600">
              <a:lnSpc>
                <a:spcPct val="95800"/>
              </a:lnSpc>
              <a:buFont typeface="Arial"/>
              <a:buAutoNum type="arabicPeriod" startAt="3"/>
              <a:tabLst>
                <a:tab pos="469900" algn="l"/>
              </a:tabLst>
            </a:pPr>
            <a:r>
              <a:rPr dirty="0" sz="1100" spc="-5">
                <a:latin typeface="Arial"/>
                <a:cs typeface="Arial"/>
              </a:rPr>
              <a:t>By pursuing policies of import restriction, developing countries can gain greater control  over their economic destinies while encouraging foreign business interests to invest in  local import-substituting industries, generating high profits and thus the potential for  greater saving and future growth. They can also obtain imported equipment at relatively  favorable prices and reserve an already established domestic market for local or locally  controlled producers. Eventually, they </a:t>
            </a:r>
            <a:r>
              <a:rPr dirty="0" sz="1100">
                <a:latin typeface="Arial"/>
                <a:cs typeface="Arial"/>
              </a:rPr>
              <a:t>may even </a:t>
            </a:r>
            <a:r>
              <a:rPr dirty="0" sz="1100" spc="-5">
                <a:latin typeface="Arial"/>
                <a:cs typeface="Arial"/>
              </a:rPr>
              <a:t>become competitive enough to export  to the world</a:t>
            </a:r>
            <a:r>
              <a:rPr dirty="0" sz="1100" spc="5">
                <a:latin typeface="Arial"/>
                <a:cs typeface="Arial"/>
              </a:rPr>
              <a:t> </a:t>
            </a:r>
            <a:r>
              <a:rPr dirty="0" sz="1100" spc="-5">
                <a:latin typeface="Arial"/>
                <a:cs typeface="Arial"/>
              </a:rPr>
              <a:t>market.</a:t>
            </a:r>
            <a:endParaRPr sz="1100">
              <a:latin typeface="Arial"/>
              <a:cs typeface="Arial"/>
            </a:endParaRPr>
          </a:p>
          <a:p>
            <a:pPr>
              <a:lnSpc>
                <a:spcPct val="100000"/>
              </a:lnSpc>
              <a:spcBef>
                <a:spcPts val="35"/>
              </a:spcBef>
            </a:pPr>
            <a:endParaRPr sz="1100">
              <a:latin typeface="Arial"/>
              <a:cs typeface="Arial"/>
            </a:endParaRPr>
          </a:p>
          <a:p>
            <a:pPr algn="just" marL="12700" marR="6350">
              <a:lnSpc>
                <a:spcPts val="1270"/>
              </a:lnSpc>
              <a:spcBef>
                <a:spcPts val="5"/>
              </a:spcBef>
            </a:pPr>
            <a:r>
              <a:rPr dirty="0" sz="1100" spc="-5" b="1">
                <a:latin typeface="Arial"/>
                <a:cs typeface="Arial"/>
              </a:rPr>
              <a:t>FOREIGN-EXCHANGE RATES, EXCHANGE CONTROLS, AND THE DEVALUATION  DECISION</a:t>
            </a:r>
            <a:endParaRPr sz="1100">
              <a:latin typeface="Arial"/>
              <a:cs typeface="Arial"/>
            </a:endParaRPr>
          </a:p>
          <a:p>
            <a:pPr>
              <a:lnSpc>
                <a:spcPct val="100000"/>
              </a:lnSpc>
              <a:spcBef>
                <a:spcPts val="5"/>
              </a:spcBef>
            </a:pPr>
            <a:endParaRPr sz="1150">
              <a:latin typeface="Arial"/>
              <a:cs typeface="Arial"/>
            </a:endParaRPr>
          </a:p>
          <a:p>
            <a:pPr algn="just" marL="12700" marR="5715">
              <a:lnSpc>
                <a:spcPct val="95900"/>
              </a:lnSpc>
            </a:pPr>
            <a:r>
              <a:rPr dirty="0" sz="1100" spc="-5">
                <a:latin typeface="Arial"/>
                <a:cs typeface="Arial"/>
              </a:rPr>
              <a:t>We have already briefly discussed the question of foreign-exchange rates. Remember that a  country’s official exchange rate is the rate at which its central bank is prepared to transact  exchanges of its local currency for other currencies in approved foreign-exchange markets.  Official exchange rates are usually quoted in </a:t>
            </a:r>
            <a:r>
              <a:rPr dirty="0" sz="1100">
                <a:latin typeface="Arial"/>
                <a:cs typeface="Arial"/>
              </a:rPr>
              <a:t>terms </a:t>
            </a:r>
            <a:r>
              <a:rPr dirty="0" sz="1100" spc="-5">
                <a:latin typeface="Arial"/>
                <a:cs typeface="Arial"/>
              </a:rPr>
              <a:t>of U.S. dollars—so many Pesos, Reals,  Pounds, Euros, Rupees, Bhat, or </a:t>
            </a:r>
            <a:r>
              <a:rPr dirty="0" sz="1100">
                <a:latin typeface="Arial"/>
                <a:cs typeface="Arial"/>
              </a:rPr>
              <a:t>Yen </a:t>
            </a:r>
            <a:r>
              <a:rPr dirty="0" sz="1100" spc="-5">
                <a:latin typeface="Arial"/>
                <a:cs typeface="Arial"/>
              </a:rPr>
              <a:t>per Dollar. For example, the official exchange rate of the  South African rand for U.S. dollars in 1998 was approximately 5 rand per dollar, and the Indian  rupee was officially valued at approximately 40 rupees per dollar. If a South African  manufacturer wished to import fabrics from an Indian textile exporter at a cost of 40,000 rupees,  he would need 5,000 rand to make the purchase. However, since almost all foreign-exchange  transactions</a:t>
            </a:r>
            <a:r>
              <a:rPr dirty="0" sz="1100" spc="100">
                <a:latin typeface="Arial"/>
                <a:cs typeface="Arial"/>
              </a:rPr>
              <a:t> </a:t>
            </a:r>
            <a:r>
              <a:rPr dirty="0" sz="1100" spc="-5">
                <a:latin typeface="Arial"/>
                <a:cs typeface="Arial"/>
              </a:rPr>
              <a:t>are</a:t>
            </a:r>
            <a:r>
              <a:rPr dirty="0" sz="1100" spc="100">
                <a:latin typeface="Arial"/>
                <a:cs typeface="Arial"/>
              </a:rPr>
              <a:t> </a:t>
            </a:r>
            <a:r>
              <a:rPr dirty="0" sz="1100" spc="-5">
                <a:latin typeface="Arial"/>
                <a:cs typeface="Arial"/>
              </a:rPr>
              <a:t>conducted</a:t>
            </a:r>
            <a:r>
              <a:rPr dirty="0" sz="1100" spc="100">
                <a:latin typeface="Arial"/>
                <a:cs typeface="Arial"/>
              </a:rPr>
              <a:t> </a:t>
            </a:r>
            <a:r>
              <a:rPr dirty="0" sz="1100" spc="-5">
                <a:latin typeface="Arial"/>
                <a:cs typeface="Arial"/>
              </a:rPr>
              <a:t>in</a:t>
            </a:r>
            <a:r>
              <a:rPr dirty="0" sz="1100" spc="100">
                <a:latin typeface="Arial"/>
                <a:cs typeface="Arial"/>
              </a:rPr>
              <a:t> </a:t>
            </a:r>
            <a:r>
              <a:rPr dirty="0" sz="1100" spc="-5">
                <a:latin typeface="Arial"/>
                <a:cs typeface="Arial"/>
              </a:rPr>
              <a:t>U.S.</a:t>
            </a:r>
            <a:r>
              <a:rPr dirty="0" sz="1100" spc="90">
                <a:latin typeface="Arial"/>
                <a:cs typeface="Arial"/>
              </a:rPr>
              <a:t> </a:t>
            </a:r>
            <a:r>
              <a:rPr dirty="0" sz="1100" spc="-5">
                <a:latin typeface="Arial"/>
                <a:cs typeface="Arial"/>
              </a:rPr>
              <a:t>dollars,</a:t>
            </a:r>
            <a:r>
              <a:rPr dirty="0" sz="1100" spc="90">
                <a:latin typeface="Arial"/>
                <a:cs typeface="Arial"/>
              </a:rPr>
              <a:t> </a:t>
            </a:r>
            <a:r>
              <a:rPr dirty="0" sz="1100" spc="-5">
                <a:latin typeface="Arial"/>
                <a:cs typeface="Arial"/>
              </a:rPr>
              <a:t>the</a:t>
            </a:r>
            <a:r>
              <a:rPr dirty="0" sz="1100" spc="100">
                <a:latin typeface="Arial"/>
                <a:cs typeface="Arial"/>
              </a:rPr>
              <a:t> </a:t>
            </a:r>
            <a:r>
              <a:rPr dirty="0" sz="1100" spc="-5">
                <a:latin typeface="Arial"/>
                <a:cs typeface="Arial"/>
              </a:rPr>
              <a:t>South</a:t>
            </a:r>
            <a:r>
              <a:rPr dirty="0" sz="1100" spc="100">
                <a:latin typeface="Arial"/>
                <a:cs typeface="Arial"/>
              </a:rPr>
              <a:t> </a:t>
            </a:r>
            <a:r>
              <a:rPr dirty="0" sz="1100" spc="-5">
                <a:latin typeface="Arial"/>
                <a:cs typeface="Arial"/>
              </a:rPr>
              <a:t>African</a:t>
            </a:r>
            <a:r>
              <a:rPr dirty="0" sz="1100" spc="100">
                <a:latin typeface="Arial"/>
                <a:cs typeface="Arial"/>
              </a:rPr>
              <a:t> </a:t>
            </a:r>
            <a:r>
              <a:rPr dirty="0" sz="1100" spc="-5">
                <a:latin typeface="Arial"/>
                <a:cs typeface="Arial"/>
              </a:rPr>
              <a:t>importer</a:t>
            </a:r>
            <a:r>
              <a:rPr dirty="0" sz="1100" spc="90">
                <a:latin typeface="Arial"/>
                <a:cs typeface="Arial"/>
              </a:rPr>
              <a:t> </a:t>
            </a:r>
            <a:r>
              <a:rPr dirty="0" sz="1100" spc="-5">
                <a:latin typeface="Arial"/>
                <a:cs typeface="Arial"/>
              </a:rPr>
              <a:t>would</a:t>
            </a:r>
            <a:r>
              <a:rPr dirty="0" sz="1100" spc="100">
                <a:latin typeface="Arial"/>
                <a:cs typeface="Arial"/>
              </a:rPr>
              <a:t> </a:t>
            </a:r>
            <a:r>
              <a:rPr dirty="0" sz="1100" spc="-5">
                <a:latin typeface="Arial"/>
                <a:cs typeface="Arial"/>
              </a:rPr>
              <a:t>need</a:t>
            </a:r>
            <a:r>
              <a:rPr dirty="0" sz="1100" spc="90">
                <a:latin typeface="Arial"/>
                <a:cs typeface="Arial"/>
              </a:rPr>
              <a:t> </a:t>
            </a:r>
            <a:r>
              <a:rPr dirty="0" sz="1100" spc="-5">
                <a:latin typeface="Arial"/>
                <a:cs typeface="Arial"/>
              </a:rPr>
              <a:t>to</a:t>
            </a:r>
            <a:r>
              <a:rPr dirty="0" sz="1100" spc="100">
                <a:latin typeface="Arial"/>
                <a:cs typeface="Arial"/>
              </a:rPr>
              <a:t> </a:t>
            </a:r>
            <a:r>
              <a:rPr dirty="0" sz="1100" spc="-5">
                <a:latin typeface="Arial"/>
                <a:cs typeface="Arial"/>
              </a:rPr>
              <a:t>purchase</a:t>
            </a:r>
            <a:endParaRPr sz="1100">
              <a:latin typeface="Arial"/>
              <a:cs typeface="Arial"/>
            </a:endParaRPr>
          </a:p>
          <a:p>
            <a:pPr algn="just" marL="12700" marR="5080">
              <a:lnSpc>
                <a:spcPts val="1260"/>
              </a:lnSpc>
              <a:spcBef>
                <a:spcPts val="40"/>
              </a:spcBef>
            </a:pPr>
            <a:r>
              <a:rPr dirty="0" sz="1100" spc="-5">
                <a:latin typeface="Arial"/>
                <a:cs typeface="Arial"/>
              </a:rPr>
              <a:t>$1,000 worth of foreign exchange from the central bank of South Africa for his 5,000 rand and  then transmit these dollars through official channels to the Indian</a:t>
            </a:r>
            <a:r>
              <a:rPr dirty="0" sz="1100" spc="70">
                <a:latin typeface="Arial"/>
                <a:cs typeface="Arial"/>
              </a:rPr>
              <a:t> </a:t>
            </a:r>
            <a:r>
              <a:rPr dirty="0" sz="1100" spc="-5">
                <a:latin typeface="Arial"/>
                <a:cs typeface="Arial"/>
              </a:rPr>
              <a:t>exporter.</a:t>
            </a:r>
            <a:endParaRPr sz="1100">
              <a:latin typeface="Arial"/>
              <a:cs typeface="Arial"/>
            </a:endParaRPr>
          </a:p>
          <a:p>
            <a:pPr>
              <a:lnSpc>
                <a:spcPct val="100000"/>
              </a:lnSpc>
              <a:spcBef>
                <a:spcPts val="25"/>
              </a:spcBef>
            </a:pPr>
            <a:endParaRPr sz="1050">
              <a:latin typeface="Arial"/>
              <a:cs typeface="Arial"/>
            </a:endParaRPr>
          </a:p>
          <a:p>
            <a:pPr algn="just" marL="12700" marR="5080">
              <a:lnSpc>
                <a:spcPct val="95800"/>
              </a:lnSpc>
            </a:pPr>
            <a:r>
              <a:rPr dirty="0" sz="1100" spc="-5">
                <a:latin typeface="Arial"/>
                <a:cs typeface="Arial"/>
              </a:rPr>
              <a:t>Official foreign-exchange rates are not necessarily set at or near the economic equilibrium price  for foreign exchange—that is, the rate at which the domestic demand for a foreign currency  such as dollars would just equal its supply in the absence of governmental regulation or  intervention. In fact, as noted earlier, historically the currencies of most developing countries  have been overvalued by the exchange rate. Whenever the official price of foreign exchange is  established at a level that in the absence of any governmental restrictions or controls would  result in an excess of local demand over the </a:t>
            </a:r>
            <a:r>
              <a:rPr dirty="0" sz="1100">
                <a:latin typeface="Arial"/>
                <a:cs typeface="Arial"/>
              </a:rPr>
              <a:t>available </a:t>
            </a:r>
            <a:r>
              <a:rPr dirty="0" sz="1100" spc="-5">
                <a:latin typeface="Arial"/>
                <a:cs typeface="Arial"/>
              </a:rPr>
              <a:t>supply of foreign exchange, the domestic  currency in question is said to be</a:t>
            </a:r>
            <a:r>
              <a:rPr dirty="0" sz="1100" spc="30">
                <a:latin typeface="Arial"/>
                <a:cs typeface="Arial"/>
              </a:rPr>
              <a:t> </a:t>
            </a:r>
            <a:r>
              <a:rPr dirty="0" sz="1100" spc="-5">
                <a:latin typeface="Arial"/>
                <a:cs typeface="Arial"/>
              </a:rPr>
              <a:t>overvalued.</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In situations of excess demand, developing-country central banks have three </a:t>
            </a:r>
            <a:r>
              <a:rPr dirty="0" sz="1100">
                <a:latin typeface="Arial"/>
                <a:cs typeface="Arial"/>
              </a:rPr>
              <a:t>basic </a:t>
            </a:r>
            <a:r>
              <a:rPr dirty="0" sz="1100" spc="-5">
                <a:latin typeface="Arial"/>
                <a:cs typeface="Arial"/>
              </a:rPr>
              <a:t>policy  options to maintain the official rate of exchange. First, they can attempt to accommodate the  excess</a:t>
            </a:r>
            <a:r>
              <a:rPr dirty="0" sz="1100" spc="85">
                <a:latin typeface="Arial"/>
                <a:cs typeface="Arial"/>
              </a:rPr>
              <a:t> </a:t>
            </a:r>
            <a:r>
              <a:rPr dirty="0" sz="1100" spc="-5">
                <a:latin typeface="Arial"/>
                <a:cs typeface="Arial"/>
              </a:rPr>
              <a:t>demand</a:t>
            </a:r>
            <a:r>
              <a:rPr dirty="0" sz="1100" spc="90">
                <a:latin typeface="Arial"/>
                <a:cs typeface="Arial"/>
              </a:rPr>
              <a:t> </a:t>
            </a:r>
            <a:r>
              <a:rPr dirty="0" sz="1100" spc="-5">
                <a:latin typeface="Arial"/>
                <a:cs typeface="Arial"/>
              </a:rPr>
              <a:t>by</a:t>
            </a:r>
            <a:r>
              <a:rPr dirty="0" sz="1100" spc="90">
                <a:latin typeface="Arial"/>
                <a:cs typeface="Arial"/>
              </a:rPr>
              <a:t> </a:t>
            </a:r>
            <a:r>
              <a:rPr dirty="0" sz="1100" spc="-5">
                <a:latin typeface="Arial"/>
                <a:cs typeface="Arial"/>
              </a:rPr>
              <a:t>running</a:t>
            </a:r>
            <a:r>
              <a:rPr dirty="0" sz="1100" spc="85">
                <a:latin typeface="Arial"/>
                <a:cs typeface="Arial"/>
              </a:rPr>
              <a:t> </a:t>
            </a:r>
            <a:r>
              <a:rPr dirty="0" sz="1100" spc="-5">
                <a:latin typeface="Arial"/>
                <a:cs typeface="Arial"/>
              </a:rPr>
              <a:t>down</a:t>
            </a:r>
            <a:r>
              <a:rPr dirty="0" sz="1100" spc="90">
                <a:latin typeface="Arial"/>
                <a:cs typeface="Arial"/>
              </a:rPr>
              <a:t> </a:t>
            </a:r>
            <a:r>
              <a:rPr dirty="0" sz="1100" spc="-5">
                <a:latin typeface="Arial"/>
                <a:cs typeface="Arial"/>
              </a:rPr>
              <a:t>their</a:t>
            </a:r>
            <a:r>
              <a:rPr dirty="0" sz="1100" spc="90">
                <a:latin typeface="Arial"/>
                <a:cs typeface="Arial"/>
              </a:rPr>
              <a:t> </a:t>
            </a:r>
            <a:r>
              <a:rPr dirty="0" sz="1100" spc="-5">
                <a:latin typeface="Arial"/>
                <a:cs typeface="Arial"/>
              </a:rPr>
              <a:t>reserves</a:t>
            </a:r>
            <a:r>
              <a:rPr dirty="0" sz="1100" spc="85">
                <a:latin typeface="Arial"/>
                <a:cs typeface="Arial"/>
              </a:rPr>
              <a:t> </a:t>
            </a:r>
            <a:r>
              <a:rPr dirty="0" sz="1100" spc="-5">
                <a:latin typeface="Arial"/>
                <a:cs typeface="Arial"/>
              </a:rPr>
              <a:t>of</a:t>
            </a:r>
            <a:r>
              <a:rPr dirty="0" sz="1100" spc="100">
                <a:latin typeface="Arial"/>
                <a:cs typeface="Arial"/>
              </a:rPr>
              <a:t> </a:t>
            </a:r>
            <a:r>
              <a:rPr dirty="0" sz="1100" spc="-5">
                <a:latin typeface="Arial"/>
                <a:cs typeface="Arial"/>
              </a:rPr>
              <a:t>foreign</a:t>
            </a:r>
            <a:r>
              <a:rPr dirty="0" sz="1100" spc="90">
                <a:latin typeface="Arial"/>
                <a:cs typeface="Arial"/>
              </a:rPr>
              <a:t> </a:t>
            </a:r>
            <a:r>
              <a:rPr dirty="0" sz="1100" spc="-5">
                <a:latin typeface="Arial"/>
                <a:cs typeface="Arial"/>
              </a:rPr>
              <a:t>exchange</a:t>
            </a:r>
            <a:r>
              <a:rPr dirty="0" sz="1100" spc="90">
                <a:latin typeface="Arial"/>
                <a:cs typeface="Arial"/>
              </a:rPr>
              <a:t> </a:t>
            </a:r>
            <a:r>
              <a:rPr dirty="0" sz="1100" spc="-5">
                <a:latin typeface="Arial"/>
                <a:cs typeface="Arial"/>
              </a:rPr>
              <a:t>(as</a:t>
            </a:r>
            <a:r>
              <a:rPr dirty="0" sz="1100" spc="85">
                <a:latin typeface="Arial"/>
                <a:cs typeface="Arial"/>
              </a:rPr>
              <a:t> </a:t>
            </a:r>
            <a:r>
              <a:rPr dirty="0" sz="1100" spc="-5">
                <a:latin typeface="Arial"/>
                <a:cs typeface="Arial"/>
              </a:rPr>
              <a:t>Mexico</a:t>
            </a:r>
            <a:r>
              <a:rPr dirty="0" sz="1100" spc="90">
                <a:latin typeface="Arial"/>
                <a:cs typeface="Arial"/>
              </a:rPr>
              <a:t> </a:t>
            </a:r>
            <a:r>
              <a:rPr dirty="0" sz="1100" spc="-5">
                <a:latin typeface="Arial"/>
                <a:cs typeface="Arial"/>
              </a:rPr>
              <a:t>did</a:t>
            </a:r>
            <a:r>
              <a:rPr dirty="0" sz="1100" spc="90">
                <a:latin typeface="Arial"/>
                <a:cs typeface="Arial"/>
              </a:rPr>
              <a:t> </a:t>
            </a:r>
            <a:r>
              <a:rPr dirty="0" sz="1100" spc="-5">
                <a:latin typeface="Arial"/>
                <a:cs typeface="Arial"/>
              </a:rPr>
              <a:t>from</a:t>
            </a:r>
            <a:r>
              <a:rPr dirty="0" sz="1100" spc="85">
                <a:latin typeface="Arial"/>
                <a:cs typeface="Arial"/>
              </a:rPr>
              <a:t> </a:t>
            </a:r>
            <a:r>
              <a:rPr dirty="0" sz="1100">
                <a:latin typeface="Arial"/>
                <a:cs typeface="Arial"/>
              </a:rPr>
              <a:t>1991</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267</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863591" y="891794"/>
            <a:ext cx="6046470" cy="4700270"/>
          </a:xfrm>
          <a:prstGeom prst="rect">
            <a:avLst/>
          </a:prstGeom>
        </p:spPr>
        <p:txBody>
          <a:bodyPr wrap="square" lIns="0" tIns="19050" rIns="0" bIns="0" rtlCol="0" vert="horz">
            <a:spAutoFit/>
          </a:bodyPr>
          <a:lstStyle/>
          <a:p>
            <a:pPr algn="just" marL="50800" marR="43815">
              <a:lnSpc>
                <a:spcPct val="95900"/>
              </a:lnSpc>
              <a:spcBef>
                <a:spcPts val="150"/>
              </a:spcBef>
            </a:pPr>
            <a:r>
              <a:rPr dirty="0" sz="1100" spc="-5">
                <a:latin typeface="Arial"/>
                <a:cs typeface="Arial"/>
              </a:rPr>
              <a:t>to 1994 and Thailand, Malaysia, Indonesia, and the Philippines did from 1995 to 1997) or </a:t>
            </a:r>
            <a:r>
              <a:rPr dirty="0" sz="1100">
                <a:latin typeface="Arial"/>
                <a:cs typeface="Arial"/>
              </a:rPr>
              <a:t>by  </a:t>
            </a:r>
            <a:r>
              <a:rPr dirty="0" sz="1100" spc="-5">
                <a:latin typeface="Arial"/>
                <a:cs typeface="Arial"/>
              </a:rPr>
              <a:t>borrowing additional foreign exchange abroad and thereby incurring further debts (as many  African countries did in the 1980s and Indonesia and South Korea </a:t>
            </a:r>
            <a:r>
              <a:rPr dirty="0" sz="1100">
                <a:latin typeface="Arial"/>
                <a:cs typeface="Arial"/>
              </a:rPr>
              <a:t>did </a:t>
            </a:r>
            <a:r>
              <a:rPr dirty="0" sz="1100" spc="-5">
                <a:latin typeface="Arial"/>
                <a:cs typeface="Arial"/>
              </a:rPr>
              <a:t>in the 1990s). Second,  they can attempt to curtail the excess demand for foreign exchange by pursuing commercial  policies and tax measures designed to lessen the demand for imports (e.g., tariffs, physical  quotas, licensing). Third, they can regulate and intervene in the foreign-exchange market </a:t>
            </a:r>
            <a:r>
              <a:rPr dirty="0" sz="1100">
                <a:latin typeface="Arial"/>
                <a:cs typeface="Arial"/>
              </a:rPr>
              <a:t>by  </a:t>
            </a:r>
            <a:r>
              <a:rPr dirty="0" sz="1100" spc="-5">
                <a:latin typeface="Arial"/>
                <a:cs typeface="Arial"/>
              </a:rPr>
              <a:t>rationing the limited supply of available foreign exchange to “preferred” customers. 46 Such  rationing is more commonly known as </a:t>
            </a:r>
            <a:r>
              <a:rPr dirty="0" sz="1100" spc="-5" b="1">
                <a:latin typeface="Arial"/>
                <a:cs typeface="Arial"/>
              </a:rPr>
              <a:t>exchange control</a:t>
            </a:r>
            <a:r>
              <a:rPr dirty="0" sz="1100" spc="-5">
                <a:latin typeface="Arial"/>
                <a:cs typeface="Arial"/>
              </a:rPr>
              <a:t>. The policy has been widely used  throughout the developing world, although it is much less common than it once</a:t>
            </a:r>
            <a:r>
              <a:rPr dirty="0" sz="1100" spc="120">
                <a:latin typeface="Arial"/>
                <a:cs typeface="Arial"/>
              </a:rPr>
              <a:t> </a:t>
            </a:r>
            <a:r>
              <a:rPr dirty="0" sz="1100" spc="-5">
                <a:latin typeface="Arial"/>
                <a:cs typeface="Arial"/>
              </a:rPr>
              <a:t>was.</a:t>
            </a:r>
            <a:endParaRPr sz="1100">
              <a:latin typeface="Arial"/>
              <a:cs typeface="Arial"/>
            </a:endParaRPr>
          </a:p>
          <a:p>
            <a:pPr>
              <a:lnSpc>
                <a:spcPct val="100000"/>
              </a:lnSpc>
              <a:spcBef>
                <a:spcPts val="20"/>
              </a:spcBef>
            </a:pPr>
            <a:endParaRPr sz="1150">
              <a:latin typeface="Arial"/>
              <a:cs typeface="Arial"/>
            </a:endParaRPr>
          </a:p>
          <a:p>
            <a:pPr algn="just" marL="508000" marR="44450" indent="-228600">
              <a:lnSpc>
                <a:spcPct val="95700"/>
              </a:lnSpc>
              <a:buFont typeface="Symbol"/>
              <a:buChar char=""/>
              <a:tabLst>
                <a:tab pos="508634" algn="l"/>
              </a:tabLst>
            </a:pPr>
            <a:r>
              <a:rPr dirty="0" sz="1100" spc="-5" b="1">
                <a:latin typeface="Arial"/>
                <a:cs typeface="Arial"/>
              </a:rPr>
              <a:t>Exchange control </a:t>
            </a:r>
            <a:r>
              <a:rPr dirty="0" sz="1100" spc="-5">
                <a:latin typeface="Arial"/>
                <a:cs typeface="Arial"/>
              </a:rPr>
              <a:t>A governmental policy designed to restrict the outflow of </a:t>
            </a:r>
            <a:r>
              <a:rPr dirty="0" sz="1100">
                <a:latin typeface="Arial"/>
                <a:cs typeface="Arial"/>
              </a:rPr>
              <a:t>domestic  </a:t>
            </a:r>
            <a:r>
              <a:rPr dirty="0" sz="1100" spc="-5">
                <a:latin typeface="Arial"/>
                <a:cs typeface="Arial"/>
              </a:rPr>
              <a:t>currency and prevent a worsened balance of payments position by controlling the  amount of foreign exchange that can be obtained or held by domestic</a:t>
            </a:r>
            <a:r>
              <a:rPr dirty="0" sz="1100" spc="110">
                <a:latin typeface="Arial"/>
                <a:cs typeface="Arial"/>
              </a:rPr>
              <a:t> </a:t>
            </a:r>
            <a:r>
              <a:rPr dirty="0" sz="1100" spc="-5">
                <a:latin typeface="Arial"/>
                <a:cs typeface="Arial"/>
              </a:rPr>
              <a:t>citizens.</a:t>
            </a:r>
            <a:endParaRPr sz="1100">
              <a:latin typeface="Arial"/>
              <a:cs typeface="Arial"/>
            </a:endParaRPr>
          </a:p>
          <a:p>
            <a:pPr>
              <a:lnSpc>
                <a:spcPct val="100000"/>
              </a:lnSpc>
            </a:pPr>
            <a:endParaRPr sz="1100">
              <a:latin typeface="Arial"/>
              <a:cs typeface="Arial"/>
            </a:endParaRPr>
          </a:p>
          <a:p>
            <a:pPr algn="just" marL="50800" marR="43180">
              <a:lnSpc>
                <a:spcPct val="95800"/>
              </a:lnSpc>
            </a:pPr>
            <a:r>
              <a:rPr dirty="0" sz="1100" spc="-5">
                <a:latin typeface="Arial"/>
                <a:cs typeface="Arial"/>
              </a:rPr>
              <a:t>The mechanism and operation of exchange control can be illustrated diagrammatically with the  aid of Figure 12.4. Under free-market conditions, the equilibrium price of foreign exchange  would be </a:t>
            </a:r>
            <a:r>
              <a:rPr dirty="0" sz="1100" spc="-5" b="1" i="1">
                <a:latin typeface="Arial"/>
                <a:cs typeface="Arial"/>
              </a:rPr>
              <a:t>P</a:t>
            </a:r>
            <a:r>
              <a:rPr dirty="0" baseline="-11904" sz="1050" spc="-7" b="1" i="1">
                <a:latin typeface="Arial"/>
                <a:cs typeface="Arial"/>
              </a:rPr>
              <a:t>e</a:t>
            </a:r>
            <a:r>
              <a:rPr dirty="0" sz="1100" spc="-5" b="1" i="1">
                <a:latin typeface="Arial"/>
                <a:cs typeface="Arial"/>
              </a:rPr>
              <a:t>, </a:t>
            </a:r>
            <a:r>
              <a:rPr dirty="0" sz="1100" spc="-5">
                <a:latin typeface="Arial"/>
                <a:cs typeface="Arial"/>
              </a:rPr>
              <a:t>with a total of </a:t>
            </a:r>
            <a:r>
              <a:rPr dirty="0" sz="1100" spc="-5" i="1">
                <a:latin typeface="Arial"/>
                <a:cs typeface="Arial"/>
              </a:rPr>
              <a:t>M </a:t>
            </a:r>
            <a:r>
              <a:rPr dirty="0" sz="1100" spc="-5">
                <a:latin typeface="Arial"/>
                <a:cs typeface="Arial"/>
              </a:rPr>
              <a:t>units of foreign exchange demanded and supplied. If, however,  the government maintains an artificially low price of foreign exchange (i.e., an overvaluation of  its domestic currency) at </a:t>
            </a:r>
            <a:r>
              <a:rPr dirty="0" sz="1100" spc="-5" b="1" i="1">
                <a:latin typeface="Arial"/>
                <a:cs typeface="Arial"/>
              </a:rPr>
              <a:t>P</a:t>
            </a:r>
            <a:r>
              <a:rPr dirty="0" baseline="-11904" sz="1050" spc="-7" b="1" i="1">
                <a:latin typeface="Arial"/>
                <a:cs typeface="Arial"/>
              </a:rPr>
              <a:t>a</a:t>
            </a:r>
            <a:r>
              <a:rPr dirty="0" sz="1100" spc="-5">
                <a:latin typeface="Arial"/>
                <a:cs typeface="Arial"/>
              </a:rPr>
              <a:t>, the supply of foreign exchange will amount to only </a:t>
            </a:r>
            <a:r>
              <a:rPr dirty="0" sz="1100" spc="-5" i="1">
                <a:latin typeface="Arial"/>
                <a:cs typeface="Arial"/>
              </a:rPr>
              <a:t>M </a:t>
            </a:r>
            <a:r>
              <a:rPr dirty="0" sz="1100" spc="-5">
                <a:latin typeface="Arial"/>
                <a:cs typeface="Arial"/>
              </a:rPr>
              <a:t>units because  exports are overpriced. But at price </a:t>
            </a:r>
            <a:r>
              <a:rPr dirty="0" sz="1100" spc="-5" i="1">
                <a:latin typeface="Arial"/>
                <a:cs typeface="Arial"/>
              </a:rPr>
              <a:t>Pa</a:t>
            </a:r>
            <a:r>
              <a:rPr dirty="0" sz="1100" spc="-5">
                <a:latin typeface="Arial"/>
                <a:cs typeface="Arial"/>
              </a:rPr>
              <a:t>, the demand for foreign exchange will be </a:t>
            </a:r>
            <a:r>
              <a:rPr dirty="0" sz="1100" spc="-5" i="1">
                <a:latin typeface="Arial"/>
                <a:cs typeface="Arial"/>
              </a:rPr>
              <a:t>M” </a:t>
            </a:r>
            <a:r>
              <a:rPr dirty="0" sz="1100" spc="-5">
                <a:latin typeface="Arial"/>
                <a:cs typeface="Arial"/>
              </a:rPr>
              <a:t>units, with  the result that there is an “excess demand” equal to </a:t>
            </a:r>
            <a:r>
              <a:rPr dirty="0" sz="1100" spc="-10" b="1" i="1">
                <a:latin typeface="Arial"/>
                <a:cs typeface="Arial"/>
              </a:rPr>
              <a:t>M''- M' </a:t>
            </a:r>
            <a:r>
              <a:rPr dirty="0" sz="1100" spc="-5">
                <a:latin typeface="Arial"/>
                <a:cs typeface="Arial"/>
              </a:rPr>
              <a:t>units. Unless foreigners are willing  to lend to or invest in </a:t>
            </a:r>
            <a:r>
              <a:rPr dirty="0" sz="1100">
                <a:latin typeface="Arial"/>
                <a:cs typeface="Arial"/>
              </a:rPr>
              <a:t>the </a:t>
            </a:r>
            <a:r>
              <a:rPr dirty="0" sz="1100" spc="-5">
                <a:latin typeface="Arial"/>
                <a:cs typeface="Arial"/>
              </a:rPr>
              <a:t>country to make up the difference, some mechanism will have to </a:t>
            </a:r>
            <a:r>
              <a:rPr dirty="0" sz="1100">
                <a:latin typeface="Arial"/>
                <a:cs typeface="Arial"/>
              </a:rPr>
              <a:t>be  </a:t>
            </a:r>
            <a:r>
              <a:rPr dirty="0" sz="1100" spc="-5">
                <a:latin typeface="Arial"/>
                <a:cs typeface="Arial"/>
              </a:rPr>
              <a:t>devised to ration the available supply of </a:t>
            </a:r>
            <a:r>
              <a:rPr dirty="0" sz="1100" spc="-5" i="1">
                <a:latin typeface="Arial"/>
                <a:cs typeface="Arial"/>
              </a:rPr>
              <a:t>M</a:t>
            </a:r>
            <a:r>
              <a:rPr dirty="0" sz="1100" spc="-5">
                <a:latin typeface="Arial"/>
                <a:cs typeface="Arial"/>
              </a:rPr>
              <a:t>. If the government were to auction this supply,  importers would be willing to pay a price of </a:t>
            </a:r>
            <a:r>
              <a:rPr dirty="0" sz="1100" spc="-5" b="1" i="1">
                <a:latin typeface="Arial"/>
                <a:cs typeface="Arial"/>
              </a:rPr>
              <a:t>P</a:t>
            </a:r>
            <a:r>
              <a:rPr dirty="0" baseline="-11904" sz="1050" spc="-7" b="1" i="1">
                <a:latin typeface="Arial"/>
                <a:cs typeface="Arial"/>
              </a:rPr>
              <a:t>b </a:t>
            </a:r>
            <a:r>
              <a:rPr dirty="0" sz="1100" spc="-5">
                <a:latin typeface="Arial"/>
                <a:cs typeface="Arial"/>
              </a:rPr>
              <a:t>for the foreign exchange. In such a case, the  government would make a profit of </a:t>
            </a:r>
            <a:r>
              <a:rPr dirty="0" sz="1100" spc="-5" b="1" i="1">
                <a:latin typeface="Arial"/>
                <a:cs typeface="Arial"/>
              </a:rPr>
              <a:t>P</a:t>
            </a:r>
            <a:r>
              <a:rPr dirty="0" baseline="-11904" sz="1050" spc="-7" b="1" i="1">
                <a:latin typeface="Arial"/>
                <a:cs typeface="Arial"/>
              </a:rPr>
              <a:t>b </a:t>
            </a:r>
            <a:r>
              <a:rPr dirty="0" sz="1100" spc="-5" b="1" i="1">
                <a:latin typeface="Arial"/>
                <a:cs typeface="Arial"/>
              </a:rPr>
              <a:t>- P</a:t>
            </a:r>
            <a:r>
              <a:rPr dirty="0" baseline="-11904" sz="1050" spc="-7" b="1" i="1">
                <a:latin typeface="Arial"/>
                <a:cs typeface="Arial"/>
              </a:rPr>
              <a:t>a </a:t>
            </a:r>
            <a:r>
              <a:rPr dirty="0" sz="1100" spc="-5">
                <a:latin typeface="Arial"/>
                <a:cs typeface="Arial"/>
              </a:rPr>
              <a:t>per unit. However, such open auctions are rarely  carried out, and limited supplies of foreign exchange are allocated through some administrative  quota or licensing device. Opportunities for corruption, evasion, and the emergence of black  markets are thus made possible because importers are willing to pay as much as </a:t>
            </a:r>
            <a:r>
              <a:rPr dirty="0" sz="1100" spc="-10" i="1">
                <a:latin typeface="Arial"/>
                <a:cs typeface="Arial"/>
              </a:rPr>
              <a:t>Pb </a:t>
            </a:r>
            <a:r>
              <a:rPr dirty="0" sz="1100" spc="-5">
                <a:latin typeface="Arial"/>
                <a:cs typeface="Arial"/>
              </a:rPr>
              <a:t>per unit of  foreign exchange.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268</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996944"/>
            <a:ext cx="5969635" cy="5050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Why have a majority of developing-country governments at one time or another opted for an  overvalued official exchange rate? Many have done so as part of widespread programs of </a:t>
            </a:r>
            <a:r>
              <a:rPr dirty="0" sz="1100">
                <a:latin typeface="Arial"/>
                <a:cs typeface="Arial"/>
              </a:rPr>
              <a:t>rapid  </a:t>
            </a:r>
            <a:r>
              <a:rPr dirty="0" sz="1100" spc="-5">
                <a:latin typeface="Arial"/>
                <a:cs typeface="Arial"/>
              </a:rPr>
              <a:t>industrialization and import substitution. As mentioned earlier, overvalued exchange rates  reduce the domestic currency price of imports below the level that would exist in a free market  for foreign exchange (i.e., by the forces of supply and demand). Cheaper imports, especially  capital and intermediate producer goods, are needed to fuel the industrialization process. But  overvalued exchange rates also lower the </a:t>
            </a:r>
            <a:r>
              <a:rPr dirty="0" sz="1100">
                <a:latin typeface="Arial"/>
                <a:cs typeface="Arial"/>
              </a:rPr>
              <a:t>domestic </a:t>
            </a:r>
            <a:r>
              <a:rPr dirty="0" sz="1100" spc="-5">
                <a:latin typeface="Arial"/>
                <a:cs typeface="Arial"/>
              </a:rPr>
              <a:t>currency price of imported consumer goods,  especially expensive luxury products. Developing </a:t>
            </a:r>
            <a:r>
              <a:rPr dirty="0" sz="1100">
                <a:latin typeface="Arial"/>
                <a:cs typeface="Arial"/>
              </a:rPr>
              <a:t>countries </a:t>
            </a:r>
            <a:r>
              <a:rPr dirty="0" sz="1100" spc="-5">
                <a:latin typeface="Arial"/>
                <a:cs typeface="Arial"/>
              </a:rPr>
              <a:t>wishing to limit such unnecessary  and costly imports often need to establish import controls (mostly physical quotas) or to set up a  system of </a:t>
            </a:r>
            <a:r>
              <a:rPr dirty="0" sz="1100" b="1">
                <a:latin typeface="Arial"/>
                <a:cs typeface="Arial"/>
              </a:rPr>
              <a:t>dual </a:t>
            </a:r>
            <a:r>
              <a:rPr dirty="0" sz="1100" spc="-5">
                <a:latin typeface="Arial"/>
                <a:cs typeface="Arial"/>
              </a:rPr>
              <a:t>or </a:t>
            </a:r>
            <a:r>
              <a:rPr dirty="0" sz="1100" spc="-5" b="1">
                <a:latin typeface="Arial"/>
                <a:cs typeface="Arial"/>
              </a:rPr>
              <a:t>parallel exchange rates </a:t>
            </a:r>
            <a:r>
              <a:rPr dirty="0" sz="1100" spc="-5">
                <a:latin typeface="Arial"/>
                <a:cs typeface="Arial"/>
              </a:rPr>
              <a:t>with one rate, usually highly overvalued and legally  fixed, applied to capital and intermediate-good imports and the other, much lower and illegal (or  freely floating), for luxury consumption good imports. Such dual exchange-rate systems make  the domestic price of imported luxury goods very high while maintaining the artificially low and  thus subsidized price of producer good imports. Needless to say, dual exchange rate systems,  like exchange controls and import licenses, present serious problems of administration and can  promote black markets, corruption, evasion, and rent seeking (see Chapter</a:t>
            </a:r>
            <a:r>
              <a:rPr dirty="0" sz="1100" spc="75">
                <a:latin typeface="Arial"/>
                <a:cs typeface="Arial"/>
              </a:rPr>
              <a:t> </a:t>
            </a:r>
            <a:r>
              <a:rPr dirty="0" sz="1100" spc="-5">
                <a:latin typeface="Arial"/>
                <a:cs typeface="Arial"/>
              </a:rPr>
              <a:t>11).</a:t>
            </a:r>
            <a:endParaRPr sz="1100">
              <a:latin typeface="Arial"/>
              <a:cs typeface="Arial"/>
            </a:endParaRPr>
          </a:p>
          <a:p>
            <a:pPr>
              <a:lnSpc>
                <a:spcPct val="100000"/>
              </a:lnSpc>
              <a:spcBef>
                <a:spcPts val="25"/>
              </a:spcBef>
            </a:pPr>
            <a:endParaRPr sz="1150">
              <a:latin typeface="Arial"/>
              <a:cs typeface="Arial"/>
            </a:endParaRPr>
          </a:p>
          <a:p>
            <a:pPr algn="just" marL="469900" marR="6350" indent="-228600">
              <a:lnSpc>
                <a:spcPct val="95700"/>
              </a:lnSpc>
              <a:buFont typeface="Symbol"/>
              <a:buChar char=""/>
              <a:tabLst>
                <a:tab pos="509270" algn="l"/>
              </a:tabLst>
            </a:pPr>
            <a:r>
              <a:rPr dirty="0"/>
              <a:t>	</a:t>
            </a:r>
            <a:r>
              <a:rPr dirty="0" sz="1100" spc="-5" b="1">
                <a:latin typeface="Arial"/>
                <a:cs typeface="Arial"/>
              </a:rPr>
              <a:t>Dual exchange rate (parallel exchange rate): </a:t>
            </a:r>
            <a:r>
              <a:rPr dirty="0" sz="1100" spc="-5">
                <a:latin typeface="Arial"/>
                <a:cs typeface="Arial"/>
              </a:rPr>
              <a:t>Foreign exchange- rate system </a:t>
            </a:r>
            <a:r>
              <a:rPr dirty="0" sz="1100">
                <a:latin typeface="Arial"/>
                <a:cs typeface="Arial"/>
              </a:rPr>
              <a:t>with </a:t>
            </a:r>
            <a:r>
              <a:rPr dirty="0" sz="1100" spc="-5">
                <a:latin typeface="Arial"/>
                <a:cs typeface="Arial"/>
              </a:rPr>
              <a:t>a  highly overvalued and legally fixed rate applied to capital and intermediate goods  imports and a second, illegal (or freely floating) rate for imported consumption</a:t>
            </a:r>
            <a:r>
              <a:rPr dirty="0" sz="1100" spc="185">
                <a:latin typeface="Arial"/>
                <a:cs typeface="Arial"/>
              </a:rPr>
              <a:t> </a:t>
            </a:r>
            <a:r>
              <a:rPr dirty="0" sz="1100" spc="-5">
                <a:latin typeface="Arial"/>
                <a:cs typeface="Arial"/>
              </a:rPr>
              <a:t>goods.</a:t>
            </a:r>
            <a:endParaRPr sz="1100">
              <a:latin typeface="Arial"/>
              <a:cs typeface="Arial"/>
            </a:endParaRPr>
          </a:p>
          <a:p>
            <a:pPr algn="just" marL="469900" marR="5080" indent="-228600">
              <a:lnSpc>
                <a:spcPts val="1260"/>
              </a:lnSpc>
              <a:spcBef>
                <a:spcPts val="114"/>
              </a:spcBef>
              <a:buFont typeface="Symbol"/>
              <a:buChar char=""/>
              <a:tabLst>
                <a:tab pos="469900" algn="l"/>
              </a:tabLst>
            </a:pPr>
            <a:r>
              <a:rPr dirty="0" sz="1100" spc="-5" b="1">
                <a:latin typeface="Arial"/>
                <a:cs typeface="Arial"/>
              </a:rPr>
              <a:t>Devaluation: </a:t>
            </a:r>
            <a:r>
              <a:rPr dirty="0" sz="1100" spc="-5">
                <a:latin typeface="Arial"/>
                <a:cs typeface="Arial"/>
              </a:rPr>
              <a:t>A lowering of the official exchange rate between one country’s currency  and all other currencies.</a:t>
            </a:r>
            <a:endParaRPr sz="1100">
              <a:latin typeface="Arial"/>
              <a:cs typeface="Arial"/>
            </a:endParaRPr>
          </a:p>
          <a:p>
            <a:pPr algn="just" marL="469900" marR="5080" indent="-228600">
              <a:lnSpc>
                <a:spcPts val="1260"/>
              </a:lnSpc>
              <a:spcBef>
                <a:spcPts val="85"/>
              </a:spcBef>
              <a:buFont typeface="Symbol"/>
              <a:buChar char=""/>
              <a:tabLst>
                <a:tab pos="469900" algn="l"/>
              </a:tabLst>
            </a:pPr>
            <a:r>
              <a:rPr dirty="0" sz="1100" spc="-5" b="1">
                <a:latin typeface="Arial"/>
                <a:cs typeface="Arial"/>
              </a:rPr>
              <a:t>Depreciation (of currency): </a:t>
            </a:r>
            <a:r>
              <a:rPr dirty="0" sz="1100" spc="-5">
                <a:latin typeface="Arial"/>
                <a:cs typeface="Arial"/>
              </a:rPr>
              <a:t>The decline over time in the value or price of one currency  in terms of another as a result of market forces of supply and</a:t>
            </a:r>
            <a:r>
              <a:rPr dirty="0" sz="1100" spc="85">
                <a:latin typeface="Arial"/>
                <a:cs typeface="Arial"/>
              </a:rPr>
              <a:t> </a:t>
            </a:r>
            <a:r>
              <a:rPr dirty="0" sz="1100" spc="-5">
                <a:latin typeface="Arial"/>
                <a:cs typeface="Arial"/>
              </a:rPr>
              <a:t>demand.</a:t>
            </a:r>
            <a:endParaRPr sz="1100">
              <a:latin typeface="Arial"/>
              <a:cs typeface="Arial"/>
            </a:endParaRPr>
          </a:p>
          <a:p>
            <a:pPr algn="just" marL="469900" marR="5715" indent="-228600">
              <a:lnSpc>
                <a:spcPct val="95700"/>
              </a:lnSpc>
              <a:spcBef>
                <a:spcPts val="50"/>
              </a:spcBef>
              <a:buFont typeface="Symbol"/>
              <a:buChar char=""/>
              <a:tabLst>
                <a:tab pos="469900" algn="l"/>
              </a:tabLst>
            </a:pPr>
            <a:r>
              <a:rPr dirty="0" sz="1100" spc="-5" b="1">
                <a:latin typeface="Arial"/>
                <a:cs typeface="Arial"/>
              </a:rPr>
              <a:t>Flexible exchange rate: </a:t>
            </a:r>
            <a:r>
              <a:rPr dirty="0" sz="1100" spc="-5">
                <a:latin typeface="Arial"/>
                <a:cs typeface="Arial"/>
              </a:rPr>
              <a:t>The exchange value of a national currency that is free to move  up and down in response to shifts in demand and supply arising from international trade  and finance.</a:t>
            </a:r>
            <a:endParaRPr sz="1100">
              <a:latin typeface="Arial"/>
              <a:cs typeface="Arial"/>
            </a:endParaRPr>
          </a:p>
          <a:p>
            <a:pPr>
              <a:lnSpc>
                <a:spcPct val="100000"/>
              </a:lnSpc>
              <a:spcBef>
                <a:spcPts val="25"/>
              </a:spcBef>
            </a:pPr>
            <a:endParaRPr sz="1100">
              <a:latin typeface="Arial"/>
              <a:cs typeface="Arial"/>
            </a:endParaRPr>
          </a:p>
          <a:p>
            <a:pPr algn="just" marL="12700" marR="5080">
              <a:lnSpc>
                <a:spcPts val="1270"/>
              </a:lnSpc>
            </a:pPr>
            <a:r>
              <a:rPr dirty="0" sz="1100" spc="-5">
                <a:latin typeface="Arial"/>
                <a:cs typeface="Arial"/>
              </a:rPr>
              <a:t>However, overvalued currencies reduce the return to local exporters and to import-competing  industries that are not protected by heavy tariffs or physical quotas. Exporters receive less  domestic</a:t>
            </a:r>
            <a:r>
              <a:rPr dirty="0" sz="1100" spc="30">
                <a:latin typeface="Arial"/>
                <a:cs typeface="Arial"/>
              </a:rPr>
              <a:t> </a:t>
            </a:r>
            <a:r>
              <a:rPr dirty="0" sz="1100" spc="-5">
                <a:latin typeface="Arial"/>
                <a:cs typeface="Arial"/>
              </a:rPr>
              <a:t>currency</a:t>
            </a:r>
            <a:r>
              <a:rPr dirty="0" sz="1100" spc="30">
                <a:latin typeface="Arial"/>
                <a:cs typeface="Arial"/>
              </a:rPr>
              <a:t> </a:t>
            </a:r>
            <a:r>
              <a:rPr dirty="0" sz="1100" spc="-5">
                <a:latin typeface="Arial"/>
                <a:cs typeface="Arial"/>
              </a:rPr>
              <a:t>for</a:t>
            </a:r>
            <a:r>
              <a:rPr dirty="0" sz="1100" spc="35">
                <a:latin typeface="Arial"/>
                <a:cs typeface="Arial"/>
              </a:rPr>
              <a:t> </a:t>
            </a:r>
            <a:r>
              <a:rPr dirty="0" sz="1100" spc="-5">
                <a:latin typeface="Arial"/>
                <a:cs typeface="Arial"/>
              </a:rPr>
              <a:t>their</a:t>
            </a:r>
            <a:r>
              <a:rPr dirty="0" sz="1100" spc="35">
                <a:latin typeface="Arial"/>
                <a:cs typeface="Arial"/>
              </a:rPr>
              <a:t> </a:t>
            </a:r>
            <a:r>
              <a:rPr dirty="0" sz="1100" spc="-5">
                <a:latin typeface="Arial"/>
                <a:cs typeface="Arial"/>
              </a:rPr>
              <a:t>products</a:t>
            </a:r>
            <a:r>
              <a:rPr dirty="0" sz="1100" spc="25">
                <a:latin typeface="Arial"/>
                <a:cs typeface="Arial"/>
              </a:rPr>
              <a:t> </a:t>
            </a:r>
            <a:r>
              <a:rPr dirty="0" sz="1100" spc="-5">
                <a:latin typeface="Arial"/>
                <a:cs typeface="Arial"/>
              </a:rPr>
              <a:t>than</a:t>
            </a:r>
            <a:r>
              <a:rPr dirty="0" sz="1100" spc="35">
                <a:latin typeface="Arial"/>
                <a:cs typeface="Arial"/>
              </a:rPr>
              <a:t> </a:t>
            </a:r>
            <a:r>
              <a:rPr dirty="0" sz="1100" spc="-5">
                <a:latin typeface="Arial"/>
                <a:cs typeface="Arial"/>
              </a:rPr>
              <a:t>would</a:t>
            </a:r>
            <a:r>
              <a:rPr dirty="0" sz="1100" spc="25">
                <a:latin typeface="Arial"/>
                <a:cs typeface="Arial"/>
              </a:rPr>
              <a:t> </a:t>
            </a:r>
            <a:r>
              <a:rPr dirty="0" sz="1100" spc="-5">
                <a:latin typeface="Arial"/>
                <a:cs typeface="Arial"/>
              </a:rPr>
              <a:t>be</a:t>
            </a:r>
            <a:r>
              <a:rPr dirty="0" sz="1100" spc="45">
                <a:latin typeface="Arial"/>
                <a:cs typeface="Arial"/>
              </a:rPr>
              <a:t> </a:t>
            </a:r>
            <a:r>
              <a:rPr dirty="0" sz="1100" spc="-5">
                <a:latin typeface="Arial"/>
                <a:cs typeface="Arial"/>
              </a:rPr>
              <a:t>forthcoming</a:t>
            </a:r>
            <a:r>
              <a:rPr dirty="0" sz="1100" spc="35">
                <a:latin typeface="Arial"/>
                <a:cs typeface="Arial"/>
              </a:rPr>
              <a:t> </a:t>
            </a:r>
            <a:r>
              <a:rPr dirty="0" sz="1100" spc="-5">
                <a:latin typeface="Arial"/>
                <a:cs typeface="Arial"/>
              </a:rPr>
              <a:t>if</a:t>
            </a:r>
            <a:r>
              <a:rPr dirty="0" sz="1100" spc="3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free-market</a:t>
            </a:r>
            <a:r>
              <a:rPr dirty="0" sz="1100" spc="35">
                <a:latin typeface="Arial"/>
                <a:cs typeface="Arial"/>
              </a:rPr>
              <a:t> </a:t>
            </a:r>
            <a:r>
              <a:rPr dirty="0" sz="1100" spc="-5">
                <a:latin typeface="Arial"/>
                <a:cs typeface="Arial"/>
              </a:rPr>
              <a:t>exchange</a:t>
            </a:r>
            <a:r>
              <a:rPr dirty="0" sz="1100" spc="30">
                <a:latin typeface="Arial"/>
                <a:cs typeface="Arial"/>
              </a:rPr>
              <a:t> </a:t>
            </a:r>
            <a:r>
              <a:rPr dirty="0" sz="1100" spc="-5">
                <a:latin typeface="Arial"/>
                <a:cs typeface="Arial"/>
              </a:rPr>
              <a:t>rate</a:t>
            </a:r>
            <a:endParaRPr sz="1100">
              <a:latin typeface="Arial"/>
              <a:cs typeface="Arial"/>
            </a:endParaRPr>
          </a:p>
        </p:txBody>
      </p:sp>
      <p:sp>
        <p:nvSpPr>
          <p:cNvPr id="7" name="object 7"/>
          <p:cNvSpPr/>
          <p:nvPr/>
        </p:nvSpPr>
        <p:spPr>
          <a:xfrm>
            <a:off x="1238250" y="781050"/>
            <a:ext cx="5334000" cy="323850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269</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064500"/>
          </a:xfrm>
          <a:prstGeom prst="rect">
            <a:avLst/>
          </a:prstGeom>
        </p:spPr>
        <p:txBody>
          <a:bodyPr wrap="square" lIns="0" tIns="19050" rIns="0" bIns="0" rtlCol="0" vert="horz">
            <a:spAutoFit/>
          </a:bodyPr>
          <a:lstStyle/>
          <a:p>
            <a:pPr algn="just" marL="12700" marR="5715">
              <a:lnSpc>
                <a:spcPct val="95900"/>
              </a:lnSpc>
              <a:spcBef>
                <a:spcPts val="150"/>
              </a:spcBef>
            </a:pPr>
            <a:r>
              <a:rPr dirty="0" sz="1100" spc="-5">
                <a:latin typeface="Arial"/>
                <a:cs typeface="Arial"/>
              </a:rPr>
              <a:t>prevailed. Moreover, in the absence of export subsidies to reduce the foreign-currency price of  exports, exporters, mostly farmers, become less competitive in world markets because the price  of their produce has been artificially elevated </a:t>
            </a:r>
            <a:r>
              <a:rPr dirty="0" sz="1100">
                <a:latin typeface="Arial"/>
                <a:cs typeface="Arial"/>
              </a:rPr>
              <a:t>by </a:t>
            </a:r>
            <a:r>
              <a:rPr dirty="0" sz="1100" spc="-5">
                <a:latin typeface="Arial"/>
                <a:cs typeface="Arial"/>
              </a:rPr>
              <a:t>the overvalued exchange rate. In the case of  import-competing but unprotected local industries, the overvalued rate artificially lowers the  domestic currency price of foreign imports of the same product (e.g., radios, tires, bicycles, or  household utensils). Hence in the absence of effective government intervention and regulation  of the foreign-exchange dealings of its nationals, overvalued exchange rates have a tendency to  exacerbate balance of payments </a:t>
            </a:r>
            <a:r>
              <a:rPr dirty="0" sz="1100">
                <a:latin typeface="Arial"/>
                <a:cs typeface="Arial"/>
              </a:rPr>
              <a:t>and </a:t>
            </a:r>
            <a:r>
              <a:rPr dirty="0" sz="1100" spc="-5">
                <a:latin typeface="Arial"/>
                <a:cs typeface="Arial"/>
              </a:rPr>
              <a:t>foreign-debt problems simply because they cheapen  imports while making exports more</a:t>
            </a:r>
            <a:r>
              <a:rPr dirty="0" sz="1100" spc="20">
                <a:latin typeface="Arial"/>
                <a:cs typeface="Arial"/>
              </a:rPr>
              <a:t> </a:t>
            </a:r>
            <a:r>
              <a:rPr dirty="0" sz="1100" spc="-5">
                <a:latin typeface="Arial"/>
                <a:cs typeface="Arial"/>
              </a:rPr>
              <a:t>costly.</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Chronic payments deficits resulting primarily </a:t>
            </a:r>
            <a:r>
              <a:rPr dirty="0" sz="1100">
                <a:latin typeface="Arial"/>
                <a:cs typeface="Arial"/>
              </a:rPr>
              <a:t>from </a:t>
            </a:r>
            <a:r>
              <a:rPr dirty="0" sz="1100" spc="-5">
                <a:latin typeface="Arial"/>
                <a:cs typeface="Arial"/>
              </a:rPr>
              <a:t>current account transactions (exports and  imports) can possibly be ameliorated by currency </a:t>
            </a:r>
            <a:r>
              <a:rPr dirty="0" sz="1100" spc="-5" b="1">
                <a:latin typeface="Arial"/>
                <a:cs typeface="Arial"/>
              </a:rPr>
              <a:t>devaluation</a:t>
            </a:r>
            <a:r>
              <a:rPr dirty="0" sz="1100" spc="-5">
                <a:latin typeface="Arial"/>
                <a:cs typeface="Arial"/>
              </a:rPr>
              <a:t>. Simply defined, a country’s  currency is devalued when the official rate at which its central bank is prepared to exchange the  local currency for dollars is abruptly increased. Currency </a:t>
            </a:r>
            <a:r>
              <a:rPr dirty="0" sz="1100" spc="-5" b="1">
                <a:latin typeface="Arial"/>
                <a:cs typeface="Arial"/>
              </a:rPr>
              <a:t>depreciation</a:t>
            </a:r>
            <a:r>
              <a:rPr dirty="0" sz="1100" spc="-5">
                <a:latin typeface="Arial"/>
                <a:cs typeface="Arial"/>
              </a:rPr>
              <a:t>, by contrast, refers to a  gradual decrease in the purchasing power of a domestic currency in foreign markets relative to  domestic markets; </a:t>
            </a:r>
            <a:r>
              <a:rPr dirty="0" sz="1100" spc="-5" i="1">
                <a:latin typeface="Arial"/>
                <a:cs typeface="Arial"/>
              </a:rPr>
              <a:t>appreciation </a:t>
            </a:r>
            <a:r>
              <a:rPr dirty="0" sz="1100" spc="-5">
                <a:latin typeface="Arial"/>
                <a:cs typeface="Arial"/>
              </a:rPr>
              <a:t>refers to a gradual increase. For example, a devaluation of the  South African rand and the Indian rupee would occur if their official exchange rates </a:t>
            </a:r>
            <a:r>
              <a:rPr dirty="0" sz="1100">
                <a:latin typeface="Arial"/>
                <a:cs typeface="Arial"/>
              </a:rPr>
              <a:t>of  </a:t>
            </a:r>
            <a:r>
              <a:rPr dirty="0" sz="1100" spc="-5">
                <a:latin typeface="Arial"/>
                <a:cs typeface="Arial"/>
              </a:rPr>
              <a:t>approximately 5 rand and 40 rupees to the dollar were changed to, say, 8 rand and 50 rupees  per dollar. Following these devaluations, U.S. importers of South African and Indian goods  would pay fewer dollars to obtain the same products. But U.S. exports to South Africa and India  would become more expensive, requiring more rand or rupees to purchase than before. In  short, by lowering the </a:t>
            </a:r>
            <a:r>
              <a:rPr dirty="0" sz="1100" spc="-5" i="1">
                <a:latin typeface="Arial"/>
                <a:cs typeface="Arial"/>
              </a:rPr>
              <a:t>foreign</a:t>
            </a:r>
            <a:r>
              <a:rPr dirty="0" sz="1100" spc="-5">
                <a:latin typeface="Arial"/>
                <a:cs typeface="Arial"/>
              </a:rPr>
              <a:t>-currency price of its exports (and thereby generating more foreign  demand) </a:t>
            </a:r>
            <a:r>
              <a:rPr dirty="0" sz="1100">
                <a:latin typeface="Arial"/>
                <a:cs typeface="Arial"/>
              </a:rPr>
              <a:t>while </a:t>
            </a:r>
            <a:r>
              <a:rPr dirty="0" sz="1100" spc="-5">
                <a:latin typeface="Arial"/>
                <a:cs typeface="Arial"/>
              </a:rPr>
              <a:t>raising the </a:t>
            </a:r>
            <a:r>
              <a:rPr dirty="0" sz="1100" spc="-5" i="1">
                <a:latin typeface="Arial"/>
                <a:cs typeface="Arial"/>
              </a:rPr>
              <a:t>domestic</a:t>
            </a:r>
            <a:r>
              <a:rPr dirty="0" sz="1100" spc="-5">
                <a:latin typeface="Arial"/>
                <a:cs typeface="Arial"/>
              </a:rPr>
              <a:t>-currency price of its imports (and thereby lowering domestic  demand), developing countries that devalue their currency hope to improve their trade balance  vis-à-vis the rest of the world. This is a principal reason why devaluation is always a key  component of IMF stabilization policies when currencies are</a:t>
            </a:r>
            <a:r>
              <a:rPr dirty="0" sz="1100" spc="55">
                <a:latin typeface="Arial"/>
                <a:cs typeface="Arial"/>
              </a:rPr>
              <a:t> </a:t>
            </a:r>
            <a:r>
              <a:rPr dirty="0" sz="1100" spc="-5">
                <a:latin typeface="Arial"/>
                <a:cs typeface="Arial"/>
              </a:rPr>
              <a:t>“pegged.”</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An alternative to currency devaluation is to allow foreign-exchange rates to fluctuate freely in  accordance with changing conditions of international demand and supply. Freely fluctuating or  </a:t>
            </a:r>
            <a:r>
              <a:rPr dirty="0" sz="1100" spc="-5" b="1">
                <a:latin typeface="Arial"/>
                <a:cs typeface="Arial"/>
              </a:rPr>
              <a:t>flexible exchange rates </a:t>
            </a:r>
            <a:r>
              <a:rPr dirty="0" sz="1100" spc="-5">
                <a:latin typeface="Arial"/>
                <a:cs typeface="Arial"/>
              </a:rPr>
              <a:t>in the past were not thought to be desirable, especially in developing  nations heavily dependent wide and uncontrollable fluctuations, and susceptible to foreign and  domestic currency speculation. Such unpredictable fluctuations can wreak havoc with both  short- and long-range development plans. Nevertheless, during the global balance of payments  and debt crises of the 1980s, many developing countries, including Mexico, Argentina, Chile,  and the Philippines, were heavily influenced by the IMF to let their exchange rates float freely in  order to correct sizable payments imbalances and to prevent continued capital flight. The same  phenomenon occurred again for Mexico in 1994 and for Thailand, the Philippines, South Korea,  Malaysia, and Indonesia in 1997 and 1998 during the Asian currency crisis. In a matter </a:t>
            </a:r>
            <a:r>
              <a:rPr dirty="0" sz="1100">
                <a:latin typeface="Arial"/>
                <a:cs typeface="Arial"/>
              </a:rPr>
              <a:t>of  </a:t>
            </a:r>
            <a:r>
              <a:rPr dirty="0" sz="1100" spc="-5">
                <a:latin typeface="Arial"/>
                <a:cs typeface="Arial"/>
              </a:rPr>
              <a:t>several months during 1997, the Thai baht lost one-third of its value against the dollar, and the  Philippine peso, South Korean won, Malaysian Ringgit, and Indonesian Rupiah fell by almost  30%.</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present international system of floating exchange rates, formally legalized at an IMF  meeting in 1976, represents a compromise between a </a:t>
            </a:r>
            <a:r>
              <a:rPr dirty="0" sz="1100">
                <a:latin typeface="Arial"/>
                <a:cs typeface="Arial"/>
              </a:rPr>
              <a:t>fixed </a:t>
            </a:r>
            <a:r>
              <a:rPr dirty="0" sz="1100" spc="-5">
                <a:latin typeface="Arial"/>
                <a:cs typeface="Arial"/>
              </a:rPr>
              <a:t>(artificially pegged) and a </a:t>
            </a:r>
            <a:r>
              <a:rPr dirty="0" sz="1100">
                <a:latin typeface="Arial"/>
                <a:cs typeface="Arial"/>
              </a:rPr>
              <a:t>fully  </a:t>
            </a:r>
            <a:r>
              <a:rPr dirty="0" sz="1100" spc="-5">
                <a:latin typeface="Arial"/>
                <a:cs typeface="Arial"/>
              </a:rPr>
              <a:t>flexible exchange-rate system. Under this “managed” floating system, major international  currencies are permitted to fluctuate freely, but erratic swings are limited through central bank  intervention. Some developing countries, including China, however, have continued to peg their  currencies to those of developed countries, usually the U.S. dollar but sometimes </a:t>
            </a:r>
            <a:r>
              <a:rPr dirty="0" sz="1100">
                <a:latin typeface="Arial"/>
                <a:cs typeface="Arial"/>
              </a:rPr>
              <a:t>the </a:t>
            </a:r>
            <a:r>
              <a:rPr dirty="0" sz="1100" spc="-5">
                <a:latin typeface="Arial"/>
                <a:cs typeface="Arial"/>
              </a:rPr>
              <a:t>euro or a  basket of currencies. Kenya decided to tie their currencies to the movements of a weighted  index</a:t>
            </a:r>
            <a:r>
              <a:rPr dirty="0" sz="1100" spc="155">
                <a:latin typeface="Arial"/>
                <a:cs typeface="Arial"/>
              </a:rPr>
              <a:t> </a:t>
            </a:r>
            <a:r>
              <a:rPr dirty="0" sz="1100" spc="-5">
                <a:latin typeface="Arial"/>
                <a:cs typeface="Arial"/>
              </a:rPr>
              <a:t>of</a:t>
            </a:r>
            <a:r>
              <a:rPr dirty="0" sz="1100" spc="160">
                <a:latin typeface="Arial"/>
                <a:cs typeface="Arial"/>
              </a:rPr>
              <a:t> </a:t>
            </a:r>
            <a:r>
              <a:rPr dirty="0" sz="1100" spc="-5">
                <a:latin typeface="Arial"/>
                <a:cs typeface="Arial"/>
              </a:rPr>
              <a:t>the</a:t>
            </a:r>
            <a:r>
              <a:rPr dirty="0" sz="1100" spc="155">
                <a:latin typeface="Arial"/>
                <a:cs typeface="Arial"/>
              </a:rPr>
              <a:t> </a:t>
            </a:r>
            <a:r>
              <a:rPr dirty="0" sz="1100" spc="-5">
                <a:latin typeface="Arial"/>
                <a:cs typeface="Arial"/>
              </a:rPr>
              <a:t>world’s</a:t>
            </a:r>
            <a:r>
              <a:rPr dirty="0" sz="1100" spc="160">
                <a:latin typeface="Arial"/>
                <a:cs typeface="Arial"/>
              </a:rPr>
              <a:t> </a:t>
            </a:r>
            <a:r>
              <a:rPr dirty="0" sz="1100" spc="-5">
                <a:latin typeface="Arial"/>
                <a:cs typeface="Arial"/>
              </a:rPr>
              <a:t>major</a:t>
            </a:r>
            <a:r>
              <a:rPr dirty="0" sz="1100" spc="155">
                <a:latin typeface="Arial"/>
                <a:cs typeface="Arial"/>
              </a:rPr>
              <a:t> </a:t>
            </a:r>
            <a:r>
              <a:rPr dirty="0" sz="1100" spc="-5">
                <a:latin typeface="Arial"/>
                <a:cs typeface="Arial"/>
              </a:rPr>
              <a:t>currencies</a:t>
            </a:r>
            <a:r>
              <a:rPr dirty="0" sz="1100" spc="160">
                <a:latin typeface="Arial"/>
                <a:cs typeface="Arial"/>
              </a:rPr>
              <a:t> </a:t>
            </a:r>
            <a:r>
              <a:rPr dirty="0" sz="1100" spc="-5">
                <a:latin typeface="Arial"/>
                <a:cs typeface="Arial"/>
              </a:rPr>
              <a:t>rather</a:t>
            </a:r>
            <a:r>
              <a:rPr dirty="0" sz="1100" spc="155">
                <a:latin typeface="Arial"/>
                <a:cs typeface="Arial"/>
              </a:rPr>
              <a:t> </a:t>
            </a:r>
            <a:r>
              <a:rPr dirty="0" sz="1100" spc="-5">
                <a:latin typeface="Arial"/>
                <a:cs typeface="Arial"/>
              </a:rPr>
              <a:t>than</a:t>
            </a:r>
            <a:r>
              <a:rPr dirty="0" sz="1100" spc="160">
                <a:latin typeface="Arial"/>
                <a:cs typeface="Arial"/>
              </a:rPr>
              <a:t> </a:t>
            </a:r>
            <a:r>
              <a:rPr dirty="0" sz="1100" spc="-5">
                <a:latin typeface="Arial"/>
                <a:cs typeface="Arial"/>
              </a:rPr>
              <a:t>to</a:t>
            </a:r>
            <a:r>
              <a:rPr dirty="0" sz="1100" spc="155">
                <a:latin typeface="Arial"/>
                <a:cs typeface="Arial"/>
              </a:rPr>
              <a:t> </a:t>
            </a:r>
            <a:r>
              <a:rPr dirty="0" sz="1100" spc="-5">
                <a:latin typeface="Arial"/>
                <a:cs typeface="Arial"/>
              </a:rPr>
              <a:t>tie</a:t>
            </a:r>
            <a:r>
              <a:rPr dirty="0" sz="1100" spc="160">
                <a:latin typeface="Arial"/>
                <a:cs typeface="Arial"/>
              </a:rPr>
              <a:t> </a:t>
            </a:r>
            <a:r>
              <a:rPr dirty="0" sz="1100" spc="-5">
                <a:latin typeface="Arial"/>
                <a:cs typeface="Arial"/>
              </a:rPr>
              <a:t>them</a:t>
            </a:r>
            <a:r>
              <a:rPr dirty="0" sz="1100" spc="150">
                <a:latin typeface="Arial"/>
                <a:cs typeface="Arial"/>
              </a:rPr>
              <a:t> </a:t>
            </a:r>
            <a:r>
              <a:rPr dirty="0" sz="1100" spc="-5">
                <a:latin typeface="Arial"/>
                <a:cs typeface="Arial"/>
              </a:rPr>
              <a:t>to</a:t>
            </a:r>
            <a:r>
              <a:rPr dirty="0" sz="1100" spc="160">
                <a:latin typeface="Arial"/>
                <a:cs typeface="Arial"/>
              </a:rPr>
              <a:t> </a:t>
            </a:r>
            <a:r>
              <a:rPr dirty="0" sz="1100" spc="-5">
                <a:latin typeface="Arial"/>
                <a:cs typeface="Arial"/>
              </a:rPr>
              <a:t>a</a:t>
            </a:r>
            <a:r>
              <a:rPr dirty="0" sz="1100" spc="155">
                <a:latin typeface="Arial"/>
                <a:cs typeface="Arial"/>
              </a:rPr>
              <a:t> </a:t>
            </a:r>
            <a:r>
              <a:rPr dirty="0" sz="1100" spc="-5">
                <a:latin typeface="Arial"/>
                <a:cs typeface="Arial"/>
              </a:rPr>
              <a:t>particular</a:t>
            </a:r>
            <a:r>
              <a:rPr dirty="0" sz="1100" spc="160">
                <a:latin typeface="Arial"/>
                <a:cs typeface="Arial"/>
              </a:rPr>
              <a:t> </a:t>
            </a:r>
            <a:r>
              <a:rPr dirty="0" sz="1100" spc="-5">
                <a:latin typeface="Arial"/>
                <a:cs typeface="Arial"/>
              </a:rPr>
              <a:t>currency,</a:t>
            </a:r>
            <a:r>
              <a:rPr dirty="0" sz="1100" spc="155">
                <a:latin typeface="Arial"/>
                <a:cs typeface="Arial"/>
              </a:rPr>
              <a:t> </a:t>
            </a:r>
            <a:r>
              <a:rPr dirty="0" sz="1100" spc="-5">
                <a:latin typeface="Arial"/>
                <a:cs typeface="Arial"/>
              </a:rPr>
              <a:t>like</a:t>
            </a:r>
            <a:r>
              <a:rPr dirty="0" sz="1100" spc="160">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270</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103234"/>
          </a:xfrm>
          <a:prstGeom prst="rect">
            <a:avLst/>
          </a:prstGeom>
        </p:spPr>
        <p:txBody>
          <a:bodyPr wrap="square" lIns="0" tIns="12065" rIns="0" bIns="0" rtlCol="0" vert="horz">
            <a:spAutoFit/>
          </a:bodyPr>
          <a:lstStyle/>
          <a:p>
            <a:pPr marL="12700">
              <a:lnSpc>
                <a:spcPts val="1295"/>
              </a:lnSpc>
              <a:spcBef>
                <a:spcPts val="95"/>
              </a:spcBef>
            </a:pPr>
            <a:r>
              <a:rPr dirty="0" sz="1100" spc="-5">
                <a:latin typeface="Arial"/>
                <a:cs typeface="Arial"/>
              </a:rPr>
              <a:t>U.S.</a:t>
            </a:r>
            <a:r>
              <a:rPr dirty="0" sz="1100" spc="80">
                <a:latin typeface="Arial"/>
                <a:cs typeface="Arial"/>
              </a:rPr>
              <a:t> </a:t>
            </a:r>
            <a:r>
              <a:rPr dirty="0" sz="1100" spc="-5">
                <a:latin typeface="Arial"/>
                <a:cs typeface="Arial"/>
              </a:rPr>
              <a:t>dollar</a:t>
            </a:r>
            <a:r>
              <a:rPr dirty="0" sz="1100" spc="90">
                <a:latin typeface="Arial"/>
                <a:cs typeface="Arial"/>
              </a:rPr>
              <a:t> </a:t>
            </a:r>
            <a:r>
              <a:rPr dirty="0" sz="1100" spc="-5">
                <a:latin typeface="Arial"/>
                <a:cs typeface="Arial"/>
              </a:rPr>
              <a:t>or</a:t>
            </a:r>
            <a:r>
              <a:rPr dirty="0" sz="1100" spc="85">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pound</a:t>
            </a:r>
            <a:r>
              <a:rPr dirty="0" sz="1100" spc="85">
                <a:latin typeface="Arial"/>
                <a:cs typeface="Arial"/>
              </a:rPr>
              <a:t> </a:t>
            </a:r>
            <a:r>
              <a:rPr dirty="0" sz="1100" spc="-5">
                <a:latin typeface="Arial"/>
                <a:cs typeface="Arial"/>
              </a:rPr>
              <a:t>sterling.</a:t>
            </a:r>
            <a:r>
              <a:rPr dirty="0" sz="1100" spc="85">
                <a:latin typeface="Arial"/>
                <a:cs typeface="Arial"/>
              </a:rPr>
              <a:t> </a:t>
            </a:r>
            <a:r>
              <a:rPr dirty="0" sz="1100" spc="-5">
                <a:latin typeface="Arial"/>
                <a:cs typeface="Arial"/>
              </a:rPr>
              <a:t>However,</a:t>
            </a:r>
            <a:r>
              <a:rPr dirty="0" sz="1100" spc="85">
                <a:latin typeface="Arial"/>
                <a:cs typeface="Arial"/>
              </a:rPr>
              <a:t> </a:t>
            </a:r>
            <a:r>
              <a:rPr dirty="0" sz="1100" spc="-5">
                <a:latin typeface="Arial"/>
                <a:cs typeface="Arial"/>
              </a:rPr>
              <a:t>the</a:t>
            </a:r>
            <a:r>
              <a:rPr dirty="0" sz="1100" spc="95">
                <a:latin typeface="Arial"/>
                <a:cs typeface="Arial"/>
              </a:rPr>
              <a:t> </a:t>
            </a:r>
            <a:r>
              <a:rPr dirty="0" sz="1100" spc="-5">
                <a:latin typeface="Arial"/>
                <a:cs typeface="Arial"/>
              </a:rPr>
              <a:t>trend</a:t>
            </a:r>
            <a:r>
              <a:rPr dirty="0" sz="1100" spc="85">
                <a:latin typeface="Arial"/>
                <a:cs typeface="Arial"/>
              </a:rPr>
              <a:t> </a:t>
            </a:r>
            <a:r>
              <a:rPr dirty="0" sz="1100" spc="-5">
                <a:latin typeface="Arial"/>
                <a:cs typeface="Arial"/>
              </a:rPr>
              <a:t>for</a:t>
            </a:r>
            <a:r>
              <a:rPr dirty="0" sz="1100" spc="95">
                <a:latin typeface="Arial"/>
                <a:cs typeface="Arial"/>
              </a:rPr>
              <a:t> </a:t>
            </a:r>
            <a:r>
              <a:rPr dirty="0" sz="1100" spc="-5">
                <a:latin typeface="Arial"/>
                <a:cs typeface="Arial"/>
              </a:rPr>
              <a:t>most</a:t>
            </a:r>
            <a:r>
              <a:rPr dirty="0" sz="1100" spc="85">
                <a:latin typeface="Arial"/>
                <a:cs typeface="Arial"/>
              </a:rPr>
              <a:t> </a:t>
            </a:r>
            <a:r>
              <a:rPr dirty="0" sz="1100" spc="-5">
                <a:latin typeface="Arial"/>
                <a:cs typeface="Arial"/>
              </a:rPr>
              <a:t>developing</a:t>
            </a:r>
            <a:r>
              <a:rPr dirty="0" sz="1100" spc="85">
                <a:latin typeface="Arial"/>
                <a:cs typeface="Arial"/>
              </a:rPr>
              <a:t> </a:t>
            </a:r>
            <a:r>
              <a:rPr dirty="0" sz="1100" spc="-5">
                <a:latin typeface="Arial"/>
                <a:cs typeface="Arial"/>
              </a:rPr>
              <a:t>countries</a:t>
            </a:r>
            <a:r>
              <a:rPr dirty="0" sz="1100" spc="85">
                <a:latin typeface="Arial"/>
                <a:cs typeface="Arial"/>
              </a:rPr>
              <a:t> </a:t>
            </a:r>
            <a:r>
              <a:rPr dirty="0" sz="1100" spc="-5">
                <a:latin typeface="Arial"/>
                <a:cs typeface="Arial"/>
              </a:rPr>
              <a:t>is</a:t>
            </a:r>
            <a:r>
              <a:rPr dirty="0" sz="1100" spc="85">
                <a:latin typeface="Arial"/>
                <a:cs typeface="Arial"/>
              </a:rPr>
              <a:t> </a:t>
            </a:r>
            <a:r>
              <a:rPr dirty="0" sz="1100" spc="-5">
                <a:latin typeface="Arial"/>
                <a:cs typeface="Arial"/>
              </a:rPr>
              <a:t>toward</a:t>
            </a:r>
            <a:r>
              <a:rPr dirty="0" sz="1100" spc="85">
                <a:latin typeface="Arial"/>
                <a:cs typeface="Arial"/>
              </a:rPr>
              <a:t> </a:t>
            </a:r>
            <a:r>
              <a:rPr dirty="0" sz="1100" spc="-5">
                <a:latin typeface="Arial"/>
                <a:cs typeface="Arial"/>
              </a:rPr>
              <a:t>a</a:t>
            </a:r>
            <a:endParaRPr sz="1100">
              <a:latin typeface="Arial"/>
              <a:cs typeface="Arial"/>
            </a:endParaRPr>
          </a:p>
          <a:p>
            <a:pPr marL="12700">
              <a:lnSpc>
                <a:spcPts val="1295"/>
              </a:lnSpc>
            </a:pPr>
            <a:r>
              <a:rPr dirty="0" sz="1100" spc="-5" b="1">
                <a:latin typeface="Arial"/>
                <a:cs typeface="Arial"/>
              </a:rPr>
              <a:t>managed float </a:t>
            </a:r>
            <a:r>
              <a:rPr dirty="0" sz="1100" spc="-5">
                <a:latin typeface="Arial"/>
                <a:cs typeface="Arial"/>
              </a:rPr>
              <a:t>of their</a:t>
            </a:r>
            <a:r>
              <a:rPr dirty="0" sz="1100" spc="10">
                <a:latin typeface="Arial"/>
                <a:cs typeface="Arial"/>
              </a:rPr>
              <a:t> </a:t>
            </a:r>
            <a:r>
              <a:rPr dirty="0" sz="1100" spc="-5">
                <a:latin typeface="Arial"/>
                <a:cs typeface="Arial"/>
              </a:rPr>
              <a:t>currencies.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One final point that should be made about currency devaluations concerns their probable effect  on domestic prices. Devaluation has the immediate effect of raising prices of imported goods in  terms of the local currency. Imported shirts, shoes, radios, records, foodstuffs, and bicycles that  formerly cost </a:t>
            </a:r>
            <a:r>
              <a:rPr dirty="0" sz="1100" spc="-5" i="1">
                <a:latin typeface="Arial"/>
                <a:cs typeface="Arial"/>
              </a:rPr>
              <a:t>x </a:t>
            </a:r>
            <a:r>
              <a:rPr dirty="0" sz="1100" spc="-5">
                <a:latin typeface="Arial"/>
                <a:cs typeface="Arial"/>
              </a:rPr>
              <a:t>rupees now cost (1 + </a:t>
            </a:r>
            <a:r>
              <a:rPr dirty="0" sz="1100" spc="-5" i="1">
                <a:latin typeface="Arial"/>
                <a:cs typeface="Arial"/>
              </a:rPr>
              <a:t>d</a:t>
            </a:r>
            <a:r>
              <a:rPr dirty="0" sz="1100" spc="-5">
                <a:latin typeface="Arial"/>
                <a:cs typeface="Arial"/>
              </a:rPr>
              <a:t>)</a:t>
            </a:r>
            <a:r>
              <a:rPr dirty="0" sz="1100" spc="-5" i="1">
                <a:latin typeface="Arial"/>
                <a:cs typeface="Arial"/>
              </a:rPr>
              <a:t>x </a:t>
            </a:r>
            <a:r>
              <a:rPr dirty="0" sz="1100" spc="-5">
                <a:latin typeface="Arial"/>
                <a:cs typeface="Arial"/>
              </a:rPr>
              <a:t>rupees, depending on the percentage magnitude of the  devaluation, </a:t>
            </a:r>
            <a:r>
              <a:rPr dirty="0" sz="1100" spc="-5" i="1">
                <a:latin typeface="Arial"/>
                <a:cs typeface="Arial"/>
              </a:rPr>
              <a:t>d</a:t>
            </a:r>
            <a:r>
              <a:rPr dirty="0" sz="1100" spc="-5">
                <a:latin typeface="Arial"/>
                <a:cs typeface="Arial"/>
              </a:rPr>
              <a:t>. If, as a result of these higher prices, domestic workers seek to preserve the real  value of their purchasing power, they are likely to initiate increased wage and salary demands.  Such increases, if granted, will raise production costs and tend to push local prices up even  higher. A </a:t>
            </a:r>
            <a:r>
              <a:rPr dirty="0" sz="1100" spc="-5" b="1">
                <a:latin typeface="Arial"/>
                <a:cs typeface="Arial"/>
              </a:rPr>
              <a:t>wage-price spiral </a:t>
            </a:r>
            <a:r>
              <a:rPr dirty="0" sz="1100" spc="-5">
                <a:latin typeface="Arial"/>
                <a:cs typeface="Arial"/>
              </a:rPr>
              <a:t>of domestic inflation can be thereby set in motion. For example,  following the widespread IMF-induced currency devaluations during the 1997 Asian crisis, rates  of inflation shot up in 1998 from </a:t>
            </a:r>
            <a:r>
              <a:rPr dirty="0" sz="1100">
                <a:latin typeface="Arial"/>
                <a:cs typeface="Arial"/>
              </a:rPr>
              <a:t>11% </a:t>
            </a:r>
            <a:r>
              <a:rPr dirty="0" sz="1100" spc="-5">
                <a:latin typeface="Arial"/>
                <a:cs typeface="Arial"/>
              </a:rPr>
              <a:t>to 35% in Indonesia, from 6% to 12% in Thailand, and  from 5% to 10% in the Philippines. Unemployment rates doubled, and workers took to the  streets, demanding an end to the layoffs and a rise in wages to offset their lost purchasing  power.</a:t>
            </a:r>
            <a:endParaRPr sz="1100">
              <a:latin typeface="Arial"/>
              <a:cs typeface="Arial"/>
            </a:endParaRPr>
          </a:p>
          <a:p>
            <a:pPr>
              <a:lnSpc>
                <a:spcPct val="100000"/>
              </a:lnSpc>
            </a:pPr>
            <a:endParaRPr sz="1100">
              <a:latin typeface="Arial"/>
              <a:cs typeface="Arial"/>
            </a:endParaRPr>
          </a:p>
          <a:p>
            <a:pPr algn="just" marL="12700" marR="6350">
              <a:lnSpc>
                <a:spcPct val="95800"/>
              </a:lnSpc>
              <a:spcBef>
                <a:spcPts val="5"/>
              </a:spcBef>
            </a:pPr>
            <a:r>
              <a:rPr dirty="0" sz="1100" spc="-5">
                <a:latin typeface="Arial"/>
                <a:cs typeface="Arial"/>
              </a:rPr>
              <a:t>Finally, note that while a neutral exchange rate favors producing for neither the export market  nor the domestic market, and free-market economists tend to favor it because of its “level  playing field” in that respect, in contrast, an </a:t>
            </a:r>
            <a:r>
              <a:rPr dirty="0" sz="1100" spc="-5" b="1">
                <a:latin typeface="Arial"/>
                <a:cs typeface="Arial"/>
              </a:rPr>
              <a:t>undervalued exchange rate </a:t>
            </a:r>
            <a:r>
              <a:rPr dirty="0" sz="1100" spc="-5">
                <a:latin typeface="Arial"/>
                <a:cs typeface="Arial"/>
              </a:rPr>
              <a:t>is strongly export-  promoting. This is because it raises the local prices that firms receive for goods that can be  exported </a:t>
            </a:r>
            <a:r>
              <a:rPr dirty="0" sz="1100" spc="-5" i="1">
                <a:latin typeface="Arial"/>
                <a:cs typeface="Arial"/>
              </a:rPr>
              <a:t>relative to </a:t>
            </a:r>
            <a:r>
              <a:rPr dirty="0" sz="1100" spc="-5">
                <a:latin typeface="Arial"/>
                <a:cs typeface="Arial"/>
              </a:rPr>
              <a:t>prices of non tradable goods that are sold only to domestic buyers, thus  motivating a reorientation of firms toward the export market. If exports stimulate growth and </a:t>
            </a:r>
            <a:r>
              <a:rPr dirty="0" sz="1100">
                <a:latin typeface="Arial"/>
                <a:cs typeface="Arial"/>
              </a:rPr>
              <a:t>if  </a:t>
            </a:r>
            <a:r>
              <a:rPr dirty="0" sz="1100" spc="-5">
                <a:latin typeface="Arial"/>
                <a:cs typeface="Arial"/>
              </a:rPr>
              <a:t>that growth is widely shared, </a:t>
            </a:r>
            <a:r>
              <a:rPr dirty="0" sz="1100">
                <a:latin typeface="Arial"/>
                <a:cs typeface="Arial"/>
              </a:rPr>
              <a:t>many </a:t>
            </a:r>
            <a:r>
              <a:rPr dirty="0" sz="1100" spc="-5">
                <a:latin typeface="Arial"/>
                <a:cs typeface="Arial"/>
              </a:rPr>
              <a:t>development economists expect that in the longer term,  devaluation—and perhaps even undervaluation of exchange rates—can provide important  development advantages. Proponents of industrial </a:t>
            </a:r>
            <a:r>
              <a:rPr dirty="0" sz="1100">
                <a:latin typeface="Arial"/>
                <a:cs typeface="Arial"/>
              </a:rPr>
              <a:t>policy </a:t>
            </a:r>
            <a:r>
              <a:rPr dirty="0" sz="1100" spc="-5">
                <a:latin typeface="Arial"/>
                <a:cs typeface="Arial"/>
              </a:rPr>
              <a:t>(and critics who consider it unfair)  point to the long-term undervaluation of the Chinese Renminbi and the earlier undervaluation of  other East Asian currencies, particularly those of South Korea and Taiwan; we return to this  topic later in the</a:t>
            </a:r>
            <a:r>
              <a:rPr dirty="0" sz="1100">
                <a:latin typeface="Arial"/>
                <a:cs typeface="Arial"/>
              </a:rPr>
              <a:t> </a:t>
            </a:r>
            <a:r>
              <a:rPr dirty="0" sz="1100" spc="-5">
                <a:latin typeface="Arial"/>
                <a:cs typeface="Arial"/>
              </a:rPr>
              <a:t>chapter.</a:t>
            </a:r>
            <a:endParaRPr sz="1100">
              <a:latin typeface="Arial"/>
              <a:cs typeface="Arial"/>
            </a:endParaRPr>
          </a:p>
          <a:p>
            <a:pPr>
              <a:lnSpc>
                <a:spcPct val="100000"/>
              </a:lnSpc>
              <a:spcBef>
                <a:spcPts val="30"/>
              </a:spcBef>
            </a:pPr>
            <a:endParaRPr sz="1100">
              <a:latin typeface="Arial"/>
              <a:cs typeface="Arial"/>
            </a:endParaRPr>
          </a:p>
          <a:p>
            <a:pPr algn="just" marL="12700" marR="7620">
              <a:lnSpc>
                <a:spcPts val="1270"/>
              </a:lnSpc>
            </a:pPr>
            <a:r>
              <a:rPr dirty="0" sz="1100" spc="-10" b="1">
                <a:latin typeface="Arial"/>
                <a:cs typeface="Arial"/>
              </a:rPr>
              <a:t>TRADE OPTIMISTS </a:t>
            </a:r>
            <a:r>
              <a:rPr dirty="0" sz="1100" spc="-5" b="1">
                <a:latin typeface="Arial"/>
                <a:cs typeface="Arial"/>
              </a:rPr>
              <a:t>AND TRADE PESSIMISTS: SUMMARIZING THE TRADITIONAL  DEBATE</a:t>
            </a:r>
            <a:endParaRPr sz="1100">
              <a:latin typeface="Arial"/>
              <a:cs typeface="Arial"/>
            </a:endParaRPr>
          </a:p>
          <a:p>
            <a:pPr>
              <a:lnSpc>
                <a:spcPct val="100000"/>
              </a:lnSpc>
              <a:spcBef>
                <a:spcPts val="15"/>
              </a:spcBef>
            </a:pPr>
            <a:endParaRPr sz="1150">
              <a:latin typeface="Arial"/>
              <a:cs typeface="Arial"/>
            </a:endParaRPr>
          </a:p>
          <a:p>
            <a:pPr algn="just" marL="12700" marR="5715">
              <a:lnSpc>
                <a:spcPct val="95800"/>
              </a:lnSpc>
            </a:pPr>
            <a:r>
              <a:rPr dirty="0" sz="1100" spc="-5">
                <a:latin typeface="Arial"/>
                <a:cs typeface="Arial"/>
              </a:rPr>
              <a:t>We are now in a position to summarize the major issues and arguments in the great debate  between advocates of free-trade, outward-looking development and export promotion policies—  the </a:t>
            </a:r>
            <a:r>
              <a:rPr dirty="0" sz="1100" spc="-5" b="1">
                <a:latin typeface="Arial"/>
                <a:cs typeface="Arial"/>
              </a:rPr>
              <a:t>trade optimists</a:t>
            </a:r>
            <a:r>
              <a:rPr dirty="0" sz="1100" spc="-5">
                <a:latin typeface="Arial"/>
                <a:cs typeface="Arial"/>
              </a:rPr>
              <a:t>—and advocates of greater protection, more inward-looking strategies, and  greater import substitution— the </a:t>
            </a:r>
            <a:r>
              <a:rPr dirty="0" sz="1100" spc="-5" b="1">
                <a:latin typeface="Arial"/>
                <a:cs typeface="Arial"/>
              </a:rPr>
              <a:t>trade pessimists</a:t>
            </a:r>
            <a:r>
              <a:rPr dirty="0" sz="1100" spc="-5">
                <a:latin typeface="Arial"/>
                <a:cs typeface="Arial"/>
              </a:rPr>
              <a:t>. Let us begin with the latter school of  thought.</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10" b="1">
                <a:latin typeface="Arial"/>
                <a:cs typeface="Arial"/>
              </a:rPr>
              <a:t>TRADE </a:t>
            </a:r>
            <a:r>
              <a:rPr dirty="0" sz="1100" spc="-5" b="1">
                <a:latin typeface="Arial"/>
                <a:cs typeface="Arial"/>
              </a:rPr>
              <a:t>PESSIMIST</a:t>
            </a:r>
            <a:r>
              <a:rPr dirty="0" sz="1100" spc="15" b="1">
                <a:latin typeface="Arial"/>
                <a:cs typeface="Arial"/>
              </a:rPr>
              <a:t> </a:t>
            </a:r>
            <a:r>
              <a:rPr dirty="0" sz="1100" spc="-5" b="1">
                <a:latin typeface="Arial"/>
                <a:cs typeface="Arial"/>
              </a:rPr>
              <a:t>ARGUMENTS</a:t>
            </a:r>
            <a:endParaRPr sz="1100">
              <a:latin typeface="Arial"/>
              <a:cs typeface="Arial"/>
            </a:endParaRPr>
          </a:p>
          <a:p>
            <a:pPr>
              <a:lnSpc>
                <a:spcPct val="100000"/>
              </a:lnSpc>
              <a:spcBef>
                <a:spcPts val="15"/>
              </a:spcBef>
            </a:pPr>
            <a:endParaRPr sz="1250">
              <a:latin typeface="Arial"/>
              <a:cs typeface="Arial"/>
            </a:endParaRPr>
          </a:p>
          <a:p>
            <a:pPr algn="just" marL="469900" marR="5715" indent="-228600">
              <a:lnSpc>
                <a:spcPct val="95700"/>
              </a:lnSpc>
              <a:spcBef>
                <a:spcPts val="5"/>
              </a:spcBef>
              <a:buFont typeface="Symbol"/>
              <a:buChar char=""/>
              <a:tabLst>
                <a:tab pos="470534" algn="l"/>
              </a:tabLst>
            </a:pPr>
            <a:r>
              <a:rPr dirty="0" sz="1100" spc="-5" b="1">
                <a:latin typeface="Arial"/>
                <a:cs typeface="Arial"/>
              </a:rPr>
              <a:t>Trade pessimists: </a:t>
            </a:r>
            <a:r>
              <a:rPr dirty="0" sz="1100" spc="-5">
                <a:latin typeface="Arial"/>
                <a:cs typeface="Arial"/>
              </a:rPr>
              <a:t>Theorists who argue that without tariff protection or quantitative  restrictions on trade, developing countries gain little or nothing from </a:t>
            </a:r>
            <a:r>
              <a:rPr dirty="0" sz="1100">
                <a:latin typeface="Arial"/>
                <a:cs typeface="Arial"/>
              </a:rPr>
              <a:t>an </a:t>
            </a:r>
            <a:r>
              <a:rPr dirty="0" sz="1100" spc="-5">
                <a:latin typeface="Arial"/>
                <a:cs typeface="Arial"/>
              </a:rPr>
              <a:t>export-oriented,  open-economy posture.</a:t>
            </a:r>
            <a:endParaRPr sz="1100">
              <a:latin typeface="Arial"/>
              <a:cs typeface="Arial"/>
            </a:endParaRPr>
          </a:p>
          <a:p>
            <a:pPr>
              <a:lnSpc>
                <a:spcPct val="100000"/>
              </a:lnSpc>
              <a:spcBef>
                <a:spcPts val="20"/>
              </a:spcBef>
            </a:pPr>
            <a:endParaRPr sz="1100">
              <a:latin typeface="Arial"/>
              <a:cs typeface="Arial"/>
            </a:endParaRPr>
          </a:p>
          <a:p>
            <a:pPr marL="12700" marR="5715">
              <a:lnSpc>
                <a:spcPts val="1270"/>
              </a:lnSpc>
              <a:spcBef>
                <a:spcPts val="5"/>
              </a:spcBef>
            </a:pPr>
            <a:r>
              <a:rPr dirty="0" sz="1100" spc="-5">
                <a:latin typeface="Arial"/>
                <a:cs typeface="Arial"/>
              </a:rPr>
              <a:t>Trade pessimists tend to focus on four basic themes: (1) the limited growth of world demand for  primary</a:t>
            </a:r>
            <a:r>
              <a:rPr dirty="0" sz="1100" spc="25">
                <a:latin typeface="Arial"/>
                <a:cs typeface="Arial"/>
              </a:rPr>
              <a:t> </a:t>
            </a:r>
            <a:r>
              <a:rPr dirty="0" sz="1100" spc="-5">
                <a:latin typeface="Arial"/>
                <a:cs typeface="Arial"/>
              </a:rPr>
              <a:t>exports,</a:t>
            </a:r>
            <a:r>
              <a:rPr dirty="0" sz="1100" spc="30">
                <a:latin typeface="Arial"/>
                <a:cs typeface="Arial"/>
              </a:rPr>
              <a:t> </a:t>
            </a:r>
            <a:r>
              <a:rPr dirty="0" sz="1100" spc="-5">
                <a:latin typeface="Arial"/>
                <a:cs typeface="Arial"/>
              </a:rPr>
              <a:t>(2)</a:t>
            </a:r>
            <a:r>
              <a:rPr dirty="0" sz="1100" spc="25">
                <a:latin typeface="Arial"/>
                <a:cs typeface="Arial"/>
              </a:rPr>
              <a:t> </a:t>
            </a:r>
            <a:r>
              <a:rPr dirty="0" sz="1100" spc="-5">
                <a:latin typeface="Arial"/>
                <a:cs typeface="Arial"/>
              </a:rPr>
              <a:t>the</a:t>
            </a:r>
            <a:r>
              <a:rPr dirty="0" sz="1100" spc="40">
                <a:latin typeface="Arial"/>
                <a:cs typeface="Arial"/>
              </a:rPr>
              <a:t> </a:t>
            </a:r>
            <a:r>
              <a:rPr dirty="0" sz="1100" spc="-5">
                <a:latin typeface="Arial"/>
                <a:cs typeface="Arial"/>
              </a:rPr>
              <a:t>secular</a:t>
            </a:r>
            <a:r>
              <a:rPr dirty="0" sz="1100" spc="25">
                <a:latin typeface="Arial"/>
                <a:cs typeface="Arial"/>
              </a:rPr>
              <a:t> </a:t>
            </a:r>
            <a:r>
              <a:rPr dirty="0" sz="1100" spc="-5">
                <a:latin typeface="Arial"/>
                <a:cs typeface="Arial"/>
              </a:rPr>
              <a:t>deterioration</a:t>
            </a:r>
            <a:r>
              <a:rPr dirty="0" sz="1100" spc="30">
                <a:latin typeface="Arial"/>
                <a:cs typeface="Arial"/>
              </a:rPr>
              <a:t> </a:t>
            </a:r>
            <a:r>
              <a:rPr dirty="0" sz="1100" spc="-5">
                <a:latin typeface="Arial"/>
                <a:cs typeface="Arial"/>
              </a:rPr>
              <a:t>in</a:t>
            </a:r>
            <a:r>
              <a:rPr dirty="0" sz="1100" spc="30">
                <a:latin typeface="Arial"/>
                <a:cs typeface="Arial"/>
              </a:rPr>
              <a:t> </a:t>
            </a:r>
            <a:r>
              <a:rPr dirty="0" sz="1100" spc="-5">
                <a:latin typeface="Arial"/>
                <a:cs typeface="Arial"/>
              </a:rPr>
              <a:t>the</a:t>
            </a:r>
            <a:r>
              <a:rPr dirty="0" sz="1100" spc="30">
                <a:latin typeface="Arial"/>
                <a:cs typeface="Arial"/>
              </a:rPr>
              <a:t> </a:t>
            </a:r>
            <a:r>
              <a:rPr dirty="0" sz="1100" spc="-5">
                <a:latin typeface="Arial"/>
                <a:cs typeface="Arial"/>
              </a:rPr>
              <a:t>terms</a:t>
            </a:r>
            <a:r>
              <a:rPr dirty="0" sz="1100" spc="25">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trade</a:t>
            </a:r>
            <a:r>
              <a:rPr dirty="0" sz="1100" spc="30">
                <a:latin typeface="Arial"/>
                <a:cs typeface="Arial"/>
              </a:rPr>
              <a:t> </a:t>
            </a:r>
            <a:r>
              <a:rPr dirty="0" sz="1100" spc="-5">
                <a:latin typeface="Arial"/>
                <a:cs typeface="Arial"/>
              </a:rPr>
              <a:t>for</a:t>
            </a:r>
            <a:r>
              <a:rPr dirty="0" sz="1100" spc="25">
                <a:latin typeface="Arial"/>
                <a:cs typeface="Arial"/>
              </a:rPr>
              <a:t> </a:t>
            </a:r>
            <a:r>
              <a:rPr dirty="0" sz="1100" spc="-5">
                <a:latin typeface="Arial"/>
                <a:cs typeface="Arial"/>
              </a:rPr>
              <a:t>primary</a:t>
            </a:r>
            <a:r>
              <a:rPr dirty="0" sz="1100" spc="30">
                <a:latin typeface="Arial"/>
                <a:cs typeface="Arial"/>
              </a:rPr>
              <a:t> </a:t>
            </a:r>
            <a:r>
              <a:rPr dirty="0" sz="1100" spc="-5">
                <a:latin typeface="Arial"/>
                <a:cs typeface="Arial"/>
              </a:rPr>
              <a:t>producing</a:t>
            </a:r>
            <a:r>
              <a:rPr dirty="0" sz="1100" spc="25">
                <a:latin typeface="Arial"/>
                <a:cs typeface="Arial"/>
              </a:rPr>
              <a:t> </a:t>
            </a:r>
            <a:r>
              <a:rPr dirty="0" sz="1100" spc="-5">
                <a:latin typeface="Arial"/>
                <a:cs typeface="Arial"/>
              </a:rPr>
              <a:t>nations,</a:t>
            </a:r>
            <a:endParaRPr sz="1100">
              <a:latin typeface="Arial"/>
              <a:cs typeface="Arial"/>
            </a:endParaRPr>
          </a:p>
          <a:p>
            <a:pPr marL="12700">
              <a:lnSpc>
                <a:spcPts val="1200"/>
              </a:lnSpc>
            </a:pPr>
            <a:r>
              <a:rPr dirty="0" sz="1100" spc="-5">
                <a:latin typeface="Arial"/>
                <a:cs typeface="Arial"/>
              </a:rPr>
              <a:t>(3)</a:t>
            </a:r>
            <a:r>
              <a:rPr dirty="0" sz="1100" spc="55">
                <a:latin typeface="Arial"/>
                <a:cs typeface="Arial"/>
              </a:rPr>
              <a:t> </a:t>
            </a:r>
            <a:r>
              <a:rPr dirty="0" sz="1100" spc="-5">
                <a:latin typeface="Arial"/>
                <a:cs typeface="Arial"/>
              </a:rPr>
              <a:t>the</a:t>
            </a:r>
            <a:r>
              <a:rPr dirty="0" sz="1100" spc="60">
                <a:latin typeface="Arial"/>
                <a:cs typeface="Arial"/>
              </a:rPr>
              <a:t> </a:t>
            </a:r>
            <a:r>
              <a:rPr dirty="0" sz="1100" spc="-5">
                <a:latin typeface="Arial"/>
                <a:cs typeface="Arial"/>
              </a:rPr>
              <a:t>rise</a:t>
            </a:r>
            <a:r>
              <a:rPr dirty="0" sz="1100" spc="60">
                <a:latin typeface="Arial"/>
                <a:cs typeface="Arial"/>
              </a:rPr>
              <a:t> </a:t>
            </a:r>
            <a:r>
              <a:rPr dirty="0" sz="1100" spc="-5">
                <a:latin typeface="Arial"/>
                <a:cs typeface="Arial"/>
              </a:rPr>
              <a:t>of</a:t>
            </a:r>
            <a:r>
              <a:rPr dirty="0" sz="1100" spc="55">
                <a:latin typeface="Arial"/>
                <a:cs typeface="Arial"/>
              </a:rPr>
              <a:t> </a:t>
            </a:r>
            <a:r>
              <a:rPr dirty="0" sz="1100" spc="-5">
                <a:latin typeface="Arial"/>
                <a:cs typeface="Arial"/>
              </a:rPr>
              <a:t>“new</a:t>
            </a:r>
            <a:r>
              <a:rPr dirty="0" sz="1100" spc="60">
                <a:latin typeface="Arial"/>
                <a:cs typeface="Arial"/>
              </a:rPr>
              <a:t> </a:t>
            </a:r>
            <a:r>
              <a:rPr dirty="0" sz="1100" spc="-5">
                <a:latin typeface="Arial"/>
                <a:cs typeface="Arial"/>
              </a:rPr>
              <a:t>protectionism”</a:t>
            </a:r>
            <a:r>
              <a:rPr dirty="0" sz="1100" spc="60">
                <a:latin typeface="Arial"/>
                <a:cs typeface="Arial"/>
              </a:rPr>
              <a:t> </a:t>
            </a:r>
            <a:r>
              <a:rPr dirty="0" sz="1100" spc="-5">
                <a:latin typeface="Arial"/>
                <a:cs typeface="Arial"/>
              </a:rPr>
              <a:t>against</a:t>
            </a:r>
            <a:r>
              <a:rPr dirty="0" sz="1100" spc="60">
                <a:latin typeface="Arial"/>
                <a:cs typeface="Arial"/>
              </a:rPr>
              <a:t> </a:t>
            </a:r>
            <a:r>
              <a:rPr dirty="0" sz="1100" spc="-5">
                <a:latin typeface="Arial"/>
                <a:cs typeface="Arial"/>
              </a:rPr>
              <a:t>manufactured</a:t>
            </a:r>
            <a:r>
              <a:rPr dirty="0" sz="1100" spc="55">
                <a:latin typeface="Arial"/>
                <a:cs typeface="Arial"/>
              </a:rPr>
              <a:t> </a:t>
            </a:r>
            <a:r>
              <a:rPr dirty="0" sz="1100" spc="-5">
                <a:latin typeface="Arial"/>
                <a:cs typeface="Arial"/>
              </a:rPr>
              <a:t>and</a:t>
            </a:r>
            <a:r>
              <a:rPr dirty="0" sz="1100" spc="60">
                <a:latin typeface="Arial"/>
                <a:cs typeface="Arial"/>
              </a:rPr>
              <a:t> </a:t>
            </a:r>
            <a:r>
              <a:rPr dirty="0" sz="1100" spc="-5">
                <a:latin typeface="Arial"/>
                <a:cs typeface="Arial"/>
              </a:rPr>
              <a:t>processed</a:t>
            </a:r>
            <a:r>
              <a:rPr dirty="0" sz="1100" spc="55">
                <a:latin typeface="Arial"/>
                <a:cs typeface="Arial"/>
              </a:rPr>
              <a:t> </a:t>
            </a:r>
            <a:r>
              <a:rPr dirty="0" sz="1100" spc="-5">
                <a:latin typeface="Arial"/>
                <a:cs typeface="Arial"/>
              </a:rPr>
              <a:t>agricultural</a:t>
            </a:r>
            <a:r>
              <a:rPr dirty="0" sz="1100" spc="50">
                <a:latin typeface="Arial"/>
                <a:cs typeface="Arial"/>
              </a:rPr>
              <a:t> </a:t>
            </a:r>
            <a:r>
              <a:rPr dirty="0" sz="1100" spc="-5">
                <a:latin typeface="Arial"/>
                <a:cs typeface="Arial"/>
              </a:rPr>
              <a:t>goods</a:t>
            </a:r>
            <a:r>
              <a:rPr dirty="0" sz="1100" spc="60">
                <a:latin typeface="Arial"/>
                <a:cs typeface="Arial"/>
              </a:rPr>
              <a:t> </a:t>
            </a:r>
            <a:r>
              <a:rPr dirty="0" sz="1100" spc="-5">
                <a:latin typeface="Arial"/>
                <a:cs typeface="Arial"/>
              </a:rPr>
              <a:t>from</a:t>
            </a:r>
            <a:endParaRPr sz="1100">
              <a:latin typeface="Arial"/>
              <a:cs typeface="Arial"/>
            </a:endParaRPr>
          </a:p>
          <a:p>
            <a:pPr marL="12700" marR="6350">
              <a:lnSpc>
                <a:spcPts val="1270"/>
              </a:lnSpc>
              <a:spcBef>
                <a:spcPts val="55"/>
              </a:spcBef>
            </a:pPr>
            <a:r>
              <a:rPr dirty="0" sz="1100" spc="-5">
                <a:latin typeface="Arial"/>
                <a:cs typeface="Arial"/>
              </a:rPr>
              <a:t>developing countries, and (4) the presence of market failures that reduce the ability of  developing countries to move up to export higher-value</a:t>
            </a:r>
            <a:r>
              <a:rPr dirty="0" sz="1100" spc="50">
                <a:latin typeface="Arial"/>
                <a:cs typeface="Arial"/>
              </a:rPr>
              <a:t> </a:t>
            </a:r>
            <a:r>
              <a:rPr dirty="0" sz="1100" spc="-5">
                <a:latin typeface="Arial"/>
                <a:cs typeface="Arial"/>
              </a:rPr>
              <a:t>products.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271</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72" y="891794"/>
            <a:ext cx="5970905" cy="8087995"/>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The value of traditional developing-country exports to developed countries grow slowly because  of (1) a </a:t>
            </a:r>
            <a:r>
              <a:rPr dirty="0" sz="1100">
                <a:latin typeface="Arial"/>
                <a:cs typeface="Arial"/>
              </a:rPr>
              <a:t>shift </a:t>
            </a:r>
            <a:r>
              <a:rPr dirty="0" sz="1100" spc="-5">
                <a:latin typeface="Arial"/>
                <a:cs typeface="Arial"/>
              </a:rPr>
              <a:t>in developed countries from low technology, material-intensive goods to high-  technology, skill-intensive products, which decreases the demand for raw materials; (2)  increased efficiency in industrial uses of raw materials; (3) the substitution of synthetics for  natural raw materials like rubber, copper, and cotton; (4) the low income elasticity of demand </a:t>
            </a:r>
            <a:r>
              <a:rPr dirty="0" sz="1100">
                <a:latin typeface="Arial"/>
                <a:cs typeface="Arial"/>
              </a:rPr>
              <a:t>for  </a:t>
            </a:r>
            <a:r>
              <a:rPr dirty="0" sz="1100" spc="-5">
                <a:latin typeface="Arial"/>
                <a:cs typeface="Arial"/>
              </a:rPr>
              <a:t>primary products and light manufactured goods; </a:t>
            </a:r>
            <a:r>
              <a:rPr dirty="0" sz="1100">
                <a:latin typeface="Arial"/>
                <a:cs typeface="Arial"/>
              </a:rPr>
              <a:t>(5) </a:t>
            </a:r>
            <a:r>
              <a:rPr dirty="0" sz="1100" spc="-5">
                <a:latin typeface="Arial"/>
                <a:cs typeface="Arial"/>
              </a:rPr>
              <a:t>the rising productivity of agriculture in  developed countries; and (6) relatively higher levels of protectionism for both agriculture and  labor-intensive developed country</a:t>
            </a:r>
            <a:r>
              <a:rPr dirty="0" sz="1100" spc="10">
                <a:latin typeface="Arial"/>
                <a:cs typeface="Arial"/>
              </a:rPr>
              <a:t> </a:t>
            </a:r>
            <a:r>
              <a:rPr dirty="0" sz="1100" spc="-5">
                <a:latin typeface="Arial"/>
                <a:cs typeface="Arial"/>
              </a:rPr>
              <a:t>industries.</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The terms of trade remain unfavorable or continue to deteriorate because of (1) oligopolistic  control of factor and commodity markets in developed countries combined </a:t>
            </a:r>
            <a:r>
              <a:rPr dirty="0" sz="1100">
                <a:latin typeface="Arial"/>
                <a:cs typeface="Arial"/>
              </a:rPr>
              <a:t>with </a:t>
            </a:r>
            <a:r>
              <a:rPr dirty="0" sz="1100" spc="-5">
                <a:latin typeface="Arial"/>
                <a:cs typeface="Arial"/>
              </a:rPr>
              <a:t>increasing  competitive sources of supply of a developing country’s export-ables and (2) a generally lower  level of the income elasticity of demand for its</a:t>
            </a:r>
            <a:r>
              <a:rPr dirty="0" sz="1100" spc="45">
                <a:latin typeface="Arial"/>
                <a:cs typeface="Arial"/>
              </a:rPr>
              <a:t> </a:t>
            </a:r>
            <a:r>
              <a:rPr dirty="0" sz="1100" spc="-5">
                <a:latin typeface="Arial"/>
                <a:cs typeface="Arial"/>
              </a:rPr>
              <a:t>exports.</a:t>
            </a:r>
            <a:endParaRPr sz="1100">
              <a:latin typeface="Arial"/>
              <a:cs typeface="Arial"/>
            </a:endParaRPr>
          </a:p>
          <a:p>
            <a:pPr>
              <a:lnSpc>
                <a:spcPct val="100000"/>
              </a:lnSpc>
              <a:spcBef>
                <a:spcPts val="10"/>
              </a:spcBef>
            </a:pPr>
            <a:endParaRPr sz="1050">
              <a:latin typeface="Arial"/>
              <a:cs typeface="Arial"/>
            </a:endParaRPr>
          </a:p>
          <a:p>
            <a:pPr algn="just" marL="12700" marR="6350">
              <a:lnSpc>
                <a:spcPct val="95900"/>
              </a:lnSpc>
            </a:pPr>
            <a:r>
              <a:rPr dirty="0" sz="1100" spc="-5">
                <a:latin typeface="Arial"/>
                <a:cs typeface="Arial"/>
              </a:rPr>
              <a:t>The rise of </a:t>
            </a:r>
            <a:r>
              <a:rPr dirty="0" sz="1100" spc="-5" b="1">
                <a:latin typeface="Arial"/>
                <a:cs typeface="Arial"/>
              </a:rPr>
              <a:t>new protectionism </a:t>
            </a:r>
            <a:r>
              <a:rPr dirty="0" sz="1100" spc="-5">
                <a:latin typeface="Arial"/>
                <a:cs typeface="Arial"/>
              </a:rPr>
              <a:t>in the developed world results from the success of a growing  number of developing countries in producing a wide </a:t>
            </a:r>
            <a:r>
              <a:rPr dirty="0" sz="1100">
                <a:latin typeface="Arial"/>
                <a:cs typeface="Arial"/>
              </a:rPr>
              <a:t>range </a:t>
            </a:r>
            <a:r>
              <a:rPr dirty="0" sz="1100" spc="-5">
                <a:latin typeface="Arial"/>
                <a:cs typeface="Arial"/>
              </a:rPr>
              <a:t>of both primary and secondary  products at competitive world market prices, combined with the quite natural fears of workers in  higher-cost developed country industries that their jobs will be lost. They pressure their  governments in North America, Europe, and Japan to curtail or prohibit competitive imports </a:t>
            </a:r>
            <a:r>
              <a:rPr dirty="0" sz="1100">
                <a:latin typeface="Arial"/>
                <a:cs typeface="Arial"/>
              </a:rPr>
              <a:t>from  </a:t>
            </a:r>
            <a:r>
              <a:rPr dirty="0" sz="1100" spc="-5">
                <a:latin typeface="Arial"/>
                <a:cs typeface="Arial"/>
              </a:rPr>
              <a:t>the developing world. The form this takes changes over time; the 2010 proposals by the leaders  of France and Italy for “carbon tariffs” to be levied on exports of developing countries that do not  restrict greenhouse gases are a recent example: surely, protectionism against developing  countries is not the only way to help them to decrease greenhouse gas</a:t>
            </a:r>
            <a:r>
              <a:rPr dirty="0" sz="1100" spc="110">
                <a:latin typeface="Arial"/>
                <a:cs typeface="Arial"/>
              </a:rPr>
              <a:t> </a:t>
            </a:r>
            <a:r>
              <a:rPr dirty="0" sz="1100" spc="-5">
                <a:latin typeface="Arial"/>
                <a:cs typeface="Arial"/>
              </a:rPr>
              <a:t>emissions.</a:t>
            </a:r>
            <a:endParaRPr sz="1100">
              <a:latin typeface="Arial"/>
              <a:cs typeface="Arial"/>
            </a:endParaRPr>
          </a:p>
          <a:p>
            <a:pPr>
              <a:lnSpc>
                <a:spcPct val="100000"/>
              </a:lnSpc>
              <a:spcBef>
                <a:spcPts val="45"/>
              </a:spcBef>
            </a:pPr>
            <a:endParaRPr sz="1100">
              <a:latin typeface="Arial"/>
              <a:cs typeface="Arial"/>
            </a:endParaRPr>
          </a:p>
          <a:p>
            <a:pPr algn="just" marL="12700" marR="5080">
              <a:lnSpc>
                <a:spcPts val="1260"/>
              </a:lnSpc>
            </a:pPr>
            <a:r>
              <a:rPr dirty="0" sz="1100" spc="-5" b="1">
                <a:latin typeface="Arial"/>
                <a:cs typeface="Arial"/>
              </a:rPr>
              <a:t>Trade pessimists therefore conclude that trade opportunities are limited and even hurt  developing countries for four</a:t>
            </a:r>
            <a:r>
              <a:rPr dirty="0" sz="1100" spc="15" b="1">
                <a:latin typeface="Arial"/>
                <a:cs typeface="Arial"/>
              </a:rPr>
              <a:t> </a:t>
            </a:r>
            <a:r>
              <a:rPr dirty="0" sz="1100" spc="-5" b="1">
                <a:latin typeface="Arial"/>
                <a:cs typeface="Arial"/>
              </a:rPr>
              <a:t>reasons:</a:t>
            </a:r>
            <a:endParaRPr sz="1100">
              <a:latin typeface="Arial"/>
              <a:cs typeface="Arial"/>
            </a:endParaRPr>
          </a:p>
          <a:p>
            <a:pPr>
              <a:lnSpc>
                <a:spcPct val="100000"/>
              </a:lnSpc>
              <a:spcBef>
                <a:spcPts val="50"/>
              </a:spcBef>
            </a:pPr>
            <a:endParaRPr sz="1050">
              <a:latin typeface="Arial"/>
              <a:cs typeface="Arial"/>
            </a:endParaRPr>
          </a:p>
          <a:p>
            <a:pPr algn="just" marL="469900" marR="6985" indent="-228600">
              <a:lnSpc>
                <a:spcPts val="1270"/>
              </a:lnSpc>
              <a:buFont typeface="Arial"/>
              <a:buAutoNum type="arabicPeriod"/>
              <a:tabLst>
                <a:tab pos="470534" algn="l"/>
              </a:tabLst>
            </a:pPr>
            <a:r>
              <a:rPr dirty="0" sz="1100" spc="-5">
                <a:latin typeface="Arial"/>
                <a:cs typeface="Arial"/>
              </a:rPr>
              <a:t>The slow growth in demand for their traditional exports means that export expansion  results in lower export prices and a transfer of income from </a:t>
            </a:r>
            <a:r>
              <a:rPr dirty="0" sz="1100">
                <a:latin typeface="Arial"/>
                <a:cs typeface="Arial"/>
              </a:rPr>
              <a:t>poor </a:t>
            </a:r>
            <a:r>
              <a:rPr dirty="0" sz="1100" spc="-5">
                <a:latin typeface="Arial"/>
                <a:cs typeface="Arial"/>
              </a:rPr>
              <a:t>to rich</a:t>
            </a:r>
            <a:r>
              <a:rPr dirty="0" sz="1100" spc="125">
                <a:latin typeface="Arial"/>
                <a:cs typeface="Arial"/>
              </a:rPr>
              <a:t> </a:t>
            </a:r>
            <a:r>
              <a:rPr dirty="0" sz="1100" spc="-5">
                <a:latin typeface="Arial"/>
                <a:cs typeface="Arial"/>
              </a:rPr>
              <a:t>nations.</a:t>
            </a:r>
            <a:endParaRPr sz="1100">
              <a:latin typeface="Arial"/>
              <a:cs typeface="Arial"/>
            </a:endParaRPr>
          </a:p>
          <a:p>
            <a:pPr algn="just" marL="469900" marR="5080" indent="-228600">
              <a:lnSpc>
                <a:spcPts val="1260"/>
              </a:lnSpc>
              <a:buFont typeface="Arial"/>
              <a:buAutoNum type="arabicPeriod"/>
              <a:tabLst>
                <a:tab pos="470534" algn="l"/>
              </a:tabLst>
            </a:pPr>
            <a:r>
              <a:rPr dirty="0" sz="1100" spc="-5">
                <a:latin typeface="Arial"/>
                <a:cs typeface="Arial"/>
              </a:rPr>
              <a:t>Without import restrictions, the high elasticity of developing countries demand for imports  combined</a:t>
            </a:r>
            <a:r>
              <a:rPr dirty="0" sz="1100" spc="105">
                <a:latin typeface="Arial"/>
                <a:cs typeface="Arial"/>
              </a:rPr>
              <a:t> </a:t>
            </a:r>
            <a:r>
              <a:rPr dirty="0" sz="1100" spc="-5">
                <a:latin typeface="Arial"/>
                <a:cs typeface="Arial"/>
              </a:rPr>
              <a:t>with</a:t>
            </a:r>
            <a:r>
              <a:rPr dirty="0" sz="1100" spc="105">
                <a:latin typeface="Arial"/>
                <a:cs typeface="Arial"/>
              </a:rPr>
              <a:t> </a:t>
            </a:r>
            <a:r>
              <a:rPr dirty="0" sz="1100" spc="-5">
                <a:latin typeface="Arial"/>
                <a:cs typeface="Arial"/>
              </a:rPr>
              <a:t>the</a:t>
            </a:r>
            <a:r>
              <a:rPr dirty="0" sz="1100" spc="105">
                <a:latin typeface="Arial"/>
                <a:cs typeface="Arial"/>
              </a:rPr>
              <a:t> </a:t>
            </a:r>
            <a:r>
              <a:rPr dirty="0" sz="1100" spc="-5">
                <a:latin typeface="Arial"/>
                <a:cs typeface="Arial"/>
              </a:rPr>
              <a:t>low</a:t>
            </a:r>
            <a:r>
              <a:rPr dirty="0" sz="1100" spc="105">
                <a:latin typeface="Arial"/>
                <a:cs typeface="Arial"/>
              </a:rPr>
              <a:t> </a:t>
            </a:r>
            <a:r>
              <a:rPr dirty="0" sz="1100" spc="-5">
                <a:latin typeface="Arial"/>
                <a:cs typeface="Arial"/>
              </a:rPr>
              <a:t>elasticity</a:t>
            </a:r>
            <a:r>
              <a:rPr dirty="0" sz="1100" spc="105">
                <a:latin typeface="Arial"/>
                <a:cs typeface="Arial"/>
              </a:rPr>
              <a:t> </a:t>
            </a:r>
            <a:r>
              <a:rPr dirty="0" sz="1100" spc="-5">
                <a:latin typeface="Arial"/>
                <a:cs typeface="Arial"/>
              </a:rPr>
              <a:t>for</a:t>
            </a:r>
            <a:r>
              <a:rPr dirty="0" sz="1100" spc="105">
                <a:latin typeface="Arial"/>
                <a:cs typeface="Arial"/>
              </a:rPr>
              <a:t> </a:t>
            </a:r>
            <a:r>
              <a:rPr dirty="0" sz="1100" spc="-5">
                <a:latin typeface="Arial"/>
                <a:cs typeface="Arial"/>
              </a:rPr>
              <a:t>their</a:t>
            </a:r>
            <a:r>
              <a:rPr dirty="0" sz="1100" spc="105">
                <a:latin typeface="Arial"/>
                <a:cs typeface="Arial"/>
              </a:rPr>
              <a:t> </a:t>
            </a:r>
            <a:r>
              <a:rPr dirty="0" sz="1100" spc="-5">
                <a:latin typeface="Arial"/>
                <a:cs typeface="Arial"/>
              </a:rPr>
              <a:t>exports</a:t>
            </a:r>
            <a:r>
              <a:rPr dirty="0" sz="1100" spc="105">
                <a:latin typeface="Arial"/>
                <a:cs typeface="Arial"/>
              </a:rPr>
              <a:t> </a:t>
            </a:r>
            <a:r>
              <a:rPr dirty="0" sz="1100" spc="-5">
                <a:latin typeface="Arial"/>
                <a:cs typeface="Arial"/>
              </a:rPr>
              <a:t>means</a:t>
            </a:r>
            <a:r>
              <a:rPr dirty="0" sz="1100" spc="105">
                <a:latin typeface="Arial"/>
                <a:cs typeface="Arial"/>
              </a:rPr>
              <a:t> </a:t>
            </a:r>
            <a:r>
              <a:rPr dirty="0" sz="1100" spc="-5">
                <a:latin typeface="Arial"/>
                <a:cs typeface="Arial"/>
              </a:rPr>
              <a:t>that</a:t>
            </a:r>
            <a:r>
              <a:rPr dirty="0" sz="1100" spc="105">
                <a:latin typeface="Arial"/>
                <a:cs typeface="Arial"/>
              </a:rPr>
              <a:t> </a:t>
            </a:r>
            <a:r>
              <a:rPr dirty="0" sz="1100" spc="-5">
                <a:latin typeface="Arial"/>
                <a:cs typeface="Arial"/>
              </a:rPr>
              <a:t>developing</a:t>
            </a:r>
            <a:r>
              <a:rPr dirty="0" sz="1100" spc="110">
                <a:latin typeface="Arial"/>
                <a:cs typeface="Arial"/>
              </a:rPr>
              <a:t> </a:t>
            </a:r>
            <a:r>
              <a:rPr dirty="0" sz="1100" spc="-5">
                <a:latin typeface="Arial"/>
                <a:cs typeface="Arial"/>
              </a:rPr>
              <a:t>countries</a:t>
            </a:r>
            <a:r>
              <a:rPr dirty="0" sz="1100" spc="105">
                <a:latin typeface="Arial"/>
                <a:cs typeface="Arial"/>
              </a:rPr>
              <a:t> </a:t>
            </a:r>
            <a:r>
              <a:rPr dirty="0" sz="1100" spc="-5">
                <a:latin typeface="Arial"/>
                <a:cs typeface="Arial"/>
              </a:rPr>
              <a:t>must</a:t>
            </a:r>
            <a:endParaRPr sz="1100">
              <a:latin typeface="Arial"/>
              <a:cs typeface="Arial"/>
            </a:endParaRPr>
          </a:p>
          <a:p>
            <a:pPr algn="just" marL="469900">
              <a:lnSpc>
                <a:spcPts val="1205"/>
              </a:lnSpc>
            </a:pPr>
            <a:r>
              <a:rPr dirty="0" sz="1100" spc="-5">
                <a:latin typeface="Arial"/>
                <a:cs typeface="Arial"/>
              </a:rPr>
              <a:t>grow slowly to avoid chronic balance of payments and foreign-exchange</a:t>
            </a:r>
            <a:r>
              <a:rPr dirty="0" sz="1100" spc="110">
                <a:latin typeface="Arial"/>
                <a:cs typeface="Arial"/>
              </a:rPr>
              <a:t> </a:t>
            </a:r>
            <a:r>
              <a:rPr dirty="0" sz="1100" spc="-5">
                <a:latin typeface="Arial"/>
                <a:cs typeface="Arial"/>
              </a:rPr>
              <a:t>crises.</a:t>
            </a:r>
            <a:endParaRPr sz="1100">
              <a:latin typeface="Arial"/>
              <a:cs typeface="Arial"/>
            </a:endParaRPr>
          </a:p>
          <a:p>
            <a:pPr algn="just" marL="469900" marR="6350" indent="-228600">
              <a:lnSpc>
                <a:spcPts val="1270"/>
              </a:lnSpc>
              <a:spcBef>
                <a:spcPts val="55"/>
              </a:spcBef>
              <a:buFont typeface="Arial"/>
              <a:buAutoNum type="arabicPeriod" startAt="3"/>
              <a:tabLst>
                <a:tab pos="469900" algn="l"/>
              </a:tabLst>
            </a:pPr>
            <a:r>
              <a:rPr dirty="0" sz="1100" spc="-5">
                <a:latin typeface="Arial"/>
                <a:cs typeface="Arial"/>
              </a:rPr>
              <a:t>Developing nations have their “static” comparative advantage in primary products, which  means that export-promoting free-trade policies tend to inhibit industrialization, which is  in turn the major vehicle for the accumulation of technical skills and entrepreneurial  talents.</a:t>
            </a:r>
            <a:endParaRPr sz="1100">
              <a:latin typeface="Arial"/>
              <a:cs typeface="Arial"/>
            </a:endParaRPr>
          </a:p>
          <a:p>
            <a:pPr algn="just" marL="469900" indent="-228600">
              <a:lnSpc>
                <a:spcPts val="1185"/>
              </a:lnSpc>
              <a:buFont typeface="Arial"/>
              <a:buAutoNum type="arabicPeriod" startAt="3"/>
              <a:tabLst>
                <a:tab pos="469900" algn="l"/>
              </a:tabLst>
            </a:pPr>
            <a:r>
              <a:rPr dirty="0" sz="1100" spc="-5">
                <a:latin typeface="Arial"/>
                <a:cs typeface="Arial"/>
              </a:rPr>
              <a:t>Trade</a:t>
            </a:r>
            <a:r>
              <a:rPr dirty="0" sz="1100" spc="215">
                <a:latin typeface="Arial"/>
                <a:cs typeface="Arial"/>
              </a:rPr>
              <a:t> </a:t>
            </a:r>
            <a:r>
              <a:rPr dirty="0" sz="1100" spc="-5">
                <a:latin typeface="Arial"/>
                <a:cs typeface="Arial"/>
              </a:rPr>
              <a:t>pessimists</a:t>
            </a:r>
            <a:r>
              <a:rPr dirty="0" sz="1100" spc="215">
                <a:latin typeface="Arial"/>
                <a:cs typeface="Arial"/>
              </a:rPr>
              <a:t> </a:t>
            </a:r>
            <a:r>
              <a:rPr dirty="0" sz="1100" spc="-5">
                <a:latin typeface="Arial"/>
                <a:cs typeface="Arial"/>
              </a:rPr>
              <a:t>view</a:t>
            </a:r>
            <a:r>
              <a:rPr dirty="0" sz="1100" spc="220">
                <a:latin typeface="Arial"/>
                <a:cs typeface="Arial"/>
              </a:rPr>
              <a:t> </a:t>
            </a:r>
            <a:r>
              <a:rPr dirty="0" sz="1100">
                <a:latin typeface="Arial"/>
                <a:cs typeface="Arial"/>
              </a:rPr>
              <a:t>trade</a:t>
            </a:r>
            <a:r>
              <a:rPr dirty="0" sz="1100" spc="215">
                <a:latin typeface="Arial"/>
                <a:cs typeface="Arial"/>
              </a:rPr>
              <a:t> </a:t>
            </a:r>
            <a:r>
              <a:rPr dirty="0" sz="1100" spc="-5">
                <a:latin typeface="Arial"/>
                <a:cs typeface="Arial"/>
              </a:rPr>
              <a:t>liberalization</a:t>
            </a:r>
            <a:r>
              <a:rPr dirty="0" sz="1100" spc="215">
                <a:latin typeface="Arial"/>
                <a:cs typeface="Arial"/>
              </a:rPr>
              <a:t> </a:t>
            </a:r>
            <a:r>
              <a:rPr dirty="0" sz="1100" spc="-5">
                <a:latin typeface="Arial"/>
                <a:cs typeface="Arial"/>
              </a:rPr>
              <a:t>under</a:t>
            </a:r>
            <a:r>
              <a:rPr dirty="0" sz="1100" spc="220">
                <a:latin typeface="Arial"/>
                <a:cs typeface="Arial"/>
              </a:rPr>
              <a:t> </a:t>
            </a:r>
            <a:r>
              <a:rPr dirty="0" sz="1100" spc="-5">
                <a:latin typeface="Arial"/>
                <a:cs typeface="Arial"/>
              </a:rPr>
              <a:t>the</a:t>
            </a:r>
            <a:r>
              <a:rPr dirty="0" sz="1100" spc="220">
                <a:latin typeface="Arial"/>
                <a:cs typeface="Arial"/>
              </a:rPr>
              <a:t> </a:t>
            </a:r>
            <a:r>
              <a:rPr dirty="0" sz="1100" spc="-5">
                <a:latin typeface="Arial"/>
                <a:cs typeface="Arial"/>
              </a:rPr>
              <a:t>WTO</a:t>
            </a:r>
            <a:r>
              <a:rPr dirty="0" sz="1100" spc="225">
                <a:latin typeface="Arial"/>
                <a:cs typeface="Arial"/>
              </a:rPr>
              <a:t> </a:t>
            </a:r>
            <a:r>
              <a:rPr dirty="0" sz="1100" spc="-5">
                <a:latin typeface="Arial"/>
                <a:cs typeface="Arial"/>
              </a:rPr>
              <a:t>as</a:t>
            </a:r>
            <a:r>
              <a:rPr dirty="0" sz="1100" spc="215">
                <a:latin typeface="Arial"/>
                <a:cs typeface="Arial"/>
              </a:rPr>
              <a:t> </a:t>
            </a:r>
            <a:r>
              <a:rPr dirty="0" sz="1100" spc="-5">
                <a:latin typeface="Arial"/>
                <a:cs typeface="Arial"/>
              </a:rPr>
              <a:t>limited</a:t>
            </a:r>
            <a:r>
              <a:rPr dirty="0" sz="1100" spc="210">
                <a:latin typeface="Arial"/>
                <a:cs typeface="Arial"/>
              </a:rPr>
              <a:t> </a:t>
            </a:r>
            <a:r>
              <a:rPr dirty="0" sz="1100" spc="-5">
                <a:latin typeface="Arial"/>
                <a:cs typeface="Arial"/>
              </a:rPr>
              <a:t>in</a:t>
            </a:r>
            <a:r>
              <a:rPr dirty="0" sz="1100" spc="215">
                <a:latin typeface="Arial"/>
                <a:cs typeface="Arial"/>
              </a:rPr>
              <a:t> </a:t>
            </a:r>
            <a:r>
              <a:rPr dirty="0" sz="1100" spc="-5">
                <a:latin typeface="Arial"/>
                <a:cs typeface="Arial"/>
              </a:rPr>
              <a:t>practice,</a:t>
            </a:r>
            <a:r>
              <a:rPr dirty="0" sz="1100" spc="215">
                <a:latin typeface="Arial"/>
                <a:cs typeface="Arial"/>
              </a:rPr>
              <a:t> </a:t>
            </a:r>
            <a:r>
              <a:rPr dirty="0" sz="1100" spc="-5">
                <a:latin typeface="Arial"/>
                <a:cs typeface="Arial"/>
              </a:rPr>
              <a:t>with</a:t>
            </a:r>
            <a:endParaRPr sz="1100">
              <a:latin typeface="Arial"/>
              <a:cs typeface="Arial"/>
            </a:endParaRPr>
          </a:p>
          <a:p>
            <a:pPr algn="just" marL="469900" marR="6985">
              <a:lnSpc>
                <a:spcPts val="1270"/>
              </a:lnSpc>
              <a:spcBef>
                <a:spcPts val="60"/>
              </a:spcBef>
            </a:pPr>
            <a:r>
              <a:rPr dirty="0" sz="1100" spc="-5">
                <a:latin typeface="Arial"/>
                <a:cs typeface="Arial"/>
              </a:rPr>
              <a:t>developing economies—particularly the </a:t>
            </a:r>
            <a:r>
              <a:rPr dirty="0" sz="1100">
                <a:latin typeface="Arial"/>
                <a:cs typeface="Arial"/>
              </a:rPr>
              <a:t>least </a:t>
            </a:r>
            <a:r>
              <a:rPr dirty="0" sz="1100" spc="-5">
                <a:latin typeface="Arial"/>
                <a:cs typeface="Arial"/>
              </a:rPr>
              <a:t>developed countries—lacking the high-  powered lawyers and other resources needed to pry developed markets</a:t>
            </a:r>
            <a:r>
              <a:rPr dirty="0" sz="1100" spc="100">
                <a:latin typeface="Arial"/>
                <a:cs typeface="Arial"/>
              </a:rPr>
              <a:t> </a:t>
            </a:r>
            <a:r>
              <a:rPr dirty="0" sz="1100" spc="-5">
                <a:latin typeface="Arial"/>
                <a:cs typeface="Arial"/>
              </a:rPr>
              <a:t>open.</a:t>
            </a:r>
            <a:endParaRPr sz="1100">
              <a:latin typeface="Arial"/>
              <a:cs typeface="Arial"/>
            </a:endParaRPr>
          </a:p>
          <a:p>
            <a:pPr>
              <a:lnSpc>
                <a:spcPct val="100000"/>
              </a:lnSpc>
              <a:spcBef>
                <a:spcPts val="25"/>
              </a:spcBef>
            </a:pPr>
            <a:endParaRPr sz="1000">
              <a:latin typeface="Arial"/>
              <a:cs typeface="Arial"/>
            </a:endParaRPr>
          </a:p>
          <a:p>
            <a:pPr algn="just" marL="12700">
              <a:lnSpc>
                <a:spcPct val="100000"/>
              </a:lnSpc>
              <a:spcBef>
                <a:spcPts val="5"/>
              </a:spcBef>
            </a:pPr>
            <a:r>
              <a:rPr dirty="0" sz="1100" spc="-10" b="1">
                <a:latin typeface="Arial"/>
                <a:cs typeface="Arial"/>
              </a:rPr>
              <a:t>TRADE </a:t>
            </a:r>
            <a:r>
              <a:rPr dirty="0" sz="1100" spc="-5" b="1">
                <a:latin typeface="Arial"/>
                <a:cs typeface="Arial"/>
              </a:rPr>
              <a:t>OPTIMIST</a:t>
            </a:r>
            <a:r>
              <a:rPr dirty="0" sz="1100" spc="10" b="1">
                <a:latin typeface="Arial"/>
                <a:cs typeface="Arial"/>
              </a:rPr>
              <a:t> </a:t>
            </a:r>
            <a:r>
              <a:rPr dirty="0" sz="1100" spc="-5" b="1">
                <a:latin typeface="Arial"/>
                <a:cs typeface="Arial"/>
              </a:rPr>
              <a:t>ARGUMENTS</a:t>
            </a:r>
            <a:endParaRPr sz="1100">
              <a:latin typeface="Arial"/>
              <a:cs typeface="Arial"/>
            </a:endParaRPr>
          </a:p>
          <a:p>
            <a:pPr>
              <a:lnSpc>
                <a:spcPct val="100000"/>
              </a:lnSpc>
              <a:spcBef>
                <a:spcPts val="35"/>
              </a:spcBef>
            </a:pPr>
            <a:endParaRPr sz="1250">
              <a:latin typeface="Arial"/>
              <a:cs typeface="Arial"/>
            </a:endParaRPr>
          </a:p>
          <a:p>
            <a:pPr algn="just" marL="469900" marR="6985" indent="-228600">
              <a:lnSpc>
                <a:spcPts val="1270"/>
              </a:lnSpc>
              <a:buFont typeface="Symbol"/>
              <a:buChar char=""/>
              <a:tabLst>
                <a:tab pos="470534" algn="l"/>
              </a:tabLst>
            </a:pPr>
            <a:r>
              <a:rPr dirty="0" sz="1100" spc="-5" b="1">
                <a:latin typeface="Arial"/>
                <a:cs typeface="Arial"/>
              </a:rPr>
              <a:t>Trade liberalization </a:t>
            </a:r>
            <a:r>
              <a:rPr dirty="0" sz="1100" spc="-5">
                <a:latin typeface="Arial"/>
                <a:cs typeface="Arial"/>
              </a:rPr>
              <a:t>Removal of obstacles to free trade, such as quotas, nominal and  effective rates of protection, and exchange</a:t>
            </a:r>
            <a:r>
              <a:rPr dirty="0" sz="1100" spc="30">
                <a:latin typeface="Arial"/>
                <a:cs typeface="Arial"/>
              </a:rPr>
              <a:t> </a:t>
            </a:r>
            <a:r>
              <a:rPr dirty="0" sz="1100" spc="-5">
                <a:latin typeface="Arial"/>
                <a:cs typeface="Arial"/>
              </a:rPr>
              <a:t>controls.</a:t>
            </a:r>
            <a:endParaRPr sz="1100">
              <a:latin typeface="Arial"/>
              <a:cs typeface="Arial"/>
            </a:endParaRPr>
          </a:p>
          <a:p>
            <a:pPr>
              <a:lnSpc>
                <a:spcPct val="100000"/>
              </a:lnSpc>
              <a:spcBef>
                <a:spcPts val="20"/>
              </a:spcBef>
            </a:pPr>
            <a:endParaRPr sz="1050">
              <a:latin typeface="Arial"/>
              <a:cs typeface="Arial"/>
            </a:endParaRPr>
          </a:p>
          <a:p>
            <a:pPr algn="just" marL="12700" marR="6350">
              <a:lnSpc>
                <a:spcPct val="95800"/>
              </a:lnSpc>
            </a:pPr>
            <a:r>
              <a:rPr dirty="0" sz="1100" spc="-5">
                <a:latin typeface="Arial"/>
                <a:cs typeface="Arial"/>
              </a:rPr>
              <a:t>Trade optimists tend to underplay the role of international demand in determining the gains </a:t>
            </a:r>
            <a:r>
              <a:rPr dirty="0" sz="1100">
                <a:latin typeface="Arial"/>
                <a:cs typeface="Arial"/>
              </a:rPr>
              <a:t>from  </a:t>
            </a:r>
            <a:r>
              <a:rPr dirty="0" sz="1100" spc="-5">
                <a:latin typeface="Arial"/>
                <a:cs typeface="Arial"/>
              </a:rPr>
              <a:t>trade. Instead, they focus on the relationship between trade policy, export performance, </a:t>
            </a:r>
            <a:r>
              <a:rPr dirty="0" sz="1100">
                <a:latin typeface="Arial"/>
                <a:cs typeface="Arial"/>
              </a:rPr>
              <a:t>and  </a:t>
            </a:r>
            <a:r>
              <a:rPr dirty="0" sz="1100" spc="-5">
                <a:latin typeface="Arial"/>
                <a:cs typeface="Arial"/>
              </a:rPr>
              <a:t>economic growth. They argue that trade liberalization (including export promotion, currency  devaluation, removal of trade restrictions, and generally “getting prices right”) generates rapid  export and economic growth because free trade provides a number of</a:t>
            </a:r>
            <a:r>
              <a:rPr dirty="0" sz="1100" spc="100">
                <a:latin typeface="Arial"/>
                <a:cs typeface="Arial"/>
              </a:rPr>
              <a:t> </a:t>
            </a:r>
            <a:r>
              <a:rPr dirty="0" sz="1100" spc="-5">
                <a:latin typeface="Arial"/>
                <a:cs typeface="Arial"/>
              </a:rPr>
              <a:t>benefits: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272</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1130300" y="891794"/>
            <a:ext cx="5740400" cy="2763520"/>
          </a:xfrm>
          <a:prstGeom prst="rect">
            <a:avLst/>
          </a:prstGeom>
        </p:spPr>
        <p:txBody>
          <a:bodyPr wrap="square" lIns="0" tIns="22860" rIns="0" bIns="0" rtlCol="0" vert="horz">
            <a:spAutoFit/>
          </a:bodyPr>
          <a:lstStyle/>
          <a:p>
            <a:pPr algn="just" marL="240665" marR="5715" indent="-228600">
              <a:lnSpc>
                <a:spcPts val="1270"/>
              </a:lnSpc>
              <a:spcBef>
                <a:spcPts val="180"/>
              </a:spcBef>
              <a:buFont typeface="Arial"/>
              <a:buAutoNum type="arabicPeriod"/>
              <a:tabLst>
                <a:tab pos="241300" algn="l"/>
              </a:tabLst>
            </a:pPr>
            <a:r>
              <a:rPr dirty="0" sz="1100" spc="-5">
                <a:latin typeface="Arial"/>
                <a:cs typeface="Arial"/>
              </a:rPr>
              <a:t>It promotes competition, improved resource allocation, and economies of scale in areas  where developing countries have a comparative advantage. Costs of production are  consequently lowered.</a:t>
            </a:r>
            <a:endParaRPr sz="1100">
              <a:latin typeface="Arial"/>
              <a:cs typeface="Arial"/>
            </a:endParaRPr>
          </a:p>
          <a:p>
            <a:pPr algn="just" marL="241300" indent="-228600">
              <a:lnSpc>
                <a:spcPts val="1190"/>
              </a:lnSpc>
              <a:buFont typeface="Arial"/>
              <a:buAutoNum type="arabicPeriod"/>
              <a:tabLst>
                <a:tab pos="241300" algn="l"/>
              </a:tabLst>
            </a:pPr>
            <a:r>
              <a:rPr dirty="0" sz="1100" spc="-5">
                <a:latin typeface="Arial"/>
                <a:cs typeface="Arial"/>
              </a:rPr>
              <a:t>It</a:t>
            </a:r>
            <a:r>
              <a:rPr dirty="0" sz="1100" spc="215">
                <a:latin typeface="Arial"/>
                <a:cs typeface="Arial"/>
              </a:rPr>
              <a:t> </a:t>
            </a:r>
            <a:r>
              <a:rPr dirty="0" sz="1100" spc="-5">
                <a:latin typeface="Arial"/>
                <a:cs typeface="Arial"/>
              </a:rPr>
              <a:t>generates</a:t>
            </a:r>
            <a:r>
              <a:rPr dirty="0" sz="1100" spc="215">
                <a:latin typeface="Arial"/>
                <a:cs typeface="Arial"/>
              </a:rPr>
              <a:t> </a:t>
            </a:r>
            <a:r>
              <a:rPr dirty="0" sz="1100" spc="-5">
                <a:latin typeface="Arial"/>
                <a:cs typeface="Arial"/>
              </a:rPr>
              <a:t>pressures</a:t>
            </a:r>
            <a:r>
              <a:rPr dirty="0" sz="1100" spc="220">
                <a:latin typeface="Arial"/>
                <a:cs typeface="Arial"/>
              </a:rPr>
              <a:t> </a:t>
            </a:r>
            <a:r>
              <a:rPr dirty="0" sz="1100" spc="-5">
                <a:latin typeface="Arial"/>
                <a:cs typeface="Arial"/>
              </a:rPr>
              <a:t>for</a:t>
            </a:r>
            <a:r>
              <a:rPr dirty="0" sz="1100" spc="215">
                <a:latin typeface="Arial"/>
                <a:cs typeface="Arial"/>
              </a:rPr>
              <a:t> </a:t>
            </a:r>
            <a:r>
              <a:rPr dirty="0" sz="1100" spc="-5">
                <a:latin typeface="Arial"/>
                <a:cs typeface="Arial"/>
              </a:rPr>
              <a:t>increased</a:t>
            </a:r>
            <a:r>
              <a:rPr dirty="0" sz="1100" spc="215">
                <a:latin typeface="Arial"/>
                <a:cs typeface="Arial"/>
              </a:rPr>
              <a:t> </a:t>
            </a:r>
            <a:r>
              <a:rPr dirty="0" sz="1100" spc="-5">
                <a:latin typeface="Arial"/>
                <a:cs typeface="Arial"/>
              </a:rPr>
              <a:t>efficiencies,</a:t>
            </a:r>
            <a:r>
              <a:rPr dirty="0" sz="1100" spc="220">
                <a:latin typeface="Arial"/>
                <a:cs typeface="Arial"/>
              </a:rPr>
              <a:t> </a:t>
            </a:r>
            <a:r>
              <a:rPr dirty="0" sz="1100" spc="-5">
                <a:latin typeface="Arial"/>
                <a:cs typeface="Arial"/>
              </a:rPr>
              <a:t>product</a:t>
            </a:r>
            <a:r>
              <a:rPr dirty="0" sz="1100" spc="215">
                <a:latin typeface="Arial"/>
                <a:cs typeface="Arial"/>
              </a:rPr>
              <a:t> </a:t>
            </a:r>
            <a:r>
              <a:rPr dirty="0" sz="1100" spc="-5">
                <a:latin typeface="Arial"/>
                <a:cs typeface="Arial"/>
              </a:rPr>
              <a:t>improvement,</a:t>
            </a:r>
            <a:r>
              <a:rPr dirty="0" sz="1100" spc="215">
                <a:latin typeface="Arial"/>
                <a:cs typeface="Arial"/>
              </a:rPr>
              <a:t> </a:t>
            </a:r>
            <a:r>
              <a:rPr dirty="0" sz="1100" spc="-5">
                <a:latin typeface="Arial"/>
                <a:cs typeface="Arial"/>
              </a:rPr>
              <a:t>and</a:t>
            </a:r>
            <a:r>
              <a:rPr dirty="0" sz="1100" spc="220">
                <a:latin typeface="Arial"/>
                <a:cs typeface="Arial"/>
              </a:rPr>
              <a:t> </a:t>
            </a:r>
            <a:r>
              <a:rPr dirty="0" sz="1100" spc="-5">
                <a:latin typeface="Arial"/>
                <a:cs typeface="Arial"/>
              </a:rPr>
              <a:t>technical</a:t>
            </a:r>
            <a:endParaRPr sz="1100">
              <a:latin typeface="Arial"/>
              <a:cs typeface="Arial"/>
            </a:endParaRPr>
          </a:p>
          <a:p>
            <a:pPr algn="just" marL="240665">
              <a:lnSpc>
                <a:spcPts val="1265"/>
              </a:lnSpc>
            </a:pPr>
            <a:r>
              <a:rPr dirty="0" sz="1100" spc="-5">
                <a:latin typeface="Arial"/>
                <a:cs typeface="Arial"/>
              </a:rPr>
              <a:t>change, thus raising factor productivity and further lowering costs of</a:t>
            </a:r>
            <a:r>
              <a:rPr dirty="0" sz="1100" spc="114">
                <a:latin typeface="Arial"/>
                <a:cs typeface="Arial"/>
              </a:rPr>
              <a:t> </a:t>
            </a:r>
            <a:r>
              <a:rPr dirty="0" sz="1100" spc="-5">
                <a:latin typeface="Arial"/>
                <a:cs typeface="Arial"/>
              </a:rPr>
              <a:t>production.</a:t>
            </a:r>
            <a:endParaRPr sz="1100">
              <a:latin typeface="Arial"/>
              <a:cs typeface="Arial"/>
            </a:endParaRPr>
          </a:p>
          <a:p>
            <a:pPr algn="just" marL="240665" marR="6350" indent="-228600">
              <a:lnSpc>
                <a:spcPts val="1270"/>
              </a:lnSpc>
              <a:spcBef>
                <a:spcPts val="55"/>
              </a:spcBef>
              <a:buFont typeface="Arial"/>
              <a:buAutoNum type="arabicPeriod" startAt="3"/>
              <a:tabLst>
                <a:tab pos="241300" algn="l"/>
              </a:tabLst>
            </a:pPr>
            <a:r>
              <a:rPr dirty="0" sz="1100" spc="-5">
                <a:latin typeface="Arial"/>
                <a:cs typeface="Arial"/>
              </a:rPr>
              <a:t>It accelerates overall economic growth, which raises profits and promotes greater saving  and investment and thus furthers</a:t>
            </a:r>
            <a:r>
              <a:rPr dirty="0" sz="1100" spc="20">
                <a:latin typeface="Arial"/>
                <a:cs typeface="Arial"/>
              </a:rPr>
              <a:t> </a:t>
            </a:r>
            <a:r>
              <a:rPr dirty="0" sz="1100" spc="-5">
                <a:latin typeface="Arial"/>
                <a:cs typeface="Arial"/>
              </a:rPr>
              <a:t>growth.</a:t>
            </a:r>
            <a:endParaRPr sz="1100">
              <a:latin typeface="Arial"/>
              <a:cs typeface="Arial"/>
            </a:endParaRPr>
          </a:p>
          <a:p>
            <a:pPr algn="just" marL="241300" indent="-228600">
              <a:lnSpc>
                <a:spcPts val="1200"/>
              </a:lnSpc>
              <a:buFont typeface="Arial"/>
              <a:buAutoNum type="arabicPeriod" startAt="3"/>
              <a:tabLst>
                <a:tab pos="241300" algn="l"/>
              </a:tabLst>
            </a:pPr>
            <a:r>
              <a:rPr dirty="0" sz="1100" spc="-5">
                <a:latin typeface="Arial"/>
                <a:cs typeface="Arial"/>
              </a:rPr>
              <a:t>It</a:t>
            </a:r>
            <a:r>
              <a:rPr dirty="0" sz="1100" spc="135">
                <a:latin typeface="Arial"/>
                <a:cs typeface="Arial"/>
              </a:rPr>
              <a:t> </a:t>
            </a:r>
            <a:r>
              <a:rPr dirty="0" sz="1100" spc="-5">
                <a:latin typeface="Arial"/>
                <a:cs typeface="Arial"/>
              </a:rPr>
              <a:t>attracts</a:t>
            </a:r>
            <a:r>
              <a:rPr dirty="0" sz="1100" spc="140">
                <a:latin typeface="Arial"/>
                <a:cs typeface="Arial"/>
              </a:rPr>
              <a:t> </a:t>
            </a:r>
            <a:r>
              <a:rPr dirty="0" sz="1100" spc="-5">
                <a:latin typeface="Arial"/>
                <a:cs typeface="Arial"/>
              </a:rPr>
              <a:t>foreign</a:t>
            </a:r>
            <a:r>
              <a:rPr dirty="0" sz="1100" spc="140">
                <a:latin typeface="Arial"/>
                <a:cs typeface="Arial"/>
              </a:rPr>
              <a:t> </a:t>
            </a:r>
            <a:r>
              <a:rPr dirty="0" sz="1100" spc="-5">
                <a:latin typeface="Arial"/>
                <a:cs typeface="Arial"/>
              </a:rPr>
              <a:t>capital</a:t>
            </a:r>
            <a:r>
              <a:rPr dirty="0" sz="1100" spc="140">
                <a:latin typeface="Arial"/>
                <a:cs typeface="Arial"/>
              </a:rPr>
              <a:t> </a:t>
            </a:r>
            <a:r>
              <a:rPr dirty="0" sz="1100" spc="-5">
                <a:latin typeface="Arial"/>
                <a:cs typeface="Arial"/>
              </a:rPr>
              <a:t>and</a:t>
            </a:r>
            <a:r>
              <a:rPr dirty="0" sz="1100" spc="135">
                <a:latin typeface="Arial"/>
                <a:cs typeface="Arial"/>
              </a:rPr>
              <a:t> </a:t>
            </a:r>
            <a:r>
              <a:rPr dirty="0" sz="1100" spc="-5">
                <a:latin typeface="Arial"/>
                <a:cs typeface="Arial"/>
              </a:rPr>
              <a:t>expertise,</a:t>
            </a:r>
            <a:r>
              <a:rPr dirty="0" sz="1100" spc="140">
                <a:latin typeface="Arial"/>
                <a:cs typeface="Arial"/>
              </a:rPr>
              <a:t> </a:t>
            </a:r>
            <a:r>
              <a:rPr dirty="0" sz="1100" spc="-5">
                <a:latin typeface="Arial"/>
                <a:cs typeface="Arial"/>
              </a:rPr>
              <a:t>which</a:t>
            </a:r>
            <a:r>
              <a:rPr dirty="0" sz="1100" spc="140">
                <a:latin typeface="Arial"/>
                <a:cs typeface="Arial"/>
              </a:rPr>
              <a:t> </a:t>
            </a:r>
            <a:r>
              <a:rPr dirty="0" sz="1100" spc="-5">
                <a:latin typeface="Arial"/>
                <a:cs typeface="Arial"/>
              </a:rPr>
              <a:t>are</a:t>
            </a:r>
            <a:r>
              <a:rPr dirty="0" sz="1100" spc="140">
                <a:latin typeface="Arial"/>
                <a:cs typeface="Arial"/>
              </a:rPr>
              <a:t> </a:t>
            </a:r>
            <a:r>
              <a:rPr dirty="0" sz="1100" spc="-5">
                <a:latin typeface="Arial"/>
                <a:cs typeface="Arial"/>
              </a:rPr>
              <a:t>in</a:t>
            </a:r>
            <a:r>
              <a:rPr dirty="0" sz="1100" spc="140">
                <a:latin typeface="Arial"/>
                <a:cs typeface="Arial"/>
              </a:rPr>
              <a:t> </a:t>
            </a:r>
            <a:r>
              <a:rPr dirty="0" sz="1100" spc="-5">
                <a:latin typeface="Arial"/>
                <a:cs typeface="Arial"/>
              </a:rPr>
              <a:t>scarce</a:t>
            </a:r>
            <a:r>
              <a:rPr dirty="0" sz="1100" spc="130">
                <a:latin typeface="Arial"/>
                <a:cs typeface="Arial"/>
              </a:rPr>
              <a:t> </a:t>
            </a:r>
            <a:r>
              <a:rPr dirty="0" sz="1100" spc="-5">
                <a:latin typeface="Arial"/>
                <a:cs typeface="Arial"/>
              </a:rPr>
              <a:t>supply</a:t>
            </a:r>
            <a:r>
              <a:rPr dirty="0" sz="1100" spc="140">
                <a:latin typeface="Arial"/>
                <a:cs typeface="Arial"/>
              </a:rPr>
              <a:t> </a:t>
            </a:r>
            <a:r>
              <a:rPr dirty="0" sz="1100" spc="-5">
                <a:latin typeface="Arial"/>
                <a:cs typeface="Arial"/>
              </a:rPr>
              <a:t>in</a:t>
            </a:r>
            <a:r>
              <a:rPr dirty="0" sz="1100" spc="140">
                <a:latin typeface="Arial"/>
                <a:cs typeface="Arial"/>
              </a:rPr>
              <a:t> </a:t>
            </a:r>
            <a:r>
              <a:rPr dirty="0" sz="1100" spc="-5">
                <a:latin typeface="Arial"/>
                <a:cs typeface="Arial"/>
              </a:rPr>
              <a:t>most</a:t>
            </a:r>
            <a:r>
              <a:rPr dirty="0" sz="1100" spc="140">
                <a:latin typeface="Arial"/>
                <a:cs typeface="Arial"/>
              </a:rPr>
              <a:t> </a:t>
            </a:r>
            <a:r>
              <a:rPr dirty="0" sz="1100" spc="-5">
                <a:latin typeface="Arial"/>
                <a:cs typeface="Arial"/>
              </a:rPr>
              <a:t>developing</a:t>
            </a:r>
            <a:endParaRPr sz="1100">
              <a:latin typeface="Arial"/>
              <a:cs typeface="Arial"/>
            </a:endParaRPr>
          </a:p>
          <a:p>
            <a:pPr marL="240665">
              <a:lnSpc>
                <a:spcPts val="1265"/>
              </a:lnSpc>
            </a:pPr>
            <a:r>
              <a:rPr dirty="0" sz="1100" spc="-5">
                <a:latin typeface="Arial"/>
                <a:cs typeface="Arial"/>
              </a:rPr>
              <a:t>countries.</a:t>
            </a:r>
            <a:endParaRPr sz="1100">
              <a:latin typeface="Arial"/>
              <a:cs typeface="Arial"/>
            </a:endParaRPr>
          </a:p>
          <a:p>
            <a:pPr marL="240665" marR="5080" indent="-228600">
              <a:lnSpc>
                <a:spcPts val="1270"/>
              </a:lnSpc>
              <a:spcBef>
                <a:spcPts val="55"/>
              </a:spcBef>
              <a:buFont typeface="Arial"/>
              <a:buAutoNum type="arabicPeriod" startAt="5"/>
              <a:tabLst>
                <a:tab pos="241300" algn="l"/>
              </a:tabLst>
            </a:pPr>
            <a:r>
              <a:rPr dirty="0" sz="1100" spc="-5">
                <a:latin typeface="Arial"/>
                <a:cs typeface="Arial"/>
              </a:rPr>
              <a:t>It generates needed foreign exchange that can be used to import food if the agricultural  sector lags behind or suffers droughts or other natural</a:t>
            </a:r>
            <a:r>
              <a:rPr dirty="0" sz="1100" spc="55">
                <a:latin typeface="Arial"/>
                <a:cs typeface="Arial"/>
              </a:rPr>
              <a:t> </a:t>
            </a:r>
            <a:r>
              <a:rPr dirty="0" sz="1100" spc="-5">
                <a:latin typeface="Arial"/>
                <a:cs typeface="Arial"/>
              </a:rPr>
              <a:t>catastrophes.</a:t>
            </a:r>
            <a:endParaRPr sz="1100">
              <a:latin typeface="Arial"/>
              <a:cs typeface="Arial"/>
            </a:endParaRPr>
          </a:p>
          <a:p>
            <a:pPr marL="241300" indent="-228600">
              <a:lnSpc>
                <a:spcPts val="1200"/>
              </a:lnSpc>
              <a:buFont typeface="Arial"/>
              <a:buAutoNum type="arabicPeriod" startAt="5"/>
              <a:tabLst>
                <a:tab pos="241300" algn="l"/>
              </a:tabLst>
            </a:pPr>
            <a:r>
              <a:rPr dirty="0" sz="1100" spc="-5">
                <a:latin typeface="Arial"/>
                <a:cs typeface="Arial"/>
              </a:rPr>
              <a:t>It</a:t>
            </a:r>
            <a:r>
              <a:rPr dirty="0" sz="1100" spc="55">
                <a:latin typeface="Arial"/>
                <a:cs typeface="Arial"/>
              </a:rPr>
              <a:t> </a:t>
            </a:r>
            <a:r>
              <a:rPr dirty="0" sz="1100" spc="-5">
                <a:latin typeface="Arial"/>
                <a:cs typeface="Arial"/>
              </a:rPr>
              <a:t>eliminates</a:t>
            </a:r>
            <a:r>
              <a:rPr dirty="0" sz="1100" spc="60">
                <a:latin typeface="Arial"/>
                <a:cs typeface="Arial"/>
              </a:rPr>
              <a:t> </a:t>
            </a:r>
            <a:r>
              <a:rPr dirty="0" sz="1100" spc="-5">
                <a:latin typeface="Arial"/>
                <a:cs typeface="Arial"/>
              </a:rPr>
              <a:t>costly</a:t>
            </a:r>
            <a:r>
              <a:rPr dirty="0" sz="1100" spc="60">
                <a:latin typeface="Arial"/>
                <a:cs typeface="Arial"/>
              </a:rPr>
              <a:t> </a:t>
            </a:r>
            <a:r>
              <a:rPr dirty="0" sz="1100" spc="-5">
                <a:latin typeface="Arial"/>
                <a:cs typeface="Arial"/>
              </a:rPr>
              <a:t>economic</a:t>
            </a:r>
            <a:r>
              <a:rPr dirty="0" sz="1100" spc="55">
                <a:latin typeface="Arial"/>
                <a:cs typeface="Arial"/>
              </a:rPr>
              <a:t> </a:t>
            </a:r>
            <a:r>
              <a:rPr dirty="0" sz="1100" spc="-5">
                <a:latin typeface="Arial"/>
                <a:cs typeface="Arial"/>
              </a:rPr>
              <a:t>distortions</a:t>
            </a:r>
            <a:r>
              <a:rPr dirty="0" sz="1100" spc="60">
                <a:latin typeface="Arial"/>
                <a:cs typeface="Arial"/>
              </a:rPr>
              <a:t> </a:t>
            </a:r>
            <a:r>
              <a:rPr dirty="0" sz="1100" spc="-5">
                <a:latin typeface="Arial"/>
                <a:cs typeface="Arial"/>
              </a:rPr>
              <a:t>caused</a:t>
            </a:r>
            <a:r>
              <a:rPr dirty="0" sz="1100" spc="55">
                <a:latin typeface="Arial"/>
                <a:cs typeface="Arial"/>
              </a:rPr>
              <a:t> </a:t>
            </a:r>
            <a:r>
              <a:rPr dirty="0" sz="1100" spc="-5">
                <a:latin typeface="Arial"/>
                <a:cs typeface="Arial"/>
              </a:rPr>
              <a:t>by</a:t>
            </a:r>
            <a:r>
              <a:rPr dirty="0" sz="1100" spc="55">
                <a:latin typeface="Arial"/>
                <a:cs typeface="Arial"/>
              </a:rPr>
              <a:t> </a:t>
            </a:r>
            <a:r>
              <a:rPr dirty="0" sz="1100" spc="-5">
                <a:latin typeface="Arial"/>
                <a:cs typeface="Arial"/>
              </a:rPr>
              <a:t>government</a:t>
            </a:r>
            <a:r>
              <a:rPr dirty="0" sz="1100" spc="60">
                <a:latin typeface="Arial"/>
                <a:cs typeface="Arial"/>
              </a:rPr>
              <a:t> </a:t>
            </a:r>
            <a:r>
              <a:rPr dirty="0" sz="1100" spc="-5">
                <a:latin typeface="Arial"/>
                <a:cs typeface="Arial"/>
              </a:rPr>
              <a:t>interventions</a:t>
            </a:r>
            <a:r>
              <a:rPr dirty="0" sz="1100" spc="60">
                <a:latin typeface="Arial"/>
                <a:cs typeface="Arial"/>
              </a:rPr>
              <a:t> </a:t>
            </a:r>
            <a:r>
              <a:rPr dirty="0" sz="1100" spc="-5">
                <a:latin typeface="Arial"/>
                <a:cs typeface="Arial"/>
              </a:rPr>
              <a:t>in</a:t>
            </a:r>
            <a:r>
              <a:rPr dirty="0" sz="1100" spc="55">
                <a:latin typeface="Arial"/>
                <a:cs typeface="Arial"/>
              </a:rPr>
              <a:t> </a:t>
            </a:r>
            <a:r>
              <a:rPr dirty="0" sz="1100" spc="-5">
                <a:latin typeface="Arial"/>
                <a:cs typeface="Arial"/>
              </a:rPr>
              <a:t>both</a:t>
            </a:r>
            <a:r>
              <a:rPr dirty="0" sz="1100" spc="55">
                <a:latin typeface="Arial"/>
                <a:cs typeface="Arial"/>
              </a:rPr>
              <a:t> </a:t>
            </a:r>
            <a:r>
              <a:rPr dirty="0" sz="1100" spc="-5">
                <a:latin typeface="Arial"/>
                <a:cs typeface="Arial"/>
              </a:rPr>
              <a:t>the</a:t>
            </a:r>
            <a:endParaRPr sz="1100">
              <a:latin typeface="Arial"/>
              <a:cs typeface="Arial"/>
            </a:endParaRPr>
          </a:p>
          <a:p>
            <a:pPr marL="240665" marR="5080">
              <a:lnSpc>
                <a:spcPts val="1270"/>
              </a:lnSpc>
              <a:spcBef>
                <a:spcPts val="60"/>
              </a:spcBef>
            </a:pPr>
            <a:r>
              <a:rPr dirty="0" sz="1100" spc="-5">
                <a:latin typeface="Arial"/>
                <a:cs typeface="Arial"/>
              </a:rPr>
              <a:t>export and foreign-exchange markets and substitutes market allocation for the corruption  and rent-seeking activities that typically result from an overactive government</a:t>
            </a:r>
            <a:r>
              <a:rPr dirty="0" sz="1100" spc="155">
                <a:latin typeface="Arial"/>
                <a:cs typeface="Arial"/>
              </a:rPr>
              <a:t> </a:t>
            </a:r>
            <a:r>
              <a:rPr dirty="0" sz="1100" spc="-5">
                <a:latin typeface="Arial"/>
                <a:cs typeface="Arial"/>
              </a:rPr>
              <a:t>sector.</a:t>
            </a:r>
            <a:endParaRPr sz="1100">
              <a:latin typeface="Arial"/>
              <a:cs typeface="Arial"/>
            </a:endParaRPr>
          </a:p>
          <a:p>
            <a:pPr marL="241300" indent="-228600">
              <a:lnSpc>
                <a:spcPts val="1195"/>
              </a:lnSpc>
              <a:buFont typeface="Arial"/>
              <a:buAutoNum type="arabicPeriod" startAt="7"/>
              <a:tabLst>
                <a:tab pos="241300" algn="l"/>
              </a:tabLst>
            </a:pPr>
            <a:r>
              <a:rPr dirty="0" sz="1100" spc="-5">
                <a:latin typeface="Arial"/>
                <a:cs typeface="Arial"/>
              </a:rPr>
              <a:t>It</a:t>
            </a:r>
            <a:r>
              <a:rPr dirty="0" sz="1100" spc="185">
                <a:latin typeface="Arial"/>
                <a:cs typeface="Arial"/>
              </a:rPr>
              <a:t> </a:t>
            </a:r>
            <a:r>
              <a:rPr dirty="0" sz="1100" spc="-5">
                <a:latin typeface="Arial"/>
                <a:cs typeface="Arial"/>
              </a:rPr>
              <a:t>promotes</a:t>
            </a:r>
            <a:r>
              <a:rPr dirty="0" sz="1100" spc="190">
                <a:latin typeface="Arial"/>
                <a:cs typeface="Arial"/>
              </a:rPr>
              <a:t> </a:t>
            </a:r>
            <a:r>
              <a:rPr dirty="0" sz="1100" spc="-5">
                <a:latin typeface="Arial"/>
                <a:cs typeface="Arial"/>
              </a:rPr>
              <a:t>more</a:t>
            </a:r>
            <a:r>
              <a:rPr dirty="0" sz="1100" spc="190">
                <a:latin typeface="Arial"/>
                <a:cs typeface="Arial"/>
              </a:rPr>
              <a:t> </a:t>
            </a:r>
            <a:r>
              <a:rPr dirty="0" sz="1100">
                <a:latin typeface="Arial"/>
                <a:cs typeface="Arial"/>
              </a:rPr>
              <a:t>equal</a:t>
            </a:r>
            <a:r>
              <a:rPr dirty="0" sz="1100" spc="190">
                <a:latin typeface="Arial"/>
                <a:cs typeface="Arial"/>
              </a:rPr>
              <a:t> </a:t>
            </a:r>
            <a:r>
              <a:rPr dirty="0" sz="1100" spc="-5">
                <a:latin typeface="Arial"/>
                <a:cs typeface="Arial"/>
              </a:rPr>
              <a:t>access</a:t>
            </a:r>
            <a:r>
              <a:rPr dirty="0" sz="1100" spc="190">
                <a:latin typeface="Arial"/>
                <a:cs typeface="Arial"/>
              </a:rPr>
              <a:t> </a:t>
            </a:r>
            <a:r>
              <a:rPr dirty="0" sz="1100" spc="-5">
                <a:latin typeface="Arial"/>
                <a:cs typeface="Arial"/>
              </a:rPr>
              <a:t>to</a:t>
            </a:r>
            <a:r>
              <a:rPr dirty="0" sz="1100" spc="180">
                <a:latin typeface="Arial"/>
                <a:cs typeface="Arial"/>
              </a:rPr>
              <a:t> </a:t>
            </a:r>
            <a:r>
              <a:rPr dirty="0" sz="1100" spc="-5">
                <a:latin typeface="Arial"/>
                <a:cs typeface="Arial"/>
              </a:rPr>
              <a:t>scarce</a:t>
            </a:r>
            <a:r>
              <a:rPr dirty="0" sz="1100" spc="190">
                <a:latin typeface="Arial"/>
                <a:cs typeface="Arial"/>
              </a:rPr>
              <a:t> </a:t>
            </a:r>
            <a:r>
              <a:rPr dirty="0" sz="1100" spc="-5">
                <a:latin typeface="Arial"/>
                <a:cs typeface="Arial"/>
              </a:rPr>
              <a:t>resources,</a:t>
            </a:r>
            <a:r>
              <a:rPr dirty="0" sz="1100" spc="185">
                <a:latin typeface="Arial"/>
                <a:cs typeface="Arial"/>
              </a:rPr>
              <a:t> </a:t>
            </a:r>
            <a:r>
              <a:rPr dirty="0" sz="1100" spc="-5">
                <a:latin typeface="Arial"/>
                <a:cs typeface="Arial"/>
              </a:rPr>
              <a:t>which</a:t>
            </a:r>
            <a:r>
              <a:rPr dirty="0" sz="1100" spc="185">
                <a:latin typeface="Arial"/>
                <a:cs typeface="Arial"/>
              </a:rPr>
              <a:t> </a:t>
            </a:r>
            <a:r>
              <a:rPr dirty="0" sz="1100" spc="-5">
                <a:latin typeface="Arial"/>
                <a:cs typeface="Arial"/>
              </a:rPr>
              <a:t>improves</a:t>
            </a:r>
            <a:r>
              <a:rPr dirty="0" sz="1100" spc="195">
                <a:latin typeface="Arial"/>
                <a:cs typeface="Arial"/>
              </a:rPr>
              <a:t> </a:t>
            </a:r>
            <a:r>
              <a:rPr dirty="0" sz="1100" spc="-5">
                <a:latin typeface="Arial"/>
                <a:cs typeface="Arial"/>
              </a:rPr>
              <a:t>overall</a:t>
            </a:r>
            <a:r>
              <a:rPr dirty="0" sz="1100" spc="185">
                <a:latin typeface="Arial"/>
                <a:cs typeface="Arial"/>
              </a:rPr>
              <a:t> </a:t>
            </a:r>
            <a:r>
              <a:rPr dirty="0" sz="1100" spc="-5">
                <a:latin typeface="Arial"/>
                <a:cs typeface="Arial"/>
              </a:rPr>
              <a:t>resource</a:t>
            </a:r>
            <a:endParaRPr sz="1100">
              <a:latin typeface="Arial"/>
              <a:cs typeface="Arial"/>
            </a:endParaRPr>
          </a:p>
          <a:p>
            <a:pPr marL="240665">
              <a:lnSpc>
                <a:spcPts val="1265"/>
              </a:lnSpc>
            </a:pPr>
            <a:r>
              <a:rPr dirty="0" sz="1100" spc="-5">
                <a:latin typeface="Arial"/>
                <a:cs typeface="Arial"/>
              </a:rPr>
              <a:t>allocation.</a:t>
            </a:r>
            <a:endParaRPr sz="1100">
              <a:latin typeface="Arial"/>
              <a:cs typeface="Arial"/>
            </a:endParaRPr>
          </a:p>
          <a:p>
            <a:pPr marL="241300" indent="-228600">
              <a:lnSpc>
                <a:spcPts val="1295"/>
              </a:lnSpc>
              <a:buFont typeface="Arial"/>
              <a:buAutoNum type="arabicPeriod" startAt="8"/>
              <a:tabLst>
                <a:tab pos="241300" algn="l"/>
              </a:tabLst>
            </a:pPr>
            <a:r>
              <a:rPr dirty="0" sz="1100" spc="-5">
                <a:latin typeface="Arial"/>
                <a:cs typeface="Arial"/>
              </a:rPr>
              <a:t>It enables developing countries to take full advantage of reforms under the</a:t>
            </a:r>
            <a:r>
              <a:rPr dirty="0" sz="1100" spc="125">
                <a:latin typeface="Arial"/>
                <a:cs typeface="Arial"/>
              </a:rPr>
              <a:t> </a:t>
            </a:r>
            <a:r>
              <a:rPr dirty="0" sz="1100" spc="-5">
                <a:latin typeface="Arial"/>
                <a:cs typeface="Arial"/>
              </a:rPr>
              <a:t>WTO.</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273</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40</a:t>
            </a:r>
            <a:endParaRPr sz="1100">
              <a:latin typeface="Arial"/>
              <a:cs typeface="Arial"/>
            </a:endParaRPr>
          </a:p>
          <a:p>
            <a:pPr marL="12700" marR="123825" indent="116205">
              <a:lnSpc>
                <a:spcPct val="191400"/>
              </a:lnSpc>
              <a:spcBef>
                <a:spcPts val="15"/>
              </a:spcBef>
            </a:pPr>
            <a:r>
              <a:rPr dirty="0" sz="1100" spc="-5" b="1">
                <a:latin typeface="Arial"/>
                <a:cs typeface="Arial"/>
              </a:rPr>
              <a:t>BALANCE OF PAYMENTS, DEBT, FINANCIAL </a:t>
            </a:r>
            <a:r>
              <a:rPr dirty="0" sz="1100" spc="-10" b="1">
                <a:latin typeface="Arial"/>
                <a:cs typeface="Arial"/>
              </a:rPr>
              <a:t>CRISES </a:t>
            </a:r>
            <a:r>
              <a:rPr dirty="0" sz="1100" spc="-5" b="1">
                <a:latin typeface="Arial"/>
                <a:cs typeface="Arial"/>
              </a:rPr>
              <a:t>AND STABILIZATION POLICIES  INTERNATIONAL FINANCE AND INVESTMENT: KEY</a:t>
            </a:r>
            <a:r>
              <a:rPr dirty="0" sz="1100" spc="25" b="1">
                <a:latin typeface="Arial"/>
                <a:cs typeface="Arial"/>
              </a:rPr>
              <a:t> </a:t>
            </a:r>
            <a:r>
              <a:rPr dirty="0" sz="1100" spc="-5" b="1">
                <a:latin typeface="Arial"/>
                <a:cs typeface="Arial"/>
              </a:rPr>
              <a:t>ISSUES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In this chapter, after looking at a country’s balance of payments accounts and recent trends in  developing-country trade balances, we examine the dimensions and effects of debt crises in  developing countries. Our initial focus will be on how </a:t>
            </a:r>
            <a:r>
              <a:rPr dirty="0" sz="1100">
                <a:latin typeface="Arial"/>
                <a:cs typeface="Arial"/>
              </a:rPr>
              <a:t>major </a:t>
            </a:r>
            <a:r>
              <a:rPr dirty="0" sz="1100" spc="-5">
                <a:latin typeface="Arial"/>
                <a:cs typeface="Arial"/>
              </a:rPr>
              <a:t>debt crises emerged during the  1980s and why debt has remained a serious impediment to growth in Africa years after the  crisis hit, how the crisis was addressed first in Latin America and much later in Africa, and who  bore the burden of stabilization and adjustment programs induced by the International Monetary  Fund (IMF). The 1980s crisis is of importance because of its scope, its impact on slowing  development progress of dozens of developing </a:t>
            </a:r>
            <a:r>
              <a:rPr dirty="0" sz="1100">
                <a:latin typeface="Arial"/>
                <a:cs typeface="Arial"/>
              </a:rPr>
              <a:t>nations, </a:t>
            </a:r>
            <a:r>
              <a:rPr dirty="0" sz="1100" spc="-5">
                <a:latin typeface="Arial"/>
                <a:cs typeface="Arial"/>
              </a:rPr>
              <a:t>and the years of careful study of this  experience. We next examine </a:t>
            </a:r>
            <a:r>
              <a:rPr dirty="0" sz="1100">
                <a:latin typeface="Arial"/>
                <a:cs typeface="Arial"/>
              </a:rPr>
              <a:t>some </a:t>
            </a:r>
            <a:r>
              <a:rPr dirty="0" sz="1100" spc="-5">
                <a:latin typeface="Arial"/>
                <a:cs typeface="Arial"/>
              </a:rPr>
              <a:t>of the international crises that emerged </a:t>
            </a:r>
            <a:r>
              <a:rPr dirty="0" sz="1100">
                <a:latin typeface="Arial"/>
                <a:cs typeface="Arial"/>
              </a:rPr>
              <a:t>in </a:t>
            </a:r>
            <a:r>
              <a:rPr dirty="0" sz="1100" spc="-5">
                <a:latin typeface="Arial"/>
                <a:cs typeface="Arial"/>
              </a:rPr>
              <a:t>developing-  countries over the subsequent two decades, primarily the East Asian crisis of the late 1990s,  and consider how adverse impacts of international debt crises on developing country citizens  might be minimized or prevented. We conclude with a review of the 2008 international financial  crisis that began in the United States but has had major impacts on all developing</a:t>
            </a:r>
            <a:r>
              <a:rPr dirty="0" sz="1100" spc="180">
                <a:latin typeface="Arial"/>
                <a:cs typeface="Arial"/>
              </a:rPr>
              <a:t> </a:t>
            </a:r>
            <a:r>
              <a:rPr dirty="0" sz="1100" spc="-5">
                <a:latin typeface="Arial"/>
                <a:cs typeface="Arial"/>
              </a:rPr>
              <a:t>regions.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In Chapter 14, we will extend our analysis of the role of finance in trade to examine </a:t>
            </a:r>
            <a:r>
              <a:rPr dirty="0" sz="1100">
                <a:latin typeface="Arial"/>
                <a:cs typeface="Arial"/>
              </a:rPr>
              <a:t>the  </a:t>
            </a:r>
            <a:r>
              <a:rPr dirty="0" sz="1100" spc="-5">
                <a:latin typeface="Arial"/>
                <a:cs typeface="Arial"/>
              </a:rPr>
              <a:t>international flow of financial resources, consisting of (1) the flow of private foreign direct  investments, primarily via the modern multinational corporation; (2) the recent resurgence of  private financial “portfolio investments” in support of newly organized or refurbished “emerging”  stock and bond markets; (3) the </a:t>
            </a:r>
            <a:r>
              <a:rPr dirty="0" sz="1100">
                <a:latin typeface="Arial"/>
                <a:cs typeface="Arial"/>
              </a:rPr>
              <a:t>flow </a:t>
            </a:r>
            <a:r>
              <a:rPr dirty="0" sz="1100" spc="-5">
                <a:latin typeface="Arial"/>
                <a:cs typeface="Arial"/>
              </a:rPr>
              <a:t>of remittances from migrants working abroad; (4) the </a:t>
            </a:r>
            <a:r>
              <a:rPr dirty="0" sz="1100">
                <a:latin typeface="Arial"/>
                <a:cs typeface="Arial"/>
              </a:rPr>
              <a:t>flow  </a:t>
            </a:r>
            <a:r>
              <a:rPr dirty="0" sz="1100" spc="-5">
                <a:latin typeface="Arial"/>
                <a:cs typeface="Arial"/>
              </a:rPr>
              <a:t>of public financial and technical resources in the form of bilateral and multilateral foreign aid; (5)  the growing importance of private financial and technical assistance in the form of  nongovernmental organization programs, and </a:t>
            </a:r>
            <a:r>
              <a:rPr dirty="0" sz="1100">
                <a:latin typeface="Arial"/>
                <a:cs typeface="Arial"/>
              </a:rPr>
              <a:t>(6) </a:t>
            </a:r>
            <a:r>
              <a:rPr dirty="0" sz="1100" spc="-5">
                <a:latin typeface="Arial"/>
                <a:cs typeface="Arial"/>
              </a:rPr>
              <a:t>the most difficult, but arguably most important,  aspect of aid— helping conflict and post conflict</a:t>
            </a:r>
            <a:r>
              <a:rPr dirty="0" sz="1100" spc="30">
                <a:latin typeface="Arial"/>
                <a:cs typeface="Arial"/>
              </a:rPr>
              <a:t> </a:t>
            </a:r>
            <a:r>
              <a:rPr dirty="0" sz="1100" spc="-5">
                <a:latin typeface="Arial"/>
                <a:cs typeface="Arial"/>
              </a:rPr>
              <a:t>environments.</a:t>
            </a:r>
            <a:endParaRPr sz="1100">
              <a:latin typeface="Arial"/>
              <a:cs typeface="Arial"/>
            </a:endParaRPr>
          </a:p>
          <a:p>
            <a:pPr marL="12700" marR="3164840">
              <a:lnSpc>
                <a:spcPts val="2640"/>
              </a:lnSpc>
              <a:spcBef>
                <a:spcPts val="204"/>
              </a:spcBef>
            </a:pPr>
            <a:r>
              <a:rPr dirty="0" sz="1100" spc="-5" b="1">
                <a:latin typeface="Arial"/>
                <a:cs typeface="Arial"/>
              </a:rPr>
              <a:t>THE BALANCE OF PAYMENTS </a:t>
            </a:r>
            <a:r>
              <a:rPr dirty="0" sz="1100" spc="-10" b="1">
                <a:latin typeface="Arial"/>
                <a:cs typeface="Arial"/>
              </a:rPr>
              <a:t>ACCOUNT  </a:t>
            </a:r>
            <a:r>
              <a:rPr dirty="0" sz="1100" spc="-5" b="1">
                <a:latin typeface="Arial"/>
                <a:cs typeface="Arial"/>
              </a:rPr>
              <a:t>GENERAL</a:t>
            </a:r>
            <a:r>
              <a:rPr dirty="0" sz="1100" b="1">
                <a:latin typeface="Arial"/>
                <a:cs typeface="Arial"/>
              </a:rPr>
              <a:t> </a:t>
            </a:r>
            <a:r>
              <a:rPr dirty="0" sz="1100" spc="-5" b="1">
                <a:latin typeface="Arial"/>
                <a:cs typeface="Arial"/>
              </a:rPr>
              <a:t>CONSIDERATIONS</a:t>
            </a:r>
            <a:endParaRPr sz="1100">
              <a:latin typeface="Arial"/>
              <a:cs typeface="Arial"/>
            </a:endParaRPr>
          </a:p>
          <a:p>
            <a:pPr algn="just" marL="12700" marR="5715">
              <a:lnSpc>
                <a:spcPct val="95800"/>
              </a:lnSpc>
              <a:spcBef>
                <a:spcPts val="1070"/>
              </a:spcBef>
            </a:pPr>
            <a:r>
              <a:rPr dirty="0" sz="1100" spc="-5">
                <a:latin typeface="Arial"/>
                <a:cs typeface="Arial"/>
              </a:rPr>
              <a:t>The extension of our analysis beyond simple merchandise trade into areas related to the  international flow of financial resources permits us to examine the </a:t>
            </a:r>
            <a:r>
              <a:rPr dirty="0" sz="1100" spc="-5" b="1">
                <a:latin typeface="Arial"/>
                <a:cs typeface="Arial"/>
              </a:rPr>
              <a:t>balance of payments </a:t>
            </a:r>
            <a:r>
              <a:rPr dirty="0" sz="1100" spc="-5">
                <a:latin typeface="Arial"/>
                <a:cs typeface="Arial"/>
              </a:rPr>
              <a:t>of  developing nations. A balance of payments table is designed to summarize a nation’s financial  transactions with the outside world. It is divided into three components, as shown by the  summary in Table 13.1. Note that balance of payments tables are sometimes presented in a  revised format that splits the current account into two parts (called the </a:t>
            </a:r>
            <a:r>
              <a:rPr dirty="0" sz="1100" spc="-5" i="1">
                <a:latin typeface="Arial"/>
                <a:cs typeface="Arial"/>
              </a:rPr>
              <a:t>current account </a:t>
            </a:r>
            <a:r>
              <a:rPr dirty="0" sz="1100" spc="-5">
                <a:latin typeface="Arial"/>
                <a:cs typeface="Arial"/>
              </a:rPr>
              <a:t>and the  </a:t>
            </a:r>
            <a:r>
              <a:rPr dirty="0" sz="1100" spc="-5" i="1">
                <a:latin typeface="Arial"/>
                <a:cs typeface="Arial"/>
              </a:rPr>
              <a:t>capital account</a:t>
            </a:r>
            <a:r>
              <a:rPr dirty="0" sz="1100" spc="-5">
                <a:latin typeface="Arial"/>
                <a:cs typeface="Arial"/>
              </a:rPr>
              <a:t>) and labels what is here called the capital account the </a:t>
            </a:r>
            <a:r>
              <a:rPr dirty="0" sz="1100" spc="-5" i="1">
                <a:latin typeface="Arial"/>
                <a:cs typeface="Arial"/>
              </a:rPr>
              <a:t>financial account</a:t>
            </a:r>
            <a:r>
              <a:rPr dirty="0" sz="1100" spc="-5">
                <a:latin typeface="Arial"/>
                <a:cs typeface="Arial"/>
              </a:rPr>
              <a:t>. We  retain the traditional approach to balance of payments accounting because most of the literature  on developing-country debt and its ongoing treatment in the financial press is usually presented  in that format. The </a:t>
            </a:r>
            <a:r>
              <a:rPr dirty="0" sz="1100" spc="-5" b="1">
                <a:latin typeface="Arial"/>
                <a:cs typeface="Arial"/>
              </a:rPr>
              <a:t>current account </a:t>
            </a:r>
            <a:r>
              <a:rPr dirty="0" sz="1100" spc="-5">
                <a:latin typeface="Arial"/>
                <a:cs typeface="Arial"/>
              </a:rPr>
              <a:t>focuses on the export and import of goods and services,  investment income, </a:t>
            </a:r>
            <a:r>
              <a:rPr dirty="0" sz="1100" spc="-5" b="1">
                <a:latin typeface="Arial"/>
                <a:cs typeface="Arial"/>
              </a:rPr>
              <a:t>debt service </a:t>
            </a:r>
            <a:r>
              <a:rPr dirty="0" sz="1100" spc="-5">
                <a:latin typeface="Arial"/>
                <a:cs typeface="Arial"/>
              </a:rPr>
              <a:t>payments, and private and public net remittances and  transfers. Specifically, it subtracts the value of imports from exports and then adds flows of the  net investment income received from abroad </a:t>
            </a:r>
            <a:r>
              <a:rPr dirty="0" sz="1100">
                <a:latin typeface="Arial"/>
                <a:cs typeface="Arial"/>
              </a:rPr>
              <a:t>(e.g., </a:t>
            </a:r>
            <a:r>
              <a:rPr dirty="0" sz="1100" spc="-5">
                <a:latin typeface="Arial"/>
                <a:cs typeface="Arial"/>
              </a:rPr>
              <a:t>the difference between interest and dividend  payments on foreign stocks, bonds, and bank deposits owned by developing-country nationals  and brought into the country, as opposed to being left overseas, and those securities, if any, of  the</a:t>
            </a:r>
            <a:r>
              <a:rPr dirty="0" sz="1100" spc="75">
                <a:latin typeface="Arial"/>
                <a:cs typeface="Arial"/>
              </a:rPr>
              <a:t> </a:t>
            </a:r>
            <a:r>
              <a:rPr dirty="0" sz="1100" spc="-5">
                <a:latin typeface="Arial"/>
                <a:cs typeface="Arial"/>
              </a:rPr>
              <a:t>developing</a:t>
            </a:r>
            <a:r>
              <a:rPr dirty="0" sz="1100" spc="80">
                <a:latin typeface="Arial"/>
                <a:cs typeface="Arial"/>
              </a:rPr>
              <a:t> </a:t>
            </a:r>
            <a:r>
              <a:rPr dirty="0" sz="1100" spc="-5">
                <a:latin typeface="Arial"/>
                <a:cs typeface="Arial"/>
              </a:rPr>
              <a:t>country</a:t>
            </a:r>
            <a:r>
              <a:rPr dirty="0" sz="1100" spc="75">
                <a:latin typeface="Arial"/>
                <a:cs typeface="Arial"/>
              </a:rPr>
              <a:t> </a:t>
            </a:r>
            <a:r>
              <a:rPr dirty="0" sz="1100" spc="-5">
                <a:latin typeface="Arial"/>
                <a:cs typeface="Arial"/>
              </a:rPr>
              <a:t>owned</a:t>
            </a:r>
            <a:r>
              <a:rPr dirty="0" sz="1100" spc="90">
                <a:latin typeface="Arial"/>
                <a:cs typeface="Arial"/>
              </a:rPr>
              <a:t> </a:t>
            </a:r>
            <a:r>
              <a:rPr dirty="0" sz="1100" spc="-5">
                <a:latin typeface="Arial"/>
                <a:cs typeface="Arial"/>
              </a:rPr>
              <a:t>by</a:t>
            </a:r>
            <a:r>
              <a:rPr dirty="0" sz="1100" spc="80">
                <a:latin typeface="Arial"/>
                <a:cs typeface="Arial"/>
              </a:rPr>
              <a:t> </a:t>
            </a:r>
            <a:r>
              <a:rPr dirty="0" sz="1100" spc="-5">
                <a:latin typeface="Arial"/>
                <a:cs typeface="Arial"/>
              </a:rPr>
              <a:t>foreigners</a:t>
            </a:r>
            <a:r>
              <a:rPr dirty="0" sz="1100" spc="75">
                <a:latin typeface="Arial"/>
                <a:cs typeface="Arial"/>
              </a:rPr>
              <a:t> </a:t>
            </a:r>
            <a:r>
              <a:rPr dirty="0" sz="1100" spc="-5">
                <a:latin typeface="Arial"/>
                <a:cs typeface="Arial"/>
              </a:rPr>
              <a:t>plus</a:t>
            </a:r>
            <a:r>
              <a:rPr dirty="0" sz="1100" spc="80">
                <a:latin typeface="Arial"/>
                <a:cs typeface="Arial"/>
              </a:rPr>
              <a:t> </a:t>
            </a:r>
            <a:r>
              <a:rPr dirty="0" sz="1100" spc="-5">
                <a:latin typeface="Arial"/>
                <a:cs typeface="Arial"/>
              </a:rPr>
              <a:t>repatriated</a:t>
            </a:r>
            <a:r>
              <a:rPr dirty="0" sz="1100" spc="80">
                <a:latin typeface="Arial"/>
                <a:cs typeface="Arial"/>
              </a:rPr>
              <a:t> </a:t>
            </a:r>
            <a:r>
              <a:rPr dirty="0" sz="1100" spc="-5">
                <a:latin typeface="Arial"/>
                <a:cs typeface="Arial"/>
              </a:rPr>
              <a:t>profits</a:t>
            </a:r>
            <a:r>
              <a:rPr dirty="0" sz="1100" spc="80">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multinational</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274</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2120900"/>
          </a:xfrm>
          <a:prstGeom prst="rect">
            <a:avLst/>
          </a:prstGeom>
        </p:spPr>
        <p:txBody>
          <a:bodyPr wrap="square" lIns="0" tIns="19050" rIns="0" bIns="0" rtlCol="0" vert="horz">
            <a:spAutoFit/>
          </a:bodyPr>
          <a:lstStyle/>
          <a:p>
            <a:pPr algn="just" marL="12700" marR="5080" indent="-635">
              <a:lnSpc>
                <a:spcPct val="95900"/>
              </a:lnSpc>
              <a:spcBef>
                <a:spcPts val="150"/>
              </a:spcBef>
            </a:pPr>
            <a:r>
              <a:rPr dirty="0" sz="1100" spc="-5">
                <a:latin typeface="Arial"/>
                <a:cs typeface="Arial"/>
              </a:rPr>
              <a:t>corporations). Taking this total </a:t>
            </a:r>
            <a:r>
              <a:rPr dirty="0" sz="1100" spc="-10">
                <a:latin typeface="Arial"/>
                <a:cs typeface="Arial"/>
              </a:rPr>
              <a:t>(</a:t>
            </a:r>
            <a:r>
              <a:rPr dirty="0" sz="1100" spc="-10" i="1">
                <a:latin typeface="Arial"/>
                <a:cs typeface="Arial"/>
              </a:rPr>
              <a:t>A </a:t>
            </a:r>
            <a:r>
              <a:rPr dirty="0" sz="1100" spc="-5">
                <a:latin typeface="Arial"/>
                <a:cs typeface="Arial"/>
              </a:rPr>
              <a:t>- </a:t>
            </a:r>
            <a:r>
              <a:rPr dirty="0" sz="1100" spc="-5" i="1">
                <a:latin typeface="Arial"/>
                <a:cs typeface="Arial"/>
              </a:rPr>
              <a:t>B </a:t>
            </a:r>
            <a:r>
              <a:rPr dirty="0" sz="1100" spc="-5">
                <a:latin typeface="Arial"/>
                <a:cs typeface="Arial"/>
              </a:rPr>
              <a:t>+ </a:t>
            </a:r>
            <a:r>
              <a:rPr dirty="0" sz="1100" spc="-5" i="1">
                <a:latin typeface="Arial"/>
                <a:cs typeface="Arial"/>
              </a:rPr>
              <a:t>C </a:t>
            </a:r>
            <a:r>
              <a:rPr dirty="0" sz="1100" spc="-5">
                <a:latin typeface="Arial"/>
                <a:cs typeface="Arial"/>
              </a:rPr>
              <a:t>in Table 13.1), it subtracts item </a:t>
            </a:r>
            <a:r>
              <a:rPr dirty="0" sz="1100" spc="-5" i="1">
                <a:latin typeface="Arial"/>
                <a:cs typeface="Arial"/>
              </a:rPr>
              <a:t>D</a:t>
            </a:r>
            <a:r>
              <a:rPr dirty="0" sz="1100" spc="-5">
                <a:latin typeface="Arial"/>
                <a:cs typeface="Arial"/>
              </a:rPr>
              <a:t>, debt service  payments, which represents a major component of heavily indebted poor countries current  account deficits, and adds item </a:t>
            </a:r>
            <a:r>
              <a:rPr dirty="0" sz="1100" spc="-5" i="1">
                <a:latin typeface="Arial"/>
                <a:cs typeface="Arial"/>
              </a:rPr>
              <a:t>E</a:t>
            </a:r>
            <a:r>
              <a:rPr dirty="0" sz="1100" spc="-5">
                <a:latin typeface="Arial"/>
                <a:cs typeface="Arial"/>
              </a:rPr>
              <a:t>, net private and public remittances and transfers, such as  money sent home </a:t>
            </a:r>
            <a:r>
              <a:rPr dirty="0" sz="1100">
                <a:latin typeface="Arial"/>
                <a:cs typeface="Arial"/>
              </a:rPr>
              <a:t>by </a:t>
            </a:r>
            <a:r>
              <a:rPr dirty="0" sz="1100" spc="-5">
                <a:latin typeface="Arial"/>
                <a:cs typeface="Arial"/>
              </a:rPr>
              <a:t>developing country nationals working abroad (e.g., Mexicans in the United  States, Algerians in France, Pakistanis in Kuwait). The final result (</a:t>
            </a:r>
            <a:r>
              <a:rPr dirty="0" sz="1100" spc="-5" i="1">
                <a:latin typeface="Arial"/>
                <a:cs typeface="Arial"/>
              </a:rPr>
              <a:t>A </a:t>
            </a:r>
            <a:r>
              <a:rPr dirty="0" sz="1100" spc="-5">
                <a:latin typeface="Arial"/>
                <a:cs typeface="Arial"/>
              </a:rPr>
              <a:t>- </a:t>
            </a:r>
            <a:r>
              <a:rPr dirty="0" sz="1100" spc="-5" i="1">
                <a:latin typeface="Arial"/>
                <a:cs typeface="Arial"/>
              </a:rPr>
              <a:t>B </a:t>
            </a:r>
            <a:r>
              <a:rPr dirty="0" sz="1100" spc="-5">
                <a:latin typeface="Arial"/>
                <a:cs typeface="Arial"/>
              </a:rPr>
              <a:t>+ </a:t>
            </a:r>
            <a:r>
              <a:rPr dirty="0" sz="1100" spc="-5" i="1">
                <a:latin typeface="Arial"/>
                <a:cs typeface="Arial"/>
              </a:rPr>
              <a:t>C </a:t>
            </a:r>
            <a:r>
              <a:rPr dirty="0" sz="1100" spc="-5">
                <a:latin typeface="Arial"/>
                <a:cs typeface="Arial"/>
              </a:rPr>
              <a:t>- </a:t>
            </a:r>
            <a:r>
              <a:rPr dirty="0" sz="1100" spc="-5" i="1">
                <a:latin typeface="Arial"/>
                <a:cs typeface="Arial"/>
              </a:rPr>
              <a:t>D </a:t>
            </a:r>
            <a:r>
              <a:rPr dirty="0" sz="1100" spc="-5">
                <a:latin typeface="Arial"/>
                <a:cs typeface="Arial"/>
              </a:rPr>
              <a:t>+ </a:t>
            </a:r>
            <a:r>
              <a:rPr dirty="0" sz="1100" spc="-5" i="1">
                <a:latin typeface="Arial"/>
                <a:cs typeface="Arial"/>
              </a:rPr>
              <a:t>E </a:t>
            </a:r>
            <a:r>
              <a:rPr dirty="0" sz="1100" spc="-5">
                <a:latin typeface="Arial"/>
                <a:cs typeface="Arial"/>
              </a:rPr>
              <a:t>in Table  13.1) yields the current account balance</a:t>
            </a:r>
            <a:r>
              <a:rPr dirty="0" sz="1100" spc="-5" i="1">
                <a:latin typeface="Arial"/>
                <a:cs typeface="Arial"/>
              </a:rPr>
              <a:t>—</a:t>
            </a:r>
            <a:r>
              <a:rPr dirty="0" sz="1100" spc="-5">
                <a:latin typeface="Arial"/>
                <a:cs typeface="Arial"/>
              </a:rPr>
              <a:t>a positive balance is called a </a:t>
            </a:r>
            <a:r>
              <a:rPr dirty="0" sz="1100" spc="-5" b="1">
                <a:latin typeface="Arial"/>
                <a:cs typeface="Arial"/>
              </a:rPr>
              <a:t>surplus</a:t>
            </a:r>
            <a:r>
              <a:rPr dirty="0" sz="1100" spc="-5">
                <a:latin typeface="Arial"/>
                <a:cs typeface="Arial"/>
              </a:rPr>
              <a:t>, and a negative  balance, a </a:t>
            </a:r>
            <a:r>
              <a:rPr dirty="0" sz="1100" spc="-5" b="1">
                <a:latin typeface="Arial"/>
                <a:cs typeface="Arial"/>
              </a:rPr>
              <a:t>deficit</a:t>
            </a:r>
            <a:r>
              <a:rPr dirty="0" sz="1100" spc="-5">
                <a:latin typeface="Arial"/>
                <a:cs typeface="Arial"/>
              </a:rPr>
              <a:t>. The current account therefore allows us to analyze the impact of various  commercial policies, primarily on merchandise trade but also indirectly on investment income,  debt service payments, and private</a:t>
            </a:r>
            <a:r>
              <a:rPr dirty="0" sz="1100" spc="20">
                <a:latin typeface="Arial"/>
                <a:cs typeface="Arial"/>
              </a:rPr>
              <a:t> </a:t>
            </a:r>
            <a:r>
              <a:rPr dirty="0" sz="1100" spc="-5">
                <a:latin typeface="Arial"/>
                <a:cs typeface="Arial"/>
              </a:rPr>
              <a:t>transfers.</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The </a:t>
            </a:r>
            <a:r>
              <a:rPr dirty="0" sz="1100" spc="-5" b="1">
                <a:latin typeface="Arial"/>
                <a:cs typeface="Arial"/>
              </a:rPr>
              <a:t>capital account </a:t>
            </a:r>
            <a:r>
              <a:rPr dirty="0" sz="1100" spc="-5">
                <a:latin typeface="Arial"/>
                <a:cs typeface="Arial"/>
              </a:rPr>
              <a:t>(financial account) records the value of private foreign direct investment  (mostly </a:t>
            </a:r>
            <a:r>
              <a:rPr dirty="0" sz="1100">
                <a:latin typeface="Arial"/>
                <a:cs typeface="Arial"/>
              </a:rPr>
              <a:t>by </a:t>
            </a:r>
            <a:r>
              <a:rPr dirty="0" sz="1100" spc="-5">
                <a:latin typeface="Arial"/>
                <a:cs typeface="Arial"/>
              </a:rPr>
              <a:t>multinational corporations), foreign loans by private international banks, and loans  and</a:t>
            </a:r>
            <a:r>
              <a:rPr dirty="0" sz="1100" spc="145">
                <a:latin typeface="Arial"/>
                <a:cs typeface="Arial"/>
              </a:rPr>
              <a:t> </a:t>
            </a:r>
            <a:r>
              <a:rPr dirty="0" sz="1100" spc="-5">
                <a:latin typeface="Arial"/>
                <a:cs typeface="Arial"/>
              </a:rPr>
              <a:t>grants</a:t>
            </a:r>
            <a:r>
              <a:rPr dirty="0" sz="1100" spc="150">
                <a:latin typeface="Arial"/>
                <a:cs typeface="Arial"/>
              </a:rPr>
              <a:t> </a:t>
            </a:r>
            <a:r>
              <a:rPr dirty="0" sz="1100" spc="-5">
                <a:latin typeface="Arial"/>
                <a:cs typeface="Arial"/>
              </a:rPr>
              <a:t>from</a:t>
            </a:r>
            <a:r>
              <a:rPr dirty="0" sz="1100" spc="150">
                <a:latin typeface="Arial"/>
                <a:cs typeface="Arial"/>
              </a:rPr>
              <a:t> </a:t>
            </a:r>
            <a:r>
              <a:rPr dirty="0" sz="1100" spc="-5">
                <a:latin typeface="Arial"/>
                <a:cs typeface="Arial"/>
              </a:rPr>
              <a:t>foreign</a:t>
            </a:r>
            <a:r>
              <a:rPr dirty="0" sz="1100" spc="150">
                <a:latin typeface="Arial"/>
                <a:cs typeface="Arial"/>
              </a:rPr>
              <a:t> </a:t>
            </a:r>
            <a:r>
              <a:rPr dirty="0" sz="1100" spc="-5">
                <a:latin typeface="Arial"/>
                <a:cs typeface="Arial"/>
              </a:rPr>
              <a:t>governments</a:t>
            </a:r>
            <a:r>
              <a:rPr dirty="0" sz="1100" spc="150">
                <a:latin typeface="Arial"/>
                <a:cs typeface="Arial"/>
              </a:rPr>
              <a:t> </a:t>
            </a:r>
            <a:r>
              <a:rPr dirty="0" sz="1100" spc="-5">
                <a:latin typeface="Arial"/>
                <a:cs typeface="Arial"/>
              </a:rPr>
              <a:t>(as</a:t>
            </a:r>
            <a:r>
              <a:rPr dirty="0" sz="1100" spc="150">
                <a:latin typeface="Arial"/>
                <a:cs typeface="Arial"/>
              </a:rPr>
              <a:t> </a:t>
            </a:r>
            <a:r>
              <a:rPr dirty="0" sz="1100" spc="-5">
                <a:latin typeface="Arial"/>
                <a:cs typeface="Arial"/>
              </a:rPr>
              <a:t>in</a:t>
            </a:r>
            <a:r>
              <a:rPr dirty="0" sz="1100" spc="145">
                <a:latin typeface="Arial"/>
                <a:cs typeface="Arial"/>
              </a:rPr>
              <a:t> </a:t>
            </a:r>
            <a:r>
              <a:rPr dirty="0" sz="1100" spc="-5">
                <a:latin typeface="Arial"/>
                <a:cs typeface="Arial"/>
              </a:rPr>
              <a:t>the</a:t>
            </a:r>
            <a:r>
              <a:rPr dirty="0" sz="1100" spc="140">
                <a:latin typeface="Arial"/>
                <a:cs typeface="Arial"/>
              </a:rPr>
              <a:t> </a:t>
            </a:r>
            <a:r>
              <a:rPr dirty="0" sz="1100" spc="-5">
                <a:latin typeface="Arial"/>
                <a:cs typeface="Arial"/>
              </a:rPr>
              <a:t>form</a:t>
            </a:r>
            <a:r>
              <a:rPr dirty="0" sz="1100" spc="150">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foreign</a:t>
            </a:r>
            <a:r>
              <a:rPr dirty="0" sz="1100" spc="150">
                <a:latin typeface="Arial"/>
                <a:cs typeface="Arial"/>
              </a:rPr>
              <a:t> </a:t>
            </a:r>
            <a:r>
              <a:rPr dirty="0" sz="1100" spc="-5">
                <a:latin typeface="Arial"/>
                <a:cs typeface="Arial"/>
              </a:rPr>
              <a:t>aid)</a:t>
            </a:r>
            <a:r>
              <a:rPr dirty="0" sz="1100" spc="150">
                <a:latin typeface="Arial"/>
                <a:cs typeface="Arial"/>
              </a:rPr>
              <a:t> </a:t>
            </a:r>
            <a:r>
              <a:rPr dirty="0" sz="1100" spc="-5">
                <a:latin typeface="Arial"/>
                <a:cs typeface="Arial"/>
              </a:rPr>
              <a:t>and</a:t>
            </a:r>
            <a:r>
              <a:rPr dirty="0" sz="1100" spc="150">
                <a:latin typeface="Arial"/>
                <a:cs typeface="Arial"/>
              </a:rPr>
              <a:t> </a:t>
            </a:r>
            <a:r>
              <a:rPr dirty="0" sz="1100" spc="-5">
                <a:latin typeface="Arial"/>
                <a:cs typeface="Arial"/>
              </a:rPr>
              <a:t>multilateral</a:t>
            </a:r>
            <a:r>
              <a:rPr dirty="0" sz="1100" spc="150">
                <a:latin typeface="Arial"/>
                <a:cs typeface="Arial"/>
              </a:rPr>
              <a:t> </a:t>
            </a:r>
            <a:r>
              <a:rPr dirty="0" sz="1100" spc="-5">
                <a:latin typeface="Arial"/>
                <a:cs typeface="Arial"/>
              </a:rPr>
              <a:t>agencies</a:t>
            </a:r>
            <a:endParaRPr sz="1100">
              <a:latin typeface="Arial"/>
              <a:cs typeface="Arial"/>
            </a:endParaRPr>
          </a:p>
        </p:txBody>
      </p:sp>
      <p:sp>
        <p:nvSpPr>
          <p:cNvPr id="7" name="object 7"/>
          <p:cNvSpPr txBox="1"/>
          <p:nvPr/>
        </p:nvSpPr>
        <p:spPr>
          <a:xfrm>
            <a:off x="901713" y="6111480"/>
            <a:ext cx="5969635" cy="276352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such as the IMF and the World Bank. It then subtracts an extremely important item, especially  for the </a:t>
            </a:r>
            <a:r>
              <a:rPr dirty="0" sz="1100">
                <a:latin typeface="Arial"/>
                <a:cs typeface="Arial"/>
              </a:rPr>
              <a:t>major </a:t>
            </a:r>
            <a:r>
              <a:rPr dirty="0" sz="1100" spc="-5">
                <a:latin typeface="Arial"/>
                <a:cs typeface="Arial"/>
              </a:rPr>
              <a:t>debtor countries: what is called “resident capital outflow” in Table 13.1. To put its  importance in perspective, during the 1980s debt crisis, wealthy nationals from many developing  countries sent vast amounts of money into developed- nation bank accounts, real estate  ventures, and stock and bond purchases; this </a:t>
            </a:r>
            <a:r>
              <a:rPr dirty="0" sz="1100" spc="-5" b="1">
                <a:latin typeface="Arial"/>
                <a:cs typeface="Arial"/>
              </a:rPr>
              <a:t>capital flight </a:t>
            </a:r>
            <a:r>
              <a:rPr dirty="0" sz="1100" spc="-5">
                <a:latin typeface="Arial"/>
                <a:cs typeface="Arial"/>
              </a:rPr>
              <a:t>is estimated to have had a value of  up to half the total debt of some debtor nations at the peak of their debt problems.1 It dwarfed  the receipt of private and public loans and investments and was a major contributor to the  worsening balance of payments of many developing nations. Capital flight is also a chronic  problem where autocratic governments have a shaky hold on power. The balance on capital  account is therefore calculated as items </a:t>
            </a:r>
            <a:r>
              <a:rPr dirty="0" sz="1100" spc="-5" i="1">
                <a:latin typeface="Arial"/>
                <a:cs typeface="Arial"/>
              </a:rPr>
              <a:t>G </a:t>
            </a:r>
            <a:r>
              <a:rPr dirty="0" sz="1100" spc="-5">
                <a:latin typeface="Arial"/>
                <a:cs typeface="Arial"/>
              </a:rPr>
              <a:t>+ </a:t>
            </a:r>
            <a:r>
              <a:rPr dirty="0" sz="1100" spc="-5" i="1">
                <a:latin typeface="Arial"/>
                <a:cs typeface="Arial"/>
              </a:rPr>
              <a:t>H </a:t>
            </a:r>
            <a:r>
              <a:rPr dirty="0" sz="1100" spc="-5">
                <a:latin typeface="Arial"/>
                <a:cs typeface="Arial"/>
              </a:rPr>
              <a:t>- </a:t>
            </a:r>
            <a:r>
              <a:rPr dirty="0" sz="1100" spc="-5" i="1">
                <a:latin typeface="Arial"/>
                <a:cs typeface="Arial"/>
              </a:rPr>
              <a:t>I </a:t>
            </a:r>
            <a:r>
              <a:rPr dirty="0" sz="1100" spc="-5">
                <a:latin typeface="Arial"/>
                <a:cs typeface="Arial"/>
              </a:rPr>
              <a:t>- </a:t>
            </a:r>
            <a:r>
              <a:rPr dirty="0" sz="1100" spc="-5" i="1">
                <a:latin typeface="Arial"/>
                <a:cs typeface="Arial"/>
              </a:rPr>
              <a:t>J </a:t>
            </a:r>
            <a:r>
              <a:rPr dirty="0" sz="1100" spc="-5">
                <a:latin typeface="Arial"/>
                <a:cs typeface="Arial"/>
              </a:rPr>
              <a:t>in Table 13.1. Again, a positive balance is  a surplus and a negative one a</a:t>
            </a:r>
            <a:r>
              <a:rPr dirty="0" sz="1100" spc="30">
                <a:latin typeface="Arial"/>
                <a:cs typeface="Arial"/>
              </a:rPr>
              <a:t> </a:t>
            </a:r>
            <a:r>
              <a:rPr dirty="0" sz="1100" spc="-5">
                <a:latin typeface="Arial"/>
                <a:cs typeface="Arial"/>
              </a:rPr>
              <a:t>deficit.</a:t>
            </a:r>
            <a:endParaRPr sz="1100">
              <a:latin typeface="Arial"/>
              <a:cs typeface="Arial"/>
            </a:endParaRPr>
          </a:p>
          <a:p>
            <a:pPr>
              <a:lnSpc>
                <a:spcPct val="100000"/>
              </a:lnSpc>
              <a:spcBef>
                <a:spcPts val="5"/>
              </a:spcBef>
            </a:pPr>
            <a:endParaRPr sz="1100">
              <a:latin typeface="Arial"/>
              <a:cs typeface="Arial"/>
            </a:endParaRPr>
          </a:p>
          <a:p>
            <a:pPr algn="just" marL="12700" marR="5080" indent="-635">
              <a:lnSpc>
                <a:spcPct val="95800"/>
              </a:lnSpc>
            </a:pPr>
            <a:r>
              <a:rPr dirty="0" sz="1100" spc="-5">
                <a:latin typeface="Arial"/>
                <a:cs typeface="Arial"/>
              </a:rPr>
              <a:t>Finally, the </a:t>
            </a:r>
            <a:r>
              <a:rPr dirty="0" sz="1100" spc="-5" b="1">
                <a:latin typeface="Arial"/>
                <a:cs typeface="Arial"/>
              </a:rPr>
              <a:t>cash account</a:t>
            </a:r>
            <a:r>
              <a:rPr dirty="0" sz="1100" spc="-5">
                <a:latin typeface="Arial"/>
                <a:cs typeface="Arial"/>
              </a:rPr>
              <a:t>, or </a:t>
            </a:r>
            <a:r>
              <a:rPr dirty="0" sz="1100" spc="-5" b="1">
                <a:latin typeface="Arial"/>
                <a:cs typeface="Arial"/>
              </a:rPr>
              <a:t>international reserve account </a:t>
            </a:r>
            <a:r>
              <a:rPr dirty="0" sz="1100" spc="-5">
                <a:latin typeface="Arial"/>
                <a:cs typeface="Arial"/>
              </a:rPr>
              <a:t>(item </a:t>
            </a:r>
            <a:r>
              <a:rPr dirty="0" sz="1100" spc="-5" i="1">
                <a:latin typeface="Arial"/>
                <a:cs typeface="Arial"/>
              </a:rPr>
              <a:t>L</a:t>
            </a:r>
            <a:r>
              <a:rPr dirty="0" sz="1100" spc="-5">
                <a:latin typeface="Arial"/>
                <a:cs typeface="Arial"/>
              </a:rPr>
              <a:t>), is the balancing item  (along with the “errors and omissions,” item </a:t>
            </a:r>
            <a:r>
              <a:rPr dirty="0" sz="1100" spc="-5" i="1">
                <a:latin typeface="Arial"/>
                <a:cs typeface="Arial"/>
              </a:rPr>
              <a:t>M</a:t>
            </a:r>
            <a:r>
              <a:rPr dirty="0" sz="1100" spc="-5">
                <a:latin typeface="Arial"/>
                <a:cs typeface="Arial"/>
              </a:rPr>
              <a:t>, which reconciles statistical inequalities, but is  sometimes used as a proxy for disguised or unrecorded capital flows) that is lowered (shows a  net outflow of foreign reserves) whenever </a:t>
            </a:r>
            <a:r>
              <a:rPr dirty="0" sz="1100">
                <a:latin typeface="Arial"/>
                <a:cs typeface="Arial"/>
              </a:rPr>
              <a:t>total </a:t>
            </a:r>
            <a:r>
              <a:rPr dirty="0" sz="1100" spc="-5">
                <a:latin typeface="Arial"/>
                <a:cs typeface="Arial"/>
              </a:rPr>
              <a:t>disbursements on the current and capital  accounts</a:t>
            </a:r>
            <a:r>
              <a:rPr dirty="0" sz="1100" spc="95">
                <a:latin typeface="Arial"/>
                <a:cs typeface="Arial"/>
              </a:rPr>
              <a:t> </a:t>
            </a:r>
            <a:r>
              <a:rPr dirty="0" sz="1100" spc="-5">
                <a:latin typeface="Arial"/>
                <a:cs typeface="Arial"/>
              </a:rPr>
              <a:t>exceed</a:t>
            </a:r>
            <a:r>
              <a:rPr dirty="0" sz="1100" spc="100">
                <a:latin typeface="Arial"/>
                <a:cs typeface="Arial"/>
              </a:rPr>
              <a:t> </a:t>
            </a:r>
            <a:r>
              <a:rPr dirty="0" sz="1100" spc="-5">
                <a:latin typeface="Arial"/>
                <a:cs typeface="Arial"/>
              </a:rPr>
              <a:t>total</a:t>
            </a:r>
            <a:r>
              <a:rPr dirty="0" sz="1100" spc="100">
                <a:latin typeface="Arial"/>
                <a:cs typeface="Arial"/>
              </a:rPr>
              <a:t> </a:t>
            </a:r>
            <a:r>
              <a:rPr dirty="0" sz="1100" spc="-5">
                <a:latin typeface="Arial"/>
                <a:cs typeface="Arial"/>
              </a:rPr>
              <a:t>receipts.</a:t>
            </a:r>
            <a:r>
              <a:rPr dirty="0" sz="1100" spc="90">
                <a:latin typeface="Arial"/>
                <a:cs typeface="Arial"/>
              </a:rPr>
              <a:t> </a:t>
            </a:r>
            <a:r>
              <a:rPr dirty="0" sz="1100" spc="-5">
                <a:latin typeface="Arial"/>
                <a:cs typeface="Arial"/>
              </a:rPr>
              <a:t>Table</a:t>
            </a:r>
            <a:r>
              <a:rPr dirty="0" sz="1100" spc="100">
                <a:latin typeface="Arial"/>
                <a:cs typeface="Arial"/>
              </a:rPr>
              <a:t> </a:t>
            </a:r>
            <a:r>
              <a:rPr dirty="0" sz="1100" spc="-5">
                <a:latin typeface="Arial"/>
                <a:cs typeface="Arial"/>
              </a:rPr>
              <a:t>13.2</a:t>
            </a:r>
            <a:r>
              <a:rPr dirty="0" sz="1100" spc="100">
                <a:latin typeface="Arial"/>
                <a:cs typeface="Arial"/>
              </a:rPr>
              <a:t> </a:t>
            </a:r>
            <a:r>
              <a:rPr dirty="0" sz="1100" spc="-5">
                <a:latin typeface="Arial"/>
                <a:cs typeface="Arial"/>
              </a:rPr>
              <a:t>presents</a:t>
            </a:r>
            <a:r>
              <a:rPr dirty="0" sz="1100" spc="100">
                <a:latin typeface="Arial"/>
                <a:cs typeface="Arial"/>
              </a:rPr>
              <a:t> </a:t>
            </a:r>
            <a:r>
              <a:rPr dirty="0" sz="1100" spc="-5">
                <a:latin typeface="Arial"/>
                <a:cs typeface="Arial"/>
              </a:rPr>
              <a:t>a</a:t>
            </a:r>
            <a:r>
              <a:rPr dirty="0" sz="1100" spc="90">
                <a:latin typeface="Arial"/>
                <a:cs typeface="Arial"/>
              </a:rPr>
              <a:t> </a:t>
            </a:r>
            <a:r>
              <a:rPr dirty="0" sz="1100" spc="-5">
                <a:latin typeface="Arial"/>
                <a:cs typeface="Arial"/>
              </a:rPr>
              <a:t>simple</a:t>
            </a:r>
            <a:r>
              <a:rPr dirty="0" sz="1100" spc="100">
                <a:latin typeface="Arial"/>
                <a:cs typeface="Arial"/>
              </a:rPr>
              <a:t> </a:t>
            </a:r>
            <a:r>
              <a:rPr dirty="0" sz="1100" spc="-5">
                <a:latin typeface="Arial"/>
                <a:cs typeface="Arial"/>
              </a:rPr>
              <a:t>chart</a:t>
            </a:r>
            <a:r>
              <a:rPr dirty="0" sz="1100" spc="100">
                <a:latin typeface="Arial"/>
                <a:cs typeface="Arial"/>
              </a:rPr>
              <a:t> </a:t>
            </a:r>
            <a:r>
              <a:rPr dirty="0" sz="1100" spc="-5">
                <a:latin typeface="Arial"/>
                <a:cs typeface="Arial"/>
              </a:rPr>
              <a:t>of</a:t>
            </a:r>
            <a:r>
              <a:rPr dirty="0" sz="1100" spc="90">
                <a:latin typeface="Arial"/>
                <a:cs typeface="Arial"/>
              </a:rPr>
              <a:t> </a:t>
            </a:r>
            <a:r>
              <a:rPr dirty="0" sz="1100" spc="-5">
                <a:latin typeface="Arial"/>
                <a:cs typeface="Arial"/>
              </a:rPr>
              <a:t>what</a:t>
            </a:r>
            <a:r>
              <a:rPr dirty="0" sz="1100" spc="95">
                <a:latin typeface="Arial"/>
                <a:cs typeface="Arial"/>
              </a:rPr>
              <a:t> </a:t>
            </a:r>
            <a:r>
              <a:rPr dirty="0" sz="1100" spc="-5">
                <a:latin typeface="Arial"/>
                <a:cs typeface="Arial"/>
              </a:rPr>
              <a:t>constitutes</a:t>
            </a:r>
            <a:r>
              <a:rPr dirty="0" sz="1100" spc="100">
                <a:latin typeface="Arial"/>
                <a:cs typeface="Arial"/>
              </a:rPr>
              <a:t> </a:t>
            </a:r>
            <a:r>
              <a:rPr dirty="0" sz="1100" spc="-5">
                <a:latin typeface="Arial"/>
                <a:cs typeface="Arial"/>
              </a:rPr>
              <a:t>positive</a:t>
            </a:r>
            <a:endParaRPr sz="1100">
              <a:latin typeface="Arial"/>
              <a:cs typeface="Arial"/>
            </a:endParaRPr>
          </a:p>
        </p:txBody>
      </p:sp>
      <p:sp>
        <p:nvSpPr>
          <p:cNvPr id="8" name="object 8"/>
          <p:cNvSpPr/>
          <p:nvPr/>
        </p:nvSpPr>
        <p:spPr>
          <a:xfrm>
            <a:off x="1056894" y="3153155"/>
            <a:ext cx="5705856" cy="2961896"/>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275</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8365" cy="1156970"/>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(credit) and negative (debit) items in a balance of payments table. Nations accumulate  international cash reserves in any or all of the following three</a:t>
            </a:r>
            <a:r>
              <a:rPr dirty="0" sz="1100" spc="75">
                <a:latin typeface="Arial"/>
                <a:cs typeface="Arial"/>
              </a:rPr>
              <a:t> </a:t>
            </a:r>
            <a:r>
              <a:rPr dirty="0" sz="1100" spc="-5">
                <a:latin typeface="Arial"/>
                <a:cs typeface="Arial"/>
              </a:rPr>
              <a:t>forms:</a:t>
            </a:r>
            <a:endParaRPr sz="1100">
              <a:latin typeface="Arial"/>
              <a:cs typeface="Arial"/>
            </a:endParaRPr>
          </a:p>
          <a:p>
            <a:pPr>
              <a:lnSpc>
                <a:spcPct val="100000"/>
              </a:lnSpc>
              <a:spcBef>
                <a:spcPts val="45"/>
              </a:spcBef>
            </a:pPr>
            <a:endParaRPr sz="1050">
              <a:latin typeface="Arial"/>
              <a:cs typeface="Arial"/>
            </a:endParaRPr>
          </a:p>
          <a:p>
            <a:pPr marL="469900" marR="5080" indent="-229235">
              <a:lnSpc>
                <a:spcPts val="1270"/>
              </a:lnSpc>
              <a:buFont typeface="Arial"/>
              <a:buAutoNum type="arabicPeriod"/>
              <a:tabLst>
                <a:tab pos="469900" algn="l"/>
              </a:tabLst>
            </a:pPr>
            <a:r>
              <a:rPr dirty="0" sz="1100" spc="-5">
                <a:latin typeface="Arial"/>
                <a:cs typeface="Arial"/>
              </a:rPr>
              <a:t>Foreign </a:t>
            </a:r>
            <a:r>
              <a:rPr dirty="0" sz="1100" spc="-5" b="1">
                <a:latin typeface="Arial"/>
                <a:cs typeface="Arial"/>
              </a:rPr>
              <a:t>hard currency </a:t>
            </a:r>
            <a:r>
              <a:rPr dirty="0" sz="1100" spc="-5">
                <a:latin typeface="Arial"/>
                <a:cs typeface="Arial"/>
              </a:rPr>
              <a:t>(primarily </a:t>
            </a:r>
            <a:r>
              <a:rPr dirty="0" sz="1100">
                <a:latin typeface="Arial"/>
                <a:cs typeface="Arial"/>
              </a:rPr>
              <a:t>U.S. </a:t>
            </a:r>
            <a:r>
              <a:rPr dirty="0" sz="1100" spc="-5">
                <a:latin typeface="Arial"/>
                <a:cs typeface="Arial"/>
              </a:rPr>
              <a:t>dollars, but also Japanese yen, pounds sterling,  or the European </a:t>
            </a:r>
            <a:r>
              <a:rPr dirty="0" sz="1100" spc="-5" b="1">
                <a:latin typeface="Arial"/>
                <a:cs typeface="Arial"/>
              </a:rPr>
              <a:t>euro</a:t>
            </a:r>
            <a:r>
              <a:rPr dirty="0" sz="1100" spc="-5">
                <a:latin typeface="Arial"/>
                <a:cs typeface="Arial"/>
              </a:rPr>
              <a:t>) whenever they sell more abroad than they</a:t>
            </a:r>
            <a:r>
              <a:rPr dirty="0" sz="1100" spc="90">
                <a:latin typeface="Arial"/>
                <a:cs typeface="Arial"/>
              </a:rPr>
              <a:t> </a:t>
            </a:r>
            <a:r>
              <a:rPr dirty="0" sz="1100" spc="-5">
                <a:latin typeface="Arial"/>
                <a:cs typeface="Arial"/>
              </a:rPr>
              <a:t>purchase.</a:t>
            </a:r>
            <a:endParaRPr sz="1100">
              <a:latin typeface="Arial"/>
              <a:cs typeface="Arial"/>
            </a:endParaRPr>
          </a:p>
          <a:p>
            <a:pPr marL="469900" indent="-228600">
              <a:lnSpc>
                <a:spcPts val="1200"/>
              </a:lnSpc>
              <a:buFont typeface="Arial"/>
              <a:buAutoNum type="arabicPeriod"/>
              <a:tabLst>
                <a:tab pos="469900" algn="l"/>
              </a:tabLst>
            </a:pPr>
            <a:r>
              <a:rPr dirty="0" sz="1100" spc="-5">
                <a:latin typeface="Arial"/>
                <a:cs typeface="Arial"/>
              </a:rPr>
              <a:t>Gold, mined domestically or</a:t>
            </a:r>
            <a:r>
              <a:rPr dirty="0" sz="1100" spc="15">
                <a:latin typeface="Arial"/>
                <a:cs typeface="Arial"/>
              </a:rPr>
              <a:t> </a:t>
            </a:r>
            <a:r>
              <a:rPr dirty="0" sz="1100" spc="-5">
                <a:latin typeface="Arial"/>
                <a:cs typeface="Arial"/>
              </a:rPr>
              <a:t>purchased.</a:t>
            </a:r>
            <a:endParaRPr sz="1100">
              <a:latin typeface="Arial"/>
              <a:cs typeface="Arial"/>
            </a:endParaRPr>
          </a:p>
          <a:p>
            <a:pPr marL="469900" indent="-228600">
              <a:lnSpc>
                <a:spcPts val="1295"/>
              </a:lnSpc>
              <a:buFont typeface="Arial"/>
              <a:buAutoNum type="arabicPeriod"/>
              <a:tabLst>
                <a:tab pos="469900" algn="l"/>
              </a:tabLst>
            </a:pPr>
            <a:r>
              <a:rPr dirty="0" sz="1100" spc="-5">
                <a:latin typeface="Arial"/>
                <a:cs typeface="Arial"/>
              </a:rPr>
              <a:t>Deposits with the IMF, which acts as a reserve bank for individual nations’ central</a:t>
            </a:r>
            <a:r>
              <a:rPr dirty="0" sz="1100" spc="229">
                <a:latin typeface="Arial"/>
                <a:cs typeface="Arial"/>
              </a:rPr>
              <a:t> </a:t>
            </a:r>
            <a:r>
              <a:rPr dirty="0" sz="1100" spc="-5">
                <a:latin typeface="Arial"/>
                <a:cs typeface="Arial"/>
              </a:rPr>
              <a:t>banks.</a:t>
            </a:r>
            <a:endParaRPr sz="1100">
              <a:latin typeface="Arial"/>
              <a:cs typeface="Arial"/>
            </a:endParaRPr>
          </a:p>
        </p:txBody>
      </p:sp>
      <p:sp>
        <p:nvSpPr>
          <p:cNvPr id="7" name="object 7"/>
          <p:cNvSpPr txBox="1"/>
          <p:nvPr/>
        </p:nvSpPr>
        <p:spPr>
          <a:xfrm>
            <a:off x="901692" y="3683753"/>
            <a:ext cx="5970270" cy="544703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DEFINATIONS</a:t>
            </a:r>
            <a:endParaRPr sz="1100">
              <a:latin typeface="Arial"/>
              <a:cs typeface="Arial"/>
            </a:endParaRPr>
          </a:p>
          <a:p>
            <a:pPr>
              <a:lnSpc>
                <a:spcPct val="100000"/>
              </a:lnSpc>
              <a:spcBef>
                <a:spcPts val="55"/>
              </a:spcBef>
            </a:pPr>
            <a:endParaRPr sz="1250">
              <a:latin typeface="Arial"/>
              <a:cs typeface="Arial"/>
            </a:endParaRPr>
          </a:p>
          <a:p>
            <a:pPr algn="just" marL="469900" marR="6350" indent="-228600">
              <a:lnSpc>
                <a:spcPts val="1260"/>
              </a:lnSpc>
              <a:buFont typeface="Symbol"/>
              <a:buChar char=""/>
              <a:tabLst>
                <a:tab pos="469900" algn="l"/>
              </a:tabLst>
            </a:pPr>
            <a:r>
              <a:rPr dirty="0" sz="1100" spc="-5" b="1">
                <a:latin typeface="Arial"/>
                <a:cs typeface="Arial"/>
              </a:rPr>
              <a:t>Balance of payments: </a:t>
            </a:r>
            <a:r>
              <a:rPr dirty="0" sz="1100" spc="-5">
                <a:latin typeface="Arial"/>
                <a:cs typeface="Arial"/>
              </a:rPr>
              <a:t>A summary statement of a nation’s financial transactions with  the outside world.</a:t>
            </a:r>
            <a:endParaRPr sz="1100">
              <a:latin typeface="Arial"/>
              <a:cs typeface="Arial"/>
            </a:endParaRPr>
          </a:p>
          <a:p>
            <a:pPr algn="just" marL="469900" marR="5080" indent="-228600">
              <a:lnSpc>
                <a:spcPct val="95700"/>
              </a:lnSpc>
              <a:spcBef>
                <a:spcPts val="50"/>
              </a:spcBef>
              <a:buFont typeface="Symbol"/>
              <a:buChar char=""/>
              <a:tabLst>
                <a:tab pos="469900" algn="l"/>
              </a:tabLst>
            </a:pPr>
            <a:r>
              <a:rPr dirty="0" sz="1100" spc="-5" b="1">
                <a:latin typeface="Arial"/>
                <a:cs typeface="Arial"/>
              </a:rPr>
              <a:t>Current account: </a:t>
            </a:r>
            <a:r>
              <a:rPr dirty="0" sz="1100" spc="-5">
                <a:latin typeface="Arial"/>
                <a:cs typeface="Arial"/>
              </a:rPr>
              <a:t>The portion of a balance of payments </a:t>
            </a:r>
            <a:r>
              <a:rPr dirty="0" sz="1100">
                <a:latin typeface="Arial"/>
                <a:cs typeface="Arial"/>
              </a:rPr>
              <a:t>that </a:t>
            </a:r>
            <a:r>
              <a:rPr dirty="0" sz="1100" spc="-5">
                <a:latin typeface="Arial"/>
                <a:cs typeface="Arial"/>
              </a:rPr>
              <a:t>states the market value of  a country’s “visible” (e.g., commodity trade) and “invisible” (e.g., shipping services)  exports and</a:t>
            </a:r>
            <a:r>
              <a:rPr dirty="0" sz="1100">
                <a:latin typeface="Arial"/>
                <a:cs typeface="Arial"/>
              </a:rPr>
              <a:t> </a:t>
            </a:r>
            <a:r>
              <a:rPr dirty="0" sz="1100" spc="-5">
                <a:latin typeface="Arial"/>
                <a:cs typeface="Arial"/>
              </a:rPr>
              <a:t>imports.</a:t>
            </a:r>
            <a:endParaRPr sz="1100">
              <a:latin typeface="Arial"/>
              <a:cs typeface="Arial"/>
            </a:endParaRPr>
          </a:p>
          <a:p>
            <a:pPr algn="just" marL="469900" marR="6985" indent="-228600">
              <a:lnSpc>
                <a:spcPts val="1260"/>
              </a:lnSpc>
              <a:spcBef>
                <a:spcPts val="114"/>
              </a:spcBef>
              <a:buFont typeface="Symbol"/>
              <a:buChar char=""/>
              <a:tabLst>
                <a:tab pos="469900" algn="l"/>
              </a:tabLst>
            </a:pPr>
            <a:r>
              <a:rPr dirty="0" sz="1100" spc="-5" b="1">
                <a:latin typeface="Arial"/>
                <a:cs typeface="Arial"/>
              </a:rPr>
              <a:t>Debt service: </a:t>
            </a:r>
            <a:r>
              <a:rPr dirty="0" sz="1100" spc="-5">
                <a:latin typeface="Arial"/>
                <a:cs typeface="Arial"/>
              </a:rPr>
              <a:t>The sum of interest payments and repayments of principal on external  public and publicly guaranteed</a:t>
            </a:r>
            <a:r>
              <a:rPr dirty="0" sz="1100" spc="15">
                <a:latin typeface="Arial"/>
                <a:cs typeface="Arial"/>
              </a:rPr>
              <a:t> </a:t>
            </a:r>
            <a:r>
              <a:rPr dirty="0" sz="1100" spc="-5">
                <a:latin typeface="Arial"/>
                <a:cs typeface="Arial"/>
              </a:rPr>
              <a:t>debt.</a:t>
            </a:r>
            <a:endParaRPr sz="1100">
              <a:latin typeface="Arial"/>
              <a:cs typeface="Arial"/>
            </a:endParaRPr>
          </a:p>
          <a:p>
            <a:pPr algn="just" marL="469900" marR="6350" indent="-228600">
              <a:lnSpc>
                <a:spcPts val="1260"/>
              </a:lnSpc>
              <a:spcBef>
                <a:spcPts val="85"/>
              </a:spcBef>
              <a:buFont typeface="Symbol"/>
              <a:buChar char=""/>
              <a:tabLst>
                <a:tab pos="469900" algn="l"/>
              </a:tabLst>
            </a:pPr>
            <a:r>
              <a:rPr dirty="0" sz="1100" spc="-5" b="1">
                <a:latin typeface="Arial"/>
                <a:cs typeface="Arial"/>
              </a:rPr>
              <a:t>Balance of payments: </a:t>
            </a:r>
            <a:r>
              <a:rPr dirty="0" sz="1100" spc="-5">
                <a:latin typeface="Arial"/>
                <a:cs typeface="Arial"/>
              </a:rPr>
              <a:t>A summary statement of a nation’s financial transactions with  the outside world.</a:t>
            </a:r>
            <a:endParaRPr sz="1100">
              <a:latin typeface="Arial"/>
              <a:cs typeface="Arial"/>
            </a:endParaRPr>
          </a:p>
          <a:p>
            <a:pPr algn="just" marL="469900" marR="5080" indent="-228600">
              <a:lnSpc>
                <a:spcPct val="95700"/>
              </a:lnSpc>
              <a:spcBef>
                <a:spcPts val="45"/>
              </a:spcBef>
              <a:buFont typeface="Symbol"/>
              <a:buChar char=""/>
              <a:tabLst>
                <a:tab pos="469900" algn="l"/>
              </a:tabLst>
            </a:pPr>
            <a:r>
              <a:rPr dirty="0" sz="1100" spc="-5" b="1">
                <a:latin typeface="Arial"/>
                <a:cs typeface="Arial"/>
              </a:rPr>
              <a:t>Current account: </a:t>
            </a:r>
            <a:r>
              <a:rPr dirty="0" sz="1100" spc="-5">
                <a:latin typeface="Arial"/>
                <a:cs typeface="Arial"/>
              </a:rPr>
              <a:t>The portion of a balance of payments </a:t>
            </a:r>
            <a:r>
              <a:rPr dirty="0" sz="1100">
                <a:latin typeface="Arial"/>
                <a:cs typeface="Arial"/>
              </a:rPr>
              <a:t>that </a:t>
            </a:r>
            <a:r>
              <a:rPr dirty="0" sz="1100" spc="-5">
                <a:latin typeface="Arial"/>
                <a:cs typeface="Arial"/>
              </a:rPr>
              <a:t>states the market value of  a country’s “visible” (e.g., commodity trade) and “invisible” (e.g., shipping services)  exports and</a:t>
            </a:r>
            <a:r>
              <a:rPr dirty="0" sz="1100">
                <a:latin typeface="Arial"/>
                <a:cs typeface="Arial"/>
              </a:rPr>
              <a:t> </a:t>
            </a:r>
            <a:r>
              <a:rPr dirty="0" sz="1100" spc="-5">
                <a:latin typeface="Arial"/>
                <a:cs typeface="Arial"/>
              </a:rPr>
              <a:t>imports.</a:t>
            </a:r>
            <a:endParaRPr sz="1100">
              <a:latin typeface="Arial"/>
              <a:cs typeface="Arial"/>
            </a:endParaRPr>
          </a:p>
          <a:p>
            <a:pPr marL="469900" marR="5715" indent="-228600">
              <a:lnSpc>
                <a:spcPts val="1260"/>
              </a:lnSpc>
              <a:spcBef>
                <a:spcPts val="114"/>
              </a:spcBef>
              <a:buFont typeface="Symbol"/>
              <a:buChar char=""/>
              <a:tabLst>
                <a:tab pos="469265" algn="l"/>
                <a:tab pos="469900" algn="l"/>
              </a:tabLst>
            </a:pPr>
            <a:r>
              <a:rPr dirty="0" sz="1100" spc="-5" b="1">
                <a:latin typeface="Arial"/>
                <a:cs typeface="Arial"/>
              </a:rPr>
              <a:t>Capital flight: </a:t>
            </a:r>
            <a:r>
              <a:rPr dirty="0" sz="1100" spc="-5">
                <a:latin typeface="Arial"/>
                <a:cs typeface="Arial"/>
              </a:rPr>
              <a:t>The transfer of funds to a foreign country by a citizen or business to avoid  conditions in the source</a:t>
            </a:r>
            <a:r>
              <a:rPr dirty="0" sz="1100" spc="5">
                <a:latin typeface="Arial"/>
                <a:cs typeface="Arial"/>
              </a:rPr>
              <a:t> </a:t>
            </a:r>
            <a:r>
              <a:rPr dirty="0" sz="1100" spc="-5">
                <a:latin typeface="Arial"/>
                <a:cs typeface="Arial"/>
              </a:rPr>
              <a:t>country.</a:t>
            </a:r>
            <a:endParaRPr sz="1100">
              <a:latin typeface="Arial"/>
              <a:cs typeface="Arial"/>
            </a:endParaRPr>
          </a:p>
          <a:p>
            <a:pPr marL="469900" marR="6985" indent="-228600">
              <a:lnSpc>
                <a:spcPts val="1260"/>
              </a:lnSpc>
              <a:spcBef>
                <a:spcPts val="85"/>
              </a:spcBef>
              <a:buFont typeface="Symbol"/>
              <a:buChar char=""/>
              <a:tabLst>
                <a:tab pos="469265" algn="l"/>
                <a:tab pos="469900" algn="l"/>
              </a:tabLst>
            </a:pPr>
            <a:r>
              <a:rPr dirty="0" sz="1100" spc="-5" b="1">
                <a:latin typeface="Arial"/>
                <a:cs typeface="Arial"/>
              </a:rPr>
              <a:t>Debt service: </a:t>
            </a:r>
            <a:r>
              <a:rPr dirty="0" sz="1100" spc="-5">
                <a:latin typeface="Arial"/>
                <a:cs typeface="Arial"/>
              </a:rPr>
              <a:t>The sum of interest payments and repayments of principal on external  public and publicly guaranteed</a:t>
            </a:r>
            <a:r>
              <a:rPr dirty="0" sz="1100" spc="15">
                <a:latin typeface="Arial"/>
                <a:cs typeface="Arial"/>
              </a:rPr>
              <a:t> </a:t>
            </a:r>
            <a:r>
              <a:rPr dirty="0" sz="1100" spc="-5">
                <a:latin typeface="Arial"/>
                <a:cs typeface="Arial"/>
              </a:rPr>
              <a:t>debt.</a:t>
            </a:r>
            <a:endParaRPr sz="1100">
              <a:latin typeface="Arial"/>
              <a:cs typeface="Arial"/>
            </a:endParaRPr>
          </a:p>
          <a:p>
            <a:pPr marL="469900" indent="-228600">
              <a:lnSpc>
                <a:spcPts val="1280"/>
              </a:lnSpc>
              <a:buFont typeface="Symbol"/>
              <a:buChar char=""/>
              <a:tabLst>
                <a:tab pos="469265" algn="l"/>
                <a:tab pos="469900" algn="l"/>
              </a:tabLst>
            </a:pPr>
            <a:r>
              <a:rPr dirty="0" sz="1100" spc="-5" b="1">
                <a:latin typeface="Arial"/>
                <a:cs typeface="Arial"/>
              </a:rPr>
              <a:t>Hard</a:t>
            </a:r>
            <a:r>
              <a:rPr dirty="0" sz="1100" spc="25" b="1">
                <a:latin typeface="Arial"/>
                <a:cs typeface="Arial"/>
              </a:rPr>
              <a:t> </a:t>
            </a:r>
            <a:r>
              <a:rPr dirty="0" sz="1100" spc="-5" b="1">
                <a:latin typeface="Arial"/>
                <a:cs typeface="Arial"/>
              </a:rPr>
              <a:t>currency:</a:t>
            </a:r>
            <a:r>
              <a:rPr dirty="0" sz="1100" spc="35" b="1">
                <a:latin typeface="Arial"/>
                <a:cs typeface="Arial"/>
              </a:rPr>
              <a:t> </a:t>
            </a:r>
            <a:r>
              <a:rPr dirty="0" sz="1100" spc="-5">
                <a:latin typeface="Arial"/>
                <a:cs typeface="Arial"/>
              </a:rPr>
              <a:t>The</a:t>
            </a:r>
            <a:r>
              <a:rPr dirty="0" sz="1100" spc="30">
                <a:latin typeface="Arial"/>
                <a:cs typeface="Arial"/>
              </a:rPr>
              <a:t> </a:t>
            </a:r>
            <a:r>
              <a:rPr dirty="0" sz="1100" spc="-5">
                <a:latin typeface="Arial"/>
                <a:cs typeface="Arial"/>
              </a:rPr>
              <a:t>currency</a:t>
            </a:r>
            <a:r>
              <a:rPr dirty="0" sz="1100" spc="30">
                <a:latin typeface="Arial"/>
                <a:cs typeface="Arial"/>
              </a:rPr>
              <a:t> </a:t>
            </a:r>
            <a:r>
              <a:rPr dirty="0" sz="1100" spc="-5">
                <a:latin typeface="Arial"/>
                <a:cs typeface="Arial"/>
              </a:rPr>
              <a:t>of</a:t>
            </a:r>
            <a:r>
              <a:rPr dirty="0" sz="1100" spc="30">
                <a:latin typeface="Arial"/>
                <a:cs typeface="Arial"/>
              </a:rPr>
              <a:t> </a:t>
            </a:r>
            <a:r>
              <a:rPr dirty="0" sz="1100" spc="-5">
                <a:latin typeface="Arial"/>
                <a:cs typeface="Arial"/>
              </a:rPr>
              <a:t>a</a:t>
            </a:r>
            <a:r>
              <a:rPr dirty="0" sz="1100" spc="35">
                <a:latin typeface="Arial"/>
                <a:cs typeface="Arial"/>
              </a:rPr>
              <a:t> </a:t>
            </a:r>
            <a:r>
              <a:rPr dirty="0" sz="1100" spc="-5">
                <a:latin typeface="Arial"/>
                <a:cs typeface="Arial"/>
              </a:rPr>
              <a:t>major</a:t>
            </a:r>
            <a:r>
              <a:rPr dirty="0" sz="1100" spc="30">
                <a:latin typeface="Arial"/>
                <a:cs typeface="Arial"/>
              </a:rPr>
              <a:t> </a:t>
            </a:r>
            <a:r>
              <a:rPr dirty="0" sz="1100" spc="-5">
                <a:latin typeface="Arial"/>
                <a:cs typeface="Arial"/>
              </a:rPr>
              <a:t>industrial</a:t>
            </a:r>
            <a:r>
              <a:rPr dirty="0" sz="1100" spc="30">
                <a:latin typeface="Arial"/>
                <a:cs typeface="Arial"/>
              </a:rPr>
              <a:t> </a:t>
            </a:r>
            <a:r>
              <a:rPr dirty="0" sz="1100" spc="-5">
                <a:latin typeface="Arial"/>
                <a:cs typeface="Arial"/>
              </a:rPr>
              <a:t>country</a:t>
            </a:r>
            <a:r>
              <a:rPr dirty="0" sz="1100" spc="25">
                <a:latin typeface="Arial"/>
                <a:cs typeface="Arial"/>
              </a:rPr>
              <a:t> </a:t>
            </a:r>
            <a:r>
              <a:rPr dirty="0" sz="1100" spc="-5">
                <a:latin typeface="Arial"/>
                <a:cs typeface="Arial"/>
              </a:rPr>
              <a:t>or</a:t>
            </a:r>
            <a:r>
              <a:rPr dirty="0" sz="1100" spc="30">
                <a:latin typeface="Arial"/>
                <a:cs typeface="Arial"/>
              </a:rPr>
              <a:t> </a:t>
            </a:r>
            <a:r>
              <a:rPr dirty="0" sz="1100" spc="-5">
                <a:latin typeface="Arial"/>
                <a:cs typeface="Arial"/>
              </a:rPr>
              <a:t>currency</a:t>
            </a:r>
            <a:r>
              <a:rPr dirty="0" sz="1100" spc="40">
                <a:latin typeface="Arial"/>
                <a:cs typeface="Arial"/>
              </a:rPr>
              <a:t> </a:t>
            </a:r>
            <a:r>
              <a:rPr dirty="0" sz="1100" spc="-5">
                <a:latin typeface="Arial"/>
                <a:cs typeface="Arial"/>
              </a:rPr>
              <a:t>area,</a:t>
            </a:r>
            <a:r>
              <a:rPr dirty="0" sz="1100" spc="25">
                <a:latin typeface="Arial"/>
                <a:cs typeface="Arial"/>
              </a:rPr>
              <a:t> </a:t>
            </a:r>
            <a:r>
              <a:rPr dirty="0" sz="1100" spc="-5">
                <a:latin typeface="Arial"/>
                <a:cs typeface="Arial"/>
              </a:rPr>
              <a:t>such</a:t>
            </a:r>
            <a:r>
              <a:rPr dirty="0" sz="1100" spc="30">
                <a:latin typeface="Arial"/>
                <a:cs typeface="Arial"/>
              </a:rPr>
              <a:t> </a:t>
            </a:r>
            <a:r>
              <a:rPr dirty="0" sz="1100" spc="-5">
                <a:latin typeface="Arial"/>
                <a:cs typeface="Arial"/>
              </a:rPr>
              <a:t>as</a:t>
            </a:r>
            <a:r>
              <a:rPr dirty="0" sz="1100" spc="25">
                <a:latin typeface="Arial"/>
                <a:cs typeface="Arial"/>
              </a:rPr>
              <a:t> </a:t>
            </a:r>
            <a:r>
              <a:rPr dirty="0" sz="1100" spc="-5">
                <a:latin typeface="Arial"/>
                <a:cs typeface="Arial"/>
              </a:rPr>
              <a:t>the</a:t>
            </a:r>
            <a:endParaRPr sz="1100">
              <a:latin typeface="Arial"/>
              <a:cs typeface="Arial"/>
            </a:endParaRPr>
          </a:p>
          <a:p>
            <a:pPr marL="469900">
              <a:lnSpc>
                <a:spcPts val="1290"/>
              </a:lnSpc>
            </a:pPr>
            <a:r>
              <a:rPr dirty="0" sz="1100" spc="-5">
                <a:latin typeface="Arial"/>
                <a:cs typeface="Arial"/>
              </a:rPr>
              <a:t>U.S. dollar, the euro, or the Japanese yen, that is freely convertible into other</a:t>
            </a:r>
            <a:r>
              <a:rPr dirty="0" sz="1100" spc="254">
                <a:latin typeface="Arial"/>
                <a:cs typeface="Arial"/>
              </a:rPr>
              <a:t> </a:t>
            </a:r>
            <a:r>
              <a:rPr dirty="0" sz="1100" spc="-5">
                <a:latin typeface="Arial"/>
                <a:cs typeface="Arial"/>
              </a:rPr>
              <a:t>currencies.</a:t>
            </a:r>
            <a:endParaRPr sz="1100">
              <a:latin typeface="Arial"/>
              <a:cs typeface="Arial"/>
            </a:endParaRPr>
          </a:p>
          <a:p>
            <a:pPr marL="469900" marR="7620" indent="-228600">
              <a:lnSpc>
                <a:spcPts val="1260"/>
              </a:lnSpc>
              <a:spcBef>
                <a:spcPts val="114"/>
              </a:spcBef>
              <a:buFont typeface="Symbol"/>
              <a:buChar char=""/>
              <a:tabLst>
                <a:tab pos="469265" algn="l"/>
                <a:tab pos="469900" algn="l"/>
              </a:tabLst>
            </a:pPr>
            <a:r>
              <a:rPr dirty="0" sz="1100" spc="-5" b="1">
                <a:latin typeface="Arial"/>
                <a:cs typeface="Arial"/>
              </a:rPr>
              <a:t>Euro: </a:t>
            </a:r>
            <a:r>
              <a:rPr dirty="0" sz="1100" spc="-5">
                <a:latin typeface="Arial"/>
                <a:cs typeface="Arial"/>
              </a:rPr>
              <a:t>A common European currency adopted by some of the countries of the European  Union.</a:t>
            </a:r>
            <a:endParaRPr sz="1100">
              <a:latin typeface="Arial"/>
              <a:cs typeface="Arial"/>
            </a:endParaRPr>
          </a:p>
          <a:p>
            <a:pPr>
              <a:lnSpc>
                <a:spcPct val="100000"/>
              </a:lnSpc>
              <a:spcBef>
                <a:spcPts val="30"/>
              </a:spcBef>
            </a:pPr>
            <a:endParaRPr sz="1000">
              <a:latin typeface="Arial"/>
              <a:cs typeface="Arial"/>
            </a:endParaRPr>
          </a:p>
          <a:p>
            <a:pPr marL="12700">
              <a:lnSpc>
                <a:spcPct val="100000"/>
              </a:lnSpc>
            </a:pPr>
            <a:r>
              <a:rPr dirty="0" sz="1100" spc="-5" b="1">
                <a:latin typeface="Arial"/>
                <a:cs typeface="Arial"/>
              </a:rPr>
              <a:t>A HYPOTHETICAL ILLUSTRATION: DEFICITS AND</a:t>
            </a:r>
            <a:r>
              <a:rPr dirty="0" sz="1100" spc="30" b="1">
                <a:latin typeface="Arial"/>
                <a:cs typeface="Arial"/>
              </a:rPr>
              <a:t> </a:t>
            </a:r>
            <a:r>
              <a:rPr dirty="0" sz="1100" spc="-5" b="1">
                <a:latin typeface="Arial"/>
                <a:cs typeface="Arial"/>
              </a:rPr>
              <a:t>DEBTS</a:t>
            </a:r>
            <a:endParaRPr sz="1100">
              <a:latin typeface="Arial"/>
              <a:cs typeface="Arial"/>
            </a:endParaRPr>
          </a:p>
          <a:p>
            <a:pPr>
              <a:lnSpc>
                <a:spcPct val="100000"/>
              </a:lnSpc>
              <a:spcBef>
                <a:spcPts val="25"/>
              </a:spcBef>
            </a:pPr>
            <a:endParaRPr sz="1200">
              <a:latin typeface="Arial"/>
              <a:cs typeface="Arial"/>
            </a:endParaRPr>
          </a:p>
          <a:p>
            <a:pPr algn="just" marL="12700" marR="5715">
              <a:lnSpc>
                <a:spcPts val="1270"/>
              </a:lnSpc>
            </a:pPr>
            <a:r>
              <a:rPr dirty="0" sz="1100" spc="-5">
                <a:latin typeface="Arial"/>
                <a:cs typeface="Arial"/>
              </a:rPr>
              <a:t>A numerical example </a:t>
            </a:r>
            <a:r>
              <a:rPr dirty="0" sz="1100">
                <a:latin typeface="Arial"/>
                <a:cs typeface="Arial"/>
              </a:rPr>
              <a:t>might </a:t>
            </a:r>
            <a:r>
              <a:rPr dirty="0" sz="1100" spc="-5">
                <a:latin typeface="Arial"/>
                <a:cs typeface="Arial"/>
              </a:rPr>
              <a:t>prove helpful at this point. In Table 13.3, a hypothetical balance of  payments</a:t>
            </a:r>
            <a:r>
              <a:rPr dirty="0" sz="1100" spc="20">
                <a:latin typeface="Arial"/>
                <a:cs typeface="Arial"/>
              </a:rPr>
              <a:t> </a:t>
            </a:r>
            <a:r>
              <a:rPr dirty="0" sz="1100">
                <a:latin typeface="Arial"/>
                <a:cs typeface="Arial"/>
              </a:rPr>
              <a:t>table</a:t>
            </a:r>
            <a:r>
              <a:rPr dirty="0" sz="1100" spc="25">
                <a:latin typeface="Arial"/>
                <a:cs typeface="Arial"/>
              </a:rPr>
              <a:t> </a:t>
            </a:r>
            <a:r>
              <a:rPr dirty="0" sz="1100" spc="-5">
                <a:latin typeface="Arial"/>
                <a:cs typeface="Arial"/>
              </a:rPr>
              <a:t>for</a:t>
            </a:r>
            <a:r>
              <a:rPr dirty="0" sz="1100" spc="25">
                <a:latin typeface="Arial"/>
                <a:cs typeface="Arial"/>
              </a:rPr>
              <a:t> </a:t>
            </a:r>
            <a:r>
              <a:rPr dirty="0" sz="1100" spc="-5">
                <a:latin typeface="Arial"/>
                <a:cs typeface="Arial"/>
              </a:rPr>
              <a:t>a</a:t>
            </a:r>
            <a:r>
              <a:rPr dirty="0" sz="1100" spc="25">
                <a:latin typeface="Arial"/>
                <a:cs typeface="Arial"/>
              </a:rPr>
              <a:t> </a:t>
            </a:r>
            <a:r>
              <a:rPr dirty="0" sz="1100" spc="-5">
                <a:latin typeface="Arial"/>
                <a:cs typeface="Arial"/>
              </a:rPr>
              <a:t>developing</a:t>
            </a:r>
            <a:r>
              <a:rPr dirty="0" sz="1100" spc="20">
                <a:latin typeface="Arial"/>
                <a:cs typeface="Arial"/>
              </a:rPr>
              <a:t> </a:t>
            </a:r>
            <a:r>
              <a:rPr dirty="0" sz="1100" spc="-5">
                <a:latin typeface="Arial"/>
                <a:cs typeface="Arial"/>
              </a:rPr>
              <a:t>country</a:t>
            </a:r>
            <a:r>
              <a:rPr dirty="0" sz="1100" spc="25">
                <a:latin typeface="Arial"/>
                <a:cs typeface="Arial"/>
              </a:rPr>
              <a:t> </a:t>
            </a:r>
            <a:r>
              <a:rPr dirty="0" sz="1100" spc="-5">
                <a:latin typeface="Arial"/>
                <a:cs typeface="Arial"/>
              </a:rPr>
              <a:t>is</a:t>
            </a:r>
            <a:r>
              <a:rPr dirty="0" sz="1100" spc="25">
                <a:latin typeface="Arial"/>
                <a:cs typeface="Arial"/>
              </a:rPr>
              <a:t> </a:t>
            </a:r>
            <a:r>
              <a:rPr dirty="0" sz="1100" spc="-5">
                <a:latin typeface="Arial"/>
                <a:cs typeface="Arial"/>
              </a:rPr>
              <a:t>portrayed.</a:t>
            </a:r>
            <a:r>
              <a:rPr dirty="0" sz="1100" spc="25">
                <a:latin typeface="Arial"/>
                <a:cs typeface="Arial"/>
              </a:rPr>
              <a:t> </a:t>
            </a:r>
            <a:r>
              <a:rPr dirty="0" sz="1100" spc="-5">
                <a:latin typeface="Arial"/>
                <a:cs typeface="Arial"/>
              </a:rPr>
              <a:t>First,</a:t>
            </a:r>
            <a:r>
              <a:rPr dirty="0" sz="1100" spc="20">
                <a:latin typeface="Arial"/>
                <a:cs typeface="Arial"/>
              </a:rPr>
              <a:t> </a:t>
            </a:r>
            <a:r>
              <a:rPr dirty="0" sz="1100" spc="-5">
                <a:latin typeface="Arial"/>
                <a:cs typeface="Arial"/>
              </a:rPr>
              <a:t>under</a:t>
            </a:r>
            <a:r>
              <a:rPr dirty="0" sz="1100" spc="25">
                <a:latin typeface="Arial"/>
                <a:cs typeface="Arial"/>
              </a:rPr>
              <a:t> </a:t>
            </a:r>
            <a:r>
              <a:rPr dirty="0" sz="1100" spc="-5">
                <a:latin typeface="Arial"/>
                <a:cs typeface="Arial"/>
              </a:rPr>
              <a:t>the</a:t>
            </a:r>
            <a:r>
              <a:rPr dirty="0" sz="1100" spc="25">
                <a:latin typeface="Arial"/>
                <a:cs typeface="Arial"/>
              </a:rPr>
              <a:t> </a:t>
            </a:r>
            <a:r>
              <a:rPr dirty="0" sz="1100" spc="-5" i="1">
                <a:latin typeface="Arial"/>
                <a:cs typeface="Arial"/>
              </a:rPr>
              <a:t>current</a:t>
            </a:r>
            <a:r>
              <a:rPr dirty="0" sz="1100" spc="25" i="1">
                <a:latin typeface="Arial"/>
                <a:cs typeface="Arial"/>
              </a:rPr>
              <a:t> </a:t>
            </a:r>
            <a:r>
              <a:rPr dirty="0" sz="1100" spc="-5" i="1">
                <a:latin typeface="Arial"/>
                <a:cs typeface="Arial"/>
              </a:rPr>
              <a:t>account</a:t>
            </a:r>
            <a:r>
              <a:rPr dirty="0" sz="1100" spc="-5">
                <a:latin typeface="Arial"/>
                <a:cs typeface="Arial"/>
              </a:rPr>
              <a:t>,</a:t>
            </a:r>
            <a:r>
              <a:rPr dirty="0" sz="1100" spc="25">
                <a:latin typeface="Arial"/>
                <a:cs typeface="Arial"/>
              </a:rPr>
              <a:t> </a:t>
            </a:r>
            <a:r>
              <a:rPr dirty="0" sz="1100" spc="-5">
                <a:latin typeface="Arial"/>
                <a:cs typeface="Arial"/>
              </a:rPr>
              <a:t>there</a:t>
            </a:r>
            <a:r>
              <a:rPr dirty="0" sz="1100" spc="20">
                <a:latin typeface="Arial"/>
                <a:cs typeface="Arial"/>
              </a:rPr>
              <a:t> </a:t>
            </a:r>
            <a:r>
              <a:rPr dirty="0" sz="1100" spc="-5">
                <a:latin typeface="Arial"/>
                <a:cs typeface="Arial"/>
              </a:rPr>
              <a:t>is</a:t>
            </a:r>
            <a:r>
              <a:rPr dirty="0" sz="1100" spc="25">
                <a:latin typeface="Arial"/>
                <a:cs typeface="Arial"/>
              </a:rPr>
              <a:t> </a:t>
            </a:r>
            <a:r>
              <a:rPr dirty="0" sz="1100" spc="-5">
                <a:latin typeface="Arial"/>
                <a:cs typeface="Arial"/>
              </a:rPr>
              <a:t>a</a:t>
            </a:r>
            <a:endParaRPr sz="1100">
              <a:latin typeface="Arial"/>
              <a:cs typeface="Arial"/>
            </a:endParaRPr>
          </a:p>
          <a:p>
            <a:pPr algn="just" marL="12700">
              <a:lnSpc>
                <a:spcPts val="1200"/>
              </a:lnSpc>
            </a:pPr>
            <a:r>
              <a:rPr dirty="0" sz="1100" spc="-5">
                <a:latin typeface="Arial"/>
                <a:cs typeface="Arial"/>
              </a:rPr>
              <a:t>$10</a:t>
            </a:r>
            <a:r>
              <a:rPr dirty="0" sz="1100" spc="160">
                <a:latin typeface="Arial"/>
                <a:cs typeface="Arial"/>
              </a:rPr>
              <a:t> </a:t>
            </a:r>
            <a:r>
              <a:rPr dirty="0" sz="1100" spc="-5">
                <a:latin typeface="Arial"/>
                <a:cs typeface="Arial"/>
              </a:rPr>
              <a:t>million</a:t>
            </a:r>
            <a:r>
              <a:rPr dirty="0" sz="1100" spc="160">
                <a:latin typeface="Arial"/>
                <a:cs typeface="Arial"/>
              </a:rPr>
              <a:t> </a:t>
            </a:r>
            <a:r>
              <a:rPr dirty="0" sz="1100" spc="-5">
                <a:latin typeface="Arial"/>
                <a:cs typeface="Arial"/>
              </a:rPr>
              <a:t>negative</a:t>
            </a:r>
            <a:r>
              <a:rPr dirty="0" sz="1100" spc="165">
                <a:latin typeface="Arial"/>
                <a:cs typeface="Arial"/>
              </a:rPr>
              <a:t> </a:t>
            </a:r>
            <a:r>
              <a:rPr dirty="0" sz="1100" spc="-5">
                <a:latin typeface="Arial"/>
                <a:cs typeface="Arial"/>
              </a:rPr>
              <a:t>merchandise</a:t>
            </a:r>
            <a:r>
              <a:rPr dirty="0" sz="1100" spc="160">
                <a:latin typeface="Arial"/>
                <a:cs typeface="Arial"/>
              </a:rPr>
              <a:t> </a:t>
            </a:r>
            <a:r>
              <a:rPr dirty="0" sz="1100" spc="-5">
                <a:latin typeface="Arial"/>
                <a:cs typeface="Arial"/>
              </a:rPr>
              <a:t>trade</a:t>
            </a:r>
            <a:r>
              <a:rPr dirty="0" sz="1100" spc="165">
                <a:latin typeface="Arial"/>
                <a:cs typeface="Arial"/>
              </a:rPr>
              <a:t> </a:t>
            </a:r>
            <a:r>
              <a:rPr dirty="0" sz="1100" spc="-5">
                <a:latin typeface="Arial"/>
                <a:cs typeface="Arial"/>
              </a:rPr>
              <a:t>balance</a:t>
            </a:r>
            <a:r>
              <a:rPr dirty="0" sz="1100" spc="165">
                <a:latin typeface="Arial"/>
                <a:cs typeface="Arial"/>
              </a:rPr>
              <a:t> </a:t>
            </a:r>
            <a:r>
              <a:rPr dirty="0" sz="1100" spc="-5">
                <a:latin typeface="Arial"/>
                <a:cs typeface="Arial"/>
              </a:rPr>
              <a:t>made</a:t>
            </a:r>
            <a:r>
              <a:rPr dirty="0" sz="1100" spc="165">
                <a:latin typeface="Arial"/>
                <a:cs typeface="Arial"/>
              </a:rPr>
              <a:t> </a:t>
            </a:r>
            <a:r>
              <a:rPr dirty="0" sz="1100" spc="-5">
                <a:latin typeface="Arial"/>
                <a:cs typeface="Arial"/>
              </a:rPr>
              <a:t>up</a:t>
            </a:r>
            <a:r>
              <a:rPr dirty="0" sz="1100" spc="155">
                <a:latin typeface="Arial"/>
                <a:cs typeface="Arial"/>
              </a:rPr>
              <a:t> </a:t>
            </a:r>
            <a:r>
              <a:rPr dirty="0" sz="1100" spc="-5">
                <a:latin typeface="Arial"/>
                <a:cs typeface="Arial"/>
              </a:rPr>
              <a:t>of</a:t>
            </a:r>
            <a:r>
              <a:rPr dirty="0" sz="1100" spc="165">
                <a:latin typeface="Arial"/>
                <a:cs typeface="Arial"/>
              </a:rPr>
              <a:t> </a:t>
            </a:r>
            <a:r>
              <a:rPr dirty="0" sz="1100" spc="-5">
                <a:latin typeface="Arial"/>
                <a:cs typeface="Arial"/>
              </a:rPr>
              <a:t>$35</a:t>
            </a:r>
            <a:r>
              <a:rPr dirty="0" sz="1100" spc="165">
                <a:latin typeface="Arial"/>
                <a:cs typeface="Arial"/>
              </a:rPr>
              <a:t> </a:t>
            </a:r>
            <a:r>
              <a:rPr dirty="0" sz="1100" spc="-5">
                <a:latin typeface="Arial"/>
                <a:cs typeface="Arial"/>
              </a:rPr>
              <a:t>million</a:t>
            </a:r>
            <a:r>
              <a:rPr dirty="0" sz="1100" spc="165">
                <a:latin typeface="Arial"/>
                <a:cs typeface="Arial"/>
              </a:rPr>
              <a:t> </a:t>
            </a:r>
            <a:r>
              <a:rPr dirty="0" sz="1100" spc="-5">
                <a:latin typeface="Arial"/>
                <a:cs typeface="Arial"/>
              </a:rPr>
              <a:t>of</a:t>
            </a:r>
            <a:r>
              <a:rPr dirty="0" sz="1100" spc="165">
                <a:latin typeface="Arial"/>
                <a:cs typeface="Arial"/>
              </a:rPr>
              <a:t> </a:t>
            </a:r>
            <a:r>
              <a:rPr dirty="0" sz="1100" spc="-5">
                <a:latin typeface="Arial"/>
                <a:cs typeface="Arial"/>
              </a:rPr>
              <a:t>commodity</a:t>
            </a:r>
            <a:r>
              <a:rPr dirty="0" sz="1100" spc="165">
                <a:latin typeface="Arial"/>
                <a:cs typeface="Arial"/>
              </a:rPr>
              <a:t> </a:t>
            </a:r>
            <a:r>
              <a:rPr dirty="0" sz="1100" spc="-5">
                <a:latin typeface="Arial"/>
                <a:cs typeface="Arial"/>
              </a:rPr>
              <a:t>export</a:t>
            </a:r>
            <a:endParaRPr sz="1100">
              <a:latin typeface="Arial"/>
              <a:cs typeface="Arial"/>
            </a:endParaRPr>
          </a:p>
          <a:p>
            <a:pPr algn="just" marL="12700" marR="5715">
              <a:lnSpc>
                <a:spcPct val="95800"/>
              </a:lnSpc>
              <a:spcBef>
                <a:spcPts val="30"/>
              </a:spcBef>
            </a:pPr>
            <a:r>
              <a:rPr dirty="0" sz="1100" spc="-5">
                <a:latin typeface="Arial"/>
                <a:cs typeface="Arial"/>
              </a:rPr>
              <a:t>receipts (of which over 70%</a:t>
            </a:r>
            <a:r>
              <a:rPr dirty="0" sz="1100" spc="-5" i="1">
                <a:latin typeface="Arial"/>
                <a:cs typeface="Arial"/>
              </a:rPr>
              <a:t>—</a:t>
            </a:r>
            <a:r>
              <a:rPr dirty="0" sz="1100" spc="-5">
                <a:latin typeface="Arial"/>
                <a:cs typeface="Arial"/>
              </a:rPr>
              <a:t>$25 million</a:t>
            </a:r>
            <a:r>
              <a:rPr dirty="0" sz="1100" spc="-5" i="1">
                <a:latin typeface="Arial"/>
                <a:cs typeface="Arial"/>
              </a:rPr>
              <a:t>—</a:t>
            </a:r>
            <a:r>
              <a:rPr dirty="0" sz="1100" spc="-5">
                <a:latin typeface="Arial"/>
                <a:cs typeface="Arial"/>
              </a:rPr>
              <a:t>are derived from primary agricultural and raw  material products), minus $45 million of mostly manufactured consumer, intermediate, and  capital goods import payments. To this total we add $5 million in payments for the services of  foreign shipping firms and $1 million of investment income receipts representing net interest  transmitted   on   foreign   bond   holdings,   subtract   $15   million   of   debt   service </a:t>
            </a:r>
            <a:r>
              <a:rPr dirty="0" sz="1100" spc="290">
                <a:latin typeface="Arial"/>
                <a:cs typeface="Arial"/>
              </a:rPr>
              <a:t> </a:t>
            </a:r>
            <a:r>
              <a:rPr dirty="0" sz="1100" spc="-5">
                <a:latin typeface="Arial"/>
                <a:cs typeface="Arial"/>
              </a:rPr>
              <a:t>payments</a:t>
            </a:r>
            <a:endParaRPr sz="1100">
              <a:latin typeface="Arial"/>
              <a:cs typeface="Arial"/>
            </a:endParaRPr>
          </a:p>
        </p:txBody>
      </p:sp>
      <p:sp>
        <p:nvSpPr>
          <p:cNvPr id="8" name="object 8"/>
          <p:cNvSpPr/>
          <p:nvPr/>
        </p:nvSpPr>
        <p:spPr>
          <a:xfrm>
            <a:off x="933450" y="2141982"/>
            <a:ext cx="5934456" cy="1372118"/>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276</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000" cy="6743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representing this year’s interest costs on the accumulated foreign debt of the developing  country, and add $2 million of remittance and transfer receipts derived from payments of  domestic workers living overseas who send home part of their earnings. Together, all of these  items add up to a </a:t>
            </a:r>
            <a:r>
              <a:rPr dirty="0" sz="1100" spc="-5" i="1">
                <a:latin typeface="Arial"/>
                <a:cs typeface="Arial"/>
              </a:rPr>
              <a:t>deficit </a:t>
            </a:r>
            <a:r>
              <a:rPr dirty="0" sz="1100" spc="-5">
                <a:latin typeface="Arial"/>
                <a:cs typeface="Arial"/>
              </a:rPr>
              <a:t>on current account of $27</a:t>
            </a:r>
            <a:r>
              <a:rPr dirty="0" sz="1100" spc="50">
                <a:latin typeface="Arial"/>
                <a:cs typeface="Arial"/>
              </a:rPr>
              <a:t> </a:t>
            </a:r>
            <a:r>
              <a:rPr dirty="0" sz="1100" spc="-5">
                <a:latin typeface="Arial"/>
                <a:cs typeface="Arial"/>
              </a:rPr>
              <a:t>million.</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277</a:t>
            </a:r>
          </a:p>
        </p:txBody>
      </p:sp>
      <p:graphicFrame>
        <p:nvGraphicFramePr>
          <p:cNvPr id="7" name="object 7"/>
          <p:cNvGraphicFramePr>
            <a:graphicFrameLocks noGrp="1"/>
          </p:cNvGraphicFramePr>
          <p:nvPr/>
        </p:nvGraphicFramePr>
        <p:xfrm>
          <a:off x="899922" y="1717548"/>
          <a:ext cx="6274435" cy="4594225"/>
        </p:xfrm>
        <a:graphic>
          <a:graphicData uri="http://schemas.openxmlformats.org/drawingml/2006/table">
            <a:tbl>
              <a:tblPr firstRow="1" bandRow="1">
                <a:tableStyleId>{2D5ABB26-0587-4C30-8999-92F81FD0307C}</a:tableStyleId>
              </a:tblPr>
              <a:tblGrid>
                <a:gridCol w="3331210"/>
                <a:gridCol w="694054"/>
                <a:gridCol w="951864"/>
                <a:gridCol w="1253489"/>
              </a:tblGrid>
              <a:tr h="222503">
                <a:tc gridSpan="4">
                  <a:txBody>
                    <a:bodyPr/>
                    <a:lstStyle/>
                    <a:p>
                      <a:pPr marL="59690">
                        <a:lnSpc>
                          <a:spcPct val="100000"/>
                        </a:lnSpc>
                        <a:spcBef>
                          <a:spcPts val="125"/>
                        </a:spcBef>
                      </a:pPr>
                      <a:r>
                        <a:rPr dirty="0" sz="1100" spc="-5" b="1">
                          <a:latin typeface="Arial"/>
                          <a:cs typeface="Arial"/>
                        </a:rPr>
                        <a:t>TABLE </a:t>
                      </a:r>
                      <a:r>
                        <a:rPr dirty="0" sz="1100" b="1">
                          <a:latin typeface="Arial"/>
                          <a:cs typeface="Arial"/>
                        </a:rPr>
                        <a:t>13.3: </a:t>
                      </a:r>
                      <a:r>
                        <a:rPr dirty="0" sz="1100" spc="-5" b="1">
                          <a:solidFill>
                            <a:srgbClr val="1F497C"/>
                          </a:solidFill>
                          <a:latin typeface="Arial"/>
                          <a:cs typeface="Arial"/>
                        </a:rPr>
                        <a:t>A Hypothetical Traditional Balance of Payments Table for a Developing</a:t>
                      </a:r>
                      <a:r>
                        <a:rPr dirty="0" sz="1100" spc="185" b="1">
                          <a:solidFill>
                            <a:srgbClr val="1F497C"/>
                          </a:solidFill>
                          <a:latin typeface="Arial"/>
                          <a:cs typeface="Arial"/>
                        </a:rPr>
                        <a:t> </a:t>
                      </a:r>
                      <a:r>
                        <a:rPr dirty="0" sz="1100" spc="-5" b="1">
                          <a:solidFill>
                            <a:srgbClr val="1F497C"/>
                          </a:solidFill>
                          <a:latin typeface="Arial"/>
                          <a:cs typeface="Arial"/>
                        </a:rPr>
                        <a:t>Nation</a:t>
                      </a:r>
                      <a:endParaRPr sz="1100">
                        <a:latin typeface="Arial"/>
                        <a:cs typeface="Arial"/>
                      </a:endParaRPr>
                    </a:p>
                  </a:txBody>
                  <a:tcPr marL="0" marR="0" marB="0" marT="15875">
                    <a:lnL w="28575">
                      <a:solidFill>
                        <a:srgbClr val="95B3D7"/>
                      </a:solidFill>
                      <a:prstDash val="solid"/>
                    </a:lnL>
                    <a:lnR w="28575">
                      <a:solidFill>
                        <a:srgbClr val="95B3D7"/>
                      </a:solidFill>
                      <a:prstDash val="solid"/>
                    </a:lnR>
                    <a:lnT w="28575">
                      <a:solidFill>
                        <a:srgbClr val="95B3D7"/>
                      </a:solidFill>
                      <a:prstDash val="solid"/>
                    </a:lnT>
                    <a:lnB w="28575">
                      <a:solidFill>
                        <a:srgbClr val="95B3D7"/>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199644">
                <a:tc>
                  <a:txBody>
                    <a:bodyPr/>
                    <a:lstStyle/>
                    <a:p>
                      <a:pPr marL="59690">
                        <a:lnSpc>
                          <a:spcPct val="100000"/>
                        </a:lnSpc>
                        <a:spcBef>
                          <a:spcPts val="120"/>
                        </a:spcBef>
                      </a:pPr>
                      <a:r>
                        <a:rPr dirty="0" sz="1100" spc="-10" b="1">
                          <a:solidFill>
                            <a:srgbClr val="1F497C"/>
                          </a:solidFill>
                          <a:latin typeface="Arial"/>
                          <a:cs typeface="Arial"/>
                        </a:rPr>
                        <a:t>ITEMS</a:t>
                      </a:r>
                      <a:endParaRPr sz="1100">
                        <a:latin typeface="Arial"/>
                        <a:cs typeface="Arial"/>
                      </a:endParaRPr>
                    </a:p>
                  </a:txBody>
                  <a:tcPr marL="0" marR="0" marB="0" marT="15240">
                    <a:lnL w="28575">
                      <a:solidFill>
                        <a:srgbClr val="95B3D7"/>
                      </a:solidFill>
                      <a:prstDash val="solid"/>
                    </a:lnL>
                    <a:lnT w="28575">
                      <a:solidFill>
                        <a:srgbClr val="95B3D7"/>
                      </a:solidFill>
                      <a:prstDash val="solid"/>
                    </a:lnT>
                    <a:lnB w="28575">
                      <a:solidFill>
                        <a:srgbClr val="95B3D7"/>
                      </a:solidFill>
                      <a:prstDash val="solid"/>
                    </a:lnB>
                  </a:tcPr>
                </a:tc>
                <a:tc gridSpan="3">
                  <a:txBody>
                    <a:bodyPr/>
                    <a:lstStyle/>
                    <a:p>
                      <a:pPr marL="101600">
                        <a:lnSpc>
                          <a:spcPct val="100000"/>
                        </a:lnSpc>
                        <a:spcBef>
                          <a:spcPts val="120"/>
                        </a:spcBef>
                      </a:pPr>
                      <a:r>
                        <a:rPr dirty="0" sz="1100" spc="-5" b="1">
                          <a:solidFill>
                            <a:srgbClr val="1F497C"/>
                          </a:solidFill>
                          <a:latin typeface="Arial"/>
                          <a:cs typeface="Arial"/>
                        </a:rPr>
                        <a:t>Amounts (millions of</a:t>
                      </a:r>
                      <a:r>
                        <a:rPr dirty="0" sz="1100" spc="10" b="1">
                          <a:solidFill>
                            <a:srgbClr val="1F497C"/>
                          </a:solidFill>
                          <a:latin typeface="Arial"/>
                          <a:cs typeface="Arial"/>
                        </a:rPr>
                        <a:t> </a:t>
                      </a:r>
                      <a:r>
                        <a:rPr dirty="0" sz="1100" spc="-5" b="1">
                          <a:solidFill>
                            <a:srgbClr val="1F497C"/>
                          </a:solidFill>
                          <a:latin typeface="Arial"/>
                          <a:cs typeface="Arial"/>
                        </a:rPr>
                        <a:t>dollars)</a:t>
                      </a:r>
                      <a:endParaRPr sz="1100">
                        <a:latin typeface="Arial"/>
                        <a:cs typeface="Arial"/>
                      </a:endParaRPr>
                    </a:p>
                  </a:txBody>
                  <a:tcPr marL="0" marR="0" marB="0" marT="15240">
                    <a:lnR w="28575">
                      <a:solidFill>
                        <a:srgbClr val="95B3D7"/>
                      </a:solidFill>
                      <a:prstDash val="solid"/>
                    </a:lnR>
                    <a:lnT w="28575">
                      <a:solidFill>
                        <a:srgbClr val="95B3D7"/>
                      </a:solidFill>
                      <a:prstDash val="solid"/>
                    </a:lnT>
                    <a:lnB w="28575">
                      <a:solidFill>
                        <a:srgbClr val="95B3D7"/>
                      </a:solidFill>
                      <a:prstDash val="solid"/>
                    </a:lnB>
                  </a:tcPr>
                </a:tc>
                <a:tc hMerge="1">
                  <a:txBody>
                    <a:bodyPr/>
                    <a:lstStyle/>
                    <a:p>
                      <a:pPr/>
                    </a:p>
                  </a:txBody>
                  <a:tcPr marL="0" marR="0" marB="0" marT="0"/>
                </a:tc>
                <a:tc hMerge="1">
                  <a:txBody>
                    <a:bodyPr/>
                    <a:lstStyle/>
                    <a:p>
                      <a:pPr/>
                    </a:p>
                  </a:txBody>
                  <a:tcPr marL="0" marR="0" marB="0" marT="0"/>
                </a:tc>
              </a:tr>
              <a:tr h="363898">
                <a:tc rowSpan="21">
                  <a:txBody>
                    <a:bodyPr/>
                    <a:lstStyle/>
                    <a:p>
                      <a:pPr marL="59690">
                        <a:lnSpc>
                          <a:spcPct val="100000"/>
                        </a:lnSpc>
                        <a:spcBef>
                          <a:spcPts val="125"/>
                        </a:spcBef>
                      </a:pPr>
                      <a:r>
                        <a:rPr dirty="0" sz="1100" spc="-5" b="1">
                          <a:solidFill>
                            <a:srgbClr val="1F497C"/>
                          </a:solidFill>
                          <a:latin typeface="Arial"/>
                          <a:cs typeface="Arial"/>
                        </a:rPr>
                        <a:t>Current account</a:t>
                      </a:r>
                      <a:endParaRPr sz="1100">
                        <a:latin typeface="Arial"/>
                        <a:cs typeface="Arial"/>
                      </a:endParaRPr>
                    </a:p>
                    <a:p>
                      <a:pPr marL="402590" marR="1647189" indent="-342900">
                        <a:lnSpc>
                          <a:spcPts val="1350"/>
                        </a:lnSpc>
                        <a:spcBef>
                          <a:spcPts val="45"/>
                        </a:spcBef>
                      </a:pPr>
                      <a:r>
                        <a:rPr dirty="0" sz="1100" spc="-5">
                          <a:latin typeface="Arial"/>
                          <a:cs typeface="Arial"/>
                        </a:rPr>
                        <a:t>Commodity exports  Primary products  Manufactured</a:t>
                      </a:r>
                      <a:r>
                        <a:rPr dirty="0" sz="1100" spc="-35">
                          <a:latin typeface="Arial"/>
                          <a:cs typeface="Arial"/>
                        </a:rPr>
                        <a:t> </a:t>
                      </a:r>
                      <a:r>
                        <a:rPr dirty="0" sz="1100" spc="-5">
                          <a:latin typeface="Arial"/>
                          <a:cs typeface="Arial"/>
                        </a:rPr>
                        <a:t>goods</a:t>
                      </a:r>
                      <a:endParaRPr sz="1100">
                        <a:latin typeface="Arial"/>
                        <a:cs typeface="Arial"/>
                      </a:endParaRPr>
                    </a:p>
                    <a:p>
                      <a:pPr marL="402590" marR="1647189" indent="-342900">
                        <a:lnSpc>
                          <a:spcPts val="1350"/>
                        </a:lnSpc>
                      </a:pPr>
                      <a:r>
                        <a:rPr dirty="0" sz="1100" spc="-5">
                          <a:latin typeface="Arial"/>
                          <a:cs typeface="Arial"/>
                        </a:rPr>
                        <a:t>Commodity imports  Primary products  Manufactured</a:t>
                      </a:r>
                      <a:r>
                        <a:rPr dirty="0" sz="1100" spc="-35">
                          <a:latin typeface="Arial"/>
                          <a:cs typeface="Arial"/>
                        </a:rPr>
                        <a:t> </a:t>
                      </a:r>
                      <a:r>
                        <a:rPr dirty="0" sz="1100" spc="-5">
                          <a:latin typeface="Arial"/>
                          <a:cs typeface="Arial"/>
                        </a:rPr>
                        <a:t>goods</a:t>
                      </a:r>
                      <a:endParaRPr sz="1100">
                        <a:latin typeface="Arial"/>
                        <a:cs typeface="Arial"/>
                      </a:endParaRPr>
                    </a:p>
                    <a:p>
                      <a:pPr marL="59690" marR="1398905">
                        <a:lnSpc>
                          <a:spcPts val="1350"/>
                        </a:lnSpc>
                      </a:pPr>
                      <a:r>
                        <a:rPr dirty="0" sz="1100" spc="-5">
                          <a:latin typeface="Arial"/>
                          <a:cs typeface="Arial"/>
                        </a:rPr>
                        <a:t>Services (e.g., shipping costs)  Investment income</a:t>
                      </a:r>
                      <a:endParaRPr sz="1100">
                        <a:latin typeface="Arial"/>
                        <a:cs typeface="Arial"/>
                      </a:endParaRPr>
                    </a:p>
                    <a:p>
                      <a:pPr marL="59690">
                        <a:lnSpc>
                          <a:spcPts val="1300"/>
                        </a:lnSpc>
                      </a:pPr>
                      <a:r>
                        <a:rPr dirty="0" sz="1100" spc="-5">
                          <a:latin typeface="Arial"/>
                          <a:cs typeface="Arial"/>
                        </a:rPr>
                        <a:t>Debt service</a:t>
                      </a:r>
                      <a:r>
                        <a:rPr dirty="0" sz="1100">
                          <a:latin typeface="Arial"/>
                          <a:cs typeface="Arial"/>
                        </a:rPr>
                        <a:t> </a:t>
                      </a:r>
                      <a:r>
                        <a:rPr dirty="0" sz="1100" spc="-5">
                          <a:latin typeface="Arial"/>
                          <a:cs typeface="Arial"/>
                        </a:rPr>
                        <a:t>payments</a:t>
                      </a:r>
                      <a:endParaRPr sz="1100">
                        <a:latin typeface="Arial"/>
                        <a:cs typeface="Arial"/>
                      </a:endParaRPr>
                    </a:p>
                    <a:p>
                      <a:pPr marL="59690">
                        <a:lnSpc>
                          <a:spcPct val="100000"/>
                        </a:lnSpc>
                        <a:spcBef>
                          <a:spcPts val="30"/>
                        </a:spcBef>
                      </a:pPr>
                      <a:r>
                        <a:rPr dirty="0" sz="1100" spc="-5">
                          <a:latin typeface="Arial"/>
                          <a:cs typeface="Arial"/>
                        </a:rPr>
                        <a:t>Net remittances and</a:t>
                      </a:r>
                      <a:r>
                        <a:rPr dirty="0" sz="1100" spc="10">
                          <a:latin typeface="Arial"/>
                          <a:cs typeface="Arial"/>
                        </a:rPr>
                        <a:t> </a:t>
                      </a:r>
                      <a:r>
                        <a:rPr dirty="0" sz="1100" spc="-5">
                          <a:latin typeface="Arial"/>
                          <a:cs typeface="Arial"/>
                        </a:rPr>
                        <a:t>transfers</a:t>
                      </a:r>
                      <a:endParaRPr sz="1100">
                        <a:latin typeface="Arial"/>
                        <a:cs typeface="Arial"/>
                      </a:endParaRPr>
                    </a:p>
                    <a:p>
                      <a:pPr marL="688340">
                        <a:lnSpc>
                          <a:spcPct val="100000"/>
                        </a:lnSpc>
                        <a:spcBef>
                          <a:spcPts val="30"/>
                        </a:spcBef>
                      </a:pPr>
                      <a:r>
                        <a:rPr dirty="0" sz="1100" spc="-5">
                          <a:latin typeface="Arial"/>
                          <a:cs typeface="Arial"/>
                        </a:rPr>
                        <a:t>Balance on current</a:t>
                      </a:r>
                      <a:r>
                        <a:rPr dirty="0" sz="1100">
                          <a:latin typeface="Arial"/>
                          <a:cs typeface="Arial"/>
                        </a:rPr>
                        <a:t> </a:t>
                      </a:r>
                      <a:r>
                        <a:rPr dirty="0" sz="1100" spc="-5">
                          <a:latin typeface="Arial"/>
                          <a:cs typeface="Arial"/>
                        </a:rPr>
                        <a:t>account</a:t>
                      </a:r>
                      <a:endParaRPr sz="1100">
                        <a:latin typeface="Arial"/>
                        <a:cs typeface="Arial"/>
                      </a:endParaRPr>
                    </a:p>
                    <a:p>
                      <a:pPr marL="59690">
                        <a:lnSpc>
                          <a:spcPct val="100000"/>
                        </a:lnSpc>
                        <a:spcBef>
                          <a:spcPts val="35"/>
                        </a:spcBef>
                      </a:pPr>
                      <a:r>
                        <a:rPr dirty="0" sz="1100" spc="-5" b="1">
                          <a:solidFill>
                            <a:srgbClr val="1F497C"/>
                          </a:solidFill>
                          <a:latin typeface="Arial"/>
                          <a:cs typeface="Arial"/>
                        </a:rPr>
                        <a:t>Capital account</a:t>
                      </a:r>
                      <a:endParaRPr sz="1100">
                        <a:latin typeface="Arial"/>
                        <a:cs typeface="Arial"/>
                      </a:endParaRPr>
                    </a:p>
                    <a:p>
                      <a:pPr marL="59690" marR="825500">
                        <a:lnSpc>
                          <a:spcPts val="1350"/>
                        </a:lnSpc>
                        <a:spcBef>
                          <a:spcPts val="45"/>
                        </a:spcBef>
                      </a:pPr>
                      <a:r>
                        <a:rPr dirty="0" sz="1100" spc="-5">
                          <a:latin typeface="Arial"/>
                          <a:cs typeface="Arial"/>
                        </a:rPr>
                        <a:t>Private direct foreign investment  Private loans and portfolio investments  Government and multilateral flows</a:t>
                      </a:r>
                      <a:r>
                        <a:rPr dirty="0" sz="1100" spc="50">
                          <a:latin typeface="Arial"/>
                          <a:cs typeface="Arial"/>
                        </a:rPr>
                        <a:t> </a:t>
                      </a:r>
                      <a:r>
                        <a:rPr dirty="0" sz="1100" spc="-5">
                          <a:latin typeface="Arial"/>
                          <a:cs typeface="Arial"/>
                        </a:rPr>
                        <a:t>(net)</a:t>
                      </a:r>
                      <a:endParaRPr sz="1100">
                        <a:latin typeface="Arial"/>
                        <a:cs typeface="Arial"/>
                      </a:endParaRPr>
                    </a:p>
                    <a:p>
                      <a:pPr marL="402590">
                        <a:lnSpc>
                          <a:spcPts val="1300"/>
                        </a:lnSpc>
                      </a:pPr>
                      <a:r>
                        <a:rPr dirty="0" sz="1100" spc="-5">
                          <a:latin typeface="Arial"/>
                          <a:cs typeface="Arial"/>
                        </a:rPr>
                        <a:t>Loans</a:t>
                      </a:r>
                      <a:endParaRPr sz="1100">
                        <a:latin typeface="Arial"/>
                        <a:cs typeface="Arial"/>
                      </a:endParaRPr>
                    </a:p>
                    <a:p>
                      <a:pPr marL="59690" marR="1788160" indent="342900">
                        <a:lnSpc>
                          <a:spcPct val="102299"/>
                        </a:lnSpc>
                      </a:pPr>
                      <a:r>
                        <a:rPr dirty="0" sz="1100" spc="-5">
                          <a:latin typeface="Arial"/>
                          <a:cs typeface="Arial"/>
                        </a:rPr>
                        <a:t>Debt amortization  Resident capital</a:t>
                      </a:r>
                      <a:r>
                        <a:rPr dirty="0" sz="1100" spc="-10">
                          <a:latin typeface="Arial"/>
                          <a:cs typeface="Arial"/>
                        </a:rPr>
                        <a:t> </a:t>
                      </a:r>
                      <a:r>
                        <a:rPr dirty="0" sz="1100" spc="-5">
                          <a:latin typeface="Arial"/>
                          <a:cs typeface="Arial"/>
                        </a:rPr>
                        <a:t>outflow</a:t>
                      </a:r>
                      <a:endParaRPr sz="1100">
                        <a:latin typeface="Arial"/>
                        <a:cs typeface="Arial"/>
                      </a:endParaRPr>
                    </a:p>
                    <a:p>
                      <a:pPr marL="402590">
                        <a:lnSpc>
                          <a:spcPct val="100000"/>
                        </a:lnSpc>
                        <a:spcBef>
                          <a:spcPts val="30"/>
                        </a:spcBef>
                      </a:pPr>
                      <a:r>
                        <a:rPr dirty="0" sz="1100" spc="-5">
                          <a:latin typeface="Arial"/>
                          <a:cs typeface="Arial"/>
                        </a:rPr>
                        <a:t>Balance on capital</a:t>
                      </a:r>
                      <a:r>
                        <a:rPr dirty="0" sz="1100">
                          <a:latin typeface="Arial"/>
                          <a:cs typeface="Arial"/>
                        </a:rPr>
                        <a:t> </a:t>
                      </a:r>
                      <a:r>
                        <a:rPr dirty="0" sz="1100" spc="-5">
                          <a:latin typeface="Arial"/>
                          <a:cs typeface="Arial"/>
                        </a:rPr>
                        <a:t>account</a:t>
                      </a:r>
                      <a:endParaRPr sz="1100">
                        <a:latin typeface="Arial"/>
                        <a:cs typeface="Arial"/>
                      </a:endParaRPr>
                    </a:p>
                    <a:p>
                      <a:pPr marL="745490">
                        <a:lnSpc>
                          <a:spcPct val="100000"/>
                        </a:lnSpc>
                        <a:spcBef>
                          <a:spcPts val="30"/>
                        </a:spcBef>
                      </a:pPr>
                      <a:r>
                        <a:rPr dirty="0" sz="1100" spc="-5">
                          <a:latin typeface="Arial"/>
                          <a:cs typeface="Arial"/>
                        </a:rPr>
                        <a:t>Balance on current and capital</a:t>
                      </a:r>
                      <a:r>
                        <a:rPr dirty="0" sz="1100" spc="25">
                          <a:latin typeface="Arial"/>
                          <a:cs typeface="Arial"/>
                        </a:rPr>
                        <a:t> </a:t>
                      </a:r>
                      <a:r>
                        <a:rPr dirty="0" sz="1100" spc="-5">
                          <a:latin typeface="Arial"/>
                          <a:cs typeface="Arial"/>
                        </a:rPr>
                        <a:t>accounts</a:t>
                      </a:r>
                      <a:endParaRPr sz="1100">
                        <a:latin typeface="Arial"/>
                        <a:cs typeface="Arial"/>
                      </a:endParaRPr>
                    </a:p>
                    <a:p>
                      <a:pPr marL="59690">
                        <a:lnSpc>
                          <a:spcPct val="100000"/>
                        </a:lnSpc>
                        <a:spcBef>
                          <a:spcPts val="35"/>
                        </a:spcBef>
                      </a:pPr>
                      <a:r>
                        <a:rPr dirty="0" sz="1100" spc="-5" b="1">
                          <a:solidFill>
                            <a:srgbClr val="1F497C"/>
                          </a:solidFill>
                          <a:latin typeface="Arial"/>
                          <a:cs typeface="Arial"/>
                        </a:rPr>
                        <a:t>Cash account</a:t>
                      </a:r>
                      <a:endParaRPr sz="1100">
                        <a:latin typeface="Arial"/>
                        <a:cs typeface="Arial"/>
                      </a:endParaRPr>
                    </a:p>
                    <a:p>
                      <a:pPr marL="59690" marR="655955">
                        <a:lnSpc>
                          <a:spcPts val="1350"/>
                        </a:lnSpc>
                        <a:spcBef>
                          <a:spcPts val="45"/>
                        </a:spcBef>
                      </a:pPr>
                      <a:r>
                        <a:rPr dirty="0" sz="1100" spc="-5">
                          <a:latin typeface="Arial"/>
                          <a:cs typeface="Arial"/>
                        </a:rPr>
                        <a:t>Net decrease in official monetary reserves  Balance on cash</a:t>
                      </a:r>
                      <a:r>
                        <a:rPr dirty="0" sz="1100">
                          <a:latin typeface="Arial"/>
                          <a:cs typeface="Arial"/>
                        </a:rPr>
                        <a:t> </a:t>
                      </a:r>
                      <a:r>
                        <a:rPr dirty="0" sz="1100" spc="-5">
                          <a:latin typeface="Arial"/>
                          <a:cs typeface="Arial"/>
                        </a:rPr>
                        <a:t>account</a:t>
                      </a:r>
                      <a:endParaRPr sz="1100">
                        <a:latin typeface="Arial"/>
                        <a:cs typeface="Arial"/>
                      </a:endParaR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lnT w="28575">
                      <a:solidFill>
                        <a:srgbClr val="95B3D7"/>
                      </a:solidFill>
                      <a:prstDash val="solid"/>
                    </a:lnT>
                  </a:tcPr>
                </a:tc>
                <a:tc>
                  <a:txBody>
                    <a:bodyPr/>
                    <a:lstStyle/>
                    <a:p>
                      <a:pPr>
                        <a:lnSpc>
                          <a:spcPct val="100000"/>
                        </a:lnSpc>
                      </a:pPr>
                      <a:endParaRPr sz="1000">
                        <a:latin typeface="Times New Roman"/>
                        <a:cs typeface="Times New Roman"/>
                      </a:endParaRPr>
                    </a:p>
                  </a:txBody>
                  <a:tcPr marL="0" marR="0" marB="0" marT="0">
                    <a:lnT w="28575">
                      <a:solidFill>
                        <a:srgbClr val="95B3D7"/>
                      </a:solidFill>
                      <a:prstDash val="solid"/>
                    </a:lnT>
                  </a:tcPr>
                </a:tc>
                <a:tc>
                  <a:txBody>
                    <a:bodyPr/>
                    <a:lstStyle/>
                    <a:p>
                      <a:pPr>
                        <a:lnSpc>
                          <a:spcPct val="100000"/>
                        </a:lnSpc>
                        <a:spcBef>
                          <a:spcPts val="30"/>
                        </a:spcBef>
                      </a:pPr>
                      <a:endParaRPr sz="1250">
                        <a:latin typeface="Times New Roman"/>
                        <a:cs typeface="Times New Roman"/>
                      </a:endParaRPr>
                    </a:p>
                    <a:p>
                      <a:pPr marL="359410">
                        <a:lnSpc>
                          <a:spcPts val="1295"/>
                        </a:lnSpc>
                      </a:pPr>
                      <a:r>
                        <a:rPr dirty="0" sz="1100" spc="-5">
                          <a:latin typeface="Arial"/>
                          <a:cs typeface="Arial"/>
                        </a:rPr>
                        <a:t>135</a:t>
                      </a:r>
                      <a:endParaRPr sz="1100">
                        <a:latin typeface="Arial"/>
                        <a:cs typeface="Arial"/>
                      </a:endParaRPr>
                    </a:p>
                  </a:txBody>
                  <a:tcPr marL="0" marR="0" marB="0" marT="3810">
                    <a:lnR w="28575">
                      <a:solidFill>
                        <a:srgbClr val="95B3D7"/>
                      </a:solidFill>
                      <a:prstDash val="solid"/>
                    </a:lnR>
                    <a:lnT w="28575">
                      <a:solidFill>
                        <a:srgbClr val="95B3D7"/>
                      </a:solidFill>
                      <a:prstDash val="solid"/>
                    </a:lnT>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1600">
                        <a:lnSpc>
                          <a:spcPts val="1250"/>
                        </a:lnSpc>
                      </a:pPr>
                      <a:r>
                        <a:rPr dirty="0" sz="1100" spc="-5">
                          <a:latin typeface="Arial"/>
                          <a:cs typeface="Arial"/>
                        </a:rPr>
                        <a:t>125</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1600">
                        <a:lnSpc>
                          <a:spcPts val="1250"/>
                        </a:lnSpc>
                      </a:pPr>
                      <a:r>
                        <a:rPr dirty="0" sz="1100" spc="-5">
                          <a:latin typeface="Arial"/>
                          <a:cs typeface="Arial"/>
                        </a:rPr>
                        <a:t>110</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50"/>
                        </a:lnSpc>
                      </a:pPr>
                      <a:r>
                        <a:rPr dirty="0" sz="1100" spc="-5">
                          <a:latin typeface="Arial"/>
                          <a:cs typeface="Arial"/>
                        </a:rPr>
                        <a:t>245</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0965">
                        <a:lnSpc>
                          <a:spcPts val="1250"/>
                        </a:lnSpc>
                      </a:pPr>
                      <a:r>
                        <a:rPr dirty="0" sz="1100" spc="-5">
                          <a:latin typeface="Arial"/>
                          <a:cs typeface="Arial"/>
                        </a:rPr>
                        <a:t>210</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1600">
                        <a:lnSpc>
                          <a:spcPts val="1250"/>
                        </a:lnSpc>
                      </a:pPr>
                      <a:r>
                        <a:rPr dirty="0" sz="1100" spc="-5">
                          <a:latin typeface="Arial"/>
                          <a:cs typeface="Arial"/>
                        </a:rPr>
                        <a:t>235</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60045">
                        <a:lnSpc>
                          <a:spcPts val="1250"/>
                        </a:lnSpc>
                      </a:pPr>
                      <a:r>
                        <a:rPr dirty="0" sz="1100" spc="-5">
                          <a:latin typeface="Arial"/>
                          <a:cs typeface="Arial"/>
                        </a:rPr>
                        <a:t>25</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60680">
                        <a:lnSpc>
                          <a:spcPts val="1250"/>
                        </a:lnSpc>
                      </a:pPr>
                      <a:r>
                        <a:rPr dirty="0" sz="1100" spc="-5">
                          <a:latin typeface="Arial"/>
                          <a:cs typeface="Arial"/>
                        </a:rPr>
                        <a:t>11</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60045">
                        <a:lnSpc>
                          <a:spcPts val="1250"/>
                        </a:lnSpc>
                      </a:pPr>
                      <a:r>
                        <a:rPr dirty="0" sz="1100" spc="-5">
                          <a:latin typeface="Arial"/>
                          <a:cs typeface="Arial"/>
                        </a:rPr>
                        <a:t>215</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50"/>
                        </a:lnSpc>
                      </a:pPr>
                      <a:r>
                        <a:rPr dirty="0" sz="1100" spc="-5">
                          <a:latin typeface="Arial"/>
                          <a:cs typeface="Arial"/>
                        </a:rPr>
                        <a:t>12</a:t>
                      </a:r>
                      <a:endParaRPr sz="1100">
                        <a:latin typeface="Arial"/>
                        <a:cs typeface="Arial"/>
                      </a:endParaRPr>
                    </a:p>
                  </a:txBody>
                  <a:tcPr marL="0" marR="0" marB="0" marT="0">
                    <a:lnR w="28575">
                      <a:solidFill>
                        <a:srgbClr val="95B3D7"/>
                      </a:solidFill>
                      <a:prstDash val="solid"/>
                    </a:lnR>
                  </a:tcPr>
                </a:tc>
              </a:tr>
              <a:tr h="257175">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75"/>
                        </a:lnSpc>
                      </a:pPr>
                      <a:r>
                        <a:rPr dirty="0" sz="1100" spc="-5">
                          <a:latin typeface="Arial"/>
                          <a:cs typeface="Arial"/>
                        </a:rPr>
                        <a:t>227</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257175">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60045">
                        <a:lnSpc>
                          <a:spcPts val="1295"/>
                        </a:lnSpc>
                        <a:spcBef>
                          <a:spcPts val="630"/>
                        </a:spcBef>
                      </a:pPr>
                      <a:r>
                        <a:rPr dirty="0" sz="1100" spc="-5">
                          <a:latin typeface="Arial"/>
                          <a:cs typeface="Arial"/>
                        </a:rPr>
                        <a:t>13</a:t>
                      </a:r>
                      <a:endParaRPr sz="1100">
                        <a:latin typeface="Arial"/>
                        <a:cs typeface="Arial"/>
                      </a:endParaRPr>
                    </a:p>
                  </a:txBody>
                  <a:tcPr marL="0" marR="0" marB="0" marT="8001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50"/>
                        </a:lnSpc>
                      </a:pPr>
                      <a:r>
                        <a:rPr dirty="0" sz="1100" spc="-5">
                          <a:latin typeface="Arial"/>
                          <a:cs typeface="Arial"/>
                        </a:rPr>
                        <a:t>14</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60680">
                        <a:lnSpc>
                          <a:spcPts val="1250"/>
                        </a:lnSpc>
                      </a:pPr>
                      <a:r>
                        <a:rPr dirty="0" sz="1100" spc="-5">
                          <a:latin typeface="Arial"/>
                          <a:cs typeface="Arial"/>
                        </a:rPr>
                        <a:t>13</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0965">
                        <a:lnSpc>
                          <a:spcPts val="1250"/>
                        </a:lnSpc>
                      </a:pPr>
                      <a:r>
                        <a:rPr dirty="0" sz="1100" spc="-5">
                          <a:latin typeface="Arial"/>
                          <a:cs typeface="Arial"/>
                        </a:rPr>
                        <a:t>19</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marL="101600">
                        <a:lnSpc>
                          <a:spcPts val="1250"/>
                        </a:lnSpc>
                      </a:pPr>
                      <a:r>
                        <a:rPr dirty="0" sz="1100" spc="-5">
                          <a:latin typeface="Arial"/>
                          <a:cs typeface="Arial"/>
                        </a:rPr>
                        <a:t>26</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50"/>
                        </a:lnSpc>
                      </a:pPr>
                      <a:r>
                        <a:rPr dirty="0" sz="1100" spc="-5">
                          <a:latin typeface="Arial"/>
                          <a:cs typeface="Arial"/>
                        </a:rPr>
                        <a:t>28</a:t>
                      </a:r>
                      <a:endParaRPr sz="1100">
                        <a:latin typeface="Arial"/>
                        <a:cs typeface="Arial"/>
                      </a:endParaRPr>
                    </a:p>
                  </a:txBody>
                  <a:tcPr marL="0" marR="0" marB="0" marT="0">
                    <a:lnR w="28575">
                      <a:solidFill>
                        <a:srgbClr val="95B3D7"/>
                      </a:solidFill>
                      <a:prstDash val="solid"/>
                    </a:lnR>
                  </a:tcPr>
                </a:tc>
              </a:tr>
              <a:tr h="171450">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50"/>
                        </a:lnSpc>
                      </a:pPr>
                      <a:r>
                        <a:rPr dirty="0" sz="1100" spc="-5">
                          <a:latin typeface="Arial"/>
                          <a:cs typeface="Arial"/>
                        </a:rPr>
                        <a:t>12</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257175">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75"/>
                        </a:lnSpc>
                      </a:pPr>
                      <a:r>
                        <a:rPr dirty="0" sz="1100" spc="-5">
                          <a:latin typeface="Arial"/>
                          <a:cs typeface="Arial"/>
                        </a:rPr>
                        <a:t>225</a:t>
                      </a:r>
                      <a:endParaRPr sz="1100">
                        <a:latin typeface="Arial"/>
                        <a:cs typeface="Arial"/>
                      </a:endParaRPr>
                    </a:p>
                  </a:txBody>
                  <a:tcPr marL="0" marR="0" marB="0" marT="0"/>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tcPr>
                </a:tc>
              </a:tr>
              <a:tr h="257175">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tc>
                <a:tc>
                  <a:txBody>
                    <a:bodyPr/>
                    <a:lstStyle/>
                    <a:p>
                      <a:pPr>
                        <a:lnSpc>
                          <a:spcPct val="100000"/>
                        </a:lnSpc>
                      </a:pPr>
                      <a:endParaRPr sz="1000">
                        <a:latin typeface="Times New Roman"/>
                        <a:cs typeface="Times New Roman"/>
                      </a:endParaRPr>
                    </a:p>
                  </a:txBody>
                  <a:tcPr marL="0" marR="0" marB="0" marT="0"/>
                </a:tc>
                <a:tc>
                  <a:txBody>
                    <a:bodyPr/>
                    <a:lstStyle/>
                    <a:p>
                      <a:pPr marL="359410">
                        <a:lnSpc>
                          <a:spcPts val="1295"/>
                        </a:lnSpc>
                        <a:spcBef>
                          <a:spcPts val="630"/>
                        </a:spcBef>
                      </a:pPr>
                      <a:r>
                        <a:rPr dirty="0" sz="1100" spc="-5">
                          <a:latin typeface="Arial"/>
                          <a:cs typeface="Arial"/>
                        </a:rPr>
                        <a:t>125</a:t>
                      </a:r>
                      <a:endParaRPr sz="1100">
                        <a:latin typeface="Arial"/>
                        <a:cs typeface="Arial"/>
                      </a:endParaRPr>
                    </a:p>
                  </a:txBody>
                  <a:tcPr marL="0" marR="0" marB="0" marT="80010">
                    <a:lnR w="28575">
                      <a:solidFill>
                        <a:srgbClr val="95B3D7"/>
                      </a:solidFill>
                      <a:prstDash val="solid"/>
                    </a:lnR>
                  </a:tcPr>
                </a:tc>
              </a:tr>
              <a:tr h="179407">
                <a:tc vMerge="1">
                  <a:txBody>
                    <a:bodyPr/>
                    <a:lstStyle/>
                    <a:p>
                      <a:pPr/>
                    </a:p>
                  </a:txBody>
                  <a:tcPr marL="0" marR="0" marB="0" marT="15875">
                    <a:lnL w="28575">
                      <a:solidFill>
                        <a:srgbClr val="95B3D7"/>
                      </a:solidFill>
                      <a:prstDash val="solid"/>
                    </a:lnL>
                    <a:lnT w="28575">
                      <a:solidFill>
                        <a:srgbClr val="95B3D7"/>
                      </a:solidFill>
                      <a:prstDash val="solid"/>
                    </a:lnT>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lnB w="28575">
                      <a:solidFill>
                        <a:srgbClr val="95B3D7"/>
                      </a:solidFill>
                      <a:prstDash val="solid"/>
                    </a:lnB>
                  </a:tcPr>
                </a:tc>
                <a:tc>
                  <a:txBody>
                    <a:bodyPr/>
                    <a:lstStyle/>
                    <a:p>
                      <a:pPr marL="359410">
                        <a:lnSpc>
                          <a:spcPts val="1275"/>
                        </a:lnSpc>
                      </a:pPr>
                      <a:r>
                        <a:rPr dirty="0" sz="1100" spc="-5">
                          <a:latin typeface="Arial"/>
                          <a:cs typeface="Arial"/>
                        </a:rPr>
                        <a:t>125</a:t>
                      </a:r>
                      <a:endParaRPr sz="1100">
                        <a:latin typeface="Arial"/>
                        <a:cs typeface="Arial"/>
                      </a:endParaRPr>
                    </a:p>
                  </a:txBody>
                  <a:tcPr marL="0" marR="0" marB="0" marT="0">
                    <a:lnB w="28575">
                      <a:solidFill>
                        <a:srgbClr val="95B3D7"/>
                      </a:solidFill>
                      <a:prstDash val="solid"/>
                    </a:lnB>
                  </a:tcPr>
                </a:tc>
                <a:tc>
                  <a:txBody>
                    <a:bodyPr/>
                    <a:lstStyle/>
                    <a:p>
                      <a:pPr>
                        <a:lnSpc>
                          <a:spcPct val="100000"/>
                        </a:lnSpc>
                      </a:pPr>
                      <a:endParaRPr sz="1000">
                        <a:latin typeface="Times New Roman"/>
                        <a:cs typeface="Times New Roman"/>
                      </a:endParaRPr>
                    </a:p>
                  </a:txBody>
                  <a:tcPr marL="0" marR="0" marB="0" marT="0">
                    <a:lnR w="28575">
                      <a:solidFill>
                        <a:srgbClr val="95B3D7"/>
                      </a:solidFill>
                      <a:prstDash val="solid"/>
                    </a:lnR>
                    <a:lnB w="28575">
                      <a:solidFill>
                        <a:srgbClr val="95B3D7"/>
                      </a:solidFill>
                      <a:prstDash val="solid"/>
                    </a:lnB>
                  </a:tcPr>
                </a:tc>
              </a:tr>
            </a:tbl>
          </a:graphicData>
        </a:graphic>
      </p:graphicFrame>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388874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Turning now to the </a:t>
            </a:r>
            <a:r>
              <a:rPr dirty="0" sz="1100" spc="-5" i="1">
                <a:latin typeface="Arial"/>
                <a:cs typeface="Arial"/>
              </a:rPr>
              <a:t>capital account</a:t>
            </a:r>
            <a:r>
              <a:rPr dirty="0" sz="1100" spc="-5">
                <a:latin typeface="Arial"/>
                <a:cs typeface="Arial"/>
              </a:rPr>
              <a:t>, we see that there is a net inflow of $7 million of foreign  private investment, consisting of $3 million of </a:t>
            </a:r>
            <a:r>
              <a:rPr dirty="0" sz="1100">
                <a:latin typeface="Arial"/>
                <a:cs typeface="Arial"/>
              </a:rPr>
              <a:t>direct </a:t>
            </a:r>
            <a:r>
              <a:rPr dirty="0" sz="1100" spc="-5">
                <a:latin typeface="Arial"/>
                <a:cs typeface="Arial"/>
              </a:rPr>
              <a:t>investment from multinational corporations  in the form of new local factories and $4 million in private loans (from international commercial  banks) and private portfolio (stock and bond) investments by foreign individuals and mutual  funds (see Chapter 14). There is also a net positive $3 million inflow of public loans in the form  of foreign aid and multilateral agency</a:t>
            </a:r>
            <a:r>
              <a:rPr dirty="0" sz="1100" spc="30">
                <a:latin typeface="Arial"/>
                <a:cs typeface="Arial"/>
              </a:rPr>
              <a:t> </a:t>
            </a:r>
            <a:r>
              <a:rPr dirty="0" sz="1100" spc="-5">
                <a:latin typeface="Arial"/>
                <a:cs typeface="Arial"/>
              </a:rPr>
              <a:t>assistance.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Note that the gross </a:t>
            </a:r>
            <a:r>
              <a:rPr dirty="0" sz="1100" spc="-5" i="1">
                <a:latin typeface="Arial"/>
                <a:cs typeface="Arial"/>
              </a:rPr>
              <a:t>inflow </a:t>
            </a:r>
            <a:r>
              <a:rPr dirty="0" sz="1100" spc="-5">
                <a:latin typeface="Arial"/>
                <a:cs typeface="Arial"/>
              </a:rPr>
              <a:t>of $9 million in public loans and grants is partly offset by a $6 million  capital </a:t>
            </a:r>
            <a:r>
              <a:rPr dirty="0" sz="1100" spc="-5" i="1">
                <a:latin typeface="Arial"/>
                <a:cs typeface="Arial"/>
              </a:rPr>
              <a:t>outflow </a:t>
            </a:r>
            <a:r>
              <a:rPr dirty="0" sz="1100" spc="-5">
                <a:latin typeface="Arial"/>
                <a:cs typeface="Arial"/>
              </a:rPr>
              <a:t>representing </a:t>
            </a:r>
            <a:r>
              <a:rPr dirty="0" sz="1100" spc="-5" b="1">
                <a:latin typeface="Arial"/>
                <a:cs typeface="Arial"/>
              </a:rPr>
              <a:t>amortization </a:t>
            </a:r>
            <a:r>
              <a:rPr dirty="0" sz="1100" spc="-5">
                <a:latin typeface="Arial"/>
                <a:cs typeface="Arial"/>
              </a:rPr>
              <a:t>(gradual reduction) of the principal on former loans.  However, as shown in Table 13.4, which covers the 1980s debt crisis period, these figures were  reversed in the 1980s—the outflow to repay accumulated debts exceeded the inflow of </a:t>
            </a:r>
            <a:r>
              <a:rPr dirty="0" sz="1100" spc="-5" i="1">
                <a:latin typeface="Arial"/>
                <a:cs typeface="Arial"/>
              </a:rPr>
              <a:t>both  </a:t>
            </a:r>
            <a:r>
              <a:rPr dirty="0" sz="1100" spc="-5">
                <a:latin typeface="Arial"/>
                <a:cs typeface="Arial"/>
              </a:rPr>
              <a:t>public aid and new refinancing bank loans. As a result, a $35.9 billion net transfer from  developed to developing countries in 1981 became a $22.5 billion transfer from poor to rich  nations by 1990 (they turned positive again in the 1990s until substantial new problems  emerged for some countries between 1997 and 2002). Returning to Table 13.3, we see that a  major reason for the perverse flow of financial capital from poor to rich nations was very high  levels of resident capital outflow. This capital flight is estimated to have amounted to</a:t>
            </a:r>
            <a:r>
              <a:rPr dirty="0" sz="1100" spc="-40">
                <a:latin typeface="Arial"/>
                <a:cs typeface="Arial"/>
              </a:rPr>
              <a:t> </a:t>
            </a:r>
            <a:r>
              <a:rPr dirty="0" sz="1100" spc="-5">
                <a:latin typeface="Arial"/>
                <a:cs typeface="Arial"/>
              </a:rPr>
              <a:t>almost</a:t>
            </a:r>
            <a:endParaRPr sz="1100">
              <a:latin typeface="Arial"/>
              <a:cs typeface="Arial"/>
            </a:endParaRPr>
          </a:p>
          <a:p>
            <a:pPr algn="just" marL="12700" marR="5080">
              <a:lnSpc>
                <a:spcPct val="95800"/>
              </a:lnSpc>
            </a:pPr>
            <a:r>
              <a:rPr dirty="0" sz="1100" spc="-5">
                <a:latin typeface="Arial"/>
                <a:cs typeface="Arial"/>
              </a:rPr>
              <a:t>$100 billion during the first half of the 1980s from just five of the principal countries involved  (Argentina, Brazil, Mexico, the Philippines, and Venezuela) and almost $200 billion over the  period 1976–1985. In Table 13.3, it is listed as an outflow of $8 million. The net result is a $2  million positive balance on capital account, bringing the total balance on current and capital  accounts to a deficit of $25</a:t>
            </a:r>
            <a:r>
              <a:rPr dirty="0" sz="1100" spc="20">
                <a:latin typeface="Arial"/>
                <a:cs typeface="Arial"/>
              </a:rPr>
              <a:t> </a:t>
            </a:r>
            <a:r>
              <a:rPr dirty="0" sz="1100" spc="-5">
                <a:latin typeface="Arial"/>
                <a:cs typeface="Arial"/>
              </a:rPr>
              <a:t>million.</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ISSUE OF PAYMENTS</a:t>
            </a:r>
            <a:r>
              <a:rPr dirty="0" sz="1100" spc="20" b="1">
                <a:latin typeface="Arial"/>
                <a:cs typeface="Arial"/>
              </a:rPr>
              <a:t> </a:t>
            </a:r>
            <a:r>
              <a:rPr dirty="0" sz="1100" spc="-5" b="1">
                <a:latin typeface="Arial"/>
                <a:cs typeface="Arial"/>
              </a:rPr>
              <a:t>DEFICITS</a:t>
            </a:r>
            <a:endParaRPr sz="1100">
              <a:latin typeface="Arial"/>
              <a:cs typeface="Arial"/>
            </a:endParaRPr>
          </a:p>
        </p:txBody>
      </p:sp>
      <p:sp>
        <p:nvSpPr>
          <p:cNvPr id="7" name="object 7"/>
          <p:cNvSpPr txBox="1"/>
          <p:nvPr/>
        </p:nvSpPr>
        <p:spPr>
          <a:xfrm>
            <a:off x="901686" y="8427177"/>
            <a:ext cx="5969635" cy="68834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SOME INITIAL POLICY</a:t>
            </a:r>
            <a:r>
              <a:rPr dirty="0" sz="1100" spc="10" b="1">
                <a:latin typeface="Arial"/>
                <a:cs typeface="Arial"/>
              </a:rPr>
              <a:t> </a:t>
            </a:r>
            <a:r>
              <a:rPr dirty="0" sz="1100" spc="-5" b="1">
                <a:latin typeface="Arial"/>
                <a:cs typeface="Arial"/>
              </a:rPr>
              <a:t>ISSUES</a:t>
            </a:r>
            <a:endParaRPr sz="1100">
              <a:latin typeface="Arial"/>
              <a:cs typeface="Arial"/>
            </a:endParaRPr>
          </a:p>
          <a:p>
            <a:pPr>
              <a:lnSpc>
                <a:spcPct val="100000"/>
              </a:lnSpc>
              <a:spcBef>
                <a:spcPts val="20"/>
              </a:spcBef>
            </a:pPr>
            <a:endParaRPr sz="1200">
              <a:latin typeface="Arial"/>
              <a:cs typeface="Arial"/>
            </a:endParaRPr>
          </a:p>
          <a:p>
            <a:pPr marL="12700" marR="5080">
              <a:lnSpc>
                <a:spcPts val="1270"/>
              </a:lnSpc>
            </a:pPr>
            <a:r>
              <a:rPr dirty="0" sz="1100" spc="-5">
                <a:latin typeface="Arial"/>
                <a:cs typeface="Arial"/>
              </a:rPr>
              <a:t>To finance this $25 million negative balance on combined current and capital accounts, our  hypothetical</a:t>
            </a:r>
            <a:r>
              <a:rPr dirty="0" sz="1100" spc="140">
                <a:latin typeface="Arial"/>
                <a:cs typeface="Arial"/>
              </a:rPr>
              <a:t> </a:t>
            </a:r>
            <a:r>
              <a:rPr dirty="0" sz="1100" spc="-5">
                <a:latin typeface="Arial"/>
                <a:cs typeface="Arial"/>
              </a:rPr>
              <a:t>country</a:t>
            </a:r>
            <a:r>
              <a:rPr dirty="0" sz="1100" spc="150">
                <a:latin typeface="Arial"/>
                <a:cs typeface="Arial"/>
              </a:rPr>
              <a:t> </a:t>
            </a:r>
            <a:r>
              <a:rPr dirty="0" sz="1100" spc="-5">
                <a:latin typeface="Arial"/>
                <a:cs typeface="Arial"/>
              </a:rPr>
              <a:t>will</a:t>
            </a:r>
            <a:r>
              <a:rPr dirty="0" sz="1100" spc="150">
                <a:latin typeface="Arial"/>
                <a:cs typeface="Arial"/>
              </a:rPr>
              <a:t> </a:t>
            </a:r>
            <a:r>
              <a:rPr dirty="0" sz="1100" spc="-5">
                <a:latin typeface="Arial"/>
                <a:cs typeface="Arial"/>
              </a:rPr>
              <a:t>have</a:t>
            </a:r>
            <a:r>
              <a:rPr dirty="0" sz="1100" spc="150">
                <a:latin typeface="Arial"/>
                <a:cs typeface="Arial"/>
              </a:rPr>
              <a:t> </a:t>
            </a:r>
            <a:r>
              <a:rPr dirty="0" sz="1100" spc="-5">
                <a:latin typeface="Arial"/>
                <a:cs typeface="Arial"/>
              </a:rPr>
              <a:t>to</a:t>
            </a:r>
            <a:r>
              <a:rPr dirty="0" sz="1100" spc="150">
                <a:latin typeface="Arial"/>
                <a:cs typeface="Arial"/>
              </a:rPr>
              <a:t> </a:t>
            </a:r>
            <a:r>
              <a:rPr dirty="0" sz="1100" spc="-5">
                <a:latin typeface="Arial"/>
                <a:cs typeface="Arial"/>
              </a:rPr>
              <a:t>draw</a:t>
            </a:r>
            <a:r>
              <a:rPr dirty="0" sz="1100" spc="150">
                <a:latin typeface="Arial"/>
                <a:cs typeface="Arial"/>
              </a:rPr>
              <a:t> </a:t>
            </a:r>
            <a:r>
              <a:rPr dirty="0" sz="1100" spc="-5">
                <a:latin typeface="Arial"/>
                <a:cs typeface="Arial"/>
              </a:rPr>
              <a:t>down</a:t>
            </a:r>
            <a:r>
              <a:rPr dirty="0" sz="1100" spc="150">
                <a:latin typeface="Arial"/>
                <a:cs typeface="Arial"/>
              </a:rPr>
              <a:t> </a:t>
            </a:r>
            <a:r>
              <a:rPr dirty="0" sz="1100">
                <a:latin typeface="Arial"/>
                <a:cs typeface="Arial"/>
              </a:rPr>
              <a:t>$25</a:t>
            </a:r>
            <a:r>
              <a:rPr dirty="0" sz="1100" spc="150">
                <a:latin typeface="Arial"/>
                <a:cs typeface="Arial"/>
              </a:rPr>
              <a:t> </a:t>
            </a:r>
            <a:r>
              <a:rPr dirty="0" sz="1100" spc="-5">
                <a:latin typeface="Arial"/>
                <a:cs typeface="Arial"/>
              </a:rPr>
              <a:t>million</a:t>
            </a:r>
            <a:r>
              <a:rPr dirty="0" sz="1100" spc="150">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its</a:t>
            </a:r>
            <a:r>
              <a:rPr dirty="0" sz="1100" spc="150">
                <a:latin typeface="Arial"/>
                <a:cs typeface="Arial"/>
              </a:rPr>
              <a:t> </a:t>
            </a:r>
            <a:r>
              <a:rPr dirty="0" sz="1100" spc="-5">
                <a:latin typeface="Arial"/>
                <a:cs typeface="Arial"/>
              </a:rPr>
              <a:t>central</a:t>
            </a:r>
            <a:r>
              <a:rPr dirty="0" sz="1100" spc="145">
                <a:latin typeface="Arial"/>
                <a:cs typeface="Arial"/>
              </a:rPr>
              <a:t> </a:t>
            </a:r>
            <a:r>
              <a:rPr dirty="0" sz="1100" spc="-5">
                <a:latin typeface="Arial"/>
                <a:cs typeface="Arial"/>
              </a:rPr>
              <a:t>bank</a:t>
            </a:r>
            <a:r>
              <a:rPr dirty="0" sz="1100" spc="150">
                <a:latin typeface="Arial"/>
                <a:cs typeface="Arial"/>
              </a:rPr>
              <a:t> </a:t>
            </a:r>
            <a:r>
              <a:rPr dirty="0" sz="1100" spc="-5">
                <a:latin typeface="Arial"/>
                <a:cs typeface="Arial"/>
              </a:rPr>
              <a:t>holdings</a:t>
            </a:r>
            <a:r>
              <a:rPr dirty="0" sz="1100" spc="155">
                <a:latin typeface="Arial"/>
                <a:cs typeface="Arial"/>
              </a:rPr>
              <a:t> </a:t>
            </a:r>
            <a:r>
              <a:rPr dirty="0" sz="1100" spc="-5">
                <a:latin typeface="Arial"/>
                <a:cs typeface="Arial"/>
              </a:rPr>
              <a:t>of</a:t>
            </a:r>
            <a:r>
              <a:rPr dirty="0" sz="1100" spc="150">
                <a:latin typeface="Arial"/>
                <a:cs typeface="Arial"/>
              </a:rPr>
              <a:t> </a:t>
            </a:r>
            <a:r>
              <a:rPr dirty="0" sz="1100" spc="-5">
                <a:latin typeface="Arial"/>
                <a:cs typeface="Arial"/>
              </a:rPr>
              <a:t>official</a:t>
            </a:r>
            <a:endParaRPr sz="1100">
              <a:latin typeface="Arial"/>
              <a:cs typeface="Arial"/>
            </a:endParaRPr>
          </a:p>
        </p:txBody>
      </p:sp>
      <p:sp>
        <p:nvSpPr>
          <p:cNvPr id="8" name="object 8"/>
          <p:cNvSpPr/>
          <p:nvPr/>
        </p:nvSpPr>
        <p:spPr>
          <a:xfrm>
            <a:off x="933450" y="4848605"/>
            <a:ext cx="5934456" cy="360045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278</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25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monetary reserves. Such reserves consist of gold, a few major foreign currencies, and special  drawing rights at the IMF (these will be explained shortly). </a:t>
            </a:r>
            <a:r>
              <a:rPr dirty="0" sz="1100" spc="-5" b="1">
                <a:latin typeface="Arial"/>
                <a:cs typeface="Arial"/>
              </a:rPr>
              <a:t>International reserves </a:t>
            </a:r>
            <a:r>
              <a:rPr dirty="0" sz="1100" spc="-5">
                <a:latin typeface="Arial"/>
                <a:cs typeface="Arial"/>
              </a:rPr>
              <a:t>serve for  countries the same purpose that bank accounts serve for individuals. They can </a:t>
            </a:r>
            <a:r>
              <a:rPr dirty="0" sz="1100">
                <a:latin typeface="Arial"/>
                <a:cs typeface="Arial"/>
              </a:rPr>
              <a:t>be </a:t>
            </a:r>
            <a:r>
              <a:rPr dirty="0" sz="1100" spc="-5">
                <a:latin typeface="Arial"/>
                <a:cs typeface="Arial"/>
              </a:rPr>
              <a:t>drawn on to  pay bills and debts, they are increased with deposits representing net export sales and capital  inflows, and they can be used as collateral to borrow additional</a:t>
            </a:r>
            <a:r>
              <a:rPr dirty="0" sz="1100" spc="75">
                <a:latin typeface="Arial"/>
                <a:cs typeface="Arial"/>
              </a:rPr>
              <a:t> </a:t>
            </a:r>
            <a:r>
              <a:rPr dirty="0" sz="1100" spc="-5">
                <a:latin typeface="Arial"/>
                <a:cs typeface="Arial"/>
              </a:rPr>
              <a:t>reserves.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We see, therefore, that the balance on current account </a:t>
            </a:r>
            <a:r>
              <a:rPr dirty="0" sz="1100" spc="-5" i="1">
                <a:latin typeface="Arial"/>
                <a:cs typeface="Arial"/>
              </a:rPr>
              <a:t>plus </a:t>
            </a:r>
            <a:r>
              <a:rPr dirty="0" sz="1100" spc="-5">
                <a:latin typeface="Arial"/>
                <a:cs typeface="Arial"/>
              </a:rPr>
              <a:t>the balance on capital account must  be offset by the balance on cash account. This is shown by the net </a:t>
            </a:r>
            <a:r>
              <a:rPr dirty="0" sz="1100" spc="-5" i="1">
                <a:latin typeface="Arial"/>
                <a:cs typeface="Arial"/>
              </a:rPr>
              <a:t>decrease </a:t>
            </a:r>
            <a:r>
              <a:rPr dirty="0" sz="1100" spc="-5">
                <a:latin typeface="Arial"/>
                <a:cs typeface="Arial"/>
              </a:rPr>
              <a:t>of $25 million in  official monetary reserves. If the country is very poor, it is likely to have a very limited stock of  these reserves. This overall balance of payments deficit of $25 million may therefore place  severe strains on the economy </a:t>
            </a:r>
            <a:r>
              <a:rPr dirty="0" sz="1100">
                <a:latin typeface="Arial"/>
                <a:cs typeface="Arial"/>
              </a:rPr>
              <a:t>and </a:t>
            </a:r>
            <a:r>
              <a:rPr dirty="0" sz="1100" spc="-5">
                <a:latin typeface="Arial"/>
                <a:cs typeface="Arial"/>
              </a:rPr>
              <a:t>greatly inhibit the country’s ability to continue importing  needed capital and consumer goods. In the least developed nations of the world, which have to  import food to feed a hungry population and possess limited monetary reserves, such payments  deficits may spell disaster for millions of</a:t>
            </a:r>
            <a:r>
              <a:rPr dirty="0" sz="1100" spc="35">
                <a:latin typeface="Arial"/>
                <a:cs typeface="Arial"/>
              </a:rPr>
              <a:t> </a:t>
            </a:r>
            <a:r>
              <a:rPr dirty="0" sz="1100" spc="-5">
                <a:latin typeface="Arial"/>
                <a:cs typeface="Arial"/>
              </a:rPr>
              <a:t>people.</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Facing existing or projected balance of payments deficits on combined current and capital  accounts, developing nations have a variety of policy options. For one thing, they can seek to  improve the balance on current account by promoting export expansion or limiting imports (or  both). In the former case, there is the further choice of concentrating on primary or secondary  product export expansion. In the latter case, policies of import substitution (the protection and  stimulus of domestic industries to replace previously imported manufactured goods in the local  market) or selective tariffs and physical quotas or bans on the importation of specific consumer  goods may be tried. Or countries can seek to achieve both objectives simultaneously </a:t>
            </a:r>
            <a:r>
              <a:rPr dirty="0" sz="1100">
                <a:latin typeface="Arial"/>
                <a:cs typeface="Arial"/>
              </a:rPr>
              <a:t>by </a:t>
            </a:r>
            <a:r>
              <a:rPr dirty="0" sz="1100" spc="-5">
                <a:latin typeface="Arial"/>
                <a:cs typeface="Arial"/>
              </a:rPr>
              <a:t>altering  their official foreign exchange rates through a currency devaluation that lowers export prices  and increases import</a:t>
            </a:r>
            <a:r>
              <a:rPr dirty="0" sz="1100" spc="10">
                <a:latin typeface="Arial"/>
                <a:cs typeface="Arial"/>
              </a:rPr>
              <a:t> </a:t>
            </a:r>
            <a:r>
              <a:rPr dirty="0" sz="1100" spc="-5">
                <a:latin typeface="Arial"/>
                <a:cs typeface="Arial"/>
              </a:rPr>
              <a:t>prices.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Alternatively or concurrently, they </a:t>
            </a:r>
            <a:r>
              <a:rPr dirty="0" sz="1100">
                <a:latin typeface="Arial"/>
                <a:cs typeface="Arial"/>
              </a:rPr>
              <a:t>can </a:t>
            </a:r>
            <a:r>
              <a:rPr dirty="0" sz="1100" spc="-5">
                <a:latin typeface="Arial"/>
                <a:cs typeface="Arial"/>
              </a:rPr>
              <a:t>seek loans and assistance from </a:t>
            </a:r>
            <a:r>
              <a:rPr dirty="0" sz="1100">
                <a:latin typeface="Arial"/>
                <a:cs typeface="Arial"/>
              </a:rPr>
              <a:t>the </a:t>
            </a:r>
            <a:r>
              <a:rPr dirty="0" sz="1100" spc="-5">
                <a:latin typeface="Arial"/>
                <a:cs typeface="Arial"/>
              </a:rPr>
              <a:t>World Bank or the  IMF. Traditionally, this has required that the countries follow very restrictive fiscal and monetary  policies. These have been called </a:t>
            </a:r>
            <a:r>
              <a:rPr dirty="0" sz="1100" spc="-5" i="1">
                <a:latin typeface="Arial"/>
                <a:cs typeface="Arial"/>
              </a:rPr>
              <a:t>stabilization policies </a:t>
            </a:r>
            <a:r>
              <a:rPr dirty="0" sz="1100" spc="-5">
                <a:latin typeface="Arial"/>
                <a:cs typeface="Arial"/>
              </a:rPr>
              <a:t>by the IMF; and termed </a:t>
            </a:r>
            <a:r>
              <a:rPr dirty="0" sz="1100" spc="-5" i="1">
                <a:latin typeface="Arial"/>
                <a:cs typeface="Arial"/>
              </a:rPr>
              <a:t>structural  </a:t>
            </a:r>
            <a:r>
              <a:rPr dirty="0" sz="1100" spc="-5" i="1">
                <a:latin typeface="Arial"/>
                <a:cs typeface="Arial"/>
              </a:rPr>
              <a:t>adjustment </a:t>
            </a:r>
            <a:r>
              <a:rPr dirty="0" sz="1100" spc="-5">
                <a:latin typeface="Arial"/>
                <a:cs typeface="Arial"/>
              </a:rPr>
              <a:t>by the World Bank (see Box 13.2), which has made </a:t>
            </a:r>
            <a:r>
              <a:rPr dirty="0" sz="1100" spc="-5" b="1">
                <a:latin typeface="Arial"/>
                <a:cs typeface="Arial"/>
              </a:rPr>
              <a:t>structural adjustment </a:t>
            </a:r>
            <a:r>
              <a:rPr dirty="0" sz="1100" b="1">
                <a:latin typeface="Arial"/>
                <a:cs typeface="Arial"/>
              </a:rPr>
              <a:t>loans  </a:t>
            </a:r>
            <a:r>
              <a:rPr dirty="0" sz="1100" spc="-5">
                <a:latin typeface="Arial"/>
                <a:cs typeface="Arial"/>
              </a:rPr>
              <a:t>as part of this process. </a:t>
            </a:r>
            <a:r>
              <a:rPr dirty="0" sz="1100" spc="-5" i="1">
                <a:latin typeface="Arial"/>
                <a:cs typeface="Arial"/>
              </a:rPr>
              <a:t>Stabilization policies </a:t>
            </a:r>
            <a:r>
              <a:rPr dirty="0" sz="1100" spc="-5">
                <a:latin typeface="Arial"/>
                <a:cs typeface="Arial"/>
              </a:rPr>
              <a:t>and </a:t>
            </a:r>
            <a:r>
              <a:rPr dirty="0" sz="1100" spc="-5" i="1">
                <a:latin typeface="Arial"/>
                <a:cs typeface="Arial"/>
              </a:rPr>
              <a:t>structural adjustment</a:t>
            </a:r>
            <a:r>
              <a:rPr dirty="0" sz="1100" spc="-5">
                <a:latin typeface="Arial"/>
                <a:cs typeface="Arial"/>
              </a:rPr>
              <a:t>, both packages of  preconditions for receiving loans, are popularly referred to as </a:t>
            </a:r>
            <a:r>
              <a:rPr dirty="0" sz="1100" spc="-5" b="1">
                <a:latin typeface="Arial"/>
                <a:cs typeface="Arial"/>
              </a:rPr>
              <a:t>conditionality</a:t>
            </a:r>
            <a:r>
              <a:rPr dirty="0" sz="1100" spc="-5">
                <a:latin typeface="Arial"/>
                <a:cs typeface="Arial"/>
              </a:rPr>
              <a:t>. These policies are  designed to reduce domestic demand so as to lower imports and reduce the inflationary  pressures that may have contributed to the “overvalued” exchange rate that slowed exports and  promoted imports. In recent years, these institutions have shown somewhat less policy  inflexibility, but it is not yet clear whether this trend will</a:t>
            </a:r>
            <a:r>
              <a:rPr dirty="0" sz="1100" spc="55">
                <a:latin typeface="Arial"/>
                <a:cs typeface="Arial"/>
              </a:rPr>
              <a:t> </a:t>
            </a:r>
            <a:r>
              <a:rPr dirty="0" sz="1100" spc="-5">
                <a:latin typeface="Arial"/>
                <a:cs typeface="Arial"/>
              </a:rPr>
              <a:t>continue.</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In addition, developing countries can try to improve the balance on their capital account by  encouraging more private foreign direct or portfolio investment, borrowing from international  commercial banks, or seeking more public foreign assistance (aid). But neither private foreign  investment nor a majority of foreign aid comes in the form </a:t>
            </a:r>
            <a:r>
              <a:rPr dirty="0" sz="1100">
                <a:latin typeface="Arial"/>
                <a:cs typeface="Arial"/>
              </a:rPr>
              <a:t>of </a:t>
            </a:r>
            <a:r>
              <a:rPr dirty="0" sz="1100" spc="-5">
                <a:latin typeface="Arial"/>
                <a:cs typeface="Arial"/>
              </a:rPr>
              <a:t>gifts (outright grants). The receipt  of loan assistance implies the necessity of future repayments of principal and interest. Directly  productive foreign investments in, say, building local factories entail the potential repatriation of  sizable proportions of the profits of the foreign owned enterprise. As shown in Chapter 14, the  encouragement of private foreign investment </a:t>
            </a:r>
            <a:r>
              <a:rPr dirty="0" sz="1100">
                <a:latin typeface="Arial"/>
                <a:cs typeface="Arial"/>
              </a:rPr>
              <a:t>has </a:t>
            </a:r>
            <a:r>
              <a:rPr dirty="0" sz="1100" spc="-5">
                <a:latin typeface="Arial"/>
                <a:cs typeface="Arial"/>
              </a:rPr>
              <a:t>broader development implications than the  mere transfer of financial or physical capital</a:t>
            </a:r>
            <a:r>
              <a:rPr dirty="0" sz="1100" spc="35">
                <a:latin typeface="Arial"/>
                <a:cs typeface="Arial"/>
              </a:rPr>
              <a:t> </a:t>
            </a:r>
            <a:r>
              <a:rPr dirty="0" sz="1100" spc="-5">
                <a:latin typeface="Arial"/>
                <a:cs typeface="Arial"/>
              </a:rPr>
              <a:t>resources.</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spcBef>
                <a:spcPts val="5"/>
              </a:spcBef>
            </a:pPr>
            <a:r>
              <a:rPr dirty="0" sz="1100" spc="-5">
                <a:latin typeface="Arial"/>
                <a:cs typeface="Arial"/>
              </a:rPr>
              <a:t>Finally, developing nations can seek to modify the detrimental impact of chronic balance of  payments deficits by expanding their stocks of official monetary reserves. One way </a:t>
            </a:r>
            <a:r>
              <a:rPr dirty="0" sz="1100">
                <a:latin typeface="Arial"/>
                <a:cs typeface="Arial"/>
              </a:rPr>
              <a:t>of </a:t>
            </a:r>
            <a:r>
              <a:rPr dirty="0" sz="1100" spc="-5">
                <a:latin typeface="Arial"/>
                <a:cs typeface="Arial"/>
              </a:rPr>
              <a:t>doing this  is through the acquisition of a greater share of international “paper gold” known as </a:t>
            </a:r>
            <a:r>
              <a:rPr dirty="0" sz="1100" spc="-5" b="1">
                <a:latin typeface="Arial"/>
                <a:cs typeface="Arial"/>
              </a:rPr>
              <a:t>special  </a:t>
            </a:r>
            <a:r>
              <a:rPr dirty="0" sz="1100" b="1">
                <a:latin typeface="Arial"/>
                <a:cs typeface="Arial"/>
              </a:rPr>
              <a:t>drawing</a:t>
            </a:r>
            <a:r>
              <a:rPr dirty="0" sz="1100" spc="55" b="1">
                <a:latin typeface="Arial"/>
                <a:cs typeface="Arial"/>
              </a:rPr>
              <a:t> </a:t>
            </a:r>
            <a:r>
              <a:rPr dirty="0" sz="1100" spc="-5" b="1">
                <a:latin typeface="Arial"/>
                <a:cs typeface="Arial"/>
              </a:rPr>
              <a:t>rights</a:t>
            </a:r>
            <a:r>
              <a:rPr dirty="0" sz="1100" spc="60" b="1">
                <a:latin typeface="Arial"/>
                <a:cs typeface="Arial"/>
              </a:rPr>
              <a:t> </a:t>
            </a:r>
            <a:r>
              <a:rPr dirty="0" sz="1100" spc="-5" b="1">
                <a:latin typeface="Arial"/>
                <a:cs typeface="Arial"/>
              </a:rPr>
              <a:t>(SDRs)</a:t>
            </a:r>
            <a:r>
              <a:rPr dirty="0" sz="1100" spc="-5">
                <a:latin typeface="Arial"/>
                <a:cs typeface="Arial"/>
              </a:rPr>
              <a:t>.</a:t>
            </a:r>
            <a:r>
              <a:rPr dirty="0" sz="1100" spc="60">
                <a:latin typeface="Arial"/>
                <a:cs typeface="Arial"/>
              </a:rPr>
              <a:t> </a:t>
            </a:r>
            <a:r>
              <a:rPr dirty="0" sz="1100" spc="-5">
                <a:latin typeface="Arial"/>
                <a:cs typeface="Arial"/>
              </a:rPr>
              <a:t>Traditionally,</a:t>
            </a:r>
            <a:r>
              <a:rPr dirty="0" sz="1100" spc="60">
                <a:latin typeface="Arial"/>
                <a:cs typeface="Arial"/>
              </a:rPr>
              <a:t> </a:t>
            </a:r>
            <a:r>
              <a:rPr dirty="0" sz="1100" spc="-5">
                <a:latin typeface="Arial"/>
                <a:cs typeface="Arial"/>
              </a:rPr>
              <a:t>under</a:t>
            </a:r>
            <a:r>
              <a:rPr dirty="0" sz="1100" spc="55">
                <a:latin typeface="Arial"/>
                <a:cs typeface="Arial"/>
              </a:rPr>
              <a:t> </a:t>
            </a:r>
            <a:r>
              <a:rPr dirty="0" sz="1100" spc="-5">
                <a:latin typeface="Arial"/>
                <a:cs typeface="Arial"/>
              </a:rPr>
              <a:t>the</a:t>
            </a:r>
            <a:r>
              <a:rPr dirty="0" sz="1100" spc="60">
                <a:latin typeface="Arial"/>
                <a:cs typeface="Arial"/>
              </a:rPr>
              <a:t> </a:t>
            </a:r>
            <a:r>
              <a:rPr dirty="0" sz="1100" spc="-5">
                <a:latin typeface="Arial"/>
                <a:cs typeface="Arial"/>
              </a:rPr>
              <a:t>workings</a:t>
            </a:r>
            <a:r>
              <a:rPr dirty="0" sz="1100" spc="60">
                <a:latin typeface="Arial"/>
                <a:cs typeface="Arial"/>
              </a:rPr>
              <a:t> </a:t>
            </a:r>
            <a:r>
              <a:rPr dirty="0" sz="1100" spc="-5">
                <a:latin typeface="Arial"/>
                <a:cs typeface="Arial"/>
              </a:rPr>
              <a:t>of</a:t>
            </a:r>
            <a:r>
              <a:rPr dirty="0" sz="1100" spc="50">
                <a:latin typeface="Arial"/>
                <a:cs typeface="Arial"/>
              </a:rPr>
              <a:t> </a:t>
            </a:r>
            <a:r>
              <a:rPr dirty="0" sz="1100" spc="-5">
                <a:latin typeface="Arial"/>
                <a:cs typeface="Arial"/>
              </a:rPr>
              <a:t>the</a:t>
            </a:r>
            <a:r>
              <a:rPr dirty="0" sz="1100" spc="60">
                <a:latin typeface="Arial"/>
                <a:cs typeface="Arial"/>
              </a:rPr>
              <a:t> </a:t>
            </a:r>
            <a:r>
              <a:rPr dirty="0" sz="1100" spc="-5">
                <a:latin typeface="Arial"/>
                <a:cs typeface="Arial"/>
              </a:rPr>
              <a:t>international</a:t>
            </a:r>
            <a:r>
              <a:rPr dirty="0" sz="1100" spc="55">
                <a:latin typeface="Arial"/>
                <a:cs typeface="Arial"/>
              </a:rPr>
              <a:t> </a:t>
            </a:r>
            <a:r>
              <a:rPr dirty="0" sz="1100" spc="-5">
                <a:latin typeface="Arial"/>
                <a:cs typeface="Arial"/>
              </a:rPr>
              <a:t>monetary</a:t>
            </a:r>
            <a:r>
              <a:rPr dirty="0" sz="1100" spc="60">
                <a:latin typeface="Arial"/>
                <a:cs typeface="Arial"/>
              </a:rPr>
              <a:t> </a:t>
            </a:r>
            <a:r>
              <a:rPr dirty="0" sz="1100" spc="-5">
                <a:latin typeface="Arial"/>
                <a:cs typeface="Arial"/>
              </a:rPr>
              <a:t>system,</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279</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57568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countries with deficits in their balance of payments were required to pay for these deficits by  drawing down on their official reserves of the two principal international monetary assets, gold  and U.S. dollars. But with the growth in the volume and value of world trade, a new kind of  international asset was needed to supplement the limited stock of gold and dollars.  Consequently, in 1970 </a:t>
            </a:r>
            <a:r>
              <a:rPr dirty="0" sz="1100">
                <a:latin typeface="Arial"/>
                <a:cs typeface="Arial"/>
              </a:rPr>
              <a:t>the </a:t>
            </a:r>
            <a:r>
              <a:rPr dirty="0" sz="1100" spc="-5">
                <a:latin typeface="Arial"/>
                <a:cs typeface="Arial"/>
              </a:rPr>
              <a:t>IMF was given the authority to create special drawing rights. These  international assets perform </a:t>
            </a:r>
            <a:r>
              <a:rPr dirty="0" sz="1100">
                <a:latin typeface="Arial"/>
                <a:cs typeface="Arial"/>
              </a:rPr>
              <a:t>many </a:t>
            </a:r>
            <a:r>
              <a:rPr dirty="0" sz="1100" spc="-5">
                <a:latin typeface="Arial"/>
                <a:cs typeface="Arial"/>
              </a:rPr>
              <a:t>of the functions of gold and dollars in settling balance of  payments accounts. They are valued on the basis of a basket of currencies (a weighted average  of the value of four different currencies— the U.S. dollar, the euro, the pound sterling, and the  Japanese yen) and constitute claims on the IMF. They </a:t>
            </a:r>
            <a:r>
              <a:rPr dirty="0" sz="1100">
                <a:latin typeface="Arial"/>
                <a:cs typeface="Arial"/>
              </a:rPr>
              <a:t>may </a:t>
            </a:r>
            <a:r>
              <a:rPr dirty="0" sz="1100" spc="-5">
                <a:latin typeface="Arial"/>
                <a:cs typeface="Arial"/>
              </a:rPr>
              <a:t>thus be exchanged for convertible  currencies to settle international official transactions. As of November </a:t>
            </a:r>
            <a:r>
              <a:rPr dirty="0" sz="1100">
                <a:latin typeface="Arial"/>
                <a:cs typeface="Arial"/>
              </a:rPr>
              <a:t>2010, </a:t>
            </a:r>
            <a:r>
              <a:rPr dirty="0" sz="1100" spc="-5">
                <a:latin typeface="Arial"/>
                <a:cs typeface="Arial"/>
              </a:rPr>
              <a:t>one U.S. dollar was  worth 0.65 SDR. In response to the global financial crisis, the IMF raised the amount of SDRs  issued nearly tenfold, to 316 billion. Eventually, the IMF would like to see all international  financial settlements conducted in</a:t>
            </a:r>
            <a:r>
              <a:rPr dirty="0" sz="1100" spc="10">
                <a:latin typeface="Arial"/>
                <a:cs typeface="Arial"/>
              </a:rPr>
              <a:t> </a:t>
            </a:r>
            <a:r>
              <a:rPr dirty="0" sz="1100" spc="-5">
                <a:latin typeface="Arial"/>
                <a:cs typeface="Arial"/>
              </a:rPr>
              <a:t>SDRs.</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Having summarized some basic balance of payments concepts and issues as they relate to  both commodity trade </a:t>
            </a:r>
            <a:r>
              <a:rPr dirty="0" sz="1100">
                <a:latin typeface="Arial"/>
                <a:cs typeface="Arial"/>
              </a:rPr>
              <a:t>and </a:t>
            </a:r>
            <a:r>
              <a:rPr dirty="0" sz="1100" spc="-5">
                <a:latin typeface="Arial"/>
                <a:cs typeface="Arial"/>
              </a:rPr>
              <a:t>international flows of financial resources, we can now briefly </a:t>
            </a:r>
            <a:r>
              <a:rPr dirty="0" sz="1100">
                <a:latin typeface="Arial"/>
                <a:cs typeface="Arial"/>
              </a:rPr>
              <a:t>review  </a:t>
            </a:r>
            <a:r>
              <a:rPr dirty="0" sz="1100" spc="-5">
                <a:latin typeface="Arial"/>
                <a:cs typeface="Arial"/>
              </a:rPr>
              <a:t>some trends in the balance of payments of developing nations and then focus our attention on a  detailed analysis of debt</a:t>
            </a:r>
            <a:r>
              <a:rPr dirty="0" sz="1100" spc="10">
                <a:latin typeface="Arial"/>
                <a:cs typeface="Arial"/>
              </a:rPr>
              <a:t> </a:t>
            </a:r>
            <a:r>
              <a:rPr dirty="0" sz="1100" spc="-5">
                <a:latin typeface="Arial"/>
                <a:cs typeface="Arial"/>
              </a:rPr>
              <a:t>problems.</a:t>
            </a:r>
            <a:endParaRPr sz="1100">
              <a:latin typeface="Arial"/>
              <a:cs typeface="Arial"/>
            </a:endParaRPr>
          </a:p>
          <a:p>
            <a:pPr>
              <a:lnSpc>
                <a:spcPct val="100000"/>
              </a:lnSpc>
              <a:spcBef>
                <a:spcPts val="30"/>
              </a:spcBef>
            </a:pPr>
            <a:endParaRPr sz="1100">
              <a:latin typeface="Arial"/>
              <a:cs typeface="Arial"/>
            </a:endParaRPr>
          </a:p>
          <a:p>
            <a:pPr algn="just" marL="469265" marR="5080" indent="-228600">
              <a:lnSpc>
                <a:spcPct val="95700"/>
              </a:lnSpc>
              <a:buFont typeface="Symbol"/>
              <a:buChar char=""/>
              <a:tabLst>
                <a:tab pos="469900" algn="l"/>
              </a:tabLst>
            </a:pPr>
            <a:r>
              <a:rPr dirty="0" sz="1100" spc="-5" b="1">
                <a:latin typeface="Arial"/>
                <a:cs typeface="Arial"/>
              </a:rPr>
              <a:t>Special Drawing Rights (SDRs): </a:t>
            </a:r>
            <a:r>
              <a:rPr dirty="0" sz="1100" spc="-5">
                <a:latin typeface="Arial"/>
                <a:cs typeface="Arial"/>
              </a:rPr>
              <a:t>An international financial asset created by the  International Monetary Fund in 1970 to supplement gold and dollars in settling  international balance of payments</a:t>
            </a:r>
            <a:r>
              <a:rPr dirty="0" sz="1100" spc="10">
                <a:latin typeface="Arial"/>
                <a:cs typeface="Arial"/>
              </a:rPr>
              <a:t> </a:t>
            </a:r>
            <a:r>
              <a:rPr dirty="0" sz="1100" spc="-5">
                <a:latin typeface="Arial"/>
                <a:cs typeface="Arial"/>
              </a:rPr>
              <a:t>accounts.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280</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342011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41</a:t>
            </a:r>
            <a:endParaRPr sz="1100">
              <a:latin typeface="Arial"/>
              <a:cs typeface="Arial"/>
            </a:endParaRPr>
          </a:p>
          <a:p>
            <a:pPr>
              <a:lnSpc>
                <a:spcPct val="100000"/>
              </a:lnSpc>
              <a:spcBef>
                <a:spcPts val="45"/>
              </a:spcBef>
            </a:pPr>
            <a:endParaRPr sz="1100">
              <a:latin typeface="Arial"/>
              <a:cs typeface="Arial"/>
            </a:endParaRPr>
          </a:p>
          <a:p>
            <a:pPr marL="2483485" marR="122555" indent="-2354580">
              <a:lnSpc>
                <a:spcPts val="1260"/>
              </a:lnSpc>
            </a:pPr>
            <a:r>
              <a:rPr dirty="0" sz="1100" spc="-5" b="1">
                <a:latin typeface="Arial"/>
                <a:cs typeface="Arial"/>
              </a:rPr>
              <a:t>BALANCE OF PAYMENTS, DEBT, FINANCIAL </a:t>
            </a:r>
            <a:r>
              <a:rPr dirty="0" sz="1100" spc="-10" b="1">
                <a:latin typeface="Arial"/>
                <a:cs typeface="Arial"/>
              </a:rPr>
              <a:t>CRISES </a:t>
            </a:r>
            <a:r>
              <a:rPr dirty="0" sz="1100" spc="-5" b="1">
                <a:latin typeface="Arial"/>
                <a:cs typeface="Arial"/>
              </a:rPr>
              <a:t>AND STABILIZATION POLICIES  (CONTINUED1)</a:t>
            </a:r>
            <a:endParaRPr sz="1100">
              <a:latin typeface="Arial"/>
              <a:cs typeface="Arial"/>
            </a:endParaRPr>
          </a:p>
          <a:p>
            <a:pPr>
              <a:lnSpc>
                <a:spcPct val="100000"/>
              </a:lnSpc>
              <a:spcBef>
                <a:spcPts val="30"/>
              </a:spcBef>
            </a:pPr>
            <a:endParaRPr sz="1000">
              <a:latin typeface="Arial"/>
              <a:cs typeface="Arial"/>
            </a:endParaRPr>
          </a:p>
          <a:p>
            <a:pPr algn="just" marL="12700">
              <a:lnSpc>
                <a:spcPct val="100000"/>
              </a:lnSpc>
            </a:pPr>
            <a:r>
              <a:rPr dirty="0" sz="1100" spc="-5" b="1">
                <a:latin typeface="Arial"/>
                <a:cs typeface="Arial"/>
              </a:rPr>
              <a:t>TRENDS IN THE BALANCE OF</a:t>
            </a:r>
            <a:r>
              <a:rPr dirty="0" sz="1100" spc="25" b="1">
                <a:latin typeface="Arial"/>
                <a:cs typeface="Arial"/>
              </a:rPr>
              <a:t> </a:t>
            </a:r>
            <a:r>
              <a:rPr dirty="0" sz="1100" spc="-5" b="1">
                <a:latin typeface="Arial"/>
                <a:cs typeface="Arial"/>
              </a:rPr>
              <a:t>PAYMENTS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For most developing countries, the 1980s was an extraordinarily difficult period in their balance  of payments accounts with the rest of the world. Prior to 1980, the conventional development  strategy had developing countries operating with sizable current account deficits, for imports of  capital and intermediate goods were required to provide the machinery </a:t>
            </a:r>
            <a:r>
              <a:rPr dirty="0" sz="1100">
                <a:latin typeface="Arial"/>
                <a:cs typeface="Arial"/>
              </a:rPr>
              <a:t>and </a:t>
            </a:r>
            <a:r>
              <a:rPr dirty="0" sz="1100" spc="-5">
                <a:latin typeface="Arial"/>
                <a:cs typeface="Arial"/>
              </a:rPr>
              <a:t>equipment for rapid  industrialization. Export earnings paid for most, but not all, of these imports. The financing of  these deficits was therefore made possible by large resource transfers in the capital account in  the form of country-to-country (bilateral) foreign aid, direct private investment by multinational  corporations, private loans by international banks to both developing-country governments and  local businesses, and multilateral loans from the World Bank and other international  development agencies. Capital account surpluses, therefore, typically more than compensated  for current account deficits so that international reserves were being</a:t>
            </a:r>
            <a:r>
              <a:rPr dirty="0" sz="1100" spc="95">
                <a:latin typeface="Arial"/>
                <a:cs typeface="Arial"/>
              </a:rPr>
              <a:t> </a:t>
            </a:r>
            <a:r>
              <a:rPr dirty="0" sz="1100" spc="-5">
                <a:latin typeface="Arial"/>
                <a:cs typeface="Arial"/>
              </a:rPr>
              <a:t>accumulated.</a:t>
            </a:r>
            <a:endParaRPr sz="1100">
              <a:latin typeface="Arial"/>
              <a:cs typeface="Arial"/>
            </a:endParaRPr>
          </a:p>
          <a:p>
            <a:pPr>
              <a:lnSpc>
                <a:spcPct val="100000"/>
              </a:lnSpc>
              <a:spcBef>
                <a:spcPts val="40"/>
              </a:spcBef>
            </a:pPr>
            <a:endParaRPr sz="1100">
              <a:latin typeface="Arial"/>
              <a:cs typeface="Arial"/>
            </a:endParaRPr>
          </a:p>
          <a:p>
            <a:pPr algn="just" marL="12700" marR="6350">
              <a:lnSpc>
                <a:spcPts val="1260"/>
              </a:lnSpc>
            </a:pPr>
            <a:r>
              <a:rPr dirty="0" sz="1100" spc="-5">
                <a:latin typeface="Arial"/>
                <a:cs typeface="Arial"/>
              </a:rPr>
              <a:t>However, during the 1980s, the developing world experienced a substantial deterioration in both  current</a:t>
            </a:r>
            <a:r>
              <a:rPr dirty="0" sz="1100" spc="140">
                <a:latin typeface="Arial"/>
                <a:cs typeface="Arial"/>
              </a:rPr>
              <a:t> </a:t>
            </a:r>
            <a:r>
              <a:rPr dirty="0" sz="1100" spc="-5">
                <a:latin typeface="Arial"/>
                <a:cs typeface="Arial"/>
              </a:rPr>
              <a:t>and</a:t>
            </a:r>
            <a:r>
              <a:rPr dirty="0" sz="1100" spc="140">
                <a:latin typeface="Arial"/>
                <a:cs typeface="Arial"/>
              </a:rPr>
              <a:t> </a:t>
            </a:r>
            <a:r>
              <a:rPr dirty="0" sz="1100" spc="-5">
                <a:latin typeface="Arial"/>
                <a:cs typeface="Arial"/>
              </a:rPr>
              <a:t>capital</a:t>
            </a:r>
            <a:r>
              <a:rPr dirty="0" sz="1100" spc="145">
                <a:latin typeface="Arial"/>
                <a:cs typeface="Arial"/>
              </a:rPr>
              <a:t> </a:t>
            </a:r>
            <a:r>
              <a:rPr dirty="0" sz="1100" spc="-5">
                <a:latin typeface="Arial"/>
                <a:cs typeface="Arial"/>
              </a:rPr>
              <a:t>account</a:t>
            </a:r>
            <a:r>
              <a:rPr dirty="0" sz="1100" spc="145">
                <a:latin typeface="Arial"/>
                <a:cs typeface="Arial"/>
              </a:rPr>
              <a:t> </a:t>
            </a:r>
            <a:r>
              <a:rPr dirty="0" sz="1100" spc="-5">
                <a:latin typeface="Arial"/>
                <a:cs typeface="Arial"/>
              </a:rPr>
              <a:t>balances.</a:t>
            </a:r>
            <a:r>
              <a:rPr dirty="0" sz="1100" spc="145">
                <a:latin typeface="Arial"/>
                <a:cs typeface="Arial"/>
              </a:rPr>
              <a:t> </a:t>
            </a:r>
            <a:r>
              <a:rPr dirty="0" sz="1100" spc="-5">
                <a:latin typeface="Arial"/>
                <a:cs typeface="Arial"/>
              </a:rPr>
              <a:t>As</a:t>
            </a:r>
            <a:r>
              <a:rPr dirty="0" sz="1100" spc="145">
                <a:latin typeface="Arial"/>
                <a:cs typeface="Arial"/>
              </a:rPr>
              <a:t> </a:t>
            </a:r>
            <a:r>
              <a:rPr dirty="0" sz="1100" spc="-5">
                <a:latin typeface="Arial"/>
                <a:cs typeface="Arial"/>
              </a:rPr>
              <a:t>Table</a:t>
            </a:r>
            <a:r>
              <a:rPr dirty="0" sz="1100" spc="145">
                <a:latin typeface="Arial"/>
                <a:cs typeface="Arial"/>
              </a:rPr>
              <a:t> </a:t>
            </a:r>
            <a:r>
              <a:rPr dirty="0" sz="1100" spc="-5">
                <a:latin typeface="Arial"/>
                <a:cs typeface="Arial"/>
              </a:rPr>
              <a:t>13.4</a:t>
            </a:r>
            <a:r>
              <a:rPr dirty="0" sz="1100" spc="140">
                <a:latin typeface="Arial"/>
                <a:cs typeface="Arial"/>
              </a:rPr>
              <a:t> </a:t>
            </a:r>
            <a:r>
              <a:rPr dirty="0" sz="1100" spc="-5">
                <a:latin typeface="Arial"/>
                <a:cs typeface="Arial"/>
              </a:rPr>
              <a:t>shows,</a:t>
            </a:r>
            <a:r>
              <a:rPr dirty="0" sz="1100" spc="145">
                <a:latin typeface="Arial"/>
                <a:cs typeface="Arial"/>
              </a:rPr>
              <a:t> </a:t>
            </a:r>
            <a:r>
              <a:rPr dirty="0" sz="1100" spc="-5">
                <a:latin typeface="Arial"/>
                <a:cs typeface="Arial"/>
              </a:rPr>
              <a:t>the</a:t>
            </a:r>
            <a:r>
              <a:rPr dirty="0" sz="1100" spc="135">
                <a:latin typeface="Arial"/>
                <a:cs typeface="Arial"/>
              </a:rPr>
              <a:t> </a:t>
            </a:r>
            <a:r>
              <a:rPr dirty="0" sz="1100" spc="-5">
                <a:latin typeface="Arial"/>
                <a:cs typeface="Arial"/>
              </a:rPr>
              <a:t>net</a:t>
            </a:r>
            <a:r>
              <a:rPr dirty="0" sz="1100" spc="145">
                <a:latin typeface="Arial"/>
                <a:cs typeface="Arial"/>
              </a:rPr>
              <a:t> </a:t>
            </a:r>
            <a:r>
              <a:rPr dirty="0" sz="1100" spc="-5">
                <a:latin typeface="Arial"/>
                <a:cs typeface="Arial"/>
              </a:rPr>
              <a:t>financial</a:t>
            </a:r>
            <a:r>
              <a:rPr dirty="0" sz="1100" spc="145">
                <a:latin typeface="Arial"/>
                <a:cs typeface="Arial"/>
              </a:rPr>
              <a:t> </a:t>
            </a:r>
            <a:r>
              <a:rPr dirty="0" sz="1100" spc="-5">
                <a:latin typeface="Arial"/>
                <a:cs typeface="Arial"/>
              </a:rPr>
              <a:t>transfers</a:t>
            </a:r>
            <a:endParaRPr sz="1100">
              <a:latin typeface="Arial"/>
              <a:cs typeface="Arial"/>
            </a:endParaRPr>
          </a:p>
        </p:txBody>
      </p:sp>
      <p:sp>
        <p:nvSpPr>
          <p:cNvPr id="7" name="object 7"/>
          <p:cNvSpPr/>
          <p:nvPr/>
        </p:nvSpPr>
        <p:spPr>
          <a:xfrm>
            <a:off x="933450" y="4371594"/>
            <a:ext cx="5943600" cy="5086350"/>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281</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7908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component of the capital account (which includes everything in Table 13.3 except private direct  foreign investment) turned sharply negative beginning in 1984. The overall transition amounted  to more than $68 billion, comparing the positive $33.2 billion capital account balance in 1978  with the negative $35.2 billion balance in 1988. Meanwhile, a brief period of large current  account surpluses, which reflects entirely OPEC’s booming export revenues of 1979–1980,  abruptly turned negative in 1981 and, as illustrated in Table 13.5, stayed negative until 2000.  One reason for persistent concern has been that the recent positive balances (outside of Africa)  have been possible largely because of the wide and probably unsustainable U.S. trade deficit.  Commodity exporters were also boosted in </a:t>
            </a:r>
            <a:r>
              <a:rPr dirty="0" sz="1100">
                <a:latin typeface="Arial"/>
                <a:cs typeface="Arial"/>
              </a:rPr>
              <a:t>recent </a:t>
            </a:r>
            <a:r>
              <a:rPr dirty="0" sz="1100" spc="-5">
                <a:latin typeface="Arial"/>
                <a:cs typeface="Arial"/>
              </a:rPr>
              <a:t>years </a:t>
            </a:r>
            <a:r>
              <a:rPr dirty="0" sz="1100">
                <a:latin typeface="Arial"/>
                <a:cs typeface="Arial"/>
              </a:rPr>
              <a:t>by </a:t>
            </a:r>
            <a:r>
              <a:rPr dirty="0" sz="1100" spc="-5">
                <a:latin typeface="Arial"/>
                <a:cs typeface="Arial"/>
              </a:rPr>
              <a:t>the booming demand from high-  growth developing economies, especially</a:t>
            </a:r>
            <a:r>
              <a:rPr dirty="0" sz="1100" spc="15">
                <a:latin typeface="Arial"/>
                <a:cs typeface="Arial"/>
              </a:rPr>
              <a:t> </a:t>
            </a:r>
            <a:r>
              <a:rPr dirty="0" sz="1100" spc="-5">
                <a:latin typeface="Arial"/>
                <a:cs typeface="Arial"/>
              </a:rPr>
              <a:t>China.</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reasons for the decline in current account balances in the 1980s and 1990s included (1) a  dramatic fall in commodity prices, including oil; (2) global recessions in 1981–1982 and 1991–  1993, which caused a general contraction in world trade; (3) increasing protectionism in the  developed world against export from developing countries; and (4) some severely overvalued  exchange rates in several key developing economies, such as Argentina. This reversed in the  2000s with large current account surpluses in many middle-income countries. In most cases,  these surpluses shrunk in the aftermath of the global financial crisis—at least</a:t>
            </a:r>
            <a:r>
              <a:rPr dirty="0" sz="1100" spc="160">
                <a:latin typeface="Arial"/>
                <a:cs typeface="Arial"/>
              </a:rPr>
              <a:t> </a:t>
            </a:r>
            <a:r>
              <a:rPr dirty="0" sz="1100" spc="-5">
                <a:latin typeface="Arial"/>
                <a:cs typeface="Arial"/>
              </a:rPr>
              <a:t>temporarily.</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The capital account showed a dramatic turn in the 1980s as a combined result of rising  developing-country debt service obligations, sharp declines in lending by international banks,  and massive capital flight. During the 1980s, these factors turned what had previously been a  positive annual resource flow of </a:t>
            </a:r>
            <a:r>
              <a:rPr dirty="0" sz="1100">
                <a:latin typeface="Arial"/>
                <a:cs typeface="Arial"/>
              </a:rPr>
              <a:t>$25 </a:t>
            </a:r>
            <a:r>
              <a:rPr dirty="0" sz="1100" spc="-5">
                <a:latin typeface="Arial"/>
                <a:cs typeface="Arial"/>
              </a:rPr>
              <a:t>billion to $35 billion from </a:t>
            </a:r>
            <a:r>
              <a:rPr dirty="0" sz="1100">
                <a:latin typeface="Arial"/>
                <a:cs typeface="Arial"/>
              </a:rPr>
              <a:t>developed </a:t>
            </a:r>
            <a:r>
              <a:rPr dirty="0" sz="1100" spc="-5">
                <a:latin typeface="Arial"/>
                <a:cs typeface="Arial"/>
              </a:rPr>
              <a:t>to less developed  countries into a negative annual flow of $25 </a:t>
            </a:r>
            <a:r>
              <a:rPr dirty="0" sz="1100">
                <a:latin typeface="Arial"/>
                <a:cs typeface="Arial"/>
              </a:rPr>
              <a:t>billion </a:t>
            </a:r>
            <a:r>
              <a:rPr dirty="0" sz="1100" spc="-5">
                <a:latin typeface="Arial"/>
                <a:cs typeface="Arial"/>
              </a:rPr>
              <a:t>to $35 billion from the developing to the  developed world. Behind these trends, however, was the debilitating dilemma of developing-  country debt—a historically recurrent problem with important lessons for developing-country  policy.</a:t>
            </a:r>
            <a:endParaRPr sz="1100">
              <a:latin typeface="Arial"/>
              <a:cs typeface="Arial"/>
            </a:endParaRPr>
          </a:p>
          <a:p>
            <a:pPr marL="12700" marR="1400810">
              <a:lnSpc>
                <a:spcPts val="2650"/>
              </a:lnSpc>
              <a:spcBef>
                <a:spcPts val="195"/>
              </a:spcBef>
            </a:pPr>
            <a:r>
              <a:rPr dirty="0" sz="1100" spc="-5" b="1">
                <a:latin typeface="Arial"/>
                <a:cs typeface="Arial"/>
              </a:rPr>
              <a:t>ACCUMULATION OF </a:t>
            </a:r>
            <a:r>
              <a:rPr dirty="0" sz="1100" spc="-10" b="1">
                <a:latin typeface="Arial"/>
                <a:cs typeface="Arial"/>
              </a:rPr>
              <a:t>DEBT </a:t>
            </a:r>
            <a:r>
              <a:rPr dirty="0" sz="1100" spc="-5" b="1">
                <a:latin typeface="Arial"/>
                <a:cs typeface="Arial"/>
              </a:rPr>
              <a:t>AND EMERGENCE OF THE </a:t>
            </a:r>
            <a:r>
              <a:rPr dirty="0" sz="1100" spc="-10" b="1">
                <a:latin typeface="Arial"/>
                <a:cs typeface="Arial"/>
              </a:rPr>
              <a:t>DEBT </a:t>
            </a:r>
            <a:r>
              <a:rPr dirty="0" sz="1100" spc="-5" b="1">
                <a:latin typeface="Arial"/>
                <a:cs typeface="Arial"/>
              </a:rPr>
              <a:t>CRISIS  </a:t>
            </a:r>
            <a:r>
              <a:rPr dirty="0" sz="1100" spc="-10" b="1">
                <a:latin typeface="Arial"/>
                <a:cs typeface="Arial"/>
              </a:rPr>
              <a:t>BACKGROUND </a:t>
            </a:r>
            <a:r>
              <a:rPr dirty="0" sz="1100" spc="-5" b="1">
                <a:latin typeface="Arial"/>
                <a:cs typeface="Arial"/>
              </a:rPr>
              <a:t>AND</a:t>
            </a:r>
            <a:r>
              <a:rPr dirty="0" sz="1100" spc="15" b="1">
                <a:latin typeface="Arial"/>
                <a:cs typeface="Arial"/>
              </a:rPr>
              <a:t> </a:t>
            </a:r>
            <a:r>
              <a:rPr dirty="0" sz="1100" spc="-5" b="1">
                <a:latin typeface="Arial"/>
                <a:cs typeface="Arial"/>
              </a:rPr>
              <a:t>ANALYSIS</a:t>
            </a:r>
            <a:endParaRPr sz="1100">
              <a:latin typeface="Arial"/>
              <a:cs typeface="Arial"/>
            </a:endParaRPr>
          </a:p>
          <a:p>
            <a:pPr algn="just" marL="12700" marR="5080">
              <a:lnSpc>
                <a:spcPct val="95900"/>
              </a:lnSpc>
              <a:spcBef>
                <a:spcPts val="1055"/>
              </a:spcBef>
            </a:pPr>
            <a:r>
              <a:rPr dirty="0" sz="1100" spc="-5">
                <a:latin typeface="Arial"/>
                <a:cs typeface="Arial"/>
              </a:rPr>
              <a:t>The accumulation of external debt is a common phenomenon of developing countries at the  stage of economic development where the supply of domestic savings is low, current account  payments deficits are high, and imports of capital are needed to augment domestic resources.  Prior to the early 1970s, the external debt of developing countries was relatively small and  primarily an official phenomenon, the majority of creditors being foreign governments and  international financial institutions such as the IMF, the World Bank, and regional development  banks. Most loans were on concessional (low-interest) terms and were extended for purposes of  implementing development projects and expanding imports of capital goods. However, during  the late 1970s and early 1980s, commercial banks began playing a large role in international  lending by recycling surplus OPEC “petrodollars” and issuing general-purpose loans to  developing countries to provide balance of payments support and expansion of export</a:t>
            </a:r>
            <a:r>
              <a:rPr dirty="0" sz="1100" spc="220">
                <a:latin typeface="Arial"/>
                <a:cs typeface="Arial"/>
              </a:rPr>
              <a:t> </a:t>
            </a:r>
            <a:r>
              <a:rPr dirty="0" sz="1100" spc="-5">
                <a:latin typeface="Arial"/>
                <a:cs typeface="Arial"/>
              </a:rPr>
              <a:t>sectors.</a:t>
            </a:r>
            <a:endParaRPr sz="1100">
              <a:latin typeface="Arial"/>
              <a:cs typeface="Arial"/>
            </a:endParaRPr>
          </a:p>
          <a:p>
            <a:pPr>
              <a:lnSpc>
                <a:spcPct val="100000"/>
              </a:lnSpc>
              <a:spcBef>
                <a:spcPts val="20"/>
              </a:spcBef>
            </a:pPr>
            <a:endParaRPr sz="1100">
              <a:latin typeface="Arial"/>
              <a:cs typeface="Arial"/>
            </a:endParaRPr>
          </a:p>
          <a:p>
            <a:pPr algn="just" marL="469265" indent="-229235">
              <a:lnSpc>
                <a:spcPct val="100000"/>
              </a:lnSpc>
              <a:buFont typeface="Symbol"/>
              <a:buChar char=""/>
              <a:tabLst>
                <a:tab pos="469900" algn="l"/>
              </a:tabLst>
            </a:pPr>
            <a:r>
              <a:rPr dirty="0" sz="1100" spc="-5" b="1">
                <a:latin typeface="Arial"/>
                <a:cs typeface="Arial"/>
              </a:rPr>
              <a:t>External debt </a:t>
            </a:r>
            <a:r>
              <a:rPr dirty="0" sz="1100" spc="-5">
                <a:latin typeface="Arial"/>
                <a:cs typeface="Arial"/>
              </a:rPr>
              <a:t>Total private and public foreign debt owed by a</a:t>
            </a:r>
            <a:r>
              <a:rPr dirty="0" sz="1100" spc="90">
                <a:latin typeface="Arial"/>
                <a:cs typeface="Arial"/>
              </a:rPr>
              <a:t> </a:t>
            </a:r>
            <a:r>
              <a:rPr dirty="0" sz="1100" spc="-5">
                <a:latin typeface="Arial"/>
                <a:cs typeface="Arial"/>
              </a:rPr>
              <a:t>country.</a:t>
            </a:r>
            <a:endParaRPr sz="1100">
              <a:latin typeface="Arial"/>
              <a:cs typeface="Arial"/>
            </a:endParaRPr>
          </a:p>
          <a:p>
            <a:pPr algn="just" marL="469265" marR="7620" indent="-228600">
              <a:lnSpc>
                <a:spcPct val="95700"/>
              </a:lnSpc>
              <a:spcBef>
                <a:spcPts val="75"/>
              </a:spcBef>
              <a:buFont typeface="Symbol"/>
              <a:buChar char=""/>
              <a:tabLst>
                <a:tab pos="469900" algn="l"/>
              </a:tabLst>
            </a:pPr>
            <a:r>
              <a:rPr dirty="0" sz="1100" spc="-5" b="1">
                <a:latin typeface="Arial"/>
                <a:cs typeface="Arial"/>
              </a:rPr>
              <a:t>Basic transfer </a:t>
            </a:r>
            <a:r>
              <a:rPr dirty="0" sz="1100" spc="-5">
                <a:latin typeface="Arial"/>
                <a:cs typeface="Arial"/>
              </a:rPr>
              <a:t>Net foreign exchange inflow or outflow related to a country’s international  borrowing; the quantitative difference between the net capital inflow (gross inflow minus  amortization on past debt) and interest payments on existing accumulated</a:t>
            </a:r>
            <a:r>
              <a:rPr dirty="0" sz="1100" spc="100">
                <a:latin typeface="Arial"/>
                <a:cs typeface="Arial"/>
              </a:rPr>
              <a:t> </a:t>
            </a:r>
            <a:r>
              <a:rPr dirty="0" sz="1100" spc="-5">
                <a:latin typeface="Arial"/>
                <a:cs typeface="Arial"/>
              </a:rPr>
              <a:t>debt.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282</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5412485"/>
            <a:ext cx="676656" cy="190500"/>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01694" y="891794"/>
            <a:ext cx="5969635" cy="52025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Although foreign borrowing can be highly beneficial, providing the resources necessary to  promote economic growth and development, when poorly managed, it can be very costly. In  recent years, these costs have greatly </a:t>
            </a:r>
            <a:r>
              <a:rPr dirty="0" sz="1100">
                <a:latin typeface="Arial"/>
                <a:cs typeface="Arial"/>
              </a:rPr>
              <a:t>outweighed </a:t>
            </a:r>
            <a:r>
              <a:rPr dirty="0" sz="1100" spc="-5">
                <a:latin typeface="Arial"/>
                <a:cs typeface="Arial"/>
              </a:rPr>
              <a:t>the benefits for many developing nations.  The main cost associated with the accumulation of a large external debt is debt service. Debt  service is the payment </a:t>
            </a:r>
            <a:r>
              <a:rPr dirty="0" sz="1100">
                <a:latin typeface="Arial"/>
                <a:cs typeface="Arial"/>
              </a:rPr>
              <a:t>of </a:t>
            </a:r>
            <a:r>
              <a:rPr dirty="0" sz="1100" spc="-5">
                <a:latin typeface="Arial"/>
                <a:cs typeface="Arial"/>
              </a:rPr>
              <a:t>amortization (liquidation of the principal) and accumulated interest; it is  a contractually fixed charge on domestic real income and savings. As the size of the debt grows  or as interest rates rise, debt service charges increase. Debt service payments </a:t>
            </a:r>
            <a:r>
              <a:rPr dirty="0" sz="1100">
                <a:latin typeface="Arial"/>
                <a:cs typeface="Arial"/>
              </a:rPr>
              <a:t>must </a:t>
            </a:r>
            <a:r>
              <a:rPr dirty="0" sz="1100" spc="-5">
                <a:latin typeface="Arial"/>
                <a:cs typeface="Arial"/>
              </a:rPr>
              <a:t>be made  with foreign exchange. In other words, debt service obligations can be met only through export  earnings, curtailed imports, or further external borrowing. Under normal circumstances, most of  a country’s debt service obligations are met by its export earnings. However, should the  composition of imports change or should interest rates rise significantly, causing a ballooning of  debt service payments, or should export earnings diminish, debt-servicing difficulties are likely  to arise.</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First, it is necessary to understand a fundamental concept known as </a:t>
            </a:r>
            <a:r>
              <a:rPr dirty="0" sz="1100">
                <a:latin typeface="Arial"/>
                <a:cs typeface="Arial"/>
              </a:rPr>
              <a:t>the </a:t>
            </a:r>
            <a:r>
              <a:rPr dirty="0" sz="1100" spc="-5" b="1">
                <a:latin typeface="Arial"/>
                <a:cs typeface="Arial"/>
              </a:rPr>
              <a:t>basic transfer</a:t>
            </a:r>
            <a:r>
              <a:rPr dirty="0" sz="1100" spc="-5">
                <a:latin typeface="Arial"/>
                <a:cs typeface="Arial"/>
              </a:rPr>
              <a:t>. The  basic transfer of a country is defined as the net foreign exchange inflow or outflow related to its  international borrowing. It is measured as the difference between the net capital inflow and  interest payments on the existing accumulated debt. The net capital inflow is simply </a:t>
            </a:r>
            <a:r>
              <a:rPr dirty="0" sz="1100">
                <a:latin typeface="Arial"/>
                <a:cs typeface="Arial"/>
              </a:rPr>
              <a:t>the  </a:t>
            </a:r>
            <a:r>
              <a:rPr dirty="0" sz="1100" spc="-5">
                <a:latin typeface="Arial"/>
                <a:cs typeface="Arial"/>
              </a:rPr>
              <a:t>difference between the gross inflow and the amortization on past debt. The basic transfer is an  important concept because it represents the amount of foreign exchange that a particular  developing country is gaining or losing each year </a:t>
            </a:r>
            <a:r>
              <a:rPr dirty="0" sz="1100">
                <a:latin typeface="Arial"/>
                <a:cs typeface="Arial"/>
              </a:rPr>
              <a:t>from </a:t>
            </a:r>
            <a:r>
              <a:rPr dirty="0" sz="1100" spc="-5">
                <a:latin typeface="Arial"/>
                <a:cs typeface="Arial"/>
              </a:rPr>
              <a:t>international capital flows. As you will  soon discover, the basic transfer turned very negative for developing nations during the 1980s,  causing a loss of foreign exchange and a net outflow of</a:t>
            </a:r>
            <a:r>
              <a:rPr dirty="0" sz="1100" spc="55">
                <a:latin typeface="Arial"/>
                <a:cs typeface="Arial"/>
              </a:rPr>
              <a:t> </a:t>
            </a:r>
            <a:r>
              <a:rPr dirty="0" sz="1100" spc="-5">
                <a:latin typeface="Arial"/>
                <a:cs typeface="Arial"/>
              </a:rPr>
              <a:t>capital.</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700"/>
              </a:lnSpc>
            </a:pPr>
            <a:r>
              <a:rPr dirty="0" sz="1100" spc="-5">
                <a:latin typeface="Arial"/>
                <a:cs typeface="Arial"/>
              </a:rPr>
              <a:t>The basic-transfer equation can be expressed as follows. Let the net capital inflow, </a:t>
            </a:r>
            <a:r>
              <a:rPr dirty="0" sz="1100" spc="-5" i="1">
                <a:latin typeface="Arial"/>
                <a:cs typeface="Arial"/>
              </a:rPr>
              <a:t>FN</a:t>
            </a:r>
            <a:r>
              <a:rPr dirty="0" sz="1100" spc="-5">
                <a:latin typeface="Arial"/>
                <a:cs typeface="Arial"/>
              </a:rPr>
              <a:t>, </a:t>
            </a:r>
            <a:r>
              <a:rPr dirty="0" sz="1100">
                <a:latin typeface="Arial"/>
                <a:cs typeface="Arial"/>
              </a:rPr>
              <a:t>be  </a:t>
            </a:r>
            <a:r>
              <a:rPr dirty="0" sz="1100" spc="-5">
                <a:latin typeface="Arial"/>
                <a:cs typeface="Arial"/>
              </a:rPr>
              <a:t>expressed as the rate of increase of total external </a:t>
            </a:r>
            <a:r>
              <a:rPr dirty="0" sz="1100">
                <a:latin typeface="Arial"/>
                <a:cs typeface="Arial"/>
              </a:rPr>
              <a:t>debt, </a:t>
            </a:r>
            <a:r>
              <a:rPr dirty="0" sz="1100" spc="-5">
                <a:latin typeface="Arial"/>
                <a:cs typeface="Arial"/>
              </a:rPr>
              <a:t>and let </a:t>
            </a:r>
            <a:r>
              <a:rPr dirty="0" sz="1100" spc="-5" i="1">
                <a:latin typeface="Arial"/>
                <a:cs typeface="Arial"/>
              </a:rPr>
              <a:t>D </a:t>
            </a:r>
            <a:r>
              <a:rPr dirty="0" sz="1100" spc="-5">
                <a:latin typeface="Arial"/>
                <a:cs typeface="Arial"/>
              </a:rPr>
              <a:t>represent the total  accumulated foreign debt. If </a:t>
            </a:r>
            <a:r>
              <a:rPr dirty="0" sz="1100" spc="-5" i="1">
                <a:latin typeface="Arial"/>
                <a:cs typeface="Arial"/>
              </a:rPr>
              <a:t>d </a:t>
            </a:r>
            <a:r>
              <a:rPr dirty="0" sz="1100" spc="-5">
                <a:latin typeface="Arial"/>
                <a:cs typeface="Arial"/>
              </a:rPr>
              <a:t>is the percentage rate of increase in that total debt,</a:t>
            </a:r>
            <a:r>
              <a:rPr dirty="0" sz="1100" spc="150">
                <a:latin typeface="Arial"/>
                <a:cs typeface="Arial"/>
              </a:rPr>
              <a:t> </a:t>
            </a:r>
            <a:r>
              <a:rPr dirty="0" sz="1100" spc="-5">
                <a:latin typeface="Arial"/>
                <a:cs typeface="Arial"/>
              </a:rPr>
              <a:t>then:</a:t>
            </a:r>
            <a:endParaRPr sz="1100">
              <a:latin typeface="Arial"/>
              <a:cs typeface="Arial"/>
            </a:endParaRPr>
          </a:p>
          <a:p>
            <a:pPr>
              <a:lnSpc>
                <a:spcPct val="100000"/>
              </a:lnSpc>
            </a:pPr>
            <a:endParaRPr sz="1200">
              <a:latin typeface="Arial"/>
              <a:cs typeface="Arial"/>
            </a:endParaRPr>
          </a:p>
          <a:p>
            <a:pPr>
              <a:lnSpc>
                <a:spcPct val="100000"/>
              </a:lnSpc>
              <a:spcBef>
                <a:spcPts val="5"/>
              </a:spcBef>
            </a:pPr>
            <a:endParaRPr sz="1200">
              <a:latin typeface="Arial"/>
              <a:cs typeface="Arial"/>
            </a:endParaRPr>
          </a:p>
          <a:p>
            <a:pPr algn="just" marL="12700" marR="6350">
              <a:lnSpc>
                <a:spcPct val="95700"/>
              </a:lnSpc>
              <a:spcBef>
                <a:spcPts val="5"/>
              </a:spcBef>
            </a:pPr>
            <a:r>
              <a:rPr dirty="0" sz="1100" spc="-5">
                <a:latin typeface="Arial"/>
                <a:cs typeface="Arial"/>
              </a:rPr>
              <a:t>Because interest must be paid each year on the accumulated debt, let us let </a:t>
            </a:r>
            <a:r>
              <a:rPr dirty="0" sz="1100" spc="-5" i="1">
                <a:latin typeface="Arial"/>
                <a:cs typeface="Arial"/>
              </a:rPr>
              <a:t>r </a:t>
            </a:r>
            <a:r>
              <a:rPr dirty="0" sz="1100" spc="-5">
                <a:latin typeface="Arial"/>
                <a:cs typeface="Arial"/>
              </a:rPr>
              <a:t>equal the average  rate of interest so that </a:t>
            </a:r>
            <a:r>
              <a:rPr dirty="0" sz="1100" spc="-5" i="1">
                <a:latin typeface="Arial"/>
                <a:cs typeface="Arial"/>
              </a:rPr>
              <a:t>rD </a:t>
            </a:r>
            <a:r>
              <a:rPr dirty="0" sz="1100" spc="-5">
                <a:latin typeface="Arial"/>
                <a:cs typeface="Arial"/>
              </a:rPr>
              <a:t>measures total annual interest payments. The basic transfer (BT) then  is simply the net capital inflow minus interest payments,</a:t>
            </a:r>
            <a:r>
              <a:rPr dirty="0" sz="1100" spc="45">
                <a:latin typeface="Arial"/>
                <a:cs typeface="Arial"/>
              </a:rPr>
              <a:t> </a:t>
            </a:r>
            <a:r>
              <a:rPr dirty="0" sz="1100" spc="-5">
                <a:latin typeface="Arial"/>
                <a:cs typeface="Arial"/>
              </a:rPr>
              <a:t>or</a:t>
            </a:r>
            <a:endParaRPr sz="1100">
              <a:latin typeface="Arial"/>
              <a:cs typeface="Arial"/>
            </a:endParaRPr>
          </a:p>
        </p:txBody>
      </p:sp>
      <p:sp>
        <p:nvSpPr>
          <p:cNvPr id="8" name="object 8"/>
          <p:cNvSpPr/>
          <p:nvPr/>
        </p:nvSpPr>
        <p:spPr>
          <a:xfrm>
            <a:off x="914400" y="6272784"/>
            <a:ext cx="1924050" cy="173736"/>
          </a:xfrm>
          <a:prstGeom prst="rect">
            <a:avLst/>
          </a:prstGeom>
          <a:blipFill>
            <a:blip r:embed="rId3" cstate="print"/>
            <a:stretch>
              <a:fillRect/>
            </a:stretch>
          </a:blipFill>
        </p:spPr>
        <p:txBody>
          <a:bodyPr wrap="square" lIns="0" tIns="0" rIns="0" bIns="0" rtlCol="0"/>
          <a:lstStyle/>
          <a:p/>
        </p:txBody>
      </p:sp>
      <p:sp>
        <p:nvSpPr>
          <p:cNvPr id="9" name="object 9"/>
          <p:cNvSpPr txBox="1"/>
          <p:nvPr/>
        </p:nvSpPr>
        <p:spPr>
          <a:xfrm>
            <a:off x="901674" y="6593068"/>
            <a:ext cx="5969000" cy="22815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BT will be positive if </a:t>
            </a:r>
            <a:r>
              <a:rPr dirty="0" sz="1100" spc="-5" i="1">
                <a:latin typeface="Arial"/>
                <a:cs typeface="Arial"/>
              </a:rPr>
              <a:t>d </a:t>
            </a:r>
            <a:r>
              <a:rPr dirty="0" sz="1100" spc="-5">
                <a:latin typeface="Arial"/>
                <a:cs typeface="Arial"/>
              </a:rPr>
              <a:t>&gt; </a:t>
            </a:r>
            <a:r>
              <a:rPr dirty="0" sz="1100" spc="-5" i="1">
                <a:latin typeface="Arial"/>
                <a:cs typeface="Arial"/>
              </a:rPr>
              <a:t>r</a:t>
            </a:r>
            <a:r>
              <a:rPr dirty="0" sz="1100" spc="-5">
                <a:latin typeface="Arial"/>
                <a:cs typeface="Arial"/>
              </a:rPr>
              <a:t>, and the country will </a:t>
            </a:r>
            <a:r>
              <a:rPr dirty="0" sz="1100">
                <a:latin typeface="Arial"/>
                <a:cs typeface="Arial"/>
              </a:rPr>
              <a:t>be </a:t>
            </a:r>
            <a:r>
              <a:rPr dirty="0" sz="1100" spc="-5">
                <a:latin typeface="Arial"/>
                <a:cs typeface="Arial"/>
              </a:rPr>
              <a:t>gaining foreign exchange. However, if </a:t>
            </a:r>
            <a:r>
              <a:rPr dirty="0" sz="1100" spc="-5" i="1">
                <a:latin typeface="Arial"/>
                <a:cs typeface="Arial"/>
              </a:rPr>
              <a:t>r </a:t>
            </a:r>
            <a:r>
              <a:rPr dirty="0" sz="1100" spc="-5">
                <a:latin typeface="Arial"/>
                <a:cs typeface="Arial"/>
              </a:rPr>
              <a:t>&gt; </a:t>
            </a:r>
            <a:r>
              <a:rPr dirty="0" sz="1100" spc="-5" i="1">
                <a:latin typeface="Arial"/>
                <a:cs typeface="Arial"/>
              </a:rPr>
              <a:t>d</a:t>
            </a:r>
            <a:r>
              <a:rPr dirty="0" sz="1100" spc="-5">
                <a:latin typeface="Arial"/>
                <a:cs typeface="Arial"/>
              </a:rPr>
              <a:t>,  the basic transfer turns negative, and the nation loses foreign exchange. Any analysis of the  evolution of and prospects for debt crises requires an examination of the various factors that  cause </a:t>
            </a:r>
            <a:r>
              <a:rPr dirty="0" sz="1100" spc="-5" i="1">
                <a:latin typeface="Arial"/>
                <a:cs typeface="Arial"/>
              </a:rPr>
              <a:t>d </a:t>
            </a:r>
            <a:r>
              <a:rPr dirty="0" sz="1100" spc="-5">
                <a:latin typeface="Arial"/>
                <a:cs typeface="Arial"/>
              </a:rPr>
              <a:t>and </a:t>
            </a:r>
            <a:r>
              <a:rPr dirty="0" sz="1100" spc="-5" i="1">
                <a:latin typeface="Arial"/>
                <a:cs typeface="Arial"/>
              </a:rPr>
              <a:t>r </a:t>
            </a:r>
            <a:r>
              <a:rPr dirty="0" sz="1100" spc="-5">
                <a:latin typeface="Arial"/>
                <a:cs typeface="Arial"/>
              </a:rPr>
              <a:t>to rise and fall. In the early stages of debt accumulation, when a developing  country has a relatively small total debt, </a:t>
            </a:r>
            <a:r>
              <a:rPr dirty="0" sz="1100" spc="-5" i="1">
                <a:latin typeface="Arial"/>
                <a:cs typeface="Arial"/>
              </a:rPr>
              <a:t>D</a:t>
            </a:r>
            <a:r>
              <a:rPr dirty="0" sz="1100" spc="-5">
                <a:latin typeface="Arial"/>
                <a:cs typeface="Arial"/>
              </a:rPr>
              <a:t>, the rate of increase, </a:t>
            </a:r>
            <a:r>
              <a:rPr dirty="0" sz="1100" spc="-5" i="1">
                <a:latin typeface="Arial"/>
                <a:cs typeface="Arial"/>
              </a:rPr>
              <a:t>d</a:t>
            </a:r>
            <a:r>
              <a:rPr dirty="0" sz="1100" spc="-5">
                <a:latin typeface="Arial"/>
                <a:cs typeface="Arial"/>
              </a:rPr>
              <a:t>, is likely to be high. Also,  because most first-stage debt accumulation comes from official (as opposed to private) sources  in the form of bilateral foreign aid and World Bank lending, most of the debt is incurred on  concessional terms—that is, at below-market interest rates with lengthy repayment periods.  Consequently, </a:t>
            </a:r>
            <a:r>
              <a:rPr dirty="0" sz="1100" spc="-5" i="1">
                <a:latin typeface="Arial"/>
                <a:cs typeface="Arial"/>
              </a:rPr>
              <a:t>r </a:t>
            </a:r>
            <a:r>
              <a:rPr dirty="0" sz="1100" spc="-5">
                <a:latin typeface="Arial"/>
                <a:cs typeface="Arial"/>
              </a:rPr>
              <a:t>is quite low and in any event </a:t>
            </a:r>
            <a:r>
              <a:rPr dirty="0" sz="1100">
                <a:latin typeface="Arial"/>
                <a:cs typeface="Arial"/>
              </a:rPr>
              <a:t>less </a:t>
            </a:r>
            <a:r>
              <a:rPr dirty="0" sz="1100" spc="-5">
                <a:latin typeface="Arial"/>
                <a:cs typeface="Arial"/>
              </a:rPr>
              <a:t>than </a:t>
            </a:r>
            <a:r>
              <a:rPr dirty="0" sz="1100" spc="-5" i="1">
                <a:latin typeface="Arial"/>
                <a:cs typeface="Arial"/>
              </a:rPr>
              <a:t>d</a:t>
            </a:r>
            <a:r>
              <a:rPr dirty="0" sz="1100" spc="-5">
                <a:latin typeface="Arial"/>
                <a:cs typeface="Arial"/>
              </a:rPr>
              <a:t>. As long as this accumulating debt is  being used for productive development projects with rates of return in excess of </a:t>
            </a:r>
            <a:r>
              <a:rPr dirty="0" sz="1100" spc="-5" i="1">
                <a:latin typeface="Arial"/>
                <a:cs typeface="Arial"/>
              </a:rPr>
              <a:t>r</a:t>
            </a:r>
            <a:r>
              <a:rPr dirty="0" sz="1100" spc="-5">
                <a:latin typeface="Arial"/>
                <a:cs typeface="Arial"/>
              </a:rPr>
              <a:t>, the additional  foreign exchange and rising foreign debt represented by the positive basic transfers pose no  problems for recipient nations. In fact, as noted in earlier chapters, this process of debt  accumulation for productive investments in both rural and urban areas represents an essential  ingredient in any viable strategy of long-term</a:t>
            </a:r>
            <a:r>
              <a:rPr dirty="0" sz="1100" spc="35">
                <a:latin typeface="Arial"/>
                <a:cs typeface="Arial"/>
              </a:rPr>
              <a:t> </a:t>
            </a:r>
            <a:r>
              <a:rPr dirty="0" sz="1100" spc="-5">
                <a:latin typeface="Arial"/>
                <a:cs typeface="Arial"/>
              </a:rPr>
              <a:t>development.</a:t>
            </a:r>
            <a:endParaRPr sz="1100">
              <a:latin typeface="Arial"/>
              <a:cs typeface="Arial"/>
            </a:endParaRPr>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283</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10768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 serious problem can arise, however, when (1) the accumulated debt becomes very large so  that its rate of increase, </a:t>
            </a:r>
            <a:r>
              <a:rPr dirty="0" sz="1100" spc="-5" i="1">
                <a:latin typeface="Arial"/>
                <a:cs typeface="Arial"/>
              </a:rPr>
              <a:t>d</a:t>
            </a:r>
            <a:r>
              <a:rPr dirty="0" sz="1100" spc="-5">
                <a:latin typeface="Arial"/>
                <a:cs typeface="Arial"/>
              </a:rPr>
              <a:t>, naturally begins to decline as amortization rises relative to rates of  new gross inflows; (2) the sources of foreign capital switch from long-term “official flows” on  fixed, concessional terms to short-term, variable-rate private bank loans at market rates that  cause </a:t>
            </a:r>
            <a:r>
              <a:rPr dirty="0" sz="1100" spc="-5" i="1">
                <a:latin typeface="Arial"/>
                <a:cs typeface="Arial"/>
              </a:rPr>
              <a:t>r </a:t>
            </a:r>
            <a:r>
              <a:rPr dirty="0" sz="1100" spc="-5">
                <a:latin typeface="Arial"/>
                <a:cs typeface="Arial"/>
              </a:rPr>
              <a:t>to rise; (3) the country begins to experience severe balance of payments problems as  commodity prices plummet and the terms of </a:t>
            </a:r>
            <a:r>
              <a:rPr dirty="0" sz="1100">
                <a:latin typeface="Arial"/>
                <a:cs typeface="Arial"/>
              </a:rPr>
              <a:t>trade </a:t>
            </a:r>
            <a:r>
              <a:rPr dirty="0" sz="1100" spc="-5">
                <a:latin typeface="Arial"/>
                <a:cs typeface="Arial"/>
              </a:rPr>
              <a:t>rapidly deteriorate; (4) a global recession or  some other external shock, such as a jump in </a:t>
            </a:r>
            <a:r>
              <a:rPr dirty="0" sz="1100">
                <a:latin typeface="Arial"/>
                <a:cs typeface="Arial"/>
              </a:rPr>
              <a:t>oil </a:t>
            </a:r>
            <a:r>
              <a:rPr dirty="0" sz="1100" spc="-5">
                <a:latin typeface="Arial"/>
                <a:cs typeface="Arial"/>
              </a:rPr>
              <a:t>prices, a steep rise in U.S. interest rates on  which variable-rate private loans are based, or a sudden change in the value of </a:t>
            </a:r>
            <a:r>
              <a:rPr dirty="0" sz="1100">
                <a:latin typeface="Arial"/>
                <a:cs typeface="Arial"/>
              </a:rPr>
              <a:t>the </a:t>
            </a:r>
            <a:r>
              <a:rPr dirty="0" sz="1100" spc="-5">
                <a:latin typeface="Arial"/>
                <a:cs typeface="Arial"/>
              </a:rPr>
              <a:t>dollar, in  which most debts are denominated, takes place; (5) a loss in confidence in the ability of a  developing country to repay resulting from points 2, 3, and 4 occurs, causing private  international banks to cut off their flow of new lending; and (6) a substantial flight of capital is  precipitated by local residents who for political or economic reasons (e.g., expectations of  currency devaluation) send great sums of money out of the country to be invested in developed-  country financial securities, real estate, and bank</a:t>
            </a:r>
            <a:r>
              <a:rPr dirty="0" sz="1100" spc="40">
                <a:latin typeface="Arial"/>
                <a:cs typeface="Arial"/>
              </a:rPr>
              <a:t> </a:t>
            </a:r>
            <a:r>
              <a:rPr dirty="0" sz="1100" spc="-5">
                <a:latin typeface="Arial"/>
                <a:cs typeface="Arial"/>
              </a:rPr>
              <a:t>accounts.</a:t>
            </a:r>
            <a:endParaRPr sz="1100">
              <a:latin typeface="Arial"/>
              <a:cs typeface="Arial"/>
            </a:endParaRPr>
          </a:p>
          <a:p>
            <a:pPr>
              <a:lnSpc>
                <a:spcPct val="100000"/>
              </a:lnSpc>
              <a:spcBef>
                <a:spcPts val="55"/>
              </a:spcBef>
            </a:pPr>
            <a:endParaRPr sz="1050">
              <a:latin typeface="Arial"/>
              <a:cs typeface="Arial"/>
            </a:endParaRPr>
          </a:p>
          <a:p>
            <a:pPr algn="just" marL="12700" marR="6350" indent="-635">
              <a:lnSpc>
                <a:spcPct val="95900"/>
              </a:lnSpc>
            </a:pPr>
            <a:r>
              <a:rPr dirty="0" sz="1100" spc="-5">
                <a:latin typeface="Arial"/>
                <a:cs typeface="Arial"/>
              </a:rPr>
              <a:t>All six factors can combine to lower </a:t>
            </a:r>
            <a:r>
              <a:rPr dirty="0" sz="1100" spc="-5" i="1">
                <a:latin typeface="Arial"/>
                <a:cs typeface="Arial"/>
              </a:rPr>
              <a:t>d </a:t>
            </a:r>
            <a:r>
              <a:rPr dirty="0" sz="1100" spc="-5">
                <a:latin typeface="Arial"/>
                <a:cs typeface="Arial"/>
              </a:rPr>
              <a:t>and raise </a:t>
            </a:r>
            <a:r>
              <a:rPr dirty="0" sz="1100" spc="-5" i="1">
                <a:latin typeface="Arial"/>
                <a:cs typeface="Arial"/>
              </a:rPr>
              <a:t>r </a:t>
            </a:r>
            <a:r>
              <a:rPr dirty="0" sz="1100" spc="-5">
                <a:latin typeface="Arial"/>
                <a:cs typeface="Arial"/>
              </a:rPr>
              <a:t>in the basic-transfer equation, with the net  result that the overall basic transfer becomes highly negative, and capital flows from the  underdeveloped to the developed world (as shown in Table 13.5). The debt crisis then becomes  a self-reinforcing phenomenon, and heavily indebted developing countries are forced into a  downward spiral of negative basic transfers, dwindling foreign reserves, and stalled  development prospects. The story of the debt crisis of the 1980s is largely told by the simple  analysis of the factors affecting the basic-transfer mechanism of Equation 13.2. Against this  analytical background, we can now look at the specific details of the 1980s debt crisis and the  policy responses in the 1980s and early 1990s, and, in the case of many African and some  other low-income economies, into the late 1990s and</a:t>
            </a:r>
            <a:r>
              <a:rPr dirty="0" sz="1100" spc="45">
                <a:latin typeface="Arial"/>
                <a:cs typeface="Arial"/>
              </a:rPr>
              <a:t> </a:t>
            </a:r>
            <a:r>
              <a:rPr dirty="0" sz="1100" spc="-5">
                <a:latin typeface="Arial"/>
                <a:cs typeface="Arial"/>
              </a:rPr>
              <a:t>2000s.</a:t>
            </a:r>
            <a:endParaRPr sz="1100">
              <a:latin typeface="Arial"/>
              <a:cs typeface="Arial"/>
            </a:endParaRPr>
          </a:p>
          <a:p>
            <a:pPr>
              <a:lnSpc>
                <a:spcPct val="100000"/>
              </a:lnSpc>
              <a:spcBef>
                <a:spcPts val="50"/>
              </a:spcBef>
            </a:pPr>
            <a:endParaRPr sz="1100">
              <a:latin typeface="Arial"/>
              <a:cs typeface="Arial"/>
            </a:endParaRPr>
          </a:p>
          <a:p>
            <a:pPr algn="just" marL="12700">
              <a:lnSpc>
                <a:spcPct val="100000"/>
              </a:lnSpc>
            </a:pPr>
            <a:r>
              <a:rPr dirty="0" sz="1200" spc="-5" b="1">
                <a:latin typeface="Arial"/>
                <a:cs typeface="Arial"/>
              </a:rPr>
              <a:t>ORIGINS OF THE 1980S DEBT</a:t>
            </a:r>
            <a:r>
              <a:rPr dirty="0" sz="1200" spc="15" b="1">
                <a:latin typeface="Arial"/>
                <a:cs typeface="Arial"/>
              </a:rPr>
              <a:t> </a:t>
            </a:r>
            <a:r>
              <a:rPr dirty="0" sz="1200" spc="-5" b="1">
                <a:latin typeface="Arial"/>
                <a:cs typeface="Arial"/>
              </a:rPr>
              <a:t>CRISIS</a:t>
            </a:r>
            <a:endParaRPr sz="1200">
              <a:latin typeface="Arial"/>
              <a:cs typeface="Arial"/>
            </a:endParaRPr>
          </a:p>
          <a:p>
            <a:pPr>
              <a:lnSpc>
                <a:spcPct val="100000"/>
              </a:lnSpc>
            </a:pPr>
            <a:endParaRPr sz="1200">
              <a:latin typeface="Arial"/>
              <a:cs typeface="Arial"/>
            </a:endParaRPr>
          </a:p>
          <a:p>
            <a:pPr algn="just" marL="12700" marR="6985">
              <a:lnSpc>
                <a:spcPct val="95900"/>
              </a:lnSpc>
            </a:pPr>
            <a:r>
              <a:rPr dirty="0" sz="1100" spc="-5">
                <a:latin typeface="Arial"/>
                <a:cs typeface="Arial"/>
              </a:rPr>
              <a:t>The seeds of the 1980s debt crisis were sown in the 1974–1979 period, when there was a  virtual explosion in international lending, precipitated by the first major OPEC oil price increase.  By 1974, developing countries had begun playing a larger role in the world economy, having  averaged growth rates of 6.6% in 1967–1973. Mexico, Brazil, Venezuela, and Argentina in Latin  America, among other nations, had begun importing heavily, especially capital goods, oil, and  food. Following outward-looking development strategies, they expanded their exports  aggressively. In the face of high oil prices and a worldwide recession, in which the growth rates  of the industrialized countries fell from an average of 5.2% in 1967–1974 to an average of 2.7%  for the rest of the 1970s, many developing countries sought to sustain their high growth rates  through increased</a:t>
            </a:r>
            <a:r>
              <a:rPr dirty="0" sz="1100">
                <a:latin typeface="Arial"/>
                <a:cs typeface="Arial"/>
              </a:rPr>
              <a:t> </a:t>
            </a:r>
            <a:r>
              <a:rPr dirty="0" sz="1100" spc="-5">
                <a:latin typeface="Arial"/>
                <a:cs typeface="Arial"/>
              </a:rPr>
              <a:t>borrowing.</a:t>
            </a:r>
            <a:endParaRPr sz="1100">
              <a:latin typeface="Arial"/>
              <a:cs typeface="Arial"/>
            </a:endParaRPr>
          </a:p>
          <a:p>
            <a:pPr>
              <a:lnSpc>
                <a:spcPct val="100000"/>
              </a:lnSpc>
              <a:spcBef>
                <a:spcPts val="50"/>
              </a:spcBef>
            </a:pPr>
            <a:endParaRPr sz="1050">
              <a:latin typeface="Arial"/>
              <a:cs typeface="Arial"/>
            </a:endParaRPr>
          </a:p>
          <a:p>
            <a:pPr algn="just" marL="12700" marR="6350">
              <a:lnSpc>
                <a:spcPct val="95800"/>
              </a:lnSpc>
              <a:spcBef>
                <a:spcPts val="5"/>
              </a:spcBef>
            </a:pPr>
            <a:r>
              <a:rPr dirty="0" sz="1100" spc="-5">
                <a:latin typeface="Arial"/>
                <a:cs typeface="Arial"/>
              </a:rPr>
              <a:t>Although lending from official sources, particularly non concessional lending, increased  significantly, it was insufficient to meet growth needs. Furthermore, countries with an excess of  imports over lagging exports were reluctant to approach official sources, such as the IMF, that  might subject them </a:t>
            </a:r>
            <a:r>
              <a:rPr dirty="0" sz="1100">
                <a:latin typeface="Arial"/>
                <a:cs typeface="Arial"/>
              </a:rPr>
              <a:t>to </a:t>
            </a:r>
            <a:r>
              <a:rPr dirty="0" sz="1100" spc="-5">
                <a:latin typeface="Arial"/>
                <a:cs typeface="Arial"/>
              </a:rPr>
              <a:t>painful policy adjustments. So, the middle-income and </a:t>
            </a:r>
            <a:r>
              <a:rPr dirty="0" sz="1100">
                <a:latin typeface="Arial"/>
                <a:cs typeface="Arial"/>
              </a:rPr>
              <a:t>newly  </a:t>
            </a:r>
            <a:r>
              <a:rPr dirty="0" sz="1100" spc="-5">
                <a:latin typeface="Arial"/>
                <a:cs typeface="Arial"/>
              </a:rPr>
              <a:t>industrializing developing countries turned to commercial banks and other private lenders, which  began issuing general-purpose loans to </a:t>
            </a:r>
            <a:r>
              <a:rPr dirty="0" sz="1100">
                <a:latin typeface="Arial"/>
                <a:cs typeface="Arial"/>
              </a:rPr>
              <a:t>provide </a:t>
            </a:r>
            <a:r>
              <a:rPr dirty="0" sz="1100" spc="-5">
                <a:latin typeface="Arial"/>
                <a:cs typeface="Arial"/>
              </a:rPr>
              <a:t>balance of payments support. Commercial  banks, holding the bulk of the OPEC surplus (which had jumped from $7 billion in 1973 to $68  billion in 1974 and ultimately peaked in this period at $115 billion in 1980) and facing a low  demand for capital from the slower-growing industrialized countries, aggressively competed in  lending to developing countries on comparatively permissive and favorable terms. Figure 13.1  portrays</a:t>
            </a:r>
            <a:r>
              <a:rPr dirty="0" sz="1100" spc="65">
                <a:latin typeface="Arial"/>
                <a:cs typeface="Arial"/>
              </a:rPr>
              <a:t> </a:t>
            </a:r>
            <a:r>
              <a:rPr dirty="0" sz="1100" spc="-5">
                <a:latin typeface="Arial"/>
                <a:cs typeface="Arial"/>
              </a:rPr>
              <a:t>the</a:t>
            </a:r>
            <a:r>
              <a:rPr dirty="0" sz="1100" spc="65">
                <a:latin typeface="Arial"/>
                <a:cs typeface="Arial"/>
              </a:rPr>
              <a:t> </a:t>
            </a:r>
            <a:r>
              <a:rPr dirty="0" sz="1100" spc="-5">
                <a:latin typeface="Arial"/>
                <a:cs typeface="Arial"/>
              </a:rPr>
              <a:t>mechanism</a:t>
            </a:r>
            <a:r>
              <a:rPr dirty="0" sz="1100" spc="65">
                <a:latin typeface="Arial"/>
                <a:cs typeface="Arial"/>
              </a:rPr>
              <a:t> </a:t>
            </a:r>
            <a:r>
              <a:rPr dirty="0" sz="1100" spc="-5">
                <a:latin typeface="Arial"/>
                <a:cs typeface="Arial"/>
              </a:rPr>
              <a:t>by</a:t>
            </a:r>
            <a:r>
              <a:rPr dirty="0" sz="1100" spc="65">
                <a:latin typeface="Arial"/>
                <a:cs typeface="Arial"/>
              </a:rPr>
              <a:t> </a:t>
            </a:r>
            <a:r>
              <a:rPr dirty="0" sz="1100">
                <a:latin typeface="Arial"/>
                <a:cs typeface="Arial"/>
              </a:rPr>
              <a:t>which</a:t>
            </a:r>
            <a:r>
              <a:rPr dirty="0" sz="1100" spc="60">
                <a:latin typeface="Arial"/>
                <a:cs typeface="Arial"/>
              </a:rPr>
              <a:t> </a:t>
            </a:r>
            <a:r>
              <a:rPr dirty="0" sz="1100" spc="-5">
                <a:latin typeface="Arial"/>
                <a:cs typeface="Arial"/>
              </a:rPr>
              <a:t>OPEC</a:t>
            </a:r>
            <a:r>
              <a:rPr dirty="0" sz="1100" spc="70">
                <a:latin typeface="Arial"/>
                <a:cs typeface="Arial"/>
              </a:rPr>
              <a:t> </a:t>
            </a:r>
            <a:r>
              <a:rPr dirty="0" sz="1100" spc="-5">
                <a:latin typeface="Arial"/>
                <a:cs typeface="Arial"/>
              </a:rPr>
              <a:t>petrodollars</a:t>
            </a:r>
            <a:r>
              <a:rPr dirty="0" sz="1100" spc="60">
                <a:latin typeface="Arial"/>
                <a:cs typeface="Arial"/>
              </a:rPr>
              <a:t> </a:t>
            </a:r>
            <a:r>
              <a:rPr dirty="0" sz="1100" spc="-5">
                <a:latin typeface="Arial"/>
                <a:cs typeface="Arial"/>
              </a:rPr>
              <a:t>were</a:t>
            </a:r>
            <a:r>
              <a:rPr dirty="0" sz="1100" spc="65">
                <a:latin typeface="Arial"/>
                <a:cs typeface="Arial"/>
              </a:rPr>
              <a:t> </a:t>
            </a:r>
            <a:r>
              <a:rPr dirty="0" sz="1100" spc="-5">
                <a:latin typeface="Arial"/>
                <a:cs typeface="Arial"/>
              </a:rPr>
              <a:t>recycled,</a:t>
            </a:r>
            <a:r>
              <a:rPr dirty="0" sz="1100" spc="70">
                <a:latin typeface="Arial"/>
                <a:cs typeface="Arial"/>
              </a:rPr>
              <a:t> </a:t>
            </a:r>
            <a:r>
              <a:rPr dirty="0" sz="1100" spc="-5">
                <a:latin typeface="Arial"/>
                <a:cs typeface="Arial"/>
              </a:rPr>
              <a:t>starting</a:t>
            </a:r>
            <a:r>
              <a:rPr dirty="0" sz="1100" spc="60">
                <a:latin typeface="Arial"/>
                <a:cs typeface="Arial"/>
              </a:rPr>
              <a:t> </a:t>
            </a:r>
            <a:r>
              <a:rPr dirty="0" sz="1100" spc="-5">
                <a:latin typeface="Arial"/>
                <a:cs typeface="Arial"/>
              </a:rPr>
              <a:t>with</a:t>
            </a:r>
            <a:r>
              <a:rPr dirty="0" sz="1100" spc="70">
                <a:latin typeface="Arial"/>
                <a:cs typeface="Arial"/>
              </a:rPr>
              <a:t> </a:t>
            </a:r>
            <a:r>
              <a:rPr dirty="0" sz="1100" spc="-5">
                <a:latin typeface="Arial"/>
                <a:cs typeface="Arial"/>
              </a:rPr>
              <a:t>Middle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284</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08483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Eastern oil export earnings being deposited in U.S. and European banks, which then lent these  dollar balances to developing-world public- and private-sector borrowers. Over $350 billion was  recycled from OPEC countries between 1976 and 1982. As a result of </a:t>
            </a:r>
            <a:r>
              <a:rPr dirty="0" sz="1100">
                <a:latin typeface="Arial"/>
                <a:cs typeface="Arial"/>
              </a:rPr>
              <a:t>all </a:t>
            </a:r>
            <a:r>
              <a:rPr dirty="0" sz="1100" spc="-5">
                <a:latin typeface="Arial"/>
                <a:cs typeface="Arial"/>
              </a:rPr>
              <a:t>these factors, the total  external debt of developing countries more than doubled from $180 billion in 1975 to $406  billion in 1979, increasing over </a:t>
            </a:r>
            <a:r>
              <a:rPr dirty="0" sz="1100">
                <a:latin typeface="Arial"/>
                <a:cs typeface="Arial"/>
              </a:rPr>
              <a:t>20% </a:t>
            </a:r>
            <a:r>
              <a:rPr dirty="0" sz="1100" spc="-5">
                <a:latin typeface="Arial"/>
                <a:cs typeface="Arial"/>
              </a:rPr>
              <a:t>annually. More significant, an increasing portion of the debt  was now on non concessional terms involving shorter maturities and market rates of interest,  often variable</a:t>
            </a:r>
            <a:r>
              <a:rPr dirty="0" sz="1100">
                <a:latin typeface="Arial"/>
                <a:cs typeface="Arial"/>
              </a:rPr>
              <a:t> </a:t>
            </a:r>
            <a:r>
              <a:rPr dirty="0" sz="1100" spc="-5">
                <a:latin typeface="Arial"/>
                <a:cs typeface="Arial"/>
              </a:rPr>
              <a:t>rates.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In 1971, about 40% of the total external debt was on non concessional terms. This increased to  68% by 1975, and by 1979, over 77% of the debt was on harder terms. Although the increase in  non concessional lending by official institutions was partly responsible for this rising proportion,  the more than tripling of lending by private capital markets played the major role. Together, the  large increase in the size of debt and the larger proportion scheduled on harder terms were  responsible for the tripling of debt service payments, which rose from $25 billion in 1975 to $75  billion in 1979.</a:t>
            </a:r>
            <a:endParaRPr sz="1100">
              <a:latin typeface="Arial"/>
              <a:cs typeface="Arial"/>
            </a:endParaRPr>
          </a:p>
          <a:p>
            <a:pPr>
              <a:lnSpc>
                <a:spcPct val="100000"/>
              </a:lnSpc>
              <a:spcBef>
                <a:spcPts val="30"/>
              </a:spcBef>
            </a:pPr>
            <a:endParaRPr sz="1100">
              <a:latin typeface="Arial"/>
              <a:cs typeface="Arial"/>
            </a:endParaRPr>
          </a:p>
          <a:p>
            <a:pPr algn="just" marL="12700" marR="6350">
              <a:lnSpc>
                <a:spcPts val="1270"/>
              </a:lnSpc>
            </a:pPr>
            <a:r>
              <a:rPr dirty="0" sz="1100" spc="-5">
                <a:latin typeface="Arial"/>
                <a:cs typeface="Arial"/>
              </a:rPr>
              <a:t>Despite the sizable increases in debt-servicing obligations, the ability of most developing  countries to meet their debt service payments during the late 1970s remained largely  unimpaired. This was primarily a function of the international economic climate during</a:t>
            </a:r>
            <a:r>
              <a:rPr dirty="0" sz="1100" spc="125">
                <a:latin typeface="Arial"/>
                <a:cs typeface="Arial"/>
              </a:rPr>
              <a:t> </a:t>
            </a:r>
            <a:r>
              <a:rPr dirty="0" sz="1100" spc="-5">
                <a:latin typeface="Arial"/>
                <a:cs typeface="Arial"/>
              </a:rPr>
              <a:t>that</a:t>
            </a:r>
            <a:endParaRPr sz="1100">
              <a:latin typeface="Arial"/>
              <a:cs typeface="Arial"/>
            </a:endParaRPr>
          </a:p>
        </p:txBody>
      </p:sp>
      <p:sp>
        <p:nvSpPr>
          <p:cNvPr id="7" name="object 7"/>
          <p:cNvSpPr txBox="1"/>
          <p:nvPr/>
        </p:nvSpPr>
        <p:spPr>
          <a:xfrm>
            <a:off x="901700" y="8949918"/>
            <a:ext cx="5969000" cy="193040"/>
          </a:xfrm>
          <a:prstGeom prst="rect">
            <a:avLst/>
          </a:prstGeom>
        </p:spPr>
        <p:txBody>
          <a:bodyPr wrap="square" lIns="0" tIns="12065" rIns="0" bIns="0" rtlCol="0" vert="horz">
            <a:spAutoFit/>
          </a:bodyPr>
          <a:lstStyle/>
          <a:p>
            <a:pPr marL="12700">
              <a:lnSpc>
                <a:spcPct val="100000"/>
              </a:lnSpc>
              <a:spcBef>
                <a:spcPts val="95"/>
              </a:spcBef>
            </a:pPr>
            <a:r>
              <a:rPr dirty="0" sz="1100" spc="-5">
                <a:latin typeface="Arial"/>
                <a:cs typeface="Arial"/>
              </a:rPr>
              <a:t>period.</a:t>
            </a:r>
            <a:r>
              <a:rPr dirty="0" sz="1100" spc="175">
                <a:latin typeface="Arial"/>
                <a:cs typeface="Arial"/>
              </a:rPr>
              <a:t> </a:t>
            </a:r>
            <a:r>
              <a:rPr dirty="0" sz="1100" spc="-5">
                <a:latin typeface="Arial"/>
                <a:cs typeface="Arial"/>
              </a:rPr>
              <a:t>A</a:t>
            </a:r>
            <a:r>
              <a:rPr dirty="0" sz="1100" spc="180">
                <a:latin typeface="Arial"/>
                <a:cs typeface="Arial"/>
              </a:rPr>
              <a:t> </a:t>
            </a:r>
            <a:r>
              <a:rPr dirty="0" sz="1100" spc="-5">
                <a:latin typeface="Arial"/>
                <a:cs typeface="Arial"/>
              </a:rPr>
              <a:t>combination</a:t>
            </a:r>
            <a:r>
              <a:rPr dirty="0" sz="1100" spc="175">
                <a:latin typeface="Arial"/>
                <a:cs typeface="Arial"/>
              </a:rPr>
              <a:t> </a:t>
            </a:r>
            <a:r>
              <a:rPr dirty="0" sz="1100" spc="-5">
                <a:latin typeface="Arial"/>
                <a:cs typeface="Arial"/>
              </a:rPr>
              <a:t>of</a:t>
            </a:r>
            <a:r>
              <a:rPr dirty="0" sz="1100" spc="180">
                <a:latin typeface="Arial"/>
                <a:cs typeface="Arial"/>
              </a:rPr>
              <a:t> </a:t>
            </a:r>
            <a:r>
              <a:rPr dirty="0" sz="1100" spc="-5">
                <a:latin typeface="Arial"/>
                <a:cs typeface="Arial"/>
              </a:rPr>
              <a:t>declining</a:t>
            </a:r>
            <a:r>
              <a:rPr dirty="0" sz="1100" spc="175">
                <a:latin typeface="Arial"/>
                <a:cs typeface="Arial"/>
              </a:rPr>
              <a:t> </a:t>
            </a:r>
            <a:r>
              <a:rPr dirty="0" sz="1100" spc="-5">
                <a:latin typeface="Arial"/>
                <a:cs typeface="Arial"/>
              </a:rPr>
              <a:t>real</a:t>
            </a:r>
            <a:r>
              <a:rPr dirty="0" sz="1100" spc="180">
                <a:latin typeface="Arial"/>
                <a:cs typeface="Arial"/>
              </a:rPr>
              <a:t> </a:t>
            </a:r>
            <a:r>
              <a:rPr dirty="0" sz="1100" spc="-5">
                <a:latin typeface="Arial"/>
                <a:cs typeface="Arial"/>
              </a:rPr>
              <a:t>oil</a:t>
            </a:r>
            <a:r>
              <a:rPr dirty="0" sz="1100" spc="180">
                <a:latin typeface="Arial"/>
                <a:cs typeface="Arial"/>
              </a:rPr>
              <a:t> </a:t>
            </a:r>
            <a:r>
              <a:rPr dirty="0" sz="1100" spc="-5">
                <a:latin typeface="Arial"/>
                <a:cs typeface="Arial"/>
              </a:rPr>
              <a:t>prices</a:t>
            </a:r>
            <a:r>
              <a:rPr dirty="0" sz="1100" spc="185">
                <a:latin typeface="Arial"/>
                <a:cs typeface="Arial"/>
              </a:rPr>
              <a:t> </a:t>
            </a:r>
            <a:r>
              <a:rPr dirty="0" sz="1100" spc="-5">
                <a:latin typeface="Arial"/>
                <a:cs typeface="Arial"/>
              </a:rPr>
              <a:t>as</a:t>
            </a:r>
            <a:r>
              <a:rPr dirty="0" sz="1100" spc="180">
                <a:latin typeface="Arial"/>
                <a:cs typeface="Arial"/>
              </a:rPr>
              <a:t> </a:t>
            </a:r>
            <a:r>
              <a:rPr dirty="0" sz="1100" spc="-5">
                <a:latin typeface="Arial"/>
                <a:cs typeface="Arial"/>
              </a:rPr>
              <a:t>a</a:t>
            </a:r>
            <a:r>
              <a:rPr dirty="0" sz="1100" spc="180">
                <a:latin typeface="Arial"/>
                <a:cs typeface="Arial"/>
              </a:rPr>
              <a:t> </a:t>
            </a:r>
            <a:r>
              <a:rPr dirty="0" sz="1100" spc="-5">
                <a:latin typeface="Arial"/>
                <a:cs typeface="Arial"/>
              </a:rPr>
              <a:t>result</a:t>
            </a:r>
            <a:r>
              <a:rPr dirty="0" sz="1100" spc="180">
                <a:latin typeface="Arial"/>
                <a:cs typeface="Arial"/>
              </a:rPr>
              <a:t> </a:t>
            </a:r>
            <a:r>
              <a:rPr dirty="0" sz="1100" spc="-5">
                <a:latin typeface="Arial"/>
                <a:cs typeface="Arial"/>
              </a:rPr>
              <a:t>of</a:t>
            </a:r>
            <a:r>
              <a:rPr dirty="0" sz="1100" spc="175">
                <a:latin typeface="Arial"/>
                <a:cs typeface="Arial"/>
              </a:rPr>
              <a:t> </a:t>
            </a:r>
            <a:r>
              <a:rPr dirty="0" sz="1100" spc="-5">
                <a:latin typeface="Arial"/>
                <a:cs typeface="Arial"/>
              </a:rPr>
              <a:t>inflation,</a:t>
            </a:r>
            <a:r>
              <a:rPr dirty="0" sz="1100" spc="180">
                <a:latin typeface="Arial"/>
                <a:cs typeface="Arial"/>
              </a:rPr>
              <a:t> </a:t>
            </a:r>
            <a:r>
              <a:rPr dirty="0" sz="1100" spc="-5">
                <a:latin typeface="Arial"/>
                <a:cs typeface="Arial"/>
              </a:rPr>
              <a:t>low</a:t>
            </a:r>
            <a:r>
              <a:rPr dirty="0" sz="1100" spc="180">
                <a:latin typeface="Arial"/>
                <a:cs typeface="Arial"/>
              </a:rPr>
              <a:t> </a:t>
            </a:r>
            <a:r>
              <a:rPr dirty="0" sz="1100" spc="-5">
                <a:latin typeface="Arial"/>
                <a:cs typeface="Arial"/>
              </a:rPr>
              <a:t>or</a:t>
            </a:r>
            <a:r>
              <a:rPr dirty="0" sz="1100" spc="175">
                <a:latin typeface="Arial"/>
                <a:cs typeface="Arial"/>
              </a:rPr>
              <a:t> </a:t>
            </a:r>
            <a:r>
              <a:rPr dirty="0" sz="1100" spc="-5">
                <a:latin typeface="Arial"/>
                <a:cs typeface="Arial"/>
              </a:rPr>
              <a:t>negative</a:t>
            </a:r>
            <a:r>
              <a:rPr dirty="0" sz="1100" spc="180">
                <a:latin typeface="Arial"/>
                <a:cs typeface="Arial"/>
              </a:rPr>
              <a:t> </a:t>
            </a:r>
            <a:r>
              <a:rPr dirty="0" sz="1100" spc="-5">
                <a:latin typeface="Arial"/>
                <a:cs typeface="Arial"/>
              </a:rPr>
              <a:t>real</a:t>
            </a:r>
            <a:endParaRPr sz="1100">
              <a:latin typeface="Arial"/>
              <a:cs typeface="Arial"/>
            </a:endParaRPr>
          </a:p>
        </p:txBody>
      </p:sp>
      <p:sp>
        <p:nvSpPr>
          <p:cNvPr id="8" name="object 8"/>
          <p:cNvSpPr/>
          <p:nvPr/>
        </p:nvSpPr>
        <p:spPr>
          <a:xfrm>
            <a:off x="838200" y="4057650"/>
            <a:ext cx="5943600" cy="4914900"/>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285</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03845"/>
          </a:xfrm>
          <a:prstGeom prst="rect">
            <a:avLst/>
          </a:prstGeom>
        </p:spPr>
        <p:txBody>
          <a:bodyPr wrap="square" lIns="0" tIns="19050" rIns="0" bIns="0" rtlCol="0" vert="horz">
            <a:spAutoFit/>
          </a:bodyPr>
          <a:lstStyle/>
          <a:p>
            <a:pPr algn="just" marL="12700" marR="6350">
              <a:lnSpc>
                <a:spcPct val="95900"/>
              </a:lnSpc>
              <a:spcBef>
                <a:spcPts val="150"/>
              </a:spcBef>
            </a:pPr>
            <a:r>
              <a:rPr dirty="0" sz="1100" spc="-5">
                <a:latin typeface="Arial"/>
                <a:cs typeface="Arial"/>
              </a:rPr>
              <a:t>interest rates, and increased export earnings narrowed current account deficits toward the end  of the decade and enabled developing countries to sustain relatively high growth rates,  averaging 5.2% during 1973–1979, through massive borrowing. In sum, the surge in  international lending following the first oil shock was largely during the period 1974–1979. In a  congenial economic atmosphere, it permitted developing countries to maintain relatively high  rates of growth with little debt-servicing difficulty. It also facilitated the recycling of a huge  surplus from oil exporters to oil importers through the lending activities of private international  banks, and it helped dampen the recession in industrialized countries by providing </a:t>
            </a:r>
            <a:r>
              <a:rPr dirty="0" sz="1100">
                <a:latin typeface="Arial"/>
                <a:cs typeface="Arial"/>
              </a:rPr>
              <a:t>for </a:t>
            </a:r>
            <a:r>
              <a:rPr dirty="0" sz="1100" spc="-5">
                <a:latin typeface="Arial"/>
                <a:cs typeface="Arial"/>
              </a:rPr>
              <a:t>increased  export demand on the part of developing</a:t>
            </a:r>
            <a:r>
              <a:rPr dirty="0" sz="1100" spc="35">
                <a:latin typeface="Arial"/>
                <a:cs typeface="Arial"/>
              </a:rPr>
              <a:t> </a:t>
            </a:r>
            <a:r>
              <a:rPr dirty="0" sz="1100" spc="-5">
                <a:latin typeface="Arial"/>
                <a:cs typeface="Arial"/>
              </a:rPr>
              <a:t>countries.</a:t>
            </a:r>
            <a:endParaRPr sz="1100">
              <a:latin typeface="Arial"/>
              <a:cs typeface="Arial"/>
            </a:endParaRPr>
          </a:p>
          <a:p>
            <a:pPr>
              <a:lnSpc>
                <a:spcPct val="100000"/>
              </a:lnSpc>
              <a:spcBef>
                <a:spcPts val="55"/>
              </a:spcBef>
            </a:pPr>
            <a:endParaRPr sz="1050">
              <a:latin typeface="Arial"/>
              <a:cs typeface="Arial"/>
            </a:endParaRPr>
          </a:p>
          <a:p>
            <a:pPr algn="just" marL="12700" marR="6350">
              <a:lnSpc>
                <a:spcPct val="95800"/>
              </a:lnSpc>
            </a:pPr>
            <a:r>
              <a:rPr dirty="0" sz="1100" spc="-5">
                <a:latin typeface="Arial"/>
                <a:cs typeface="Arial"/>
              </a:rPr>
              <a:t>Unfortunately, this success was short-lived, and in fact, the surge in international lending that  occurred in 1974–1979 had laid the groundwork for all the problems </a:t>
            </a:r>
            <a:r>
              <a:rPr dirty="0" sz="1100">
                <a:latin typeface="Arial"/>
                <a:cs typeface="Arial"/>
              </a:rPr>
              <a:t>that </a:t>
            </a:r>
            <a:r>
              <a:rPr dirty="0" sz="1100" spc="-5">
                <a:latin typeface="Arial"/>
                <a:cs typeface="Arial"/>
              </a:rPr>
              <a:t>were to come. The  second oil shock, which occurred in 1979, brought about a complete reversal of the economic  conditions conducive to the success of international lending in the previous period. Now  developing countries faced an abrupt increase in oil prices that added to oil import bills and  affected industrial goods imports. There was also a huge increase in interest rates caused by  the industrialized countries’ economic stabilization policies and a decrease in export earnings  for developing countries resulting from a combination of slowed growth in the more developed  nations and a precipitous decline of over 20% in primary commodity export prices. Moreover,  developing countries inherited from the previous period a huge debt and debt service obligation,  which was made even more onerous by burgeoning interest rates and more precarious as a  result of the bunching of short-term</a:t>
            </a:r>
            <a:r>
              <a:rPr dirty="0" sz="1100" spc="20">
                <a:latin typeface="Arial"/>
                <a:cs typeface="Arial"/>
              </a:rPr>
              <a:t> </a:t>
            </a:r>
            <a:r>
              <a:rPr dirty="0" sz="1100" spc="-5">
                <a:latin typeface="Arial"/>
                <a:cs typeface="Arial"/>
              </a:rPr>
              <a:t>maturities.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Finally, during the entire period of debt accumulation, one of the most significant and persistent  trends was the tremendous increase in private capital flight. It is estimated that between 1976  and 1985, about $200 billion fled the heavily indebted countries. This was the equivalent of 50%  of the total borrowings by developing countries over the same period. Fully 62% of Argentina’s  and 71% of Mexico’s debt growth are estimated to have resulted from capital flight. In fact,  some researchers have argued that the 1985 level of Mexican debt would have been $12 billion  (rather than the actual $96 billion) were it not for the huge private capital</a:t>
            </a:r>
            <a:r>
              <a:rPr dirty="0" sz="1100" spc="105">
                <a:latin typeface="Arial"/>
                <a:cs typeface="Arial"/>
              </a:rPr>
              <a:t> </a:t>
            </a:r>
            <a:r>
              <a:rPr dirty="0" sz="1100" spc="-5">
                <a:latin typeface="Arial"/>
                <a:cs typeface="Arial"/>
              </a:rPr>
              <a:t>flight.</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Facing this critical situation, developing countries had two policy options. They could either  curtail imports or impose restrictive fiscal and monetary measures, thus impeding growth and  development objectives, or they </a:t>
            </a:r>
            <a:r>
              <a:rPr dirty="0" sz="1100">
                <a:latin typeface="Arial"/>
                <a:cs typeface="Arial"/>
              </a:rPr>
              <a:t>could </a:t>
            </a:r>
            <a:r>
              <a:rPr dirty="0" sz="1100" spc="-5">
                <a:latin typeface="Arial"/>
                <a:cs typeface="Arial"/>
              </a:rPr>
              <a:t>finance their widening current account deficits through  more external borrowing. Unable, and sometimes unwilling, to adopt the first option as a means  of solving the balance of payments crisis, many countries were forced in the 1980s to rely on  the second option, borrowing even more heavily. As a result, massive debt service obligations  accumulated, so that countries like Nigeria, Argentina, Ecuador, and Peru were experiencing  negative economic growth in the 1980s and consequently faced severe difficulties in paying  even the interest on their debts out of export earnings. They could no longer borrow funds in the  world’s private capital markets. In fact, not only did private lending dry up, but </a:t>
            </a:r>
            <a:r>
              <a:rPr dirty="0" sz="1100">
                <a:latin typeface="Arial"/>
                <a:cs typeface="Arial"/>
              </a:rPr>
              <a:t>by </a:t>
            </a:r>
            <a:r>
              <a:rPr dirty="0" sz="1100" spc="-5">
                <a:latin typeface="Arial"/>
                <a:cs typeface="Arial"/>
              </a:rPr>
              <a:t>1984, the  developing countries were paying back $10.2 billion more to the commercial banks than they  were receiving in new loans (see Table</a:t>
            </a:r>
            <a:r>
              <a:rPr dirty="0" sz="1100" spc="30">
                <a:latin typeface="Arial"/>
                <a:cs typeface="Arial"/>
              </a:rPr>
              <a:t> </a:t>
            </a:r>
            <a:r>
              <a:rPr dirty="0" sz="1100" spc="-5">
                <a:latin typeface="Arial"/>
                <a:cs typeface="Arial"/>
              </a:rPr>
              <a:t>13.4).</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In the 1990s, the economic situations of developing countries varied greatly: Many experienced  positive net transfers, but others remained in crisis. The statistical picture became more  complicated after the mid-1990s, with middle income developing countries increasingly relying  on foreign direct investment. Some countries in crisis probably experienced negative net  financial</a:t>
            </a:r>
            <a:r>
              <a:rPr dirty="0" sz="1100" spc="-10">
                <a:latin typeface="Arial"/>
                <a:cs typeface="Arial"/>
              </a:rPr>
              <a:t> </a:t>
            </a:r>
            <a:r>
              <a:rPr dirty="0" sz="1100" spc="-5">
                <a:latin typeface="Arial"/>
                <a:cs typeface="Arial"/>
              </a:rPr>
              <a:t>transfers.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286</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58" y="892556"/>
            <a:ext cx="5970270" cy="779018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b="1">
                <a:latin typeface="Arial"/>
                <a:cs typeface="Arial"/>
              </a:rPr>
              <a:t>ATTEMPTS AT ALLEVIATION: MACROECONOMIC INSTABILITY, CLASSIC </a:t>
            </a:r>
            <a:r>
              <a:rPr dirty="0" sz="1100" b="1">
                <a:latin typeface="Arial"/>
                <a:cs typeface="Arial"/>
              </a:rPr>
              <a:t>IMF  </a:t>
            </a:r>
            <a:r>
              <a:rPr dirty="0" sz="1100" spc="-5" b="1">
                <a:latin typeface="Arial"/>
                <a:cs typeface="Arial"/>
              </a:rPr>
              <a:t>STABILIZATION POLICIES, AND THEIR</a:t>
            </a:r>
            <a:r>
              <a:rPr dirty="0" sz="1100" spc="20" b="1">
                <a:latin typeface="Arial"/>
                <a:cs typeface="Arial"/>
              </a:rPr>
              <a:t> </a:t>
            </a:r>
            <a:r>
              <a:rPr dirty="0" sz="1100" spc="-5" b="1">
                <a:latin typeface="Arial"/>
                <a:cs typeface="Arial"/>
              </a:rPr>
              <a:t>CRITICS</a:t>
            </a:r>
            <a:endParaRPr sz="1100">
              <a:latin typeface="Arial"/>
              <a:cs typeface="Arial"/>
            </a:endParaRPr>
          </a:p>
          <a:p>
            <a:pPr>
              <a:lnSpc>
                <a:spcPct val="100000"/>
              </a:lnSpc>
              <a:spcBef>
                <a:spcPts val="25"/>
              </a:spcBef>
            </a:pPr>
            <a:endParaRPr sz="1100">
              <a:latin typeface="Arial"/>
              <a:cs typeface="Arial"/>
            </a:endParaRPr>
          </a:p>
          <a:p>
            <a:pPr algn="just" marL="12700">
              <a:lnSpc>
                <a:spcPct val="100000"/>
              </a:lnSpc>
            </a:pPr>
            <a:r>
              <a:rPr dirty="0" sz="1100" spc="-5" b="1">
                <a:latin typeface="Arial"/>
                <a:cs typeface="Arial"/>
              </a:rPr>
              <a:t>THE IMF STABILIZATION</a:t>
            </a:r>
            <a:r>
              <a:rPr dirty="0" sz="1100" spc="10" b="1">
                <a:latin typeface="Arial"/>
                <a:cs typeface="Arial"/>
              </a:rPr>
              <a:t> </a:t>
            </a:r>
            <a:r>
              <a:rPr dirty="0" sz="1100" spc="-5" b="1">
                <a:latin typeface="Arial"/>
                <a:cs typeface="Arial"/>
              </a:rPr>
              <a:t>PROGRAM</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900"/>
              </a:lnSpc>
            </a:pPr>
            <a:r>
              <a:rPr dirty="0" sz="1100" spc="-5">
                <a:latin typeface="Arial"/>
                <a:cs typeface="Arial"/>
              </a:rPr>
              <a:t>One course of action that was increasingly but often reluctantly used by countries facing serious  </a:t>
            </a:r>
            <a:r>
              <a:rPr dirty="0" sz="1100" spc="-5" b="1">
                <a:latin typeface="Arial"/>
                <a:cs typeface="Arial"/>
              </a:rPr>
              <a:t>macroeconomic instability </a:t>
            </a:r>
            <a:r>
              <a:rPr dirty="0" sz="1100" spc="-5">
                <a:latin typeface="Arial"/>
                <a:cs typeface="Arial"/>
              </a:rPr>
              <a:t>(high inflation and severe government budget and foreign-  payments deficits) along with growing foreign-debt obligations was to renegotiate loans with  private international banks. The basic idea was to stretch out the payment period for principal  and interest or to obtain additional financing on more favorable terms. Typically, however, such  debtor countries had to deal with </a:t>
            </a:r>
            <a:r>
              <a:rPr dirty="0" sz="1100">
                <a:latin typeface="Arial"/>
                <a:cs typeface="Arial"/>
              </a:rPr>
              <a:t>the </a:t>
            </a:r>
            <a:r>
              <a:rPr dirty="0" sz="1100" spc="-5">
                <a:latin typeface="Arial"/>
                <a:cs typeface="Arial"/>
              </a:rPr>
              <a:t>IMF before a consortium of international banks would  agree to refinance or defer existing loan schedules. Relying on the IMF to impose tough  </a:t>
            </a:r>
            <a:r>
              <a:rPr dirty="0" sz="1100" spc="-5" b="1">
                <a:latin typeface="Arial"/>
                <a:cs typeface="Arial"/>
              </a:rPr>
              <a:t>stabilization policies</a:t>
            </a:r>
            <a:r>
              <a:rPr dirty="0" sz="1100" spc="-5">
                <a:latin typeface="Arial"/>
                <a:cs typeface="Arial"/>
              </a:rPr>
              <a:t>, a process known as conditionality, before it agreed to lend funds in  excess of their legal IMF quotas, the private banks interpreted successful negotiations with the  IMF as a sign that borrowing countries were making serious efforts to reduce payments deficits  and earn the foreign exchange needed to repay earlier</a:t>
            </a:r>
            <a:r>
              <a:rPr dirty="0" sz="1100" spc="50">
                <a:latin typeface="Arial"/>
                <a:cs typeface="Arial"/>
              </a:rPr>
              <a:t> </a:t>
            </a:r>
            <a:r>
              <a:rPr dirty="0" sz="1100" spc="-5">
                <a:latin typeface="Arial"/>
                <a:cs typeface="Arial"/>
              </a:rPr>
              <a:t>loans.</a:t>
            </a:r>
            <a:endParaRPr sz="1100">
              <a:latin typeface="Arial"/>
              <a:cs typeface="Arial"/>
            </a:endParaRPr>
          </a:p>
          <a:p>
            <a:pPr>
              <a:lnSpc>
                <a:spcPct val="100000"/>
              </a:lnSpc>
              <a:spcBef>
                <a:spcPts val="50"/>
              </a:spcBef>
            </a:pPr>
            <a:endParaRPr sz="1150">
              <a:latin typeface="Arial"/>
              <a:cs typeface="Arial"/>
            </a:endParaRPr>
          </a:p>
          <a:p>
            <a:pPr algn="just" marL="469900" marR="7620" indent="-228600">
              <a:lnSpc>
                <a:spcPts val="1260"/>
              </a:lnSpc>
              <a:spcBef>
                <a:spcPts val="5"/>
              </a:spcBef>
              <a:buFont typeface="Symbol"/>
              <a:buChar char=""/>
              <a:tabLst>
                <a:tab pos="470534" algn="l"/>
              </a:tabLst>
            </a:pPr>
            <a:r>
              <a:rPr dirty="0" sz="1100" spc="-5" b="1">
                <a:latin typeface="Arial"/>
                <a:cs typeface="Arial"/>
              </a:rPr>
              <a:t>Macroeconomic instability: </a:t>
            </a:r>
            <a:r>
              <a:rPr dirty="0" sz="1100" spc="-5">
                <a:latin typeface="Arial"/>
                <a:cs typeface="Arial"/>
              </a:rPr>
              <a:t>Situation in which a country has high inflation  accompanied by rising budget and trade deficits and a rapidly expanding money</a:t>
            </a:r>
            <a:r>
              <a:rPr dirty="0" sz="1100" spc="210">
                <a:latin typeface="Arial"/>
                <a:cs typeface="Arial"/>
              </a:rPr>
              <a:t> </a:t>
            </a:r>
            <a:r>
              <a:rPr dirty="0" sz="1100" spc="-5">
                <a:latin typeface="Arial"/>
                <a:cs typeface="Arial"/>
              </a:rPr>
              <a:t>supply.</a:t>
            </a:r>
            <a:endParaRPr sz="1100">
              <a:latin typeface="Arial"/>
              <a:cs typeface="Arial"/>
            </a:endParaRPr>
          </a:p>
          <a:p>
            <a:pPr algn="just" marL="469900" marR="5715" indent="-228600">
              <a:lnSpc>
                <a:spcPct val="95700"/>
              </a:lnSpc>
              <a:spcBef>
                <a:spcPts val="45"/>
              </a:spcBef>
              <a:buFont typeface="Symbol"/>
              <a:buChar char=""/>
              <a:tabLst>
                <a:tab pos="470534" algn="l"/>
              </a:tabLst>
            </a:pPr>
            <a:r>
              <a:rPr dirty="0" sz="1100" spc="-5" b="1">
                <a:latin typeface="Arial"/>
                <a:cs typeface="Arial"/>
              </a:rPr>
              <a:t>Stabilization policies: </a:t>
            </a:r>
            <a:r>
              <a:rPr dirty="0" sz="1100" spc="-5">
                <a:latin typeface="Arial"/>
                <a:cs typeface="Arial"/>
              </a:rPr>
              <a:t>A coordinated set of mostly restrictive fiscal and monetary  policies aimed at reducing inflation, cutting budget deficits, and improving the balance of  payments.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There are four basic components to the typical IMF stabilization</a:t>
            </a:r>
            <a:r>
              <a:rPr dirty="0" sz="1100" spc="75" b="1">
                <a:latin typeface="Arial"/>
                <a:cs typeface="Arial"/>
              </a:rPr>
              <a:t> </a:t>
            </a:r>
            <a:r>
              <a:rPr dirty="0" sz="1100" spc="-5" b="1">
                <a:latin typeface="Arial"/>
                <a:cs typeface="Arial"/>
              </a:rPr>
              <a:t>program:</a:t>
            </a:r>
            <a:endParaRPr sz="1100">
              <a:latin typeface="Arial"/>
              <a:cs typeface="Arial"/>
            </a:endParaRPr>
          </a:p>
          <a:p>
            <a:pPr>
              <a:lnSpc>
                <a:spcPct val="100000"/>
              </a:lnSpc>
              <a:spcBef>
                <a:spcPts val="50"/>
              </a:spcBef>
            </a:pPr>
            <a:endParaRPr sz="1000">
              <a:latin typeface="Arial"/>
              <a:cs typeface="Arial"/>
            </a:endParaRPr>
          </a:p>
          <a:p>
            <a:pPr algn="just" marL="469900" indent="-228600">
              <a:lnSpc>
                <a:spcPts val="1295"/>
              </a:lnSpc>
              <a:buFont typeface="Arial"/>
              <a:buAutoNum type="arabicPeriod"/>
              <a:tabLst>
                <a:tab pos="469900" algn="l"/>
              </a:tabLst>
            </a:pPr>
            <a:r>
              <a:rPr dirty="0" sz="1100" spc="-5">
                <a:latin typeface="Arial"/>
                <a:cs typeface="Arial"/>
              </a:rPr>
              <a:t>Abolition or liberalization of foreign-exchange and import</a:t>
            </a:r>
            <a:r>
              <a:rPr dirty="0" sz="1100" spc="45">
                <a:latin typeface="Arial"/>
                <a:cs typeface="Arial"/>
              </a:rPr>
              <a:t> </a:t>
            </a:r>
            <a:r>
              <a:rPr dirty="0" sz="1100" spc="-5">
                <a:latin typeface="Arial"/>
                <a:cs typeface="Arial"/>
              </a:rPr>
              <a:t>controls.</a:t>
            </a:r>
            <a:endParaRPr sz="1100">
              <a:latin typeface="Arial"/>
              <a:cs typeface="Arial"/>
            </a:endParaRPr>
          </a:p>
          <a:p>
            <a:pPr algn="just" marL="469900" indent="-228600">
              <a:lnSpc>
                <a:spcPts val="1265"/>
              </a:lnSpc>
              <a:buFont typeface="Arial"/>
              <a:buAutoNum type="arabicPeriod"/>
              <a:tabLst>
                <a:tab pos="469900" algn="l"/>
              </a:tabLst>
            </a:pPr>
            <a:r>
              <a:rPr dirty="0" sz="1100" spc="-5">
                <a:latin typeface="Arial"/>
                <a:cs typeface="Arial"/>
              </a:rPr>
              <a:t>Devaluation of the official exchange</a:t>
            </a:r>
            <a:r>
              <a:rPr dirty="0" sz="1100" spc="20">
                <a:latin typeface="Arial"/>
                <a:cs typeface="Arial"/>
              </a:rPr>
              <a:t> </a:t>
            </a:r>
            <a:r>
              <a:rPr dirty="0" sz="1100" spc="-5">
                <a:latin typeface="Arial"/>
                <a:cs typeface="Arial"/>
              </a:rPr>
              <a:t>rate.</a:t>
            </a:r>
            <a:endParaRPr sz="1100">
              <a:latin typeface="Arial"/>
              <a:cs typeface="Arial"/>
            </a:endParaRPr>
          </a:p>
          <a:p>
            <a:pPr algn="just" marL="469900" marR="6350" indent="-228600">
              <a:lnSpc>
                <a:spcPct val="95800"/>
              </a:lnSpc>
              <a:spcBef>
                <a:spcPts val="30"/>
              </a:spcBef>
              <a:buFont typeface="Arial"/>
              <a:buAutoNum type="arabicPeriod"/>
              <a:tabLst>
                <a:tab pos="469900" algn="l"/>
              </a:tabLst>
            </a:pPr>
            <a:r>
              <a:rPr dirty="0" sz="1100" spc="-5">
                <a:latin typeface="Arial"/>
                <a:cs typeface="Arial"/>
              </a:rPr>
              <a:t>A stringent domestic anti-inflation program consisting of (a) control of bank credit to raise  interest rates and reserve requirements; (b) control of the government deficit through  curbs on spending, including in the areas of social services for the poor and staple food  subsidies, along with increases in taxes and in public-enterprise prices; (c) control of  wage increases, in particular abolishing wage indexing; </a:t>
            </a:r>
            <a:r>
              <a:rPr dirty="0" sz="1100">
                <a:latin typeface="Arial"/>
                <a:cs typeface="Arial"/>
              </a:rPr>
              <a:t>and </a:t>
            </a:r>
            <a:r>
              <a:rPr dirty="0" sz="1100" spc="-5">
                <a:latin typeface="Arial"/>
                <a:cs typeface="Arial"/>
              </a:rPr>
              <a:t>(d) dismantling of various  forms of price controls and promoting freer</a:t>
            </a:r>
            <a:r>
              <a:rPr dirty="0" sz="1100" spc="35">
                <a:latin typeface="Arial"/>
                <a:cs typeface="Arial"/>
              </a:rPr>
              <a:t> </a:t>
            </a:r>
            <a:r>
              <a:rPr dirty="0" sz="1100" spc="-5">
                <a:latin typeface="Arial"/>
                <a:cs typeface="Arial"/>
              </a:rPr>
              <a:t>markets.</a:t>
            </a:r>
            <a:endParaRPr sz="1100">
              <a:latin typeface="Arial"/>
              <a:cs typeface="Arial"/>
            </a:endParaRPr>
          </a:p>
          <a:p>
            <a:pPr algn="just" marL="469900" marR="5715" indent="-228600">
              <a:lnSpc>
                <a:spcPts val="1270"/>
              </a:lnSpc>
              <a:spcBef>
                <a:spcPts val="30"/>
              </a:spcBef>
              <a:buFont typeface="Arial"/>
              <a:buAutoNum type="arabicPeriod"/>
              <a:tabLst>
                <a:tab pos="469900" algn="l"/>
              </a:tabLst>
            </a:pPr>
            <a:r>
              <a:rPr dirty="0" sz="1100" spc="-5">
                <a:latin typeface="Arial"/>
                <a:cs typeface="Arial"/>
              </a:rPr>
              <a:t>Greater hospitality to foreign investment and a general opening up of the economy to  international commerce.</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800"/>
              </a:lnSpc>
            </a:pPr>
            <a:r>
              <a:rPr dirty="0" sz="1100" spc="-5">
                <a:latin typeface="Arial"/>
                <a:cs typeface="Arial"/>
              </a:rPr>
              <a:t>In the early 1980s, numerous debtor countries with greatly depleted foreign reserves, including  Mexico, Brazil, Argentina, Venezuela, Bangladesh, and Ghana, had to turn to the IMF to secure  additional foreign exchange. By </a:t>
            </a:r>
            <a:r>
              <a:rPr dirty="0" sz="1100">
                <a:latin typeface="Arial"/>
                <a:cs typeface="Arial"/>
              </a:rPr>
              <a:t>1992, </a:t>
            </a:r>
            <a:r>
              <a:rPr dirty="0" sz="1100" spc="-5">
                <a:latin typeface="Arial"/>
                <a:cs typeface="Arial"/>
              </a:rPr>
              <a:t>ten countries had arranged to borrow a </a:t>
            </a:r>
            <a:r>
              <a:rPr dirty="0" sz="1100">
                <a:latin typeface="Arial"/>
                <a:cs typeface="Arial"/>
              </a:rPr>
              <a:t>total </a:t>
            </a:r>
            <a:r>
              <a:rPr dirty="0" sz="1100" spc="-5">
                <a:latin typeface="Arial"/>
                <a:cs typeface="Arial"/>
              </a:rPr>
              <a:t>of $37.2  billion in special drawing rights (equal to approximately </a:t>
            </a:r>
            <a:r>
              <a:rPr dirty="0" sz="1100">
                <a:latin typeface="Arial"/>
                <a:cs typeface="Arial"/>
              </a:rPr>
              <a:t>$27 </a:t>
            </a:r>
            <a:r>
              <a:rPr dirty="0" sz="1100" spc="-5">
                <a:latin typeface="Arial"/>
                <a:cs typeface="Arial"/>
              </a:rPr>
              <a:t>billion) from the </a:t>
            </a:r>
            <a:r>
              <a:rPr dirty="0" sz="1100">
                <a:latin typeface="Arial"/>
                <a:cs typeface="Arial"/>
              </a:rPr>
              <a:t>IMF. </a:t>
            </a:r>
            <a:r>
              <a:rPr dirty="0" sz="1100" spc="-5">
                <a:latin typeface="Arial"/>
                <a:cs typeface="Arial"/>
              </a:rPr>
              <a:t>During the  Asian crisis of 1997, </a:t>
            </a:r>
            <a:r>
              <a:rPr dirty="0" sz="1100">
                <a:latin typeface="Arial"/>
                <a:cs typeface="Arial"/>
              </a:rPr>
              <a:t>the </a:t>
            </a:r>
            <a:r>
              <a:rPr dirty="0" sz="1100" spc="-5">
                <a:latin typeface="Arial"/>
                <a:cs typeface="Arial"/>
              </a:rPr>
              <a:t>IMF had </a:t>
            </a:r>
            <a:r>
              <a:rPr dirty="0" sz="1100">
                <a:latin typeface="Arial"/>
                <a:cs typeface="Arial"/>
              </a:rPr>
              <a:t>to </a:t>
            </a:r>
            <a:r>
              <a:rPr dirty="0" sz="1100" spc="-5">
                <a:latin typeface="Arial"/>
                <a:cs typeface="Arial"/>
              </a:rPr>
              <a:t>intervene with substantially larger sums of money in an  effort to stabilize the shaky economies of Thailand ($3.9 billion in IMF loans), Pakistan ($1.6  billion), the Philippines ($435 million), Indonesia ($10 billion), and South Korea ($21 billion). The  IMF became newly engaged in funding and stabilization packages in the wake of the global  financial crisis, especially in various hard-hit </a:t>
            </a:r>
            <a:r>
              <a:rPr dirty="0" sz="1100">
                <a:latin typeface="Arial"/>
                <a:cs typeface="Arial"/>
              </a:rPr>
              <a:t>Eastern </a:t>
            </a:r>
            <a:r>
              <a:rPr dirty="0" sz="1100" spc="-5">
                <a:latin typeface="Arial"/>
                <a:cs typeface="Arial"/>
              </a:rPr>
              <a:t>Europe and former Soviet </a:t>
            </a:r>
            <a:r>
              <a:rPr dirty="0" sz="1100">
                <a:latin typeface="Arial"/>
                <a:cs typeface="Arial"/>
              </a:rPr>
              <a:t>Union </a:t>
            </a:r>
            <a:r>
              <a:rPr dirty="0" sz="1100" spc="-5">
                <a:latin typeface="Arial"/>
                <a:cs typeface="Arial"/>
              </a:rPr>
              <a:t>states in  2008–2010. To receive their loans and, more important, to negotiate additional credits from  private banks, all these nations were required to adopt some or all of the enumerated  stabilization</a:t>
            </a:r>
            <a:r>
              <a:rPr dirty="0" sz="1100" spc="-10">
                <a:latin typeface="Arial"/>
                <a:cs typeface="Arial"/>
              </a:rPr>
              <a:t> </a:t>
            </a:r>
            <a:r>
              <a:rPr dirty="0" sz="1100" spc="-5">
                <a:latin typeface="Arial"/>
                <a:cs typeface="Arial"/>
              </a:rPr>
              <a:t>policies.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287</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64579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Although such policies may be successful in reducing inflation and improving </a:t>
            </a:r>
            <a:r>
              <a:rPr dirty="0" sz="1100">
                <a:latin typeface="Arial"/>
                <a:cs typeface="Arial"/>
              </a:rPr>
              <a:t>the </a:t>
            </a:r>
            <a:r>
              <a:rPr dirty="0" sz="1100" spc="-5">
                <a:latin typeface="Arial"/>
                <a:cs typeface="Arial"/>
              </a:rPr>
              <a:t>balance of  payments situation for many </a:t>
            </a:r>
            <a:r>
              <a:rPr dirty="0" sz="1100">
                <a:latin typeface="Arial"/>
                <a:cs typeface="Arial"/>
              </a:rPr>
              <a:t>developing </a:t>
            </a:r>
            <a:r>
              <a:rPr dirty="0" sz="1100" spc="-5">
                <a:latin typeface="Arial"/>
                <a:cs typeface="Arial"/>
              </a:rPr>
              <a:t>countries, they can be politically very unpopular (as  evidenced by anti-IMF riots in Venezuela, Nigeria, Indonesia, and South Korea in the 1990s)  because they strike at the heart of development efforts by disproportionately hurting the lower-  and middle-income groups. Alternatively, </a:t>
            </a:r>
            <a:r>
              <a:rPr dirty="0" sz="1100">
                <a:latin typeface="Arial"/>
                <a:cs typeface="Arial"/>
              </a:rPr>
              <a:t>they have </a:t>
            </a:r>
            <a:r>
              <a:rPr dirty="0" sz="1100" spc="-5">
                <a:latin typeface="Arial"/>
                <a:cs typeface="Arial"/>
              </a:rPr>
              <a:t>often </a:t>
            </a:r>
            <a:r>
              <a:rPr dirty="0" sz="1100">
                <a:latin typeface="Arial"/>
                <a:cs typeface="Arial"/>
              </a:rPr>
              <a:t>been </a:t>
            </a:r>
            <a:r>
              <a:rPr dirty="0" sz="1100" spc="-5">
                <a:latin typeface="Arial"/>
                <a:cs typeface="Arial"/>
              </a:rPr>
              <a:t>viewed </a:t>
            </a:r>
            <a:r>
              <a:rPr dirty="0" sz="1100">
                <a:latin typeface="Arial"/>
                <a:cs typeface="Arial"/>
              </a:rPr>
              <a:t>by </a:t>
            </a:r>
            <a:r>
              <a:rPr dirty="0" sz="1100" spc="-5">
                <a:latin typeface="Arial"/>
                <a:cs typeface="Arial"/>
              </a:rPr>
              <a:t>leaders in developing  nations as representing a double standard—harsh adjustment policies for developing-country  debtors and no adjustment of the </a:t>
            </a:r>
            <a:r>
              <a:rPr dirty="0" sz="1100">
                <a:latin typeface="Arial"/>
                <a:cs typeface="Arial"/>
              </a:rPr>
              <a:t>huge </a:t>
            </a:r>
            <a:r>
              <a:rPr dirty="0" sz="1100" spc="-5">
                <a:latin typeface="Arial"/>
                <a:cs typeface="Arial"/>
              </a:rPr>
              <a:t>budget or trade deficits for the world’s greatest debtor,  the United States. Finally, because IMF policies are being imposed by an international agency  that is perceived by those of the dependence school to be merely an arm of the </a:t>
            </a:r>
            <a:r>
              <a:rPr dirty="0" sz="1100">
                <a:latin typeface="Arial"/>
                <a:cs typeface="Arial"/>
              </a:rPr>
              <a:t>rich  </a:t>
            </a:r>
            <a:r>
              <a:rPr dirty="0" sz="1100" spc="-5">
                <a:latin typeface="Arial"/>
                <a:cs typeface="Arial"/>
              </a:rPr>
              <a:t>industrialized nations, stabilization policies are often viewed by </a:t>
            </a:r>
            <a:r>
              <a:rPr dirty="0" sz="1100">
                <a:latin typeface="Arial"/>
                <a:cs typeface="Arial"/>
              </a:rPr>
              <a:t>this </a:t>
            </a:r>
            <a:r>
              <a:rPr dirty="0" sz="1100" spc="-5">
                <a:latin typeface="Arial"/>
                <a:cs typeface="Arial"/>
              </a:rPr>
              <a:t>school as measures  designed primarily to maintain the poverty </a:t>
            </a:r>
            <a:r>
              <a:rPr dirty="0" sz="1100">
                <a:latin typeface="Arial"/>
                <a:cs typeface="Arial"/>
              </a:rPr>
              <a:t>and </a:t>
            </a:r>
            <a:r>
              <a:rPr dirty="0" sz="1100" spc="-5">
                <a:latin typeface="Arial"/>
                <a:cs typeface="Arial"/>
              </a:rPr>
              <a:t>dependence of developing countries while  preserving the global market structure for the international banks and private investors (and  speculators) from the industrialized</a:t>
            </a:r>
            <a:r>
              <a:rPr dirty="0" sz="1100" spc="15">
                <a:latin typeface="Arial"/>
                <a:cs typeface="Arial"/>
              </a:rPr>
              <a:t> </a:t>
            </a:r>
            <a:r>
              <a:rPr dirty="0" sz="1100" spc="-5">
                <a:latin typeface="Arial"/>
                <a:cs typeface="Arial"/>
              </a:rPr>
              <a:t>nations.</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900"/>
              </a:lnSpc>
            </a:pPr>
            <a:r>
              <a:rPr dirty="0" sz="1100" spc="-5">
                <a:latin typeface="Arial"/>
                <a:cs typeface="Arial"/>
              </a:rPr>
              <a:t>For example, in an extensive dependence critique of the IMF and its stabilization programs,  Cheryl Payer has argued that the IMF functions within a developed-world dominated global  trading system “as the chosen instrument for imposing imperialist financial discipline upon poor  countries” and thus creates a form of “international peonage” in which balance of payments  problems are perpetuated rather than resolved. Payer further argues that the IMF encourages  developing countries to incur additional debt from international financial institutions while </a:t>
            </a:r>
            <a:r>
              <a:rPr dirty="0" sz="1100">
                <a:latin typeface="Arial"/>
                <a:cs typeface="Arial"/>
              </a:rPr>
              <a:t>it  </a:t>
            </a:r>
            <a:r>
              <a:rPr dirty="0" sz="1100" spc="-5">
                <a:latin typeface="Arial"/>
                <a:cs typeface="Arial"/>
              </a:rPr>
              <a:t>“blackmails” them (through threats of loan rejection) into anti developmental stabilization  programs. This added debt burden thus becomes a source of future balance of payments  problems, setting up a vicious circle in which debtor nations have to run faster merely to stay in  place.</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Less radical observers view the IMF as neither pro-development nor antidevelopment but simply  as an institution trying to carry out its original, if somewhat outdated, mandate to hold the global  capitalist market together through the pursuit of orthodox short-term international financial  policies. Its primary goal is the maintenance of an “orderly” international exchange system  designed to promote monetary cooperation, expand international trade, control inflation,  encourage exchange-rate stability, and help countries deal with short-run balance of payments  problems through the provision of scarce foreign-exchange resources. Unfortunately, in a highly  unequal trading world, the balance of payments problems of many developing nations may be  structural and long-term in nature, with the result that short-term stabilization policies may easily  lead to long-run development crises. For example, between 1982 and 1988, the IMF strategy  was tested in 28 of the 32 nations of Latin America and the Caribbean. It was clearly not  working. During that period, Latin America financed $145 billion in debt payments </a:t>
            </a:r>
            <a:r>
              <a:rPr dirty="0" sz="1100">
                <a:latin typeface="Arial"/>
                <a:cs typeface="Arial"/>
              </a:rPr>
              <a:t>but </a:t>
            </a:r>
            <a:r>
              <a:rPr dirty="0" sz="1100" spc="-5">
                <a:latin typeface="Arial"/>
                <a:cs typeface="Arial"/>
              </a:rPr>
              <a:t>at a cost  of economic stagnation, rising unemployment, </a:t>
            </a:r>
            <a:r>
              <a:rPr dirty="0" sz="1100">
                <a:latin typeface="Arial"/>
                <a:cs typeface="Arial"/>
              </a:rPr>
              <a:t>and </a:t>
            </a:r>
            <a:r>
              <a:rPr dirty="0" sz="1100" spc="-5">
                <a:latin typeface="Arial"/>
                <a:cs typeface="Arial"/>
              </a:rPr>
              <a:t>a decline in per capita income of 7%. These  countries “adjusted” but did not grow. By </a:t>
            </a:r>
            <a:r>
              <a:rPr dirty="0" sz="1100">
                <a:latin typeface="Arial"/>
                <a:cs typeface="Arial"/>
              </a:rPr>
              <a:t>1988, </a:t>
            </a:r>
            <a:r>
              <a:rPr dirty="0" sz="1100" spc="-5">
                <a:latin typeface="Arial"/>
                <a:cs typeface="Arial"/>
              </a:rPr>
              <a:t>only two were barely able to make their  payments. </a:t>
            </a:r>
            <a:r>
              <a:rPr dirty="0" sz="1100">
                <a:latin typeface="Arial"/>
                <a:cs typeface="Arial"/>
              </a:rPr>
              <a:t>The </a:t>
            </a:r>
            <a:r>
              <a:rPr dirty="0" sz="1100" spc="-5">
                <a:latin typeface="Arial"/>
                <a:cs typeface="Arial"/>
              </a:rPr>
              <a:t>same situation prevailed in much of</a:t>
            </a:r>
            <a:r>
              <a:rPr dirty="0" sz="1100" spc="30">
                <a:latin typeface="Arial"/>
                <a:cs typeface="Arial"/>
              </a:rPr>
              <a:t> </a:t>
            </a:r>
            <a:r>
              <a:rPr dirty="0" sz="1100" spc="-5">
                <a:latin typeface="Arial"/>
                <a:cs typeface="Arial"/>
              </a:rPr>
              <a:t>Africa.</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288</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39759"/>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42</a:t>
            </a:r>
            <a:endParaRPr sz="1100">
              <a:latin typeface="Arial"/>
              <a:cs typeface="Arial"/>
            </a:endParaRPr>
          </a:p>
          <a:p>
            <a:pPr>
              <a:lnSpc>
                <a:spcPct val="100000"/>
              </a:lnSpc>
              <a:spcBef>
                <a:spcPts val="45"/>
              </a:spcBef>
            </a:pPr>
            <a:endParaRPr sz="1100">
              <a:latin typeface="Arial"/>
              <a:cs typeface="Arial"/>
            </a:endParaRPr>
          </a:p>
          <a:p>
            <a:pPr marL="2483485" marR="123189" indent="-2354580">
              <a:lnSpc>
                <a:spcPts val="1260"/>
              </a:lnSpc>
            </a:pPr>
            <a:r>
              <a:rPr dirty="0" sz="1100" spc="-5" b="1">
                <a:latin typeface="Arial"/>
                <a:cs typeface="Arial"/>
              </a:rPr>
              <a:t>BALANCE OF PAYMENTS, DEBT, FINANCIAL </a:t>
            </a:r>
            <a:r>
              <a:rPr dirty="0" sz="1100" spc="-10" b="1">
                <a:latin typeface="Arial"/>
                <a:cs typeface="Arial"/>
              </a:rPr>
              <a:t>CRISES </a:t>
            </a:r>
            <a:r>
              <a:rPr dirty="0" sz="1100" spc="-5" b="1">
                <a:latin typeface="Arial"/>
                <a:cs typeface="Arial"/>
              </a:rPr>
              <a:t>AND STABILIZATION POLICIES  (CONTINUED2)</a:t>
            </a:r>
            <a:endParaRPr sz="1100">
              <a:latin typeface="Arial"/>
              <a:cs typeface="Arial"/>
            </a:endParaRPr>
          </a:p>
          <a:p>
            <a:pPr>
              <a:lnSpc>
                <a:spcPct val="100000"/>
              </a:lnSpc>
              <a:spcBef>
                <a:spcPts val="30"/>
              </a:spcBef>
            </a:pPr>
            <a:endParaRPr sz="1000">
              <a:latin typeface="Arial"/>
              <a:cs typeface="Arial"/>
            </a:endParaRPr>
          </a:p>
          <a:p>
            <a:pPr algn="just" marL="12700">
              <a:lnSpc>
                <a:spcPct val="100000"/>
              </a:lnSpc>
            </a:pPr>
            <a:r>
              <a:rPr dirty="0" sz="1100" spc="-5" b="1">
                <a:latin typeface="Arial"/>
                <a:cs typeface="Arial"/>
              </a:rPr>
              <a:t>TACTICS FOR DEBT</a:t>
            </a:r>
            <a:r>
              <a:rPr dirty="0" sz="1100" spc="5" b="1">
                <a:latin typeface="Arial"/>
                <a:cs typeface="Arial"/>
              </a:rPr>
              <a:t> </a:t>
            </a:r>
            <a:r>
              <a:rPr dirty="0" sz="1100" spc="-5" b="1">
                <a:latin typeface="Arial"/>
                <a:cs typeface="Arial"/>
              </a:rPr>
              <a:t>RELIEF</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The debt crisis of the 1980s, initiated by Mexico’s declared moratorium on debt payments in  1982 (which came close to being repeated in 1995), called into question the stability and </a:t>
            </a:r>
            <a:r>
              <a:rPr dirty="0" sz="1100">
                <a:latin typeface="Arial"/>
                <a:cs typeface="Arial"/>
              </a:rPr>
              <a:t>very  </a:t>
            </a:r>
            <a:r>
              <a:rPr dirty="0" sz="1100" spc="-5">
                <a:latin typeface="Arial"/>
                <a:cs typeface="Arial"/>
              </a:rPr>
              <a:t>viability of the international financial system. Fears were voiced that if one or two of the major  debtor countries (Brazil, Mexico, or Argentina) were to default, if a group of debtor nations were  jointly to repudiate their debts by forming a </a:t>
            </a:r>
            <a:r>
              <a:rPr dirty="0" sz="1100" spc="-5" b="1">
                <a:latin typeface="Arial"/>
                <a:cs typeface="Arial"/>
              </a:rPr>
              <a:t>debtors’ cartel</a:t>
            </a:r>
            <a:r>
              <a:rPr dirty="0" sz="1100" spc="-5">
                <a:latin typeface="Arial"/>
                <a:cs typeface="Arial"/>
              </a:rPr>
              <a:t>, or if more countries followed Peru’s  early initiative to link debt servicing to export earnings, the economies of Western nations might  be seriously affected. Following the onset of the debt crisis, most developing countries were cut  off from the international capital market. Emergency meetings between international bankers  and government officials of developed nations and developing-country debtors were convened  in the financial capitals of the world. This was because Latin American debts alone exceeded  the net assets of the largest U.S. banks. Rumors of imminent default led currency speculators to  purchase dollars, driving up the dollar’s market value in 1983–1984 to a level well beyond its  shadow value and adding even further to the dollar-denominated debt burdens of developing  nations.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Numerous proposals for relieving or </a:t>
            </a:r>
            <a:r>
              <a:rPr dirty="0" sz="1100" spc="-5" b="1">
                <a:latin typeface="Arial"/>
                <a:cs typeface="Arial"/>
              </a:rPr>
              <a:t>restructuring </a:t>
            </a:r>
            <a:r>
              <a:rPr dirty="0" sz="1100" spc="-5">
                <a:latin typeface="Arial"/>
                <a:cs typeface="Arial"/>
              </a:rPr>
              <a:t>the debt burdens of highly indebted nations  have been put forward. These have ranged from a new allocation of special drawing rights to  restructuring (on better terms for debtor countries) of principal payments falling due during an  agreed consolidation period. Most notable have been </a:t>
            </a:r>
            <a:r>
              <a:rPr dirty="0" sz="1100">
                <a:latin typeface="Arial"/>
                <a:cs typeface="Arial"/>
              </a:rPr>
              <a:t>the </a:t>
            </a:r>
            <a:r>
              <a:rPr dirty="0" sz="1100" spc="-5">
                <a:latin typeface="Arial"/>
                <a:cs typeface="Arial"/>
              </a:rPr>
              <a:t>Paris </a:t>
            </a:r>
            <a:r>
              <a:rPr dirty="0" sz="1100">
                <a:latin typeface="Arial"/>
                <a:cs typeface="Arial"/>
              </a:rPr>
              <a:t>Club </a:t>
            </a:r>
            <a:r>
              <a:rPr dirty="0" sz="1100" spc="-5">
                <a:latin typeface="Arial"/>
                <a:cs typeface="Arial"/>
              </a:rPr>
              <a:t>arrangements, offering  highly concessional conditions, the so-called Toronto terms. These bilateral arrangements </a:t>
            </a:r>
            <a:r>
              <a:rPr dirty="0" sz="1100">
                <a:latin typeface="Arial"/>
                <a:cs typeface="Arial"/>
              </a:rPr>
              <a:t>for  </a:t>
            </a:r>
            <a:r>
              <a:rPr dirty="0" sz="1100" spc="-5">
                <a:latin typeface="Arial"/>
                <a:cs typeface="Arial"/>
              </a:rPr>
              <a:t>public loans permit creditor governments to choose from three alternative concessional  options—partial cancellation of up to one-third of non concessional loans, reduced interest  rates, or extended (25-year) maturity of payments—to generate cash flow savings for debtor  countries. For commercial banks, the 1989 </a:t>
            </a:r>
            <a:r>
              <a:rPr dirty="0" sz="1100" spc="-5" b="1">
                <a:latin typeface="Arial"/>
                <a:cs typeface="Arial"/>
              </a:rPr>
              <a:t>Brady Plan </a:t>
            </a:r>
            <a:r>
              <a:rPr dirty="0" sz="1100" spc="-5">
                <a:latin typeface="Arial"/>
                <a:cs typeface="Arial"/>
              </a:rPr>
              <a:t>linked partial debt forgiveness for  selected borrowers to IMF or </a:t>
            </a:r>
            <a:r>
              <a:rPr dirty="0" sz="1100">
                <a:latin typeface="Arial"/>
                <a:cs typeface="Arial"/>
              </a:rPr>
              <a:t>World </a:t>
            </a:r>
            <a:r>
              <a:rPr dirty="0" sz="1100" spc="-5">
                <a:latin typeface="Arial"/>
                <a:cs typeface="Arial"/>
              </a:rPr>
              <a:t>Bank financial support guaranteeing the payment of the  remaining loans as well as commitments by the indebted developing countries to adopt stringent  IMF-type adjustment programs, promote free markets, welcome foreign investors, and repatriate  overseas capital. In addition, there has been much discussion of </a:t>
            </a:r>
            <a:r>
              <a:rPr dirty="0" sz="1100" spc="-5" b="1">
                <a:latin typeface="Arial"/>
                <a:cs typeface="Arial"/>
              </a:rPr>
              <a:t>debt-for-equity</a:t>
            </a:r>
            <a:r>
              <a:rPr dirty="0" sz="1100" spc="130" b="1">
                <a:latin typeface="Arial"/>
                <a:cs typeface="Arial"/>
              </a:rPr>
              <a:t> </a:t>
            </a:r>
            <a:r>
              <a:rPr dirty="0" sz="1100" spc="-5" b="1">
                <a:latin typeface="Arial"/>
                <a:cs typeface="Arial"/>
              </a:rPr>
              <a:t>swaps</a:t>
            </a:r>
            <a:r>
              <a:rPr dirty="0" sz="1100" spc="-5">
                <a:latin typeface="Arial"/>
                <a:cs typeface="Arial"/>
              </a:rPr>
              <a:t>.</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These are the sale at a discount (sometimes in excess of 50%) of questionable developing-  country commercial bank debts to private investors (mostly foreign corporations) in secondary  trading markets. These corporations then trade a debtor’s IOU for a local state-owned asset,  such as a steel mill or a telephone company. Commercial banks are now more willing to engage  in such transactions because new interpretations and regulations for U.S. banks permit them to  take a loss on the loan swap while not reducing the book value of other loans to that country.  For the developing countries’ part, they are able through debt-for-equity swaps to encourage  private investments in local-currency assets from both foreign and resident investors as well as  to reduce their overall debt obligations. Much of the privatization that has occurred in Latin  American debtor countries has been financed through these swap</a:t>
            </a:r>
            <a:r>
              <a:rPr dirty="0" sz="1100" spc="70">
                <a:latin typeface="Arial"/>
                <a:cs typeface="Arial"/>
              </a:rPr>
              <a:t> </a:t>
            </a:r>
            <a:r>
              <a:rPr dirty="0" sz="1100" spc="-5">
                <a:latin typeface="Arial"/>
                <a:cs typeface="Arial"/>
              </a:rPr>
              <a:t>arrangements.</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The flip side of these benefits, however, is the fact that foreign investors are buying up the state-  owned real assets of developing nations, such as steel mills and telephone companies, at major  discounts. Observers who worry about developed-country penetration into developing  economies</a:t>
            </a:r>
            <a:r>
              <a:rPr dirty="0" sz="1100" spc="80">
                <a:latin typeface="Arial"/>
                <a:cs typeface="Arial"/>
              </a:rPr>
              <a:t> </a:t>
            </a:r>
            <a:r>
              <a:rPr dirty="0" sz="1100" spc="-5">
                <a:latin typeface="Arial"/>
                <a:cs typeface="Arial"/>
              </a:rPr>
              <a:t>or</a:t>
            </a:r>
            <a:r>
              <a:rPr dirty="0" sz="1100" spc="85">
                <a:latin typeface="Arial"/>
                <a:cs typeface="Arial"/>
              </a:rPr>
              <a:t> </a:t>
            </a:r>
            <a:r>
              <a:rPr dirty="0" sz="1100" spc="-5">
                <a:latin typeface="Arial"/>
                <a:cs typeface="Arial"/>
              </a:rPr>
              <a:t>the</a:t>
            </a:r>
            <a:r>
              <a:rPr dirty="0" sz="1100" spc="85">
                <a:latin typeface="Arial"/>
                <a:cs typeface="Arial"/>
              </a:rPr>
              <a:t> </a:t>
            </a:r>
            <a:r>
              <a:rPr dirty="0" sz="1100" spc="-5">
                <a:latin typeface="Arial"/>
                <a:cs typeface="Arial"/>
              </a:rPr>
              <a:t>exacerbation</a:t>
            </a:r>
            <a:r>
              <a:rPr dirty="0" sz="1100" spc="85">
                <a:latin typeface="Arial"/>
                <a:cs typeface="Arial"/>
              </a:rPr>
              <a:t> </a:t>
            </a:r>
            <a:r>
              <a:rPr dirty="0" sz="1100" spc="-5">
                <a:latin typeface="Arial"/>
                <a:cs typeface="Arial"/>
              </a:rPr>
              <a:t>of</a:t>
            </a:r>
            <a:r>
              <a:rPr dirty="0" sz="1100" spc="80">
                <a:latin typeface="Arial"/>
                <a:cs typeface="Arial"/>
              </a:rPr>
              <a:t> </a:t>
            </a:r>
            <a:r>
              <a:rPr dirty="0" sz="1100" spc="-5">
                <a:latin typeface="Arial"/>
                <a:cs typeface="Arial"/>
              </a:rPr>
              <a:t>domestic</a:t>
            </a:r>
            <a:r>
              <a:rPr dirty="0" sz="1100" spc="85">
                <a:latin typeface="Arial"/>
                <a:cs typeface="Arial"/>
              </a:rPr>
              <a:t> </a:t>
            </a:r>
            <a:r>
              <a:rPr dirty="0" sz="1100" spc="-5">
                <a:latin typeface="Arial"/>
                <a:cs typeface="Arial"/>
              </a:rPr>
              <a:t>dualistic</a:t>
            </a:r>
            <a:r>
              <a:rPr dirty="0" sz="1100" spc="85">
                <a:latin typeface="Arial"/>
                <a:cs typeface="Arial"/>
              </a:rPr>
              <a:t> </a:t>
            </a:r>
            <a:r>
              <a:rPr dirty="0" sz="1100" spc="-5">
                <a:latin typeface="Arial"/>
                <a:cs typeface="Arial"/>
              </a:rPr>
              <a:t>tendencies</a:t>
            </a:r>
            <a:r>
              <a:rPr dirty="0" sz="1100" spc="85">
                <a:latin typeface="Arial"/>
                <a:cs typeface="Arial"/>
              </a:rPr>
              <a:t> </a:t>
            </a:r>
            <a:r>
              <a:rPr dirty="0" sz="1100" spc="-5">
                <a:latin typeface="Arial"/>
                <a:cs typeface="Arial"/>
              </a:rPr>
              <a:t>are</a:t>
            </a:r>
            <a:r>
              <a:rPr dirty="0" sz="1100" spc="80">
                <a:latin typeface="Arial"/>
                <a:cs typeface="Arial"/>
              </a:rPr>
              <a:t> </a:t>
            </a:r>
            <a:r>
              <a:rPr dirty="0" sz="1100" spc="-5">
                <a:latin typeface="Arial"/>
                <a:cs typeface="Arial"/>
              </a:rPr>
              <a:t>naturally</a:t>
            </a:r>
            <a:r>
              <a:rPr dirty="0" sz="1100" spc="85">
                <a:latin typeface="Arial"/>
                <a:cs typeface="Arial"/>
              </a:rPr>
              <a:t> </a:t>
            </a:r>
            <a:r>
              <a:rPr dirty="0" sz="1100" spc="-5">
                <a:latin typeface="Arial"/>
                <a:cs typeface="Arial"/>
              </a:rPr>
              <a:t>troubled</a:t>
            </a:r>
            <a:r>
              <a:rPr dirty="0" sz="1100" spc="85">
                <a:latin typeface="Arial"/>
                <a:cs typeface="Arial"/>
              </a:rPr>
              <a:t> </a:t>
            </a:r>
            <a:r>
              <a:rPr dirty="0" sz="1100" spc="-5">
                <a:latin typeface="Arial"/>
                <a:cs typeface="Arial"/>
              </a:rPr>
              <a:t>by</a:t>
            </a:r>
            <a:r>
              <a:rPr dirty="0" sz="1100" spc="85">
                <a:latin typeface="Arial"/>
                <a:cs typeface="Arial"/>
              </a:rPr>
              <a:t> </a:t>
            </a:r>
            <a:r>
              <a:rPr dirty="0" sz="1100" spc="-5">
                <a:latin typeface="Arial"/>
                <a:cs typeface="Arial"/>
              </a:rPr>
              <a:t>these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289</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16483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debts for- equity swaps. Between 1985 and 1992, they accounted for over 36% of all debt  conversions.</a:t>
            </a:r>
            <a:endParaRPr sz="1100">
              <a:latin typeface="Arial"/>
              <a:cs typeface="Arial"/>
            </a:endParaRPr>
          </a:p>
          <a:p>
            <a:pPr>
              <a:lnSpc>
                <a:spcPct val="100000"/>
              </a:lnSpc>
              <a:spcBef>
                <a:spcPts val="15"/>
              </a:spcBef>
            </a:pPr>
            <a:endParaRPr sz="1050">
              <a:latin typeface="Arial"/>
              <a:cs typeface="Arial"/>
            </a:endParaRPr>
          </a:p>
          <a:p>
            <a:pPr algn="just" marL="12700" marR="5080">
              <a:lnSpc>
                <a:spcPct val="95900"/>
              </a:lnSpc>
            </a:pPr>
            <a:r>
              <a:rPr dirty="0" sz="1100" spc="-5">
                <a:latin typeface="Arial"/>
                <a:cs typeface="Arial"/>
              </a:rPr>
              <a:t>An appealing but much less significant swap arrangement is the </a:t>
            </a:r>
            <a:r>
              <a:rPr dirty="0" sz="1100" spc="-5" b="1">
                <a:latin typeface="Arial"/>
                <a:cs typeface="Arial"/>
              </a:rPr>
              <a:t>debt-for nature </a:t>
            </a:r>
            <a:r>
              <a:rPr dirty="0" sz="1100" b="1">
                <a:latin typeface="Arial"/>
                <a:cs typeface="Arial"/>
              </a:rPr>
              <a:t>swap</a:t>
            </a:r>
            <a:r>
              <a:rPr dirty="0" sz="1100">
                <a:latin typeface="Arial"/>
                <a:cs typeface="Arial"/>
              </a:rPr>
              <a:t>,  </a:t>
            </a:r>
            <a:r>
              <a:rPr dirty="0" sz="1100" spc="-5">
                <a:latin typeface="Arial"/>
                <a:cs typeface="Arial"/>
              </a:rPr>
              <a:t>intended to win commitments </a:t>
            </a:r>
            <a:r>
              <a:rPr dirty="0" sz="1100">
                <a:latin typeface="Arial"/>
                <a:cs typeface="Arial"/>
              </a:rPr>
              <a:t>by </a:t>
            </a:r>
            <a:r>
              <a:rPr dirty="0" sz="1100" spc="-5">
                <a:latin typeface="Arial"/>
                <a:cs typeface="Arial"/>
              </a:rPr>
              <a:t>a developing country’s government to environmental  preservation of such assets as the rain forests in Ecuador or a national park in Costa Rica (see  Chapter 10). Most debt-for-nature swaps </a:t>
            </a:r>
            <a:r>
              <a:rPr dirty="0" sz="1100">
                <a:latin typeface="Arial"/>
                <a:cs typeface="Arial"/>
              </a:rPr>
              <a:t>are </a:t>
            </a:r>
            <a:r>
              <a:rPr dirty="0" sz="1100" spc="-5">
                <a:latin typeface="Arial"/>
                <a:cs typeface="Arial"/>
              </a:rPr>
              <a:t>carved out by nongovernmental organizations  such as the World Wildlife Fund or the Nature Conservancy. They purchase the debtor nation’s  IOU at a discount from a local bank and then restructure it into local-currency payments, which  are then used, say, to preserve an endangered natural resource. Since 2000, new debt-for-  nature exchanges have been worked out in several countries, including Guatemala, Costa Rica,  Cameroon, Peru, Colombia, Jordan, Ghana, Belize, Indonesia, and Jamaica. For example, </a:t>
            </a:r>
            <a:r>
              <a:rPr dirty="0" sz="1100">
                <a:latin typeface="Arial"/>
                <a:cs typeface="Arial"/>
              </a:rPr>
              <a:t>in  </a:t>
            </a:r>
            <a:r>
              <a:rPr dirty="0" sz="1100" spc="-5">
                <a:latin typeface="Arial"/>
                <a:cs typeface="Arial"/>
              </a:rPr>
              <a:t>2008, $20 million was provided through the World Wildlife Foundation in a project to protect  Madagascar’s biodiversity while relieving part of its government debt to</a:t>
            </a:r>
            <a:r>
              <a:rPr dirty="0" sz="1100" spc="90">
                <a:latin typeface="Arial"/>
                <a:cs typeface="Arial"/>
              </a:rPr>
              <a:t> </a:t>
            </a:r>
            <a:r>
              <a:rPr dirty="0" sz="1100" spc="-5">
                <a:latin typeface="Arial"/>
                <a:cs typeface="Arial"/>
              </a:rPr>
              <a:t>France.</a:t>
            </a:r>
            <a:endParaRPr sz="1100">
              <a:latin typeface="Arial"/>
              <a:cs typeface="Arial"/>
            </a:endParaRPr>
          </a:p>
          <a:p>
            <a:pPr>
              <a:lnSpc>
                <a:spcPct val="100000"/>
              </a:lnSpc>
              <a:spcBef>
                <a:spcPts val="55"/>
              </a:spcBef>
            </a:pPr>
            <a:endParaRPr sz="1150">
              <a:latin typeface="Arial"/>
              <a:cs typeface="Arial"/>
            </a:endParaRPr>
          </a:p>
          <a:p>
            <a:pPr algn="just" marL="469900" marR="7620" indent="-228600">
              <a:lnSpc>
                <a:spcPts val="1260"/>
              </a:lnSpc>
              <a:buFont typeface="Symbol"/>
              <a:buChar char=""/>
              <a:tabLst>
                <a:tab pos="469900" algn="l"/>
              </a:tabLst>
            </a:pPr>
            <a:r>
              <a:rPr dirty="0" sz="1100" spc="-5" b="1">
                <a:latin typeface="Arial"/>
                <a:cs typeface="Arial"/>
              </a:rPr>
              <a:t>Debtors’ cartel: </a:t>
            </a:r>
            <a:r>
              <a:rPr dirty="0" sz="1100" spc="-5">
                <a:latin typeface="Arial"/>
                <a:cs typeface="Arial"/>
              </a:rPr>
              <a:t>A </a:t>
            </a:r>
            <a:r>
              <a:rPr dirty="0" sz="1100">
                <a:latin typeface="Arial"/>
                <a:cs typeface="Arial"/>
              </a:rPr>
              <a:t>group </a:t>
            </a:r>
            <a:r>
              <a:rPr dirty="0" sz="1100" spc="-5">
                <a:latin typeface="Arial"/>
                <a:cs typeface="Arial"/>
              </a:rPr>
              <a:t>of developing-country debtors who join together to bargain as  a group with</a:t>
            </a:r>
            <a:r>
              <a:rPr dirty="0" sz="1100" spc="5">
                <a:latin typeface="Arial"/>
                <a:cs typeface="Arial"/>
              </a:rPr>
              <a:t> </a:t>
            </a:r>
            <a:r>
              <a:rPr dirty="0" sz="1100" spc="-5">
                <a:latin typeface="Arial"/>
                <a:cs typeface="Arial"/>
              </a:rPr>
              <a:t>creditors.</a:t>
            </a:r>
            <a:endParaRPr sz="1100">
              <a:latin typeface="Arial"/>
              <a:cs typeface="Arial"/>
            </a:endParaRPr>
          </a:p>
          <a:p>
            <a:pPr algn="just" marL="469900" marR="5715" indent="-228600">
              <a:lnSpc>
                <a:spcPts val="1260"/>
              </a:lnSpc>
              <a:spcBef>
                <a:spcPts val="85"/>
              </a:spcBef>
              <a:buFont typeface="Symbol"/>
              <a:buChar char=""/>
              <a:tabLst>
                <a:tab pos="469900" algn="l"/>
              </a:tabLst>
            </a:pPr>
            <a:r>
              <a:rPr dirty="0" sz="1100" spc="-5" b="1">
                <a:latin typeface="Arial"/>
                <a:cs typeface="Arial"/>
              </a:rPr>
              <a:t>Restructuring: </a:t>
            </a:r>
            <a:r>
              <a:rPr dirty="0" sz="1100" spc="-5">
                <a:latin typeface="Arial"/>
                <a:cs typeface="Arial"/>
              </a:rPr>
              <a:t>Altering the terms </a:t>
            </a:r>
            <a:r>
              <a:rPr dirty="0" sz="1100">
                <a:latin typeface="Arial"/>
                <a:cs typeface="Arial"/>
              </a:rPr>
              <a:t>and </a:t>
            </a:r>
            <a:r>
              <a:rPr dirty="0" sz="1100" spc="-5">
                <a:latin typeface="Arial"/>
                <a:cs typeface="Arial"/>
              </a:rPr>
              <a:t>conditions of debt repayment, usually by lowering  interest rates or extending the repayment</a:t>
            </a:r>
            <a:r>
              <a:rPr dirty="0" sz="1100" spc="30">
                <a:latin typeface="Arial"/>
                <a:cs typeface="Arial"/>
              </a:rPr>
              <a:t> </a:t>
            </a:r>
            <a:r>
              <a:rPr dirty="0" sz="1100" spc="-5">
                <a:latin typeface="Arial"/>
                <a:cs typeface="Arial"/>
              </a:rPr>
              <a:t>period.</a:t>
            </a:r>
            <a:endParaRPr sz="1100">
              <a:latin typeface="Arial"/>
              <a:cs typeface="Arial"/>
            </a:endParaRPr>
          </a:p>
          <a:p>
            <a:pPr algn="just" marL="469900" marR="6350" indent="-228600">
              <a:lnSpc>
                <a:spcPct val="95800"/>
              </a:lnSpc>
              <a:spcBef>
                <a:spcPts val="45"/>
              </a:spcBef>
              <a:buFont typeface="Symbol"/>
              <a:buChar char=""/>
              <a:tabLst>
                <a:tab pos="469900" algn="l"/>
              </a:tabLst>
            </a:pPr>
            <a:r>
              <a:rPr dirty="0" sz="1100" spc="-5" b="1">
                <a:latin typeface="Arial"/>
                <a:cs typeface="Arial"/>
              </a:rPr>
              <a:t>Brady </a:t>
            </a:r>
            <a:r>
              <a:rPr dirty="0" sz="1100" b="1">
                <a:latin typeface="Arial"/>
                <a:cs typeface="Arial"/>
              </a:rPr>
              <a:t>Plan: </a:t>
            </a:r>
            <a:r>
              <a:rPr dirty="0" sz="1100" spc="-5">
                <a:latin typeface="Arial"/>
                <a:cs typeface="Arial"/>
              </a:rPr>
              <a:t>A program launched in 1989 designed to reduce the size of outstanding  developing-country commercial debt through private debt forgiveness procured in  exchange for IMF and World Bank debt guarantees and greater adherence to the terms  of conditionality.</a:t>
            </a:r>
            <a:endParaRPr sz="1100">
              <a:latin typeface="Arial"/>
              <a:cs typeface="Arial"/>
            </a:endParaRPr>
          </a:p>
          <a:p>
            <a:pPr algn="just" marL="469900" marR="6350" indent="-228600">
              <a:lnSpc>
                <a:spcPct val="95800"/>
              </a:lnSpc>
              <a:spcBef>
                <a:spcPts val="80"/>
              </a:spcBef>
              <a:buFont typeface="Symbol"/>
              <a:buChar char=""/>
              <a:tabLst>
                <a:tab pos="469900" algn="l"/>
              </a:tabLst>
            </a:pPr>
            <a:r>
              <a:rPr dirty="0" sz="1100" spc="-5" b="1">
                <a:latin typeface="Arial"/>
                <a:cs typeface="Arial"/>
              </a:rPr>
              <a:t>Debt-for-equity </a:t>
            </a:r>
            <a:r>
              <a:rPr dirty="0" sz="1100" b="1">
                <a:latin typeface="Arial"/>
                <a:cs typeface="Arial"/>
              </a:rPr>
              <a:t>swap: </a:t>
            </a:r>
            <a:r>
              <a:rPr dirty="0" sz="1100" spc="-5">
                <a:latin typeface="Arial"/>
                <a:cs typeface="Arial"/>
              </a:rPr>
              <a:t>A mechanism used by indebted developing countries to reduce  the real </a:t>
            </a:r>
            <a:r>
              <a:rPr dirty="0" sz="1100">
                <a:latin typeface="Arial"/>
                <a:cs typeface="Arial"/>
              </a:rPr>
              <a:t>value </a:t>
            </a:r>
            <a:r>
              <a:rPr dirty="0" sz="1100" spc="-5">
                <a:latin typeface="Arial"/>
                <a:cs typeface="Arial"/>
              </a:rPr>
              <a:t>of external debt by exchanging equity in domestic companies (stocks) </a:t>
            </a:r>
            <a:r>
              <a:rPr dirty="0" sz="1100">
                <a:latin typeface="Arial"/>
                <a:cs typeface="Arial"/>
              </a:rPr>
              <a:t>or  </a:t>
            </a:r>
            <a:r>
              <a:rPr dirty="0" sz="1100" spc="-5">
                <a:latin typeface="Arial"/>
                <a:cs typeface="Arial"/>
              </a:rPr>
              <a:t>fixed-interest obligations of the government (bonds) for private foreign debt at large  discounts.</a:t>
            </a:r>
            <a:endParaRPr sz="1100">
              <a:latin typeface="Arial"/>
              <a:cs typeface="Arial"/>
            </a:endParaRPr>
          </a:p>
          <a:p>
            <a:pPr algn="just" marL="469900" marR="6985" indent="-228600">
              <a:lnSpc>
                <a:spcPct val="95700"/>
              </a:lnSpc>
              <a:spcBef>
                <a:spcPts val="75"/>
              </a:spcBef>
              <a:buFont typeface="Symbol"/>
              <a:buChar char=""/>
              <a:tabLst>
                <a:tab pos="469900" algn="l"/>
              </a:tabLst>
            </a:pPr>
            <a:r>
              <a:rPr dirty="0" sz="1100" spc="-5" b="1">
                <a:latin typeface="Arial"/>
                <a:cs typeface="Arial"/>
              </a:rPr>
              <a:t>Debt-for-nature </a:t>
            </a:r>
            <a:r>
              <a:rPr dirty="0" sz="1100" b="1">
                <a:latin typeface="Arial"/>
                <a:cs typeface="Arial"/>
              </a:rPr>
              <a:t>swap: </a:t>
            </a:r>
            <a:r>
              <a:rPr dirty="0" sz="1100" spc="-5">
                <a:latin typeface="Arial"/>
                <a:cs typeface="Arial"/>
              </a:rPr>
              <a:t>The exchange of foreign debt held by an organization for a  larger quantity of domestic debt that is used to finance the preservation of a natural  resource or environment in the debtor</a:t>
            </a:r>
            <a:r>
              <a:rPr dirty="0" sz="1100" spc="25">
                <a:latin typeface="Arial"/>
                <a:cs typeface="Arial"/>
              </a:rPr>
              <a:t> </a:t>
            </a:r>
            <a:r>
              <a:rPr dirty="0" sz="1100" spc="-5">
                <a:latin typeface="Arial"/>
                <a:cs typeface="Arial"/>
              </a:rPr>
              <a:t>country.</a:t>
            </a:r>
            <a:endParaRPr sz="1100">
              <a:latin typeface="Arial"/>
              <a:cs typeface="Arial"/>
            </a:endParaRPr>
          </a:p>
          <a:p>
            <a:pPr algn="just" marL="469900" marR="6985" indent="-228600">
              <a:lnSpc>
                <a:spcPts val="1260"/>
              </a:lnSpc>
              <a:spcBef>
                <a:spcPts val="114"/>
              </a:spcBef>
              <a:buFont typeface="Symbol"/>
              <a:buChar char=""/>
              <a:tabLst>
                <a:tab pos="469900" algn="l"/>
              </a:tabLst>
            </a:pPr>
            <a:r>
              <a:rPr dirty="0" sz="1100" spc="-5" b="1">
                <a:latin typeface="Arial"/>
                <a:cs typeface="Arial"/>
              </a:rPr>
              <a:t>Debt repudiation: </a:t>
            </a:r>
            <a:r>
              <a:rPr dirty="0" sz="1100" spc="-5">
                <a:latin typeface="Arial"/>
                <a:cs typeface="Arial"/>
              </a:rPr>
              <a:t>The 1980s fear in the developed world that developing countries  would stop paying their debt</a:t>
            </a:r>
            <a:r>
              <a:rPr dirty="0" sz="1100" spc="15">
                <a:latin typeface="Arial"/>
                <a:cs typeface="Arial"/>
              </a:rPr>
              <a:t> </a:t>
            </a:r>
            <a:r>
              <a:rPr dirty="0" sz="1100" spc="-5">
                <a:latin typeface="Arial"/>
                <a:cs typeface="Arial"/>
              </a:rPr>
              <a:t>obligations.</a:t>
            </a:r>
            <a:endParaRPr sz="1100">
              <a:latin typeface="Arial"/>
              <a:cs typeface="Arial"/>
            </a:endParaRPr>
          </a:p>
          <a:p>
            <a:pPr>
              <a:lnSpc>
                <a:spcPct val="100000"/>
              </a:lnSpc>
              <a:spcBef>
                <a:spcPts val="25"/>
              </a:spcBef>
            </a:pPr>
            <a:endParaRPr sz="1050">
              <a:latin typeface="Arial"/>
              <a:cs typeface="Arial"/>
            </a:endParaRPr>
          </a:p>
          <a:p>
            <a:pPr algn="just" marL="12700" marR="6350">
              <a:lnSpc>
                <a:spcPct val="95900"/>
              </a:lnSpc>
            </a:pPr>
            <a:r>
              <a:rPr dirty="0" sz="1100" spc="-5">
                <a:latin typeface="Arial"/>
                <a:cs typeface="Arial"/>
              </a:rPr>
              <a:t>The problem with most proposals for debt alleviation, including debt for- equity swaps, is that  they require private international banks to initiate or endorse the policies. Most are unwilling to  take any steps that would harm their short-run balance sheets. More significant, in the absence  of unilateral </a:t>
            </a:r>
            <a:r>
              <a:rPr dirty="0" sz="1100" spc="-5" b="1">
                <a:latin typeface="Arial"/>
                <a:cs typeface="Arial"/>
              </a:rPr>
              <a:t>debt repudiation </a:t>
            </a:r>
            <a:r>
              <a:rPr dirty="0" sz="1100" spc="-5">
                <a:latin typeface="Arial"/>
                <a:cs typeface="Arial"/>
              </a:rPr>
              <a:t>by developing countries (a policy that would hurt both borrowers  and lenders in both the short and the long term), most proposals (except debt-for-nature and  similar swaps) do not solve the debt problem but merely postpone the day when debts become  due and another crisis erupts. An often suggested proposal is to develop institutions for  unwinding developing-country debt when it becomes unsustainable, in a somewhat analogous  way to debt reorganization under corporate</a:t>
            </a:r>
            <a:r>
              <a:rPr dirty="0" sz="1100" spc="35">
                <a:latin typeface="Arial"/>
                <a:cs typeface="Arial"/>
              </a:rPr>
              <a:t> </a:t>
            </a:r>
            <a:r>
              <a:rPr dirty="0" sz="1100" spc="-5">
                <a:latin typeface="Arial"/>
                <a:cs typeface="Arial"/>
              </a:rPr>
              <a:t>bankruptcy.</a:t>
            </a:r>
            <a:endParaRPr sz="1100">
              <a:latin typeface="Arial"/>
              <a:cs typeface="Arial"/>
            </a:endParaRPr>
          </a:p>
          <a:p>
            <a:pPr>
              <a:lnSpc>
                <a:spcPct val="100000"/>
              </a:lnSpc>
              <a:spcBef>
                <a:spcPts val="55"/>
              </a:spcBef>
            </a:pPr>
            <a:endParaRPr sz="1100">
              <a:latin typeface="Arial"/>
              <a:cs typeface="Arial"/>
            </a:endParaRPr>
          </a:p>
          <a:p>
            <a:pPr algn="just" marL="12700">
              <a:lnSpc>
                <a:spcPct val="100000"/>
              </a:lnSpc>
            </a:pPr>
            <a:r>
              <a:rPr dirty="0" sz="1200" spc="-5" b="1">
                <a:latin typeface="Arial"/>
                <a:cs typeface="Arial"/>
              </a:rPr>
              <a:t>“ODIOUS DEBT” AND ITS</a:t>
            </a:r>
            <a:r>
              <a:rPr dirty="0" sz="1200" spc="10" b="1">
                <a:latin typeface="Arial"/>
                <a:cs typeface="Arial"/>
              </a:rPr>
              <a:t> </a:t>
            </a:r>
            <a:r>
              <a:rPr dirty="0" sz="1200" spc="-5" b="1">
                <a:latin typeface="Arial"/>
                <a:cs typeface="Arial"/>
              </a:rPr>
              <a:t>PREVENTION</a:t>
            </a:r>
            <a:endParaRPr sz="1200">
              <a:latin typeface="Arial"/>
              <a:cs typeface="Arial"/>
            </a:endParaRPr>
          </a:p>
          <a:p>
            <a:pPr>
              <a:lnSpc>
                <a:spcPct val="100000"/>
              </a:lnSpc>
              <a:spcBef>
                <a:spcPts val="25"/>
              </a:spcBef>
            </a:pPr>
            <a:endParaRPr sz="1200">
              <a:latin typeface="Arial"/>
              <a:cs typeface="Arial"/>
            </a:endParaRPr>
          </a:p>
          <a:p>
            <a:pPr algn="just" marL="12700" marR="5715">
              <a:lnSpc>
                <a:spcPts val="1270"/>
              </a:lnSpc>
            </a:pPr>
            <a:r>
              <a:rPr dirty="0" sz="1100" spc="-5">
                <a:latin typeface="Arial"/>
                <a:cs typeface="Arial"/>
              </a:rPr>
              <a:t>Odious debt is a concept in the theory of international law holding that just as contracts signed  under coercion are unenforceable, sovereign debt used by an undemocratic government in a  manner contrary to the interests of its people should be deemed invalid. Such odious debts  would represent personal debts of officials of the regime that incurred them, not debts of the  state that would be the responsibility of the nation’s</a:t>
            </a:r>
            <a:r>
              <a:rPr dirty="0" sz="1100" spc="50">
                <a:latin typeface="Arial"/>
                <a:cs typeface="Arial"/>
              </a:rPr>
              <a:t> </a:t>
            </a:r>
            <a:r>
              <a:rPr dirty="0" sz="1100" spc="-5">
                <a:latin typeface="Arial"/>
                <a:cs typeface="Arial"/>
              </a:rPr>
              <a:t>people.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290</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1062475"/>
            <a:ext cx="5970270" cy="7114540"/>
          </a:xfrm>
          <a:prstGeom prst="rect">
            <a:avLst/>
          </a:prstGeom>
        </p:spPr>
        <p:txBody>
          <a:bodyPr wrap="square" lIns="0" tIns="19685" rIns="0" bIns="0" rtlCol="0" vert="horz">
            <a:spAutoFit/>
          </a:bodyPr>
          <a:lstStyle/>
          <a:p>
            <a:pPr algn="just" marL="469900" marR="6350" indent="-228600">
              <a:lnSpc>
                <a:spcPct val="95700"/>
              </a:lnSpc>
              <a:spcBef>
                <a:spcPts val="155"/>
              </a:spcBef>
              <a:buFont typeface="Symbol"/>
              <a:buChar char=""/>
              <a:tabLst>
                <a:tab pos="469900" algn="l"/>
              </a:tabLst>
            </a:pPr>
            <a:r>
              <a:rPr dirty="0" sz="1100" spc="-5" b="1">
                <a:latin typeface="Arial"/>
                <a:cs typeface="Arial"/>
              </a:rPr>
              <a:t>Odious debt </a:t>
            </a:r>
            <a:r>
              <a:rPr dirty="0" sz="1100" spc="-5">
                <a:latin typeface="Arial"/>
                <a:cs typeface="Arial"/>
              </a:rPr>
              <a:t>A concept in the theory of international law holding that sovereign debt  used by an undemocratic government in a manner contrary to the interests of its people  should be deemed to be not the responsibility of democratic successor</a:t>
            </a:r>
            <a:r>
              <a:rPr dirty="0" sz="1100" spc="155">
                <a:latin typeface="Arial"/>
                <a:cs typeface="Arial"/>
              </a:rPr>
              <a:t> </a:t>
            </a:r>
            <a:r>
              <a:rPr dirty="0" sz="1100" spc="-5">
                <a:latin typeface="Arial"/>
                <a:cs typeface="Arial"/>
              </a:rPr>
              <a:t>governments.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The concept has a long history; it was implicitly invoked, albeit without its present name, by  Mexico following the overthrow of the French-backed Emperor Maximilian I and by the United  States on behalf of </a:t>
            </a:r>
            <a:r>
              <a:rPr dirty="0" sz="1100">
                <a:latin typeface="Arial"/>
                <a:cs typeface="Arial"/>
              </a:rPr>
              <a:t>Cuba </a:t>
            </a:r>
            <a:r>
              <a:rPr dirty="0" sz="1100" spc="-5">
                <a:latin typeface="Arial"/>
                <a:cs typeface="Arial"/>
              </a:rPr>
              <a:t>in negotiations following the Spanish-American War of </a:t>
            </a:r>
            <a:r>
              <a:rPr dirty="0" sz="1100">
                <a:latin typeface="Arial"/>
                <a:cs typeface="Arial"/>
              </a:rPr>
              <a:t>1898 </a:t>
            </a:r>
            <a:r>
              <a:rPr dirty="0" sz="1100" spc="-5">
                <a:latin typeface="Arial"/>
                <a:cs typeface="Arial"/>
              </a:rPr>
              <a:t>(in which  the United States abetted the rebels in the Cuban War of Independence while gaining long-term  influence). It was explicitly argued in 1927 by legal scholar Alexander Sack. Dictators widely  alleged to have looted substantial public funds while incurring foreign debt have been found in  every </a:t>
            </a:r>
            <a:r>
              <a:rPr dirty="0" sz="1100">
                <a:latin typeface="Arial"/>
                <a:cs typeface="Arial"/>
              </a:rPr>
              <a:t>developing </a:t>
            </a:r>
            <a:r>
              <a:rPr dirty="0" sz="1100" spc="-5">
                <a:latin typeface="Arial"/>
                <a:cs typeface="Arial"/>
              </a:rPr>
              <a:t>area; they include Anastasio Somoza of Nicaragua, Ferdinand Marcos of the  Philippines, Jean- Claude Duvalier of Haiti, Mobutu Sese Seko of the Democratic Republic of  Congo (then called Zaire), and Franjo Tudjman of Croatia. Many of </a:t>
            </a:r>
            <a:r>
              <a:rPr dirty="0" sz="1100">
                <a:latin typeface="Arial"/>
                <a:cs typeface="Arial"/>
              </a:rPr>
              <a:t>these </a:t>
            </a:r>
            <a:r>
              <a:rPr dirty="0" sz="1100" spc="-5">
                <a:latin typeface="Arial"/>
                <a:cs typeface="Arial"/>
              </a:rPr>
              <a:t>regimes and others  such as the apartheid government of South Africa borrowed while also spending heavily on the  apparatus of state</a:t>
            </a:r>
            <a:r>
              <a:rPr dirty="0" sz="1100" spc="5">
                <a:latin typeface="Arial"/>
                <a:cs typeface="Arial"/>
              </a:rPr>
              <a:t> </a:t>
            </a:r>
            <a:r>
              <a:rPr dirty="0" sz="1100" spc="-5">
                <a:latin typeface="Arial"/>
                <a:cs typeface="Arial"/>
              </a:rPr>
              <a:t>repression.</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RESOLUTION OF 1980S–1990S DEBT CRISES AND CONTINUED</a:t>
            </a:r>
            <a:r>
              <a:rPr dirty="0" sz="1100" spc="85" b="1">
                <a:latin typeface="Arial"/>
                <a:cs typeface="Arial"/>
              </a:rPr>
              <a:t> </a:t>
            </a:r>
            <a:r>
              <a:rPr dirty="0" sz="1100" spc="-5" b="1">
                <a:latin typeface="Arial"/>
                <a:cs typeface="Arial"/>
              </a:rPr>
              <a:t>VULNERABILITIES</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Commercial bankers and financiers in the industrialized countries declared the debt crisis over  with the signing of a Brady-type restructuring accord with Argentina in April 1992 and with Brazil  in July 1992. But for many countries, especially in Africa, the problem remained extremely  serious.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And debt crises may recur. This was vividly revealed in late 1994 and early 1995 when Mexico,  one of the great success stories of debt rescheduling, was forced to devalue its currency and  seek special standby loans to pay off its short-term debt obligations. Almost half of the private  portfolio investment capital that had flowed into Mexico (and other Latin American debtor  nations, including Brazil, Argentina, and Venezuela) in the early 1990s was summarily  withdrawn. Mexico was then forced to declare a new austerity program, further weakening the  already deteriorating condition of its shrinking middle class and its working poor. As in 1982, the  large commercial banks and Wall Street investors were once again surprised by Mexico’s</a:t>
            </a:r>
            <a:r>
              <a:rPr dirty="0" sz="1100" spc="260">
                <a:latin typeface="Arial"/>
                <a:cs typeface="Arial"/>
              </a:rPr>
              <a:t> </a:t>
            </a:r>
            <a:r>
              <a:rPr dirty="0" sz="1100" spc="-5">
                <a:latin typeface="Arial"/>
                <a:cs typeface="Arial"/>
              </a:rPr>
              <a:t>move.</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The “hot money” flows that had been universally hailed as a boon to the Mexican economic  reform program now added to its burden of retrenchment as most investors withdrew their </a:t>
            </a:r>
            <a:r>
              <a:rPr dirty="0" sz="1100">
                <a:latin typeface="Arial"/>
                <a:cs typeface="Arial"/>
              </a:rPr>
              <a:t>funds  </a:t>
            </a:r>
            <a:r>
              <a:rPr dirty="0" sz="1100" spc="-5">
                <a:latin typeface="Arial"/>
                <a:cs typeface="Arial"/>
              </a:rPr>
              <a:t>in the time that it took them to hit their computer keys. The effective debt default in 2001 by  Argentina, another purported success story, showed that the debt crisis in developing countries  can continue to rear its head. Fears of instability were renewed in 1997 and 1998. South Korea,  Indonesia, and Thailand, along with Russia, Brazil, and other countries, borrowed from the IMF  under strong austerity conditions. In South Korea and elsewhere, public discussion centered on  the view </a:t>
            </a:r>
            <a:r>
              <a:rPr dirty="0" sz="1100">
                <a:latin typeface="Arial"/>
                <a:cs typeface="Arial"/>
              </a:rPr>
              <a:t>that </a:t>
            </a:r>
            <a:r>
              <a:rPr dirty="0" sz="1100" spc="-5">
                <a:latin typeface="Arial"/>
                <a:cs typeface="Arial"/>
              </a:rPr>
              <a:t>austerity had led to unnecessarily large recessions, and in response, governments  throughout East Asia (and many outside it) worked to accelerate exports, repay IMF loans, and  greatly expand foreign-currency reserves over the subsequent decade. This process was  greatly abetted by a dollar that was widely viewed as overvalued and accompanying record U.S.  trade deficits, which continued to</a:t>
            </a:r>
            <a:r>
              <a:rPr dirty="0" sz="1100" spc="20">
                <a:latin typeface="Arial"/>
                <a:cs typeface="Arial"/>
              </a:rPr>
              <a:t> </a:t>
            </a:r>
            <a:r>
              <a:rPr dirty="0" sz="1100" spc="-5">
                <a:latin typeface="Arial"/>
                <a:cs typeface="Arial"/>
              </a:rPr>
              <a:t>increase.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291</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000"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The current account surpluses of fast-growing Asian economies have to a significant degree  mirrored </a:t>
            </a:r>
            <a:r>
              <a:rPr dirty="0" sz="1100">
                <a:latin typeface="Arial"/>
                <a:cs typeface="Arial"/>
              </a:rPr>
              <a:t>the </a:t>
            </a:r>
            <a:r>
              <a:rPr dirty="0" sz="1100" spc="-5">
                <a:latin typeface="Arial"/>
                <a:cs typeface="Arial"/>
              </a:rPr>
              <a:t>deficits of the United States (and some </a:t>
            </a:r>
            <a:r>
              <a:rPr dirty="0" sz="1100">
                <a:latin typeface="Arial"/>
                <a:cs typeface="Arial"/>
              </a:rPr>
              <a:t>other </a:t>
            </a:r>
            <a:r>
              <a:rPr dirty="0" sz="1100" spc="-5">
                <a:latin typeface="Arial"/>
                <a:cs typeface="Arial"/>
              </a:rPr>
              <a:t>high income OECD economies).  These imbalances narrowed somewhat with the </a:t>
            </a:r>
            <a:r>
              <a:rPr dirty="0" sz="1100">
                <a:latin typeface="Arial"/>
                <a:cs typeface="Arial"/>
              </a:rPr>
              <a:t>global </a:t>
            </a:r>
            <a:r>
              <a:rPr dirty="0" sz="1100" spc="-5">
                <a:latin typeface="Arial"/>
                <a:cs typeface="Arial"/>
              </a:rPr>
              <a:t>financial crisis. Past balances and IMF  projections from fall 2010 are presented in Figure 13.2. The IMF projected a modest widening of  imbalances in coming years. These projections, including the sustainability of imbalances, are  uncertain.</a:t>
            </a:r>
            <a:endParaRPr sz="1100">
              <a:latin typeface="Arial"/>
              <a:cs typeface="Arial"/>
            </a:endParaRPr>
          </a:p>
        </p:txBody>
      </p:sp>
      <p:sp>
        <p:nvSpPr>
          <p:cNvPr id="7" name="object 7"/>
          <p:cNvSpPr txBox="1"/>
          <p:nvPr/>
        </p:nvSpPr>
        <p:spPr>
          <a:xfrm>
            <a:off x="901700" y="4998199"/>
            <a:ext cx="5970905" cy="407606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HIPC</a:t>
            </a:r>
            <a:r>
              <a:rPr dirty="0" sz="1100" b="1">
                <a:latin typeface="Arial"/>
                <a:cs typeface="Arial"/>
              </a:rPr>
              <a:t> </a:t>
            </a:r>
            <a:r>
              <a:rPr dirty="0" sz="1100" spc="-5" b="1">
                <a:latin typeface="Arial"/>
                <a:cs typeface="Arial"/>
              </a:rPr>
              <a:t>INITIATIVE</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first initiative to address the problems of highly indebted poor countries (HIPCs) was  launched by the group of eight major industrialized countries (the Group of Eight, or G8) in  1996. They set up an elaborate process for qualifying for expanded debt relief through the  international financial institutions, but by 1999, only 4 of the 36 poor countries initially deemed  eligible had qualified. The G8 then agreed to set aside approximately $100 billion for  “enhanced” debt relief for those designated HIPC countries that demonstrated, to the  satisfaction of the World Bank and </a:t>
            </a:r>
            <a:r>
              <a:rPr dirty="0" sz="1100">
                <a:latin typeface="Arial"/>
                <a:cs typeface="Arial"/>
              </a:rPr>
              <a:t>the </a:t>
            </a:r>
            <a:r>
              <a:rPr dirty="0" sz="1100" spc="-5">
                <a:latin typeface="Arial"/>
                <a:cs typeface="Arial"/>
              </a:rPr>
              <a:t>IMF, that they are both pursuing “sound policies” and are  “committed” to reducing poverty. Commitment was to be demonstrated through what came to </a:t>
            </a:r>
            <a:r>
              <a:rPr dirty="0" sz="1100">
                <a:latin typeface="Arial"/>
                <a:cs typeface="Arial"/>
              </a:rPr>
              <a:t>be  </a:t>
            </a:r>
            <a:r>
              <a:rPr dirty="0" sz="1100" spc="-5">
                <a:latin typeface="Arial"/>
                <a:cs typeface="Arial"/>
              </a:rPr>
              <a:t>called poverty reduction strategy papers. But progress on committing these funds was slower  than expected, and the PRSP process (discussed further in Chapter 14) was considered  relatively disappointing. Substantial debt relief for the still-afflicted sub-Saharan African region  was promised at the </a:t>
            </a:r>
            <a:r>
              <a:rPr dirty="0" sz="1100">
                <a:latin typeface="Arial"/>
                <a:cs typeface="Arial"/>
              </a:rPr>
              <a:t>G8’s </a:t>
            </a:r>
            <a:r>
              <a:rPr dirty="0" sz="1100" spc="-5">
                <a:latin typeface="Arial"/>
                <a:cs typeface="Arial"/>
              </a:rPr>
              <a:t>2005 summit, though critics have pointed out that commitments made  were not fully followed through and debt reduction has still been far too</a:t>
            </a:r>
            <a:r>
              <a:rPr dirty="0" sz="1100" spc="105">
                <a:latin typeface="Arial"/>
                <a:cs typeface="Arial"/>
              </a:rPr>
              <a:t> </a:t>
            </a:r>
            <a:r>
              <a:rPr dirty="0" sz="1100" spc="-5">
                <a:latin typeface="Arial"/>
                <a:cs typeface="Arial"/>
              </a:rPr>
              <a:t>slow.</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GLOBAL FINANCIAL </a:t>
            </a:r>
            <a:r>
              <a:rPr dirty="0" sz="1100" spc="-10" b="1">
                <a:latin typeface="Arial"/>
                <a:cs typeface="Arial"/>
              </a:rPr>
              <a:t>CRISIS </a:t>
            </a:r>
            <a:r>
              <a:rPr dirty="0" sz="1100" spc="-5" b="1">
                <a:latin typeface="Arial"/>
                <a:cs typeface="Arial"/>
              </a:rPr>
              <a:t>AND THE DEVELOPING</a:t>
            </a:r>
            <a:r>
              <a:rPr dirty="0" sz="1100" spc="40"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Beginning with the sub prime mortgage crisis in the United States in 2007, the world faced a  global financial crisis on a scale not seen since the Great Depression. This section summarizes  early analyses of its impact on economic development; projections were still in flux as this text  went to </a:t>
            </a:r>
            <a:r>
              <a:rPr dirty="0" sz="1100">
                <a:latin typeface="Arial"/>
                <a:cs typeface="Arial"/>
              </a:rPr>
              <a:t>press </a:t>
            </a:r>
            <a:r>
              <a:rPr dirty="0" sz="1100" spc="-5">
                <a:latin typeface="Arial"/>
                <a:cs typeface="Arial"/>
              </a:rPr>
              <a:t>in January 2011. Despite the resilience of economic growth in many developing  countries, residual impacts on the developing world have been substantial, recovery was  incomplete, and serious uncertainties lingered. The crisis led to decreases in export earnings  and</a:t>
            </a:r>
            <a:r>
              <a:rPr dirty="0" sz="1100" spc="20">
                <a:latin typeface="Arial"/>
                <a:cs typeface="Arial"/>
              </a:rPr>
              <a:t> </a:t>
            </a:r>
            <a:r>
              <a:rPr dirty="0" sz="1100" spc="-5">
                <a:latin typeface="Arial"/>
                <a:cs typeface="Arial"/>
              </a:rPr>
              <a:t>economic</a:t>
            </a:r>
            <a:r>
              <a:rPr dirty="0" sz="1100" spc="25">
                <a:latin typeface="Arial"/>
                <a:cs typeface="Arial"/>
              </a:rPr>
              <a:t> </a:t>
            </a:r>
            <a:r>
              <a:rPr dirty="0" sz="1100" spc="-5">
                <a:latin typeface="Arial"/>
                <a:cs typeface="Arial"/>
              </a:rPr>
              <a:t>growth—as</a:t>
            </a:r>
            <a:r>
              <a:rPr dirty="0" sz="1100" spc="25">
                <a:latin typeface="Arial"/>
                <a:cs typeface="Arial"/>
              </a:rPr>
              <a:t> </a:t>
            </a:r>
            <a:r>
              <a:rPr dirty="0" sz="1100" spc="-5">
                <a:latin typeface="Arial"/>
                <a:cs typeface="Arial"/>
              </a:rPr>
              <a:t>well</a:t>
            </a:r>
            <a:r>
              <a:rPr dirty="0" sz="1100" spc="25">
                <a:latin typeface="Arial"/>
                <a:cs typeface="Arial"/>
              </a:rPr>
              <a:t> </a:t>
            </a:r>
            <a:r>
              <a:rPr dirty="0" sz="1100" spc="-5">
                <a:latin typeface="Arial"/>
                <a:cs typeface="Arial"/>
              </a:rPr>
              <a:t>as</a:t>
            </a:r>
            <a:r>
              <a:rPr dirty="0" sz="1100" spc="15">
                <a:latin typeface="Arial"/>
                <a:cs typeface="Arial"/>
              </a:rPr>
              <a:t> </a:t>
            </a:r>
            <a:r>
              <a:rPr dirty="0" sz="1100" spc="-5">
                <a:latin typeface="Arial"/>
                <a:cs typeface="Arial"/>
              </a:rPr>
              <a:t>in</a:t>
            </a:r>
            <a:r>
              <a:rPr dirty="0" sz="1100" spc="25">
                <a:latin typeface="Arial"/>
                <a:cs typeface="Arial"/>
              </a:rPr>
              <a:t> </a:t>
            </a:r>
            <a:r>
              <a:rPr dirty="0" sz="1100" spc="-5">
                <a:latin typeface="Arial"/>
                <a:cs typeface="Arial"/>
              </a:rPr>
              <a:t>remittances</a:t>
            </a:r>
            <a:r>
              <a:rPr dirty="0" sz="1100" spc="25">
                <a:latin typeface="Arial"/>
                <a:cs typeface="Arial"/>
              </a:rPr>
              <a:t> </a:t>
            </a:r>
            <a:r>
              <a:rPr dirty="0" sz="1100" spc="-5">
                <a:latin typeface="Arial"/>
                <a:cs typeface="Arial"/>
              </a:rPr>
              <a:t>from</a:t>
            </a:r>
            <a:r>
              <a:rPr dirty="0" sz="1100" spc="25">
                <a:latin typeface="Arial"/>
                <a:cs typeface="Arial"/>
              </a:rPr>
              <a:t> </a:t>
            </a:r>
            <a:r>
              <a:rPr dirty="0" sz="1100" spc="-5">
                <a:latin typeface="Arial"/>
                <a:cs typeface="Arial"/>
              </a:rPr>
              <a:t>citizens</a:t>
            </a:r>
            <a:r>
              <a:rPr dirty="0" sz="1100" spc="20">
                <a:latin typeface="Arial"/>
                <a:cs typeface="Arial"/>
              </a:rPr>
              <a:t> </a:t>
            </a:r>
            <a:r>
              <a:rPr dirty="0" sz="1100" spc="-5">
                <a:latin typeface="Arial"/>
                <a:cs typeface="Arial"/>
              </a:rPr>
              <a:t>working</a:t>
            </a:r>
            <a:r>
              <a:rPr dirty="0" sz="1100" spc="25">
                <a:latin typeface="Arial"/>
                <a:cs typeface="Arial"/>
              </a:rPr>
              <a:t> </a:t>
            </a:r>
            <a:r>
              <a:rPr dirty="0" sz="1100" spc="-5">
                <a:latin typeface="Arial"/>
                <a:cs typeface="Arial"/>
              </a:rPr>
              <a:t>abroad</a:t>
            </a:r>
            <a:r>
              <a:rPr dirty="0" sz="1100" spc="25">
                <a:latin typeface="Arial"/>
                <a:cs typeface="Arial"/>
              </a:rPr>
              <a:t> </a:t>
            </a:r>
            <a:r>
              <a:rPr dirty="0" sz="1100" spc="-5">
                <a:latin typeface="Arial"/>
                <a:cs typeface="Arial"/>
              </a:rPr>
              <a:t>and</a:t>
            </a:r>
            <a:r>
              <a:rPr dirty="0" sz="1100" spc="25">
                <a:latin typeface="Arial"/>
                <a:cs typeface="Arial"/>
              </a:rPr>
              <a:t> </a:t>
            </a:r>
            <a:r>
              <a:rPr dirty="0" sz="1100" spc="-5">
                <a:latin typeface="Arial"/>
                <a:cs typeface="Arial"/>
              </a:rPr>
              <a:t>foreign</a:t>
            </a:r>
            <a:r>
              <a:rPr dirty="0" sz="1100" spc="25">
                <a:latin typeface="Arial"/>
                <a:cs typeface="Arial"/>
              </a:rPr>
              <a:t> </a:t>
            </a:r>
            <a:r>
              <a:rPr dirty="0" sz="1100" spc="-5">
                <a:latin typeface="Arial"/>
                <a:cs typeface="Arial"/>
              </a:rPr>
              <a:t>direct</a:t>
            </a:r>
            <a:endParaRPr sz="1100">
              <a:latin typeface="Arial"/>
              <a:cs typeface="Arial"/>
            </a:endParaRPr>
          </a:p>
        </p:txBody>
      </p:sp>
      <p:sp>
        <p:nvSpPr>
          <p:cNvPr id="8" name="object 8"/>
          <p:cNvSpPr/>
          <p:nvPr/>
        </p:nvSpPr>
        <p:spPr>
          <a:xfrm>
            <a:off x="1572005" y="2113788"/>
            <a:ext cx="4733544" cy="2866648"/>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292</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7571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investment (FDI), two topics covered in depth in Chapter 14. Poverty reduction was also slowed  or even reversed. Recent research shows that it takes several years to rebound fully from a  major financial crisis. The origin of the crisis was the United States, but many developing  countries were relying on robust U.S. growth for expanding exports. An extended period of slow  recovery </a:t>
            </a:r>
            <a:r>
              <a:rPr dirty="0" sz="1100">
                <a:latin typeface="Arial"/>
                <a:cs typeface="Arial"/>
              </a:rPr>
              <a:t>may </a:t>
            </a:r>
            <a:r>
              <a:rPr dirty="0" sz="1100" spc="-5">
                <a:latin typeface="Arial"/>
                <a:cs typeface="Arial"/>
              </a:rPr>
              <a:t>affect </a:t>
            </a:r>
            <a:r>
              <a:rPr dirty="0" sz="1100">
                <a:latin typeface="Arial"/>
                <a:cs typeface="Arial"/>
              </a:rPr>
              <a:t>many </a:t>
            </a:r>
            <a:r>
              <a:rPr dirty="0" sz="1100" spc="-5">
                <a:latin typeface="Arial"/>
                <a:cs typeface="Arial"/>
              </a:rPr>
              <a:t>parts of the world. Historically, countries experiencing financial crises  have reduced import growth for an extended period. Initially, much of Asia has shown resilience  and its intraregional trade</a:t>
            </a:r>
            <a:r>
              <a:rPr dirty="0" sz="1100" spc="15">
                <a:latin typeface="Arial"/>
                <a:cs typeface="Arial"/>
              </a:rPr>
              <a:t> </a:t>
            </a:r>
            <a:r>
              <a:rPr dirty="0" sz="1100" spc="-5">
                <a:latin typeface="Arial"/>
                <a:cs typeface="Arial"/>
              </a:rPr>
              <a:t>increased.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CAUSES OF THE CRISIS AND CHALLENGES TO LASTING</a:t>
            </a:r>
            <a:r>
              <a:rPr dirty="0" sz="1100" spc="40" b="1">
                <a:latin typeface="Arial"/>
                <a:cs typeface="Arial"/>
              </a:rPr>
              <a:t> </a:t>
            </a:r>
            <a:r>
              <a:rPr dirty="0" sz="1100" spc="-5" b="1">
                <a:latin typeface="Arial"/>
                <a:cs typeface="Arial"/>
              </a:rPr>
              <a:t>RECOVERY</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800"/>
              </a:lnSpc>
            </a:pPr>
            <a:r>
              <a:rPr dirty="0" sz="1100" spc="-5">
                <a:latin typeface="Arial"/>
                <a:cs typeface="Arial"/>
              </a:rPr>
              <a:t>Economists have not yet reached a consensus on the root cause of the crisis; in one view, it  would not </a:t>
            </a:r>
            <a:r>
              <a:rPr dirty="0" sz="1100">
                <a:latin typeface="Arial"/>
                <a:cs typeface="Arial"/>
              </a:rPr>
              <a:t>have </a:t>
            </a:r>
            <a:r>
              <a:rPr dirty="0" sz="1100" spc="-5">
                <a:latin typeface="Arial"/>
                <a:cs typeface="Arial"/>
              </a:rPr>
              <a:t>occurred had not several things gone wrong at about the same </a:t>
            </a:r>
            <a:r>
              <a:rPr dirty="0" sz="1100">
                <a:latin typeface="Arial"/>
                <a:cs typeface="Arial"/>
              </a:rPr>
              <a:t>time. </a:t>
            </a:r>
            <a:r>
              <a:rPr dirty="0" sz="1100" spc="-5">
                <a:latin typeface="Arial"/>
                <a:cs typeface="Arial"/>
              </a:rPr>
              <a:t>In </a:t>
            </a:r>
            <a:r>
              <a:rPr dirty="0" sz="1100">
                <a:latin typeface="Arial"/>
                <a:cs typeface="Arial"/>
              </a:rPr>
              <a:t>the  </a:t>
            </a:r>
            <a:r>
              <a:rPr dirty="0" sz="1100" spc="-5">
                <a:latin typeface="Arial"/>
                <a:cs typeface="Arial"/>
              </a:rPr>
              <a:t>United States, one factor high on most lists is financial deregulation that was rapid and wide-  ranging (and careless in its design and implementation). Deregulation came with repeal of rules  separating commercial and investment banking without an adequate regulatory framework to  replace it, failure to regulate newly introduced financial instruments, lack of enforcement of  remaining regulations, and artificially low interest rates. Fuel for the fire came from public policy  encouraging home ownership through sub prime lending—underpinned with support of implicitly  guaranteed “government sponsored enterprises,” notably Freddie Mac and Fannie Mae—along  with the packaging and resale of these loans with understatements of their riskiness. Other  developed countries, including several in Europe, had parallel financial stability problems that  were exposed by the </a:t>
            </a:r>
            <a:r>
              <a:rPr dirty="0" sz="1100">
                <a:latin typeface="Arial"/>
                <a:cs typeface="Arial"/>
              </a:rPr>
              <a:t>crisis. </a:t>
            </a:r>
            <a:r>
              <a:rPr dirty="0" sz="1100" spc="-5">
                <a:latin typeface="Arial"/>
                <a:cs typeface="Arial"/>
              </a:rPr>
              <a:t>The result was a fragile financial system, with high leverage and  complex and incompletely understood financial securities. The so-called Basel III requirements  rolled out in September 2010, along with a U.S. law passed in May 2010 and similar legislation  in other countries were viewed as steps in the right direction but probably not enough to prevent  another crisis under some</a:t>
            </a:r>
            <a:r>
              <a:rPr dirty="0" sz="1100" spc="15">
                <a:latin typeface="Arial"/>
                <a:cs typeface="Arial"/>
              </a:rPr>
              <a:t> </a:t>
            </a:r>
            <a:r>
              <a:rPr dirty="0" sz="1100" spc="-5">
                <a:latin typeface="Arial"/>
                <a:cs typeface="Arial"/>
              </a:rPr>
              <a:t>circumstances.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A probable second major factor in the crisis was the chronic international trade imbalances  between East Asia, notably China, and the developed countries, particularly the United States,  with concomitant capital flows into the United States. This helped keep capital cheap and fueled  the housing bubbles in the United States and some European countries. Now, for the first time  in decades, sovereign debt problems have been raised as possibilities in developed countries,  most prominently for the so-called EU-5 (Greece, Ireland, Italy, Portugal, and Spain)—note that  as recently as the early 1990s, three of these five were still classified as developing countries.  Ireland and Greece required dramatic international bailouts in 2010. Private financial analysts  have even speculated on an eventual default in the United States and the United Kingdom,  probably through higher inflation eroding the value of their</a:t>
            </a:r>
            <a:r>
              <a:rPr dirty="0" sz="1100" spc="50">
                <a:latin typeface="Arial"/>
                <a:cs typeface="Arial"/>
              </a:rPr>
              <a:t> </a:t>
            </a:r>
            <a:r>
              <a:rPr dirty="0" sz="1100" spc="-5">
                <a:latin typeface="Arial"/>
                <a:cs typeface="Arial"/>
              </a:rPr>
              <a:t>debt.</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Yet through much of </a:t>
            </a:r>
            <a:r>
              <a:rPr dirty="0" sz="1100">
                <a:latin typeface="Arial"/>
                <a:cs typeface="Arial"/>
              </a:rPr>
              <a:t>2010 </a:t>
            </a:r>
            <a:r>
              <a:rPr dirty="0" sz="1100" spc="-5">
                <a:latin typeface="Arial"/>
                <a:cs typeface="Arial"/>
              </a:rPr>
              <a:t>the interest rate these two countries pay on their high debts was  never lower, a sign of continued severe risk aversion in the markets. In response to the crisis,  many countries took on “fiscal stimulus” programs of government spending to support very weak  demand </a:t>
            </a:r>
            <a:r>
              <a:rPr dirty="0" sz="1100">
                <a:latin typeface="Arial"/>
                <a:cs typeface="Arial"/>
              </a:rPr>
              <a:t>and </a:t>
            </a:r>
            <a:r>
              <a:rPr dirty="0" sz="1100" spc="-5">
                <a:latin typeface="Arial"/>
                <a:cs typeface="Arial"/>
              </a:rPr>
              <a:t>prevent </a:t>
            </a:r>
            <a:r>
              <a:rPr dirty="0" sz="1100">
                <a:latin typeface="Arial"/>
                <a:cs typeface="Arial"/>
              </a:rPr>
              <a:t>the </a:t>
            </a:r>
            <a:r>
              <a:rPr dirty="0" sz="1100" spc="-5">
                <a:latin typeface="Arial"/>
                <a:cs typeface="Arial"/>
              </a:rPr>
              <a:t>onset of a depression. A majority of economists considered this effort  to have been necessary and effective, and evidence supports this. But this proved politically  unpopular, and fears grew that the instability seen in the EU-5 could spread to other countries.  As austerity measures in several developed countries, most prominently the United Kingdom,  were rolled out, in a historical irony in 2010, the IMF called on countries not to cut back on  spending nearly as quickly as </a:t>
            </a:r>
            <a:r>
              <a:rPr dirty="0" sz="1100">
                <a:latin typeface="Arial"/>
                <a:cs typeface="Arial"/>
              </a:rPr>
              <a:t>many </a:t>
            </a:r>
            <a:r>
              <a:rPr dirty="0" sz="1100" spc="-5">
                <a:latin typeface="Arial"/>
                <a:cs typeface="Arial"/>
              </a:rPr>
              <a:t>governments were planning, because of the weakness of  demand.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293</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270" cy="7654290"/>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ECONOMIC IMPACTS ON DEVELOPING</a:t>
            </a:r>
            <a:r>
              <a:rPr dirty="0" sz="1100" spc="20" b="1">
                <a:latin typeface="Arial"/>
                <a:cs typeface="Arial"/>
              </a:rPr>
              <a:t> </a:t>
            </a:r>
            <a:r>
              <a:rPr dirty="0" sz="1100" spc="-5" b="1">
                <a:latin typeface="Arial"/>
                <a:cs typeface="Arial"/>
              </a:rPr>
              <a:t>COUNTRIES</a:t>
            </a:r>
            <a:endParaRPr sz="1100">
              <a:latin typeface="Arial"/>
              <a:cs typeface="Arial"/>
            </a:endParaRPr>
          </a:p>
          <a:p>
            <a:pPr>
              <a:lnSpc>
                <a:spcPct val="100000"/>
              </a:lnSpc>
            </a:pPr>
            <a:endParaRPr sz="1150">
              <a:latin typeface="Arial"/>
              <a:cs typeface="Arial"/>
            </a:endParaRPr>
          </a:p>
          <a:p>
            <a:pPr algn="just" marL="12700">
              <a:lnSpc>
                <a:spcPct val="100000"/>
              </a:lnSpc>
            </a:pPr>
            <a:r>
              <a:rPr dirty="0" sz="1100" spc="-5">
                <a:latin typeface="Arial"/>
                <a:cs typeface="Arial"/>
              </a:rPr>
              <a:t>We now review ten areas of recent and possibly future</a:t>
            </a:r>
            <a:r>
              <a:rPr dirty="0" sz="1100" spc="60">
                <a:latin typeface="Arial"/>
                <a:cs typeface="Arial"/>
              </a:rPr>
              <a:t> </a:t>
            </a:r>
            <a:r>
              <a:rPr dirty="0" sz="1100" spc="-5">
                <a:latin typeface="Arial"/>
                <a:cs typeface="Arial"/>
              </a:rPr>
              <a:t>impacts.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ECONOMIC GROWTH</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In 2007 </a:t>
            </a:r>
            <a:r>
              <a:rPr dirty="0" sz="1100">
                <a:latin typeface="Arial"/>
                <a:cs typeface="Arial"/>
              </a:rPr>
              <a:t>and </a:t>
            </a:r>
            <a:r>
              <a:rPr dirty="0" sz="1100" spc="-5">
                <a:latin typeface="Arial"/>
                <a:cs typeface="Arial"/>
              </a:rPr>
              <a:t>the first half of 2008, developing countries were affected less than developed  countries, but in the second half of 2008, the impact was quite severe in most developing  regions, continuing through 2009. As the 2009 World Investment Report put it, “Developing  countries weathered the global financial crisis better than developed countries, as their financial  systems were less closely interlinked with the hard-hit banking systems of the United States and  Europe.”</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EXPORTS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Exports fell drastically at first. World trade volumes fell 14.4% in 2009, the largest drop in  decades. Going forward, to reduce its deficits, the United States is widely expected to have </a:t>
            </a:r>
            <a:r>
              <a:rPr dirty="0" sz="1100">
                <a:latin typeface="Arial"/>
                <a:cs typeface="Arial"/>
              </a:rPr>
              <a:t>to  </a:t>
            </a:r>
            <a:r>
              <a:rPr dirty="0" sz="1100" spc="-5">
                <a:latin typeface="Arial"/>
                <a:cs typeface="Arial"/>
              </a:rPr>
              <a:t>save more while the dollar depreciates. In the meantime, </a:t>
            </a:r>
            <a:r>
              <a:rPr dirty="0" sz="1100">
                <a:latin typeface="Arial"/>
                <a:cs typeface="Arial"/>
              </a:rPr>
              <a:t>the </a:t>
            </a:r>
            <a:r>
              <a:rPr dirty="0" sz="1100" spc="-5">
                <a:latin typeface="Arial"/>
                <a:cs typeface="Arial"/>
              </a:rPr>
              <a:t>nation has seen increased trade  deficits (though they remained smaller than before the crisis), enabling some export recovery.  But this brings with it some fears of a temporary return of the bubble economy, precipitating an  even worse crisis than last time with a larger impact on exports. It remains unclear how  effectively most developing countries will be able to respond to a further decline of the value of  the U.S. dollar. Also doubtful is whether other developed-country markets will open to the extent  seen in the United States and United Kingdom during the bubble period. A majority of European  governments have </a:t>
            </a:r>
            <a:r>
              <a:rPr dirty="0" sz="1100">
                <a:latin typeface="Arial"/>
                <a:cs typeface="Arial"/>
              </a:rPr>
              <a:t>made </a:t>
            </a:r>
            <a:r>
              <a:rPr dirty="0" sz="1100" spc="-5">
                <a:latin typeface="Arial"/>
                <a:cs typeface="Arial"/>
              </a:rPr>
              <a:t>strong statements of their determination to reduce budget deficits and  increase savings, measures that would be associated with fewer imports from developing  countries. Japan (like Germany </a:t>
            </a:r>
            <a:r>
              <a:rPr dirty="0" sz="1100">
                <a:latin typeface="Arial"/>
                <a:cs typeface="Arial"/>
              </a:rPr>
              <a:t>and </a:t>
            </a:r>
            <a:r>
              <a:rPr dirty="0" sz="1100" spc="-5">
                <a:latin typeface="Arial"/>
                <a:cs typeface="Arial"/>
              </a:rPr>
              <a:t>some </a:t>
            </a:r>
            <a:r>
              <a:rPr dirty="0" sz="1100">
                <a:latin typeface="Arial"/>
                <a:cs typeface="Arial"/>
              </a:rPr>
              <a:t>other </a:t>
            </a:r>
            <a:r>
              <a:rPr dirty="0" sz="1100" spc="-5">
                <a:latin typeface="Arial"/>
                <a:cs typeface="Arial"/>
              </a:rPr>
              <a:t>European economies) remains a strongly  export surplus country as its population continues to</a:t>
            </a:r>
            <a:r>
              <a:rPr dirty="0" sz="1100" spc="45">
                <a:latin typeface="Arial"/>
                <a:cs typeface="Arial"/>
              </a:rPr>
              <a:t> </a:t>
            </a:r>
            <a:r>
              <a:rPr dirty="0" sz="1100" spc="-5">
                <a:latin typeface="Arial"/>
                <a:cs typeface="Arial"/>
              </a:rPr>
              <a:t>age.</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FOREIGN INVESTMENT</a:t>
            </a:r>
            <a:r>
              <a:rPr dirty="0" sz="1100" spc="5" b="1">
                <a:latin typeface="Arial"/>
                <a:cs typeface="Arial"/>
              </a:rPr>
              <a:t> </a:t>
            </a:r>
            <a:r>
              <a:rPr dirty="0" sz="1100" spc="-5" b="1">
                <a:latin typeface="Arial"/>
                <a:cs typeface="Arial"/>
              </a:rPr>
              <a:t>INFLOWS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Export growth </a:t>
            </a:r>
            <a:r>
              <a:rPr dirty="0" sz="1100">
                <a:latin typeface="Arial"/>
                <a:cs typeface="Arial"/>
              </a:rPr>
              <a:t>may </a:t>
            </a:r>
            <a:r>
              <a:rPr dirty="0" sz="1100" spc="-5">
                <a:latin typeface="Arial"/>
                <a:cs typeface="Arial"/>
              </a:rPr>
              <a:t>be reduced for several years. The October 2010 IMF World Economic  Outlook examined one of the central questions of the crisis for economic development: Do  financial crises have lasting effects on trade? The research examined </a:t>
            </a:r>
            <a:r>
              <a:rPr dirty="0" sz="1100">
                <a:latin typeface="Arial"/>
                <a:cs typeface="Arial"/>
              </a:rPr>
              <a:t>the </a:t>
            </a:r>
            <a:r>
              <a:rPr dirty="0" sz="1100" spc="-5">
                <a:latin typeface="Arial"/>
                <a:cs typeface="Arial"/>
              </a:rPr>
              <a:t>evidence since 1970  and found that imports remained depressed even in the medium term after banking crises, while  exports from the crisis countries were relatively unaffected. Countries with banking crises that  also had higher current account deficits generally experienced larger declines in imports,  generally remaining at pre-crisis trends for several years. This adds to the concern that  opportunities for developing countries to expand exports to the United States and to the  significant number of European countries that experienced banking crises will be more limited  for several</a:t>
            </a:r>
            <a:r>
              <a:rPr dirty="0" sz="1100">
                <a:latin typeface="Arial"/>
                <a:cs typeface="Arial"/>
              </a:rPr>
              <a:t> </a:t>
            </a:r>
            <a:r>
              <a:rPr dirty="0" sz="1100" spc="-5">
                <a:latin typeface="Arial"/>
                <a:cs typeface="Arial"/>
              </a:rPr>
              <a:t>years.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DEVELOPING-COUNTRY STOCK</a:t>
            </a:r>
            <a:r>
              <a:rPr dirty="0" sz="1100" spc="10" b="1">
                <a:latin typeface="Arial"/>
                <a:cs typeface="Arial"/>
              </a:rPr>
              <a:t> </a:t>
            </a:r>
            <a:r>
              <a:rPr dirty="0" sz="1100" spc="-5" b="1">
                <a:latin typeface="Arial"/>
                <a:cs typeface="Arial"/>
              </a:rPr>
              <a:t>MARKETS</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700"/>
              </a:lnSpc>
              <a:spcBef>
                <a:spcPts val="5"/>
              </a:spcBef>
            </a:pPr>
            <a:r>
              <a:rPr dirty="0" sz="1100" spc="-5">
                <a:latin typeface="Arial"/>
                <a:cs typeface="Arial"/>
              </a:rPr>
              <a:t>At first, a flight to safety caused the volatility of developing-country stock markets to increase  greatly. But prices subsequently resumed their rise and markets deepened in a few rapidly  growing economies, notably China and</a:t>
            </a:r>
            <a:r>
              <a:rPr dirty="0" sz="1100" spc="20">
                <a:latin typeface="Arial"/>
                <a:cs typeface="Arial"/>
              </a:rPr>
              <a:t> </a:t>
            </a:r>
            <a:r>
              <a:rPr dirty="0" sz="1100" spc="-5">
                <a:latin typeface="Arial"/>
                <a:cs typeface="Arial"/>
              </a:rPr>
              <a:t>India.</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294</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69635" cy="8122284"/>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AID</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Aid has been falling sharply for two decades. In 2005, leading developed countries pledged to  increase aid, particularly to Africa, but only a modest portion of the promised increases has  been delivered. But as aid remained below historical levels, other financial flows such as worker  remittances, FDI, and portfolio investment flows increased by </a:t>
            </a:r>
            <a:r>
              <a:rPr dirty="0" sz="1100">
                <a:latin typeface="Arial"/>
                <a:cs typeface="Arial"/>
              </a:rPr>
              <a:t>many </a:t>
            </a:r>
            <a:r>
              <a:rPr dirty="0" sz="1100" spc="-5">
                <a:latin typeface="Arial"/>
                <a:cs typeface="Arial"/>
              </a:rPr>
              <a:t>times </a:t>
            </a:r>
            <a:r>
              <a:rPr dirty="0" sz="1100">
                <a:latin typeface="Arial"/>
                <a:cs typeface="Arial"/>
              </a:rPr>
              <a:t>more </a:t>
            </a:r>
            <a:r>
              <a:rPr dirty="0" sz="1100" spc="-5">
                <a:latin typeface="Arial"/>
                <a:cs typeface="Arial"/>
              </a:rPr>
              <a:t>than </a:t>
            </a:r>
            <a:r>
              <a:rPr dirty="0" sz="1100">
                <a:latin typeface="Arial"/>
                <a:cs typeface="Arial"/>
              </a:rPr>
              <a:t>the  </a:t>
            </a:r>
            <a:r>
              <a:rPr dirty="0" sz="1100" spc="-5">
                <a:latin typeface="Arial"/>
                <a:cs typeface="Arial"/>
              </a:rPr>
              <a:t>declines in aid. Yet for the least developed countries, aid is as needed as ever. There are strong  political pressures against any increase in aid, let alone maintaining its current levels, in the  United States, the United Kingdom, and other high-income donor countries. In past periods of  prolonged recession or fiscal restraint high-income countries have cut bilateral aid. If this  happens again over the next few years it could lead to a decrease in growth in low-income  countries, substantially reducing the rate of poverty alleviation. To the extent that aid targets  human development and safety net programs, </a:t>
            </a:r>
            <a:r>
              <a:rPr dirty="0" sz="1100">
                <a:latin typeface="Arial"/>
                <a:cs typeface="Arial"/>
              </a:rPr>
              <a:t>this </a:t>
            </a:r>
            <a:r>
              <a:rPr dirty="0" sz="1100" spc="-5">
                <a:latin typeface="Arial"/>
                <a:cs typeface="Arial"/>
              </a:rPr>
              <a:t>could harm the poor beyond the impact of  slowed growth. People living in extreme poverty </a:t>
            </a:r>
            <a:r>
              <a:rPr dirty="0" sz="1100">
                <a:latin typeface="Arial"/>
                <a:cs typeface="Arial"/>
              </a:rPr>
              <a:t>are </a:t>
            </a:r>
            <a:r>
              <a:rPr dirty="0" sz="1100" spc="-5">
                <a:latin typeface="Arial"/>
                <a:cs typeface="Arial"/>
              </a:rPr>
              <a:t>sometimes isolated from markets, but some  receive and </a:t>
            </a:r>
            <a:r>
              <a:rPr dirty="0" sz="1100">
                <a:latin typeface="Arial"/>
                <a:cs typeface="Arial"/>
              </a:rPr>
              <a:t>may </a:t>
            </a:r>
            <a:r>
              <a:rPr dirty="0" sz="1100" spc="-5">
                <a:latin typeface="Arial"/>
                <a:cs typeface="Arial"/>
              </a:rPr>
              <a:t>depend upon foreign assistance. Beyond official development assistance, aid  flows through international foundation programs and nongovernmental organizations, and the  domestic organizations they help fund. Unfortunately, charitable giving in the United States fell  3.6% in 2009, its first drop since 1987; this decline was mostly due to decreased available  support from foundations whose assets had declined in value. In sum, prospects for  maintaining—let alone expanding—official and unofficial development assistance, likely depend  on the extent of growth in donor</a:t>
            </a:r>
            <a:r>
              <a:rPr dirty="0" sz="1100" spc="30">
                <a:latin typeface="Arial"/>
                <a:cs typeface="Arial"/>
              </a:rPr>
              <a:t> </a:t>
            </a:r>
            <a:r>
              <a:rPr dirty="0" sz="1100" spc="-5">
                <a:latin typeface="Arial"/>
                <a:cs typeface="Arial"/>
              </a:rPr>
              <a:t>nations.</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DISTRIBUTION OF INFLUENCE AMONG DEVELOPING</a:t>
            </a:r>
            <a:r>
              <a:rPr dirty="0" sz="1100" spc="15" b="1">
                <a:latin typeface="Arial"/>
                <a:cs typeface="Arial"/>
              </a:rPr>
              <a:t> </a:t>
            </a:r>
            <a:r>
              <a:rPr dirty="0" sz="1100" spc="-5" b="1">
                <a:latin typeface="Arial"/>
                <a:cs typeface="Arial"/>
              </a:rPr>
              <a:t>COUNTRIES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There have always been divisions in the developing world. During the Cold War, countries were  asked to take sides, aligning themselves with the United States and other NATO countries, or  the Soviet Union, or China. These conflicts spilled over to the nonaligned movement, which  included countries with clear alliances. It is true that from the 1950s through the 1970s there  was a wide economic gulf between middle-income Latin America and low-income Asia. But  economic inequality among the developing nations was not discussed. Most countries were  growing but at a slow rate. This began to change as rapid growth in Asia spread from a few  countries prior to 1980 to a majority of the region in the following three decades and Africa  particularly lagged. </a:t>
            </a:r>
            <a:r>
              <a:rPr dirty="0" sz="1100">
                <a:latin typeface="Arial"/>
                <a:cs typeface="Arial"/>
              </a:rPr>
              <a:t>Even </a:t>
            </a:r>
            <a:r>
              <a:rPr dirty="0" sz="1100" spc="-5">
                <a:latin typeface="Arial"/>
                <a:cs typeface="Arial"/>
              </a:rPr>
              <a:t>as the crisis accelerated, some developing countries found that they  had increased global influence. But the growing economic inequality among developing nations  became </a:t>
            </a:r>
            <a:r>
              <a:rPr dirty="0" sz="1100">
                <a:latin typeface="Arial"/>
                <a:cs typeface="Arial"/>
              </a:rPr>
              <a:t>even </a:t>
            </a:r>
            <a:r>
              <a:rPr dirty="0" sz="1100" spc="-5">
                <a:latin typeface="Arial"/>
                <a:cs typeface="Arial"/>
              </a:rPr>
              <a:t>sharper.</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WORKER REMITTANCES</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pPr>
            <a:r>
              <a:rPr dirty="0" sz="1100" spc="-5">
                <a:latin typeface="Arial"/>
                <a:cs typeface="Arial"/>
              </a:rPr>
              <a:t>Remittances to developing countries from migrant workers had reached a record $336 billion in  2008 (though less than 10% of this went to the low-income countries). But subsequently this fell  significantly. These remittances are an important factor in the progress of poverty reduction in  recent years, and the consequences will grow if remittances do not pick up more</a:t>
            </a:r>
            <a:r>
              <a:rPr dirty="0" sz="1100" spc="150">
                <a:latin typeface="Arial"/>
                <a:cs typeface="Arial"/>
              </a:rPr>
              <a:t> </a:t>
            </a:r>
            <a:r>
              <a:rPr dirty="0" sz="1100" spc="-5">
                <a:latin typeface="Arial"/>
                <a:cs typeface="Arial"/>
              </a:rPr>
              <a:t>quickly.</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POVERTY</a:t>
            </a:r>
            <a:endParaRPr sz="1100">
              <a:latin typeface="Arial"/>
              <a:cs typeface="Arial"/>
            </a:endParaRPr>
          </a:p>
          <a:p>
            <a:pPr>
              <a:lnSpc>
                <a:spcPct val="100000"/>
              </a:lnSpc>
              <a:spcBef>
                <a:spcPts val="15"/>
              </a:spcBef>
            </a:pPr>
            <a:endParaRPr sz="1200">
              <a:latin typeface="Arial"/>
              <a:cs typeface="Arial"/>
            </a:endParaRPr>
          </a:p>
          <a:p>
            <a:pPr algn="just" marL="12700" marR="5080">
              <a:lnSpc>
                <a:spcPts val="1270"/>
              </a:lnSpc>
              <a:spcBef>
                <a:spcPts val="5"/>
              </a:spcBef>
            </a:pPr>
            <a:r>
              <a:rPr dirty="0" sz="1100" spc="-5">
                <a:latin typeface="Arial"/>
                <a:cs typeface="Arial"/>
              </a:rPr>
              <a:t>Lower growth has reduced the rate of poverty reduction in most developing countries, and in  many countries, the number of people living in poverty has increased. The 2010 Millennium  Development Goals Report, drawing on “newly updated estimates from the World Bank,”  estimated that an additional 50 million people were living in extreme poverty in 2009 than would  have</a:t>
            </a:r>
            <a:r>
              <a:rPr dirty="0" sz="1100" spc="20">
                <a:latin typeface="Arial"/>
                <a:cs typeface="Arial"/>
              </a:rPr>
              <a:t> </a:t>
            </a:r>
            <a:r>
              <a:rPr dirty="0" sz="1100" spc="-5">
                <a:latin typeface="Arial"/>
                <a:cs typeface="Arial"/>
              </a:rPr>
              <a:t>been</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case</a:t>
            </a:r>
            <a:r>
              <a:rPr dirty="0" sz="1100" spc="20">
                <a:latin typeface="Arial"/>
                <a:cs typeface="Arial"/>
              </a:rPr>
              <a:t> </a:t>
            </a:r>
            <a:r>
              <a:rPr dirty="0" sz="1100" spc="-5">
                <a:latin typeface="Arial"/>
                <a:cs typeface="Arial"/>
              </a:rPr>
              <a:t>without</a:t>
            </a:r>
            <a:r>
              <a:rPr dirty="0" sz="1100" spc="20">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crisis</a:t>
            </a:r>
            <a:r>
              <a:rPr dirty="0" sz="1100" spc="25">
                <a:latin typeface="Arial"/>
                <a:cs typeface="Arial"/>
              </a:rPr>
              <a:t> </a:t>
            </a:r>
            <a:r>
              <a:rPr dirty="0" sz="1100" spc="-5">
                <a:latin typeface="Arial"/>
                <a:cs typeface="Arial"/>
              </a:rPr>
              <a:t>and</a:t>
            </a:r>
            <a:r>
              <a:rPr dirty="0" sz="1100" spc="20">
                <a:latin typeface="Arial"/>
                <a:cs typeface="Arial"/>
              </a:rPr>
              <a:t> </a:t>
            </a:r>
            <a:r>
              <a:rPr dirty="0" sz="1100" spc="-5">
                <a:latin typeface="Arial"/>
                <a:cs typeface="Arial"/>
              </a:rPr>
              <a:t>projected</a:t>
            </a:r>
            <a:r>
              <a:rPr dirty="0" sz="1100" spc="25">
                <a:latin typeface="Arial"/>
                <a:cs typeface="Arial"/>
              </a:rPr>
              <a:t> </a:t>
            </a:r>
            <a:r>
              <a:rPr dirty="0" sz="1100" spc="-5">
                <a:latin typeface="Arial"/>
                <a:cs typeface="Arial"/>
              </a:rPr>
              <a:t>“some</a:t>
            </a:r>
            <a:r>
              <a:rPr dirty="0" sz="1100" spc="20">
                <a:latin typeface="Arial"/>
                <a:cs typeface="Arial"/>
              </a:rPr>
              <a:t> </a:t>
            </a:r>
            <a:r>
              <a:rPr dirty="0" sz="1100" spc="-5">
                <a:latin typeface="Arial"/>
                <a:cs typeface="Arial"/>
              </a:rPr>
              <a:t>64</a:t>
            </a:r>
            <a:r>
              <a:rPr dirty="0" sz="1100" spc="20">
                <a:latin typeface="Arial"/>
                <a:cs typeface="Arial"/>
              </a:rPr>
              <a:t> </a:t>
            </a:r>
            <a:r>
              <a:rPr dirty="0" sz="1100" spc="-5">
                <a:latin typeface="Arial"/>
                <a:cs typeface="Arial"/>
              </a:rPr>
              <a:t>million</a:t>
            </a:r>
            <a:r>
              <a:rPr dirty="0" sz="1100" spc="25">
                <a:latin typeface="Arial"/>
                <a:cs typeface="Arial"/>
              </a:rPr>
              <a:t> </a:t>
            </a:r>
            <a:r>
              <a:rPr dirty="0" sz="1100" spc="-5">
                <a:latin typeface="Arial"/>
                <a:cs typeface="Arial"/>
              </a:rPr>
              <a:t>by</a:t>
            </a:r>
            <a:r>
              <a:rPr dirty="0" sz="1100" spc="20">
                <a:latin typeface="Arial"/>
                <a:cs typeface="Arial"/>
              </a:rPr>
              <a:t> </a:t>
            </a:r>
            <a:r>
              <a:rPr dirty="0" sz="1100" spc="-5">
                <a:latin typeface="Arial"/>
                <a:cs typeface="Arial"/>
              </a:rPr>
              <a:t>the</a:t>
            </a:r>
            <a:r>
              <a:rPr dirty="0" sz="1100" spc="20">
                <a:latin typeface="Arial"/>
                <a:cs typeface="Arial"/>
              </a:rPr>
              <a:t> </a:t>
            </a:r>
            <a:r>
              <a:rPr dirty="0" sz="1100" spc="-5">
                <a:latin typeface="Arial"/>
                <a:cs typeface="Arial"/>
              </a:rPr>
              <a:t>end</a:t>
            </a:r>
            <a:r>
              <a:rPr dirty="0" sz="1100" spc="25">
                <a:latin typeface="Arial"/>
                <a:cs typeface="Arial"/>
              </a:rPr>
              <a:t> </a:t>
            </a:r>
            <a:r>
              <a:rPr dirty="0" sz="1100" spc="-5">
                <a:latin typeface="Arial"/>
                <a:cs typeface="Arial"/>
              </a:rPr>
              <a:t>of</a:t>
            </a:r>
            <a:r>
              <a:rPr dirty="0" sz="1100" spc="20">
                <a:latin typeface="Arial"/>
                <a:cs typeface="Arial"/>
              </a:rPr>
              <a:t> </a:t>
            </a:r>
            <a:r>
              <a:rPr dirty="0" sz="1100" spc="-5">
                <a:latin typeface="Arial"/>
                <a:cs typeface="Arial"/>
              </a:rPr>
              <a:t>2010</a:t>
            </a:r>
            <a:r>
              <a:rPr dirty="0" sz="1100" spc="20">
                <a:latin typeface="Arial"/>
                <a:cs typeface="Arial"/>
              </a:rPr>
              <a:t> </a:t>
            </a:r>
            <a:r>
              <a:rPr dirty="0" sz="1100" spc="-5">
                <a:latin typeface="Arial"/>
                <a:cs typeface="Arial"/>
              </a:rPr>
              <a:t>relative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295</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80160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to a no-crisis scenario, principally in sub-Saharan Africa and Eastern and South-Eastern Asia.”  Greater hunger is probably the worst impact. The number of those in extreme hunger surpassed  one billion for the first time ever in 2009. Most analyses predict that impacts of the crisis on  poverty and hunger will persist significantly. For example, the 2010 report estimated that  “poverty rates will be slightly higher in 2015 and even beyond, to 2020, than they would have  been had the world economy grown steadily at its pre-crisis</a:t>
            </a:r>
            <a:r>
              <a:rPr dirty="0" sz="1100" spc="60">
                <a:latin typeface="Arial"/>
                <a:cs typeface="Arial"/>
              </a:rPr>
              <a:t> </a:t>
            </a:r>
            <a:r>
              <a:rPr dirty="0" sz="1100" spc="-5">
                <a:latin typeface="Arial"/>
                <a:cs typeface="Arial"/>
              </a:rPr>
              <a:t>pace.”</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10" b="1">
                <a:latin typeface="Arial"/>
                <a:cs typeface="Arial"/>
              </a:rPr>
              <a:t>HEALTH </a:t>
            </a:r>
            <a:r>
              <a:rPr dirty="0" sz="1100" spc="-5" b="1">
                <a:latin typeface="Arial"/>
                <a:cs typeface="Arial"/>
              </a:rPr>
              <a:t>AND</a:t>
            </a:r>
            <a:r>
              <a:rPr dirty="0" sz="1100" spc="10" b="1">
                <a:latin typeface="Arial"/>
                <a:cs typeface="Arial"/>
              </a:rPr>
              <a:t> </a:t>
            </a:r>
            <a:r>
              <a:rPr dirty="0" sz="1100" spc="-5" b="1">
                <a:latin typeface="Arial"/>
                <a:cs typeface="Arial"/>
              </a:rPr>
              <a:t>EDUCATION</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pPr>
            <a:r>
              <a:rPr dirty="0" sz="1100" spc="-5">
                <a:latin typeface="Arial"/>
                <a:cs typeface="Arial"/>
              </a:rPr>
              <a:t>Jed Friedman and Norbert Schady used household data to develop an econometric model to  project infant deaths and report that “our estimates suggest that there will be on the order of  30,000 to 50,000 excess deaths in Africa in 2009—deaths that would not have taken place had  the sub prime crisis which began in the United States not spread to African countries.” They find  that “the bulk of the additional children who will die is likely to be found among poorer  households (in rural areas, and those with lower education levels) and is concentrated among  girls.” Impacts generally differ across countries; another 2010 study projected deteriorations  specifically in schooling, child labor, and access to health services in Burkina Faso, and on  hunger in</a:t>
            </a:r>
            <a:r>
              <a:rPr dirty="0" sz="1100">
                <a:latin typeface="Arial"/>
                <a:cs typeface="Arial"/>
              </a:rPr>
              <a:t> </a:t>
            </a:r>
            <a:r>
              <a:rPr dirty="0" sz="1100" spc="-5">
                <a:latin typeface="Arial"/>
                <a:cs typeface="Arial"/>
              </a:rPr>
              <a:t>Ghana.</a:t>
            </a:r>
            <a:endParaRPr sz="1100">
              <a:latin typeface="Arial"/>
              <a:cs typeface="Arial"/>
            </a:endParaRPr>
          </a:p>
          <a:p>
            <a:pPr>
              <a:lnSpc>
                <a:spcPct val="100000"/>
              </a:lnSpc>
              <a:spcBef>
                <a:spcPts val="10"/>
              </a:spcBef>
            </a:pPr>
            <a:endParaRPr sz="1050">
              <a:latin typeface="Arial"/>
              <a:cs typeface="Arial"/>
            </a:endParaRPr>
          </a:p>
          <a:p>
            <a:pPr marL="12700">
              <a:lnSpc>
                <a:spcPct val="100000"/>
              </a:lnSpc>
            </a:pPr>
            <a:r>
              <a:rPr dirty="0" sz="1100" spc="-5" b="1">
                <a:latin typeface="Arial"/>
                <a:cs typeface="Arial"/>
              </a:rPr>
              <a:t>GENERAL </a:t>
            </a:r>
            <a:r>
              <a:rPr dirty="0" sz="1100" spc="-10" b="1">
                <a:latin typeface="Arial"/>
                <a:cs typeface="Arial"/>
              </a:rPr>
              <a:t>POLICY</a:t>
            </a:r>
            <a:r>
              <a:rPr dirty="0" sz="1100" spc="5" b="1">
                <a:latin typeface="Arial"/>
                <a:cs typeface="Arial"/>
              </a:rPr>
              <a:t> </a:t>
            </a:r>
            <a:r>
              <a:rPr dirty="0" sz="1100" spc="-5" b="1">
                <a:latin typeface="Arial"/>
                <a:cs typeface="Arial"/>
              </a:rPr>
              <a:t>FRAMEWORK</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pPr>
            <a:r>
              <a:rPr dirty="0" sz="1100" spc="-5">
                <a:latin typeface="Arial"/>
                <a:cs typeface="Arial"/>
              </a:rPr>
              <a:t>A small number of developing countries are rethinking their focus on taking greater part in  globalization, as risks are perceived as higher than before. When growth resumed unexpectedly  quickly, however, these discussions became less prominent. It is unclear whether </a:t>
            </a:r>
            <a:r>
              <a:rPr dirty="0" sz="1100">
                <a:latin typeface="Arial"/>
                <a:cs typeface="Arial"/>
              </a:rPr>
              <a:t>this </a:t>
            </a:r>
            <a:r>
              <a:rPr dirty="0" sz="1100" spc="-5">
                <a:latin typeface="Arial"/>
                <a:cs typeface="Arial"/>
              </a:rPr>
              <a:t>response  will have a lasting impact, but it bears</a:t>
            </a:r>
            <a:r>
              <a:rPr dirty="0" sz="1100" spc="40">
                <a:latin typeface="Arial"/>
                <a:cs typeface="Arial"/>
              </a:rPr>
              <a:t> </a:t>
            </a:r>
            <a:r>
              <a:rPr dirty="0" sz="1100" spc="-5">
                <a:latin typeface="Arial"/>
                <a:cs typeface="Arial"/>
              </a:rPr>
              <a:t>watching.</a:t>
            </a:r>
            <a:endParaRPr sz="1100">
              <a:latin typeface="Arial"/>
              <a:cs typeface="Arial"/>
            </a:endParaRPr>
          </a:p>
          <a:p>
            <a:pPr marL="12700" marR="2254885">
              <a:lnSpc>
                <a:spcPts val="2640"/>
              </a:lnSpc>
              <a:spcBef>
                <a:spcPts val="160"/>
              </a:spcBef>
            </a:pPr>
            <a:r>
              <a:rPr dirty="0" sz="1100" spc="-5" b="1">
                <a:latin typeface="Arial"/>
                <a:cs typeface="Arial"/>
              </a:rPr>
              <a:t>DIFFERING IMPACTS ACROSS DEVELOPING REGIONS  CHINA</a:t>
            </a:r>
            <a:endParaRPr sz="1100">
              <a:latin typeface="Arial"/>
              <a:cs typeface="Arial"/>
            </a:endParaRPr>
          </a:p>
          <a:p>
            <a:pPr algn="just" marL="12700" marR="5080">
              <a:lnSpc>
                <a:spcPct val="95800"/>
              </a:lnSpc>
              <a:spcBef>
                <a:spcPts val="1065"/>
              </a:spcBef>
            </a:pPr>
            <a:r>
              <a:rPr dirty="0" sz="1100" spc="-5">
                <a:latin typeface="Arial"/>
                <a:cs typeface="Arial"/>
              </a:rPr>
              <a:t>During the period from September 2008 to March 2009, there was a dramatic slowdown and in  some cases major </a:t>
            </a:r>
            <a:r>
              <a:rPr dirty="0" sz="1100">
                <a:latin typeface="Arial"/>
                <a:cs typeface="Arial"/>
              </a:rPr>
              <a:t>reversal </a:t>
            </a:r>
            <a:r>
              <a:rPr dirty="0" sz="1100" spc="-5">
                <a:latin typeface="Arial"/>
                <a:cs typeface="Arial"/>
              </a:rPr>
              <a:t>of the high export growth </a:t>
            </a:r>
            <a:r>
              <a:rPr dirty="0" sz="1100">
                <a:latin typeface="Arial"/>
                <a:cs typeface="Arial"/>
              </a:rPr>
              <a:t>and </a:t>
            </a:r>
            <a:r>
              <a:rPr dirty="0" sz="1100" spc="-5">
                <a:latin typeface="Arial"/>
                <a:cs typeface="Arial"/>
              </a:rPr>
              <a:t>GDP growth that the East Asian  region, including China, had come to take for granted. In 2009, the World Bank predicted that  the resumption of more normal economic activity in the region would be sustained; and although  the effects of the stimulus packages were expected to slowly fade, economic growth would then  rise, propelled by other sources, particularly in China. China reported an increase in exports and  growth of 8.4% in 2009, with the turnaround starting in the second quarter; and rapid growth  continued throughout 2010. It was also anticipated that increased domestic demand in China  would spur imports to </a:t>
            </a:r>
            <a:r>
              <a:rPr dirty="0" sz="1100">
                <a:latin typeface="Arial"/>
                <a:cs typeface="Arial"/>
              </a:rPr>
              <a:t>that </a:t>
            </a:r>
            <a:r>
              <a:rPr dirty="0" sz="1100" spc="-5">
                <a:latin typeface="Arial"/>
                <a:cs typeface="Arial"/>
              </a:rPr>
              <a:t>country even as exports grew and that East Asian export volumes  would strongly increase as the region continued to increase its share of world trade. Despite  projections that China will see a continuation of its resumed export growth, the crisis has led to  the beginnings of an announced new strategy of greater reliance on the domestic demand for  growth. But hallmarks of a housing market bubble are being reported in China; the bursting of  such a bubble would probably have a significant impact on the global economy. China’s  economic policymakers appear focused on decreasing reliance on basic exports that rely on  processing of imports for modest value added </a:t>
            </a:r>
            <a:r>
              <a:rPr dirty="0" sz="1100">
                <a:latin typeface="Arial"/>
                <a:cs typeface="Arial"/>
              </a:rPr>
              <a:t>before </a:t>
            </a:r>
            <a:r>
              <a:rPr dirty="0" sz="1100" spc="-5">
                <a:latin typeface="Arial"/>
                <a:cs typeface="Arial"/>
              </a:rPr>
              <a:t>re export. Improving domestic processing  and reliance might also positively affect what is widely viewed as a currency imbalance. But  amid concerns over inflation, China’s central bank twice raised interest rates in late</a:t>
            </a:r>
            <a:r>
              <a:rPr dirty="0" sz="1100" spc="160">
                <a:latin typeface="Arial"/>
                <a:cs typeface="Arial"/>
              </a:rPr>
              <a:t> </a:t>
            </a:r>
            <a:r>
              <a:rPr dirty="0" sz="1100" spc="-5">
                <a:latin typeface="Arial"/>
                <a:cs typeface="Arial"/>
              </a:rPr>
              <a:t>2010.</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296</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70905" cy="7947025"/>
          </a:xfrm>
          <a:prstGeom prst="rect">
            <a:avLst/>
          </a:prstGeom>
        </p:spPr>
        <p:txBody>
          <a:bodyPr wrap="square" lIns="0" tIns="12065" rIns="0" bIns="0" rtlCol="0" vert="horz">
            <a:spAutoFit/>
          </a:bodyPr>
          <a:lstStyle/>
          <a:p>
            <a:pPr marL="12700">
              <a:lnSpc>
                <a:spcPct val="100000"/>
              </a:lnSpc>
              <a:spcBef>
                <a:spcPts val="95"/>
              </a:spcBef>
            </a:pPr>
            <a:r>
              <a:rPr dirty="0" sz="1100" spc="-5" b="1">
                <a:latin typeface="Arial"/>
                <a:cs typeface="Arial"/>
              </a:rPr>
              <a:t>CHINA AND THE EXCHANGE RATES</a:t>
            </a:r>
            <a:r>
              <a:rPr dirty="0" sz="1100" spc="10" b="1">
                <a:latin typeface="Arial"/>
                <a:cs typeface="Arial"/>
              </a:rPr>
              <a:t> </a:t>
            </a:r>
            <a:r>
              <a:rPr dirty="0" sz="1100" spc="-5" b="1">
                <a:latin typeface="Arial"/>
                <a:cs typeface="Arial"/>
              </a:rPr>
              <a:t>CONTROVERSY</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China also found itself under considerable pressure to allow its currency to increase in value in  fall 2010. Shortly after </a:t>
            </a:r>
            <a:r>
              <a:rPr dirty="0" sz="1100">
                <a:latin typeface="Arial"/>
                <a:cs typeface="Arial"/>
              </a:rPr>
              <a:t>the </a:t>
            </a:r>
            <a:r>
              <a:rPr dirty="0" sz="1100" spc="-5">
                <a:latin typeface="Arial"/>
                <a:cs typeface="Arial"/>
              </a:rPr>
              <a:t>finance minister of Brazil announced the world had moved into an  “international currency war.” Brazil then doubled the tax on foreign purchases of bonds to keep  its currency, the real, from appreciating via capital inflows, and other countries, including Japan,  intervened to decrease the value of their currencies. Jean-Claude Juncker, chair of the Euro  zone finance ministers, said, “We think the Chinese currency is broadly undervalued.” IMF  Managing Director Dominique Strauss-Kahn said that “there is clearly the idea beginning to  circulate that currencies can be used as a policy weapon. Translated into action, such an idea  would represent a very serious risk to the global recovery </a:t>
            </a:r>
            <a:r>
              <a:rPr dirty="0" sz="1100">
                <a:latin typeface="Arial"/>
                <a:cs typeface="Arial"/>
              </a:rPr>
              <a:t>[and] </a:t>
            </a:r>
            <a:r>
              <a:rPr dirty="0" sz="1100" spc="-5">
                <a:latin typeface="Arial"/>
                <a:cs typeface="Arial"/>
              </a:rPr>
              <a:t>any such approach would have  a negative and very damaging longer-run impact.” International currency and trade wars were  major factors that made the Great Depression “great.” The response from China’s premier Wen  Jiabao was to note the thin profit margins of export companies, and he said that with  revaluation, “many of </a:t>
            </a:r>
            <a:r>
              <a:rPr dirty="0" sz="1100">
                <a:latin typeface="Arial"/>
                <a:cs typeface="Arial"/>
              </a:rPr>
              <a:t>our </a:t>
            </a:r>
            <a:r>
              <a:rPr dirty="0" sz="1100" spc="-5">
                <a:latin typeface="Arial"/>
                <a:cs typeface="Arial"/>
              </a:rPr>
              <a:t>exporting companies would have to close down, [and] migrant workers  would have to return to their villages. If China saw social and economic turbulence, then it would  be a disaster for the world.” Undoubtedly, it </a:t>
            </a:r>
            <a:r>
              <a:rPr dirty="0" sz="1100">
                <a:latin typeface="Arial"/>
                <a:cs typeface="Arial"/>
              </a:rPr>
              <a:t>would </a:t>
            </a:r>
            <a:r>
              <a:rPr dirty="0" sz="1100" spc="-5">
                <a:latin typeface="Arial"/>
                <a:cs typeface="Arial"/>
              </a:rPr>
              <a:t>have both an economic and a political impact.  While adjustments are inevitable, there is no credible scenario in which a trade war, or anything  approaching it, would have anything but negative effects on the prospects for economic  development.</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10" b="1">
                <a:latin typeface="Arial"/>
                <a:cs typeface="Arial"/>
              </a:rPr>
              <a:t>EAST </a:t>
            </a:r>
            <a:r>
              <a:rPr dirty="0" sz="1100" spc="-5" b="1">
                <a:latin typeface="Arial"/>
                <a:cs typeface="Arial"/>
              </a:rPr>
              <a:t>ASIA AND SOUTHEAST ASIA EXCEPT</a:t>
            </a:r>
            <a:r>
              <a:rPr dirty="0" sz="1100" spc="35" b="1">
                <a:latin typeface="Arial"/>
                <a:cs typeface="Arial"/>
              </a:rPr>
              <a:t> </a:t>
            </a:r>
            <a:r>
              <a:rPr dirty="0" sz="1100" spc="-5" b="1">
                <a:latin typeface="Arial"/>
                <a:cs typeface="Arial"/>
              </a:rPr>
              <a:t>CHINA</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pPr>
            <a:r>
              <a:rPr dirty="0" sz="1100" spc="-5">
                <a:latin typeface="Arial"/>
                <a:cs typeface="Arial"/>
              </a:rPr>
              <a:t>The high-income economies in the region—Japan, Singapore, Taiwan, South Korea, and Hong  Kong— remain dependent on exports for growth by global standards, and all experienced  substantial declines in exports. Expressed in </a:t>
            </a:r>
            <a:r>
              <a:rPr dirty="0" sz="1100">
                <a:latin typeface="Arial"/>
                <a:cs typeface="Arial"/>
              </a:rPr>
              <a:t>U.S. </a:t>
            </a:r>
            <a:r>
              <a:rPr dirty="0" sz="1100" spc="-5">
                <a:latin typeface="Arial"/>
                <a:cs typeface="Arial"/>
              </a:rPr>
              <a:t>dollars, exports dropped by 25%, with GDP  declining between 15% and 30% in the second half of 2008 and first half of 2009. However, just  as the scope of the shock was unanticipated, the scale of the subsequent rebound was also  surprising. Recovery </a:t>
            </a:r>
            <a:r>
              <a:rPr dirty="0" sz="1100">
                <a:latin typeface="Arial"/>
                <a:cs typeface="Arial"/>
              </a:rPr>
              <a:t>in </a:t>
            </a:r>
            <a:r>
              <a:rPr dirty="0" sz="1100" spc="-5">
                <a:latin typeface="Arial"/>
                <a:cs typeface="Arial"/>
              </a:rPr>
              <a:t>middle- and low-income countries, including Indonesia, Vietnam,  Cambodia, Malaysia, and Thailand, was also strong; three of these five countries reported  negative growth after the crisis, but no greater a decline than 2.7%. Demand from </a:t>
            </a:r>
            <a:r>
              <a:rPr dirty="0" sz="1100">
                <a:latin typeface="Arial"/>
                <a:cs typeface="Arial"/>
              </a:rPr>
              <a:t>China </a:t>
            </a:r>
            <a:r>
              <a:rPr dirty="0" sz="1100" spc="-5">
                <a:latin typeface="Arial"/>
                <a:cs typeface="Arial"/>
              </a:rPr>
              <a:t>helped  raise exports from East and Southeast Asia overall. The World Bank noted that China’s  “infrastructure outlays also underpinned demand for regional and raw materials used in  construction, from countries such as Indonesia, Papua New Guinea, and </a:t>
            </a:r>
            <a:r>
              <a:rPr dirty="0" sz="1100">
                <a:latin typeface="Arial"/>
                <a:cs typeface="Arial"/>
              </a:rPr>
              <a:t>Lao </a:t>
            </a:r>
            <a:r>
              <a:rPr dirty="0" sz="1100" spc="-5">
                <a:latin typeface="Arial"/>
                <a:cs typeface="Arial"/>
              </a:rPr>
              <a:t>People’s  Democratic Republic.” The role of China in the region has continued to</a:t>
            </a:r>
            <a:r>
              <a:rPr dirty="0" sz="1100" spc="85">
                <a:latin typeface="Arial"/>
                <a:cs typeface="Arial"/>
              </a:rPr>
              <a:t> </a:t>
            </a:r>
            <a:r>
              <a:rPr dirty="0" sz="1100" spc="-5">
                <a:latin typeface="Arial"/>
                <a:cs typeface="Arial"/>
              </a:rPr>
              <a:t>grow.</a:t>
            </a:r>
            <a:endParaRPr sz="1100">
              <a:latin typeface="Arial"/>
              <a:cs typeface="Arial"/>
            </a:endParaRPr>
          </a:p>
          <a:p>
            <a:pPr>
              <a:lnSpc>
                <a:spcPct val="100000"/>
              </a:lnSpc>
              <a:spcBef>
                <a:spcPts val="10"/>
              </a:spcBef>
            </a:pPr>
            <a:endParaRPr sz="1050">
              <a:latin typeface="Arial"/>
              <a:cs typeface="Arial"/>
            </a:endParaRPr>
          </a:p>
          <a:p>
            <a:pPr marL="12700">
              <a:lnSpc>
                <a:spcPct val="100000"/>
              </a:lnSpc>
              <a:spcBef>
                <a:spcPts val="5"/>
              </a:spcBef>
            </a:pPr>
            <a:r>
              <a:rPr dirty="0" sz="1100" spc="-5" b="1">
                <a:latin typeface="Arial"/>
                <a:cs typeface="Arial"/>
              </a:rPr>
              <a:t>INDIA</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900"/>
              </a:lnSpc>
            </a:pPr>
            <a:r>
              <a:rPr dirty="0" sz="1100" spc="-5">
                <a:latin typeface="Arial"/>
                <a:cs typeface="Arial"/>
              </a:rPr>
              <a:t>The Indian economy </a:t>
            </a:r>
            <a:r>
              <a:rPr dirty="0" sz="1100">
                <a:latin typeface="Arial"/>
                <a:cs typeface="Arial"/>
              </a:rPr>
              <a:t>has </a:t>
            </a:r>
            <a:r>
              <a:rPr dirty="0" sz="1100" spc="-5">
                <a:latin typeface="Arial"/>
                <a:cs typeface="Arial"/>
              </a:rPr>
              <a:t>weathered the financial crisis relatively well. During the crisis, the  central government fiscal deficit rose to nearly </a:t>
            </a:r>
            <a:r>
              <a:rPr dirty="0" sz="1100">
                <a:latin typeface="Arial"/>
                <a:cs typeface="Arial"/>
              </a:rPr>
              <a:t>7% </a:t>
            </a:r>
            <a:r>
              <a:rPr dirty="0" sz="1100" spc="-5">
                <a:latin typeface="Arial"/>
                <a:cs typeface="Arial"/>
              </a:rPr>
              <a:t>of GDP. This was in part planned stimulus to  maintain growth during the crisis period. However, government debt </a:t>
            </a:r>
            <a:r>
              <a:rPr dirty="0" sz="1100">
                <a:latin typeface="Arial"/>
                <a:cs typeface="Arial"/>
              </a:rPr>
              <a:t>has </a:t>
            </a:r>
            <a:r>
              <a:rPr dirty="0" sz="1100" spc="-5">
                <a:latin typeface="Arial"/>
                <a:cs typeface="Arial"/>
              </a:rPr>
              <a:t>now reached 82% of  GDP. Like most other countries that ran up the fiscal deficit after the crisis, leaders and  economic policymakers in India </a:t>
            </a:r>
            <a:r>
              <a:rPr dirty="0" sz="1100">
                <a:latin typeface="Arial"/>
                <a:cs typeface="Arial"/>
              </a:rPr>
              <a:t>now </a:t>
            </a:r>
            <a:r>
              <a:rPr dirty="0" sz="1100" spc="-5">
                <a:latin typeface="Arial"/>
                <a:cs typeface="Arial"/>
              </a:rPr>
              <a:t>wish to reduce the deficit substantially if not run a  compensating fiscal surplus for a time. The Indian minister of Commerce and Industry, Anand  Sharma, reported that growth came down from </a:t>
            </a:r>
            <a:r>
              <a:rPr dirty="0" sz="1100">
                <a:latin typeface="Arial"/>
                <a:cs typeface="Arial"/>
              </a:rPr>
              <a:t>9.5% </a:t>
            </a:r>
            <a:r>
              <a:rPr dirty="0" sz="1100" spc="-5">
                <a:latin typeface="Arial"/>
                <a:cs typeface="Arial"/>
              </a:rPr>
              <a:t>before the crisis to 6.7% before moving to  an estimated 7.5% in </a:t>
            </a:r>
            <a:r>
              <a:rPr dirty="0" sz="1100">
                <a:latin typeface="Arial"/>
                <a:cs typeface="Arial"/>
              </a:rPr>
              <a:t>2009. </a:t>
            </a:r>
            <a:r>
              <a:rPr dirty="0" sz="1100" spc="-5">
                <a:latin typeface="Arial"/>
                <a:cs typeface="Arial"/>
              </a:rPr>
              <a:t>In 2010, the estimated rate was about 9% with the IMF projecting  about 8% for 2011. Even today, however, </a:t>
            </a:r>
            <a:r>
              <a:rPr dirty="0" sz="1100">
                <a:latin typeface="Arial"/>
                <a:cs typeface="Arial"/>
              </a:rPr>
              <a:t>well </a:t>
            </a:r>
            <a:r>
              <a:rPr dirty="0" sz="1100" spc="-5">
                <a:latin typeface="Arial"/>
                <a:cs typeface="Arial"/>
              </a:rPr>
              <a:t>over half of the labor force in India works in  agriculture. Barriers to global finance in India helped insulate India’s still relatively closed  economy,</a:t>
            </a:r>
            <a:r>
              <a:rPr dirty="0" sz="1100" spc="80">
                <a:latin typeface="Arial"/>
                <a:cs typeface="Arial"/>
              </a:rPr>
              <a:t> </a:t>
            </a:r>
            <a:r>
              <a:rPr dirty="0" sz="1100">
                <a:latin typeface="Arial"/>
                <a:cs typeface="Arial"/>
              </a:rPr>
              <a:t>but</a:t>
            </a:r>
            <a:r>
              <a:rPr dirty="0" sz="1100" spc="80">
                <a:latin typeface="Arial"/>
                <a:cs typeface="Arial"/>
              </a:rPr>
              <a:t> </a:t>
            </a:r>
            <a:r>
              <a:rPr dirty="0" sz="1100" spc="-5">
                <a:latin typeface="Arial"/>
                <a:cs typeface="Arial"/>
              </a:rPr>
              <a:t>this</a:t>
            </a:r>
            <a:r>
              <a:rPr dirty="0" sz="1100" spc="85">
                <a:latin typeface="Arial"/>
                <a:cs typeface="Arial"/>
              </a:rPr>
              <a:t> </a:t>
            </a:r>
            <a:r>
              <a:rPr dirty="0" sz="1100" spc="-5">
                <a:latin typeface="Arial"/>
                <a:cs typeface="Arial"/>
              </a:rPr>
              <a:t>also</a:t>
            </a:r>
            <a:r>
              <a:rPr dirty="0" sz="1100" spc="75">
                <a:latin typeface="Arial"/>
                <a:cs typeface="Arial"/>
              </a:rPr>
              <a:t> </a:t>
            </a:r>
            <a:r>
              <a:rPr dirty="0" sz="1100" spc="-5">
                <a:latin typeface="Arial"/>
                <a:cs typeface="Arial"/>
              </a:rPr>
              <a:t>suggests</a:t>
            </a:r>
            <a:r>
              <a:rPr dirty="0" sz="1100" spc="85">
                <a:latin typeface="Arial"/>
                <a:cs typeface="Arial"/>
              </a:rPr>
              <a:t> </a:t>
            </a:r>
            <a:r>
              <a:rPr dirty="0" sz="1100" spc="-5">
                <a:latin typeface="Arial"/>
                <a:cs typeface="Arial"/>
              </a:rPr>
              <a:t>there</a:t>
            </a:r>
            <a:r>
              <a:rPr dirty="0" sz="1100" spc="80">
                <a:latin typeface="Arial"/>
                <a:cs typeface="Arial"/>
              </a:rPr>
              <a:t> </a:t>
            </a:r>
            <a:r>
              <a:rPr dirty="0" sz="1100" spc="-5">
                <a:latin typeface="Arial"/>
                <a:cs typeface="Arial"/>
              </a:rPr>
              <a:t>are</a:t>
            </a:r>
            <a:r>
              <a:rPr dirty="0" sz="1100" spc="85">
                <a:latin typeface="Arial"/>
                <a:cs typeface="Arial"/>
              </a:rPr>
              <a:t> </a:t>
            </a:r>
            <a:r>
              <a:rPr dirty="0" sz="1100" spc="-5">
                <a:latin typeface="Arial"/>
                <a:cs typeface="Arial"/>
              </a:rPr>
              <a:t>other</a:t>
            </a:r>
            <a:r>
              <a:rPr dirty="0" sz="1100" spc="80">
                <a:latin typeface="Arial"/>
                <a:cs typeface="Arial"/>
              </a:rPr>
              <a:t> </a:t>
            </a:r>
            <a:r>
              <a:rPr dirty="0" sz="1100" spc="-5">
                <a:latin typeface="Arial"/>
                <a:cs typeface="Arial"/>
              </a:rPr>
              <a:t>untapped</a:t>
            </a:r>
            <a:r>
              <a:rPr dirty="0" sz="1100" spc="80">
                <a:latin typeface="Arial"/>
                <a:cs typeface="Arial"/>
              </a:rPr>
              <a:t> </a:t>
            </a:r>
            <a:r>
              <a:rPr dirty="0" sz="1100" spc="-5">
                <a:latin typeface="Arial"/>
                <a:cs typeface="Arial"/>
              </a:rPr>
              <a:t>gains</a:t>
            </a:r>
            <a:r>
              <a:rPr dirty="0" sz="1100" spc="80">
                <a:latin typeface="Arial"/>
                <a:cs typeface="Arial"/>
              </a:rPr>
              <a:t> </a:t>
            </a:r>
            <a:r>
              <a:rPr dirty="0" sz="1100" spc="-5">
                <a:latin typeface="Arial"/>
                <a:cs typeface="Arial"/>
              </a:rPr>
              <a:t>from</a:t>
            </a:r>
            <a:r>
              <a:rPr dirty="0" sz="1100" spc="85">
                <a:latin typeface="Arial"/>
                <a:cs typeface="Arial"/>
              </a:rPr>
              <a:t> </a:t>
            </a:r>
            <a:r>
              <a:rPr dirty="0" sz="1100" spc="-5">
                <a:latin typeface="Arial"/>
                <a:cs typeface="Arial"/>
              </a:rPr>
              <a:t>trade.</a:t>
            </a:r>
            <a:r>
              <a:rPr dirty="0" sz="1100" spc="80">
                <a:latin typeface="Arial"/>
                <a:cs typeface="Arial"/>
              </a:rPr>
              <a:t> </a:t>
            </a:r>
            <a:r>
              <a:rPr dirty="0" sz="1100" spc="-5">
                <a:latin typeface="Arial"/>
                <a:cs typeface="Arial"/>
              </a:rPr>
              <a:t>India</a:t>
            </a:r>
            <a:r>
              <a:rPr dirty="0" sz="1100" spc="85">
                <a:latin typeface="Arial"/>
                <a:cs typeface="Arial"/>
              </a:rPr>
              <a:t> </a:t>
            </a:r>
            <a:r>
              <a:rPr dirty="0" sz="1100" spc="-5">
                <a:latin typeface="Arial"/>
                <a:cs typeface="Arial"/>
              </a:rPr>
              <a:t>is</a:t>
            </a:r>
            <a:r>
              <a:rPr dirty="0" sz="1100" spc="80">
                <a:latin typeface="Arial"/>
                <a:cs typeface="Arial"/>
              </a:rPr>
              <a:t> </a:t>
            </a:r>
            <a:r>
              <a:rPr dirty="0" sz="1100" spc="-5">
                <a:latin typeface="Arial"/>
                <a:cs typeface="Arial"/>
              </a:rPr>
              <a:t>working</a:t>
            </a:r>
            <a:r>
              <a:rPr dirty="0" sz="1100" spc="85">
                <a:latin typeface="Arial"/>
                <a:cs typeface="Arial"/>
              </a:rPr>
              <a:t> </a:t>
            </a:r>
            <a:r>
              <a:rPr dirty="0" sz="1100" spc="-5">
                <a:latin typeface="Arial"/>
                <a:cs typeface="Arial"/>
              </a:rPr>
              <a:t>to</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297</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10768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develop more active economic and political relationships with developing countries in Asia and  with such nations as Brazil and South</a:t>
            </a:r>
            <a:r>
              <a:rPr dirty="0" sz="1100" spc="30">
                <a:latin typeface="Arial"/>
                <a:cs typeface="Arial"/>
              </a:rPr>
              <a:t> </a:t>
            </a:r>
            <a:r>
              <a:rPr dirty="0" sz="1100" spc="-5">
                <a:latin typeface="Arial"/>
                <a:cs typeface="Arial"/>
              </a:rPr>
              <a:t>Africa.</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LATIN AMERICA</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Despite concerns that the crisis would quickly lead to a repeat of past crises in the region, many  countries weathered the initial shocks relatively well, notably Brazil. But Mexico suffered an  economic contraction of 6.5% in 2009 in the wake of the crisis, due to close economic ties in the  United States and amplified by the outbreak of the H1N1 flu virus in the second quarter of 2009.  When the peso was driven to record lows in December 2008, Mexican firms suffered foreign  derivative losses. Mexico had very poor economic conditions through 2010, partly due to the  fact that </a:t>
            </a:r>
            <a:r>
              <a:rPr dirty="0" sz="1100">
                <a:latin typeface="Arial"/>
                <a:cs typeface="Arial"/>
              </a:rPr>
              <a:t>over </a:t>
            </a:r>
            <a:r>
              <a:rPr dirty="0" sz="1100" spc="-5">
                <a:latin typeface="Arial"/>
                <a:cs typeface="Arial"/>
              </a:rPr>
              <a:t>three-quarters of its exports go to </a:t>
            </a:r>
            <a:r>
              <a:rPr dirty="0" sz="1100">
                <a:latin typeface="Arial"/>
                <a:cs typeface="Arial"/>
              </a:rPr>
              <a:t>the </a:t>
            </a:r>
            <a:r>
              <a:rPr dirty="0" sz="1100" spc="-5">
                <a:latin typeface="Arial"/>
                <a:cs typeface="Arial"/>
              </a:rPr>
              <a:t>United States. But much faster growth was  projected for 2011–2012.</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10" b="1">
                <a:latin typeface="Arial"/>
                <a:cs typeface="Arial"/>
              </a:rPr>
              <a:t>AFRICA</a:t>
            </a:r>
            <a:endParaRPr sz="1100">
              <a:latin typeface="Arial"/>
              <a:cs typeface="Arial"/>
            </a:endParaRPr>
          </a:p>
          <a:p>
            <a:pPr>
              <a:lnSpc>
                <a:spcPct val="100000"/>
              </a:lnSpc>
              <a:spcBef>
                <a:spcPts val="45"/>
              </a:spcBef>
            </a:pPr>
            <a:endParaRPr sz="1150">
              <a:latin typeface="Arial"/>
              <a:cs typeface="Arial"/>
            </a:endParaRPr>
          </a:p>
          <a:p>
            <a:pPr algn="just" marL="12700" marR="5715">
              <a:lnSpc>
                <a:spcPct val="95900"/>
              </a:lnSpc>
            </a:pPr>
            <a:r>
              <a:rPr dirty="0" sz="1100" spc="-5">
                <a:latin typeface="Arial"/>
                <a:cs typeface="Arial"/>
              </a:rPr>
              <a:t>Low levels of trade coupled with relatively high commodity prices for its exports </a:t>
            </a:r>
            <a:r>
              <a:rPr dirty="0" sz="1100">
                <a:latin typeface="Arial"/>
                <a:cs typeface="Arial"/>
              </a:rPr>
              <a:t>have </a:t>
            </a:r>
            <a:r>
              <a:rPr dirty="0" sz="1100" spc="-5">
                <a:latin typeface="Arial"/>
                <a:cs typeface="Arial"/>
              </a:rPr>
              <a:t>in some  ways helped insulate sub-Saharan Africa from the brunt of the crisis. The problem of educated  unemployment has been exacerbated, as new university graduates in the region are having  even more difficulty than usual in finding employment that matches their qualifications. This is  also true in North Africa and the Middle East. But relatively high commodity prices, due in  significant measure to demand from Asia, continue to fuel growth. If growth in Asia remains  high, commodity prices may remain higher than in the previous quarter century. But it remains  to be seen whether commodity prices, too, will prove to be in an extended bubble. As mentioned  earlier, prospects for improved </a:t>
            </a:r>
            <a:r>
              <a:rPr dirty="0" sz="1100">
                <a:latin typeface="Arial"/>
                <a:cs typeface="Arial"/>
              </a:rPr>
              <a:t>aid </a:t>
            </a:r>
            <a:r>
              <a:rPr dirty="0" sz="1100" spc="-5">
                <a:latin typeface="Arial"/>
                <a:cs typeface="Arial"/>
              </a:rPr>
              <a:t>flows have at best become more uncertain; and the  prospects of further growth of remittances from families working abroad is equally</a:t>
            </a:r>
            <a:r>
              <a:rPr dirty="0" sz="1100" spc="185">
                <a:latin typeface="Arial"/>
                <a:cs typeface="Arial"/>
              </a:rPr>
              <a:t> </a:t>
            </a:r>
            <a:r>
              <a:rPr dirty="0" sz="1100" spc="-5">
                <a:latin typeface="Arial"/>
                <a:cs typeface="Arial"/>
              </a:rPr>
              <a:t>uncertain.</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PROSPECTS FOR RECOVERY AND</a:t>
            </a:r>
            <a:r>
              <a:rPr dirty="0" sz="1100" spc="20" b="1">
                <a:latin typeface="Arial"/>
                <a:cs typeface="Arial"/>
              </a:rPr>
              <a:t> </a:t>
            </a:r>
            <a:r>
              <a:rPr dirty="0" sz="1100" spc="-5" b="1">
                <a:latin typeface="Arial"/>
                <a:cs typeface="Arial"/>
              </a:rPr>
              <a:t>STABILITY</a:t>
            </a:r>
            <a:endParaRPr sz="1100">
              <a:latin typeface="Arial"/>
              <a:cs typeface="Arial"/>
            </a:endParaRPr>
          </a:p>
          <a:p>
            <a:pPr>
              <a:lnSpc>
                <a:spcPct val="100000"/>
              </a:lnSpc>
              <a:spcBef>
                <a:spcPts val="20"/>
              </a:spcBef>
            </a:pPr>
            <a:endParaRPr sz="1200">
              <a:latin typeface="Arial"/>
              <a:cs typeface="Arial"/>
            </a:endParaRPr>
          </a:p>
          <a:p>
            <a:pPr algn="just" marL="12700" marR="6350">
              <a:lnSpc>
                <a:spcPts val="1270"/>
              </a:lnSpc>
              <a:spcBef>
                <a:spcPts val="5"/>
              </a:spcBef>
            </a:pPr>
            <a:r>
              <a:rPr dirty="0" sz="1100" spc="-5">
                <a:latin typeface="Arial"/>
                <a:cs typeface="Arial"/>
              </a:rPr>
              <a:t>In the years following the crisis, international financial institutions and many private forecasters  predicted that developing countries would lead a global recovery, which would be a milestone in  the history of</a:t>
            </a:r>
            <a:r>
              <a:rPr dirty="0" sz="1100" spc="10">
                <a:latin typeface="Arial"/>
                <a:cs typeface="Arial"/>
              </a:rPr>
              <a:t> </a:t>
            </a:r>
            <a:r>
              <a:rPr dirty="0" sz="1100" spc="-5">
                <a:latin typeface="Arial"/>
                <a:cs typeface="Arial"/>
              </a:rPr>
              <a:t>development.</a:t>
            </a:r>
            <a:endParaRPr sz="1100">
              <a:latin typeface="Arial"/>
              <a:cs typeface="Arial"/>
            </a:endParaRPr>
          </a:p>
          <a:p>
            <a:pPr>
              <a:lnSpc>
                <a:spcPct val="100000"/>
              </a:lnSpc>
              <a:spcBef>
                <a:spcPts val="45"/>
              </a:spcBef>
            </a:pPr>
            <a:endParaRPr sz="1050">
              <a:latin typeface="Arial"/>
              <a:cs typeface="Arial"/>
            </a:endParaRPr>
          </a:p>
          <a:p>
            <a:pPr algn="just" marL="12700" marR="5080">
              <a:lnSpc>
                <a:spcPts val="1270"/>
              </a:lnSpc>
            </a:pPr>
            <a:r>
              <a:rPr dirty="0" sz="1100" spc="-5" b="1">
                <a:latin typeface="Arial"/>
                <a:cs typeface="Arial"/>
              </a:rPr>
              <a:t>The Bank, along </a:t>
            </a:r>
            <a:r>
              <a:rPr dirty="0" sz="1100" b="1">
                <a:latin typeface="Arial"/>
                <a:cs typeface="Arial"/>
              </a:rPr>
              <a:t>with </a:t>
            </a:r>
            <a:r>
              <a:rPr dirty="0" sz="1100" spc="-5" b="1">
                <a:latin typeface="Arial"/>
                <a:cs typeface="Arial"/>
              </a:rPr>
              <a:t>the Fund, has indicated that risks are to the downside. Indeed,  there are at least five reasons for caution on this and similar middle scenario</a:t>
            </a:r>
            <a:r>
              <a:rPr dirty="0" sz="1100" spc="270" b="1">
                <a:latin typeface="Arial"/>
                <a:cs typeface="Arial"/>
              </a:rPr>
              <a:t> </a:t>
            </a:r>
            <a:r>
              <a:rPr dirty="0" sz="1100" spc="-5" b="1">
                <a:latin typeface="Arial"/>
                <a:cs typeface="Arial"/>
              </a:rPr>
              <a:t>projections:</a:t>
            </a:r>
            <a:endParaRPr sz="1100">
              <a:latin typeface="Arial"/>
              <a:cs typeface="Arial"/>
            </a:endParaRPr>
          </a:p>
          <a:p>
            <a:pPr>
              <a:lnSpc>
                <a:spcPct val="100000"/>
              </a:lnSpc>
              <a:spcBef>
                <a:spcPts val="15"/>
              </a:spcBef>
            </a:pPr>
            <a:endParaRPr sz="1050">
              <a:latin typeface="Arial"/>
              <a:cs typeface="Arial"/>
            </a:endParaRPr>
          </a:p>
          <a:p>
            <a:pPr algn="just" marL="469265" marR="6350" indent="-228600">
              <a:lnSpc>
                <a:spcPct val="95800"/>
              </a:lnSpc>
              <a:buFont typeface="Arial"/>
              <a:buAutoNum type="arabicPeriod"/>
              <a:tabLst>
                <a:tab pos="469900" algn="l"/>
              </a:tabLst>
            </a:pPr>
            <a:r>
              <a:rPr dirty="0" sz="1100" spc="-5">
                <a:latin typeface="Arial"/>
                <a:cs typeface="Arial"/>
              </a:rPr>
              <a:t>The United States still has a large trade deficit that is unlikely to come close to its  previous heights. As we have seen, </a:t>
            </a:r>
            <a:r>
              <a:rPr dirty="0" sz="1100">
                <a:latin typeface="Arial"/>
                <a:cs typeface="Arial"/>
              </a:rPr>
              <a:t>countries </a:t>
            </a:r>
            <a:r>
              <a:rPr dirty="0" sz="1100" spc="-5">
                <a:latin typeface="Arial"/>
                <a:cs typeface="Arial"/>
              </a:rPr>
              <a:t>with major banking crises have several  years of below trend imports; such crises were experienced both in the United States  and in several European countries. Reduced import growth is not matched in such cases  with reduced export growth. This makes dependence on exports to high-income  countries, especially the United States, a shaky foundation at present on which to build  growth.</a:t>
            </a:r>
            <a:endParaRPr sz="1100">
              <a:latin typeface="Arial"/>
              <a:cs typeface="Arial"/>
            </a:endParaRPr>
          </a:p>
          <a:p>
            <a:pPr algn="just" marL="469265" marR="5080" indent="-228600">
              <a:lnSpc>
                <a:spcPct val="95800"/>
              </a:lnSpc>
              <a:buFont typeface="Arial"/>
              <a:buAutoNum type="arabicPeriod"/>
              <a:tabLst>
                <a:tab pos="469900" algn="l"/>
              </a:tabLst>
            </a:pPr>
            <a:r>
              <a:rPr dirty="0" sz="1100" spc="-5">
                <a:latin typeface="Arial"/>
                <a:cs typeface="Arial"/>
              </a:rPr>
              <a:t>Fiscal deficits are also high in virtually all high-income OECD countries, and when they  are reduced, aggregate demand </a:t>
            </a:r>
            <a:r>
              <a:rPr dirty="0" sz="1100">
                <a:latin typeface="Arial"/>
                <a:cs typeface="Arial"/>
              </a:rPr>
              <a:t>will </a:t>
            </a:r>
            <a:r>
              <a:rPr dirty="0" sz="1100" spc="-5">
                <a:latin typeface="Arial"/>
                <a:cs typeface="Arial"/>
              </a:rPr>
              <a:t>decline, again reducing export markets. There is  less room for fiscal policy to respond with stimulus in the event of another crisis because  deficit and debt levels are now very high and the political capacity for new stimulus is  lacking. Monetary policy opportunities are limited with interest rates at approximately  zero. With the household sector facing the need to increase its savings rates further,  domestic demand is likely to be well below trend for some time, perhaps several</a:t>
            </a:r>
            <a:r>
              <a:rPr dirty="0" sz="1100" spc="215">
                <a:latin typeface="Arial"/>
                <a:cs typeface="Arial"/>
              </a:rPr>
              <a:t> </a:t>
            </a:r>
            <a:r>
              <a:rPr dirty="0" sz="1100" spc="-5">
                <a:latin typeface="Arial"/>
                <a:cs typeface="Arial"/>
              </a:rPr>
              <a:t>years.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298</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7757159"/>
          </a:xfrm>
          <a:prstGeom prst="rect">
            <a:avLst/>
          </a:prstGeom>
        </p:spPr>
        <p:txBody>
          <a:bodyPr wrap="square" lIns="0" tIns="19050" rIns="0" bIns="0" rtlCol="0" vert="horz">
            <a:spAutoFit/>
          </a:bodyPr>
          <a:lstStyle/>
          <a:p>
            <a:pPr algn="just" marL="469900" marR="5715" indent="-228600">
              <a:lnSpc>
                <a:spcPct val="95800"/>
              </a:lnSpc>
              <a:spcBef>
                <a:spcPts val="150"/>
              </a:spcBef>
              <a:buFont typeface="Arial"/>
              <a:buAutoNum type="arabicPeriod" startAt="3"/>
              <a:tabLst>
                <a:tab pos="470534" algn="l"/>
              </a:tabLst>
            </a:pPr>
            <a:r>
              <a:rPr dirty="0" sz="1100" spc="-5">
                <a:latin typeface="Arial"/>
                <a:cs typeface="Arial"/>
              </a:rPr>
              <a:t>Market perceptions of the risk of sovereign default is high—though, in a historic reversal,  less so for developing countries on average than for a number of developed countries—  and the combination of current high fiscal deficits with high accumulated government  debt has led to a loss of confidence in markets. If another freeze-up of credit occurred in  just the EU-5, the World Bank projects that this could even tip the developed world back  to a second dip of recession. And a subsequent default or major debt restructuring could  threaten the solvency of banks beyond this group, with the potential for a return to  broader crisis. The bailout of Ireland underscored the</a:t>
            </a:r>
            <a:r>
              <a:rPr dirty="0" sz="1100" spc="40">
                <a:latin typeface="Arial"/>
                <a:cs typeface="Arial"/>
              </a:rPr>
              <a:t> </a:t>
            </a:r>
            <a:r>
              <a:rPr dirty="0" sz="1100" spc="-5">
                <a:latin typeface="Arial"/>
                <a:cs typeface="Arial"/>
              </a:rPr>
              <a:t>risks.</a:t>
            </a:r>
            <a:endParaRPr sz="1100">
              <a:latin typeface="Arial"/>
              <a:cs typeface="Arial"/>
            </a:endParaRPr>
          </a:p>
          <a:p>
            <a:pPr algn="just" marL="469900" marR="5715" indent="-228600">
              <a:lnSpc>
                <a:spcPct val="95800"/>
              </a:lnSpc>
              <a:spcBef>
                <a:spcPts val="5"/>
              </a:spcBef>
              <a:buFont typeface="Arial"/>
              <a:buAutoNum type="arabicPeriod" startAt="3"/>
              <a:tabLst>
                <a:tab pos="470534" algn="l"/>
              </a:tabLst>
            </a:pPr>
            <a:r>
              <a:rPr dirty="0" sz="1100" spc="-5">
                <a:latin typeface="Arial"/>
                <a:cs typeface="Arial"/>
              </a:rPr>
              <a:t>The risk of deflation (which occurred during the Great Depression and in Japan during its  “lost decade”) remains much higher than normal. This compounds any other difficulties  of emerging from a new crisis. The quantitative easing in the United States was a  response to this risk, but may also lead to a lower value of the dollar—a major concern  of developing country exporters. The low interest rates in the United States due to  quantitative easing also fueled capital outflows to middle-income countries; one  response in several of these countries was to impose capital controls, the full effects of  which were also</a:t>
            </a:r>
            <a:r>
              <a:rPr dirty="0" sz="1100" spc="5">
                <a:latin typeface="Arial"/>
                <a:cs typeface="Arial"/>
              </a:rPr>
              <a:t> </a:t>
            </a:r>
            <a:r>
              <a:rPr dirty="0" sz="1100" spc="-5">
                <a:latin typeface="Arial"/>
                <a:cs typeface="Arial"/>
              </a:rPr>
              <a:t>uncertain.</a:t>
            </a:r>
            <a:endParaRPr sz="1100">
              <a:latin typeface="Arial"/>
              <a:cs typeface="Arial"/>
            </a:endParaRPr>
          </a:p>
          <a:p>
            <a:pPr algn="just" marL="469900" marR="6985" indent="-228600">
              <a:lnSpc>
                <a:spcPct val="95800"/>
              </a:lnSpc>
              <a:buFont typeface="Arial"/>
              <a:buAutoNum type="arabicPeriod" startAt="3"/>
              <a:tabLst>
                <a:tab pos="470534" algn="l"/>
              </a:tabLst>
            </a:pPr>
            <a:r>
              <a:rPr dirty="0" sz="1100" spc="-5">
                <a:latin typeface="Arial"/>
                <a:cs typeface="Arial"/>
              </a:rPr>
              <a:t>Benefits of exporting manufactures to high-income countries (see Chapter 12) are still  present. To the extent that the opportunity to do so is lessened due to very slow growth,  worsened credit constraints, and perhaps even an increase in disguised protectionism,  the pace of technology transfer and growth </a:t>
            </a:r>
            <a:r>
              <a:rPr dirty="0" sz="1100">
                <a:latin typeface="Arial"/>
                <a:cs typeface="Arial"/>
              </a:rPr>
              <a:t>may </a:t>
            </a:r>
            <a:r>
              <a:rPr dirty="0" sz="1100" spc="-5">
                <a:latin typeface="Arial"/>
                <a:cs typeface="Arial"/>
              </a:rPr>
              <a:t>be</a:t>
            </a:r>
            <a:r>
              <a:rPr dirty="0" sz="1100" spc="45">
                <a:latin typeface="Arial"/>
                <a:cs typeface="Arial"/>
              </a:rPr>
              <a:t> </a:t>
            </a:r>
            <a:r>
              <a:rPr dirty="0" sz="1100" spc="-5">
                <a:latin typeface="Arial"/>
                <a:cs typeface="Arial"/>
              </a:rPr>
              <a:t>reduced.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OPPORTUNITIES AS WELL AS</a:t>
            </a:r>
            <a:r>
              <a:rPr dirty="0" sz="1100" spc="20" b="1">
                <a:latin typeface="Arial"/>
                <a:cs typeface="Arial"/>
              </a:rPr>
              <a:t> </a:t>
            </a:r>
            <a:r>
              <a:rPr dirty="0" sz="1100" spc="-5" b="1">
                <a:latin typeface="Arial"/>
                <a:cs typeface="Arial"/>
              </a:rPr>
              <a:t>DANGERS?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In Chinese symbols, crisis is formed from the symbols for two other words: </a:t>
            </a:r>
            <a:r>
              <a:rPr dirty="0" sz="1100" spc="-5" b="1" i="1">
                <a:latin typeface="Arial"/>
                <a:cs typeface="Arial"/>
              </a:rPr>
              <a:t>wei</a:t>
            </a:r>
            <a:r>
              <a:rPr dirty="0" sz="1100" spc="-5">
                <a:latin typeface="Arial"/>
                <a:cs typeface="Arial"/>
              </a:rPr>
              <a:t>, a symbol </a:t>
            </a:r>
            <a:r>
              <a:rPr dirty="0" sz="1100">
                <a:latin typeface="Arial"/>
                <a:cs typeface="Arial"/>
              </a:rPr>
              <a:t>for  </a:t>
            </a:r>
            <a:r>
              <a:rPr dirty="0" sz="1100" spc="-5">
                <a:latin typeface="Arial"/>
                <a:cs typeface="Arial"/>
              </a:rPr>
              <a:t>danger or great peril, and </a:t>
            </a:r>
            <a:r>
              <a:rPr dirty="0" sz="1100" spc="-5" b="1" i="1">
                <a:latin typeface="Arial"/>
                <a:cs typeface="Arial"/>
              </a:rPr>
              <a:t>ji</a:t>
            </a:r>
            <a:r>
              <a:rPr dirty="0" sz="1100" spc="-5">
                <a:latin typeface="Arial"/>
                <a:cs typeface="Arial"/>
              </a:rPr>
              <a:t>, which can serve as the symbol of opportunity or turning point. Like  many difficult translations, scholars differ on what </a:t>
            </a:r>
            <a:r>
              <a:rPr dirty="0" sz="1100" spc="-5" b="1" i="1">
                <a:latin typeface="Arial"/>
                <a:cs typeface="Arial"/>
              </a:rPr>
              <a:t>ji </a:t>
            </a:r>
            <a:r>
              <a:rPr dirty="0" sz="1100" spc="-5">
                <a:latin typeface="Arial"/>
                <a:cs typeface="Arial"/>
              </a:rPr>
              <a:t>means in this usage. But it introduces a  question: Throughout the developing world, the unfolding crisis and its aftershocks were viewed  with fear—what would happen to markets for their vital exports? But there is no doubt that many  policymakers in China, and in other fast-growing developing nations, quickly came also to </a:t>
            </a:r>
            <a:r>
              <a:rPr dirty="0" sz="1100">
                <a:latin typeface="Arial"/>
                <a:cs typeface="Arial"/>
              </a:rPr>
              <a:t>view  </a:t>
            </a:r>
            <a:r>
              <a:rPr dirty="0" sz="1100" spc="-5">
                <a:latin typeface="Arial"/>
                <a:cs typeface="Arial"/>
              </a:rPr>
              <a:t>the crisis as a great opportunity and a critical turning</a:t>
            </a:r>
            <a:r>
              <a:rPr dirty="0" sz="1100" spc="50">
                <a:latin typeface="Arial"/>
                <a:cs typeface="Arial"/>
              </a:rPr>
              <a:t> </a:t>
            </a:r>
            <a:r>
              <a:rPr dirty="0" sz="1100" spc="-5">
                <a:latin typeface="Arial"/>
                <a:cs typeface="Arial"/>
              </a:rPr>
              <a:t>point.</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The apparent eclipse of the G8 </a:t>
            </a:r>
            <a:r>
              <a:rPr dirty="0" sz="1100">
                <a:latin typeface="Arial"/>
                <a:cs typeface="Arial"/>
              </a:rPr>
              <a:t>by </a:t>
            </a:r>
            <a:r>
              <a:rPr dirty="0" sz="1100" spc="-5">
                <a:latin typeface="Arial"/>
                <a:cs typeface="Arial"/>
              </a:rPr>
              <a:t>the G20, a broader group of nations including leading  developing countries, was a historic event. The emergence of China as a possible regional  engine of growth could allow less dependence on exports to Western markets. And already,  several African nations have become enthusiastic about the emergence of China as a  commodities investor as a counterweight to long-powerful Western</a:t>
            </a:r>
            <a:r>
              <a:rPr dirty="0" sz="1100" spc="65">
                <a:latin typeface="Arial"/>
                <a:cs typeface="Arial"/>
              </a:rPr>
              <a:t> </a:t>
            </a:r>
            <a:r>
              <a:rPr dirty="0" sz="1100" spc="-5">
                <a:latin typeface="Arial"/>
                <a:cs typeface="Arial"/>
              </a:rPr>
              <a:t>companies.</a:t>
            </a:r>
            <a:endParaRPr sz="1100">
              <a:latin typeface="Arial"/>
              <a:cs typeface="Arial"/>
            </a:endParaRPr>
          </a:p>
          <a:p>
            <a:pPr>
              <a:lnSpc>
                <a:spcPct val="100000"/>
              </a:lnSpc>
            </a:pPr>
            <a:endParaRPr sz="1050">
              <a:latin typeface="Arial"/>
              <a:cs typeface="Arial"/>
            </a:endParaRPr>
          </a:p>
          <a:p>
            <a:pPr algn="just" marL="12700" marR="6350">
              <a:lnSpc>
                <a:spcPct val="95800"/>
              </a:lnSpc>
              <a:spcBef>
                <a:spcPts val="5"/>
              </a:spcBef>
            </a:pPr>
            <a:r>
              <a:rPr dirty="0" sz="1100" spc="-5">
                <a:latin typeface="Arial"/>
                <a:cs typeface="Arial"/>
              </a:rPr>
              <a:t>But hopes have been dimmed in </a:t>
            </a:r>
            <a:r>
              <a:rPr dirty="0" sz="1100">
                <a:latin typeface="Arial"/>
                <a:cs typeface="Arial"/>
              </a:rPr>
              <a:t>many </a:t>
            </a:r>
            <a:r>
              <a:rPr dirty="0" sz="1100" spc="-5">
                <a:latin typeface="Arial"/>
                <a:cs typeface="Arial"/>
              </a:rPr>
              <a:t>parts of the developing world for open and stable access  to developed-country markets. Since the 2008 </a:t>
            </a:r>
            <a:r>
              <a:rPr dirty="0" sz="1100">
                <a:latin typeface="Arial"/>
                <a:cs typeface="Arial"/>
              </a:rPr>
              <a:t>crisis, </a:t>
            </a:r>
            <a:r>
              <a:rPr dirty="0" sz="1100" spc="-5">
                <a:latin typeface="Arial"/>
                <a:cs typeface="Arial"/>
              </a:rPr>
              <a:t>politicians have considered it inexpedient  to be viewed as extending “concessions” on trade. The crisis also revealed to developing  countries that despite the assurances of WTO rules, the United States, the European Union,  and other advanced regions can effectively get away with reverting to protectionism, at least </a:t>
            </a:r>
            <a:r>
              <a:rPr dirty="0" sz="1100">
                <a:latin typeface="Arial"/>
                <a:cs typeface="Arial"/>
              </a:rPr>
              <a:t>in  </a:t>
            </a:r>
            <a:r>
              <a:rPr dirty="0" sz="1100" spc="-5">
                <a:latin typeface="Arial"/>
                <a:cs typeface="Arial"/>
              </a:rPr>
              <a:t>the short run, when they find it politically expedient. For example, the U.S. stimulus package  contained “Buy American” provisions; these were challenged but for the most </a:t>
            </a:r>
            <a:r>
              <a:rPr dirty="0" sz="1100">
                <a:latin typeface="Arial"/>
                <a:cs typeface="Arial"/>
              </a:rPr>
              <a:t>part </a:t>
            </a:r>
            <a:r>
              <a:rPr dirty="0" sz="1100" spc="-5">
                <a:latin typeface="Arial"/>
                <a:cs typeface="Arial"/>
              </a:rPr>
              <a:t>prevailed.  Similar requirements were found in the packages of other high-income countries. These served  as sobering reminders </a:t>
            </a:r>
            <a:r>
              <a:rPr dirty="0" sz="1100">
                <a:latin typeface="Arial"/>
                <a:cs typeface="Arial"/>
              </a:rPr>
              <a:t>that </a:t>
            </a:r>
            <a:r>
              <a:rPr dirty="0" sz="1100" spc="-5">
                <a:latin typeface="Arial"/>
                <a:cs typeface="Arial"/>
              </a:rPr>
              <a:t>the benefits of exporting to historically more open </a:t>
            </a:r>
            <a:r>
              <a:rPr dirty="0" sz="1100">
                <a:latin typeface="Arial"/>
                <a:cs typeface="Arial"/>
              </a:rPr>
              <a:t>U.S., </a:t>
            </a:r>
            <a:r>
              <a:rPr dirty="0" sz="1100" spc="-5">
                <a:latin typeface="Arial"/>
                <a:cs typeface="Arial"/>
              </a:rPr>
              <a:t>Canadian,  UK, and other markets cannot be taken for granted; alternative strategies in domestic demand-  led growth and greater reliance on trade between developing countries will also be</a:t>
            </a:r>
            <a:r>
              <a:rPr dirty="0" sz="1100" spc="180">
                <a:latin typeface="Arial"/>
                <a:cs typeface="Arial"/>
              </a:rPr>
              <a:t> </a:t>
            </a:r>
            <a:r>
              <a:rPr dirty="0" sz="1100" spc="-5">
                <a:latin typeface="Arial"/>
                <a:cs typeface="Arial"/>
              </a:rPr>
              <a:t>pursued.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299</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162800"/>
          </a:xfrm>
          <a:prstGeom prst="rect">
            <a:avLst/>
          </a:prstGeom>
        </p:spPr>
        <p:txBody>
          <a:bodyPr wrap="square" lIns="0" tIns="12065" rIns="0" bIns="0" rtlCol="0" vert="horz">
            <a:spAutoFit/>
          </a:bodyPr>
          <a:lstStyle/>
          <a:p>
            <a:pPr algn="r" marR="5715">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43</a:t>
            </a:r>
            <a:endParaRPr sz="1100">
              <a:latin typeface="Arial"/>
              <a:cs typeface="Arial"/>
            </a:endParaRPr>
          </a:p>
          <a:p>
            <a:pPr marL="12700" marR="103505" indent="95885">
              <a:lnSpc>
                <a:spcPts val="2640"/>
              </a:lnSpc>
              <a:spcBef>
                <a:spcPts val="209"/>
              </a:spcBef>
            </a:pPr>
            <a:r>
              <a:rPr dirty="0" sz="1100" spc="-5" b="1">
                <a:latin typeface="Arial"/>
                <a:cs typeface="Arial"/>
              </a:rPr>
              <a:t>FOREIGN FINANCE, INVESTMENT, AND AID: CONTROVERSIES AND OPPORTUNITIES  THE INTERNATIONAL FLOW OF FINANCIAL</a:t>
            </a:r>
            <a:r>
              <a:rPr dirty="0" sz="1100" spc="35" b="1">
                <a:latin typeface="Arial"/>
                <a:cs typeface="Arial"/>
              </a:rPr>
              <a:t> </a:t>
            </a:r>
            <a:r>
              <a:rPr dirty="0" sz="1100" spc="-5" b="1">
                <a:latin typeface="Arial"/>
                <a:cs typeface="Arial"/>
              </a:rPr>
              <a:t>RESOURCES</a:t>
            </a:r>
            <a:endParaRPr sz="1100">
              <a:latin typeface="Arial"/>
              <a:cs typeface="Arial"/>
            </a:endParaRPr>
          </a:p>
          <a:p>
            <a:pPr algn="just" marL="12700" marR="5080">
              <a:lnSpc>
                <a:spcPct val="95800"/>
              </a:lnSpc>
              <a:spcBef>
                <a:spcPts val="1065"/>
              </a:spcBef>
            </a:pPr>
            <a:r>
              <a:rPr dirty="0" sz="1100" spc="-5">
                <a:latin typeface="Arial"/>
                <a:cs typeface="Arial"/>
              </a:rPr>
              <a:t>In Chapter 13, we explained that a country’s international financial situation as reflected in its  balance of payments </a:t>
            </a:r>
            <a:r>
              <a:rPr dirty="0" sz="1100">
                <a:latin typeface="Arial"/>
                <a:cs typeface="Arial"/>
              </a:rPr>
              <a:t>and </a:t>
            </a:r>
            <a:r>
              <a:rPr dirty="0" sz="1100" spc="-5">
                <a:latin typeface="Arial"/>
                <a:cs typeface="Arial"/>
              </a:rPr>
              <a:t>its level of monetary reserves depends not only on its current account  balance (its commodity </a:t>
            </a:r>
            <a:r>
              <a:rPr dirty="0" sz="1100">
                <a:latin typeface="Arial"/>
                <a:cs typeface="Arial"/>
              </a:rPr>
              <a:t>trade) </a:t>
            </a:r>
            <a:r>
              <a:rPr dirty="0" sz="1100" spc="-5">
                <a:latin typeface="Arial"/>
                <a:cs typeface="Arial"/>
              </a:rPr>
              <a:t>but also on its balance on capital account (its net inflow or outflow  of private and public financial resources). Because a majority of non-oil-exporting developing  nations have historically incurred deficits on their current account balance, a continuous net  inflow of foreign financial resources represents an important ingredient in their long-run  development strategies. These recurrent requirements are amplified by the need for targeted  resources for investments in key sectors and for carrying out poverty reduction</a:t>
            </a:r>
            <a:r>
              <a:rPr dirty="0" sz="1100" spc="170">
                <a:latin typeface="Arial"/>
                <a:cs typeface="Arial"/>
              </a:rPr>
              <a:t> </a:t>
            </a:r>
            <a:r>
              <a:rPr dirty="0" sz="1100" spc="-5">
                <a:latin typeface="Arial"/>
                <a:cs typeface="Arial"/>
              </a:rPr>
              <a:t>strategies.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In this chapter, we examine the international flow of financial resources, which takes three main  forms: (1) </a:t>
            </a:r>
            <a:r>
              <a:rPr dirty="0" sz="1100" spc="-5" i="1">
                <a:latin typeface="Arial"/>
                <a:cs typeface="Arial"/>
              </a:rPr>
              <a:t>private foreign direct and portfolio investment</a:t>
            </a:r>
            <a:r>
              <a:rPr dirty="0" sz="1100" spc="-5">
                <a:latin typeface="Arial"/>
                <a:cs typeface="Arial"/>
              </a:rPr>
              <a:t>, consisting of (a) foreign “direct”  investment by large multinational (or transnational) corporations, usually with headquarters in  the developed nations, and (b) foreign </a:t>
            </a:r>
            <a:r>
              <a:rPr dirty="0" sz="1100" spc="-5" b="1">
                <a:latin typeface="Arial"/>
                <a:cs typeface="Arial"/>
              </a:rPr>
              <a:t>portfolio investment </a:t>
            </a:r>
            <a:r>
              <a:rPr dirty="0" sz="1100" spc="-5">
                <a:latin typeface="Arial"/>
                <a:cs typeface="Arial"/>
              </a:rPr>
              <a:t>(e.g., stocks, bonds and notes) in  developing countries’ credit and equity markets by private institutions (banks, mutual funds,  corporations) and individuals; (2) </a:t>
            </a:r>
            <a:r>
              <a:rPr dirty="0" sz="1100" spc="-5" i="1">
                <a:latin typeface="Arial"/>
                <a:cs typeface="Arial"/>
              </a:rPr>
              <a:t>remittances of earnings by international migrants; </a:t>
            </a:r>
            <a:r>
              <a:rPr dirty="0" sz="1100" spc="-5">
                <a:latin typeface="Arial"/>
                <a:cs typeface="Arial"/>
              </a:rPr>
              <a:t>and (3)  </a:t>
            </a:r>
            <a:r>
              <a:rPr dirty="0" sz="1100" spc="-5" i="1">
                <a:latin typeface="Arial"/>
                <a:cs typeface="Arial"/>
              </a:rPr>
              <a:t>public and private development assistance (foreign </a:t>
            </a:r>
            <a:r>
              <a:rPr dirty="0" sz="1100" i="1">
                <a:latin typeface="Arial"/>
                <a:cs typeface="Arial"/>
              </a:rPr>
              <a:t>aid)</a:t>
            </a:r>
            <a:r>
              <a:rPr dirty="0" sz="1100">
                <a:latin typeface="Arial"/>
                <a:cs typeface="Arial"/>
              </a:rPr>
              <a:t>, </a:t>
            </a:r>
            <a:r>
              <a:rPr dirty="0" sz="1100" spc="-5">
                <a:latin typeface="Arial"/>
                <a:cs typeface="Arial"/>
              </a:rPr>
              <a:t>from (a) individual national  governments and multinational donor agencies and, increasingly, (b) private </a:t>
            </a:r>
            <a:r>
              <a:rPr dirty="0" sz="1100" spc="-5" i="1">
                <a:latin typeface="Arial"/>
                <a:cs typeface="Arial"/>
              </a:rPr>
              <a:t>nongovernmental  </a:t>
            </a:r>
            <a:r>
              <a:rPr dirty="0" sz="1100" spc="-5" i="1">
                <a:latin typeface="Arial"/>
                <a:cs typeface="Arial"/>
              </a:rPr>
              <a:t>organizations (NGOs)</a:t>
            </a:r>
            <a:r>
              <a:rPr dirty="0" sz="1100" spc="-5">
                <a:latin typeface="Arial"/>
                <a:cs typeface="Arial"/>
              </a:rPr>
              <a:t>, most working directly with developing nations at the local level. We also  examine </a:t>
            </a:r>
            <a:r>
              <a:rPr dirty="0" sz="1100">
                <a:latin typeface="Arial"/>
                <a:cs typeface="Arial"/>
              </a:rPr>
              <a:t>the </a:t>
            </a:r>
            <a:r>
              <a:rPr dirty="0" sz="1100" spc="-5">
                <a:latin typeface="Arial"/>
                <a:cs typeface="Arial"/>
              </a:rPr>
              <a:t>nature, significance, and controversy regarding private direct and portfolio  investment and foreign aid in the context of the changing world</a:t>
            </a:r>
            <a:r>
              <a:rPr dirty="0" sz="1100" spc="75">
                <a:latin typeface="Arial"/>
                <a:cs typeface="Arial"/>
              </a:rPr>
              <a:t> </a:t>
            </a:r>
            <a:r>
              <a:rPr dirty="0" sz="1100" spc="-5">
                <a:latin typeface="Arial"/>
                <a:cs typeface="Arial"/>
              </a:rPr>
              <a:t>economy.</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PRIVATE FOREIGN </a:t>
            </a:r>
            <a:r>
              <a:rPr dirty="0" sz="1100" spc="-10" b="1">
                <a:latin typeface="Arial"/>
                <a:cs typeface="Arial"/>
              </a:rPr>
              <a:t>DIRECT </a:t>
            </a:r>
            <a:r>
              <a:rPr dirty="0" sz="1100" spc="-5" b="1">
                <a:latin typeface="Arial"/>
                <a:cs typeface="Arial"/>
              </a:rPr>
              <a:t>INVESTMENT </a:t>
            </a:r>
            <a:r>
              <a:rPr dirty="0" sz="1100" b="1">
                <a:latin typeface="Arial"/>
                <a:cs typeface="Arial"/>
              </a:rPr>
              <a:t>AND </a:t>
            </a:r>
            <a:r>
              <a:rPr dirty="0" sz="1100" spc="-5" b="1">
                <a:latin typeface="Arial"/>
                <a:cs typeface="Arial"/>
              </a:rPr>
              <a:t>THE MULTINATIONAL</a:t>
            </a:r>
            <a:r>
              <a:rPr dirty="0" sz="1100" spc="75" b="1">
                <a:latin typeface="Arial"/>
                <a:cs typeface="Arial"/>
              </a:rPr>
              <a:t> </a:t>
            </a:r>
            <a:r>
              <a:rPr dirty="0" sz="1100" spc="-5" b="1">
                <a:latin typeface="Arial"/>
                <a:cs typeface="Arial"/>
              </a:rPr>
              <a:t>CORPORATION</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Few developments have played as critical a role in the extraordinary growth of international  trade and capital flows during the past few decades as the rise of the </a:t>
            </a:r>
            <a:r>
              <a:rPr dirty="0" sz="1100" spc="-5" b="1">
                <a:latin typeface="Arial"/>
                <a:cs typeface="Arial"/>
              </a:rPr>
              <a:t>multinational  corporation (MNC)</a:t>
            </a:r>
            <a:r>
              <a:rPr dirty="0" sz="1100" spc="-5">
                <a:latin typeface="Arial"/>
                <a:cs typeface="Arial"/>
              </a:rPr>
              <a:t>. An MNC is most simply defined as a corporation or enterprise that  conducts and controls productive activities in more than one country. These huge firms are  mostly based in North America, Europe, and Japan; but a growing number are based in newly  high-income economies such as South Korea and Taiwan. In recent years a much smaller but  growing number of MNCs have emerged from upper middle-income countries such as Brazil  and even some fast-growing lower-middle income countries, most notably China. MNCs and the  resources they bring present a unique opportunity but may </a:t>
            </a:r>
            <a:r>
              <a:rPr dirty="0" sz="1100">
                <a:latin typeface="Arial"/>
                <a:cs typeface="Arial"/>
              </a:rPr>
              <a:t>pose </a:t>
            </a:r>
            <a:r>
              <a:rPr dirty="0" sz="1100" spc="-5">
                <a:latin typeface="Arial"/>
                <a:cs typeface="Arial"/>
              </a:rPr>
              <a:t>serious problems for the many  developing countries in which they</a:t>
            </a:r>
            <a:r>
              <a:rPr dirty="0" sz="1100" spc="15">
                <a:latin typeface="Arial"/>
                <a:cs typeface="Arial"/>
              </a:rPr>
              <a:t> </a:t>
            </a:r>
            <a:r>
              <a:rPr dirty="0" sz="1100" spc="-5">
                <a:latin typeface="Arial"/>
                <a:cs typeface="Arial"/>
              </a:rPr>
              <a:t>operate.</a:t>
            </a:r>
            <a:endParaRPr sz="1100">
              <a:latin typeface="Arial"/>
              <a:cs typeface="Arial"/>
            </a:endParaRPr>
          </a:p>
          <a:p>
            <a:pPr>
              <a:lnSpc>
                <a:spcPct val="100000"/>
              </a:lnSpc>
            </a:pPr>
            <a:endParaRPr sz="1200">
              <a:latin typeface="Arial"/>
              <a:cs typeface="Arial"/>
            </a:endParaRPr>
          </a:p>
          <a:p>
            <a:pPr marL="469265" marR="7620" indent="-228600">
              <a:lnSpc>
                <a:spcPts val="1260"/>
              </a:lnSpc>
              <a:buFont typeface="Symbol"/>
              <a:buChar char=""/>
              <a:tabLst>
                <a:tab pos="469265" algn="l"/>
                <a:tab pos="469900" algn="l"/>
              </a:tabLst>
            </a:pPr>
            <a:r>
              <a:rPr dirty="0" sz="1100" spc="-5" b="1">
                <a:latin typeface="Arial"/>
                <a:cs typeface="Arial"/>
              </a:rPr>
              <a:t>Multi National Corporation (MNC): </a:t>
            </a:r>
            <a:r>
              <a:rPr dirty="0" sz="1100" spc="-5">
                <a:latin typeface="Arial"/>
                <a:cs typeface="Arial"/>
              </a:rPr>
              <a:t>A corporation with production activities in more  than one</a:t>
            </a:r>
            <a:r>
              <a:rPr dirty="0" sz="1100">
                <a:latin typeface="Arial"/>
                <a:cs typeface="Arial"/>
              </a:rPr>
              <a:t> </a:t>
            </a:r>
            <a:r>
              <a:rPr dirty="0" sz="1100" spc="-5">
                <a:latin typeface="Arial"/>
                <a:cs typeface="Arial"/>
              </a:rPr>
              <a:t>country.</a:t>
            </a:r>
            <a:endParaRPr sz="1100">
              <a:latin typeface="Arial"/>
              <a:cs typeface="Arial"/>
            </a:endParaRPr>
          </a:p>
          <a:p>
            <a:pPr marL="469265" marR="6985" indent="-228600">
              <a:lnSpc>
                <a:spcPts val="1260"/>
              </a:lnSpc>
              <a:spcBef>
                <a:spcPts val="85"/>
              </a:spcBef>
              <a:buFont typeface="Symbol"/>
              <a:buChar char=""/>
              <a:tabLst>
                <a:tab pos="469265" algn="l"/>
                <a:tab pos="469900" algn="l"/>
              </a:tabLst>
            </a:pPr>
            <a:r>
              <a:rPr dirty="0" sz="1100" spc="-5" b="1">
                <a:latin typeface="Arial"/>
                <a:cs typeface="Arial"/>
              </a:rPr>
              <a:t>Foreign Direct Investment (FDI): </a:t>
            </a:r>
            <a:r>
              <a:rPr dirty="0" sz="1100" spc="-5">
                <a:latin typeface="Arial"/>
                <a:cs typeface="Arial"/>
              </a:rPr>
              <a:t>Overseas equity investments by private multinational  corporations.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300</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3881114"/>
            <a:ext cx="5970905" cy="4048760"/>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The growth of private </a:t>
            </a:r>
            <a:r>
              <a:rPr dirty="0" sz="1100" spc="-5" b="1">
                <a:latin typeface="Arial"/>
                <a:cs typeface="Arial"/>
              </a:rPr>
              <a:t>foreign direct investment (FDI) </a:t>
            </a:r>
            <a:r>
              <a:rPr dirty="0" sz="1100" spc="-5">
                <a:latin typeface="Arial"/>
                <a:cs typeface="Arial"/>
              </a:rPr>
              <a:t>in the developing world has been  extremely rapid—though volatile—in recent decades. A key </a:t>
            </a:r>
            <a:r>
              <a:rPr dirty="0" sz="1100">
                <a:latin typeface="Arial"/>
                <a:cs typeface="Arial"/>
              </a:rPr>
              <a:t>part </a:t>
            </a:r>
            <a:r>
              <a:rPr dirty="0" sz="1100" spc="-5">
                <a:latin typeface="Arial"/>
                <a:cs typeface="Arial"/>
              </a:rPr>
              <a:t>of globalization, FDI growth has  come in waves, with each crest higher than the one before it, as seen in Figure 14.1. It rose  from an annual rate of $2.4 billion in 1962 to $35 billion in 1990 before surging to $565 billion in  2007 (when total world FDI hit its record of just over $2 trillion). And even though global FDI in  2008 fell back, FDI flows to developing countries actually hit a new record of $630 billion before  falling to $478 billion in 2009, after which the beginnings of a new recovery were seen. Globally  the financial crisis led to an estimated 16% decline in FDI inflows in 2008 and an additional 37%  in 2009, to $1,114 billion, with a 24% fall in inflows to developing countries in</a:t>
            </a:r>
            <a:r>
              <a:rPr dirty="0" sz="1100" spc="135">
                <a:latin typeface="Arial"/>
                <a:cs typeface="Arial"/>
              </a:rPr>
              <a:t> </a:t>
            </a:r>
            <a:r>
              <a:rPr dirty="0" sz="1100" spc="-5">
                <a:latin typeface="Arial"/>
                <a:cs typeface="Arial"/>
              </a:rPr>
              <a:t>2009.</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The volatility of flows to various regions is even greater than total flows. A majority </a:t>
            </a:r>
            <a:r>
              <a:rPr dirty="0" sz="1100">
                <a:latin typeface="Arial"/>
                <a:cs typeface="Arial"/>
              </a:rPr>
              <a:t>of </a:t>
            </a:r>
            <a:r>
              <a:rPr dirty="0" sz="1100" spc="-5">
                <a:latin typeface="Arial"/>
                <a:cs typeface="Arial"/>
              </a:rPr>
              <a:t>FDI goes  from one developed country to another, and flows to developing countries are heavily  concentrated in just a few destinations. For example in 2009, 31% of all inflows to developing  countries went to China (including Hong Kong and Macao). Africa has usually received only a  small fraction of inflows. In 2009, FDI in Africa totalled $59 billion, but the share of global FDI  going to Africa as a whole was just 5.3% (3.6% excluding North Africa). But </a:t>
            </a:r>
            <a:r>
              <a:rPr dirty="0" sz="1100">
                <a:latin typeface="Arial"/>
                <a:cs typeface="Arial"/>
              </a:rPr>
              <a:t>even </a:t>
            </a:r>
            <a:r>
              <a:rPr dirty="0" sz="1100" spc="-5">
                <a:latin typeface="Arial"/>
                <a:cs typeface="Arial"/>
              </a:rPr>
              <a:t>this was  higher than recent years, largely driven by commodities investments. Most of the 34 least  developed countries in Africa received very little foreign investment. This is not surprising given  the fact that private capital gravitates toward countries and regions with the highest financial  returns and the greatest perceived safety. Where debt problems are severe, governments are  unstable, and economic reforms remain incomplete, the risks of capital loss can be high. We  must recognize that multinational corporations are not in the development business; their  objective is to maximize their return on capital. MNCs seek out the best profit opportunities and  are largely unconcerned with issues such as poverty, inequality, employment conditions, and  environmental problems.</a:t>
            </a:r>
            <a:endParaRPr sz="1100">
              <a:latin typeface="Arial"/>
              <a:cs typeface="Arial"/>
            </a:endParaRPr>
          </a:p>
        </p:txBody>
      </p:sp>
      <p:sp>
        <p:nvSpPr>
          <p:cNvPr id="7" name="object 7"/>
          <p:cNvSpPr/>
          <p:nvPr/>
        </p:nvSpPr>
        <p:spPr>
          <a:xfrm>
            <a:off x="933450" y="883158"/>
            <a:ext cx="5945124" cy="2824588"/>
          </a:xfrm>
          <a:prstGeom prst="rect">
            <a:avLst/>
          </a:prstGeom>
          <a:blipFill>
            <a:blip r:embed="rId2" cstate="print"/>
            <a:stretch>
              <a:fillRect/>
            </a:stretch>
          </a:blipFill>
        </p:spPr>
        <p:txBody>
          <a:bodyPr wrap="square" lIns="0" tIns="0" rIns="0" bIns="0" rtlCol="0"/>
          <a:lstStyle/>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301</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353695"/>
          </a:xfrm>
          <a:prstGeom prst="rect">
            <a:avLst/>
          </a:prstGeom>
        </p:spPr>
        <p:txBody>
          <a:bodyPr wrap="square" lIns="0" tIns="22860" rIns="0" bIns="0" rtlCol="0" vert="horz">
            <a:spAutoFit/>
          </a:bodyPr>
          <a:lstStyle/>
          <a:p>
            <a:pPr marL="12700" marR="5080">
              <a:lnSpc>
                <a:spcPts val="1270"/>
              </a:lnSpc>
              <a:spcBef>
                <a:spcPts val="180"/>
              </a:spcBef>
            </a:pPr>
            <a:r>
              <a:rPr dirty="0" sz="1100" spc="-5">
                <a:latin typeface="Arial"/>
                <a:cs typeface="Arial"/>
              </a:rPr>
              <a:t>FDI flows need to be understood in context. FDI inflows to developing countries have remained  a</a:t>
            </a:r>
            <a:r>
              <a:rPr dirty="0" sz="1100" spc="50">
                <a:latin typeface="Arial"/>
                <a:cs typeface="Arial"/>
              </a:rPr>
              <a:t> </a:t>
            </a:r>
            <a:r>
              <a:rPr dirty="0" sz="1100" spc="-5">
                <a:latin typeface="Arial"/>
                <a:cs typeface="Arial"/>
              </a:rPr>
              <a:t>small</a:t>
            </a:r>
            <a:r>
              <a:rPr dirty="0" sz="1100" spc="50">
                <a:latin typeface="Arial"/>
                <a:cs typeface="Arial"/>
              </a:rPr>
              <a:t> </a:t>
            </a:r>
            <a:r>
              <a:rPr dirty="0" sz="1100" spc="-5">
                <a:latin typeface="Arial"/>
                <a:cs typeface="Arial"/>
              </a:rPr>
              <a:t>fraction</a:t>
            </a:r>
            <a:r>
              <a:rPr dirty="0" sz="1100" spc="50">
                <a:latin typeface="Arial"/>
                <a:cs typeface="Arial"/>
              </a:rPr>
              <a:t> </a:t>
            </a:r>
            <a:r>
              <a:rPr dirty="0" sz="1100" spc="-5">
                <a:latin typeface="Arial"/>
                <a:cs typeface="Arial"/>
              </a:rPr>
              <a:t>of</a:t>
            </a:r>
            <a:r>
              <a:rPr dirty="0" sz="1100" spc="50">
                <a:latin typeface="Arial"/>
                <a:cs typeface="Arial"/>
              </a:rPr>
              <a:t> </a:t>
            </a:r>
            <a:r>
              <a:rPr dirty="0" sz="1100" spc="-5">
                <a:latin typeface="Arial"/>
                <a:cs typeface="Arial"/>
              </a:rPr>
              <a:t>these</a:t>
            </a:r>
            <a:r>
              <a:rPr dirty="0" sz="1100" spc="50">
                <a:latin typeface="Arial"/>
                <a:cs typeface="Arial"/>
              </a:rPr>
              <a:t> </a:t>
            </a:r>
            <a:r>
              <a:rPr dirty="0" sz="1100" spc="-5">
                <a:latin typeface="Arial"/>
                <a:cs typeface="Arial"/>
              </a:rPr>
              <a:t>countries’</a:t>
            </a:r>
            <a:r>
              <a:rPr dirty="0" sz="1100" spc="50">
                <a:latin typeface="Arial"/>
                <a:cs typeface="Arial"/>
              </a:rPr>
              <a:t> </a:t>
            </a:r>
            <a:r>
              <a:rPr dirty="0" sz="1100" spc="-5">
                <a:latin typeface="Arial"/>
                <a:cs typeface="Arial"/>
              </a:rPr>
              <a:t>total</a:t>
            </a:r>
            <a:r>
              <a:rPr dirty="0" sz="1100" spc="50">
                <a:latin typeface="Arial"/>
                <a:cs typeface="Arial"/>
              </a:rPr>
              <a:t> </a:t>
            </a:r>
            <a:r>
              <a:rPr dirty="0" sz="1100" spc="-5">
                <a:latin typeface="Arial"/>
                <a:cs typeface="Arial"/>
              </a:rPr>
              <a:t>investment,</a:t>
            </a:r>
            <a:r>
              <a:rPr dirty="0" sz="1100" spc="50">
                <a:latin typeface="Arial"/>
                <a:cs typeface="Arial"/>
              </a:rPr>
              <a:t> </a:t>
            </a:r>
            <a:r>
              <a:rPr dirty="0" sz="1100" spc="-5">
                <a:latin typeface="Arial"/>
                <a:cs typeface="Arial"/>
              </a:rPr>
              <a:t>most</a:t>
            </a:r>
            <a:r>
              <a:rPr dirty="0" sz="1100" spc="50">
                <a:latin typeface="Arial"/>
                <a:cs typeface="Arial"/>
              </a:rPr>
              <a:t> </a:t>
            </a:r>
            <a:r>
              <a:rPr dirty="0" sz="1100" spc="-5">
                <a:latin typeface="Arial"/>
                <a:cs typeface="Arial"/>
              </a:rPr>
              <a:t>of</a:t>
            </a:r>
            <a:r>
              <a:rPr dirty="0" sz="1100" spc="60">
                <a:latin typeface="Arial"/>
                <a:cs typeface="Arial"/>
              </a:rPr>
              <a:t> </a:t>
            </a:r>
            <a:r>
              <a:rPr dirty="0" sz="1100" spc="-5">
                <a:latin typeface="Arial"/>
                <a:cs typeface="Arial"/>
              </a:rPr>
              <a:t>which</a:t>
            </a:r>
            <a:r>
              <a:rPr dirty="0" sz="1100" spc="50">
                <a:latin typeface="Arial"/>
                <a:cs typeface="Arial"/>
              </a:rPr>
              <a:t> </a:t>
            </a:r>
            <a:r>
              <a:rPr dirty="0" sz="1100" spc="-5">
                <a:latin typeface="Arial"/>
                <a:cs typeface="Arial"/>
              </a:rPr>
              <a:t>is</a:t>
            </a:r>
            <a:r>
              <a:rPr dirty="0" sz="1100" spc="50">
                <a:latin typeface="Arial"/>
                <a:cs typeface="Arial"/>
              </a:rPr>
              <a:t> </a:t>
            </a:r>
            <a:r>
              <a:rPr dirty="0" sz="1100" spc="-5">
                <a:latin typeface="Arial"/>
                <a:cs typeface="Arial"/>
              </a:rPr>
              <a:t>accounted</a:t>
            </a:r>
            <a:r>
              <a:rPr dirty="0" sz="1100" spc="50">
                <a:latin typeface="Arial"/>
                <a:cs typeface="Arial"/>
              </a:rPr>
              <a:t> </a:t>
            </a:r>
            <a:r>
              <a:rPr dirty="0" sz="1100" spc="-5">
                <a:latin typeface="Arial"/>
                <a:cs typeface="Arial"/>
              </a:rPr>
              <a:t>for</a:t>
            </a:r>
            <a:r>
              <a:rPr dirty="0" sz="1100" spc="50">
                <a:latin typeface="Arial"/>
                <a:cs typeface="Arial"/>
              </a:rPr>
              <a:t> </a:t>
            </a:r>
            <a:r>
              <a:rPr dirty="0" sz="1100" spc="-5">
                <a:latin typeface="Arial"/>
                <a:cs typeface="Arial"/>
              </a:rPr>
              <a:t>by</a:t>
            </a:r>
            <a:r>
              <a:rPr dirty="0" sz="1100" spc="50">
                <a:latin typeface="Arial"/>
                <a:cs typeface="Arial"/>
              </a:rPr>
              <a:t> </a:t>
            </a:r>
            <a:r>
              <a:rPr dirty="0" sz="1100" spc="-5">
                <a:latin typeface="Arial"/>
                <a:cs typeface="Arial"/>
              </a:rPr>
              <a:t>domestic</a:t>
            </a:r>
            <a:endParaRPr sz="1100">
              <a:latin typeface="Arial"/>
              <a:cs typeface="Arial"/>
            </a:endParaRPr>
          </a:p>
        </p:txBody>
      </p:sp>
      <p:sp>
        <p:nvSpPr>
          <p:cNvPr id="7" name="object 7"/>
          <p:cNvSpPr txBox="1"/>
          <p:nvPr/>
        </p:nvSpPr>
        <p:spPr>
          <a:xfrm>
            <a:off x="901700" y="5539989"/>
            <a:ext cx="5969635" cy="3566160"/>
          </a:xfrm>
          <a:prstGeom prst="rect">
            <a:avLst/>
          </a:prstGeom>
        </p:spPr>
        <p:txBody>
          <a:bodyPr wrap="square" lIns="0" tIns="19050" rIns="0" bIns="0" rtlCol="0" vert="horz">
            <a:spAutoFit/>
          </a:bodyPr>
          <a:lstStyle/>
          <a:p>
            <a:pPr algn="just" marL="12700" marR="7620">
              <a:lnSpc>
                <a:spcPct val="95800"/>
              </a:lnSpc>
              <a:spcBef>
                <a:spcPts val="150"/>
              </a:spcBef>
            </a:pPr>
            <a:r>
              <a:rPr dirty="0" sz="1100" spc="-5">
                <a:latin typeface="Arial"/>
                <a:cs typeface="Arial"/>
              </a:rPr>
              <a:t>sources. (Note, however, that foreign investment </a:t>
            </a:r>
            <a:r>
              <a:rPr dirty="0" sz="1100">
                <a:latin typeface="Arial"/>
                <a:cs typeface="Arial"/>
              </a:rPr>
              <a:t>may </a:t>
            </a:r>
            <a:r>
              <a:rPr dirty="0" sz="1100" spc="-5">
                <a:latin typeface="Arial"/>
                <a:cs typeface="Arial"/>
              </a:rPr>
              <a:t>be qualitatively different from domestic  investment and may have beneficial interaction effects in some cases, which in turn </a:t>
            </a:r>
            <a:r>
              <a:rPr dirty="0" sz="1100">
                <a:latin typeface="Arial"/>
                <a:cs typeface="Arial"/>
              </a:rPr>
              <a:t>may  </a:t>
            </a:r>
            <a:r>
              <a:rPr dirty="0" sz="1100" spc="-5">
                <a:latin typeface="Arial"/>
                <a:cs typeface="Arial"/>
              </a:rPr>
              <a:t>depend on policy as discussed below.) Nevertheless, in recent years, FDI has become the  largest source of foreign funds flowing to developing countries, as Figure 14.2 makes</a:t>
            </a:r>
            <a:r>
              <a:rPr dirty="0" sz="1100" spc="170">
                <a:latin typeface="Arial"/>
                <a:cs typeface="Arial"/>
              </a:rPr>
              <a:t> </a:t>
            </a:r>
            <a:r>
              <a:rPr dirty="0" sz="1100" spc="-5">
                <a:latin typeface="Arial"/>
                <a:cs typeface="Arial"/>
              </a:rPr>
              <a:t>clear.</a:t>
            </a:r>
            <a:endParaRPr sz="1100">
              <a:latin typeface="Arial"/>
              <a:cs typeface="Arial"/>
            </a:endParaRPr>
          </a:p>
          <a:p>
            <a:pPr>
              <a:lnSpc>
                <a:spcPct val="100000"/>
              </a:lnSpc>
            </a:pPr>
            <a:endParaRPr sz="1100">
              <a:latin typeface="Arial"/>
              <a:cs typeface="Arial"/>
            </a:endParaRPr>
          </a:p>
          <a:p>
            <a:pPr algn="just" marL="12700" marR="5080">
              <a:lnSpc>
                <a:spcPct val="95900"/>
              </a:lnSpc>
              <a:spcBef>
                <a:spcPts val="5"/>
              </a:spcBef>
            </a:pPr>
            <a:r>
              <a:rPr dirty="0" sz="1100" spc="-5">
                <a:latin typeface="Arial"/>
                <a:cs typeface="Arial"/>
              </a:rPr>
              <a:t>Globally, MNCs employ about 80 million workers in countries outside their home base.  Nonetheless, in most developing countries, MNCs employ a relatively small fraction of </a:t>
            </a:r>
            <a:r>
              <a:rPr dirty="0" sz="1100">
                <a:latin typeface="Arial"/>
                <a:cs typeface="Arial"/>
              </a:rPr>
              <a:t>the  </a:t>
            </a:r>
            <a:r>
              <a:rPr dirty="0" sz="1100" spc="-5">
                <a:latin typeface="Arial"/>
                <a:cs typeface="Arial"/>
              </a:rPr>
              <a:t>workforce, but the jobs tend to be concentrated in the modern urban sector. Moreover, foreign  direct investment also involves much more than the simple transfer of capital or the  establishment of a local factory in a developing nation. Multinationals carry with </a:t>
            </a:r>
            <a:r>
              <a:rPr dirty="0" sz="1100">
                <a:latin typeface="Arial"/>
                <a:cs typeface="Arial"/>
              </a:rPr>
              <a:t>them  </a:t>
            </a:r>
            <a:r>
              <a:rPr dirty="0" sz="1100" spc="-5">
                <a:latin typeface="Arial"/>
                <a:cs typeface="Arial"/>
              </a:rPr>
              <a:t>technologies of production, tastes and styles of living, managerial philosophies, and diverse  business practices. But before analyzing some of the arguments concerning incentives for or  restrictions against private foreign investment in general and multinational corporations in  particular, let us examine the character of these</a:t>
            </a:r>
            <a:r>
              <a:rPr dirty="0" sz="1100" spc="40">
                <a:latin typeface="Arial"/>
                <a:cs typeface="Arial"/>
              </a:rPr>
              <a:t> </a:t>
            </a:r>
            <a:r>
              <a:rPr dirty="0" sz="1100" spc="-5">
                <a:latin typeface="Arial"/>
                <a:cs typeface="Arial"/>
              </a:rPr>
              <a:t>enterprises.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pPr>
            <a:r>
              <a:rPr dirty="0" sz="1100" spc="-5">
                <a:latin typeface="Arial"/>
                <a:cs typeface="Arial"/>
              </a:rPr>
              <a:t>Two central characteristics of multinational corporations are their large size and the fact that  their worldwide operations and activities tend to be centrally controlled by parent companies.  They are the major force in the rapid globalization of world trade. The 100 largest non-financial  multinational corporations now account for over $8 trillion in sales. MNCs </a:t>
            </a:r>
            <a:r>
              <a:rPr dirty="0" sz="1100">
                <a:latin typeface="Arial"/>
                <a:cs typeface="Arial"/>
              </a:rPr>
              <a:t>have </a:t>
            </a:r>
            <a:r>
              <a:rPr dirty="0" sz="1100" spc="-5">
                <a:latin typeface="Arial"/>
                <a:cs typeface="Arial"/>
              </a:rPr>
              <a:t>become, in  effect, </a:t>
            </a:r>
            <a:r>
              <a:rPr dirty="0" sz="1100" spc="-5" b="1">
                <a:latin typeface="Arial"/>
                <a:cs typeface="Arial"/>
              </a:rPr>
              <a:t>global factories </a:t>
            </a:r>
            <a:r>
              <a:rPr dirty="0" sz="1100" spc="-5">
                <a:latin typeface="Arial"/>
                <a:cs typeface="Arial"/>
              </a:rPr>
              <a:t>searching for opportunities anywhere in the world. Many MNCs have  annual sales volumes in excess of the GDP of the developing nations in which they operate.  The</a:t>
            </a:r>
            <a:r>
              <a:rPr dirty="0" sz="1100" spc="40">
                <a:latin typeface="Arial"/>
                <a:cs typeface="Arial"/>
              </a:rPr>
              <a:t> </a:t>
            </a:r>
            <a:r>
              <a:rPr dirty="0" sz="1100" spc="-5">
                <a:latin typeface="Arial"/>
                <a:cs typeface="Arial"/>
              </a:rPr>
              <a:t>scale</a:t>
            </a:r>
            <a:r>
              <a:rPr dirty="0" sz="1100" spc="3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these</a:t>
            </a:r>
            <a:r>
              <a:rPr dirty="0" sz="1100" spc="35">
                <a:latin typeface="Arial"/>
                <a:cs typeface="Arial"/>
              </a:rPr>
              <a:t> </a:t>
            </a:r>
            <a:r>
              <a:rPr dirty="0" sz="1100" spc="-5">
                <a:latin typeface="Arial"/>
                <a:cs typeface="Arial"/>
              </a:rPr>
              <a:t>corporations</a:t>
            </a:r>
            <a:r>
              <a:rPr dirty="0" sz="1100" spc="40">
                <a:latin typeface="Arial"/>
                <a:cs typeface="Arial"/>
              </a:rPr>
              <a:t> </a:t>
            </a:r>
            <a:r>
              <a:rPr dirty="0" sz="1100" spc="-5">
                <a:latin typeface="Arial"/>
                <a:cs typeface="Arial"/>
              </a:rPr>
              <a:t>is</a:t>
            </a:r>
            <a:r>
              <a:rPr dirty="0" sz="1100" spc="45">
                <a:latin typeface="Arial"/>
                <a:cs typeface="Arial"/>
              </a:rPr>
              <a:t> </a:t>
            </a:r>
            <a:r>
              <a:rPr dirty="0" sz="1100" spc="-5">
                <a:latin typeface="Arial"/>
                <a:cs typeface="Arial"/>
              </a:rPr>
              <a:t>immense.</a:t>
            </a:r>
            <a:r>
              <a:rPr dirty="0" sz="1100" spc="40">
                <a:latin typeface="Arial"/>
                <a:cs typeface="Arial"/>
              </a:rPr>
              <a:t> </a:t>
            </a:r>
            <a:r>
              <a:rPr dirty="0" sz="1100" spc="-5">
                <a:latin typeface="Arial"/>
                <a:cs typeface="Arial"/>
              </a:rPr>
              <a:t>Six</a:t>
            </a:r>
            <a:r>
              <a:rPr dirty="0" sz="1100" spc="45">
                <a:latin typeface="Arial"/>
                <a:cs typeface="Arial"/>
              </a:rPr>
              <a:t> </a:t>
            </a:r>
            <a:r>
              <a:rPr dirty="0" sz="1100" spc="-5">
                <a:latin typeface="Arial"/>
                <a:cs typeface="Arial"/>
              </a:rPr>
              <a:t>of</a:t>
            </a:r>
            <a:r>
              <a:rPr dirty="0" sz="1100" spc="40">
                <a:latin typeface="Arial"/>
                <a:cs typeface="Arial"/>
              </a:rPr>
              <a:t> </a:t>
            </a:r>
            <a:r>
              <a:rPr dirty="0" sz="1100" spc="-5">
                <a:latin typeface="Arial"/>
                <a:cs typeface="Arial"/>
              </a:rPr>
              <a:t>them</a:t>
            </a:r>
            <a:r>
              <a:rPr dirty="0" sz="1100" spc="40">
                <a:latin typeface="Arial"/>
                <a:cs typeface="Arial"/>
              </a:rPr>
              <a:t> </a:t>
            </a:r>
            <a:r>
              <a:rPr dirty="0" sz="1100" spc="-5">
                <a:latin typeface="Arial"/>
                <a:cs typeface="Arial"/>
              </a:rPr>
              <a:t>accounted</a:t>
            </a:r>
            <a:r>
              <a:rPr dirty="0" sz="1100" spc="45">
                <a:latin typeface="Arial"/>
                <a:cs typeface="Arial"/>
              </a:rPr>
              <a:t> </a:t>
            </a:r>
            <a:r>
              <a:rPr dirty="0" sz="1100" spc="-5">
                <a:latin typeface="Arial"/>
                <a:cs typeface="Arial"/>
              </a:rPr>
              <a:t>for</a:t>
            </a:r>
            <a:r>
              <a:rPr dirty="0" sz="1100" spc="35">
                <a:latin typeface="Arial"/>
                <a:cs typeface="Arial"/>
              </a:rPr>
              <a:t> </a:t>
            </a:r>
            <a:r>
              <a:rPr dirty="0" sz="1100" spc="-5">
                <a:latin typeface="Arial"/>
                <a:cs typeface="Arial"/>
              </a:rPr>
              <a:t>more</a:t>
            </a:r>
            <a:r>
              <a:rPr dirty="0" sz="1100" spc="45">
                <a:latin typeface="Arial"/>
                <a:cs typeface="Arial"/>
              </a:rPr>
              <a:t> </a:t>
            </a:r>
            <a:r>
              <a:rPr dirty="0" sz="1100" spc="-5">
                <a:latin typeface="Arial"/>
                <a:cs typeface="Arial"/>
              </a:rPr>
              <a:t>sales</a:t>
            </a:r>
            <a:r>
              <a:rPr dirty="0" sz="1100" spc="40">
                <a:latin typeface="Arial"/>
                <a:cs typeface="Arial"/>
              </a:rPr>
              <a:t> </a:t>
            </a:r>
            <a:r>
              <a:rPr dirty="0" sz="1100" spc="-5">
                <a:latin typeface="Arial"/>
                <a:cs typeface="Arial"/>
              </a:rPr>
              <a:t>in</a:t>
            </a:r>
            <a:r>
              <a:rPr dirty="0" sz="1100" spc="40">
                <a:latin typeface="Arial"/>
                <a:cs typeface="Arial"/>
              </a:rPr>
              <a:t> </a:t>
            </a:r>
            <a:r>
              <a:rPr dirty="0" sz="1100" spc="-5">
                <a:latin typeface="Arial"/>
                <a:cs typeface="Arial"/>
              </a:rPr>
              <a:t>2008</a:t>
            </a:r>
            <a:r>
              <a:rPr dirty="0" sz="1100" spc="45">
                <a:latin typeface="Arial"/>
                <a:cs typeface="Arial"/>
              </a:rPr>
              <a:t> </a:t>
            </a:r>
            <a:r>
              <a:rPr dirty="0" sz="1100" spc="-5">
                <a:latin typeface="Arial"/>
                <a:cs typeface="Arial"/>
              </a:rPr>
              <a:t>than</a:t>
            </a:r>
            <a:endParaRPr sz="1100">
              <a:latin typeface="Arial"/>
              <a:cs typeface="Arial"/>
            </a:endParaRPr>
          </a:p>
        </p:txBody>
      </p:sp>
      <p:sp>
        <p:nvSpPr>
          <p:cNvPr id="8" name="object 8"/>
          <p:cNvSpPr/>
          <p:nvPr/>
        </p:nvSpPr>
        <p:spPr>
          <a:xfrm>
            <a:off x="933450" y="1318260"/>
            <a:ext cx="5945124" cy="4242054"/>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302</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8254365"/>
          </a:xfrm>
          <a:prstGeom prst="rect">
            <a:avLst/>
          </a:prstGeom>
        </p:spPr>
        <p:txBody>
          <a:bodyPr wrap="square" lIns="0" tIns="22860" rIns="0" bIns="0" rtlCol="0" vert="horz">
            <a:spAutoFit/>
          </a:bodyPr>
          <a:lstStyle/>
          <a:p>
            <a:pPr algn="just" marL="12700" marR="7620">
              <a:lnSpc>
                <a:spcPts val="1270"/>
              </a:lnSpc>
              <a:spcBef>
                <a:spcPts val="180"/>
              </a:spcBef>
            </a:pPr>
            <a:r>
              <a:rPr dirty="0" sz="1100" spc="-5">
                <a:latin typeface="Arial"/>
                <a:cs typeface="Arial"/>
              </a:rPr>
              <a:t>the GNI of </a:t>
            </a:r>
            <a:r>
              <a:rPr dirty="0" sz="1100">
                <a:latin typeface="Arial"/>
                <a:cs typeface="Arial"/>
              </a:rPr>
              <a:t>all </a:t>
            </a:r>
            <a:r>
              <a:rPr dirty="0" sz="1100" spc="-5">
                <a:latin typeface="Arial"/>
                <a:cs typeface="Arial"/>
              </a:rPr>
              <a:t>of South Asia and sub-Saharan Africa combined. Poorer countries are dwarfed in  size by the major</a:t>
            </a:r>
            <a:r>
              <a:rPr dirty="0" sz="1100" spc="5">
                <a:latin typeface="Arial"/>
                <a:cs typeface="Arial"/>
              </a:rPr>
              <a:t> </a:t>
            </a:r>
            <a:r>
              <a:rPr dirty="0" sz="1100" spc="-5">
                <a:latin typeface="Arial"/>
                <a:cs typeface="Arial"/>
              </a:rPr>
              <a:t>MNCs.</a:t>
            </a:r>
            <a:endParaRPr sz="1100">
              <a:latin typeface="Arial"/>
              <a:cs typeface="Arial"/>
            </a:endParaRPr>
          </a:p>
          <a:p>
            <a:pPr>
              <a:lnSpc>
                <a:spcPct val="100000"/>
              </a:lnSpc>
              <a:spcBef>
                <a:spcPts val="15"/>
              </a:spcBef>
            </a:pPr>
            <a:endParaRPr sz="1050">
              <a:latin typeface="Arial"/>
              <a:cs typeface="Arial"/>
            </a:endParaRPr>
          </a:p>
          <a:p>
            <a:pPr algn="just" marL="12700" marR="5715">
              <a:lnSpc>
                <a:spcPct val="95900"/>
              </a:lnSpc>
            </a:pPr>
            <a:r>
              <a:rPr dirty="0" sz="1100" spc="-5">
                <a:latin typeface="Arial"/>
                <a:cs typeface="Arial"/>
              </a:rPr>
              <a:t>In sum, enormous size confers substantial economic (and sometimes political) power on MNCs  vis-à-vis the countries in which they operate. This power is greatly strengthened by their  predominantly oligopolistic market positions, that is, by the fact that they tend to operate in  worldwide product markets dominated by a few sellers. This situation gives them the ability to  manipulate prices and profits, to collude with other firms in determining areas of control, and  generally to restrict the entry of potential competitors by dominating new technologies, special  skills, and, through product differentiation and advertising, consumer tastes. Although a majority  of MNC investments are still directed to other developed countries, most developing countries,  given their small economies, feel the presence of multinational corporations more acutely than  the developed countries</a:t>
            </a:r>
            <a:r>
              <a:rPr dirty="0" sz="1100" spc="5">
                <a:latin typeface="Arial"/>
                <a:cs typeface="Arial"/>
              </a:rPr>
              <a:t> </a:t>
            </a:r>
            <a:r>
              <a:rPr dirty="0" sz="1100" spc="-5">
                <a:latin typeface="Arial"/>
                <a:cs typeface="Arial"/>
              </a:rPr>
              <a:t>do.</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PRIVATE FOREIGN INVESTMENT: </a:t>
            </a:r>
            <a:r>
              <a:rPr dirty="0" sz="1100" spc="-10" b="1">
                <a:latin typeface="Arial"/>
                <a:cs typeface="Arial"/>
              </a:rPr>
              <a:t>SOME </a:t>
            </a:r>
            <a:r>
              <a:rPr dirty="0" sz="1100" spc="-5" b="1">
                <a:latin typeface="Arial"/>
                <a:cs typeface="Arial"/>
              </a:rPr>
              <a:t>PROS AND CONS FOR</a:t>
            </a:r>
            <a:r>
              <a:rPr dirty="0" sz="1100" spc="50" b="1">
                <a:latin typeface="Arial"/>
                <a:cs typeface="Arial"/>
              </a:rPr>
              <a:t> </a:t>
            </a:r>
            <a:r>
              <a:rPr dirty="0" sz="1100" spc="-5" b="1">
                <a:latin typeface="Arial"/>
                <a:cs typeface="Arial"/>
              </a:rPr>
              <a:t>DEVELOPMENT</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800"/>
              </a:lnSpc>
              <a:spcBef>
                <a:spcPts val="5"/>
              </a:spcBef>
            </a:pPr>
            <a:r>
              <a:rPr dirty="0" sz="1100" spc="-5">
                <a:latin typeface="Arial"/>
                <a:cs typeface="Arial"/>
              </a:rPr>
              <a:t>Few areas in the economics of development arouse so much controversy and are subject to  such varying interpretations as the issue of the benefits and costs of private foreign investment.  If we look closely at this controversy, however, we will see that the disagreement is not so much  about the influence of MNCs on traditional economic aggregates such as GDP, investment,  savings, and manufacturing growth rates (though these disagreements do indeed exist) as  about the fundamental economic and social meaning of development as it relates to the diverse  activities of MNCs. In other words, the controversy over the role and impact of foreign private  investment often has as its basis a fundamental disagreement about the nature, style, and  character of a desirable development process. The basic arguments for and against the impact  of private foreign investment in the context of the type of development it tends to foster can be  summarized as</a:t>
            </a:r>
            <a:r>
              <a:rPr dirty="0" sz="1100">
                <a:latin typeface="Arial"/>
                <a:cs typeface="Arial"/>
              </a:rPr>
              <a:t> </a:t>
            </a:r>
            <a:r>
              <a:rPr dirty="0" sz="1100" spc="-5">
                <a:latin typeface="Arial"/>
                <a:cs typeface="Arial"/>
              </a:rPr>
              <a:t>follows.</a:t>
            </a:r>
            <a:endParaRPr sz="1100">
              <a:latin typeface="Arial"/>
              <a:cs typeface="Arial"/>
            </a:endParaRPr>
          </a:p>
          <a:p>
            <a:pPr>
              <a:lnSpc>
                <a:spcPct val="100000"/>
              </a:lnSpc>
              <a:spcBef>
                <a:spcPts val="35"/>
              </a:spcBef>
            </a:pPr>
            <a:endParaRPr sz="1100">
              <a:latin typeface="Arial"/>
              <a:cs typeface="Arial"/>
            </a:endParaRPr>
          </a:p>
          <a:p>
            <a:pPr algn="just" marL="12700" marR="6350">
              <a:lnSpc>
                <a:spcPts val="1270"/>
              </a:lnSpc>
            </a:pPr>
            <a:r>
              <a:rPr dirty="0" sz="1100" spc="-5" b="1">
                <a:latin typeface="Arial"/>
                <a:cs typeface="Arial"/>
              </a:rPr>
              <a:t>TRADITIONAL ECONOMIC ARGUMENTS IN SUPPORT OF PRIVATE INVESTMENT:  </a:t>
            </a:r>
            <a:r>
              <a:rPr dirty="0" sz="1100" spc="-10" b="1">
                <a:latin typeface="Arial"/>
                <a:cs typeface="Arial"/>
              </a:rPr>
              <a:t>FILLING </a:t>
            </a:r>
            <a:r>
              <a:rPr dirty="0" sz="1100" spc="-5" b="1">
                <a:latin typeface="Arial"/>
                <a:cs typeface="Arial"/>
              </a:rPr>
              <a:t>SAVINGS, FOREIGN-EXCHANGE, REVENUE, AND MANAGEMENT</a:t>
            </a:r>
            <a:r>
              <a:rPr dirty="0" sz="1100" spc="45" b="1">
                <a:latin typeface="Arial"/>
                <a:cs typeface="Arial"/>
              </a:rPr>
              <a:t> </a:t>
            </a:r>
            <a:r>
              <a:rPr dirty="0" sz="1100" spc="-5" b="1">
                <a:latin typeface="Arial"/>
                <a:cs typeface="Arial"/>
              </a:rPr>
              <a:t>GAPS</a:t>
            </a:r>
            <a:endParaRPr sz="1100">
              <a:latin typeface="Arial"/>
              <a:cs typeface="Arial"/>
            </a:endParaRPr>
          </a:p>
          <a:p>
            <a:pPr>
              <a:lnSpc>
                <a:spcPct val="100000"/>
              </a:lnSpc>
              <a:spcBef>
                <a:spcPts val="15"/>
              </a:spcBef>
            </a:pPr>
            <a:endParaRPr sz="1150">
              <a:latin typeface="Arial"/>
              <a:cs typeface="Arial"/>
            </a:endParaRPr>
          </a:p>
          <a:p>
            <a:pPr algn="just" marL="12700" marR="6350">
              <a:lnSpc>
                <a:spcPct val="95800"/>
              </a:lnSpc>
            </a:pPr>
            <a:r>
              <a:rPr dirty="0" sz="1100" spc="-5">
                <a:latin typeface="Arial"/>
                <a:cs typeface="Arial"/>
              </a:rPr>
              <a:t>The pro-foreign-investment arguments grow largely out of </a:t>
            </a:r>
            <a:r>
              <a:rPr dirty="0" sz="1100">
                <a:latin typeface="Arial"/>
                <a:cs typeface="Arial"/>
              </a:rPr>
              <a:t>the </a:t>
            </a:r>
            <a:r>
              <a:rPr dirty="0" sz="1100" spc="-5">
                <a:latin typeface="Arial"/>
                <a:cs typeface="Arial"/>
              </a:rPr>
              <a:t>traditional and new growth theory  analysis of the determinants of economic growth. Foreign private investment (as well as foreign  aid) is typically seen as a way of filling in gaps between the domestically available supplies of  savings, foreign exchange, government revenue, and human capital skills and the desired level  of these resources necessary to achieve growth and development targets. For a simple  example of </a:t>
            </a:r>
            <a:r>
              <a:rPr dirty="0" sz="1100">
                <a:latin typeface="Arial"/>
                <a:cs typeface="Arial"/>
              </a:rPr>
              <a:t>the </a:t>
            </a:r>
            <a:r>
              <a:rPr dirty="0" sz="1100" spc="-5">
                <a:latin typeface="Arial"/>
                <a:cs typeface="Arial"/>
              </a:rPr>
              <a:t>“savings-investment gap” analysis, recall from Chapter 3 that the basic Harrod-  Domar growth model postulates a direct relationship between a country’s rate of net savings, s,  and its rate of output growth, g, via the equation g = s/c, where c is the national capital-output  ratio. If the desired rate of national output growth, g, is targeted at 7% annually and the capital  output ratio is 3, the needed rate of annual net saving is 21% (because s = gc). If </a:t>
            </a:r>
            <a:r>
              <a:rPr dirty="0" sz="1100">
                <a:latin typeface="Arial"/>
                <a:cs typeface="Arial"/>
              </a:rPr>
              <a:t>the </a:t>
            </a:r>
            <a:r>
              <a:rPr dirty="0" sz="1100" spc="-5">
                <a:latin typeface="Arial"/>
                <a:cs typeface="Arial"/>
              </a:rPr>
              <a:t>saving that  can be domestically mobilized amounts to only, say, 16% </a:t>
            </a:r>
            <a:r>
              <a:rPr dirty="0" sz="1100">
                <a:latin typeface="Arial"/>
                <a:cs typeface="Arial"/>
              </a:rPr>
              <a:t>of </a:t>
            </a:r>
            <a:r>
              <a:rPr dirty="0" sz="1100" spc="-5">
                <a:latin typeface="Arial"/>
                <a:cs typeface="Arial"/>
              </a:rPr>
              <a:t>GDP, a “savings gap” equal to 5%  can be said to exist. If the nation can fill this gap with foreign financial resources (either private  or public), it will be better able to achieve its target rate of</a:t>
            </a:r>
            <a:r>
              <a:rPr dirty="0" sz="1100" spc="65">
                <a:latin typeface="Arial"/>
                <a:cs typeface="Arial"/>
              </a:rPr>
              <a:t> </a:t>
            </a:r>
            <a:r>
              <a:rPr dirty="0" sz="1100" spc="-5">
                <a:latin typeface="Arial"/>
                <a:cs typeface="Arial"/>
              </a:rPr>
              <a:t>growth.</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Therefore, the first and most often cited contribution of private foreign investment to national  development (i.e., when this development is defined in terms of GDP growth rates—an  important implicit conceptual assumption) is </a:t>
            </a:r>
            <a:r>
              <a:rPr dirty="0" sz="1100">
                <a:latin typeface="Arial"/>
                <a:cs typeface="Arial"/>
              </a:rPr>
              <a:t>its </a:t>
            </a:r>
            <a:r>
              <a:rPr dirty="0" sz="1100" spc="-5">
                <a:latin typeface="Arial"/>
                <a:cs typeface="Arial"/>
              </a:rPr>
              <a:t>role in filling the resource gap between targeted  or desired investment and locally mobilized savings. A second contribution, analogous to the  first, is its contribution to filling the gap between targeted foreign-exchange requirements and  those</a:t>
            </a:r>
            <a:r>
              <a:rPr dirty="0" sz="1100" spc="70">
                <a:latin typeface="Arial"/>
                <a:cs typeface="Arial"/>
              </a:rPr>
              <a:t> </a:t>
            </a:r>
            <a:r>
              <a:rPr dirty="0" sz="1100" spc="-5">
                <a:latin typeface="Arial"/>
                <a:cs typeface="Arial"/>
              </a:rPr>
              <a:t>derived</a:t>
            </a:r>
            <a:r>
              <a:rPr dirty="0" sz="1100" spc="70">
                <a:latin typeface="Arial"/>
                <a:cs typeface="Arial"/>
              </a:rPr>
              <a:t> </a:t>
            </a:r>
            <a:r>
              <a:rPr dirty="0" sz="1100" spc="-5">
                <a:latin typeface="Arial"/>
                <a:cs typeface="Arial"/>
              </a:rPr>
              <a:t>from</a:t>
            </a:r>
            <a:r>
              <a:rPr dirty="0" sz="1100" spc="70">
                <a:latin typeface="Arial"/>
                <a:cs typeface="Arial"/>
              </a:rPr>
              <a:t> </a:t>
            </a:r>
            <a:r>
              <a:rPr dirty="0" sz="1100" spc="-5">
                <a:latin typeface="Arial"/>
                <a:cs typeface="Arial"/>
              </a:rPr>
              <a:t>net</a:t>
            </a:r>
            <a:r>
              <a:rPr dirty="0" sz="1100" spc="70">
                <a:latin typeface="Arial"/>
                <a:cs typeface="Arial"/>
              </a:rPr>
              <a:t> </a:t>
            </a:r>
            <a:r>
              <a:rPr dirty="0" sz="1100" spc="-5">
                <a:latin typeface="Arial"/>
                <a:cs typeface="Arial"/>
              </a:rPr>
              <a:t>export</a:t>
            </a:r>
            <a:r>
              <a:rPr dirty="0" sz="1100" spc="70">
                <a:latin typeface="Arial"/>
                <a:cs typeface="Arial"/>
              </a:rPr>
              <a:t> </a:t>
            </a:r>
            <a:r>
              <a:rPr dirty="0" sz="1100" spc="-5">
                <a:latin typeface="Arial"/>
                <a:cs typeface="Arial"/>
              </a:rPr>
              <a:t>earnings</a:t>
            </a:r>
            <a:r>
              <a:rPr dirty="0" sz="1100" spc="70">
                <a:latin typeface="Arial"/>
                <a:cs typeface="Arial"/>
              </a:rPr>
              <a:t> </a:t>
            </a:r>
            <a:r>
              <a:rPr dirty="0" sz="1100" spc="-5">
                <a:latin typeface="Arial"/>
                <a:cs typeface="Arial"/>
              </a:rPr>
              <a:t>plus</a:t>
            </a:r>
            <a:r>
              <a:rPr dirty="0" sz="1100" spc="70">
                <a:latin typeface="Arial"/>
                <a:cs typeface="Arial"/>
              </a:rPr>
              <a:t> </a:t>
            </a:r>
            <a:r>
              <a:rPr dirty="0" sz="1100" spc="-5">
                <a:latin typeface="Arial"/>
                <a:cs typeface="Arial"/>
              </a:rPr>
              <a:t>net</a:t>
            </a:r>
            <a:r>
              <a:rPr dirty="0" sz="1100" spc="60">
                <a:latin typeface="Arial"/>
                <a:cs typeface="Arial"/>
              </a:rPr>
              <a:t> </a:t>
            </a:r>
            <a:r>
              <a:rPr dirty="0" sz="1100" spc="-5">
                <a:latin typeface="Arial"/>
                <a:cs typeface="Arial"/>
              </a:rPr>
              <a:t>public</a:t>
            </a:r>
            <a:r>
              <a:rPr dirty="0" sz="1100" spc="70">
                <a:latin typeface="Arial"/>
                <a:cs typeface="Arial"/>
              </a:rPr>
              <a:t> </a:t>
            </a:r>
            <a:r>
              <a:rPr dirty="0" sz="1100" spc="-5">
                <a:latin typeface="Arial"/>
                <a:cs typeface="Arial"/>
              </a:rPr>
              <a:t>foreign</a:t>
            </a:r>
            <a:r>
              <a:rPr dirty="0" sz="1100" spc="70">
                <a:latin typeface="Arial"/>
                <a:cs typeface="Arial"/>
              </a:rPr>
              <a:t> </a:t>
            </a:r>
            <a:r>
              <a:rPr dirty="0" sz="1100" spc="-5">
                <a:latin typeface="Arial"/>
                <a:cs typeface="Arial"/>
              </a:rPr>
              <a:t>aid.</a:t>
            </a:r>
            <a:r>
              <a:rPr dirty="0" sz="1100" spc="70">
                <a:latin typeface="Arial"/>
                <a:cs typeface="Arial"/>
              </a:rPr>
              <a:t> </a:t>
            </a:r>
            <a:r>
              <a:rPr dirty="0" sz="1100" spc="-5">
                <a:latin typeface="Arial"/>
                <a:cs typeface="Arial"/>
              </a:rPr>
              <a:t>This</a:t>
            </a:r>
            <a:r>
              <a:rPr dirty="0" sz="1100" spc="70">
                <a:latin typeface="Arial"/>
                <a:cs typeface="Arial"/>
              </a:rPr>
              <a:t> </a:t>
            </a:r>
            <a:r>
              <a:rPr dirty="0" sz="1100" spc="-5">
                <a:latin typeface="Arial"/>
                <a:cs typeface="Arial"/>
              </a:rPr>
              <a:t>is</a:t>
            </a:r>
            <a:r>
              <a:rPr dirty="0" sz="1100" spc="70">
                <a:latin typeface="Arial"/>
                <a:cs typeface="Arial"/>
              </a:rPr>
              <a:t> </a:t>
            </a:r>
            <a:r>
              <a:rPr dirty="0" sz="1100" spc="-5">
                <a:latin typeface="Arial"/>
                <a:cs typeface="Arial"/>
              </a:rPr>
              <a:t>the</a:t>
            </a:r>
            <a:r>
              <a:rPr dirty="0" sz="1100" spc="70">
                <a:latin typeface="Arial"/>
                <a:cs typeface="Arial"/>
              </a:rPr>
              <a:t> </a:t>
            </a:r>
            <a:r>
              <a:rPr dirty="0" sz="1100" spc="-5">
                <a:latin typeface="Arial"/>
                <a:cs typeface="Arial"/>
              </a:rPr>
              <a:t>so-called</a:t>
            </a:r>
            <a:r>
              <a:rPr dirty="0" sz="1100" spc="70">
                <a:latin typeface="Arial"/>
                <a:cs typeface="Arial"/>
              </a:rPr>
              <a:t> </a:t>
            </a:r>
            <a:r>
              <a:rPr dirty="0" sz="1100" spc="-5">
                <a:latin typeface="Arial"/>
                <a:cs typeface="Arial"/>
              </a:rPr>
              <a:t>foreign-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303</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905" cy="8079105"/>
          </a:xfrm>
          <a:prstGeom prst="rect">
            <a:avLst/>
          </a:prstGeom>
        </p:spPr>
        <p:txBody>
          <a:bodyPr wrap="square" lIns="0" tIns="19050" rIns="0" bIns="0" rtlCol="0" vert="horz">
            <a:spAutoFit/>
          </a:bodyPr>
          <a:lstStyle/>
          <a:p>
            <a:pPr algn="just" marL="12700" marR="6350">
              <a:lnSpc>
                <a:spcPct val="95800"/>
              </a:lnSpc>
              <a:spcBef>
                <a:spcPts val="150"/>
              </a:spcBef>
            </a:pPr>
            <a:r>
              <a:rPr dirty="0" sz="1100" spc="-5">
                <a:latin typeface="Arial"/>
                <a:cs typeface="Arial"/>
              </a:rPr>
              <a:t>exchange or trade gap. The third gap said to be filled by foreign investment is the gap between  targeted governmental tax revenues and locally raised taxes. By taxing MNC profits and  participating financially in their local operations, developing country governments are thought to  be better able to mobilize public financial resources for development projects. Fourth, there is a  different type of gap in management, entrepreneurship, technology, and skill presumed to be  partly or wholly filled by the local operations of private foreign firms. Not only do multinationals  provide financial resources and new factories to poor countries, but they also supply a  “package” of needed resources, including management experience, entrepreneurial abilities,  and technological skills that can then be transferred to their local counterparts by means </a:t>
            </a:r>
            <a:r>
              <a:rPr dirty="0" sz="1100">
                <a:latin typeface="Arial"/>
                <a:cs typeface="Arial"/>
              </a:rPr>
              <a:t>of  </a:t>
            </a:r>
            <a:r>
              <a:rPr dirty="0" sz="1100" spc="-5">
                <a:latin typeface="Arial"/>
                <a:cs typeface="Arial"/>
              </a:rPr>
              <a:t>training programs and the process of learning by</a:t>
            </a:r>
            <a:r>
              <a:rPr dirty="0" sz="1100" spc="35">
                <a:latin typeface="Arial"/>
                <a:cs typeface="Arial"/>
              </a:rPr>
              <a:t> </a:t>
            </a:r>
            <a:r>
              <a:rPr dirty="0" sz="1100" spc="-5">
                <a:latin typeface="Arial"/>
                <a:cs typeface="Arial"/>
              </a:rPr>
              <a:t>doing.</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ARGUMENTS AGAINST PRIVATE FOREIGN INVESTMENT: WIDENING</a:t>
            </a:r>
            <a:r>
              <a:rPr dirty="0" sz="1100" spc="50" b="1">
                <a:latin typeface="Arial"/>
                <a:cs typeface="Arial"/>
              </a:rPr>
              <a:t> </a:t>
            </a:r>
            <a:r>
              <a:rPr dirty="0" sz="1100" spc="-5" b="1">
                <a:latin typeface="Arial"/>
                <a:cs typeface="Arial"/>
              </a:rPr>
              <a:t>GAPS</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800"/>
              </a:lnSpc>
            </a:pPr>
            <a:r>
              <a:rPr dirty="0" sz="1100" spc="-5">
                <a:latin typeface="Arial"/>
                <a:cs typeface="Arial"/>
              </a:rPr>
              <a:t>There are two basic arguments against private foreign investment in general and the activities of  MNCs in particular—the strictly economic and the more philosophical or ideological. On the  economic side, the four gap-filling pro-foreign-investment positions just outlined are countered  by the following</a:t>
            </a:r>
            <a:r>
              <a:rPr dirty="0" sz="1100" spc="5">
                <a:latin typeface="Arial"/>
                <a:cs typeface="Arial"/>
              </a:rPr>
              <a:t> </a:t>
            </a:r>
            <a:r>
              <a:rPr dirty="0" sz="1100" spc="-5">
                <a:latin typeface="Arial"/>
                <a:cs typeface="Arial"/>
              </a:rPr>
              <a:t>arguments:</a:t>
            </a:r>
            <a:endParaRPr sz="1100">
              <a:latin typeface="Arial"/>
              <a:cs typeface="Arial"/>
            </a:endParaRPr>
          </a:p>
          <a:p>
            <a:pPr>
              <a:lnSpc>
                <a:spcPct val="100000"/>
              </a:lnSpc>
            </a:pPr>
            <a:endParaRPr sz="1100">
              <a:latin typeface="Arial"/>
              <a:cs typeface="Arial"/>
            </a:endParaRPr>
          </a:p>
          <a:p>
            <a:pPr algn="just" marL="469900" marR="5080" indent="-228600">
              <a:lnSpc>
                <a:spcPct val="95800"/>
              </a:lnSpc>
              <a:spcBef>
                <a:spcPts val="5"/>
              </a:spcBef>
              <a:buFont typeface="Arial"/>
              <a:buAutoNum type="arabicPeriod"/>
              <a:tabLst>
                <a:tab pos="469900" algn="l"/>
              </a:tabLst>
            </a:pPr>
            <a:r>
              <a:rPr dirty="0" sz="1100" spc="-5">
                <a:latin typeface="Arial"/>
                <a:cs typeface="Arial"/>
              </a:rPr>
              <a:t>Although MNCs provide capital, they </a:t>
            </a:r>
            <a:r>
              <a:rPr dirty="0" sz="1100">
                <a:latin typeface="Arial"/>
                <a:cs typeface="Arial"/>
              </a:rPr>
              <a:t>may </a:t>
            </a:r>
            <a:r>
              <a:rPr dirty="0" sz="1100" spc="-5">
                <a:latin typeface="Arial"/>
                <a:cs typeface="Arial"/>
              </a:rPr>
              <a:t>lower domestic savings and investment rates  by substituting for private savings, stifling competition through exclusive production  agreements with host governments, failing to reinvest much of their profits, generating  domestic incomes for groups with lower savings propensities, and inhibiting the  expansion of indigenous firms that might supply them with intermediate products by  instead importing these goods from overseas affiliates. MNCs also raise a large fraction  of their capital locally in the developing country itself, and this may lead to some  crowding out of investment of local</a:t>
            </a:r>
            <a:r>
              <a:rPr dirty="0" sz="1100" spc="25">
                <a:latin typeface="Arial"/>
                <a:cs typeface="Arial"/>
              </a:rPr>
              <a:t> </a:t>
            </a:r>
            <a:r>
              <a:rPr dirty="0" sz="1100" spc="-5">
                <a:latin typeface="Arial"/>
                <a:cs typeface="Arial"/>
              </a:rPr>
              <a:t>firms.</a:t>
            </a:r>
            <a:endParaRPr sz="1100">
              <a:latin typeface="Arial"/>
              <a:cs typeface="Arial"/>
            </a:endParaRPr>
          </a:p>
          <a:p>
            <a:pPr algn="just" marL="469900" marR="6350" indent="-228600">
              <a:lnSpc>
                <a:spcPts val="1270"/>
              </a:lnSpc>
              <a:spcBef>
                <a:spcPts val="20"/>
              </a:spcBef>
              <a:buFont typeface="Arial"/>
              <a:buAutoNum type="arabicPeriod"/>
              <a:tabLst>
                <a:tab pos="469900" algn="l"/>
              </a:tabLst>
            </a:pPr>
            <a:r>
              <a:rPr dirty="0" sz="1100" spc="-5">
                <a:latin typeface="Arial"/>
                <a:cs typeface="Arial"/>
              </a:rPr>
              <a:t>Although the initial impact of MNC investment is to improve the foreign- exchange  position of the recipient nation, its long-run impact may be to reduce foreign-exchange  earnings or at least make the net increase smaller than it appeared, as a result of  substantial importation of intermediate products and capital goods and because of the  overseas repatriation of profits, interest, royalties, management fees, and other</a:t>
            </a:r>
            <a:r>
              <a:rPr dirty="0" sz="1100" spc="165">
                <a:latin typeface="Arial"/>
                <a:cs typeface="Arial"/>
              </a:rPr>
              <a:t> </a:t>
            </a:r>
            <a:r>
              <a:rPr dirty="0" sz="1100" spc="-5">
                <a:latin typeface="Arial"/>
                <a:cs typeface="Arial"/>
              </a:rPr>
              <a:t>funds.</a:t>
            </a:r>
            <a:endParaRPr sz="1100">
              <a:latin typeface="Arial"/>
              <a:cs typeface="Arial"/>
            </a:endParaRPr>
          </a:p>
          <a:p>
            <a:pPr algn="just" marL="469900" indent="-228600">
              <a:lnSpc>
                <a:spcPts val="1185"/>
              </a:lnSpc>
              <a:buFont typeface="Arial"/>
              <a:buAutoNum type="arabicPeriod"/>
              <a:tabLst>
                <a:tab pos="469900" algn="l"/>
              </a:tabLst>
            </a:pPr>
            <a:r>
              <a:rPr dirty="0" sz="1100" spc="-5">
                <a:latin typeface="Arial"/>
                <a:cs typeface="Arial"/>
              </a:rPr>
              <a:t>Although MNCs do contribute to public revenue in the form of corporate taxes,</a:t>
            </a:r>
            <a:r>
              <a:rPr dirty="0" sz="1100" spc="5">
                <a:latin typeface="Arial"/>
                <a:cs typeface="Arial"/>
              </a:rPr>
              <a:t> </a:t>
            </a:r>
            <a:r>
              <a:rPr dirty="0" sz="1100" spc="-5">
                <a:latin typeface="Arial"/>
                <a:cs typeface="Arial"/>
              </a:rPr>
              <a:t>their</a:t>
            </a:r>
            <a:endParaRPr sz="1100">
              <a:latin typeface="Arial"/>
              <a:cs typeface="Arial"/>
            </a:endParaRPr>
          </a:p>
          <a:p>
            <a:pPr algn="just" marL="469900" marR="7620">
              <a:lnSpc>
                <a:spcPts val="1270"/>
              </a:lnSpc>
              <a:spcBef>
                <a:spcPts val="60"/>
              </a:spcBef>
            </a:pPr>
            <a:r>
              <a:rPr dirty="0" sz="1100" spc="-5">
                <a:latin typeface="Arial"/>
                <a:cs typeface="Arial"/>
              </a:rPr>
              <a:t>contribution is considerably less than it might appear as a result of liberal tax  concessions, the practice of transfer pricing, excessive investment allowances,  disguised public subsidies, and tariff protection provided by </a:t>
            </a:r>
            <a:r>
              <a:rPr dirty="0" sz="1100">
                <a:latin typeface="Arial"/>
                <a:cs typeface="Arial"/>
              </a:rPr>
              <a:t>the </a:t>
            </a:r>
            <a:r>
              <a:rPr dirty="0" sz="1100" spc="-5">
                <a:latin typeface="Arial"/>
                <a:cs typeface="Arial"/>
              </a:rPr>
              <a:t>host</a:t>
            </a:r>
            <a:r>
              <a:rPr dirty="0" sz="1100" spc="100">
                <a:latin typeface="Arial"/>
                <a:cs typeface="Arial"/>
              </a:rPr>
              <a:t> </a:t>
            </a:r>
            <a:r>
              <a:rPr dirty="0" sz="1100" spc="-5">
                <a:latin typeface="Arial"/>
                <a:cs typeface="Arial"/>
              </a:rPr>
              <a:t>government.</a:t>
            </a:r>
            <a:endParaRPr sz="1100">
              <a:latin typeface="Arial"/>
              <a:cs typeface="Arial"/>
            </a:endParaRPr>
          </a:p>
          <a:p>
            <a:pPr algn="just" marL="469900" indent="-228600">
              <a:lnSpc>
                <a:spcPts val="1195"/>
              </a:lnSpc>
              <a:buFont typeface="Arial"/>
              <a:buAutoNum type="arabicPeriod" startAt="4"/>
              <a:tabLst>
                <a:tab pos="469900" algn="l"/>
              </a:tabLst>
            </a:pPr>
            <a:r>
              <a:rPr dirty="0" sz="1100" spc="-5">
                <a:latin typeface="Arial"/>
                <a:cs typeface="Arial"/>
              </a:rPr>
              <a:t>The</a:t>
            </a:r>
            <a:r>
              <a:rPr dirty="0" sz="1100" spc="105">
                <a:latin typeface="Arial"/>
                <a:cs typeface="Arial"/>
              </a:rPr>
              <a:t> </a:t>
            </a:r>
            <a:r>
              <a:rPr dirty="0" sz="1100" spc="-5">
                <a:latin typeface="Arial"/>
                <a:cs typeface="Arial"/>
              </a:rPr>
              <a:t>management,</a:t>
            </a:r>
            <a:r>
              <a:rPr dirty="0" sz="1100" spc="105">
                <a:latin typeface="Arial"/>
                <a:cs typeface="Arial"/>
              </a:rPr>
              <a:t> </a:t>
            </a:r>
            <a:r>
              <a:rPr dirty="0" sz="1100" spc="-5">
                <a:latin typeface="Arial"/>
                <a:cs typeface="Arial"/>
              </a:rPr>
              <a:t>entrepreneurial</a:t>
            </a:r>
            <a:r>
              <a:rPr dirty="0" sz="1100" spc="105">
                <a:latin typeface="Arial"/>
                <a:cs typeface="Arial"/>
              </a:rPr>
              <a:t> </a:t>
            </a:r>
            <a:r>
              <a:rPr dirty="0" sz="1100" spc="-5">
                <a:latin typeface="Arial"/>
                <a:cs typeface="Arial"/>
              </a:rPr>
              <a:t>skills,</a:t>
            </a:r>
            <a:r>
              <a:rPr dirty="0" sz="1100" spc="110">
                <a:latin typeface="Arial"/>
                <a:cs typeface="Arial"/>
              </a:rPr>
              <a:t> </a:t>
            </a:r>
            <a:r>
              <a:rPr dirty="0" sz="1100" spc="-5">
                <a:latin typeface="Arial"/>
                <a:cs typeface="Arial"/>
              </a:rPr>
              <a:t>ideas,</a:t>
            </a:r>
            <a:r>
              <a:rPr dirty="0" sz="1100" spc="110">
                <a:latin typeface="Arial"/>
                <a:cs typeface="Arial"/>
              </a:rPr>
              <a:t> </a:t>
            </a:r>
            <a:r>
              <a:rPr dirty="0" sz="1100" spc="-5">
                <a:latin typeface="Arial"/>
                <a:cs typeface="Arial"/>
              </a:rPr>
              <a:t>technology,</a:t>
            </a:r>
            <a:r>
              <a:rPr dirty="0" sz="1100" spc="110">
                <a:latin typeface="Arial"/>
                <a:cs typeface="Arial"/>
              </a:rPr>
              <a:t> </a:t>
            </a:r>
            <a:r>
              <a:rPr dirty="0" sz="1100" spc="-5">
                <a:latin typeface="Arial"/>
                <a:cs typeface="Arial"/>
              </a:rPr>
              <a:t>and</a:t>
            </a:r>
            <a:r>
              <a:rPr dirty="0" sz="1100" spc="105">
                <a:latin typeface="Arial"/>
                <a:cs typeface="Arial"/>
              </a:rPr>
              <a:t> </a:t>
            </a:r>
            <a:r>
              <a:rPr dirty="0" sz="1100" spc="-5">
                <a:latin typeface="Arial"/>
                <a:cs typeface="Arial"/>
              </a:rPr>
              <a:t>overseas</a:t>
            </a:r>
            <a:r>
              <a:rPr dirty="0" sz="1100" spc="100">
                <a:latin typeface="Arial"/>
                <a:cs typeface="Arial"/>
              </a:rPr>
              <a:t> </a:t>
            </a:r>
            <a:r>
              <a:rPr dirty="0" sz="1100" spc="-5">
                <a:latin typeface="Arial"/>
                <a:cs typeface="Arial"/>
              </a:rPr>
              <a:t>contacts</a:t>
            </a:r>
            <a:endParaRPr sz="1100">
              <a:latin typeface="Arial"/>
              <a:cs typeface="Arial"/>
            </a:endParaRPr>
          </a:p>
          <a:p>
            <a:pPr algn="just" marL="469900" marR="6350">
              <a:lnSpc>
                <a:spcPct val="95700"/>
              </a:lnSpc>
              <a:spcBef>
                <a:spcPts val="30"/>
              </a:spcBef>
            </a:pPr>
            <a:r>
              <a:rPr dirty="0" sz="1100" spc="-5">
                <a:latin typeface="Arial"/>
                <a:cs typeface="Arial"/>
              </a:rPr>
              <a:t>provided by MNCs </a:t>
            </a:r>
            <a:r>
              <a:rPr dirty="0" sz="1100">
                <a:latin typeface="Arial"/>
                <a:cs typeface="Arial"/>
              </a:rPr>
              <a:t>may </a:t>
            </a:r>
            <a:r>
              <a:rPr dirty="0" sz="1100" spc="-5">
                <a:latin typeface="Arial"/>
                <a:cs typeface="Arial"/>
              </a:rPr>
              <a:t>have little impact on developing local sources of these scarce  skills and resources and may in fact inhibit their development by stifling the growth </a:t>
            </a:r>
            <a:r>
              <a:rPr dirty="0" sz="1100">
                <a:latin typeface="Arial"/>
                <a:cs typeface="Arial"/>
              </a:rPr>
              <a:t>of  </a:t>
            </a:r>
            <a:r>
              <a:rPr dirty="0" sz="1100" spc="-5">
                <a:latin typeface="Arial"/>
                <a:cs typeface="Arial"/>
              </a:rPr>
              <a:t>indigenous entrepreneurship as a result of the MNCs’ dominance of local</a:t>
            </a:r>
            <a:r>
              <a:rPr dirty="0" sz="1100" spc="125">
                <a:latin typeface="Arial"/>
                <a:cs typeface="Arial"/>
              </a:rPr>
              <a:t> </a:t>
            </a:r>
            <a:r>
              <a:rPr dirty="0" sz="1100" spc="-5">
                <a:latin typeface="Arial"/>
                <a:cs typeface="Arial"/>
              </a:rPr>
              <a:t>markets.</a:t>
            </a:r>
            <a:endParaRPr sz="1100">
              <a:latin typeface="Arial"/>
              <a:cs typeface="Arial"/>
            </a:endParaRPr>
          </a:p>
          <a:p>
            <a:pPr>
              <a:lnSpc>
                <a:spcPct val="100000"/>
              </a:lnSpc>
            </a:pPr>
            <a:endParaRPr sz="1100">
              <a:latin typeface="Arial"/>
              <a:cs typeface="Arial"/>
            </a:endParaRPr>
          </a:p>
          <a:p>
            <a:pPr algn="just" marL="12700" marR="6350">
              <a:lnSpc>
                <a:spcPct val="95700"/>
              </a:lnSpc>
              <a:spcBef>
                <a:spcPts val="5"/>
              </a:spcBef>
            </a:pPr>
            <a:r>
              <a:rPr dirty="0" sz="1100" spc="-5">
                <a:latin typeface="Arial"/>
                <a:cs typeface="Arial"/>
              </a:rPr>
              <a:t>Government policies in developing countries may be directed toward mitigating some of </a:t>
            </a:r>
            <a:r>
              <a:rPr dirty="0" sz="1100">
                <a:latin typeface="Arial"/>
                <a:cs typeface="Arial"/>
              </a:rPr>
              <a:t>these  </a:t>
            </a:r>
            <a:r>
              <a:rPr dirty="0" sz="1100" spc="-5">
                <a:latin typeface="Arial"/>
                <a:cs typeface="Arial"/>
              </a:rPr>
              <a:t>concerns. Many academic and political thought leaders in developing countries have commonly  raised a number of more fundamental</a:t>
            </a:r>
            <a:r>
              <a:rPr dirty="0" sz="1100" spc="25">
                <a:latin typeface="Arial"/>
                <a:cs typeface="Arial"/>
              </a:rPr>
              <a:t> </a:t>
            </a:r>
            <a:r>
              <a:rPr dirty="0" sz="1100" spc="-5">
                <a:latin typeface="Arial"/>
                <a:cs typeface="Arial"/>
              </a:rPr>
              <a:t>objections.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b="1">
                <a:latin typeface="Arial"/>
                <a:cs typeface="Arial"/>
              </a:rPr>
              <a:t>First, </a:t>
            </a:r>
            <a:r>
              <a:rPr dirty="0" sz="1100" spc="-5">
                <a:latin typeface="Arial"/>
                <a:cs typeface="Arial"/>
              </a:rPr>
              <a:t>the impact of MNCs on development is </a:t>
            </a:r>
            <a:r>
              <a:rPr dirty="0" sz="1100">
                <a:latin typeface="Arial"/>
                <a:cs typeface="Arial"/>
              </a:rPr>
              <a:t>very </a:t>
            </a:r>
            <a:r>
              <a:rPr dirty="0" sz="1100" spc="-5">
                <a:latin typeface="Arial"/>
                <a:cs typeface="Arial"/>
              </a:rPr>
              <a:t>uneven, and in many situations, MNC  activities reinforce dualistic economic structures and exacerbate income inequalities. They tend  to promote the interests of a small number of local factory managers and relatively well-paid  modern-sector workers against the interests of the rest by widening wage differentials. They  divert resources away from needed food production to the manufacture of sophisticated  products</a:t>
            </a:r>
            <a:r>
              <a:rPr dirty="0" sz="1100" spc="45">
                <a:latin typeface="Arial"/>
                <a:cs typeface="Arial"/>
              </a:rPr>
              <a:t> </a:t>
            </a:r>
            <a:r>
              <a:rPr dirty="0" sz="1100" spc="-5">
                <a:latin typeface="Arial"/>
                <a:cs typeface="Arial"/>
              </a:rPr>
              <a:t>catering</a:t>
            </a:r>
            <a:r>
              <a:rPr dirty="0" sz="1100" spc="45">
                <a:latin typeface="Arial"/>
                <a:cs typeface="Arial"/>
              </a:rPr>
              <a:t> </a:t>
            </a:r>
            <a:r>
              <a:rPr dirty="0" sz="1100" spc="-5">
                <a:latin typeface="Arial"/>
                <a:cs typeface="Arial"/>
              </a:rPr>
              <a:t>primarily</a:t>
            </a:r>
            <a:r>
              <a:rPr dirty="0" sz="1100" spc="45">
                <a:latin typeface="Arial"/>
                <a:cs typeface="Arial"/>
              </a:rPr>
              <a:t> </a:t>
            </a:r>
            <a:r>
              <a:rPr dirty="0" sz="1100" spc="-5">
                <a:latin typeface="Arial"/>
                <a:cs typeface="Arial"/>
              </a:rPr>
              <a:t>to</a:t>
            </a:r>
            <a:r>
              <a:rPr dirty="0" sz="1100" spc="45">
                <a:latin typeface="Arial"/>
                <a:cs typeface="Arial"/>
              </a:rPr>
              <a:t> </a:t>
            </a:r>
            <a:r>
              <a:rPr dirty="0" sz="1100" spc="-5">
                <a:latin typeface="Arial"/>
                <a:cs typeface="Arial"/>
              </a:rPr>
              <a:t>the</a:t>
            </a:r>
            <a:r>
              <a:rPr dirty="0" sz="1100" spc="45">
                <a:latin typeface="Arial"/>
                <a:cs typeface="Arial"/>
              </a:rPr>
              <a:t> </a:t>
            </a:r>
            <a:r>
              <a:rPr dirty="0" sz="1100" spc="-5">
                <a:latin typeface="Arial"/>
                <a:cs typeface="Arial"/>
              </a:rPr>
              <a:t>demands</a:t>
            </a:r>
            <a:r>
              <a:rPr dirty="0" sz="1100" spc="45">
                <a:latin typeface="Arial"/>
                <a:cs typeface="Arial"/>
              </a:rPr>
              <a:t> </a:t>
            </a:r>
            <a:r>
              <a:rPr dirty="0" sz="1100" spc="-5">
                <a:latin typeface="Arial"/>
                <a:cs typeface="Arial"/>
              </a:rPr>
              <a:t>of</a:t>
            </a:r>
            <a:r>
              <a:rPr dirty="0" sz="1100" spc="45">
                <a:latin typeface="Arial"/>
                <a:cs typeface="Arial"/>
              </a:rPr>
              <a:t> </a:t>
            </a:r>
            <a:r>
              <a:rPr dirty="0" sz="1100" spc="-5">
                <a:latin typeface="Arial"/>
                <a:cs typeface="Arial"/>
              </a:rPr>
              <a:t>local</a:t>
            </a:r>
            <a:r>
              <a:rPr dirty="0" sz="1100" spc="45">
                <a:latin typeface="Arial"/>
                <a:cs typeface="Arial"/>
              </a:rPr>
              <a:t> </a:t>
            </a:r>
            <a:r>
              <a:rPr dirty="0" sz="1100" spc="-5">
                <a:latin typeface="Arial"/>
                <a:cs typeface="Arial"/>
              </a:rPr>
              <a:t>elites</a:t>
            </a:r>
            <a:r>
              <a:rPr dirty="0" sz="1100" spc="45">
                <a:latin typeface="Arial"/>
                <a:cs typeface="Arial"/>
              </a:rPr>
              <a:t> </a:t>
            </a:r>
            <a:r>
              <a:rPr dirty="0" sz="1100" spc="-5">
                <a:latin typeface="Arial"/>
                <a:cs typeface="Arial"/>
              </a:rPr>
              <a:t>and</a:t>
            </a:r>
            <a:r>
              <a:rPr dirty="0" sz="1100" spc="45">
                <a:latin typeface="Arial"/>
                <a:cs typeface="Arial"/>
              </a:rPr>
              <a:t> </a:t>
            </a:r>
            <a:r>
              <a:rPr dirty="0" sz="1100" spc="-5">
                <a:latin typeface="Arial"/>
                <a:cs typeface="Arial"/>
              </a:rPr>
              <a:t>foreign</a:t>
            </a:r>
            <a:r>
              <a:rPr dirty="0" sz="1100" spc="45">
                <a:latin typeface="Arial"/>
                <a:cs typeface="Arial"/>
              </a:rPr>
              <a:t> </a:t>
            </a:r>
            <a:r>
              <a:rPr dirty="0" sz="1100" spc="-5">
                <a:latin typeface="Arial"/>
                <a:cs typeface="Arial"/>
              </a:rPr>
              <a:t>consumers.</a:t>
            </a:r>
            <a:r>
              <a:rPr dirty="0" sz="1100" spc="45">
                <a:latin typeface="Arial"/>
                <a:cs typeface="Arial"/>
              </a:rPr>
              <a:t> </a:t>
            </a:r>
            <a:r>
              <a:rPr dirty="0" sz="1100" spc="-5">
                <a:latin typeface="Arial"/>
                <a:cs typeface="Arial"/>
              </a:rPr>
              <a:t>And</a:t>
            </a:r>
            <a:r>
              <a:rPr dirty="0" sz="1100" spc="45">
                <a:latin typeface="Arial"/>
                <a:cs typeface="Arial"/>
              </a:rPr>
              <a:t> </a:t>
            </a:r>
            <a:r>
              <a:rPr dirty="0" sz="1100" spc="-5">
                <a:latin typeface="Arial"/>
                <a:cs typeface="Arial"/>
              </a:rPr>
              <a:t>they</a:t>
            </a:r>
            <a:r>
              <a:rPr dirty="0" sz="1100" spc="45">
                <a:latin typeface="Arial"/>
                <a:cs typeface="Arial"/>
              </a:rPr>
              <a:t> </a:t>
            </a:r>
            <a:r>
              <a:rPr dirty="0" sz="1100" spc="-5">
                <a:latin typeface="Arial"/>
                <a:cs typeface="Arial"/>
              </a:rPr>
              <a:t>tend</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304</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39759"/>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to worsen the imbalance between rural and urban economic opportunities by locating primarily  in urban export enclaves and contributing to excessive rural-urban</a:t>
            </a:r>
            <a:r>
              <a:rPr dirty="0" sz="1100" spc="75">
                <a:latin typeface="Arial"/>
                <a:cs typeface="Arial"/>
              </a:rPr>
              <a:t> </a:t>
            </a:r>
            <a:r>
              <a:rPr dirty="0" sz="1100" spc="-5">
                <a:latin typeface="Arial"/>
                <a:cs typeface="Arial"/>
              </a:rPr>
              <a:t>migration.</a:t>
            </a:r>
            <a:endParaRPr sz="1100">
              <a:latin typeface="Arial"/>
              <a:cs typeface="Arial"/>
            </a:endParaRPr>
          </a:p>
          <a:p>
            <a:pPr>
              <a:lnSpc>
                <a:spcPct val="100000"/>
              </a:lnSpc>
              <a:spcBef>
                <a:spcPts val="45"/>
              </a:spcBef>
            </a:pPr>
            <a:endParaRPr sz="1050">
              <a:latin typeface="Arial"/>
              <a:cs typeface="Arial"/>
            </a:endParaRPr>
          </a:p>
          <a:p>
            <a:pPr algn="just" marL="12700" marR="5715">
              <a:lnSpc>
                <a:spcPts val="1270"/>
              </a:lnSpc>
            </a:pPr>
            <a:r>
              <a:rPr dirty="0" sz="1100" spc="-5" b="1">
                <a:latin typeface="Arial"/>
                <a:cs typeface="Arial"/>
              </a:rPr>
              <a:t>Second, </a:t>
            </a:r>
            <a:r>
              <a:rPr dirty="0" sz="1100" spc="-5">
                <a:latin typeface="Arial"/>
                <a:cs typeface="Arial"/>
              </a:rPr>
              <a:t>it is argued that multinationals typically produce inappropriate products (those  demanded by a small, rich minority of the local population), stimulate inappropriate consumption  patterns through advertising and their monopolistic market power, and do this all with  inappropriate (capital-intensive) technologies of production that as a result create comparatively  little employment. This is perhaps the major criticism of MNCs in light of the substantial  employment problems of developing</a:t>
            </a:r>
            <a:r>
              <a:rPr dirty="0" sz="1100" spc="20">
                <a:latin typeface="Arial"/>
                <a:cs typeface="Arial"/>
              </a:rPr>
              <a:t> </a:t>
            </a:r>
            <a:r>
              <a:rPr dirty="0" sz="1100" spc="-5">
                <a:latin typeface="Arial"/>
                <a:cs typeface="Arial"/>
              </a:rPr>
              <a:t>nations.</a:t>
            </a:r>
            <a:endParaRPr sz="1100">
              <a:latin typeface="Arial"/>
              <a:cs typeface="Arial"/>
            </a:endParaRPr>
          </a:p>
          <a:p>
            <a:pPr>
              <a:lnSpc>
                <a:spcPct val="100000"/>
              </a:lnSpc>
              <a:spcBef>
                <a:spcPts val="30"/>
              </a:spcBef>
            </a:pPr>
            <a:endParaRPr sz="1050">
              <a:latin typeface="Arial"/>
              <a:cs typeface="Arial"/>
            </a:endParaRPr>
          </a:p>
          <a:p>
            <a:pPr algn="just" marL="12700" marR="5715">
              <a:lnSpc>
                <a:spcPts val="1270"/>
              </a:lnSpc>
            </a:pPr>
            <a:r>
              <a:rPr dirty="0" sz="1100" spc="-5" b="1">
                <a:latin typeface="Arial"/>
                <a:cs typeface="Arial"/>
              </a:rPr>
              <a:t>Third, </a:t>
            </a:r>
            <a:r>
              <a:rPr dirty="0" sz="1100" spc="-5">
                <a:latin typeface="Arial"/>
                <a:cs typeface="Arial"/>
              </a:rPr>
              <a:t>as a result of the first two points, local resources tend to be allocated for socially  undesirable projects. This in turn </a:t>
            </a:r>
            <a:r>
              <a:rPr dirty="0" sz="1100">
                <a:latin typeface="Arial"/>
                <a:cs typeface="Arial"/>
              </a:rPr>
              <a:t>tends </a:t>
            </a:r>
            <a:r>
              <a:rPr dirty="0" sz="1100" spc="-5">
                <a:latin typeface="Arial"/>
                <a:cs typeface="Arial"/>
              </a:rPr>
              <a:t>to aggravate the already sizable inequality between rich  and poor and the serious imbalance between urban and rural economic</a:t>
            </a:r>
            <a:r>
              <a:rPr dirty="0" sz="1100" spc="110">
                <a:latin typeface="Arial"/>
                <a:cs typeface="Arial"/>
              </a:rPr>
              <a:t> </a:t>
            </a:r>
            <a:r>
              <a:rPr dirty="0" sz="1100" spc="-5">
                <a:latin typeface="Arial"/>
                <a:cs typeface="Arial"/>
              </a:rPr>
              <a:t>opportunities.</a:t>
            </a:r>
            <a:endParaRPr sz="1100">
              <a:latin typeface="Arial"/>
              <a:cs typeface="Arial"/>
            </a:endParaRPr>
          </a:p>
          <a:p>
            <a:pPr algn="just" marL="12700">
              <a:lnSpc>
                <a:spcPts val="1195"/>
              </a:lnSpc>
            </a:pPr>
            <a:r>
              <a:rPr dirty="0" sz="1100" spc="-5">
                <a:latin typeface="Arial"/>
                <a:cs typeface="Arial"/>
              </a:rPr>
              <a:t>Fourth,</a:t>
            </a:r>
            <a:r>
              <a:rPr dirty="0" sz="1100" spc="135">
                <a:latin typeface="Arial"/>
                <a:cs typeface="Arial"/>
              </a:rPr>
              <a:t> </a:t>
            </a:r>
            <a:r>
              <a:rPr dirty="0" sz="1100" spc="-5">
                <a:latin typeface="Arial"/>
                <a:cs typeface="Arial"/>
              </a:rPr>
              <a:t>multinationals</a:t>
            </a:r>
            <a:r>
              <a:rPr dirty="0" sz="1100" spc="130">
                <a:latin typeface="Arial"/>
                <a:cs typeface="Arial"/>
              </a:rPr>
              <a:t> </a:t>
            </a:r>
            <a:r>
              <a:rPr dirty="0" sz="1100" spc="-5">
                <a:latin typeface="Arial"/>
                <a:cs typeface="Arial"/>
              </a:rPr>
              <a:t>use</a:t>
            </a:r>
            <a:r>
              <a:rPr dirty="0" sz="1100" spc="135">
                <a:latin typeface="Arial"/>
                <a:cs typeface="Arial"/>
              </a:rPr>
              <a:t> </a:t>
            </a:r>
            <a:r>
              <a:rPr dirty="0" sz="1100" spc="-5">
                <a:latin typeface="Arial"/>
                <a:cs typeface="Arial"/>
              </a:rPr>
              <a:t>their</a:t>
            </a:r>
            <a:r>
              <a:rPr dirty="0" sz="1100" spc="135">
                <a:latin typeface="Arial"/>
                <a:cs typeface="Arial"/>
              </a:rPr>
              <a:t> </a:t>
            </a:r>
            <a:r>
              <a:rPr dirty="0" sz="1100" spc="-5">
                <a:latin typeface="Arial"/>
                <a:cs typeface="Arial"/>
              </a:rPr>
              <a:t>economic</a:t>
            </a:r>
            <a:r>
              <a:rPr dirty="0" sz="1100" spc="135">
                <a:latin typeface="Arial"/>
                <a:cs typeface="Arial"/>
              </a:rPr>
              <a:t> </a:t>
            </a:r>
            <a:r>
              <a:rPr dirty="0" sz="1100" spc="-5">
                <a:latin typeface="Arial"/>
                <a:cs typeface="Arial"/>
              </a:rPr>
              <a:t>power</a:t>
            </a:r>
            <a:r>
              <a:rPr dirty="0" sz="1100" spc="135">
                <a:latin typeface="Arial"/>
                <a:cs typeface="Arial"/>
              </a:rPr>
              <a:t> </a:t>
            </a:r>
            <a:r>
              <a:rPr dirty="0" sz="1100" spc="-5">
                <a:latin typeface="Arial"/>
                <a:cs typeface="Arial"/>
              </a:rPr>
              <a:t>to</a:t>
            </a:r>
            <a:r>
              <a:rPr dirty="0" sz="1100" spc="135">
                <a:latin typeface="Arial"/>
                <a:cs typeface="Arial"/>
              </a:rPr>
              <a:t> </a:t>
            </a:r>
            <a:r>
              <a:rPr dirty="0" sz="1100" spc="-5">
                <a:latin typeface="Arial"/>
                <a:cs typeface="Arial"/>
              </a:rPr>
              <a:t>influence</a:t>
            </a:r>
            <a:r>
              <a:rPr dirty="0" sz="1100" spc="135">
                <a:latin typeface="Arial"/>
                <a:cs typeface="Arial"/>
              </a:rPr>
              <a:t> </a:t>
            </a:r>
            <a:r>
              <a:rPr dirty="0" sz="1100" spc="-5">
                <a:latin typeface="Arial"/>
                <a:cs typeface="Arial"/>
              </a:rPr>
              <a:t>government</a:t>
            </a:r>
            <a:r>
              <a:rPr dirty="0" sz="1100" spc="135">
                <a:latin typeface="Arial"/>
                <a:cs typeface="Arial"/>
              </a:rPr>
              <a:t> </a:t>
            </a:r>
            <a:r>
              <a:rPr dirty="0" sz="1100" spc="-5">
                <a:latin typeface="Arial"/>
                <a:cs typeface="Arial"/>
              </a:rPr>
              <a:t>policies</a:t>
            </a:r>
            <a:r>
              <a:rPr dirty="0" sz="1100" spc="135">
                <a:latin typeface="Arial"/>
                <a:cs typeface="Arial"/>
              </a:rPr>
              <a:t> </a:t>
            </a:r>
            <a:r>
              <a:rPr dirty="0" sz="1100" spc="-5">
                <a:latin typeface="Arial"/>
                <a:cs typeface="Arial"/>
              </a:rPr>
              <a:t>in</a:t>
            </a:r>
            <a:r>
              <a:rPr dirty="0" sz="1100" spc="135">
                <a:latin typeface="Arial"/>
                <a:cs typeface="Arial"/>
              </a:rPr>
              <a:t> </a:t>
            </a:r>
            <a:r>
              <a:rPr dirty="0" sz="1100" spc="-5">
                <a:latin typeface="Arial"/>
                <a:cs typeface="Arial"/>
              </a:rPr>
              <a:t>directions</a:t>
            </a:r>
            <a:endParaRPr sz="1100">
              <a:latin typeface="Arial"/>
              <a:cs typeface="Arial"/>
            </a:endParaRPr>
          </a:p>
          <a:p>
            <a:pPr algn="just" marL="12700" marR="6985">
              <a:lnSpc>
                <a:spcPts val="1270"/>
              </a:lnSpc>
              <a:spcBef>
                <a:spcPts val="55"/>
              </a:spcBef>
            </a:pPr>
            <a:r>
              <a:rPr dirty="0" sz="1100" spc="-5">
                <a:latin typeface="Arial"/>
                <a:cs typeface="Arial"/>
              </a:rPr>
              <a:t>unfavorable to development. They are able to extract sizable economic and political  concessions from competing governments of other developing countries in the form </a:t>
            </a:r>
            <a:r>
              <a:rPr dirty="0" sz="1100">
                <a:latin typeface="Arial"/>
                <a:cs typeface="Arial"/>
              </a:rPr>
              <a:t>of  </a:t>
            </a:r>
            <a:r>
              <a:rPr dirty="0" sz="1100" spc="-5">
                <a:latin typeface="Arial"/>
                <a:cs typeface="Arial"/>
              </a:rPr>
              <a:t>excessive protection, tax rebates, investment allowances, and the cheap provision of factory  sites and essential social</a:t>
            </a:r>
            <a:r>
              <a:rPr dirty="0" sz="1100" spc="15">
                <a:latin typeface="Arial"/>
                <a:cs typeface="Arial"/>
              </a:rPr>
              <a:t> </a:t>
            </a:r>
            <a:r>
              <a:rPr dirty="0" sz="1100" spc="-5">
                <a:latin typeface="Arial"/>
                <a:cs typeface="Arial"/>
              </a:rPr>
              <a:t>services.</a:t>
            </a:r>
            <a:endParaRPr sz="1100">
              <a:latin typeface="Arial"/>
              <a:cs typeface="Arial"/>
            </a:endParaRPr>
          </a:p>
          <a:p>
            <a:pPr>
              <a:lnSpc>
                <a:spcPct val="100000"/>
              </a:lnSpc>
              <a:spcBef>
                <a:spcPts val="35"/>
              </a:spcBef>
            </a:pPr>
            <a:endParaRPr sz="1050">
              <a:latin typeface="Arial"/>
              <a:cs typeface="Arial"/>
            </a:endParaRPr>
          </a:p>
          <a:p>
            <a:pPr algn="just" marL="12700" marR="6350">
              <a:lnSpc>
                <a:spcPts val="1270"/>
              </a:lnSpc>
            </a:pPr>
            <a:r>
              <a:rPr dirty="0" sz="1100" spc="-5" b="1">
                <a:latin typeface="Arial"/>
                <a:cs typeface="Arial"/>
              </a:rPr>
              <a:t>Fifth, </a:t>
            </a:r>
            <a:r>
              <a:rPr dirty="0" sz="1100" spc="-5">
                <a:latin typeface="Arial"/>
                <a:cs typeface="Arial"/>
              </a:rPr>
              <a:t>MNCs may damage host economies by suppressing domestic entrepreneurship and  using their superior knowledge, worldwide contacts, advertising skills, and range of essential  support services to drive out local competitors and inhibit the emergence of small-scale local  enterprises. Through </a:t>
            </a:r>
            <a:r>
              <a:rPr dirty="0" sz="1100">
                <a:latin typeface="Arial"/>
                <a:cs typeface="Arial"/>
              </a:rPr>
              <a:t>the </a:t>
            </a:r>
            <a:r>
              <a:rPr dirty="0" sz="1100" spc="-5">
                <a:latin typeface="Arial"/>
                <a:cs typeface="Arial"/>
              </a:rPr>
              <a:t>privatization of public corporations and the use of debt-for-equity  swaps to reduce debt burdens, MNCs </a:t>
            </a:r>
            <a:r>
              <a:rPr dirty="0" sz="1100">
                <a:latin typeface="Arial"/>
                <a:cs typeface="Arial"/>
              </a:rPr>
              <a:t>have </a:t>
            </a:r>
            <a:r>
              <a:rPr dirty="0" sz="1100" spc="-5">
                <a:latin typeface="Arial"/>
                <a:cs typeface="Arial"/>
              </a:rPr>
              <a:t>been able to acquire some of the best and  potentially most lucrative local</a:t>
            </a:r>
            <a:r>
              <a:rPr dirty="0" sz="1100" spc="10">
                <a:latin typeface="Arial"/>
                <a:cs typeface="Arial"/>
              </a:rPr>
              <a:t> </a:t>
            </a:r>
            <a:r>
              <a:rPr dirty="0" sz="1100" spc="-5">
                <a:latin typeface="Arial"/>
                <a:cs typeface="Arial"/>
              </a:rPr>
              <a:t>businesses.</a:t>
            </a:r>
            <a:endParaRPr sz="1100">
              <a:latin typeface="Arial"/>
              <a:cs typeface="Arial"/>
            </a:endParaRPr>
          </a:p>
          <a:p>
            <a:pPr>
              <a:lnSpc>
                <a:spcPct val="100000"/>
              </a:lnSpc>
            </a:pPr>
            <a:endParaRPr sz="1050">
              <a:latin typeface="Arial"/>
              <a:cs typeface="Arial"/>
            </a:endParaRPr>
          </a:p>
          <a:p>
            <a:pPr algn="just" marL="12700" marR="5080">
              <a:lnSpc>
                <a:spcPct val="95800"/>
              </a:lnSpc>
            </a:pPr>
            <a:r>
              <a:rPr dirty="0" sz="1100" spc="-5" b="1">
                <a:latin typeface="Arial"/>
                <a:cs typeface="Arial"/>
              </a:rPr>
              <a:t>Finally, </a:t>
            </a:r>
            <a:r>
              <a:rPr dirty="0" sz="1100" spc="-5">
                <a:latin typeface="Arial"/>
                <a:cs typeface="Arial"/>
              </a:rPr>
              <a:t>at the political level, the fear is often expressed that powerful multinational corporations  can gain control over local assets and jobs and can then exert considerable influence on  political decisions at all levels. In extreme cases, they may even; either directly by payoffs to  corrupt public officials at the highest levels or indirectly by contributions to “friendly” political  parties subverts the very political process of host nations (as occurred with International  Telephone and Telegraph in the 1970s in</a:t>
            </a:r>
            <a:r>
              <a:rPr dirty="0" sz="1100" spc="30">
                <a:latin typeface="Arial"/>
                <a:cs typeface="Arial"/>
              </a:rPr>
              <a:t> </a:t>
            </a:r>
            <a:r>
              <a:rPr dirty="0" sz="1100" spc="-5">
                <a:latin typeface="Arial"/>
                <a:cs typeface="Arial"/>
              </a:rPr>
              <a:t>Chile).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RECONCILING THE PROS AND</a:t>
            </a:r>
            <a:r>
              <a:rPr dirty="0" sz="1100" spc="10" b="1">
                <a:latin typeface="Arial"/>
                <a:cs typeface="Arial"/>
              </a:rPr>
              <a:t> </a:t>
            </a:r>
            <a:r>
              <a:rPr dirty="0" sz="1100" spc="-5" b="1">
                <a:latin typeface="Arial"/>
                <a:cs typeface="Arial"/>
              </a:rPr>
              <a:t>CONS</a:t>
            </a:r>
            <a:endParaRPr sz="1100">
              <a:latin typeface="Arial"/>
              <a:cs typeface="Arial"/>
            </a:endParaRPr>
          </a:p>
          <a:p>
            <a:pPr>
              <a:lnSpc>
                <a:spcPct val="100000"/>
              </a:lnSpc>
              <a:spcBef>
                <a:spcPts val="50"/>
              </a:spcBef>
            </a:pPr>
            <a:endParaRPr sz="1150">
              <a:latin typeface="Arial"/>
              <a:cs typeface="Arial"/>
            </a:endParaRPr>
          </a:p>
          <a:p>
            <a:pPr algn="just" marL="12700" marR="5715">
              <a:lnSpc>
                <a:spcPct val="95800"/>
              </a:lnSpc>
              <a:spcBef>
                <a:spcPts val="5"/>
              </a:spcBef>
            </a:pPr>
            <a:r>
              <a:rPr dirty="0" sz="1100" spc="-5">
                <a:latin typeface="Arial"/>
                <a:cs typeface="Arial"/>
              </a:rPr>
              <a:t>Although the foregoing discussion and Box </a:t>
            </a:r>
            <a:r>
              <a:rPr dirty="0" sz="1100">
                <a:latin typeface="Arial"/>
                <a:cs typeface="Arial"/>
              </a:rPr>
              <a:t>14.1 </a:t>
            </a:r>
            <a:r>
              <a:rPr dirty="0" sz="1100" spc="-5">
                <a:latin typeface="Arial"/>
                <a:cs typeface="Arial"/>
              </a:rPr>
              <a:t>present a range of conflicting arguments, the  real debate ultimately centers on different ideological and value judgments about the nature and  meaning of economic development and the sources from which it springs. The advocates of a  central role for private foreign investment tend </a:t>
            </a:r>
            <a:r>
              <a:rPr dirty="0" sz="1100">
                <a:latin typeface="Arial"/>
                <a:cs typeface="Arial"/>
              </a:rPr>
              <a:t>to </a:t>
            </a:r>
            <a:r>
              <a:rPr dirty="0" sz="1100" spc="-5">
                <a:latin typeface="Arial"/>
                <a:cs typeface="Arial"/>
              </a:rPr>
              <a:t>be free-market proponents who firmly believe  in the efficacy and beneficence of the market mechanism, where this is usually defined as a  hands-off policy on the part of host governments. As noted, however, the actual operations of  MNCs tend to be monopolistic and oligopolistic. Price setting is achieved more as a result of  international bargaining and in some cases collusion than as a natural outgrowth of free-market  supply and</a:t>
            </a:r>
            <a:r>
              <a:rPr dirty="0" sz="1100">
                <a:latin typeface="Arial"/>
                <a:cs typeface="Arial"/>
              </a:rPr>
              <a:t> </a:t>
            </a:r>
            <a:r>
              <a:rPr dirty="0" sz="1100" spc="-5">
                <a:latin typeface="Arial"/>
                <a:cs typeface="Arial"/>
              </a:rPr>
              <a:t>demand.</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Theorists who argue against the activities of </a:t>
            </a:r>
            <a:r>
              <a:rPr dirty="0" sz="1100">
                <a:latin typeface="Arial"/>
                <a:cs typeface="Arial"/>
              </a:rPr>
              <a:t>MNCs </a:t>
            </a:r>
            <a:r>
              <a:rPr dirty="0" sz="1100" spc="-5">
                <a:latin typeface="Arial"/>
                <a:cs typeface="Arial"/>
              </a:rPr>
              <a:t>are often motivated by a sense of the  importance of national control over domestic economic activities and the minimization of  dominance-dependence relationships between powerful MNCs and developing-country  governments. They see these giant corporations not as needed agents of economic change but  more as vehicles of antidevelopment. Multinationals, they argue, reinforce dualistic economic  structures</a:t>
            </a:r>
            <a:r>
              <a:rPr dirty="0" sz="1100" spc="145">
                <a:latin typeface="Arial"/>
                <a:cs typeface="Arial"/>
              </a:rPr>
              <a:t> </a:t>
            </a:r>
            <a:r>
              <a:rPr dirty="0" sz="1100" spc="-5">
                <a:latin typeface="Arial"/>
                <a:cs typeface="Arial"/>
              </a:rPr>
              <a:t>and</a:t>
            </a:r>
            <a:r>
              <a:rPr dirty="0" sz="1100" spc="145">
                <a:latin typeface="Arial"/>
                <a:cs typeface="Arial"/>
              </a:rPr>
              <a:t> </a:t>
            </a:r>
            <a:r>
              <a:rPr dirty="0" sz="1100" spc="-5">
                <a:latin typeface="Arial"/>
                <a:cs typeface="Arial"/>
              </a:rPr>
              <a:t>exacerbate</a:t>
            </a:r>
            <a:r>
              <a:rPr dirty="0" sz="1100" spc="150">
                <a:latin typeface="Arial"/>
                <a:cs typeface="Arial"/>
              </a:rPr>
              <a:t> </a:t>
            </a:r>
            <a:r>
              <a:rPr dirty="0" sz="1100" spc="-5">
                <a:latin typeface="Arial"/>
                <a:cs typeface="Arial"/>
              </a:rPr>
              <a:t>domestic</a:t>
            </a:r>
            <a:r>
              <a:rPr dirty="0" sz="1100" spc="145">
                <a:latin typeface="Arial"/>
                <a:cs typeface="Arial"/>
              </a:rPr>
              <a:t> </a:t>
            </a:r>
            <a:r>
              <a:rPr dirty="0" sz="1100" spc="-5">
                <a:latin typeface="Arial"/>
                <a:cs typeface="Arial"/>
              </a:rPr>
              <a:t>inequalities</a:t>
            </a:r>
            <a:r>
              <a:rPr dirty="0" sz="1100" spc="155">
                <a:latin typeface="Arial"/>
                <a:cs typeface="Arial"/>
              </a:rPr>
              <a:t> </a:t>
            </a:r>
            <a:r>
              <a:rPr dirty="0" sz="1100" spc="-5">
                <a:latin typeface="Arial"/>
                <a:cs typeface="Arial"/>
              </a:rPr>
              <a:t>with</a:t>
            </a:r>
            <a:r>
              <a:rPr dirty="0" sz="1100" spc="145">
                <a:latin typeface="Arial"/>
                <a:cs typeface="Arial"/>
              </a:rPr>
              <a:t> </a:t>
            </a:r>
            <a:r>
              <a:rPr dirty="0" sz="1100" spc="-5">
                <a:latin typeface="Arial"/>
                <a:cs typeface="Arial"/>
              </a:rPr>
              <a:t>inappropriate</a:t>
            </a:r>
            <a:r>
              <a:rPr dirty="0" sz="1100" spc="150">
                <a:latin typeface="Arial"/>
                <a:cs typeface="Arial"/>
              </a:rPr>
              <a:t> </a:t>
            </a:r>
            <a:r>
              <a:rPr dirty="0" sz="1100" spc="-5">
                <a:latin typeface="Arial"/>
                <a:cs typeface="Arial"/>
              </a:rPr>
              <a:t>products</a:t>
            </a:r>
            <a:r>
              <a:rPr dirty="0" sz="1100" spc="145">
                <a:latin typeface="Arial"/>
                <a:cs typeface="Arial"/>
              </a:rPr>
              <a:t> </a:t>
            </a:r>
            <a:r>
              <a:rPr dirty="0" sz="1100" spc="-5">
                <a:latin typeface="Arial"/>
                <a:cs typeface="Arial"/>
              </a:rPr>
              <a:t>and</a:t>
            </a:r>
            <a:r>
              <a:rPr dirty="0" sz="1100" spc="145">
                <a:latin typeface="Arial"/>
                <a:cs typeface="Arial"/>
              </a:rPr>
              <a:t> </a:t>
            </a:r>
            <a:r>
              <a:rPr dirty="0" sz="1100" spc="-5">
                <a:latin typeface="Arial"/>
                <a:cs typeface="Arial"/>
              </a:rPr>
              <a:t>technologies.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305</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39759"/>
          </a:xfrm>
          <a:prstGeom prst="rect">
            <a:avLst/>
          </a:prstGeom>
        </p:spPr>
        <p:txBody>
          <a:bodyPr wrap="square" lIns="0" tIns="19050" rIns="0" bIns="0" rtlCol="0" vert="horz">
            <a:spAutoFit/>
          </a:bodyPr>
          <a:lstStyle/>
          <a:p>
            <a:pPr algn="just" marL="12700" marR="6350">
              <a:lnSpc>
                <a:spcPct val="95800"/>
              </a:lnSpc>
              <a:spcBef>
                <a:spcPts val="150"/>
              </a:spcBef>
            </a:pPr>
            <a:r>
              <a:rPr dirty="0" sz="1100" spc="-5">
                <a:latin typeface="Arial"/>
                <a:cs typeface="Arial"/>
              </a:rPr>
              <a:t>Rightly or wrongly, they view MNCs as modern incarnations of colonial devices such as the  British East India Company. Many analysts advocate a more stringent regulation of foreign  investments, a tougher bargaining stance on the part of </a:t>
            </a:r>
            <a:r>
              <a:rPr dirty="0" sz="1100">
                <a:latin typeface="Arial"/>
                <a:cs typeface="Arial"/>
              </a:rPr>
              <a:t>host </a:t>
            </a:r>
            <a:r>
              <a:rPr dirty="0" sz="1100" spc="-5">
                <a:latin typeface="Arial"/>
                <a:cs typeface="Arial"/>
              </a:rPr>
              <a:t>governments, a willingness on the  part of developing countries to shop around </a:t>
            </a:r>
            <a:r>
              <a:rPr dirty="0" sz="1100">
                <a:latin typeface="Arial"/>
                <a:cs typeface="Arial"/>
              </a:rPr>
              <a:t>for </a:t>
            </a:r>
            <a:r>
              <a:rPr dirty="0" sz="1100" spc="-5">
                <a:latin typeface="Arial"/>
                <a:cs typeface="Arial"/>
              </a:rPr>
              <a:t>better deals, the adoption of performance  standards and requirements, increased domestic ownership and control, and a greater  coordination of developing-country strategies with respect to terms and conditions of foreign  investment. One example of such coordinated strategies was a decision in the 1980s by the  Andean Group in Latin America to require foreign investors to reduce their ownership in local  enterprises to minority shares over a </a:t>
            </a:r>
            <a:r>
              <a:rPr dirty="0" sz="1100">
                <a:latin typeface="Arial"/>
                <a:cs typeface="Arial"/>
              </a:rPr>
              <a:t>15-year </a:t>
            </a:r>
            <a:r>
              <a:rPr dirty="0" sz="1100" spc="-5">
                <a:latin typeface="Arial"/>
                <a:cs typeface="Arial"/>
              </a:rPr>
              <a:t>period. In an even earlier example, Tanzania  adopted a similar policy of securing a controlling share of foreign enterprises. Not surprisingly,  the annual flow of private foreign investment declined in both the Andean nations and Tanzania.  Many such “indigenization” requirements have since been rolled back in much of the developing  world. But China, with its great bargaining power, is the </a:t>
            </a:r>
            <a:r>
              <a:rPr dirty="0" sz="1100">
                <a:latin typeface="Arial"/>
                <a:cs typeface="Arial"/>
              </a:rPr>
              <a:t>most </a:t>
            </a:r>
            <a:r>
              <a:rPr dirty="0" sz="1100" spc="-5">
                <a:latin typeface="Arial"/>
                <a:cs typeface="Arial"/>
              </a:rPr>
              <a:t>successful example of the use </a:t>
            </a:r>
            <a:r>
              <a:rPr dirty="0" sz="1100">
                <a:latin typeface="Arial"/>
                <a:cs typeface="Arial"/>
              </a:rPr>
              <a:t>of  </a:t>
            </a:r>
            <a:r>
              <a:rPr dirty="0" sz="1100" spc="-5">
                <a:latin typeface="Arial"/>
                <a:cs typeface="Arial"/>
              </a:rPr>
              <a:t>this strategy.</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The arguments both for and against private foreign investment are still far from </a:t>
            </a:r>
            <a:r>
              <a:rPr dirty="0" sz="1100">
                <a:latin typeface="Arial"/>
                <a:cs typeface="Arial"/>
              </a:rPr>
              <a:t>being </a:t>
            </a:r>
            <a:r>
              <a:rPr dirty="0" sz="1100" spc="-5">
                <a:latin typeface="Arial"/>
                <a:cs typeface="Arial"/>
              </a:rPr>
              <a:t>settled  empirically and </a:t>
            </a:r>
            <a:r>
              <a:rPr dirty="0" sz="1100">
                <a:latin typeface="Arial"/>
                <a:cs typeface="Arial"/>
              </a:rPr>
              <a:t>may </a:t>
            </a:r>
            <a:r>
              <a:rPr dirty="0" sz="1100" spc="-5">
                <a:latin typeface="Arial"/>
                <a:cs typeface="Arial"/>
              </a:rPr>
              <a:t>never be, as they ultimately reflect important differences in value judgments  and political perceptions about desirable development strategies. Clearly, any real assessment  of MNCs in development requires case studies of a given MNC in a specific country. Perhaps  the only valid general conclusion is that private foreign investment can be an important stimulus  to economic and social development as long as the interests of MNCs and host-country  governments coincide (assuming, of course, that they don’t coincide along the lines of dualistic  development and widening</a:t>
            </a:r>
            <a:r>
              <a:rPr dirty="0" sz="1100" spc="10">
                <a:latin typeface="Arial"/>
                <a:cs typeface="Arial"/>
              </a:rPr>
              <a:t> </a:t>
            </a:r>
            <a:r>
              <a:rPr dirty="0" sz="1100" spc="-5">
                <a:latin typeface="Arial"/>
                <a:cs typeface="Arial"/>
              </a:rPr>
              <a:t>inequalities).</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As long as MNCs see their role in terms of global output or profit maximization with little interest  in the long-run domestic impact of their activities, the accusations of the anti-private-investment  school of thought will gain acceptance in the developing world. Maybe there can never be a real  congruence of interest between the profit-maximizing objectives of MNCs and the development  priorities of developing-country governments. However, a strengthening of the relative  bargaining powers of host-country governments through their coordinated activities, while  probably reducing the overall magnitude and growth of private foreign investment, might make  that investment better fit the long-run development needs and priorities of poor nations while still  providing profitable opportunities for foreign investors. The growing acceptance of the corporate  social responsibility movement </a:t>
            </a:r>
            <a:r>
              <a:rPr dirty="0" sz="1100">
                <a:latin typeface="Arial"/>
                <a:cs typeface="Arial"/>
              </a:rPr>
              <a:t>has </a:t>
            </a:r>
            <a:r>
              <a:rPr dirty="0" sz="1100" spc="-5">
                <a:latin typeface="Arial"/>
                <a:cs typeface="Arial"/>
              </a:rPr>
              <a:t>been championed as an opportunity to seek common  ground. Perhaps the strongest argument in favor of encouraging MNCs is that they facilitate the  transfer of know-how </a:t>
            </a:r>
            <a:r>
              <a:rPr dirty="0" sz="1100">
                <a:latin typeface="Arial"/>
                <a:cs typeface="Arial"/>
              </a:rPr>
              <a:t>from </a:t>
            </a:r>
            <a:r>
              <a:rPr dirty="0" sz="1100" spc="-5">
                <a:latin typeface="Arial"/>
                <a:cs typeface="Arial"/>
              </a:rPr>
              <a:t>developed to developing</a:t>
            </a:r>
            <a:r>
              <a:rPr dirty="0" sz="1100" spc="30">
                <a:latin typeface="Arial"/>
                <a:cs typeface="Arial"/>
              </a:rPr>
              <a:t> </a:t>
            </a:r>
            <a:r>
              <a:rPr dirty="0" sz="1100" spc="-5">
                <a:latin typeface="Arial"/>
                <a:cs typeface="Arial"/>
              </a:rPr>
              <a:t>countries.</a:t>
            </a:r>
            <a:endParaRPr sz="1100">
              <a:latin typeface="Arial"/>
              <a:cs typeface="Arial"/>
            </a:endParaRPr>
          </a:p>
          <a:p>
            <a:pPr>
              <a:lnSpc>
                <a:spcPct val="100000"/>
              </a:lnSpc>
              <a:spcBef>
                <a:spcPts val="50"/>
              </a:spcBef>
            </a:pPr>
            <a:endParaRPr sz="1050">
              <a:latin typeface="Arial"/>
              <a:cs typeface="Arial"/>
            </a:endParaRPr>
          </a:p>
          <a:p>
            <a:pPr algn="just" marL="12700" marR="6350">
              <a:lnSpc>
                <a:spcPct val="95800"/>
              </a:lnSpc>
            </a:pPr>
            <a:r>
              <a:rPr dirty="0" sz="1100" spc="-5">
                <a:latin typeface="Arial"/>
                <a:cs typeface="Arial"/>
              </a:rPr>
              <a:t>Dani Rodrik surveyed the literature and concluded that so far, there has been little evidence of  any horizontal spillovers, that is, transfers of knowledge from MNCs to local producers of the  same type of product. However, Garrick Blalock and Paul Gertler reported both statistical and  managerial case study evidence for Indonesia that provides indications that MNCs strategically  transfer technology to local vendors so that multinationals can procure high-quality inputs at low  cost. And Beata Smarzynska Javorcik found evidence of positive productivity spillovers for local  suppliers for the case of Lithuania. Thus there is at least a suggestion that there may indeed be  some significant technology spillovers but that the spillovers are vertical rather than</a:t>
            </a:r>
            <a:r>
              <a:rPr dirty="0" sz="1100" spc="229">
                <a:latin typeface="Arial"/>
                <a:cs typeface="Arial"/>
              </a:rPr>
              <a:t> </a:t>
            </a:r>
            <a:r>
              <a:rPr dirty="0" sz="1100" spc="-5">
                <a:latin typeface="Arial"/>
                <a:cs typeface="Arial"/>
              </a:rPr>
              <a:t>horizontal.</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PRIVATE PORTFOLIO INVESTMENT: BENEFITS AND</a:t>
            </a:r>
            <a:r>
              <a:rPr dirty="0" sz="1100" spc="25" b="1">
                <a:latin typeface="Arial"/>
                <a:cs typeface="Arial"/>
              </a:rPr>
              <a:t> </a:t>
            </a:r>
            <a:r>
              <a:rPr dirty="0" sz="1100" spc="-5" b="1">
                <a:latin typeface="Arial"/>
                <a:cs typeface="Arial"/>
              </a:rPr>
              <a:t>RISKS</a:t>
            </a:r>
            <a:endParaRPr sz="1100">
              <a:latin typeface="Arial"/>
              <a:cs typeface="Arial"/>
            </a:endParaRPr>
          </a:p>
          <a:p>
            <a:pPr>
              <a:lnSpc>
                <a:spcPct val="100000"/>
              </a:lnSpc>
              <a:spcBef>
                <a:spcPts val="15"/>
              </a:spcBef>
            </a:pPr>
            <a:endParaRPr sz="1200">
              <a:latin typeface="Arial"/>
              <a:cs typeface="Arial"/>
            </a:endParaRPr>
          </a:p>
          <a:p>
            <a:pPr algn="just" marL="12700" marR="6350">
              <a:lnSpc>
                <a:spcPts val="1270"/>
              </a:lnSpc>
            </a:pPr>
            <a:r>
              <a:rPr dirty="0" sz="1100" spc="-5">
                <a:latin typeface="Arial"/>
                <a:cs typeface="Arial"/>
              </a:rPr>
              <a:t>In addition to foreign direct investment, the most significant component of private capital flows  has been in the area of portfolio investment. With the increased liberalization of domestic  financial</a:t>
            </a:r>
            <a:r>
              <a:rPr dirty="0" sz="1100" spc="100">
                <a:latin typeface="Arial"/>
                <a:cs typeface="Arial"/>
              </a:rPr>
              <a:t> </a:t>
            </a:r>
            <a:r>
              <a:rPr dirty="0" sz="1100" spc="-5">
                <a:latin typeface="Arial"/>
                <a:cs typeface="Arial"/>
              </a:rPr>
              <a:t>markets</a:t>
            </a:r>
            <a:r>
              <a:rPr dirty="0" sz="1100" spc="105">
                <a:latin typeface="Arial"/>
                <a:cs typeface="Arial"/>
              </a:rPr>
              <a:t> </a:t>
            </a:r>
            <a:r>
              <a:rPr dirty="0" sz="1100" spc="-5">
                <a:latin typeface="Arial"/>
                <a:cs typeface="Arial"/>
              </a:rPr>
              <a:t>in</a:t>
            </a:r>
            <a:r>
              <a:rPr dirty="0" sz="1100" spc="100">
                <a:latin typeface="Arial"/>
                <a:cs typeface="Arial"/>
              </a:rPr>
              <a:t> </a:t>
            </a:r>
            <a:r>
              <a:rPr dirty="0" sz="1100" spc="-5">
                <a:latin typeface="Arial"/>
                <a:cs typeface="Arial"/>
              </a:rPr>
              <a:t>most</a:t>
            </a:r>
            <a:r>
              <a:rPr dirty="0" sz="1100" spc="105">
                <a:latin typeface="Arial"/>
                <a:cs typeface="Arial"/>
              </a:rPr>
              <a:t> </a:t>
            </a:r>
            <a:r>
              <a:rPr dirty="0" sz="1100" spc="-5">
                <a:latin typeface="Arial"/>
                <a:cs typeface="Arial"/>
              </a:rPr>
              <a:t>developing</a:t>
            </a:r>
            <a:r>
              <a:rPr dirty="0" sz="1100" spc="105">
                <a:latin typeface="Arial"/>
                <a:cs typeface="Arial"/>
              </a:rPr>
              <a:t> </a:t>
            </a:r>
            <a:r>
              <a:rPr dirty="0" sz="1100" spc="-5">
                <a:latin typeface="Arial"/>
                <a:cs typeface="Arial"/>
              </a:rPr>
              <a:t>countries</a:t>
            </a:r>
            <a:r>
              <a:rPr dirty="0" sz="1100" spc="105">
                <a:latin typeface="Arial"/>
                <a:cs typeface="Arial"/>
              </a:rPr>
              <a:t> </a:t>
            </a:r>
            <a:r>
              <a:rPr dirty="0" sz="1100" spc="-5">
                <a:latin typeface="Arial"/>
                <a:cs typeface="Arial"/>
              </a:rPr>
              <a:t>and</a:t>
            </a:r>
            <a:r>
              <a:rPr dirty="0" sz="1100" spc="105">
                <a:latin typeface="Arial"/>
                <a:cs typeface="Arial"/>
              </a:rPr>
              <a:t> </a:t>
            </a:r>
            <a:r>
              <a:rPr dirty="0" sz="1100" spc="-5">
                <a:latin typeface="Arial"/>
                <a:cs typeface="Arial"/>
              </a:rPr>
              <a:t>the</a:t>
            </a:r>
            <a:r>
              <a:rPr dirty="0" sz="1100" spc="105">
                <a:latin typeface="Arial"/>
                <a:cs typeface="Arial"/>
              </a:rPr>
              <a:t> </a:t>
            </a:r>
            <a:r>
              <a:rPr dirty="0" sz="1100" spc="-5">
                <a:latin typeface="Arial"/>
                <a:cs typeface="Arial"/>
              </a:rPr>
              <a:t>opening</a:t>
            </a:r>
            <a:r>
              <a:rPr dirty="0" sz="1100" spc="100">
                <a:latin typeface="Arial"/>
                <a:cs typeface="Arial"/>
              </a:rPr>
              <a:t> </a:t>
            </a:r>
            <a:r>
              <a:rPr dirty="0" sz="1100" spc="-5">
                <a:latin typeface="Arial"/>
                <a:cs typeface="Arial"/>
              </a:rPr>
              <a:t>up</a:t>
            </a:r>
            <a:r>
              <a:rPr dirty="0" sz="1100" spc="105">
                <a:latin typeface="Arial"/>
                <a:cs typeface="Arial"/>
              </a:rPr>
              <a:t> </a:t>
            </a:r>
            <a:r>
              <a:rPr dirty="0" sz="1100" spc="-5">
                <a:latin typeface="Arial"/>
                <a:cs typeface="Arial"/>
              </a:rPr>
              <a:t>of</a:t>
            </a:r>
            <a:r>
              <a:rPr dirty="0" sz="1100" spc="105">
                <a:latin typeface="Arial"/>
                <a:cs typeface="Arial"/>
              </a:rPr>
              <a:t> </a:t>
            </a:r>
            <a:r>
              <a:rPr dirty="0" sz="1100" spc="-5">
                <a:latin typeface="Arial"/>
                <a:cs typeface="Arial"/>
              </a:rPr>
              <a:t>these</a:t>
            </a:r>
            <a:r>
              <a:rPr dirty="0" sz="1100" spc="105">
                <a:latin typeface="Arial"/>
                <a:cs typeface="Arial"/>
              </a:rPr>
              <a:t> </a:t>
            </a:r>
            <a:r>
              <a:rPr dirty="0" sz="1100" spc="-5">
                <a:latin typeface="Arial"/>
                <a:cs typeface="Arial"/>
              </a:rPr>
              <a:t>markets</a:t>
            </a:r>
            <a:r>
              <a:rPr dirty="0" sz="1100" spc="105">
                <a:latin typeface="Arial"/>
                <a:cs typeface="Arial"/>
              </a:rPr>
              <a:t> </a:t>
            </a:r>
            <a:r>
              <a:rPr dirty="0" sz="1100" spc="-5">
                <a:latin typeface="Arial"/>
                <a:cs typeface="Arial"/>
              </a:rPr>
              <a:t>to</a:t>
            </a:r>
            <a:r>
              <a:rPr dirty="0" sz="1100" spc="105">
                <a:latin typeface="Arial"/>
                <a:cs typeface="Arial"/>
              </a:rPr>
              <a:t> </a:t>
            </a:r>
            <a:r>
              <a:rPr dirty="0" sz="1100" spc="-5">
                <a:latin typeface="Arial"/>
                <a:cs typeface="Arial"/>
              </a:rPr>
              <a:t>foreign</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306</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100570"/>
          </a:xfrm>
          <a:prstGeom prst="rect">
            <a:avLst/>
          </a:prstGeom>
        </p:spPr>
        <p:txBody>
          <a:bodyPr wrap="square" lIns="0" tIns="19050" rIns="0" bIns="0" rtlCol="0" vert="horz">
            <a:spAutoFit/>
          </a:bodyPr>
          <a:lstStyle/>
          <a:p>
            <a:pPr algn="just" marL="12700" marR="5715">
              <a:lnSpc>
                <a:spcPct val="95800"/>
              </a:lnSpc>
              <a:spcBef>
                <a:spcPts val="150"/>
              </a:spcBef>
            </a:pPr>
            <a:r>
              <a:rPr dirty="0" sz="1100" spc="-5">
                <a:latin typeface="Arial"/>
                <a:cs typeface="Arial"/>
              </a:rPr>
              <a:t>investors, private portfolio investment now accounts for a significant and currently rising share of  overall net resource flows to developing countries. Basically, portfolio investment consists of  foreign purchases of stocks (equity), bonds, certificates of deposit, and commercial paper. As  usual, the middle-income countries have been </a:t>
            </a:r>
            <a:r>
              <a:rPr dirty="0" sz="1100">
                <a:latin typeface="Arial"/>
                <a:cs typeface="Arial"/>
              </a:rPr>
              <a:t>the </a:t>
            </a:r>
            <a:r>
              <a:rPr dirty="0" sz="1100" spc="-5">
                <a:latin typeface="Arial"/>
                <a:cs typeface="Arial"/>
              </a:rPr>
              <a:t>favored destination of these flows, with sub-  Saharan Africa all but</a:t>
            </a:r>
            <a:r>
              <a:rPr dirty="0" sz="1100" spc="15">
                <a:latin typeface="Arial"/>
                <a:cs typeface="Arial"/>
              </a:rPr>
              <a:t> </a:t>
            </a:r>
            <a:r>
              <a:rPr dirty="0" sz="1100" spc="-5">
                <a:latin typeface="Arial"/>
                <a:cs typeface="Arial"/>
              </a:rPr>
              <a:t>neglected.</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As in the case of the FDIs of multinational corporations, the benefits and costs of private  portfolio investment flows to both </a:t>
            </a:r>
            <a:r>
              <a:rPr dirty="0" sz="1100">
                <a:latin typeface="Arial"/>
                <a:cs typeface="Arial"/>
              </a:rPr>
              <a:t>the </a:t>
            </a:r>
            <a:r>
              <a:rPr dirty="0" sz="1100" spc="-5">
                <a:latin typeface="Arial"/>
                <a:cs typeface="Arial"/>
              </a:rPr>
              <a:t>investor and the developing country recipient have been  subjects of vigorous debate. From </a:t>
            </a:r>
            <a:r>
              <a:rPr dirty="0" sz="1100">
                <a:latin typeface="Arial"/>
                <a:cs typeface="Arial"/>
              </a:rPr>
              <a:t>the </a:t>
            </a:r>
            <a:r>
              <a:rPr dirty="0" sz="1100" spc="-5">
                <a:latin typeface="Arial"/>
                <a:cs typeface="Arial"/>
              </a:rPr>
              <a:t>investor’s point of </a:t>
            </a:r>
            <a:r>
              <a:rPr dirty="0" sz="1100">
                <a:latin typeface="Arial"/>
                <a:cs typeface="Arial"/>
              </a:rPr>
              <a:t>view, </a:t>
            </a:r>
            <a:r>
              <a:rPr dirty="0" sz="1100" spc="-5">
                <a:latin typeface="Arial"/>
                <a:cs typeface="Arial"/>
              </a:rPr>
              <a:t>investing in the stock markets of  middle-income countries with relatively more developed financial markets permits them </a:t>
            </a:r>
            <a:r>
              <a:rPr dirty="0" sz="1100">
                <a:latin typeface="Arial"/>
                <a:cs typeface="Arial"/>
              </a:rPr>
              <a:t>to  </a:t>
            </a:r>
            <a:r>
              <a:rPr dirty="0" sz="1100" spc="-5">
                <a:latin typeface="Arial"/>
                <a:cs typeface="Arial"/>
              </a:rPr>
              <a:t>increase their returns while diversifying their</a:t>
            </a:r>
            <a:r>
              <a:rPr dirty="0" sz="1100" spc="30">
                <a:latin typeface="Arial"/>
                <a:cs typeface="Arial"/>
              </a:rPr>
              <a:t> </a:t>
            </a:r>
            <a:r>
              <a:rPr dirty="0" sz="1100" spc="-5">
                <a:latin typeface="Arial"/>
                <a:cs typeface="Arial"/>
              </a:rPr>
              <a:t>risks.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From the perspective of recipient developing countries, private portfolio flows in local stock </a:t>
            </a:r>
            <a:r>
              <a:rPr dirty="0" sz="1100">
                <a:latin typeface="Arial"/>
                <a:cs typeface="Arial"/>
              </a:rPr>
              <a:t>and  </a:t>
            </a:r>
            <a:r>
              <a:rPr dirty="0" sz="1100" spc="-5">
                <a:latin typeface="Arial"/>
                <a:cs typeface="Arial"/>
              </a:rPr>
              <a:t>bond markets are a potentially welcome vehicle for raising capital for domestic firms. Well-  functioning local stock and bond markets also help domestic investors diversify their assets (an  option usually open only to the wealthy) and can </a:t>
            </a:r>
            <a:r>
              <a:rPr dirty="0" sz="1100">
                <a:latin typeface="Arial"/>
                <a:cs typeface="Arial"/>
              </a:rPr>
              <a:t>act </a:t>
            </a:r>
            <a:r>
              <a:rPr dirty="0" sz="1100" spc="-5">
                <a:latin typeface="Arial"/>
                <a:cs typeface="Arial"/>
              </a:rPr>
              <a:t>to improve the efficiency of the whole  financial sector by serving as a screening and monitoring device for allocating funds to  industries and firms with the highest potential</a:t>
            </a:r>
            <a:r>
              <a:rPr dirty="0" sz="1100" spc="30">
                <a:latin typeface="Arial"/>
                <a:cs typeface="Arial"/>
              </a:rPr>
              <a:t> </a:t>
            </a:r>
            <a:r>
              <a:rPr dirty="0" sz="1100" spc="-5">
                <a:latin typeface="Arial"/>
                <a:cs typeface="Arial"/>
              </a:rPr>
              <a:t>returns.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But from </a:t>
            </a:r>
            <a:r>
              <a:rPr dirty="0" sz="1100">
                <a:latin typeface="Arial"/>
                <a:cs typeface="Arial"/>
              </a:rPr>
              <a:t>the </a:t>
            </a:r>
            <a:r>
              <a:rPr dirty="0" sz="1100" spc="-5">
                <a:latin typeface="Arial"/>
                <a:cs typeface="Arial"/>
              </a:rPr>
              <a:t>macro </a:t>
            </a:r>
            <a:r>
              <a:rPr dirty="0" sz="1100">
                <a:latin typeface="Arial"/>
                <a:cs typeface="Arial"/>
              </a:rPr>
              <a:t>policy </a:t>
            </a:r>
            <a:r>
              <a:rPr dirty="0" sz="1100" spc="-5">
                <a:latin typeface="Arial"/>
                <a:cs typeface="Arial"/>
              </a:rPr>
              <a:t>perspective of developing-country governments, a key issue is  whether large and volatile private portfolio flows into both local stock and short-term </a:t>
            </a:r>
            <a:r>
              <a:rPr dirty="0" sz="1100">
                <a:latin typeface="Arial"/>
                <a:cs typeface="Arial"/>
              </a:rPr>
              <a:t>bond  </a:t>
            </a:r>
            <a:r>
              <a:rPr dirty="0" sz="1100" spc="-5">
                <a:latin typeface="Arial"/>
                <a:cs typeface="Arial"/>
              </a:rPr>
              <a:t>markets can be a destabilizing force for both the financial market and the overall economy.  Some economists argue that these flows are not inherently unstable. Developing countries that  rely too heavily on private foreign portfolio investments to camouflage basic structural weakness  in the economy, as in Mexico, Thailand, Malaysia, and Indonesia in the 1990s are more than  likely to suffer serious long-term consequences. Like multinational corporations, portfolio  investors are not in the development business. If developed-country interest rates rise or  perceived profit rates in a developing country decline, foreign speculators will withdraw their  “investments” as quickly as </a:t>
            </a:r>
            <a:r>
              <a:rPr dirty="0" sz="1100">
                <a:latin typeface="Arial"/>
                <a:cs typeface="Arial"/>
              </a:rPr>
              <a:t>they </a:t>
            </a:r>
            <a:r>
              <a:rPr dirty="0" sz="1100" spc="-5">
                <a:latin typeface="Arial"/>
                <a:cs typeface="Arial"/>
              </a:rPr>
              <a:t>brought them in. What developing countries need is true long-  run economic investment (plants, equipment, physical and social infrastructure, etc.), not  speculative capital. A number of developing countries now combine incentives for the former  and disincentives for the latter. Controls were strengthened in the years following the global  financial crisis as potentially destabilizing “hot money” poured into several middle income  countries in response to low interest rates in developed</a:t>
            </a:r>
            <a:r>
              <a:rPr dirty="0" sz="1100" spc="45">
                <a:latin typeface="Arial"/>
                <a:cs typeface="Arial"/>
              </a:rPr>
              <a:t> </a:t>
            </a:r>
            <a:r>
              <a:rPr dirty="0" sz="1100" spc="-5">
                <a:latin typeface="Arial"/>
                <a:cs typeface="Arial"/>
              </a:rPr>
              <a:t>countries.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In summary, private portfolio financial flows have risen and fallen dramatically in recent  decades. Their volatility and the fact that they respond primarily to global interest-rate  differentials, as well as to investor perceptions of political and economic stability, make them a  very tenuous foundation on which to base medium- or long-term development strategies.16  Asia’s financial collapse in 1997, Russia’s in 1998, Brazil’s currency turmoil in 1999, Argentina’s  crisis in 2001–2002, and the dramatic downturn in flows to developing countries in 2009  underlined the fragility of global capital markets. Rather, developing countries need to focus first  on putting fundamental conditions for development into place, because evidence shows that  both MNCs and portfolio investors follow growth rather than lead</a:t>
            </a:r>
            <a:r>
              <a:rPr dirty="0" sz="1100" spc="65">
                <a:latin typeface="Arial"/>
                <a:cs typeface="Arial"/>
              </a:rPr>
              <a:t> </a:t>
            </a:r>
            <a:r>
              <a:rPr dirty="0" sz="1100" spc="-5">
                <a:latin typeface="Arial"/>
                <a:cs typeface="Arial"/>
              </a:rPr>
              <a:t>it.</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307</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2556"/>
            <a:ext cx="5969635" cy="1812925"/>
          </a:xfrm>
          <a:prstGeom prst="rect">
            <a:avLst/>
          </a:prstGeom>
        </p:spPr>
        <p:txBody>
          <a:bodyPr wrap="square" lIns="0" tIns="12065" rIns="0" bIns="0" rtlCol="0" vert="horz">
            <a:spAutoFit/>
          </a:bodyPr>
          <a:lstStyle/>
          <a:p>
            <a:pPr algn="just" marL="12700">
              <a:lnSpc>
                <a:spcPct val="100000"/>
              </a:lnSpc>
              <a:spcBef>
                <a:spcPts val="95"/>
              </a:spcBef>
            </a:pPr>
            <a:r>
              <a:rPr dirty="0" sz="1100" spc="-5" b="1">
                <a:latin typeface="Arial"/>
                <a:cs typeface="Arial"/>
              </a:rPr>
              <a:t>THE ROLE AND GROWTH OF</a:t>
            </a:r>
            <a:r>
              <a:rPr dirty="0" sz="1100" spc="30" b="1">
                <a:latin typeface="Arial"/>
                <a:cs typeface="Arial"/>
              </a:rPr>
              <a:t> </a:t>
            </a:r>
            <a:r>
              <a:rPr dirty="0" sz="1100" spc="-5" b="1">
                <a:latin typeface="Arial"/>
                <a:cs typeface="Arial"/>
              </a:rPr>
              <a:t>REMITTANCES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Wage levels in the high-income economies are approximately five times the level of wages for  employment in similar occupations in the developing nations on average, after adjusting for  purchasing power party. This provides an obvious incentive for migration, and indeed, hopeful  migrants often take great personal risks to make the journey to the United States, Europe, and  even developing-country destinations. In part because of these incentives, by 2010, there were  an estimated 200 million migrants worldwide. But about half of all migrants leaving a developing  nation move to other developing</a:t>
            </a:r>
            <a:r>
              <a:rPr dirty="0" sz="1100" spc="25">
                <a:latin typeface="Arial"/>
                <a:cs typeface="Arial"/>
              </a:rPr>
              <a:t> </a:t>
            </a:r>
            <a:r>
              <a:rPr dirty="0" sz="1100" spc="-5">
                <a:latin typeface="Arial"/>
                <a:cs typeface="Arial"/>
              </a:rPr>
              <a:t>nations.</a:t>
            </a:r>
            <a:endParaRPr sz="1100">
              <a:latin typeface="Arial"/>
              <a:cs typeface="Arial"/>
            </a:endParaRPr>
          </a:p>
          <a:p>
            <a:pPr>
              <a:lnSpc>
                <a:spcPct val="100000"/>
              </a:lnSpc>
              <a:spcBef>
                <a:spcPts val="55"/>
              </a:spcBef>
            </a:pPr>
            <a:endParaRPr sz="1000">
              <a:latin typeface="Arial"/>
              <a:cs typeface="Arial"/>
            </a:endParaRPr>
          </a:p>
          <a:p>
            <a:pPr algn="just" marL="12700">
              <a:lnSpc>
                <a:spcPct val="100000"/>
              </a:lnSpc>
            </a:pPr>
            <a:r>
              <a:rPr dirty="0" sz="1100" spc="-5">
                <a:latin typeface="Arial"/>
                <a:cs typeface="Arial"/>
              </a:rPr>
              <a:t>As</a:t>
            </a:r>
            <a:r>
              <a:rPr dirty="0" sz="1100" spc="204">
                <a:latin typeface="Arial"/>
                <a:cs typeface="Arial"/>
              </a:rPr>
              <a:t> </a:t>
            </a:r>
            <a:r>
              <a:rPr dirty="0" sz="1100" spc="-5">
                <a:latin typeface="Arial"/>
                <a:cs typeface="Arial"/>
              </a:rPr>
              <a:t>noted</a:t>
            </a:r>
            <a:r>
              <a:rPr dirty="0" sz="1100" spc="210">
                <a:latin typeface="Arial"/>
                <a:cs typeface="Arial"/>
              </a:rPr>
              <a:t> </a:t>
            </a:r>
            <a:r>
              <a:rPr dirty="0" sz="1100" spc="-5">
                <a:latin typeface="Arial"/>
                <a:cs typeface="Arial"/>
              </a:rPr>
              <a:t>in</a:t>
            </a:r>
            <a:r>
              <a:rPr dirty="0" sz="1100" spc="204">
                <a:latin typeface="Arial"/>
                <a:cs typeface="Arial"/>
              </a:rPr>
              <a:t> </a:t>
            </a:r>
            <a:r>
              <a:rPr dirty="0" sz="1100" spc="-5">
                <a:latin typeface="Arial"/>
                <a:cs typeface="Arial"/>
              </a:rPr>
              <a:t>Chapters</a:t>
            </a:r>
            <a:r>
              <a:rPr dirty="0" sz="1100" spc="210">
                <a:latin typeface="Arial"/>
                <a:cs typeface="Arial"/>
              </a:rPr>
              <a:t> </a:t>
            </a:r>
            <a:r>
              <a:rPr dirty="0" sz="1100" spc="-5">
                <a:latin typeface="Arial"/>
                <a:cs typeface="Arial"/>
              </a:rPr>
              <a:t>2</a:t>
            </a:r>
            <a:r>
              <a:rPr dirty="0" sz="1100" spc="204">
                <a:latin typeface="Arial"/>
                <a:cs typeface="Arial"/>
              </a:rPr>
              <a:t> </a:t>
            </a:r>
            <a:r>
              <a:rPr dirty="0" sz="1100" spc="-5">
                <a:latin typeface="Arial"/>
                <a:cs typeface="Arial"/>
              </a:rPr>
              <a:t>and</a:t>
            </a:r>
            <a:r>
              <a:rPr dirty="0" sz="1100" spc="210">
                <a:latin typeface="Arial"/>
                <a:cs typeface="Arial"/>
              </a:rPr>
              <a:t> </a:t>
            </a:r>
            <a:r>
              <a:rPr dirty="0" sz="1100" spc="-5">
                <a:latin typeface="Arial"/>
                <a:cs typeface="Arial"/>
              </a:rPr>
              <a:t>8,</a:t>
            </a:r>
            <a:r>
              <a:rPr dirty="0" sz="1100" spc="210">
                <a:latin typeface="Arial"/>
                <a:cs typeface="Arial"/>
              </a:rPr>
              <a:t> </a:t>
            </a:r>
            <a:r>
              <a:rPr dirty="0" sz="1100" spc="-5">
                <a:latin typeface="Arial"/>
                <a:cs typeface="Arial"/>
              </a:rPr>
              <a:t>there</a:t>
            </a:r>
            <a:r>
              <a:rPr dirty="0" sz="1100" spc="210">
                <a:latin typeface="Arial"/>
                <a:cs typeface="Arial"/>
              </a:rPr>
              <a:t> </a:t>
            </a:r>
            <a:r>
              <a:rPr dirty="0" sz="1100" spc="-5">
                <a:latin typeface="Arial"/>
                <a:cs typeface="Arial"/>
              </a:rPr>
              <a:t>are</a:t>
            </a:r>
            <a:r>
              <a:rPr dirty="0" sz="1100" spc="210">
                <a:latin typeface="Arial"/>
                <a:cs typeface="Arial"/>
              </a:rPr>
              <a:t> </a:t>
            </a:r>
            <a:r>
              <a:rPr dirty="0" sz="1100" spc="-5">
                <a:latin typeface="Arial"/>
                <a:cs typeface="Arial"/>
              </a:rPr>
              <a:t>legitimate</a:t>
            </a:r>
            <a:r>
              <a:rPr dirty="0" sz="1100" spc="204">
                <a:latin typeface="Arial"/>
                <a:cs typeface="Arial"/>
              </a:rPr>
              <a:t> </a:t>
            </a:r>
            <a:r>
              <a:rPr dirty="0" sz="1100" spc="-5">
                <a:latin typeface="Arial"/>
                <a:cs typeface="Arial"/>
              </a:rPr>
              <a:t>concerns</a:t>
            </a:r>
            <a:r>
              <a:rPr dirty="0" sz="1100" spc="210">
                <a:latin typeface="Arial"/>
                <a:cs typeface="Arial"/>
              </a:rPr>
              <a:t> </a:t>
            </a:r>
            <a:r>
              <a:rPr dirty="0" sz="1100" spc="-5">
                <a:latin typeface="Arial"/>
                <a:cs typeface="Arial"/>
              </a:rPr>
              <a:t>that</a:t>
            </a:r>
            <a:r>
              <a:rPr dirty="0" sz="1100" spc="210">
                <a:latin typeface="Arial"/>
                <a:cs typeface="Arial"/>
              </a:rPr>
              <a:t> </a:t>
            </a:r>
            <a:r>
              <a:rPr dirty="0" sz="1100" spc="-5">
                <a:latin typeface="Arial"/>
                <a:cs typeface="Arial"/>
              </a:rPr>
              <a:t>out-migration</a:t>
            </a:r>
            <a:r>
              <a:rPr dirty="0" sz="1100" spc="210">
                <a:latin typeface="Arial"/>
                <a:cs typeface="Arial"/>
              </a:rPr>
              <a:t> </a:t>
            </a:r>
            <a:r>
              <a:rPr dirty="0" sz="1100" spc="-5">
                <a:latin typeface="Arial"/>
                <a:cs typeface="Arial"/>
              </a:rPr>
              <a:t>can</a:t>
            </a:r>
            <a:r>
              <a:rPr dirty="0" sz="1100" spc="210">
                <a:latin typeface="Arial"/>
                <a:cs typeface="Arial"/>
              </a:rPr>
              <a:t> </a:t>
            </a:r>
            <a:r>
              <a:rPr dirty="0" sz="1100" spc="-5">
                <a:latin typeface="Arial"/>
                <a:cs typeface="Arial"/>
              </a:rPr>
              <a:t>hamper</a:t>
            </a:r>
            <a:endParaRPr sz="1100">
              <a:latin typeface="Arial"/>
              <a:cs typeface="Arial"/>
            </a:endParaRPr>
          </a:p>
        </p:txBody>
      </p:sp>
      <p:grpSp>
        <p:nvGrpSpPr>
          <p:cNvPr id="7" name="object 7"/>
          <p:cNvGrpSpPr/>
          <p:nvPr/>
        </p:nvGrpSpPr>
        <p:grpSpPr>
          <a:xfrm>
            <a:off x="995933" y="2801873"/>
            <a:ext cx="5530850" cy="6985000"/>
            <a:chOff x="995933" y="2801873"/>
            <a:chExt cx="5530850" cy="6985000"/>
          </a:xfrm>
        </p:grpSpPr>
        <p:sp>
          <p:nvSpPr>
            <p:cNvPr id="8" name="object 8"/>
            <p:cNvSpPr/>
            <p:nvPr/>
          </p:nvSpPr>
          <p:spPr>
            <a:xfrm>
              <a:off x="995933" y="2801873"/>
              <a:ext cx="5530595" cy="3895095"/>
            </a:xfrm>
            <a:prstGeom prst="rect">
              <a:avLst/>
            </a:prstGeom>
            <a:blipFill>
              <a:blip r:embed="rId2" cstate="print"/>
              <a:stretch>
                <a:fillRect/>
              </a:stretch>
            </a:blipFill>
          </p:spPr>
          <p:txBody>
            <a:bodyPr wrap="square" lIns="0" tIns="0" rIns="0" bIns="0" rtlCol="0"/>
            <a:lstStyle/>
            <a:p/>
          </p:txBody>
        </p:sp>
        <p:sp>
          <p:nvSpPr>
            <p:cNvPr id="9" name="object 9"/>
            <p:cNvSpPr/>
            <p:nvPr/>
          </p:nvSpPr>
          <p:spPr>
            <a:xfrm>
              <a:off x="1142999" y="5822441"/>
              <a:ext cx="4800600" cy="3963924"/>
            </a:xfrm>
            <a:prstGeom prst="rect">
              <a:avLst/>
            </a:prstGeom>
            <a:blipFill>
              <a:blip r:embed="rId3" cstate="print"/>
              <a:stretch>
                <a:fillRect/>
              </a:stretch>
            </a:blipFill>
          </p:spPr>
          <p:txBody>
            <a:bodyPr wrap="square" lIns="0" tIns="0" rIns="0" bIns="0" rtlCol="0"/>
            <a:lstStyle/>
            <a:p/>
          </p:txBody>
        </p:sp>
      </p:gr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1" name="object 11"/>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308</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1540" cy="825436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development prospects because of the loss of skilled workers via this “brain drain.” Balancing  this concern is the benefit through remittances to relatives in migrants’ countries of origin,  beyond the gains to the successful (legal or illegal) migrants themselves. When migrants are  low-skilled and the recipients of remittances are poor, the potential development and poverty  reduction advantages become clear. Migrants often build houses for their families and send  money vital for keeping children in school and better-fed. Thus, remittances now provide a  significant pathway out of poverty. Indeed, the World Bank reports that based on household  surveys, remittances have substantially reduced poverty in such countries as Guatemala,  Uganda, Ghana, and Bangladesh. Figure 14.3 shows various resource flows to developing  countries over the period 1990–2008. Remittances have increased dramatically in this century,  exceeding 5% of GDP of low-income countries, outpacing FDI and approaching inflows from  aid. However, remittance flows are very uneven across developing countries. Table 14.1 lists  the top 15 remittance recipient countries, ranked by dollars and by share of GDP, in 2008. India  and China had the largest remittances, but Mexico was in third place. And as the table shows, in  15 countries, remittances represented at least 11% of GDP. Note, however, that </a:t>
            </a:r>
            <a:r>
              <a:rPr dirty="0" sz="1100">
                <a:latin typeface="Arial"/>
                <a:cs typeface="Arial"/>
              </a:rPr>
              <a:t>in </a:t>
            </a:r>
            <a:r>
              <a:rPr dirty="0" sz="1100" spc="-5">
                <a:latin typeface="Arial"/>
                <a:cs typeface="Arial"/>
              </a:rPr>
              <a:t>the wake of  the financial crisis, remittances declined in all regions from 2008 into 2010 except in South Asia,  where they remained</a:t>
            </a:r>
            <a:r>
              <a:rPr dirty="0" sz="1100" spc="5">
                <a:latin typeface="Arial"/>
                <a:cs typeface="Arial"/>
              </a:rPr>
              <a:t> </a:t>
            </a:r>
            <a:r>
              <a:rPr dirty="0" sz="1100" spc="-5">
                <a:latin typeface="Arial"/>
                <a:cs typeface="Arial"/>
              </a:rPr>
              <a:t>stable.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The growth of recorded remittances is due in part to improved accounting; some analysts view  even the statistics of recent years to be subject to considerable undercounting. But other  important factors include the rising number of migrants and advances in financial intermediation  that reduce the costs to migrants of remitting funds to their families. Thus the rapid rise in  remittances is a genuine phenomenon. Further reductions in costs and other impediments to  remittances would also lead to further</a:t>
            </a:r>
            <a:r>
              <a:rPr dirty="0" sz="1100" spc="20">
                <a:latin typeface="Arial"/>
                <a:cs typeface="Arial"/>
              </a:rPr>
              <a:t> </a:t>
            </a:r>
            <a:r>
              <a:rPr dirty="0" sz="1100" spc="-5">
                <a:latin typeface="Arial"/>
                <a:cs typeface="Arial"/>
              </a:rPr>
              <a:t>benefits.</a:t>
            </a:r>
            <a:endParaRPr sz="1100">
              <a:latin typeface="Arial"/>
              <a:cs typeface="Arial"/>
            </a:endParaRPr>
          </a:p>
          <a:p>
            <a:pPr>
              <a:lnSpc>
                <a:spcPct val="100000"/>
              </a:lnSpc>
              <a:spcBef>
                <a:spcPts val="55"/>
              </a:spcBef>
            </a:pPr>
            <a:endParaRPr sz="1050">
              <a:latin typeface="Arial"/>
              <a:cs typeface="Arial"/>
            </a:endParaRPr>
          </a:p>
          <a:p>
            <a:pPr algn="just" marL="12700" marR="5715">
              <a:lnSpc>
                <a:spcPct val="95800"/>
              </a:lnSpc>
            </a:pPr>
            <a:r>
              <a:rPr dirty="0" sz="1100" spc="-5">
                <a:latin typeface="Arial"/>
                <a:cs typeface="Arial"/>
              </a:rPr>
              <a:t>It is important to stress, however, </a:t>
            </a:r>
            <a:r>
              <a:rPr dirty="0" sz="1100">
                <a:latin typeface="Arial"/>
                <a:cs typeface="Arial"/>
              </a:rPr>
              <a:t>that </a:t>
            </a:r>
            <a:r>
              <a:rPr dirty="0" sz="1100" spc="-5">
                <a:latin typeface="Arial"/>
                <a:cs typeface="Arial"/>
              </a:rPr>
              <a:t>migration is not always voluntary and </a:t>
            </a:r>
            <a:r>
              <a:rPr dirty="0" sz="1100">
                <a:latin typeface="Arial"/>
                <a:cs typeface="Arial"/>
              </a:rPr>
              <a:t>may </a:t>
            </a:r>
            <a:r>
              <a:rPr dirty="0" sz="1100" spc="-5">
                <a:latin typeface="Arial"/>
                <a:cs typeface="Arial"/>
              </a:rPr>
              <a:t>result from  human trafficking; even when departure is voluntary, it is often done with imperfect information  about working conditions; and exploitation and abuse are not uncommon. Clearly, for migration  to bring the maximum social abuse are not uncommon. Clearly, for migration to bring the  maximum </a:t>
            </a:r>
            <a:r>
              <a:rPr dirty="0" sz="1100">
                <a:latin typeface="Arial"/>
                <a:cs typeface="Arial"/>
              </a:rPr>
              <a:t>social </a:t>
            </a:r>
            <a:r>
              <a:rPr dirty="0" sz="1100" spc="-5">
                <a:latin typeface="Arial"/>
                <a:cs typeface="Arial"/>
              </a:rPr>
              <a:t>benefit to people in developing countries, improved regulations and protections  for what the International Labor Organization terms “irregular status” migrants and the working  conditions of migrants will be essential, as will improved willingness of developed countries to  accept reasonable increases in</a:t>
            </a:r>
            <a:r>
              <a:rPr dirty="0" sz="1100" spc="15">
                <a:latin typeface="Arial"/>
                <a:cs typeface="Arial"/>
              </a:rPr>
              <a:t> </a:t>
            </a:r>
            <a:r>
              <a:rPr dirty="0" sz="1100" spc="-5">
                <a:latin typeface="Arial"/>
                <a:cs typeface="Arial"/>
              </a:rPr>
              <a:t>migration.</a:t>
            </a:r>
            <a:endParaRPr sz="1100">
              <a:latin typeface="Arial"/>
              <a:cs typeface="Arial"/>
            </a:endParaRPr>
          </a:p>
          <a:p>
            <a:pPr marL="12700" marR="2017395">
              <a:lnSpc>
                <a:spcPts val="2650"/>
              </a:lnSpc>
              <a:spcBef>
                <a:spcPts val="195"/>
              </a:spcBef>
            </a:pPr>
            <a:r>
              <a:rPr dirty="0" sz="1100" spc="-5" b="1">
                <a:latin typeface="Arial"/>
                <a:cs typeface="Arial"/>
              </a:rPr>
              <a:t>FOREIGN AID: THE DEVELOPMENT ASSISTANCE DEBATE  CONCEPTUAL </a:t>
            </a:r>
            <a:r>
              <a:rPr dirty="0" sz="1100" b="1">
                <a:latin typeface="Arial"/>
                <a:cs typeface="Arial"/>
              </a:rPr>
              <a:t>AND </a:t>
            </a:r>
            <a:r>
              <a:rPr dirty="0" sz="1100" spc="-5" b="1">
                <a:latin typeface="Arial"/>
                <a:cs typeface="Arial"/>
              </a:rPr>
              <a:t>MEASUREMENT</a:t>
            </a:r>
            <a:r>
              <a:rPr dirty="0" sz="1100" spc="15" b="1">
                <a:latin typeface="Arial"/>
                <a:cs typeface="Arial"/>
              </a:rPr>
              <a:t> </a:t>
            </a:r>
            <a:r>
              <a:rPr dirty="0" sz="1100" spc="-5" b="1">
                <a:latin typeface="Arial"/>
                <a:cs typeface="Arial"/>
              </a:rPr>
              <a:t>PROBLEMS</a:t>
            </a:r>
            <a:endParaRPr sz="1100">
              <a:latin typeface="Arial"/>
              <a:cs typeface="Arial"/>
            </a:endParaRPr>
          </a:p>
          <a:p>
            <a:pPr>
              <a:lnSpc>
                <a:spcPct val="100000"/>
              </a:lnSpc>
              <a:spcBef>
                <a:spcPts val="50"/>
              </a:spcBef>
            </a:pPr>
            <a:endParaRPr sz="900">
              <a:latin typeface="Arial"/>
              <a:cs typeface="Arial"/>
            </a:endParaRPr>
          </a:p>
          <a:p>
            <a:pPr algn="just" marL="12700" marR="7620">
              <a:lnSpc>
                <a:spcPts val="1270"/>
              </a:lnSpc>
            </a:pPr>
            <a:r>
              <a:rPr dirty="0" sz="1100" spc="-5">
                <a:latin typeface="Arial"/>
                <a:cs typeface="Arial"/>
              </a:rPr>
              <a:t>In addition to export earnings and private foreign direct and portfolio investment, developing  countries receive two other major sources of foreign exchange: public (official) bilateral and  multilateral development assistance and private (unofficial) assistance provided by  nongovernmental organizations. Both of these activities are forms of foreign aid, although only  public aid is usually measured in official</a:t>
            </a:r>
            <a:r>
              <a:rPr dirty="0" sz="1100" spc="25">
                <a:latin typeface="Arial"/>
                <a:cs typeface="Arial"/>
              </a:rPr>
              <a:t> </a:t>
            </a:r>
            <a:r>
              <a:rPr dirty="0" sz="1100" spc="-5">
                <a:latin typeface="Arial"/>
                <a:cs typeface="Arial"/>
              </a:rPr>
              <a:t>statistics.</a:t>
            </a:r>
            <a:endParaRPr sz="1100">
              <a:latin typeface="Arial"/>
              <a:cs typeface="Arial"/>
            </a:endParaRPr>
          </a:p>
          <a:p>
            <a:pPr>
              <a:lnSpc>
                <a:spcPct val="100000"/>
              </a:lnSpc>
              <a:spcBef>
                <a:spcPts val="5"/>
              </a:spcBef>
            </a:pPr>
            <a:endParaRPr sz="1050">
              <a:latin typeface="Arial"/>
              <a:cs typeface="Arial"/>
            </a:endParaRPr>
          </a:p>
          <a:p>
            <a:pPr algn="just" marL="12700" marR="6350">
              <a:lnSpc>
                <a:spcPct val="95800"/>
              </a:lnSpc>
            </a:pPr>
            <a:r>
              <a:rPr dirty="0" sz="1100" spc="-5">
                <a:latin typeface="Arial"/>
                <a:cs typeface="Arial"/>
              </a:rPr>
              <a:t>In principle, all governmental resource transfers from one country to another should be included  in the definition of foreign aid. Even this simple definition, however, raises a number of  problems. For one thing, many resource transfers can take disguised forms, such as the  granting of preferential tariffs by developed countries to exports of manufactured goods,  particularly from the </a:t>
            </a:r>
            <a:r>
              <a:rPr dirty="0" sz="1100">
                <a:latin typeface="Arial"/>
                <a:cs typeface="Arial"/>
              </a:rPr>
              <a:t>least </a:t>
            </a:r>
            <a:r>
              <a:rPr dirty="0" sz="1100" spc="-5">
                <a:latin typeface="Arial"/>
                <a:cs typeface="Arial"/>
              </a:rPr>
              <a:t>developed countries. This permits developing countries to earn more  foreign exchange from selling their industrial products in developed-country markets at higher  prices than would otherwise be possible. There is consequently a net gain </a:t>
            </a:r>
            <a:r>
              <a:rPr dirty="0" sz="1100">
                <a:latin typeface="Arial"/>
                <a:cs typeface="Arial"/>
              </a:rPr>
              <a:t>for</a:t>
            </a:r>
            <a:r>
              <a:rPr dirty="0" sz="1100" spc="225">
                <a:latin typeface="Arial"/>
                <a:cs typeface="Arial"/>
              </a:rPr>
              <a:t> </a:t>
            </a:r>
            <a:r>
              <a:rPr dirty="0" sz="1100" spc="-5">
                <a:latin typeface="Arial"/>
                <a:cs typeface="Arial"/>
              </a:rPr>
              <a:t>developing</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309</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471043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countries and a net loss for developed countries, which amounts to a real resource transfer to  the developing world. Such implicit capital transfers, or disguised flows, should be counted in  qualifying foreign-aid flows. Normally, however, they are</a:t>
            </a:r>
            <a:r>
              <a:rPr dirty="0" sz="1100" spc="45">
                <a:latin typeface="Arial"/>
                <a:cs typeface="Arial"/>
              </a:rPr>
              <a:t> </a:t>
            </a:r>
            <a:r>
              <a:rPr dirty="0" sz="1100" spc="-5">
                <a:latin typeface="Arial"/>
                <a:cs typeface="Arial"/>
              </a:rPr>
              <a:t>not.</a:t>
            </a:r>
            <a:endParaRPr sz="1100">
              <a:latin typeface="Arial"/>
              <a:cs typeface="Arial"/>
            </a:endParaRPr>
          </a:p>
          <a:p>
            <a:pPr>
              <a:lnSpc>
                <a:spcPct val="100000"/>
              </a:lnSpc>
              <a:spcBef>
                <a:spcPts val="10"/>
              </a:spcBef>
            </a:pPr>
            <a:endParaRPr sz="1050">
              <a:latin typeface="Arial"/>
              <a:cs typeface="Arial"/>
            </a:endParaRPr>
          </a:p>
          <a:p>
            <a:pPr algn="just" marL="12700" marR="5715">
              <a:lnSpc>
                <a:spcPct val="95800"/>
              </a:lnSpc>
            </a:pPr>
            <a:r>
              <a:rPr dirty="0" sz="1100" spc="-5">
                <a:latin typeface="Arial"/>
                <a:cs typeface="Arial"/>
              </a:rPr>
              <a:t>However, we should not include all transfers of capital to developing countries, particularly the  capital flows of private foreign investors. Private flows represent normal commercial  transactions, prompted by commercial considerations of profits and rates of return, and  therefore should not be viewed as foreign aid. Commercial flows of private capital are not a form  of foreign assistance, even though they </a:t>
            </a:r>
            <a:r>
              <a:rPr dirty="0" sz="1100">
                <a:latin typeface="Arial"/>
                <a:cs typeface="Arial"/>
              </a:rPr>
              <a:t>may </a:t>
            </a:r>
            <a:r>
              <a:rPr dirty="0" sz="1100" spc="-5">
                <a:latin typeface="Arial"/>
                <a:cs typeface="Arial"/>
              </a:rPr>
              <a:t>benefit the developing country in which they take  place.</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Economists have defined foreign aid, therefore, as any flow of capital to a developing country  that meets two criteria: (1) Its objective should be noncommercial from the point of view of the  donor, and (2) it should be characterized by concessional terms; that is, the interest rate and  repayment period for borrowed capital should be softer (less stringent) than commercial terms.  Even this definition can be inappropriate, for it could include military aid, which is both  noncommercial and concessional. Normally, </a:t>
            </a:r>
            <a:r>
              <a:rPr dirty="0" sz="1100">
                <a:latin typeface="Arial"/>
                <a:cs typeface="Arial"/>
              </a:rPr>
              <a:t>however, </a:t>
            </a:r>
            <a:r>
              <a:rPr dirty="0" sz="1100" spc="-5">
                <a:latin typeface="Arial"/>
                <a:cs typeface="Arial"/>
              </a:rPr>
              <a:t>military aid is excluded from international  economic measurements of foreign-aid flows. The concept of foreign aid that is now widely </a:t>
            </a:r>
            <a:r>
              <a:rPr dirty="0" sz="1100">
                <a:latin typeface="Arial"/>
                <a:cs typeface="Arial"/>
              </a:rPr>
              <a:t>used  </a:t>
            </a:r>
            <a:r>
              <a:rPr dirty="0" sz="1100" spc="-5">
                <a:latin typeface="Arial"/>
                <a:cs typeface="Arial"/>
              </a:rPr>
              <a:t>and accepted, therefore, is one that encompasses all official grants and concessional loans, in  currency or in kind, that are broadly aimed at transferring resources from developed to less  developed nations on development, poverty, or income distribution grounds. Unfortunately,  there often is a thin line separating purely developmental grants and loans from sources  ultimately motivated by security or commercial</a:t>
            </a:r>
            <a:r>
              <a:rPr dirty="0" sz="1100" spc="35">
                <a:latin typeface="Arial"/>
                <a:cs typeface="Arial"/>
              </a:rPr>
              <a:t> </a:t>
            </a:r>
            <a:r>
              <a:rPr dirty="0" sz="1100" spc="-5">
                <a:latin typeface="Arial"/>
                <a:cs typeface="Arial"/>
              </a:rPr>
              <a:t>interests.</a:t>
            </a:r>
            <a:endParaRPr sz="1100">
              <a:latin typeface="Arial"/>
              <a:cs typeface="Arial"/>
            </a:endParaRPr>
          </a:p>
          <a:p>
            <a:pPr>
              <a:lnSpc>
                <a:spcPct val="100000"/>
              </a:lnSpc>
              <a:spcBef>
                <a:spcPts val="25"/>
              </a:spcBef>
            </a:pPr>
            <a:endParaRPr sz="1150">
              <a:latin typeface="Arial"/>
              <a:cs typeface="Arial"/>
            </a:endParaRPr>
          </a:p>
          <a:p>
            <a:pPr algn="just" marL="469900" marR="6350" indent="-229235">
              <a:lnSpc>
                <a:spcPct val="95700"/>
              </a:lnSpc>
              <a:buFont typeface="Symbol"/>
              <a:buChar char=""/>
              <a:tabLst>
                <a:tab pos="469900" algn="l"/>
              </a:tabLst>
            </a:pPr>
            <a:r>
              <a:rPr dirty="0" sz="1100" spc="-5" b="1">
                <a:latin typeface="Arial"/>
                <a:cs typeface="Arial"/>
              </a:rPr>
              <a:t>Foreign aid: </a:t>
            </a:r>
            <a:r>
              <a:rPr dirty="0" sz="1100" spc="-5">
                <a:latin typeface="Arial"/>
                <a:cs typeface="Arial"/>
              </a:rPr>
              <a:t>The international transfer of public funds in the form of loans or grants  either directly from one government to another (bilateral assistance) or indirectly through  the vehicle of a multilateral assistance agency such as the World</a:t>
            </a:r>
            <a:r>
              <a:rPr dirty="0" sz="1100" spc="75">
                <a:latin typeface="Arial"/>
                <a:cs typeface="Arial"/>
              </a:rPr>
              <a:t> </a:t>
            </a:r>
            <a:r>
              <a:rPr dirty="0" sz="1100" spc="-5">
                <a:latin typeface="Arial"/>
                <a:cs typeface="Arial"/>
              </a:rPr>
              <a:t>Bank.</a:t>
            </a:r>
            <a:endParaRPr sz="1100">
              <a:latin typeface="Arial"/>
              <a:cs typeface="Arial"/>
            </a:endParaRPr>
          </a:p>
          <a:p>
            <a:pPr algn="just" marL="469900" marR="5715" indent="-228600">
              <a:lnSpc>
                <a:spcPts val="1270"/>
              </a:lnSpc>
              <a:spcBef>
                <a:spcPts val="100"/>
              </a:spcBef>
              <a:buFont typeface="Symbol"/>
              <a:buChar char=""/>
              <a:tabLst>
                <a:tab pos="469900" algn="l"/>
              </a:tabLst>
            </a:pPr>
            <a:r>
              <a:rPr dirty="0" sz="1100" spc="-5" b="1">
                <a:latin typeface="Arial"/>
                <a:cs typeface="Arial"/>
              </a:rPr>
              <a:t>Concessional terms: </a:t>
            </a:r>
            <a:r>
              <a:rPr dirty="0" sz="1100" spc="-5">
                <a:latin typeface="Arial"/>
                <a:cs typeface="Arial"/>
              </a:rPr>
              <a:t>Terms for the extension of credit that are more favorable to the  borrower than those available through standard financial</a:t>
            </a:r>
            <a:r>
              <a:rPr dirty="0" sz="1100" spc="40">
                <a:latin typeface="Arial"/>
                <a:cs typeface="Arial"/>
              </a:rPr>
              <a:t> </a:t>
            </a:r>
            <a:r>
              <a:rPr dirty="0" sz="1100" spc="-5">
                <a:latin typeface="Arial"/>
                <a:cs typeface="Arial"/>
              </a:rPr>
              <a:t>markets.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310</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7947659"/>
          </a:xfrm>
          <a:prstGeom prst="rect">
            <a:avLst/>
          </a:prstGeom>
        </p:spPr>
        <p:txBody>
          <a:bodyPr wrap="square" lIns="0" tIns="12065" rIns="0" bIns="0" rtlCol="0" vert="horz">
            <a:spAutoFit/>
          </a:bodyPr>
          <a:lstStyle/>
          <a:p>
            <a:pPr algn="r" marR="508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44</a:t>
            </a:r>
            <a:endParaRPr sz="1100">
              <a:latin typeface="Arial"/>
              <a:cs typeface="Arial"/>
            </a:endParaRPr>
          </a:p>
          <a:p>
            <a:pPr>
              <a:lnSpc>
                <a:spcPct val="100000"/>
              </a:lnSpc>
              <a:spcBef>
                <a:spcPts val="45"/>
              </a:spcBef>
            </a:pPr>
            <a:endParaRPr sz="1100">
              <a:latin typeface="Arial"/>
              <a:cs typeface="Arial"/>
            </a:endParaRPr>
          </a:p>
          <a:p>
            <a:pPr marL="2522220" marR="102235" indent="-2413635">
              <a:lnSpc>
                <a:spcPts val="1260"/>
              </a:lnSpc>
            </a:pPr>
            <a:r>
              <a:rPr dirty="0" sz="1100" spc="-5" b="1">
                <a:latin typeface="Arial"/>
                <a:cs typeface="Arial"/>
              </a:rPr>
              <a:t>FOREIGN FINANCE, INVESTMENT, AND AID: CONTROVERSIES AND OPPORTUNITIES  (CONTINUED)</a:t>
            </a:r>
            <a:endParaRPr sz="1100">
              <a:latin typeface="Arial"/>
              <a:cs typeface="Arial"/>
            </a:endParaRPr>
          </a:p>
          <a:p>
            <a:pPr>
              <a:lnSpc>
                <a:spcPct val="100000"/>
              </a:lnSpc>
              <a:spcBef>
                <a:spcPts val="30"/>
              </a:spcBef>
            </a:pPr>
            <a:endParaRPr sz="1100">
              <a:latin typeface="Arial"/>
              <a:cs typeface="Arial"/>
            </a:endParaRPr>
          </a:p>
          <a:p>
            <a:pPr algn="just" marL="12700">
              <a:lnSpc>
                <a:spcPct val="100000"/>
              </a:lnSpc>
            </a:pPr>
            <a:r>
              <a:rPr dirty="0" sz="1100" spc="-5" b="1">
                <a:latin typeface="Arial"/>
                <a:cs typeface="Arial"/>
              </a:rPr>
              <a:t>WHY DONORS GIVE</a:t>
            </a:r>
            <a:r>
              <a:rPr dirty="0" sz="1100" spc="15" b="1">
                <a:latin typeface="Arial"/>
                <a:cs typeface="Arial"/>
              </a:rPr>
              <a:t> </a:t>
            </a:r>
            <a:r>
              <a:rPr dirty="0" sz="1100" spc="-5" b="1">
                <a:latin typeface="Arial"/>
                <a:cs typeface="Arial"/>
              </a:rPr>
              <a:t>AID</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900"/>
              </a:lnSpc>
            </a:pPr>
            <a:r>
              <a:rPr dirty="0" sz="1100" spc="-5">
                <a:latin typeface="Arial"/>
                <a:cs typeface="Arial"/>
              </a:rPr>
              <a:t>Donor-country governments give aid because it is in their political, strategic, or economic self-  interest to do so. Some development assistance may be motivated by moral and humanitarian  desires to assist the less fortunate (e.g., emergency food relief and medical programs) and  certainly this has been the international rhetoric in the increases in aid in the first decade of the  twenty-first century. Still, there is no historical evidence to suggest that over longer periods of  time, donor nations assist others without expecting some corresponding benefits (political,  economic, military, counterterrorism, antinarcotics, etc.) in return. We focus here on the foreign-  aid motivations of donor nations in two </a:t>
            </a:r>
            <a:r>
              <a:rPr dirty="0" sz="1100">
                <a:latin typeface="Arial"/>
                <a:cs typeface="Arial"/>
              </a:rPr>
              <a:t>broad </a:t>
            </a:r>
            <a:r>
              <a:rPr dirty="0" sz="1100" spc="-5">
                <a:latin typeface="Arial"/>
                <a:cs typeface="Arial"/>
              </a:rPr>
              <a:t>but often interrelated categories: political and  economic.</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POLITICAL</a:t>
            </a:r>
            <a:r>
              <a:rPr dirty="0" sz="1100" b="1">
                <a:latin typeface="Arial"/>
                <a:cs typeface="Arial"/>
              </a:rPr>
              <a:t> </a:t>
            </a:r>
            <a:r>
              <a:rPr dirty="0" sz="1100" spc="-5" b="1">
                <a:latin typeface="Arial"/>
                <a:cs typeface="Arial"/>
              </a:rPr>
              <a:t>MOTIVATIONS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Political motivations have been by far the more important for aid-granting nations, especially for  the largest donor country, the United States. The United States has viewed foreign aid from its  beginnings in the late 1940s under the Marshall Plan, which aimed at reconstructing the war-  torn economies of Western Europe, as a means of containing the international spread of  communism. When the balance of Cold War interests shifted from Europe to the developing  world in the mid-1950s, the policy </a:t>
            </a:r>
            <a:r>
              <a:rPr dirty="0" sz="1100">
                <a:latin typeface="Arial"/>
                <a:cs typeface="Arial"/>
              </a:rPr>
              <a:t>of </a:t>
            </a:r>
            <a:r>
              <a:rPr dirty="0" sz="1100" spc="-5">
                <a:latin typeface="Arial"/>
                <a:cs typeface="Arial"/>
              </a:rPr>
              <a:t>containment embodied in the U.S. aid program dictated a  shift in emphasis toward political, economic, and military support for “friendly” less developed  nations, especially those considered geographically strategic. Most aid programs to developing  countries were therefore oriented more toward purchasing their security and propping up their  sometimes shaky regimes than promoting long-term social and economic</a:t>
            </a:r>
            <a:r>
              <a:rPr dirty="0" sz="1100" spc="100">
                <a:latin typeface="Arial"/>
                <a:cs typeface="Arial"/>
              </a:rPr>
              <a:t> </a:t>
            </a:r>
            <a:r>
              <a:rPr dirty="0" sz="1100" spc="-5">
                <a:latin typeface="Arial"/>
                <a:cs typeface="Arial"/>
              </a:rPr>
              <a:t>development.</a:t>
            </a:r>
            <a:endParaRPr sz="1100">
              <a:latin typeface="Arial"/>
              <a:cs typeface="Arial"/>
            </a:endParaRPr>
          </a:p>
          <a:p>
            <a:pPr>
              <a:lnSpc>
                <a:spcPct val="100000"/>
              </a:lnSpc>
            </a:pPr>
            <a:endParaRPr sz="1100">
              <a:latin typeface="Arial"/>
              <a:cs typeface="Arial"/>
            </a:endParaRPr>
          </a:p>
          <a:p>
            <a:pPr algn="just" marL="12700" marR="5080">
              <a:lnSpc>
                <a:spcPct val="95800"/>
              </a:lnSpc>
              <a:spcBef>
                <a:spcPts val="5"/>
              </a:spcBef>
            </a:pPr>
            <a:r>
              <a:rPr dirty="0" sz="1100" spc="-5">
                <a:latin typeface="Arial"/>
                <a:cs typeface="Arial"/>
              </a:rPr>
              <a:t>The successive shifts in emphasis from South Asia to Southeast Asia to Latin America to the  Middle East and back to Southeast Asia during the 1950s and 1960s and then toward Africa  and the Persian Gulf in the late 1970s, the Caribbean and Central America in the 1980s, and  the Russian Federation, Bosnia, Ukraine, and the Middle East in the 1990s, with a renewed  focus on the Islamic nations after 2001, reflect changes in U.S. strategic, political, security, </a:t>
            </a:r>
            <a:r>
              <a:rPr dirty="0" sz="1100">
                <a:latin typeface="Arial"/>
                <a:cs typeface="Arial"/>
              </a:rPr>
              <a:t>and  </a:t>
            </a:r>
            <a:r>
              <a:rPr dirty="0" sz="1100" spc="-5">
                <a:latin typeface="Arial"/>
                <a:cs typeface="Arial"/>
              </a:rPr>
              <a:t>economic interests more than changing evaluations of poverty problems and economic need.  Recent increases in aid to African countries with public health crises including HIV assistance  may be due in part to concerns that disease may spread internationally or lead to destabilizing  state collapse and possible havens for</a:t>
            </a:r>
            <a:r>
              <a:rPr dirty="0" sz="1100" spc="30">
                <a:latin typeface="Arial"/>
                <a:cs typeface="Arial"/>
              </a:rPr>
              <a:t> </a:t>
            </a:r>
            <a:r>
              <a:rPr dirty="0" sz="1100" spc="-5">
                <a:latin typeface="Arial"/>
                <a:cs typeface="Arial"/>
              </a:rPr>
              <a:t>terrorists.</a:t>
            </a:r>
            <a:endParaRPr sz="1100">
              <a:latin typeface="Arial"/>
              <a:cs typeface="Arial"/>
            </a:endParaRPr>
          </a:p>
          <a:p>
            <a:pPr>
              <a:lnSpc>
                <a:spcPct val="100000"/>
              </a:lnSpc>
            </a:pPr>
            <a:endParaRPr sz="1100">
              <a:latin typeface="Arial"/>
              <a:cs typeface="Arial"/>
            </a:endParaRPr>
          </a:p>
          <a:p>
            <a:pPr algn="just" marL="12700" marR="5080">
              <a:lnSpc>
                <a:spcPct val="95900"/>
              </a:lnSpc>
            </a:pPr>
            <a:r>
              <a:rPr dirty="0" sz="1100" spc="-5">
                <a:latin typeface="Arial"/>
                <a:cs typeface="Arial"/>
              </a:rPr>
              <a:t>Even the Alliance for Progress, inaugurated in the early 1960s with great fanfare and noble  rhetoric about promoting Latin American economic development, was formulated primarily as a  direct response to the rise of Fidel Castro in Cuba and the perceived threat of communist  takeovers in other Latin American countries. As soon as the security issue lost its urgency and  other more pressing problems came to the fore (the war in Vietnam, </a:t>
            </a:r>
            <a:r>
              <a:rPr dirty="0" sz="1100">
                <a:latin typeface="Arial"/>
                <a:cs typeface="Arial"/>
              </a:rPr>
              <a:t>the </a:t>
            </a:r>
            <a:r>
              <a:rPr dirty="0" sz="1100" spc="-5">
                <a:latin typeface="Arial"/>
                <a:cs typeface="Arial"/>
              </a:rPr>
              <a:t>rise in U.S. violence,  etc.), the Alliance for Progress stagnated and began to fizzle out. Our point is simply that where  aid is seen primarily as a means of furthering donor-country interests, the flow of </a:t>
            </a:r>
            <a:r>
              <a:rPr dirty="0" sz="1100">
                <a:latin typeface="Arial"/>
                <a:cs typeface="Arial"/>
              </a:rPr>
              <a:t>funds </a:t>
            </a:r>
            <a:r>
              <a:rPr dirty="0" sz="1100" spc="-5">
                <a:latin typeface="Arial"/>
                <a:cs typeface="Arial"/>
              </a:rPr>
              <a:t>tends to  vary with </a:t>
            </a:r>
            <a:r>
              <a:rPr dirty="0" sz="1100">
                <a:latin typeface="Arial"/>
                <a:cs typeface="Arial"/>
              </a:rPr>
              <a:t>the </a:t>
            </a:r>
            <a:r>
              <a:rPr dirty="0" sz="1100" spc="-5">
                <a:latin typeface="Arial"/>
                <a:cs typeface="Arial"/>
              </a:rPr>
              <a:t>donor’s political assessment of changing international situations and not the  relative need of potential</a:t>
            </a:r>
            <a:r>
              <a:rPr dirty="0" sz="1100" spc="15">
                <a:latin typeface="Arial"/>
                <a:cs typeface="Arial"/>
              </a:rPr>
              <a:t> </a:t>
            </a:r>
            <a:r>
              <a:rPr dirty="0" sz="1100" spc="-5">
                <a:latin typeface="Arial"/>
                <a:cs typeface="Arial"/>
              </a:rPr>
              <a:t>recipients.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311</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8869680"/>
            <a:ext cx="804672" cy="181356"/>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01672" y="892556"/>
            <a:ext cx="5970905" cy="8199120"/>
          </a:xfrm>
          <a:prstGeom prst="rect">
            <a:avLst/>
          </a:prstGeom>
        </p:spPr>
        <p:txBody>
          <a:bodyPr wrap="square" lIns="0" tIns="12065" rIns="0" bIns="0" rtlCol="0" vert="horz">
            <a:spAutoFit/>
          </a:bodyPr>
          <a:lstStyle/>
          <a:p>
            <a:pPr algn="just" marL="12700">
              <a:lnSpc>
                <a:spcPct val="100000"/>
              </a:lnSpc>
              <a:spcBef>
                <a:spcPts val="95"/>
              </a:spcBef>
            </a:pPr>
            <a:r>
              <a:rPr dirty="0" sz="1100" spc="-10" b="1">
                <a:latin typeface="Arial"/>
                <a:cs typeface="Arial"/>
              </a:rPr>
              <a:t>ECONOMIC </a:t>
            </a:r>
            <a:r>
              <a:rPr dirty="0" sz="1100" spc="-5" b="1">
                <a:latin typeface="Arial"/>
                <a:cs typeface="Arial"/>
              </a:rPr>
              <a:t>MOTIVATIONS: TWO-GAP MODELS AND OTHER</a:t>
            </a:r>
            <a:r>
              <a:rPr dirty="0" sz="1100" spc="40" b="1">
                <a:latin typeface="Arial"/>
                <a:cs typeface="Arial"/>
              </a:rPr>
              <a:t> </a:t>
            </a:r>
            <a:r>
              <a:rPr dirty="0" sz="1100" spc="-5" b="1">
                <a:latin typeface="Arial"/>
                <a:cs typeface="Arial"/>
              </a:rPr>
              <a:t>CRITERIA</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Within the broad context of political and strategic priorities, foreign-aid programs of the  developed nations have had a strong economic rationale. This is especially true for Japan,  which directs most of its aid to neighboring Asian countries where it has substantial private  investments and expanding trade. Even though political motivation may have been of  paramount importance for other donors, the economic rationale was at least given lip service as  the overriding motivation for</a:t>
            </a:r>
            <a:r>
              <a:rPr dirty="0" sz="1100" spc="15">
                <a:latin typeface="Arial"/>
                <a:cs typeface="Arial"/>
              </a:rPr>
              <a:t> </a:t>
            </a:r>
            <a:r>
              <a:rPr dirty="0" sz="1100" spc="-5">
                <a:latin typeface="Arial"/>
                <a:cs typeface="Arial"/>
              </a:rPr>
              <a:t>assistance.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FOREIGN-EXCHANGE</a:t>
            </a:r>
            <a:r>
              <a:rPr dirty="0" sz="1100" b="1">
                <a:latin typeface="Arial"/>
                <a:cs typeface="Arial"/>
              </a:rPr>
              <a:t> </a:t>
            </a:r>
            <a:r>
              <a:rPr dirty="0" sz="1100" spc="-5" b="1">
                <a:latin typeface="Arial"/>
                <a:cs typeface="Arial"/>
              </a:rPr>
              <a:t>CONSTRAINTS</a:t>
            </a:r>
            <a:endParaRPr sz="1100">
              <a:latin typeface="Arial"/>
              <a:cs typeface="Arial"/>
            </a:endParaRPr>
          </a:p>
          <a:p>
            <a:pPr>
              <a:lnSpc>
                <a:spcPct val="100000"/>
              </a:lnSpc>
              <a:spcBef>
                <a:spcPts val="45"/>
              </a:spcBef>
            </a:pPr>
            <a:endParaRPr sz="1150">
              <a:latin typeface="Arial"/>
              <a:cs typeface="Arial"/>
            </a:endParaRPr>
          </a:p>
          <a:p>
            <a:pPr algn="just" marL="12700" marR="6350">
              <a:lnSpc>
                <a:spcPct val="95800"/>
              </a:lnSpc>
            </a:pPr>
            <a:r>
              <a:rPr dirty="0" sz="1100" spc="-5">
                <a:latin typeface="Arial"/>
                <a:cs typeface="Arial"/>
              </a:rPr>
              <a:t>External finance (both loans and grants) can play a critical role in supplementing domestic  resources in order to relieve savings or foreign-exchange bottlenecks. This is the so-called two-  gap analysis of foreign assistance. The basic argument of the two-gap model is that most  developing countries face either a shortage of domestic savings to match investment  opportunities or a shortage of foreign exchange to finance needed imports of capital and  intermediate goods. Basic two-gap and similar models assume that the savings gap (domestic  real resources) and the foreign-exchange gap are unequal in magnitude and that they are  essentially independent.</a:t>
            </a:r>
            <a:endParaRPr sz="1100">
              <a:latin typeface="Arial"/>
              <a:cs typeface="Arial"/>
            </a:endParaRPr>
          </a:p>
          <a:p>
            <a:pPr>
              <a:lnSpc>
                <a:spcPct val="100000"/>
              </a:lnSpc>
              <a:spcBef>
                <a:spcPts val="5"/>
              </a:spcBef>
            </a:pPr>
            <a:endParaRPr sz="1100">
              <a:latin typeface="Arial"/>
              <a:cs typeface="Arial"/>
            </a:endParaRPr>
          </a:p>
          <a:p>
            <a:pPr algn="just" marL="12700" marR="5715">
              <a:lnSpc>
                <a:spcPct val="95800"/>
              </a:lnSpc>
            </a:pPr>
            <a:r>
              <a:rPr dirty="0" sz="1100" spc="-5">
                <a:latin typeface="Arial"/>
                <a:cs typeface="Arial"/>
              </a:rPr>
              <a:t>The implication is that one of the two gaps will be “binding” for any developing economy at a  given point in time. If, for example, </a:t>
            </a:r>
            <a:r>
              <a:rPr dirty="0" sz="1100">
                <a:latin typeface="Arial"/>
                <a:cs typeface="Arial"/>
              </a:rPr>
              <a:t>the </a:t>
            </a:r>
            <a:r>
              <a:rPr dirty="0" sz="1100" spc="-5">
                <a:latin typeface="Arial"/>
                <a:cs typeface="Arial"/>
              </a:rPr>
              <a:t>savings gap is dominant, this would indicate that growth  is constrained by domestic investment. Foreign savings may be used as a supplement to  domestic savings. (However, decision-makers in a country with a shortage of savings may be  unable or unwilling to divert purchasing power from consumption goods to capital goods, either  bought domestically or </a:t>
            </a:r>
            <a:r>
              <a:rPr dirty="0" sz="1100">
                <a:latin typeface="Arial"/>
                <a:cs typeface="Arial"/>
              </a:rPr>
              <a:t>from </a:t>
            </a:r>
            <a:r>
              <a:rPr dirty="0" sz="1100" spc="-5">
                <a:latin typeface="Arial"/>
                <a:cs typeface="Arial"/>
              </a:rPr>
              <a:t>abroad. As a result, “excess” foreign exchange, including foreign  aid, might be spent on the importation of luxury consumption goods.) An outstanding example </a:t>
            </a:r>
            <a:r>
              <a:rPr dirty="0" sz="1100">
                <a:latin typeface="Arial"/>
                <a:cs typeface="Arial"/>
              </a:rPr>
              <a:t>of  </a:t>
            </a:r>
            <a:r>
              <a:rPr dirty="0" sz="1100" spc="-5">
                <a:latin typeface="Arial"/>
                <a:cs typeface="Arial"/>
              </a:rPr>
              <a:t>savings-gap nations would be the Arab oil exporters during the</a:t>
            </a:r>
            <a:r>
              <a:rPr dirty="0" sz="1100" spc="65">
                <a:latin typeface="Arial"/>
                <a:cs typeface="Arial"/>
              </a:rPr>
              <a:t> </a:t>
            </a:r>
            <a:r>
              <a:rPr dirty="0" sz="1100" spc="-5">
                <a:latin typeface="Arial"/>
                <a:cs typeface="Arial"/>
              </a:rPr>
              <a:t>1970s.</a:t>
            </a:r>
            <a:endParaRPr sz="1100">
              <a:latin typeface="Arial"/>
              <a:cs typeface="Arial"/>
            </a:endParaRPr>
          </a:p>
          <a:p>
            <a:pPr>
              <a:lnSpc>
                <a:spcPct val="100000"/>
              </a:lnSpc>
            </a:pPr>
            <a:endParaRPr sz="1200">
              <a:latin typeface="Arial"/>
              <a:cs typeface="Arial"/>
            </a:endParaRPr>
          </a:p>
          <a:p>
            <a:pPr algn="just" marL="469900" marR="6985" indent="-228600">
              <a:lnSpc>
                <a:spcPts val="1260"/>
              </a:lnSpc>
              <a:buFont typeface="Symbol"/>
              <a:buChar char=""/>
              <a:tabLst>
                <a:tab pos="470534" algn="l"/>
              </a:tabLst>
            </a:pPr>
            <a:r>
              <a:rPr dirty="0" sz="1100" b="1">
                <a:latin typeface="Arial"/>
                <a:cs typeface="Arial"/>
              </a:rPr>
              <a:t>Two-gap </a:t>
            </a:r>
            <a:r>
              <a:rPr dirty="0" sz="1100" spc="-5" b="1">
                <a:latin typeface="Arial"/>
                <a:cs typeface="Arial"/>
              </a:rPr>
              <a:t>model: </a:t>
            </a:r>
            <a:r>
              <a:rPr dirty="0" sz="1100" spc="-5">
                <a:latin typeface="Arial"/>
                <a:cs typeface="Arial"/>
              </a:rPr>
              <a:t>A model of foreign aid comparing savings and foreign-exchange gaps  to determine which is the binding constraint on economic</a:t>
            </a:r>
            <a:r>
              <a:rPr dirty="0" sz="1100" spc="55">
                <a:latin typeface="Arial"/>
                <a:cs typeface="Arial"/>
              </a:rPr>
              <a:t> </a:t>
            </a:r>
            <a:r>
              <a:rPr dirty="0" sz="1100" spc="-5">
                <a:latin typeface="Arial"/>
                <a:cs typeface="Arial"/>
              </a:rPr>
              <a:t>growth.</a:t>
            </a:r>
            <a:endParaRPr sz="1100">
              <a:latin typeface="Arial"/>
              <a:cs typeface="Arial"/>
            </a:endParaRPr>
          </a:p>
          <a:p>
            <a:pPr algn="just" marL="469900" marR="6985" indent="-228600">
              <a:lnSpc>
                <a:spcPts val="1260"/>
              </a:lnSpc>
              <a:spcBef>
                <a:spcPts val="85"/>
              </a:spcBef>
              <a:buFont typeface="Symbol"/>
              <a:buChar char=""/>
              <a:tabLst>
                <a:tab pos="470534" algn="l"/>
              </a:tabLst>
            </a:pPr>
            <a:r>
              <a:rPr dirty="0" sz="1100" spc="-5" b="1">
                <a:latin typeface="Arial"/>
                <a:cs typeface="Arial"/>
              </a:rPr>
              <a:t>Savings gap: </a:t>
            </a:r>
            <a:r>
              <a:rPr dirty="0" sz="1100" spc="-5">
                <a:latin typeface="Arial"/>
                <a:cs typeface="Arial"/>
              </a:rPr>
              <a:t>The excess of domestic investment opportunities over domestic savings,  causing investments to be limited by the available foreign</a:t>
            </a:r>
            <a:r>
              <a:rPr dirty="0" sz="1100" spc="65">
                <a:latin typeface="Arial"/>
                <a:cs typeface="Arial"/>
              </a:rPr>
              <a:t> </a:t>
            </a:r>
            <a:r>
              <a:rPr dirty="0" sz="1100" spc="-5">
                <a:latin typeface="Arial"/>
                <a:cs typeface="Arial"/>
              </a:rPr>
              <a:t>exchange.</a:t>
            </a:r>
            <a:endParaRPr sz="1100">
              <a:latin typeface="Arial"/>
              <a:cs typeface="Arial"/>
            </a:endParaRPr>
          </a:p>
          <a:p>
            <a:pPr algn="just" marL="469900" marR="5080" indent="-228600">
              <a:lnSpc>
                <a:spcPct val="95700"/>
              </a:lnSpc>
              <a:spcBef>
                <a:spcPts val="50"/>
              </a:spcBef>
              <a:buFont typeface="Symbol"/>
              <a:buChar char=""/>
              <a:tabLst>
                <a:tab pos="469900" algn="l"/>
              </a:tabLst>
            </a:pPr>
            <a:r>
              <a:rPr dirty="0" sz="1100" spc="-5" b="1">
                <a:latin typeface="Arial"/>
                <a:cs typeface="Arial"/>
              </a:rPr>
              <a:t>Foreign-exchange gap: </a:t>
            </a:r>
            <a:r>
              <a:rPr dirty="0" sz="1100" spc="-5">
                <a:latin typeface="Arial"/>
                <a:cs typeface="Arial"/>
              </a:rPr>
              <a:t>The shortfall that results when the planned trade deficit  exceeds the value of capital inflows, causing output growth to be limited by the available  foreign exchange for capital goods</a:t>
            </a:r>
            <a:r>
              <a:rPr dirty="0" sz="1100" spc="15">
                <a:latin typeface="Arial"/>
                <a:cs typeface="Arial"/>
              </a:rPr>
              <a:t> </a:t>
            </a:r>
            <a:r>
              <a:rPr dirty="0" sz="1100" spc="-5">
                <a:latin typeface="Arial"/>
                <a:cs typeface="Arial"/>
              </a:rPr>
              <a:t>imports.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When the foreign-exchange gap is binding, a developing economy has excess productive  resources (mostly labor), and all available foreign exchange is being used for imports. The  existence of complementary domestic resources would permit them to undertake new  investment projects if they had the external finance to import new capital goods and associated  technical assistance. Foreign aid can therefore play a critical role in overcoming </a:t>
            </a:r>
            <a:r>
              <a:rPr dirty="0" sz="1100">
                <a:latin typeface="Arial"/>
                <a:cs typeface="Arial"/>
              </a:rPr>
              <a:t>the </a:t>
            </a:r>
            <a:r>
              <a:rPr dirty="0" sz="1100" spc="-5">
                <a:latin typeface="Arial"/>
                <a:cs typeface="Arial"/>
              </a:rPr>
              <a:t>foreign  exchange constraint and raising the real rate of economic</a:t>
            </a:r>
            <a:r>
              <a:rPr dirty="0" sz="1100" spc="45">
                <a:latin typeface="Arial"/>
                <a:cs typeface="Arial"/>
              </a:rPr>
              <a:t> </a:t>
            </a:r>
            <a:r>
              <a:rPr dirty="0" sz="1100" spc="-5">
                <a:latin typeface="Arial"/>
                <a:cs typeface="Arial"/>
              </a:rPr>
              <a:t>growth.</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Algebraically, the simple two-gap model can be formulated as</a:t>
            </a:r>
            <a:r>
              <a:rPr dirty="0" sz="1100" spc="55" b="1">
                <a:latin typeface="Arial"/>
                <a:cs typeface="Arial"/>
              </a:rPr>
              <a:t> </a:t>
            </a:r>
            <a:r>
              <a:rPr dirty="0" sz="1100" b="1">
                <a:latin typeface="Arial"/>
                <a:cs typeface="Arial"/>
              </a:rPr>
              <a:t>follows:</a:t>
            </a:r>
            <a:endParaRPr sz="1100">
              <a:latin typeface="Arial"/>
              <a:cs typeface="Arial"/>
            </a:endParaRPr>
          </a:p>
          <a:p>
            <a:pPr>
              <a:lnSpc>
                <a:spcPct val="100000"/>
              </a:lnSpc>
              <a:spcBef>
                <a:spcPts val="25"/>
              </a:spcBef>
            </a:pPr>
            <a:endParaRPr sz="1100">
              <a:latin typeface="Arial"/>
              <a:cs typeface="Arial"/>
            </a:endParaRPr>
          </a:p>
          <a:p>
            <a:pPr algn="just" marL="469265" marR="6985" indent="-228600">
              <a:lnSpc>
                <a:spcPts val="1270"/>
              </a:lnSpc>
            </a:pPr>
            <a:r>
              <a:rPr dirty="0" sz="1100" spc="-5" b="1">
                <a:latin typeface="Arial"/>
                <a:cs typeface="Arial"/>
              </a:rPr>
              <a:t>1. </a:t>
            </a:r>
            <a:r>
              <a:rPr dirty="0" sz="1100" spc="-5">
                <a:latin typeface="Arial"/>
                <a:cs typeface="Arial"/>
              </a:rPr>
              <a:t>The savings constraint or gap. Starting with the identity that capital inflows (the  difference between imports and exports) add to investible resources (domestic savings),  the savings-investment restriction can be written</a:t>
            </a:r>
            <a:r>
              <a:rPr dirty="0" sz="1100" spc="25">
                <a:latin typeface="Arial"/>
                <a:cs typeface="Arial"/>
              </a:rPr>
              <a:t> </a:t>
            </a:r>
            <a:r>
              <a:rPr dirty="0" sz="1100" spc="-5">
                <a:latin typeface="Arial"/>
                <a:cs typeface="Arial"/>
              </a:rPr>
              <a:t>as</a:t>
            </a:r>
            <a:endParaRPr sz="1100">
              <a:latin typeface="Arial"/>
              <a:cs typeface="Arial"/>
            </a:endParaRPr>
          </a:p>
          <a:p>
            <a:pPr algn="ctr" marL="819785">
              <a:lnSpc>
                <a:spcPct val="100000"/>
              </a:lnSpc>
              <a:spcBef>
                <a:spcPts val="520"/>
              </a:spcBef>
            </a:pPr>
            <a:r>
              <a:rPr dirty="0" sz="1100" spc="-5">
                <a:latin typeface="Arial"/>
                <a:cs typeface="Arial"/>
              </a:rPr>
              <a:t>(14.1)</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312</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p:nvPr/>
        </p:nvSpPr>
        <p:spPr>
          <a:xfrm>
            <a:off x="914400" y="2037588"/>
            <a:ext cx="1918715" cy="190500"/>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901700" y="891794"/>
            <a:ext cx="5970270" cy="8152765"/>
          </a:xfrm>
          <a:prstGeom prst="rect">
            <a:avLst/>
          </a:prstGeom>
        </p:spPr>
        <p:txBody>
          <a:bodyPr wrap="square" lIns="0" tIns="22860" rIns="0" bIns="0" rtlCol="0" vert="horz">
            <a:spAutoFit/>
          </a:bodyPr>
          <a:lstStyle/>
          <a:p>
            <a:pPr algn="just" marL="12700" marR="5080">
              <a:lnSpc>
                <a:spcPts val="1270"/>
              </a:lnSpc>
              <a:spcBef>
                <a:spcPts val="180"/>
              </a:spcBef>
            </a:pPr>
            <a:r>
              <a:rPr dirty="0" sz="1100" spc="-5">
                <a:latin typeface="Arial"/>
                <a:cs typeface="Arial"/>
              </a:rPr>
              <a:t>Where, F is the amount of capital inflows. If capital inflows, F, plus domestic saving, sY,  exceeds domestic investment, I, and the economy is at full capacity, a savings gap is said to  exist.</a:t>
            </a:r>
            <a:endParaRPr sz="1100">
              <a:latin typeface="Arial"/>
              <a:cs typeface="Arial"/>
            </a:endParaRPr>
          </a:p>
          <a:p>
            <a:pPr algn="just" marL="240665">
              <a:lnSpc>
                <a:spcPts val="1190"/>
              </a:lnSpc>
            </a:pPr>
            <a:r>
              <a:rPr dirty="0" sz="1100" spc="-5" b="1">
                <a:latin typeface="Arial"/>
                <a:cs typeface="Arial"/>
              </a:rPr>
              <a:t>2. </a:t>
            </a:r>
            <a:r>
              <a:rPr dirty="0" sz="1100" spc="-5">
                <a:latin typeface="Arial"/>
                <a:cs typeface="Arial"/>
              </a:rPr>
              <a:t>The</a:t>
            </a:r>
            <a:r>
              <a:rPr dirty="0" sz="1100" spc="225">
                <a:latin typeface="Arial"/>
                <a:cs typeface="Arial"/>
              </a:rPr>
              <a:t> </a:t>
            </a:r>
            <a:r>
              <a:rPr dirty="0" sz="1100" spc="-5">
                <a:latin typeface="Arial"/>
                <a:cs typeface="Arial"/>
              </a:rPr>
              <a:t>foreign-exchange</a:t>
            </a:r>
            <a:r>
              <a:rPr dirty="0" sz="1100" spc="225">
                <a:latin typeface="Arial"/>
                <a:cs typeface="Arial"/>
              </a:rPr>
              <a:t> </a:t>
            </a:r>
            <a:r>
              <a:rPr dirty="0" sz="1100" spc="-5">
                <a:latin typeface="Arial"/>
                <a:cs typeface="Arial"/>
              </a:rPr>
              <a:t>constraint</a:t>
            </a:r>
            <a:r>
              <a:rPr dirty="0" sz="1100" spc="225">
                <a:latin typeface="Arial"/>
                <a:cs typeface="Arial"/>
              </a:rPr>
              <a:t> </a:t>
            </a:r>
            <a:r>
              <a:rPr dirty="0" sz="1100" spc="-5">
                <a:latin typeface="Arial"/>
                <a:cs typeface="Arial"/>
              </a:rPr>
              <a:t>or</a:t>
            </a:r>
            <a:r>
              <a:rPr dirty="0" sz="1100" spc="220">
                <a:latin typeface="Arial"/>
                <a:cs typeface="Arial"/>
              </a:rPr>
              <a:t> </a:t>
            </a:r>
            <a:r>
              <a:rPr dirty="0" sz="1100" spc="-5">
                <a:latin typeface="Arial"/>
                <a:cs typeface="Arial"/>
              </a:rPr>
              <a:t>gap.</a:t>
            </a:r>
            <a:r>
              <a:rPr dirty="0" sz="1100" spc="225">
                <a:latin typeface="Arial"/>
                <a:cs typeface="Arial"/>
              </a:rPr>
              <a:t> </a:t>
            </a:r>
            <a:r>
              <a:rPr dirty="0" sz="1100" spc="-5">
                <a:latin typeface="Arial"/>
                <a:cs typeface="Arial"/>
              </a:rPr>
              <a:t>If</a:t>
            </a:r>
            <a:r>
              <a:rPr dirty="0" sz="1100" spc="225">
                <a:latin typeface="Arial"/>
                <a:cs typeface="Arial"/>
              </a:rPr>
              <a:t> </a:t>
            </a:r>
            <a:r>
              <a:rPr dirty="0" sz="1100" spc="-5">
                <a:latin typeface="Arial"/>
                <a:cs typeface="Arial"/>
              </a:rPr>
              <a:t>investment</a:t>
            </a:r>
            <a:r>
              <a:rPr dirty="0" sz="1100" spc="225">
                <a:latin typeface="Arial"/>
                <a:cs typeface="Arial"/>
              </a:rPr>
              <a:t> </a:t>
            </a:r>
            <a:r>
              <a:rPr dirty="0" sz="1100" spc="-5">
                <a:latin typeface="Arial"/>
                <a:cs typeface="Arial"/>
              </a:rPr>
              <a:t>in</a:t>
            </a:r>
            <a:r>
              <a:rPr dirty="0" sz="1100" spc="225">
                <a:latin typeface="Arial"/>
                <a:cs typeface="Arial"/>
              </a:rPr>
              <a:t> </a:t>
            </a:r>
            <a:r>
              <a:rPr dirty="0" sz="1100" spc="-5">
                <a:latin typeface="Arial"/>
                <a:cs typeface="Arial"/>
              </a:rPr>
              <a:t>a</a:t>
            </a:r>
            <a:r>
              <a:rPr dirty="0" sz="1100" spc="225">
                <a:latin typeface="Arial"/>
                <a:cs typeface="Arial"/>
              </a:rPr>
              <a:t> </a:t>
            </a:r>
            <a:r>
              <a:rPr dirty="0" sz="1100" spc="-5">
                <a:latin typeface="Arial"/>
                <a:cs typeface="Arial"/>
              </a:rPr>
              <a:t>developing</a:t>
            </a:r>
            <a:r>
              <a:rPr dirty="0" sz="1100" spc="220">
                <a:latin typeface="Arial"/>
                <a:cs typeface="Arial"/>
              </a:rPr>
              <a:t> </a:t>
            </a:r>
            <a:r>
              <a:rPr dirty="0" sz="1100" spc="-5">
                <a:latin typeface="Arial"/>
                <a:cs typeface="Arial"/>
              </a:rPr>
              <a:t>country</a:t>
            </a:r>
            <a:r>
              <a:rPr dirty="0" sz="1100" spc="225">
                <a:latin typeface="Arial"/>
                <a:cs typeface="Arial"/>
              </a:rPr>
              <a:t> </a:t>
            </a:r>
            <a:r>
              <a:rPr dirty="0" sz="1100" spc="-5">
                <a:latin typeface="Arial"/>
                <a:cs typeface="Arial"/>
              </a:rPr>
              <a:t>has</a:t>
            </a:r>
            <a:r>
              <a:rPr dirty="0" sz="1100" spc="225">
                <a:latin typeface="Arial"/>
                <a:cs typeface="Arial"/>
              </a:rPr>
              <a:t> </a:t>
            </a:r>
            <a:r>
              <a:rPr dirty="0" sz="1100" spc="-5">
                <a:latin typeface="Arial"/>
                <a:cs typeface="Arial"/>
              </a:rPr>
              <a:t>a</a:t>
            </a:r>
            <a:endParaRPr sz="1100">
              <a:latin typeface="Arial"/>
              <a:cs typeface="Arial"/>
            </a:endParaRPr>
          </a:p>
          <a:p>
            <a:pPr algn="just" marL="469265" marR="6350">
              <a:lnSpc>
                <a:spcPts val="1270"/>
              </a:lnSpc>
              <a:spcBef>
                <a:spcPts val="55"/>
              </a:spcBef>
            </a:pPr>
            <a:r>
              <a:rPr dirty="0" sz="1100" spc="-5">
                <a:latin typeface="Arial"/>
                <a:cs typeface="Arial"/>
              </a:rPr>
              <a:t>marginal import share m1 (typically ranging </a:t>
            </a:r>
            <a:r>
              <a:rPr dirty="0" sz="1100">
                <a:latin typeface="Arial"/>
                <a:cs typeface="Arial"/>
              </a:rPr>
              <a:t>from </a:t>
            </a:r>
            <a:r>
              <a:rPr dirty="0" sz="1100" spc="-5">
                <a:latin typeface="Arial"/>
                <a:cs typeface="Arial"/>
              </a:rPr>
              <a:t>30% </a:t>
            </a:r>
            <a:r>
              <a:rPr dirty="0" sz="1100">
                <a:latin typeface="Arial"/>
                <a:cs typeface="Arial"/>
              </a:rPr>
              <a:t>to </a:t>
            </a:r>
            <a:r>
              <a:rPr dirty="0" sz="1100" spc="-5">
                <a:latin typeface="Arial"/>
                <a:cs typeface="Arial"/>
              </a:rPr>
              <a:t>60%) and the marginal  propensity to import out of a unit of non-investment GNI (usually around 10% to 15%) is  given by the parameter m2, the foreign exchange constraint or gap can be written</a:t>
            </a:r>
            <a:r>
              <a:rPr dirty="0" sz="1100" spc="170">
                <a:latin typeface="Arial"/>
                <a:cs typeface="Arial"/>
              </a:rPr>
              <a:t> </a:t>
            </a:r>
            <a:r>
              <a:rPr dirty="0" sz="1100" spc="-5">
                <a:latin typeface="Arial"/>
                <a:cs typeface="Arial"/>
              </a:rPr>
              <a:t>as</a:t>
            </a:r>
            <a:endParaRPr sz="1100">
              <a:latin typeface="Arial"/>
              <a:cs typeface="Arial"/>
            </a:endParaRPr>
          </a:p>
          <a:p>
            <a:pPr marL="3670300">
              <a:lnSpc>
                <a:spcPct val="100000"/>
              </a:lnSpc>
              <a:spcBef>
                <a:spcPts val="375"/>
              </a:spcBef>
            </a:pPr>
            <a:r>
              <a:rPr dirty="0" sz="1100" spc="-5">
                <a:latin typeface="Arial"/>
                <a:cs typeface="Arial"/>
              </a:rPr>
              <a:t>(14.2)</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pPr>
            <a:r>
              <a:rPr dirty="0" sz="1100" spc="-5">
                <a:latin typeface="Arial"/>
                <a:cs typeface="Arial"/>
              </a:rPr>
              <a:t>Where, E is the exogenous level of exports. The term F enters both inequality constraints and  becomes the critical factor in the analysis. If F, E, and Y are initially assigned an exogenous  current value, only one of the two inequalities will prove binding; that is, investment (and  therefore the output growth rate) will be constrained to a lower level by one of the inequalities.  Countries can therefore be classified according to whether the savings or foreign-exchange  constraint is binding. More important from the viewpoint of foreign-aid analysis is the  observation that the impact of increased capital inflows will be greater where the foreign-  exchange gap (Equation 14.2) rather than the savings gap (Equation 14.1) is binding. Two-gap  models have been used to provide rough estimates of the relative impact of foreign aid on  investment and growth in developing</a:t>
            </a:r>
            <a:r>
              <a:rPr dirty="0" sz="1100" spc="20">
                <a:latin typeface="Arial"/>
                <a:cs typeface="Arial"/>
              </a:rPr>
              <a:t> </a:t>
            </a:r>
            <a:r>
              <a:rPr dirty="0" sz="1100" spc="-5">
                <a:latin typeface="Arial"/>
                <a:cs typeface="Arial"/>
              </a:rPr>
              <a:t>nations.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The problem is that such gap forecasts are very mechanistic and are themselves constrained by  the necessity of </a:t>
            </a:r>
            <a:r>
              <a:rPr dirty="0" sz="1100">
                <a:latin typeface="Arial"/>
                <a:cs typeface="Arial"/>
              </a:rPr>
              <a:t>fixing </a:t>
            </a:r>
            <a:r>
              <a:rPr dirty="0" sz="1100" spc="-5">
                <a:latin typeface="Arial"/>
                <a:cs typeface="Arial"/>
              </a:rPr>
              <a:t>import parameters and assigning exogenous values to exports and net  capital inflows. In the </a:t>
            </a:r>
            <a:r>
              <a:rPr dirty="0" sz="1100">
                <a:latin typeface="Arial"/>
                <a:cs typeface="Arial"/>
              </a:rPr>
              <a:t>case </a:t>
            </a:r>
            <a:r>
              <a:rPr dirty="0" sz="1100" spc="-5">
                <a:latin typeface="Arial"/>
                <a:cs typeface="Arial"/>
              </a:rPr>
              <a:t>of exports, this is particularly constricting because a liberalization of  trade relations between the developed and the developing world would contribute more toward  relieving foreign-exchange gaps than foreign aid. Although E and F are substitutable in Equation  14.2, they can have quite different indirect effects, especially in the case where F represents  interest-bearing loans that need to be</a:t>
            </a:r>
            <a:r>
              <a:rPr dirty="0" sz="1100" spc="25">
                <a:latin typeface="Arial"/>
                <a:cs typeface="Arial"/>
              </a:rPr>
              <a:t> </a:t>
            </a:r>
            <a:r>
              <a:rPr dirty="0" sz="1100" spc="-5">
                <a:latin typeface="Arial"/>
                <a:cs typeface="Arial"/>
              </a:rPr>
              <a:t>repaid.</a:t>
            </a:r>
            <a:endParaRPr sz="1100">
              <a:latin typeface="Arial"/>
              <a:cs typeface="Arial"/>
            </a:endParaRPr>
          </a:p>
          <a:p>
            <a:pPr>
              <a:lnSpc>
                <a:spcPct val="100000"/>
              </a:lnSpc>
            </a:pPr>
            <a:endParaRPr sz="1100">
              <a:latin typeface="Arial"/>
              <a:cs typeface="Arial"/>
            </a:endParaRPr>
          </a:p>
          <a:p>
            <a:pPr algn="just" marL="12700" marR="6350">
              <a:lnSpc>
                <a:spcPct val="95800"/>
              </a:lnSpc>
            </a:pPr>
            <a:r>
              <a:rPr dirty="0" sz="1100" spc="-5">
                <a:latin typeface="Arial"/>
                <a:cs typeface="Arial"/>
              </a:rPr>
              <a:t>Thus the alteration of import </a:t>
            </a:r>
            <a:r>
              <a:rPr dirty="0" sz="1100">
                <a:latin typeface="Arial"/>
                <a:cs typeface="Arial"/>
              </a:rPr>
              <a:t>and </a:t>
            </a:r>
            <a:r>
              <a:rPr dirty="0" sz="1100" spc="-5">
                <a:latin typeface="Arial"/>
                <a:cs typeface="Arial"/>
              </a:rPr>
              <a:t>export parameters through government </a:t>
            </a:r>
            <a:r>
              <a:rPr dirty="0" sz="1100">
                <a:latin typeface="Arial"/>
                <a:cs typeface="Arial"/>
              </a:rPr>
              <a:t>policy </a:t>
            </a:r>
            <a:r>
              <a:rPr dirty="0" sz="1100" spc="-5">
                <a:latin typeface="Arial"/>
                <a:cs typeface="Arial"/>
              </a:rPr>
              <a:t>in both  developed and developing countries can have a deep impact on whether the savings or foreign-  exchange constraint is restricting the further growth of national output. A third, “fiscal” gap may  also be important, because domestic savings availability for investment and foreign exchange  availability for capital goods imports may </a:t>
            </a:r>
            <a:r>
              <a:rPr dirty="0" sz="1100">
                <a:latin typeface="Arial"/>
                <a:cs typeface="Arial"/>
              </a:rPr>
              <a:t>have </a:t>
            </a:r>
            <a:r>
              <a:rPr dirty="0" sz="1100" spc="-5">
                <a:latin typeface="Arial"/>
                <a:cs typeface="Arial"/>
              </a:rPr>
              <a:t>little impact on private sector investment and  growth without complementary </a:t>
            </a:r>
            <a:r>
              <a:rPr dirty="0" sz="1100">
                <a:latin typeface="Arial"/>
                <a:cs typeface="Arial"/>
              </a:rPr>
              <a:t>public </a:t>
            </a:r>
            <a:r>
              <a:rPr dirty="0" sz="1100" spc="-5">
                <a:latin typeface="Arial"/>
                <a:cs typeface="Arial"/>
              </a:rPr>
              <a:t>investments in roads and other forms of infrastructure, or  in human capital. Three gap models have </a:t>
            </a:r>
            <a:r>
              <a:rPr dirty="0" sz="1100">
                <a:latin typeface="Arial"/>
                <a:cs typeface="Arial"/>
              </a:rPr>
              <a:t>been </a:t>
            </a:r>
            <a:r>
              <a:rPr dirty="0" sz="1100" spc="-5">
                <a:latin typeface="Arial"/>
                <a:cs typeface="Arial"/>
              </a:rPr>
              <a:t>used to account for this in understanding why  growth has commonly </a:t>
            </a:r>
            <a:r>
              <a:rPr dirty="0" sz="1100">
                <a:latin typeface="Arial"/>
                <a:cs typeface="Arial"/>
              </a:rPr>
              <a:t>failed </a:t>
            </a:r>
            <a:r>
              <a:rPr dirty="0" sz="1100" spc="-5">
                <a:latin typeface="Arial"/>
                <a:cs typeface="Arial"/>
              </a:rPr>
              <a:t>to pick up during structural</a:t>
            </a:r>
            <a:r>
              <a:rPr dirty="0" sz="1100" spc="45">
                <a:latin typeface="Arial"/>
                <a:cs typeface="Arial"/>
              </a:rPr>
              <a:t> </a:t>
            </a:r>
            <a:r>
              <a:rPr dirty="0" sz="1100" spc="-5">
                <a:latin typeface="Arial"/>
                <a:cs typeface="Arial"/>
              </a:rPr>
              <a:t>adjustment.</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GROWTH AND</a:t>
            </a:r>
            <a:r>
              <a:rPr dirty="0" sz="1100" b="1">
                <a:latin typeface="Arial"/>
                <a:cs typeface="Arial"/>
              </a:rPr>
              <a:t> </a:t>
            </a:r>
            <a:r>
              <a:rPr dirty="0" sz="1100" spc="-5" b="1">
                <a:latin typeface="Arial"/>
                <a:cs typeface="Arial"/>
              </a:rPr>
              <a:t>SAVINGS</a:t>
            </a:r>
            <a:endParaRPr sz="1100">
              <a:latin typeface="Arial"/>
              <a:cs typeface="Arial"/>
            </a:endParaRPr>
          </a:p>
          <a:p>
            <a:pPr>
              <a:lnSpc>
                <a:spcPct val="100000"/>
              </a:lnSpc>
              <a:spcBef>
                <a:spcPts val="55"/>
              </a:spcBef>
            </a:pPr>
            <a:endParaRPr sz="1150">
              <a:latin typeface="Arial"/>
              <a:cs typeface="Arial"/>
            </a:endParaRPr>
          </a:p>
          <a:p>
            <a:pPr algn="just" marL="12700" marR="5080">
              <a:lnSpc>
                <a:spcPct val="95800"/>
              </a:lnSpc>
            </a:pPr>
            <a:r>
              <a:rPr dirty="0" sz="1100" spc="-5">
                <a:latin typeface="Arial"/>
                <a:cs typeface="Arial"/>
              </a:rPr>
              <a:t>External assistance is also assumed to facilitate and accelerate the process of development by  generating additional domestic savings as a result of the higher growth rates that it is presumed  to induce. Eventually, it is hoped, the need for concessional aid will disappear as local  resources become sufficient to make development self-sustaining. In reality, </a:t>
            </a:r>
            <a:r>
              <a:rPr dirty="0" sz="1100">
                <a:latin typeface="Arial"/>
                <a:cs typeface="Arial"/>
              </a:rPr>
              <a:t>much </a:t>
            </a:r>
            <a:r>
              <a:rPr dirty="0" sz="1100" spc="-5">
                <a:latin typeface="Arial"/>
                <a:cs typeface="Arial"/>
              </a:rPr>
              <a:t>aid is not  invested, and if it is, the productivity of that investment is often very low. However, among </a:t>
            </a:r>
            <a:r>
              <a:rPr dirty="0" sz="1100">
                <a:latin typeface="Arial"/>
                <a:cs typeface="Arial"/>
              </a:rPr>
              <a:t>the  </a:t>
            </a:r>
            <a:r>
              <a:rPr dirty="0" sz="1100" spc="-5">
                <a:latin typeface="Arial"/>
                <a:cs typeface="Arial"/>
              </a:rPr>
              <a:t>main reasons for this are the very “strings” attached to foreign</a:t>
            </a:r>
            <a:r>
              <a:rPr dirty="0" sz="1100" spc="60">
                <a:latin typeface="Arial"/>
                <a:cs typeface="Arial"/>
              </a:rPr>
              <a:t> </a:t>
            </a:r>
            <a:r>
              <a:rPr dirty="0" sz="1100" spc="-5">
                <a:latin typeface="Arial"/>
                <a:cs typeface="Arial"/>
              </a:rPr>
              <a:t>aid.</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TECHNICAL </a:t>
            </a:r>
            <a:r>
              <a:rPr dirty="0" sz="1100" spc="-10" b="1">
                <a:latin typeface="Arial"/>
                <a:cs typeface="Arial"/>
              </a:rPr>
              <a:t>ASSISTANCE</a:t>
            </a:r>
            <a:endParaRPr sz="1100">
              <a:latin typeface="Arial"/>
              <a:cs typeface="Arial"/>
            </a:endParaRPr>
          </a:p>
          <a:p>
            <a:pPr>
              <a:lnSpc>
                <a:spcPct val="100000"/>
              </a:lnSpc>
              <a:spcBef>
                <a:spcPts val="30"/>
              </a:spcBef>
            </a:pPr>
            <a:endParaRPr sz="1200">
              <a:latin typeface="Arial"/>
              <a:cs typeface="Arial"/>
            </a:endParaRPr>
          </a:p>
          <a:p>
            <a:pPr algn="just" marL="12700" marR="5080">
              <a:lnSpc>
                <a:spcPts val="1260"/>
              </a:lnSpc>
            </a:pPr>
            <a:r>
              <a:rPr dirty="0" sz="1100" spc="-5">
                <a:latin typeface="Arial"/>
                <a:cs typeface="Arial"/>
              </a:rPr>
              <a:t>Financial assistance needs to be supplemented by technical assistance in the form </a:t>
            </a:r>
            <a:r>
              <a:rPr dirty="0" sz="1100">
                <a:latin typeface="Arial"/>
                <a:cs typeface="Arial"/>
              </a:rPr>
              <a:t>of </a:t>
            </a:r>
            <a:r>
              <a:rPr dirty="0" sz="1100" spc="-5">
                <a:latin typeface="Arial"/>
                <a:cs typeface="Arial"/>
              </a:rPr>
              <a:t>high-level  worker</a:t>
            </a:r>
            <a:r>
              <a:rPr dirty="0" sz="1100" spc="20">
                <a:latin typeface="Arial"/>
                <a:cs typeface="Arial"/>
              </a:rPr>
              <a:t> </a:t>
            </a:r>
            <a:r>
              <a:rPr dirty="0" sz="1100" spc="-5">
                <a:latin typeface="Arial"/>
                <a:cs typeface="Arial"/>
              </a:rPr>
              <a:t>transfers</a:t>
            </a:r>
            <a:r>
              <a:rPr dirty="0" sz="1100" spc="25">
                <a:latin typeface="Arial"/>
                <a:cs typeface="Arial"/>
              </a:rPr>
              <a:t> </a:t>
            </a:r>
            <a:r>
              <a:rPr dirty="0" sz="1100" spc="-5">
                <a:latin typeface="Arial"/>
                <a:cs typeface="Arial"/>
              </a:rPr>
              <a:t>to</a:t>
            </a:r>
            <a:r>
              <a:rPr dirty="0" sz="1100" spc="25">
                <a:latin typeface="Arial"/>
                <a:cs typeface="Arial"/>
              </a:rPr>
              <a:t> </a:t>
            </a:r>
            <a:r>
              <a:rPr dirty="0" sz="1100" spc="-5">
                <a:latin typeface="Arial"/>
                <a:cs typeface="Arial"/>
              </a:rPr>
              <a:t>ensure</a:t>
            </a:r>
            <a:r>
              <a:rPr dirty="0" sz="1100" spc="20">
                <a:latin typeface="Arial"/>
                <a:cs typeface="Arial"/>
              </a:rPr>
              <a:t> </a:t>
            </a:r>
            <a:r>
              <a:rPr dirty="0" sz="1100" spc="-5">
                <a:latin typeface="Arial"/>
                <a:cs typeface="Arial"/>
              </a:rPr>
              <a:t>that</a:t>
            </a:r>
            <a:r>
              <a:rPr dirty="0" sz="1100" spc="25">
                <a:latin typeface="Arial"/>
                <a:cs typeface="Arial"/>
              </a:rPr>
              <a:t> </a:t>
            </a:r>
            <a:r>
              <a:rPr dirty="0" sz="1100" spc="-5">
                <a:latin typeface="Arial"/>
                <a:cs typeface="Arial"/>
              </a:rPr>
              <a:t>aid</a:t>
            </a:r>
            <a:r>
              <a:rPr dirty="0" sz="1100" spc="20">
                <a:latin typeface="Arial"/>
                <a:cs typeface="Arial"/>
              </a:rPr>
              <a:t> </a:t>
            </a:r>
            <a:r>
              <a:rPr dirty="0" sz="1100" spc="-5">
                <a:latin typeface="Arial"/>
                <a:cs typeface="Arial"/>
              </a:rPr>
              <a:t>funds</a:t>
            </a:r>
            <a:r>
              <a:rPr dirty="0" sz="1100" spc="25">
                <a:latin typeface="Arial"/>
                <a:cs typeface="Arial"/>
              </a:rPr>
              <a:t> </a:t>
            </a:r>
            <a:r>
              <a:rPr dirty="0" sz="1100" spc="-5">
                <a:latin typeface="Arial"/>
                <a:cs typeface="Arial"/>
              </a:rPr>
              <a:t>are</a:t>
            </a:r>
            <a:r>
              <a:rPr dirty="0" sz="1100" spc="20">
                <a:latin typeface="Arial"/>
                <a:cs typeface="Arial"/>
              </a:rPr>
              <a:t> </a:t>
            </a:r>
            <a:r>
              <a:rPr dirty="0" sz="1100" spc="-5">
                <a:latin typeface="Arial"/>
                <a:cs typeface="Arial"/>
              </a:rPr>
              <a:t>used</a:t>
            </a:r>
            <a:r>
              <a:rPr dirty="0" sz="1100" spc="25">
                <a:latin typeface="Arial"/>
                <a:cs typeface="Arial"/>
              </a:rPr>
              <a:t> </a:t>
            </a:r>
            <a:r>
              <a:rPr dirty="0" sz="1100" spc="-5">
                <a:latin typeface="Arial"/>
                <a:cs typeface="Arial"/>
              </a:rPr>
              <a:t>most</a:t>
            </a:r>
            <a:r>
              <a:rPr dirty="0" sz="1100" spc="25">
                <a:latin typeface="Arial"/>
                <a:cs typeface="Arial"/>
              </a:rPr>
              <a:t> </a:t>
            </a:r>
            <a:r>
              <a:rPr dirty="0" sz="1100" spc="-5">
                <a:latin typeface="Arial"/>
                <a:cs typeface="Arial"/>
              </a:rPr>
              <a:t>efficiently</a:t>
            </a:r>
            <a:r>
              <a:rPr dirty="0" sz="1100" spc="25">
                <a:latin typeface="Arial"/>
                <a:cs typeface="Arial"/>
              </a:rPr>
              <a:t> </a:t>
            </a:r>
            <a:r>
              <a:rPr dirty="0" sz="1100" spc="-5">
                <a:latin typeface="Arial"/>
                <a:cs typeface="Arial"/>
              </a:rPr>
              <a:t>to</a:t>
            </a:r>
            <a:r>
              <a:rPr dirty="0" sz="1100" spc="20">
                <a:latin typeface="Arial"/>
                <a:cs typeface="Arial"/>
              </a:rPr>
              <a:t> </a:t>
            </a:r>
            <a:r>
              <a:rPr dirty="0" sz="1100" spc="-5">
                <a:latin typeface="Arial"/>
                <a:cs typeface="Arial"/>
              </a:rPr>
              <a:t>generate</a:t>
            </a:r>
            <a:r>
              <a:rPr dirty="0" sz="1100" spc="25">
                <a:latin typeface="Arial"/>
                <a:cs typeface="Arial"/>
              </a:rPr>
              <a:t> </a:t>
            </a:r>
            <a:r>
              <a:rPr dirty="0" sz="1100" spc="-5">
                <a:latin typeface="Arial"/>
                <a:cs typeface="Arial"/>
              </a:rPr>
              <a:t>economic</a:t>
            </a:r>
            <a:r>
              <a:rPr dirty="0" sz="1100" spc="25">
                <a:latin typeface="Arial"/>
                <a:cs typeface="Arial"/>
              </a:rPr>
              <a:t> </a:t>
            </a:r>
            <a:r>
              <a:rPr dirty="0" sz="1100" spc="-5">
                <a:latin typeface="Arial"/>
                <a:cs typeface="Arial"/>
              </a:rPr>
              <a:t>growth.</a:t>
            </a:r>
            <a:endParaRPr sz="1100">
              <a:latin typeface="Arial"/>
              <a:cs typeface="Arial"/>
            </a:endParaRPr>
          </a:p>
        </p:txBody>
      </p:sp>
      <p:sp>
        <p:nvSpPr>
          <p:cNvPr id="8" name="object 8"/>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9" name="object 9"/>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313</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10768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This skill gap- filling process is thus analogous to the financial-gap-filling process mentioned  earlier. Sustainable development impact requires a focus on training in recipient</a:t>
            </a:r>
            <a:r>
              <a:rPr dirty="0" sz="1100" spc="145">
                <a:latin typeface="Arial"/>
                <a:cs typeface="Arial"/>
              </a:rPr>
              <a:t> </a:t>
            </a:r>
            <a:r>
              <a:rPr dirty="0" sz="1100" spc="-5">
                <a:latin typeface="Arial"/>
                <a:cs typeface="Arial"/>
              </a:rPr>
              <a:t>countries.</a:t>
            </a:r>
            <a:endParaRPr sz="1100">
              <a:latin typeface="Arial"/>
              <a:cs typeface="Arial"/>
            </a:endParaRPr>
          </a:p>
          <a:p>
            <a:pPr>
              <a:lnSpc>
                <a:spcPct val="100000"/>
              </a:lnSpc>
              <a:spcBef>
                <a:spcPts val="25"/>
              </a:spcBef>
            </a:pPr>
            <a:endParaRPr sz="1000">
              <a:latin typeface="Arial"/>
              <a:cs typeface="Arial"/>
            </a:endParaRPr>
          </a:p>
          <a:p>
            <a:pPr marL="12700">
              <a:lnSpc>
                <a:spcPct val="100000"/>
              </a:lnSpc>
            </a:pPr>
            <a:r>
              <a:rPr dirty="0" sz="1100" spc="-5" b="1">
                <a:latin typeface="Arial"/>
                <a:cs typeface="Arial"/>
              </a:rPr>
              <a:t>ABSORPTIVE CAPACITY</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Finally, the amount of aid is considered in relation to the recipient country’s absorptive capacity,  its ability to use aid funds wisely and productively (often meaning as donors want them to be  used). Typically, the donor countries decide </a:t>
            </a:r>
            <a:r>
              <a:rPr dirty="0" sz="1100">
                <a:latin typeface="Arial"/>
                <a:cs typeface="Arial"/>
              </a:rPr>
              <a:t>which </a:t>
            </a:r>
            <a:r>
              <a:rPr dirty="0" sz="1100" spc="-5">
                <a:latin typeface="Arial"/>
                <a:cs typeface="Arial"/>
              </a:rPr>
              <a:t>developing countries are to receive aid, how  much, in what form (loans or grants, financial or technical assistance), for what purpose, </a:t>
            </a:r>
            <a:r>
              <a:rPr dirty="0" sz="1100">
                <a:latin typeface="Arial"/>
                <a:cs typeface="Arial"/>
              </a:rPr>
              <a:t>and  </a:t>
            </a:r>
            <a:r>
              <a:rPr dirty="0" sz="1100" spc="-5">
                <a:latin typeface="Arial"/>
                <a:cs typeface="Arial"/>
              </a:rPr>
              <a:t>under what conditions on the basis of the donor countries’ assessment of domestic absorptive  capacities (particularly for the least developed countries). But many </a:t>
            </a:r>
            <a:r>
              <a:rPr dirty="0" sz="1100">
                <a:latin typeface="Arial"/>
                <a:cs typeface="Arial"/>
              </a:rPr>
              <a:t>types </a:t>
            </a:r>
            <a:r>
              <a:rPr dirty="0" sz="1100" spc="-5">
                <a:latin typeface="Arial"/>
                <a:cs typeface="Arial"/>
              </a:rPr>
              <a:t>of assistance, such as  resources for building infrastructure or for training (e.g., of government officials or health or  education workers) itself increases absorptive capacity. It has been said that what one donor  sees as a constraint on the ability of a country to use conventional aid, another sees as an  opportunity to have </a:t>
            </a:r>
            <a:r>
              <a:rPr dirty="0" sz="1100">
                <a:latin typeface="Arial"/>
                <a:cs typeface="Arial"/>
              </a:rPr>
              <a:t>more </a:t>
            </a:r>
            <a:r>
              <a:rPr dirty="0" sz="1100" spc="-5">
                <a:latin typeface="Arial"/>
                <a:cs typeface="Arial"/>
              </a:rPr>
              <a:t>leveraged impact with new forms of assistance. In any case, </a:t>
            </a:r>
            <a:r>
              <a:rPr dirty="0" sz="1100">
                <a:latin typeface="Arial"/>
                <a:cs typeface="Arial"/>
              </a:rPr>
              <a:t>in  </a:t>
            </a:r>
            <a:r>
              <a:rPr dirty="0" sz="1100" spc="-5">
                <a:latin typeface="Arial"/>
                <a:cs typeface="Arial"/>
              </a:rPr>
              <a:t>practice the total amount of aid </a:t>
            </a:r>
            <a:r>
              <a:rPr dirty="0" sz="1100">
                <a:latin typeface="Arial"/>
                <a:cs typeface="Arial"/>
              </a:rPr>
              <a:t>rarely </a:t>
            </a:r>
            <a:r>
              <a:rPr dirty="0" sz="1100" spc="-5">
                <a:latin typeface="Arial"/>
                <a:cs typeface="Arial"/>
              </a:rPr>
              <a:t>has much to do with developing-country absorptive  capacities because typically, foreign aid is a residual and low-priority element in donor-country  expenditures. In most instances, the recipient countries have little say in the</a:t>
            </a:r>
            <a:r>
              <a:rPr dirty="0" sz="1100" spc="114">
                <a:latin typeface="Arial"/>
                <a:cs typeface="Arial"/>
              </a:rPr>
              <a:t> </a:t>
            </a:r>
            <a:r>
              <a:rPr dirty="0" sz="1100" spc="-5">
                <a:latin typeface="Arial"/>
                <a:cs typeface="Arial"/>
              </a:rPr>
              <a:t>matter.</a:t>
            </a:r>
            <a:endParaRPr sz="1100">
              <a:latin typeface="Arial"/>
              <a:cs typeface="Arial"/>
            </a:endParaRPr>
          </a:p>
          <a:p>
            <a:pPr>
              <a:lnSpc>
                <a:spcPct val="100000"/>
              </a:lnSpc>
              <a:spcBef>
                <a:spcPts val="5"/>
              </a:spcBef>
            </a:pPr>
            <a:endParaRPr sz="1050">
              <a:latin typeface="Arial"/>
              <a:cs typeface="Arial"/>
            </a:endParaRPr>
          </a:p>
          <a:p>
            <a:pPr marL="12700">
              <a:lnSpc>
                <a:spcPct val="100000"/>
              </a:lnSpc>
              <a:spcBef>
                <a:spcPts val="5"/>
              </a:spcBef>
            </a:pPr>
            <a:r>
              <a:rPr dirty="0" sz="1100" spc="-5" b="1">
                <a:latin typeface="Arial"/>
                <a:cs typeface="Arial"/>
              </a:rPr>
              <a:t>ECONOMIC MOTIVATIONS AND</a:t>
            </a:r>
            <a:r>
              <a:rPr dirty="0" sz="1100" spc="25" b="1">
                <a:latin typeface="Arial"/>
                <a:cs typeface="Arial"/>
              </a:rPr>
              <a:t> </a:t>
            </a:r>
            <a:r>
              <a:rPr dirty="0" sz="1100" spc="-5" b="1">
                <a:latin typeface="Arial"/>
                <a:cs typeface="Arial"/>
              </a:rPr>
              <a:t>SELF-INTEREST</a:t>
            </a:r>
            <a:endParaRPr sz="1100">
              <a:latin typeface="Arial"/>
              <a:cs typeface="Arial"/>
            </a:endParaRPr>
          </a:p>
          <a:p>
            <a:pPr>
              <a:lnSpc>
                <a:spcPct val="100000"/>
              </a:lnSpc>
              <a:spcBef>
                <a:spcPts val="45"/>
              </a:spcBef>
            </a:pPr>
            <a:endParaRPr sz="1150">
              <a:latin typeface="Arial"/>
              <a:cs typeface="Arial"/>
            </a:endParaRPr>
          </a:p>
          <a:p>
            <a:pPr algn="just" marL="12700" marR="5080">
              <a:lnSpc>
                <a:spcPct val="95900"/>
              </a:lnSpc>
            </a:pPr>
            <a:r>
              <a:rPr dirty="0" sz="1100" spc="-5">
                <a:latin typeface="Arial"/>
                <a:cs typeface="Arial"/>
              </a:rPr>
              <a:t>The arguments on behalf of foreign aid as a crucial ingredient for successful development  should not mask the </a:t>
            </a:r>
            <a:r>
              <a:rPr dirty="0" sz="1100">
                <a:latin typeface="Arial"/>
                <a:cs typeface="Arial"/>
              </a:rPr>
              <a:t>fact </a:t>
            </a:r>
            <a:r>
              <a:rPr dirty="0" sz="1100" spc="-5">
                <a:latin typeface="Arial"/>
                <a:cs typeface="Arial"/>
              </a:rPr>
              <a:t>that even at the strictly economic level; definite benefits accrue to  donor countries as a result of their aid programs. The strong tendency toward providing interest-  bearing loans instead of outright grants and toward tying </a:t>
            </a:r>
            <a:r>
              <a:rPr dirty="0" sz="1100">
                <a:latin typeface="Arial"/>
                <a:cs typeface="Arial"/>
              </a:rPr>
              <a:t>aid </a:t>
            </a:r>
            <a:r>
              <a:rPr dirty="0" sz="1100" spc="-5">
                <a:latin typeface="Arial"/>
                <a:cs typeface="Arial"/>
              </a:rPr>
              <a:t>to the exports of donor countries  has saddled many countries, often among the least developed, with substantial debt repayment  burdens. It has also increased their import costs because aid tied to donor-country exports limits  the receiving nation’s freedom to shop around for low-cost and suitable capital and intermediate  goods. Tied aid in this sense is clearly a second-best option to untied aid (and perhaps also to  freer trade through a reduction of developed-country import barriers). For example, a large  fraction of U.S. aid has been spent on American consultants and other U.S.</a:t>
            </a:r>
            <a:r>
              <a:rPr dirty="0" sz="1100" spc="135">
                <a:latin typeface="Arial"/>
                <a:cs typeface="Arial"/>
              </a:rPr>
              <a:t> </a:t>
            </a:r>
            <a:r>
              <a:rPr dirty="0" sz="1100" spc="-5">
                <a:latin typeface="Arial"/>
                <a:cs typeface="Arial"/>
              </a:rPr>
              <a:t>businesses.</a:t>
            </a:r>
            <a:endParaRPr sz="1100">
              <a:latin typeface="Arial"/>
              <a:cs typeface="Arial"/>
            </a:endParaRPr>
          </a:p>
          <a:p>
            <a:pPr>
              <a:lnSpc>
                <a:spcPct val="100000"/>
              </a:lnSpc>
              <a:spcBef>
                <a:spcPts val="5"/>
              </a:spcBef>
            </a:pPr>
            <a:endParaRPr sz="1050">
              <a:latin typeface="Arial"/>
              <a:cs typeface="Arial"/>
            </a:endParaRPr>
          </a:p>
          <a:p>
            <a:pPr marL="12700">
              <a:lnSpc>
                <a:spcPct val="100000"/>
              </a:lnSpc>
            </a:pPr>
            <a:r>
              <a:rPr dirty="0" sz="1100" spc="-5" b="1">
                <a:latin typeface="Arial"/>
                <a:cs typeface="Arial"/>
              </a:rPr>
              <a:t>WHY RECIPIENT COUNTRIES ACCEPT</a:t>
            </a:r>
            <a:r>
              <a:rPr dirty="0" sz="1100" spc="20" b="1">
                <a:latin typeface="Arial"/>
                <a:cs typeface="Arial"/>
              </a:rPr>
              <a:t> </a:t>
            </a:r>
            <a:r>
              <a:rPr dirty="0" sz="1100" b="1">
                <a:latin typeface="Arial"/>
                <a:cs typeface="Arial"/>
              </a:rPr>
              <a:t>AID</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900"/>
              </a:lnSpc>
            </a:pPr>
            <a:r>
              <a:rPr dirty="0" sz="1100" spc="-5">
                <a:latin typeface="Arial"/>
                <a:cs typeface="Arial"/>
              </a:rPr>
              <a:t>The reasons why developing nations have usually been eager to accept aid, even in its most  stringent and restrictive forms, have been given much less attention than the reasons why  donors provide aid. The major reason is probably economic. Developing countries have often  tended to accept the proposition—typically advanced by developed-country economists and  supported by reference to success stories such as Taiwan and South Korea to the exclusion of  many more failures—that aid is a crucial and essential ingredient in the development process. It  supplements scarce domestic resources, it helps transform the economy structurally, and it  contributes to economic growth. Thus the economic rationale for aid is based in part on their  acceptance of the donor’s perceptions of what the poor countries require to promote economic  development.</a:t>
            </a:r>
            <a:endParaRPr sz="1100">
              <a:latin typeface="Arial"/>
              <a:cs typeface="Arial"/>
            </a:endParaRPr>
          </a:p>
          <a:p>
            <a:pPr>
              <a:lnSpc>
                <a:spcPct val="100000"/>
              </a:lnSpc>
              <a:spcBef>
                <a:spcPts val="55"/>
              </a:spcBef>
            </a:pPr>
            <a:endParaRPr sz="1050">
              <a:latin typeface="Arial"/>
              <a:cs typeface="Arial"/>
            </a:endParaRPr>
          </a:p>
          <a:p>
            <a:pPr algn="just" marL="12700" marR="6350">
              <a:lnSpc>
                <a:spcPct val="95800"/>
              </a:lnSpc>
            </a:pPr>
            <a:r>
              <a:rPr dirty="0" sz="1100" spc="-5">
                <a:latin typeface="Arial"/>
                <a:cs typeface="Arial"/>
              </a:rPr>
              <a:t>Conflicts generally arise, therefore, not out of </a:t>
            </a:r>
            <a:r>
              <a:rPr dirty="0" sz="1100">
                <a:latin typeface="Arial"/>
                <a:cs typeface="Arial"/>
              </a:rPr>
              <a:t>any </a:t>
            </a:r>
            <a:r>
              <a:rPr dirty="0" sz="1100" spc="-5">
                <a:latin typeface="Arial"/>
                <a:cs typeface="Arial"/>
              </a:rPr>
              <a:t>disagreement about </a:t>
            </a:r>
            <a:r>
              <a:rPr dirty="0" sz="1100">
                <a:latin typeface="Arial"/>
                <a:cs typeface="Arial"/>
              </a:rPr>
              <a:t>the </a:t>
            </a:r>
            <a:r>
              <a:rPr dirty="0" sz="1100" spc="-5">
                <a:latin typeface="Arial"/>
                <a:cs typeface="Arial"/>
              </a:rPr>
              <a:t>role of </a:t>
            </a:r>
            <a:r>
              <a:rPr dirty="0" sz="1100">
                <a:latin typeface="Arial"/>
                <a:cs typeface="Arial"/>
              </a:rPr>
              <a:t>aid </a:t>
            </a:r>
            <a:r>
              <a:rPr dirty="0" sz="1100" spc="-5">
                <a:latin typeface="Arial"/>
                <a:cs typeface="Arial"/>
              </a:rPr>
              <a:t>but over its  amount and conditions. Naturally, any developing country would like to have more aid in the  form of outright grants or long term low-cost loans with a minimum of strings attached. This  means not tying aid to donor exports and granting greater latitude to recipient countries to  decide</a:t>
            </a:r>
            <a:r>
              <a:rPr dirty="0" sz="1100" spc="229">
                <a:latin typeface="Arial"/>
                <a:cs typeface="Arial"/>
              </a:rPr>
              <a:t> </a:t>
            </a:r>
            <a:r>
              <a:rPr dirty="0" sz="1100" spc="-5">
                <a:latin typeface="Arial"/>
                <a:cs typeface="Arial"/>
              </a:rPr>
              <a:t>for</a:t>
            </a:r>
            <a:r>
              <a:rPr dirty="0" sz="1100" spc="229">
                <a:latin typeface="Arial"/>
                <a:cs typeface="Arial"/>
              </a:rPr>
              <a:t> </a:t>
            </a:r>
            <a:r>
              <a:rPr dirty="0" sz="1100" spc="-5">
                <a:latin typeface="Arial"/>
                <a:cs typeface="Arial"/>
              </a:rPr>
              <a:t>themselves</a:t>
            </a:r>
            <a:r>
              <a:rPr dirty="0" sz="1100" spc="235">
                <a:latin typeface="Arial"/>
                <a:cs typeface="Arial"/>
              </a:rPr>
              <a:t> </a:t>
            </a:r>
            <a:r>
              <a:rPr dirty="0" sz="1100" spc="-5">
                <a:latin typeface="Arial"/>
                <a:cs typeface="Arial"/>
              </a:rPr>
              <a:t>what</a:t>
            </a:r>
            <a:r>
              <a:rPr dirty="0" sz="1100" spc="229">
                <a:latin typeface="Arial"/>
                <a:cs typeface="Arial"/>
              </a:rPr>
              <a:t> </a:t>
            </a:r>
            <a:r>
              <a:rPr dirty="0" sz="1100" spc="-5">
                <a:latin typeface="Arial"/>
                <a:cs typeface="Arial"/>
              </a:rPr>
              <a:t>is</a:t>
            </a:r>
            <a:r>
              <a:rPr dirty="0" sz="1100" spc="235">
                <a:latin typeface="Arial"/>
                <a:cs typeface="Arial"/>
              </a:rPr>
              <a:t> </a:t>
            </a:r>
            <a:r>
              <a:rPr dirty="0" sz="1100" spc="-5">
                <a:latin typeface="Arial"/>
                <a:cs typeface="Arial"/>
              </a:rPr>
              <a:t>in</a:t>
            </a:r>
            <a:r>
              <a:rPr dirty="0" sz="1100" spc="229">
                <a:latin typeface="Arial"/>
                <a:cs typeface="Arial"/>
              </a:rPr>
              <a:t> </a:t>
            </a:r>
            <a:r>
              <a:rPr dirty="0" sz="1100" spc="-5">
                <a:latin typeface="Arial"/>
                <a:cs typeface="Arial"/>
              </a:rPr>
              <a:t>their</a:t>
            </a:r>
            <a:r>
              <a:rPr dirty="0" sz="1100" spc="229">
                <a:latin typeface="Arial"/>
                <a:cs typeface="Arial"/>
              </a:rPr>
              <a:t> </a:t>
            </a:r>
            <a:r>
              <a:rPr dirty="0" sz="1100" spc="-5">
                <a:latin typeface="Arial"/>
                <a:cs typeface="Arial"/>
              </a:rPr>
              <a:t>best</a:t>
            </a:r>
            <a:r>
              <a:rPr dirty="0" sz="1100" spc="235">
                <a:latin typeface="Arial"/>
                <a:cs typeface="Arial"/>
              </a:rPr>
              <a:t> </a:t>
            </a:r>
            <a:r>
              <a:rPr dirty="0" sz="1100" spc="-5">
                <a:latin typeface="Arial"/>
                <a:cs typeface="Arial"/>
              </a:rPr>
              <a:t>long-run</a:t>
            </a:r>
            <a:r>
              <a:rPr dirty="0" sz="1100" spc="229">
                <a:latin typeface="Arial"/>
                <a:cs typeface="Arial"/>
              </a:rPr>
              <a:t> </a:t>
            </a:r>
            <a:r>
              <a:rPr dirty="0" sz="1100" spc="-5">
                <a:latin typeface="Arial"/>
                <a:cs typeface="Arial"/>
              </a:rPr>
              <a:t>development</a:t>
            </a:r>
            <a:r>
              <a:rPr dirty="0" sz="1100" spc="235">
                <a:latin typeface="Arial"/>
                <a:cs typeface="Arial"/>
              </a:rPr>
              <a:t> </a:t>
            </a:r>
            <a:r>
              <a:rPr dirty="0" sz="1100" spc="-5">
                <a:latin typeface="Arial"/>
                <a:cs typeface="Arial"/>
              </a:rPr>
              <a:t>interests.</a:t>
            </a:r>
            <a:r>
              <a:rPr dirty="0" sz="1100" spc="229">
                <a:latin typeface="Arial"/>
                <a:cs typeface="Arial"/>
              </a:rPr>
              <a:t> </a:t>
            </a:r>
            <a:r>
              <a:rPr dirty="0" sz="1100" spc="-5">
                <a:latin typeface="Arial"/>
                <a:cs typeface="Arial"/>
              </a:rPr>
              <a:t>Unfortunately,</a:t>
            </a:r>
            <a:r>
              <a:rPr dirty="0" sz="1100" spc="229">
                <a:latin typeface="Arial"/>
                <a:cs typeface="Arial"/>
              </a:rPr>
              <a:t> </a:t>
            </a:r>
            <a:r>
              <a:rPr dirty="0" sz="1100" spc="-5">
                <a:latin typeface="Arial"/>
                <a:cs typeface="Arial"/>
              </a:rPr>
              <a:t>a</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314</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918450"/>
          </a:xfrm>
          <a:prstGeom prst="rect">
            <a:avLst/>
          </a:prstGeom>
        </p:spPr>
        <p:txBody>
          <a:bodyPr wrap="square" lIns="0" tIns="19050" rIns="0" bIns="0" rtlCol="0" vert="horz">
            <a:spAutoFit/>
          </a:bodyPr>
          <a:lstStyle/>
          <a:p>
            <a:pPr algn="just" marL="12700" marR="6985">
              <a:lnSpc>
                <a:spcPct val="95800"/>
              </a:lnSpc>
              <a:spcBef>
                <a:spcPts val="150"/>
              </a:spcBef>
            </a:pPr>
            <a:r>
              <a:rPr dirty="0" sz="1100" spc="-5">
                <a:latin typeface="Arial"/>
                <a:cs typeface="Arial"/>
              </a:rPr>
              <a:t>good deal of aid that comes in this form has either been wasted in showcase but unproductive  projects (e.g., an elaborate parliamentary </a:t>
            </a:r>
            <a:r>
              <a:rPr dirty="0" sz="1100">
                <a:latin typeface="Arial"/>
                <a:cs typeface="Arial"/>
              </a:rPr>
              <a:t>building, </a:t>
            </a:r>
            <a:r>
              <a:rPr dirty="0" sz="1100" spc="-5">
                <a:latin typeface="Arial"/>
                <a:cs typeface="Arial"/>
              </a:rPr>
              <a:t>an oversize airport) or actually been  plundered by corrupt government officials and their local cronies. Much of the criticism of the  historical patterns of foreign aid—that it wastes resources, that it bolsters corrupt regimes, that it  is appropriated by the rich at the expense of the poor—is justified. Some recipients in the past  have accepted aid simply because it was there and they were not </a:t>
            </a:r>
            <a:r>
              <a:rPr dirty="0" sz="1100">
                <a:latin typeface="Arial"/>
                <a:cs typeface="Arial"/>
              </a:rPr>
              <a:t>held </a:t>
            </a:r>
            <a:r>
              <a:rPr dirty="0" sz="1100" spc="-5">
                <a:latin typeface="Arial"/>
                <a:cs typeface="Arial"/>
              </a:rPr>
              <a:t>accountable. A few  leaders simply wish to </a:t>
            </a:r>
            <a:r>
              <a:rPr dirty="0" sz="1100">
                <a:latin typeface="Arial"/>
                <a:cs typeface="Arial"/>
              </a:rPr>
              <a:t>leave </a:t>
            </a:r>
            <a:r>
              <a:rPr dirty="0" sz="1100" spc="-5">
                <a:latin typeface="Arial"/>
                <a:cs typeface="Arial"/>
              </a:rPr>
              <a:t>no </a:t>
            </a:r>
            <a:r>
              <a:rPr dirty="0" sz="1100">
                <a:latin typeface="Arial"/>
                <a:cs typeface="Arial"/>
              </a:rPr>
              <a:t>stone </a:t>
            </a:r>
            <a:r>
              <a:rPr dirty="0" sz="1100" spc="-5">
                <a:latin typeface="Arial"/>
                <a:cs typeface="Arial"/>
              </a:rPr>
              <a:t>unturned in their quest for poverty alleviation, as perhaps  describes Mozambique in the 1990s. They </a:t>
            </a:r>
            <a:r>
              <a:rPr dirty="0" sz="1100">
                <a:latin typeface="Arial"/>
                <a:cs typeface="Arial"/>
              </a:rPr>
              <a:t>have </a:t>
            </a:r>
            <a:r>
              <a:rPr dirty="0" sz="1100" spc="-5">
                <a:latin typeface="Arial"/>
                <a:cs typeface="Arial"/>
              </a:rPr>
              <a:t>been in the minority. </a:t>
            </a:r>
            <a:r>
              <a:rPr dirty="0" sz="1100">
                <a:latin typeface="Arial"/>
                <a:cs typeface="Arial"/>
              </a:rPr>
              <a:t>The </a:t>
            </a:r>
            <a:r>
              <a:rPr dirty="0" sz="1100" spc="-5">
                <a:latin typeface="Arial"/>
                <a:cs typeface="Arial"/>
              </a:rPr>
              <a:t>impact of the spread  of democracy, press freedom, and the rule of law, including anticorruption drives, on the  effectiveness of aid remains an open</a:t>
            </a:r>
            <a:r>
              <a:rPr dirty="0" sz="1100" spc="25">
                <a:latin typeface="Arial"/>
                <a:cs typeface="Arial"/>
              </a:rPr>
              <a:t> </a:t>
            </a:r>
            <a:r>
              <a:rPr dirty="0" sz="1100" spc="-5">
                <a:latin typeface="Arial"/>
                <a:cs typeface="Arial"/>
              </a:rPr>
              <a:t>question.</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Second, in some countries, aid is seen by both donor and recipient as providing greater political  leverage to the existing leadership to suppress opposition and maintain itself in power. In such  instances, assistance takes the form not </a:t>
            </a:r>
            <a:r>
              <a:rPr dirty="0" sz="1100">
                <a:latin typeface="Arial"/>
                <a:cs typeface="Arial"/>
              </a:rPr>
              <a:t>only </a:t>
            </a:r>
            <a:r>
              <a:rPr dirty="0" sz="1100" spc="-5">
                <a:latin typeface="Arial"/>
                <a:cs typeface="Arial"/>
              </a:rPr>
              <a:t>of financial-resource transfers but of military </a:t>
            </a:r>
            <a:r>
              <a:rPr dirty="0" sz="1100">
                <a:latin typeface="Arial"/>
                <a:cs typeface="Arial"/>
              </a:rPr>
              <a:t>and  </a:t>
            </a:r>
            <a:r>
              <a:rPr dirty="0" sz="1100" spc="-5">
                <a:latin typeface="Arial"/>
                <a:cs typeface="Arial"/>
              </a:rPr>
              <a:t>internal security reinforcement as well. This phenomenon was clearly at work in Central America  in the 1980s. The problem is that once aid is accepted, the ability of recipient governments to  extricate themselves from implied political or economic obligations to donors and prevent donor  governments from interfering in their internal affairs can be greatly</a:t>
            </a:r>
            <a:r>
              <a:rPr dirty="0" sz="1100" spc="85">
                <a:latin typeface="Arial"/>
                <a:cs typeface="Arial"/>
              </a:rPr>
              <a:t> </a:t>
            </a:r>
            <a:r>
              <a:rPr dirty="0" sz="1100" spc="-5">
                <a:latin typeface="Arial"/>
                <a:cs typeface="Arial"/>
              </a:rPr>
              <a:t>diminished.</a:t>
            </a:r>
            <a:endParaRPr sz="1100">
              <a:latin typeface="Arial"/>
              <a:cs typeface="Arial"/>
            </a:endParaRPr>
          </a:p>
          <a:p>
            <a:pPr>
              <a:lnSpc>
                <a:spcPct val="100000"/>
              </a:lnSpc>
              <a:spcBef>
                <a:spcPts val="25"/>
              </a:spcBef>
            </a:pPr>
            <a:endParaRPr sz="1100">
              <a:latin typeface="Arial"/>
              <a:cs typeface="Arial"/>
            </a:endParaRPr>
          </a:p>
          <a:p>
            <a:pPr algn="just" marL="12700" marR="5715">
              <a:lnSpc>
                <a:spcPts val="1270"/>
              </a:lnSpc>
            </a:pPr>
            <a:r>
              <a:rPr dirty="0" sz="1100" spc="-5">
                <a:latin typeface="Arial"/>
                <a:cs typeface="Arial"/>
              </a:rPr>
              <a:t>Finally, whether on grounds of basic humanitarian responsibilities of the rich toward the welfare  of the poor or because of a belief that the rich nations owe the poor nations reparations for past  exploitation, many proponents of foreign aid in both developed and developing countries believe  that rich nations have an obligation to support economic and social development, particularly in  the least developed countries. They often link this moral obligation with the need for greater  freedom of choice for recipient developing countries in the allocation and use of aid</a:t>
            </a:r>
            <a:r>
              <a:rPr dirty="0" sz="1100" spc="170">
                <a:latin typeface="Arial"/>
                <a:cs typeface="Arial"/>
              </a:rPr>
              <a:t> </a:t>
            </a:r>
            <a:r>
              <a:rPr dirty="0" sz="1100" spc="-5">
                <a:latin typeface="Arial"/>
                <a:cs typeface="Arial"/>
              </a:rPr>
              <a:t>funds.</a:t>
            </a:r>
            <a:endParaRPr sz="1100">
              <a:latin typeface="Arial"/>
              <a:cs typeface="Arial"/>
            </a:endParaRPr>
          </a:p>
          <a:p>
            <a:pPr>
              <a:lnSpc>
                <a:spcPct val="100000"/>
              </a:lnSpc>
              <a:spcBef>
                <a:spcPts val="5"/>
              </a:spcBef>
            </a:pPr>
            <a:endParaRPr sz="1000">
              <a:latin typeface="Arial"/>
              <a:cs typeface="Arial"/>
            </a:endParaRPr>
          </a:p>
          <a:p>
            <a:pPr algn="just" marL="12700">
              <a:lnSpc>
                <a:spcPct val="100000"/>
              </a:lnSpc>
              <a:spcBef>
                <a:spcPts val="5"/>
              </a:spcBef>
            </a:pPr>
            <a:r>
              <a:rPr dirty="0" sz="1100" spc="-5" b="1">
                <a:latin typeface="Arial"/>
                <a:cs typeface="Arial"/>
              </a:rPr>
              <a:t>THE ROLE OF NONGOVERNMENTAL ORGANIZATIONS IN</a:t>
            </a:r>
            <a:r>
              <a:rPr dirty="0" sz="1100" spc="30" b="1">
                <a:latin typeface="Arial"/>
                <a:cs typeface="Arial"/>
              </a:rPr>
              <a:t> </a:t>
            </a:r>
            <a:r>
              <a:rPr dirty="0" sz="1100" spc="-5" b="1">
                <a:latin typeface="Arial"/>
                <a:cs typeface="Arial"/>
              </a:rPr>
              <a:t>AID</a:t>
            </a:r>
            <a:endParaRPr sz="1100">
              <a:latin typeface="Arial"/>
              <a:cs typeface="Arial"/>
            </a:endParaRPr>
          </a:p>
          <a:p>
            <a:pPr>
              <a:lnSpc>
                <a:spcPct val="100000"/>
              </a:lnSpc>
              <a:spcBef>
                <a:spcPts val="50"/>
              </a:spcBef>
            </a:pPr>
            <a:endParaRPr sz="1150">
              <a:latin typeface="Arial"/>
              <a:cs typeface="Arial"/>
            </a:endParaRPr>
          </a:p>
          <a:p>
            <a:pPr algn="just" marL="12700" marR="6350">
              <a:lnSpc>
                <a:spcPct val="95900"/>
              </a:lnSpc>
            </a:pPr>
            <a:r>
              <a:rPr dirty="0" sz="1100" spc="-5">
                <a:latin typeface="Arial"/>
                <a:cs typeface="Arial"/>
              </a:rPr>
              <a:t>One of the fastest-growing and most significant forces in the field of development assistance is  that provided through private nongovernmental organizations (NGOs). As we noted in Chapter  11, NGOs </a:t>
            </a:r>
            <a:r>
              <a:rPr dirty="0" sz="1100">
                <a:latin typeface="Arial"/>
                <a:cs typeface="Arial"/>
              </a:rPr>
              <a:t>are </a:t>
            </a:r>
            <a:r>
              <a:rPr dirty="0" sz="1100" spc="-5">
                <a:latin typeface="Arial"/>
                <a:cs typeface="Arial"/>
              </a:rPr>
              <a:t>voluntary organizations that work with and on behalf of mostly local grassroots  organizations in developing countries. They </a:t>
            </a:r>
            <a:r>
              <a:rPr dirty="0" sz="1100">
                <a:latin typeface="Arial"/>
                <a:cs typeface="Arial"/>
              </a:rPr>
              <a:t>also </a:t>
            </a:r>
            <a:r>
              <a:rPr dirty="0" sz="1100" spc="-5">
                <a:latin typeface="Arial"/>
                <a:cs typeface="Arial"/>
              </a:rPr>
              <a:t>represent specific local and international  interest groups with concerns as diverse as providing emergency relief, protecting child health,  promoting women’s rights, alleviating poverty, protecting the environment, increasing food  production, and providing rural credit to small farmers and local businesses. NGOs </a:t>
            </a:r>
            <a:r>
              <a:rPr dirty="0" sz="1100">
                <a:latin typeface="Arial"/>
                <a:cs typeface="Arial"/>
              </a:rPr>
              <a:t>build </a:t>
            </a:r>
            <a:r>
              <a:rPr dirty="0" sz="1100" spc="-5">
                <a:latin typeface="Arial"/>
                <a:cs typeface="Arial"/>
              </a:rPr>
              <a:t>roads,  houses, hospitals, and schools. They work in family-planning clinics and refugee camps. They  teach in schools and universities and conduct research on increasing farm</a:t>
            </a:r>
            <a:r>
              <a:rPr dirty="0" sz="1100" spc="90">
                <a:latin typeface="Arial"/>
                <a:cs typeface="Arial"/>
              </a:rPr>
              <a:t> </a:t>
            </a:r>
            <a:r>
              <a:rPr dirty="0" sz="1100" spc="-5">
                <a:latin typeface="Arial"/>
                <a:cs typeface="Arial"/>
              </a:rPr>
              <a:t>yields.</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800"/>
              </a:lnSpc>
            </a:pPr>
            <a:r>
              <a:rPr dirty="0" sz="1100" spc="-5">
                <a:latin typeface="Arial"/>
                <a:cs typeface="Arial"/>
              </a:rPr>
              <a:t>NGOs include religious groups, private foundations and charities, research organizations, and  federations of dedicated doctors, nurses, engineers, agricultural scientists, and economists.  Many work directly on grassroots rural development projects; others focus on relief efforts for  starving or displaced peoples. Some familiar NGOs include Save the Children, CARE, Oxfam,  Planned Parenthood, Doctors without Borders, World Vision, the World Wildlife Fund, Habitat  for Humanity, Africare, Heifer, Christian Aid, Project HOPE, and Amnesty International. Funding  through</a:t>
            </a:r>
            <a:r>
              <a:rPr dirty="0" sz="1100" spc="60">
                <a:latin typeface="Arial"/>
                <a:cs typeface="Arial"/>
              </a:rPr>
              <a:t> </a:t>
            </a:r>
            <a:r>
              <a:rPr dirty="0" sz="1100" spc="-5">
                <a:latin typeface="Arial"/>
                <a:cs typeface="Arial"/>
              </a:rPr>
              <a:t>developed</a:t>
            </a:r>
            <a:r>
              <a:rPr dirty="0" sz="1100" spc="60">
                <a:latin typeface="Arial"/>
                <a:cs typeface="Arial"/>
              </a:rPr>
              <a:t> </a:t>
            </a:r>
            <a:r>
              <a:rPr dirty="0" sz="1100" spc="-5">
                <a:latin typeface="Arial"/>
                <a:cs typeface="Arial"/>
              </a:rPr>
              <a:t>country</a:t>
            </a:r>
            <a:r>
              <a:rPr dirty="0" sz="1100" spc="60">
                <a:latin typeface="Arial"/>
                <a:cs typeface="Arial"/>
              </a:rPr>
              <a:t> </a:t>
            </a:r>
            <a:r>
              <a:rPr dirty="0" sz="1100" spc="-5">
                <a:latin typeface="Arial"/>
                <a:cs typeface="Arial"/>
              </a:rPr>
              <a:t>NGOs</a:t>
            </a:r>
            <a:r>
              <a:rPr dirty="0" sz="1100" spc="60">
                <a:latin typeface="Arial"/>
                <a:cs typeface="Arial"/>
              </a:rPr>
              <a:t> </a:t>
            </a:r>
            <a:r>
              <a:rPr dirty="0" sz="1100">
                <a:latin typeface="Arial"/>
                <a:cs typeface="Arial"/>
              </a:rPr>
              <a:t>for</a:t>
            </a:r>
            <a:r>
              <a:rPr dirty="0" sz="1100" spc="60">
                <a:latin typeface="Arial"/>
                <a:cs typeface="Arial"/>
              </a:rPr>
              <a:t> </a:t>
            </a:r>
            <a:r>
              <a:rPr dirty="0" sz="1100" spc="-5">
                <a:latin typeface="Arial"/>
                <a:cs typeface="Arial"/>
              </a:rPr>
              <a:t>aid</a:t>
            </a:r>
            <a:r>
              <a:rPr dirty="0" sz="1100" spc="65">
                <a:latin typeface="Arial"/>
                <a:cs typeface="Arial"/>
              </a:rPr>
              <a:t> </a:t>
            </a:r>
            <a:r>
              <a:rPr dirty="0" sz="1100" spc="-5">
                <a:latin typeface="Arial"/>
                <a:cs typeface="Arial"/>
              </a:rPr>
              <a:t>activities</a:t>
            </a:r>
            <a:r>
              <a:rPr dirty="0" sz="1100" spc="65">
                <a:latin typeface="Arial"/>
                <a:cs typeface="Arial"/>
              </a:rPr>
              <a:t> </a:t>
            </a:r>
            <a:r>
              <a:rPr dirty="0" sz="1100" spc="-5">
                <a:latin typeface="Arial"/>
                <a:cs typeface="Arial"/>
              </a:rPr>
              <a:t>in</a:t>
            </a:r>
            <a:r>
              <a:rPr dirty="0" sz="1100" spc="60">
                <a:latin typeface="Arial"/>
                <a:cs typeface="Arial"/>
              </a:rPr>
              <a:t> </a:t>
            </a:r>
            <a:r>
              <a:rPr dirty="0" sz="1100" spc="-5">
                <a:latin typeface="Arial"/>
                <a:cs typeface="Arial"/>
              </a:rPr>
              <a:t>developing</a:t>
            </a:r>
            <a:r>
              <a:rPr dirty="0" sz="1100" spc="60">
                <a:latin typeface="Arial"/>
                <a:cs typeface="Arial"/>
              </a:rPr>
              <a:t> </a:t>
            </a:r>
            <a:r>
              <a:rPr dirty="0" sz="1100" spc="-5">
                <a:latin typeface="Arial"/>
                <a:cs typeface="Arial"/>
              </a:rPr>
              <a:t>countries</a:t>
            </a:r>
            <a:r>
              <a:rPr dirty="0" sz="1100" spc="60">
                <a:latin typeface="Arial"/>
                <a:cs typeface="Arial"/>
              </a:rPr>
              <a:t> </a:t>
            </a:r>
            <a:r>
              <a:rPr dirty="0" sz="1100" spc="-5">
                <a:latin typeface="Arial"/>
                <a:cs typeface="Arial"/>
              </a:rPr>
              <a:t>grew</a:t>
            </a:r>
            <a:r>
              <a:rPr dirty="0" sz="1100" spc="60">
                <a:latin typeface="Arial"/>
                <a:cs typeface="Arial"/>
              </a:rPr>
              <a:t> </a:t>
            </a:r>
            <a:r>
              <a:rPr dirty="0" sz="1100" spc="-5">
                <a:latin typeface="Arial"/>
                <a:cs typeface="Arial"/>
              </a:rPr>
              <a:t>from</a:t>
            </a:r>
            <a:r>
              <a:rPr dirty="0" sz="1100" spc="70">
                <a:latin typeface="Arial"/>
                <a:cs typeface="Arial"/>
              </a:rPr>
              <a:t> </a:t>
            </a:r>
            <a:r>
              <a:rPr dirty="0" sz="1100" spc="-5">
                <a:latin typeface="Arial"/>
                <a:cs typeface="Arial"/>
              </a:rPr>
              <a:t>just</a:t>
            </a:r>
            <a:r>
              <a:rPr dirty="0" sz="1100" spc="60">
                <a:latin typeface="Arial"/>
                <a:cs typeface="Arial"/>
              </a:rPr>
              <a:t> </a:t>
            </a:r>
            <a:r>
              <a:rPr dirty="0" sz="1100" spc="-5">
                <a:latin typeface="Arial"/>
                <a:cs typeface="Arial"/>
              </a:rPr>
              <a:t>under</a:t>
            </a:r>
            <a:endParaRPr sz="1100">
              <a:latin typeface="Arial"/>
              <a:cs typeface="Arial"/>
            </a:endParaRPr>
          </a:p>
          <a:p>
            <a:pPr algn="just" marL="12700" marR="6350">
              <a:lnSpc>
                <a:spcPct val="95800"/>
              </a:lnSpc>
            </a:pPr>
            <a:r>
              <a:rPr dirty="0" sz="1100" spc="-5">
                <a:latin typeface="Arial"/>
                <a:cs typeface="Arial"/>
              </a:rPr>
              <a:t>$1 billion in 1970 to over $23 billion in 2008.31 Many NGOs give local control to their  developing-country affiliates or other local </a:t>
            </a:r>
            <a:r>
              <a:rPr dirty="0" sz="1100">
                <a:latin typeface="Arial"/>
                <a:cs typeface="Arial"/>
              </a:rPr>
              <a:t>groups </a:t>
            </a:r>
            <a:r>
              <a:rPr dirty="0" sz="1100" spc="-5">
                <a:latin typeface="Arial"/>
                <a:cs typeface="Arial"/>
              </a:rPr>
              <a:t>they support. Increasingly, indigenous NGOs  such as BRAC in Bangladesh are becoming active in international assistance (see the case  study for Chapter</a:t>
            </a:r>
            <a:r>
              <a:rPr dirty="0" sz="1100" spc="5">
                <a:latin typeface="Arial"/>
                <a:cs typeface="Arial"/>
              </a:rPr>
              <a:t> </a:t>
            </a:r>
            <a:r>
              <a:rPr dirty="0" sz="1100" spc="-5">
                <a:latin typeface="Arial"/>
                <a:cs typeface="Arial"/>
              </a:rPr>
              <a:t>11).</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315</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791845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NGOs have two important advantages. First, being less constrained by political imperatives,  most NGOs are able to work much more effectively at the local level with the people they are  trying to assist than massive bilateral and multilateral aid programs could. Second, by working  directly with local people’s organizations, many NGOs are better able to avoid the suspicion and  cynicism on the part of the mostly </a:t>
            </a:r>
            <a:r>
              <a:rPr dirty="0" sz="1100">
                <a:latin typeface="Arial"/>
                <a:cs typeface="Arial"/>
              </a:rPr>
              <a:t>poor </a:t>
            </a:r>
            <a:r>
              <a:rPr dirty="0" sz="1100" spc="-5">
                <a:latin typeface="Arial"/>
                <a:cs typeface="Arial"/>
              </a:rPr>
              <a:t>people that they serve that their help is insincere or likely  to be short-lived. It is estimated that NGOs in developing countries are affecting the lives of  some 250 million people; the fact that their voices are increasingly being listened to in the halls  of developed- country governments and at international conferences on development makes it  clear that the nature and focus of foreign aid are changing rapidly. NGOs have several other  important comparative advantages in relation to government and the private sector but also  some serious limitations, sometimes called “voluntary failure” (with reference to these private  voluntary organizations) as described in detail in Chapter 11. One critical question is whether  international NGOs can sustainably transfer </a:t>
            </a:r>
            <a:r>
              <a:rPr dirty="0" sz="1100">
                <a:latin typeface="Arial"/>
                <a:cs typeface="Arial"/>
              </a:rPr>
              <a:t>their </a:t>
            </a:r>
            <a:r>
              <a:rPr dirty="0" sz="1100" spc="-5">
                <a:latin typeface="Arial"/>
                <a:cs typeface="Arial"/>
              </a:rPr>
              <a:t>knowledge and capabilities to domestic NGOs  and other community-based</a:t>
            </a:r>
            <a:r>
              <a:rPr dirty="0" sz="1100" spc="10">
                <a:latin typeface="Arial"/>
                <a:cs typeface="Arial"/>
              </a:rPr>
              <a:t> </a:t>
            </a:r>
            <a:r>
              <a:rPr dirty="0" sz="1100" spc="-5">
                <a:latin typeface="Arial"/>
                <a:cs typeface="Arial"/>
              </a:rPr>
              <a:t>organizations.</a:t>
            </a:r>
            <a:endParaRPr sz="1100">
              <a:latin typeface="Arial"/>
              <a:cs typeface="Arial"/>
            </a:endParaRPr>
          </a:p>
          <a:p>
            <a:pPr>
              <a:lnSpc>
                <a:spcPct val="100000"/>
              </a:lnSpc>
              <a:spcBef>
                <a:spcPts val="5"/>
              </a:spcBef>
            </a:pPr>
            <a:endParaRPr sz="1050">
              <a:latin typeface="Arial"/>
              <a:cs typeface="Arial"/>
            </a:endParaRPr>
          </a:p>
          <a:p>
            <a:pPr algn="just" marL="12700">
              <a:lnSpc>
                <a:spcPct val="100000"/>
              </a:lnSpc>
            </a:pPr>
            <a:r>
              <a:rPr dirty="0" sz="1100" spc="-5" b="1">
                <a:latin typeface="Arial"/>
                <a:cs typeface="Arial"/>
              </a:rPr>
              <a:t>THE EFFECTS OF</a:t>
            </a:r>
            <a:r>
              <a:rPr dirty="0" sz="1100" spc="5" b="1">
                <a:latin typeface="Arial"/>
                <a:cs typeface="Arial"/>
              </a:rPr>
              <a:t> </a:t>
            </a:r>
            <a:r>
              <a:rPr dirty="0" sz="1100" spc="-5" b="1">
                <a:latin typeface="Arial"/>
                <a:cs typeface="Arial"/>
              </a:rPr>
              <a:t>AID</a:t>
            </a:r>
            <a:endParaRPr sz="1100">
              <a:latin typeface="Arial"/>
              <a:cs typeface="Arial"/>
            </a:endParaRPr>
          </a:p>
          <a:p>
            <a:pPr>
              <a:lnSpc>
                <a:spcPct val="100000"/>
              </a:lnSpc>
              <a:spcBef>
                <a:spcPts val="55"/>
              </a:spcBef>
            </a:pPr>
            <a:endParaRPr sz="1150">
              <a:latin typeface="Arial"/>
              <a:cs typeface="Arial"/>
            </a:endParaRPr>
          </a:p>
          <a:p>
            <a:pPr algn="just" marL="12700" marR="6350">
              <a:lnSpc>
                <a:spcPct val="95800"/>
              </a:lnSpc>
            </a:pPr>
            <a:r>
              <a:rPr dirty="0" sz="1100" spc="-5">
                <a:latin typeface="Arial"/>
                <a:cs typeface="Arial"/>
              </a:rPr>
              <a:t>The issue of the economic effects of aid, especially public aid, like that of the effects of private  foreign investment, is fraught with disagreement. On one side are the economic traditionalists,  who argue that aid has indeed promoted growth and structural transformation in many  developing countries. On the other side are critics who argue that aid does not promote faster  growth but may in fact retard it by substituting for, rather than supplementing, domestic savings  and investment and </a:t>
            </a:r>
            <a:r>
              <a:rPr dirty="0" sz="1100">
                <a:latin typeface="Arial"/>
                <a:cs typeface="Arial"/>
              </a:rPr>
              <a:t>by </a:t>
            </a:r>
            <a:r>
              <a:rPr dirty="0" sz="1100" spc="-5">
                <a:latin typeface="Arial"/>
                <a:cs typeface="Arial"/>
              </a:rPr>
              <a:t>exacerbating balance of payments deficits as a result of rising debt  repayment obligations (when aid takes the form of loans, even if at reduced interest rates) and  the linking of aid to donor-country</a:t>
            </a:r>
            <a:r>
              <a:rPr dirty="0" sz="1100" spc="20">
                <a:latin typeface="Arial"/>
                <a:cs typeface="Arial"/>
              </a:rPr>
              <a:t> </a:t>
            </a:r>
            <a:r>
              <a:rPr dirty="0" sz="1100" spc="-5">
                <a:latin typeface="Arial"/>
                <a:cs typeface="Arial"/>
              </a:rPr>
              <a:t>exports.</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900"/>
              </a:lnSpc>
            </a:pPr>
            <a:r>
              <a:rPr dirty="0" sz="1100" spc="-5">
                <a:latin typeface="Arial"/>
                <a:cs typeface="Arial"/>
              </a:rPr>
              <a:t>Official aid is further criticized for focusing on and stimulating the growth of the modern sector,  thereby increasing the gap in living standards between the rich and the poor in developing  countries. Some critics on the left would even assert that foreign aid has been a force for  antidevelopment in the sense that it both retards growth through reduced savings and worsens  income inequalities. Rather than relieving economic bottlenecks and filling gaps, aid— and for  that matter private foreign investment—not only widens existing savings and foreign-exchange  resource gaps but </a:t>
            </a:r>
            <a:r>
              <a:rPr dirty="0" sz="1100">
                <a:latin typeface="Arial"/>
                <a:cs typeface="Arial"/>
              </a:rPr>
              <a:t>may </a:t>
            </a:r>
            <a:r>
              <a:rPr dirty="0" sz="1100" spc="-5">
                <a:latin typeface="Arial"/>
                <a:cs typeface="Arial"/>
              </a:rPr>
              <a:t>even create new ones (e.g., urban-rural or modern-sector–traditional-  sector gaps). Critics on the right charge that foreign aid has been a failure because it has been  largely appropriated by corrupt bureaucrats, has stifled initiative, and has generally engendered  a welfare mentality on the part of recipient</a:t>
            </a:r>
            <a:r>
              <a:rPr dirty="0" sz="1100" spc="40">
                <a:latin typeface="Arial"/>
                <a:cs typeface="Arial"/>
              </a:rPr>
              <a:t> </a:t>
            </a:r>
            <a:r>
              <a:rPr dirty="0" sz="1100" spc="-5">
                <a:latin typeface="Arial"/>
                <a:cs typeface="Arial"/>
              </a:rPr>
              <a:t>nations.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But one of the most promising developments of the new century has been the emphasis on  rigorous testing of the impact of development assistance. In 2005, national and multilateral  officials concerned with international development met </a:t>
            </a:r>
            <a:r>
              <a:rPr dirty="0" sz="1100">
                <a:latin typeface="Arial"/>
                <a:cs typeface="Arial"/>
              </a:rPr>
              <a:t>in </a:t>
            </a:r>
            <a:r>
              <a:rPr dirty="0" sz="1100" spc="-5">
                <a:latin typeface="Arial"/>
                <a:cs typeface="Arial"/>
              </a:rPr>
              <a:t>Paris and agreed to place greater  emphasis on monitoring and systematically </a:t>
            </a:r>
            <a:r>
              <a:rPr dirty="0" sz="1100">
                <a:latin typeface="Arial"/>
                <a:cs typeface="Arial"/>
              </a:rPr>
              <a:t>measuring </a:t>
            </a:r>
            <a:r>
              <a:rPr dirty="0" sz="1100" spc="-5">
                <a:latin typeface="Arial"/>
                <a:cs typeface="Arial"/>
              </a:rPr>
              <a:t>aid effectiveness. Accompanying this  policy emphasis is a growing acceptance of the </a:t>
            </a:r>
            <a:r>
              <a:rPr dirty="0" sz="1100">
                <a:latin typeface="Arial"/>
                <a:cs typeface="Arial"/>
              </a:rPr>
              <a:t>value </a:t>
            </a:r>
            <a:r>
              <a:rPr dirty="0" sz="1100" spc="-5">
                <a:latin typeface="Arial"/>
                <a:cs typeface="Arial"/>
              </a:rPr>
              <a:t>of evaluating programs with greater rigor.  One major trend is to encourage evaluation through randomized trials. Clearly, not all valuable  development activities can be studied with these methods; methods must follow from relevant  development economics questions and cannot be the primary driver of the questions that are  asked. And it is often hard to generalize beyond the local experiment to other locations where  conditions differ—known as the external validity problem. But when feasible and appropriate,  randomized trials are a powerful method. In recent years, randomization has been adapted to  study a growing range of education, health, microfinance, and social welfare</a:t>
            </a:r>
            <a:r>
              <a:rPr dirty="0" sz="1100" spc="125">
                <a:latin typeface="Arial"/>
                <a:cs typeface="Arial"/>
              </a:rPr>
              <a:t> </a:t>
            </a:r>
            <a:r>
              <a:rPr dirty="0" sz="1100" spc="-5">
                <a:latin typeface="Arial"/>
                <a:cs typeface="Arial"/>
              </a:rPr>
              <a:t>programs.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316</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99631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After years of aid weariness, polls have shown </a:t>
            </a:r>
            <a:r>
              <a:rPr dirty="0" sz="1100">
                <a:latin typeface="Arial"/>
                <a:cs typeface="Arial"/>
              </a:rPr>
              <a:t>that </a:t>
            </a:r>
            <a:r>
              <a:rPr dirty="0" sz="1100" spc="-5">
                <a:latin typeface="Arial"/>
                <a:cs typeface="Arial"/>
              </a:rPr>
              <a:t>the </a:t>
            </a:r>
            <a:r>
              <a:rPr dirty="0" sz="1100">
                <a:latin typeface="Arial"/>
                <a:cs typeface="Arial"/>
              </a:rPr>
              <a:t>public </a:t>
            </a:r>
            <a:r>
              <a:rPr dirty="0" sz="1100" spc="-5">
                <a:latin typeface="Arial"/>
                <a:cs typeface="Arial"/>
              </a:rPr>
              <a:t>is increasingly willing to support  increases in government aid budgets and to donate development assistance via NGOs, and </a:t>
            </a:r>
            <a:r>
              <a:rPr dirty="0" sz="1100">
                <a:latin typeface="Arial"/>
                <a:cs typeface="Arial"/>
              </a:rPr>
              <a:t>the  </a:t>
            </a:r>
            <a:r>
              <a:rPr dirty="0" sz="1100" spc="-5">
                <a:latin typeface="Arial"/>
                <a:cs typeface="Arial"/>
              </a:rPr>
              <a:t>development crisis in many of the least developed countries, especially in sub-Saharan Africa  has mobilized public opinion in support of greater development assistance. Poll numbers also  suggest that the upturn in public support for aid was at least temporarily weakened in the  aftermath of the recent global financial</a:t>
            </a:r>
            <a:r>
              <a:rPr dirty="0" sz="1100" spc="25">
                <a:latin typeface="Arial"/>
                <a:cs typeface="Arial"/>
              </a:rPr>
              <a:t> </a:t>
            </a:r>
            <a:r>
              <a:rPr dirty="0" sz="1100" spc="-5">
                <a:latin typeface="Arial"/>
                <a:cs typeface="Arial"/>
              </a:rPr>
              <a:t>crisis.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317</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54365"/>
          </a:xfrm>
          <a:prstGeom prst="rect">
            <a:avLst/>
          </a:prstGeom>
        </p:spPr>
        <p:txBody>
          <a:bodyPr wrap="square" lIns="0" tIns="12065" rIns="0" bIns="0" rtlCol="0" vert="horz">
            <a:spAutoFit/>
          </a:bodyPr>
          <a:lstStyle/>
          <a:p>
            <a:pPr algn="r" marR="6350">
              <a:lnSpc>
                <a:spcPct val="100000"/>
              </a:lnSpc>
              <a:spcBef>
                <a:spcPts val="95"/>
              </a:spcBef>
            </a:pPr>
            <a:r>
              <a:rPr dirty="0" sz="1100" spc="-5">
                <a:latin typeface="Arial"/>
                <a:cs typeface="Arial"/>
              </a:rPr>
              <a:t>Lesson</a:t>
            </a:r>
            <a:r>
              <a:rPr dirty="0" sz="1100" spc="-70">
                <a:latin typeface="Arial"/>
                <a:cs typeface="Arial"/>
              </a:rPr>
              <a:t> </a:t>
            </a:r>
            <a:r>
              <a:rPr dirty="0" sz="1100" spc="-5">
                <a:latin typeface="Arial"/>
                <a:cs typeface="Arial"/>
              </a:rPr>
              <a:t>45</a:t>
            </a:r>
            <a:endParaRPr sz="1100">
              <a:latin typeface="Arial"/>
              <a:cs typeface="Arial"/>
            </a:endParaRPr>
          </a:p>
          <a:p>
            <a:pPr marL="12700" marR="1201420" indent="1221105">
              <a:lnSpc>
                <a:spcPts val="2640"/>
              </a:lnSpc>
              <a:spcBef>
                <a:spcPts val="209"/>
              </a:spcBef>
            </a:pPr>
            <a:r>
              <a:rPr dirty="0" sz="1100" spc="-5" b="1">
                <a:latin typeface="Arial"/>
                <a:cs typeface="Arial"/>
              </a:rPr>
              <a:t>FINANCE AND FISCAL </a:t>
            </a:r>
            <a:r>
              <a:rPr dirty="0" sz="1100" spc="-10" b="1">
                <a:latin typeface="Arial"/>
                <a:cs typeface="Arial"/>
              </a:rPr>
              <a:t>POLICY </a:t>
            </a:r>
            <a:r>
              <a:rPr dirty="0" sz="1100" spc="-5" b="1">
                <a:latin typeface="Arial"/>
                <a:cs typeface="Arial"/>
              </a:rPr>
              <a:t>FOR DEVELOPMENT  THE ROLE OF THE FINANCIAL SYSTEM </a:t>
            </a:r>
            <a:r>
              <a:rPr dirty="0" sz="1100" b="1">
                <a:latin typeface="Arial"/>
                <a:cs typeface="Arial"/>
              </a:rPr>
              <a:t>IN </a:t>
            </a:r>
            <a:r>
              <a:rPr dirty="0" sz="1100" spc="-5" b="1">
                <a:latin typeface="Arial"/>
                <a:cs typeface="Arial"/>
              </a:rPr>
              <a:t>ECONOMIC</a:t>
            </a:r>
            <a:r>
              <a:rPr dirty="0" sz="1100" spc="-10" b="1">
                <a:latin typeface="Arial"/>
                <a:cs typeface="Arial"/>
              </a:rPr>
              <a:t> </a:t>
            </a:r>
            <a:r>
              <a:rPr dirty="0" sz="1100" spc="-5" b="1">
                <a:latin typeface="Arial"/>
                <a:cs typeface="Arial"/>
              </a:rPr>
              <a:t>DEVELOPMENT</a:t>
            </a:r>
            <a:endParaRPr sz="1100">
              <a:latin typeface="Arial"/>
              <a:cs typeface="Arial"/>
            </a:endParaRPr>
          </a:p>
          <a:p>
            <a:pPr algn="just" marL="12700" marR="5080">
              <a:lnSpc>
                <a:spcPct val="95800"/>
              </a:lnSpc>
              <a:spcBef>
                <a:spcPts val="1065"/>
              </a:spcBef>
            </a:pPr>
            <a:r>
              <a:rPr dirty="0" sz="1100" spc="-5">
                <a:latin typeface="Arial"/>
                <a:cs typeface="Arial"/>
              </a:rPr>
              <a:t>Generally, a distinction is made between the real sector and the financial sector. This  terminology is unfortunate because it suggests that the financial sector is something less than  real. This impression has been abetted by the view </a:t>
            </a:r>
            <a:r>
              <a:rPr dirty="0" sz="1100">
                <a:latin typeface="Arial"/>
                <a:cs typeface="Arial"/>
              </a:rPr>
              <a:t>that </a:t>
            </a:r>
            <a:r>
              <a:rPr dirty="0" sz="1100" spc="-5">
                <a:latin typeface="Arial"/>
                <a:cs typeface="Arial"/>
              </a:rPr>
              <a:t>the financial sector is a mere  appendage to the real economy. As the economist Joan Robinson famously put it, “Where  enterprise leads, finance follows.” Certainly, there is some truth to this aphorism; to a large  extent, demand for financial services is derived from the activities of non-financial firms. But  there is evidence that finance can also be a limiting factor in economic development. From the  impoverished mother in Zambia who attempts to feed her family with income from her credit-  starved micro enterprise and who could be much more productive with more working capital to  the start-up firm in </a:t>
            </a:r>
            <a:r>
              <a:rPr dirty="0" sz="1100">
                <a:latin typeface="Arial"/>
                <a:cs typeface="Arial"/>
              </a:rPr>
              <a:t>India </a:t>
            </a:r>
            <a:r>
              <a:rPr dirty="0" sz="1100" spc="-5">
                <a:latin typeface="Arial"/>
                <a:cs typeface="Arial"/>
              </a:rPr>
              <a:t>that cannot get established without private equity capital and </a:t>
            </a:r>
            <a:r>
              <a:rPr dirty="0" sz="1100">
                <a:latin typeface="Arial"/>
                <a:cs typeface="Arial"/>
              </a:rPr>
              <a:t>may  </a:t>
            </a:r>
            <a:r>
              <a:rPr dirty="0" sz="1100" spc="-5">
                <a:latin typeface="Arial"/>
                <a:cs typeface="Arial"/>
              </a:rPr>
              <a:t>eventually wish to float a public offering to the farmer on the world’s richest soil in Ukraine who  cannot plant for want of credit to buy seeds to the budding family-owned shoe company in Brazil  that needs better access to lower-cost loans to begin to export to the established publicly traded  firm in the Philippines that wishes to sell more shares to provide </a:t>
            </a:r>
            <a:r>
              <a:rPr dirty="0" sz="1100">
                <a:latin typeface="Arial"/>
                <a:cs typeface="Arial"/>
              </a:rPr>
              <a:t>funds </a:t>
            </a:r>
            <a:r>
              <a:rPr dirty="0" sz="1100" spc="-5">
                <a:latin typeface="Arial"/>
                <a:cs typeface="Arial"/>
              </a:rPr>
              <a:t>for restructuring, the  need for finance can be seen everywhere in the developing</a:t>
            </a:r>
            <a:r>
              <a:rPr dirty="0" sz="1100" spc="55">
                <a:latin typeface="Arial"/>
                <a:cs typeface="Arial"/>
              </a:rPr>
              <a:t> </a:t>
            </a:r>
            <a:r>
              <a:rPr dirty="0" sz="1100" spc="-5">
                <a:latin typeface="Arial"/>
                <a:cs typeface="Arial"/>
              </a:rPr>
              <a:t>world.</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Hugh Patrick offered a “stages of development” argument that financial development causes  growth at the start of modern development, but once the financial system is established; it  mainly follows the real sector. Most likely, the causality runs in both</a:t>
            </a:r>
            <a:r>
              <a:rPr dirty="0" sz="1100" spc="95">
                <a:latin typeface="Arial"/>
                <a:cs typeface="Arial"/>
              </a:rPr>
              <a:t> </a:t>
            </a:r>
            <a:r>
              <a:rPr dirty="0" sz="1100" spc="-5">
                <a:latin typeface="Arial"/>
                <a:cs typeface="Arial"/>
              </a:rPr>
              <a:t>directions.</a:t>
            </a:r>
            <a:endParaRPr sz="1100">
              <a:latin typeface="Arial"/>
              <a:cs typeface="Arial"/>
            </a:endParaRPr>
          </a:p>
          <a:p>
            <a:pPr>
              <a:lnSpc>
                <a:spcPct val="100000"/>
              </a:lnSpc>
              <a:spcBef>
                <a:spcPts val="55"/>
              </a:spcBef>
            </a:pPr>
            <a:endParaRPr sz="1050">
              <a:latin typeface="Arial"/>
              <a:cs typeface="Arial"/>
            </a:endParaRPr>
          </a:p>
          <a:p>
            <a:pPr algn="just" marL="12700" marR="6350">
              <a:lnSpc>
                <a:spcPts val="1260"/>
              </a:lnSpc>
            </a:pPr>
            <a:r>
              <a:rPr dirty="0" sz="1100" spc="-5">
                <a:latin typeface="Arial"/>
                <a:cs typeface="Arial"/>
              </a:rPr>
              <a:t>What is so important about finance? The financial sector provides six major functions that are  important both at the firm level and at the level of the economy as a</a:t>
            </a:r>
            <a:r>
              <a:rPr dirty="0" sz="1100" spc="110">
                <a:latin typeface="Arial"/>
                <a:cs typeface="Arial"/>
              </a:rPr>
              <a:t> </a:t>
            </a:r>
            <a:r>
              <a:rPr dirty="0" sz="1100" spc="-5">
                <a:latin typeface="Arial"/>
                <a:cs typeface="Arial"/>
              </a:rPr>
              <a:t>whole.</a:t>
            </a:r>
            <a:endParaRPr sz="1100">
              <a:latin typeface="Arial"/>
              <a:cs typeface="Arial"/>
            </a:endParaRPr>
          </a:p>
          <a:p>
            <a:pPr>
              <a:lnSpc>
                <a:spcPct val="100000"/>
              </a:lnSpc>
              <a:spcBef>
                <a:spcPts val="25"/>
              </a:spcBef>
            </a:pPr>
            <a:endParaRPr sz="1050">
              <a:latin typeface="Arial"/>
              <a:cs typeface="Arial"/>
            </a:endParaRPr>
          </a:p>
          <a:p>
            <a:pPr algn="just" marL="501650" marR="7620" indent="-229235">
              <a:lnSpc>
                <a:spcPct val="95800"/>
              </a:lnSpc>
              <a:spcBef>
                <a:spcPts val="5"/>
              </a:spcBef>
              <a:buAutoNum type="arabicPeriod"/>
              <a:tabLst>
                <a:tab pos="469900" algn="l"/>
              </a:tabLst>
            </a:pPr>
            <a:r>
              <a:rPr dirty="0" sz="1100" spc="-5" b="1">
                <a:latin typeface="Arial"/>
                <a:cs typeface="Arial"/>
              </a:rPr>
              <a:t>Providing payment services. </a:t>
            </a:r>
            <a:r>
              <a:rPr dirty="0" sz="1100" spc="-5">
                <a:latin typeface="Arial"/>
                <a:cs typeface="Arial"/>
              </a:rPr>
              <a:t>It is inconvenient, inefficient, and risky to carry around  enough cash to pay for purchased goods and services. Financial institutions provide an  efficient alternative. The most obvious examples are personal and commercial checking  and check-clearing and credit and debit card services; each is growing in importance, in  the modern sectors at least, even in low-income</a:t>
            </a:r>
            <a:r>
              <a:rPr dirty="0" sz="1100" spc="40">
                <a:latin typeface="Arial"/>
                <a:cs typeface="Arial"/>
              </a:rPr>
              <a:t> </a:t>
            </a:r>
            <a:r>
              <a:rPr dirty="0" sz="1100" spc="-5">
                <a:latin typeface="Arial"/>
                <a:cs typeface="Arial"/>
              </a:rPr>
              <a:t>countries.</a:t>
            </a:r>
            <a:endParaRPr sz="1100">
              <a:latin typeface="Arial"/>
              <a:cs typeface="Arial"/>
            </a:endParaRPr>
          </a:p>
          <a:p>
            <a:pPr algn="just" marL="501650" marR="5080" indent="-228600">
              <a:lnSpc>
                <a:spcPct val="95800"/>
              </a:lnSpc>
              <a:buAutoNum type="arabicPeriod"/>
              <a:tabLst>
                <a:tab pos="469900" algn="l"/>
              </a:tabLst>
            </a:pPr>
            <a:r>
              <a:rPr dirty="0" sz="1100" spc="-5" b="1">
                <a:latin typeface="Arial"/>
                <a:cs typeface="Arial"/>
              </a:rPr>
              <a:t>Matching savers and investors. </a:t>
            </a:r>
            <a:r>
              <a:rPr dirty="0" sz="1100" spc="-5">
                <a:latin typeface="Arial"/>
                <a:cs typeface="Arial"/>
              </a:rPr>
              <a:t>Although many people save, such as for retirement,  and many have investment projects, such as building a factory or expanding the  inventory carried by a family micro enterprise, it would be only by the wildest of  coincidences that each investor saved exactly as much as needed to finance a given  project. Therefore, it is important </a:t>
            </a:r>
            <a:r>
              <a:rPr dirty="0" sz="1100">
                <a:latin typeface="Arial"/>
                <a:cs typeface="Arial"/>
              </a:rPr>
              <a:t>that </a:t>
            </a:r>
            <a:r>
              <a:rPr dirty="0" sz="1100" spc="-5">
                <a:latin typeface="Arial"/>
                <a:cs typeface="Arial"/>
              </a:rPr>
              <a:t>savers and investors somehow meet and agree on  terms for </a:t>
            </a:r>
            <a:r>
              <a:rPr dirty="0" sz="1100">
                <a:latin typeface="Arial"/>
                <a:cs typeface="Arial"/>
              </a:rPr>
              <a:t>loans </a:t>
            </a:r>
            <a:r>
              <a:rPr dirty="0" sz="1100" spc="-5">
                <a:latin typeface="Arial"/>
                <a:cs typeface="Arial"/>
              </a:rPr>
              <a:t>or other forms of finance. This can occur without financial institutions;  even in highly developed markets, many new entrepreneurs obtain a significant fraction  of their initial funds from family and friends. However, the presence of banks, and later  venture capital or stock markets, can greatly facilitate matching in an efficient manner.  Small savers simply deposit their savings and let the bank decide where to invest</a:t>
            </a:r>
            <a:r>
              <a:rPr dirty="0" sz="1100" spc="210">
                <a:latin typeface="Arial"/>
                <a:cs typeface="Arial"/>
              </a:rPr>
              <a:t> </a:t>
            </a:r>
            <a:r>
              <a:rPr dirty="0" sz="1100" spc="-5">
                <a:latin typeface="Arial"/>
                <a:cs typeface="Arial"/>
              </a:rPr>
              <a:t>them.</a:t>
            </a:r>
            <a:endParaRPr sz="1100">
              <a:latin typeface="Arial"/>
              <a:cs typeface="Arial"/>
            </a:endParaRPr>
          </a:p>
          <a:p>
            <a:pPr algn="just" marL="501650" marR="6350" indent="-229235">
              <a:lnSpc>
                <a:spcPct val="95800"/>
              </a:lnSpc>
              <a:buAutoNum type="arabicPeriod"/>
              <a:tabLst>
                <a:tab pos="469900" algn="l"/>
              </a:tabLst>
            </a:pPr>
            <a:r>
              <a:rPr dirty="0" sz="1100" spc="-5" b="1">
                <a:latin typeface="Arial"/>
                <a:cs typeface="Arial"/>
              </a:rPr>
              <a:t>Generating and distributing information. </a:t>
            </a:r>
            <a:r>
              <a:rPr dirty="0" sz="1100" spc="-5">
                <a:latin typeface="Arial"/>
                <a:cs typeface="Arial"/>
              </a:rPr>
              <a:t>From a society wide viewpoint, one of the  most important functions of the financial system is to generate and distribute  information. Stock and bond prices in the daily newspapers of developing countries (and  increasingly on the Internet as well) are a familiar example; these prices represent the  average judgment of thousands, if not millions, of investors, based on the information  they have available about these and all other investments. Banks also collect  information</a:t>
            </a:r>
            <a:r>
              <a:rPr dirty="0" sz="1100" spc="20">
                <a:latin typeface="Arial"/>
                <a:cs typeface="Arial"/>
              </a:rPr>
              <a:t> </a:t>
            </a:r>
            <a:r>
              <a:rPr dirty="0" sz="1100" spc="-5">
                <a:latin typeface="Arial"/>
                <a:cs typeface="Arial"/>
              </a:rPr>
              <a:t>about</a:t>
            </a:r>
            <a:r>
              <a:rPr dirty="0" sz="1100" spc="25">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firms</a:t>
            </a:r>
            <a:r>
              <a:rPr dirty="0" sz="1100" spc="25">
                <a:latin typeface="Arial"/>
                <a:cs typeface="Arial"/>
              </a:rPr>
              <a:t> </a:t>
            </a:r>
            <a:r>
              <a:rPr dirty="0" sz="1100" spc="-5">
                <a:latin typeface="Arial"/>
                <a:cs typeface="Arial"/>
              </a:rPr>
              <a:t>that</a:t>
            </a:r>
            <a:r>
              <a:rPr dirty="0" sz="1100" spc="25">
                <a:latin typeface="Arial"/>
                <a:cs typeface="Arial"/>
              </a:rPr>
              <a:t> </a:t>
            </a:r>
            <a:r>
              <a:rPr dirty="0" sz="1100" spc="-5">
                <a:latin typeface="Arial"/>
                <a:cs typeface="Arial"/>
              </a:rPr>
              <a:t>borrow</a:t>
            </a:r>
            <a:r>
              <a:rPr dirty="0" sz="1100" spc="25">
                <a:latin typeface="Arial"/>
                <a:cs typeface="Arial"/>
              </a:rPr>
              <a:t> </a:t>
            </a:r>
            <a:r>
              <a:rPr dirty="0" sz="1100" spc="-5">
                <a:latin typeface="Arial"/>
                <a:cs typeface="Arial"/>
              </a:rPr>
              <a:t>from</a:t>
            </a:r>
            <a:r>
              <a:rPr dirty="0" sz="1100" spc="25">
                <a:latin typeface="Arial"/>
                <a:cs typeface="Arial"/>
              </a:rPr>
              <a:t> </a:t>
            </a:r>
            <a:r>
              <a:rPr dirty="0" sz="1100" spc="-5">
                <a:latin typeface="Arial"/>
                <a:cs typeface="Arial"/>
              </a:rPr>
              <a:t>them;</a:t>
            </a:r>
            <a:r>
              <a:rPr dirty="0" sz="1100" spc="25">
                <a:latin typeface="Arial"/>
                <a:cs typeface="Arial"/>
              </a:rPr>
              <a:t> </a:t>
            </a:r>
            <a:r>
              <a:rPr dirty="0" sz="1100" spc="-5">
                <a:latin typeface="Arial"/>
                <a:cs typeface="Arial"/>
              </a:rPr>
              <a:t>the</a:t>
            </a:r>
            <a:r>
              <a:rPr dirty="0" sz="1100" spc="25">
                <a:latin typeface="Arial"/>
                <a:cs typeface="Arial"/>
              </a:rPr>
              <a:t> </a:t>
            </a:r>
            <a:r>
              <a:rPr dirty="0" sz="1100" spc="-5">
                <a:latin typeface="Arial"/>
                <a:cs typeface="Arial"/>
              </a:rPr>
              <a:t>resulting</a:t>
            </a:r>
            <a:r>
              <a:rPr dirty="0" sz="1100" spc="25">
                <a:latin typeface="Arial"/>
                <a:cs typeface="Arial"/>
              </a:rPr>
              <a:t> </a:t>
            </a:r>
            <a:r>
              <a:rPr dirty="0" sz="1100" spc="-5">
                <a:latin typeface="Arial"/>
                <a:cs typeface="Arial"/>
              </a:rPr>
              <a:t>information</a:t>
            </a:r>
            <a:r>
              <a:rPr dirty="0" sz="1100" spc="25">
                <a:latin typeface="Arial"/>
                <a:cs typeface="Arial"/>
              </a:rPr>
              <a:t> </a:t>
            </a:r>
            <a:r>
              <a:rPr dirty="0" sz="1100" spc="-5">
                <a:latin typeface="Arial"/>
                <a:cs typeface="Arial"/>
              </a:rPr>
              <a:t>is</a:t>
            </a:r>
            <a:r>
              <a:rPr dirty="0" sz="1100" spc="25">
                <a:latin typeface="Arial"/>
                <a:cs typeface="Arial"/>
              </a:rPr>
              <a:t> </a:t>
            </a:r>
            <a:r>
              <a:rPr dirty="0" sz="1100" spc="-5">
                <a:latin typeface="Arial"/>
                <a:cs typeface="Arial"/>
              </a:rPr>
              <a:t>one</a:t>
            </a:r>
            <a:r>
              <a:rPr dirty="0" sz="1100" spc="25">
                <a:latin typeface="Arial"/>
                <a:cs typeface="Arial"/>
              </a:rPr>
              <a:t> </a:t>
            </a:r>
            <a:r>
              <a:rPr dirty="0" sz="1100" spc="-5">
                <a:latin typeface="Arial"/>
                <a:cs typeface="Arial"/>
              </a:rPr>
              <a:t>of</a:t>
            </a:r>
            <a:r>
              <a:rPr dirty="0" sz="1100" spc="30">
                <a:latin typeface="Arial"/>
                <a:cs typeface="Arial"/>
              </a:rPr>
              <a:t> </a:t>
            </a:r>
            <a:r>
              <a:rPr dirty="0" sz="1100" spc="-5">
                <a:latin typeface="Arial"/>
                <a:cs typeface="Arial"/>
              </a:rPr>
              <a:t>the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318</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99" y="891794"/>
            <a:ext cx="5970270" cy="7918450"/>
          </a:xfrm>
          <a:prstGeom prst="rect">
            <a:avLst/>
          </a:prstGeom>
        </p:spPr>
        <p:txBody>
          <a:bodyPr wrap="square" lIns="0" tIns="22860" rIns="0" bIns="0" rtlCol="0" vert="horz">
            <a:spAutoFit/>
          </a:bodyPr>
          <a:lstStyle/>
          <a:p>
            <a:pPr algn="just" marL="501650" marR="6350">
              <a:lnSpc>
                <a:spcPts val="1270"/>
              </a:lnSpc>
              <a:spcBef>
                <a:spcPts val="180"/>
              </a:spcBef>
            </a:pPr>
            <a:r>
              <a:rPr dirty="0" sz="1100" spc="-5">
                <a:latin typeface="Arial"/>
                <a:cs typeface="Arial"/>
              </a:rPr>
              <a:t>most important components of the “capital” of a bank, although it is often unrecognized  as such. In these regards, it has been said that financial markets represent the “brain” of  the economic</a:t>
            </a:r>
            <a:r>
              <a:rPr dirty="0" sz="1100">
                <a:latin typeface="Arial"/>
                <a:cs typeface="Arial"/>
              </a:rPr>
              <a:t> </a:t>
            </a:r>
            <a:r>
              <a:rPr dirty="0" sz="1100" spc="-5">
                <a:latin typeface="Arial"/>
                <a:cs typeface="Arial"/>
              </a:rPr>
              <a:t>system.</a:t>
            </a:r>
            <a:endParaRPr sz="1100">
              <a:latin typeface="Arial"/>
              <a:cs typeface="Arial"/>
            </a:endParaRPr>
          </a:p>
          <a:p>
            <a:pPr marL="469265" indent="-196850">
              <a:lnSpc>
                <a:spcPts val="1190"/>
              </a:lnSpc>
              <a:buAutoNum type="arabicPeriod" startAt="4"/>
              <a:tabLst>
                <a:tab pos="469900" algn="l"/>
              </a:tabLst>
            </a:pPr>
            <a:r>
              <a:rPr dirty="0" sz="1100" spc="-5" b="1">
                <a:latin typeface="Arial"/>
                <a:cs typeface="Arial"/>
              </a:rPr>
              <a:t>Allocating</a:t>
            </a:r>
            <a:r>
              <a:rPr dirty="0" sz="1100" spc="90" b="1">
                <a:latin typeface="Arial"/>
                <a:cs typeface="Arial"/>
              </a:rPr>
              <a:t> </a:t>
            </a:r>
            <a:r>
              <a:rPr dirty="0" sz="1100" spc="-5" b="1">
                <a:latin typeface="Arial"/>
                <a:cs typeface="Arial"/>
              </a:rPr>
              <a:t>credit</a:t>
            </a:r>
            <a:r>
              <a:rPr dirty="0" sz="1100" spc="95" b="1">
                <a:latin typeface="Arial"/>
                <a:cs typeface="Arial"/>
              </a:rPr>
              <a:t> </a:t>
            </a:r>
            <a:r>
              <a:rPr dirty="0" sz="1100" spc="-5" b="1">
                <a:latin typeface="Arial"/>
                <a:cs typeface="Arial"/>
              </a:rPr>
              <a:t>efficiently.</a:t>
            </a:r>
            <a:r>
              <a:rPr dirty="0" sz="1100" spc="95" b="1">
                <a:latin typeface="Arial"/>
                <a:cs typeface="Arial"/>
              </a:rPr>
              <a:t> </a:t>
            </a:r>
            <a:r>
              <a:rPr dirty="0" sz="1100" spc="-5">
                <a:latin typeface="Arial"/>
                <a:cs typeface="Arial"/>
              </a:rPr>
              <a:t>Channeling</a:t>
            </a:r>
            <a:r>
              <a:rPr dirty="0" sz="1100" spc="95">
                <a:latin typeface="Arial"/>
                <a:cs typeface="Arial"/>
              </a:rPr>
              <a:t> </a:t>
            </a:r>
            <a:r>
              <a:rPr dirty="0" sz="1100" spc="-5">
                <a:latin typeface="Arial"/>
                <a:cs typeface="Arial"/>
              </a:rPr>
              <a:t>investment</a:t>
            </a:r>
            <a:r>
              <a:rPr dirty="0" sz="1100" spc="95">
                <a:latin typeface="Arial"/>
                <a:cs typeface="Arial"/>
              </a:rPr>
              <a:t> </a:t>
            </a:r>
            <a:r>
              <a:rPr dirty="0" sz="1100" spc="-5">
                <a:latin typeface="Arial"/>
                <a:cs typeface="Arial"/>
              </a:rPr>
              <a:t>funds</a:t>
            </a:r>
            <a:r>
              <a:rPr dirty="0" sz="1100" spc="95">
                <a:latin typeface="Arial"/>
                <a:cs typeface="Arial"/>
              </a:rPr>
              <a:t> </a:t>
            </a:r>
            <a:r>
              <a:rPr dirty="0" sz="1100" spc="-5">
                <a:latin typeface="Arial"/>
                <a:cs typeface="Arial"/>
              </a:rPr>
              <a:t>to</a:t>
            </a:r>
            <a:r>
              <a:rPr dirty="0" sz="1100" spc="95">
                <a:latin typeface="Arial"/>
                <a:cs typeface="Arial"/>
              </a:rPr>
              <a:t> </a:t>
            </a:r>
            <a:r>
              <a:rPr dirty="0" sz="1100" spc="-5">
                <a:latin typeface="Arial"/>
                <a:cs typeface="Arial"/>
              </a:rPr>
              <a:t>uses</a:t>
            </a:r>
            <a:r>
              <a:rPr dirty="0" sz="1100" spc="90">
                <a:latin typeface="Arial"/>
                <a:cs typeface="Arial"/>
              </a:rPr>
              <a:t> </a:t>
            </a:r>
            <a:r>
              <a:rPr dirty="0" sz="1100" spc="-5">
                <a:latin typeface="Arial"/>
                <a:cs typeface="Arial"/>
              </a:rPr>
              <a:t>yielding</a:t>
            </a:r>
            <a:r>
              <a:rPr dirty="0" sz="1100" spc="95">
                <a:latin typeface="Arial"/>
                <a:cs typeface="Arial"/>
              </a:rPr>
              <a:t> </a:t>
            </a:r>
            <a:r>
              <a:rPr dirty="0" sz="1100" spc="-5">
                <a:latin typeface="Arial"/>
                <a:cs typeface="Arial"/>
              </a:rPr>
              <a:t>the</a:t>
            </a:r>
            <a:r>
              <a:rPr dirty="0" sz="1100" spc="95">
                <a:latin typeface="Arial"/>
                <a:cs typeface="Arial"/>
              </a:rPr>
              <a:t> </a:t>
            </a:r>
            <a:r>
              <a:rPr dirty="0" sz="1100" spc="-5">
                <a:latin typeface="Arial"/>
                <a:cs typeface="Arial"/>
              </a:rPr>
              <a:t>highest</a:t>
            </a:r>
            <a:endParaRPr sz="1100">
              <a:latin typeface="Arial"/>
              <a:cs typeface="Arial"/>
            </a:endParaRPr>
          </a:p>
          <a:p>
            <a:pPr marL="501650" marR="6985">
              <a:lnSpc>
                <a:spcPts val="1270"/>
              </a:lnSpc>
              <a:spcBef>
                <a:spcPts val="55"/>
              </a:spcBef>
            </a:pPr>
            <a:r>
              <a:rPr dirty="0" sz="1100" spc="-5">
                <a:latin typeface="Arial"/>
                <a:cs typeface="Arial"/>
              </a:rPr>
              <a:t>rate of return allows increases in specialization and the division of labor, which have  been recognized since the time of Adam Smith as a key to the wealth of</a:t>
            </a:r>
            <a:r>
              <a:rPr dirty="0" sz="1100" spc="145">
                <a:latin typeface="Arial"/>
                <a:cs typeface="Arial"/>
              </a:rPr>
              <a:t> </a:t>
            </a:r>
            <a:r>
              <a:rPr dirty="0" sz="1100" spc="-5">
                <a:latin typeface="Arial"/>
                <a:cs typeface="Arial"/>
              </a:rPr>
              <a:t>nations.</a:t>
            </a:r>
            <a:endParaRPr sz="1100">
              <a:latin typeface="Arial"/>
              <a:cs typeface="Arial"/>
            </a:endParaRPr>
          </a:p>
          <a:p>
            <a:pPr marL="469265" indent="-196850">
              <a:lnSpc>
                <a:spcPts val="1200"/>
              </a:lnSpc>
              <a:buAutoNum type="arabicPeriod" startAt="5"/>
              <a:tabLst>
                <a:tab pos="469900" algn="l"/>
              </a:tabLst>
            </a:pPr>
            <a:r>
              <a:rPr dirty="0" sz="1100" spc="-5" b="1">
                <a:latin typeface="Arial"/>
                <a:cs typeface="Arial"/>
              </a:rPr>
              <a:t>Pricing,</a:t>
            </a:r>
            <a:r>
              <a:rPr dirty="0" sz="1100" spc="70" b="1">
                <a:latin typeface="Arial"/>
                <a:cs typeface="Arial"/>
              </a:rPr>
              <a:t> </a:t>
            </a:r>
            <a:r>
              <a:rPr dirty="0" sz="1100" spc="-5" b="1">
                <a:latin typeface="Arial"/>
                <a:cs typeface="Arial"/>
              </a:rPr>
              <a:t>pooling,</a:t>
            </a:r>
            <a:r>
              <a:rPr dirty="0" sz="1100" spc="75" b="1">
                <a:latin typeface="Arial"/>
                <a:cs typeface="Arial"/>
              </a:rPr>
              <a:t> </a:t>
            </a:r>
            <a:r>
              <a:rPr dirty="0" sz="1100" spc="-5" b="1">
                <a:latin typeface="Arial"/>
                <a:cs typeface="Arial"/>
              </a:rPr>
              <a:t>and</a:t>
            </a:r>
            <a:r>
              <a:rPr dirty="0" sz="1100" spc="75" b="1">
                <a:latin typeface="Arial"/>
                <a:cs typeface="Arial"/>
              </a:rPr>
              <a:t> </a:t>
            </a:r>
            <a:r>
              <a:rPr dirty="0" sz="1100" spc="-5" b="1">
                <a:latin typeface="Arial"/>
                <a:cs typeface="Arial"/>
              </a:rPr>
              <a:t>trading</a:t>
            </a:r>
            <a:r>
              <a:rPr dirty="0" sz="1100" spc="75" b="1">
                <a:latin typeface="Arial"/>
                <a:cs typeface="Arial"/>
              </a:rPr>
              <a:t> </a:t>
            </a:r>
            <a:r>
              <a:rPr dirty="0" sz="1100" spc="-5" b="1">
                <a:latin typeface="Arial"/>
                <a:cs typeface="Arial"/>
              </a:rPr>
              <a:t>risks.</a:t>
            </a:r>
            <a:r>
              <a:rPr dirty="0" sz="1100" spc="70" b="1">
                <a:latin typeface="Arial"/>
                <a:cs typeface="Arial"/>
              </a:rPr>
              <a:t> </a:t>
            </a:r>
            <a:r>
              <a:rPr dirty="0" sz="1100" spc="-5">
                <a:latin typeface="Arial"/>
                <a:cs typeface="Arial"/>
              </a:rPr>
              <a:t>Insurance</a:t>
            </a:r>
            <a:r>
              <a:rPr dirty="0" sz="1100" spc="65">
                <a:latin typeface="Arial"/>
                <a:cs typeface="Arial"/>
              </a:rPr>
              <a:t> </a:t>
            </a:r>
            <a:r>
              <a:rPr dirty="0" sz="1100" spc="-5">
                <a:latin typeface="Arial"/>
                <a:cs typeface="Arial"/>
              </a:rPr>
              <a:t>markets</a:t>
            </a:r>
            <a:r>
              <a:rPr dirty="0" sz="1100" spc="75">
                <a:latin typeface="Arial"/>
                <a:cs typeface="Arial"/>
              </a:rPr>
              <a:t> </a:t>
            </a:r>
            <a:r>
              <a:rPr dirty="0" sz="1100" spc="-5">
                <a:latin typeface="Arial"/>
                <a:cs typeface="Arial"/>
              </a:rPr>
              <a:t>provide</a:t>
            </a:r>
            <a:r>
              <a:rPr dirty="0" sz="1100" spc="75">
                <a:latin typeface="Arial"/>
                <a:cs typeface="Arial"/>
              </a:rPr>
              <a:t> </a:t>
            </a:r>
            <a:r>
              <a:rPr dirty="0" sz="1100" spc="-5">
                <a:latin typeface="Arial"/>
                <a:cs typeface="Arial"/>
              </a:rPr>
              <a:t>protection</a:t>
            </a:r>
            <a:r>
              <a:rPr dirty="0" sz="1100" spc="75">
                <a:latin typeface="Arial"/>
                <a:cs typeface="Arial"/>
              </a:rPr>
              <a:t> </a:t>
            </a:r>
            <a:r>
              <a:rPr dirty="0" sz="1100" spc="-5">
                <a:latin typeface="Arial"/>
                <a:cs typeface="Arial"/>
              </a:rPr>
              <a:t>against</a:t>
            </a:r>
            <a:r>
              <a:rPr dirty="0" sz="1100" spc="55">
                <a:latin typeface="Arial"/>
                <a:cs typeface="Arial"/>
              </a:rPr>
              <a:t> </a:t>
            </a:r>
            <a:r>
              <a:rPr dirty="0" sz="1100" spc="-5">
                <a:latin typeface="Arial"/>
                <a:cs typeface="Arial"/>
              </a:rPr>
              <a:t>risk,</a:t>
            </a:r>
            <a:endParaRPr sz="1100">
              <a:latin typeface="Arial"/>
              <a:cs typeface="Arial"/>
            </a:endParaRPr>
          </a:p>
          <a:p>
            <a:pPr marL="501650">
              <a:lnSpc>
                <a:spcPts val="1265"/>
              </a:lnSpc>
            </a:pPr>
            <a:r>
              <a:rPr dirty="0" sz="1100" spc="-5">
                <a:latin typeface="Arial"/>
                <a:cs typeface="Arial"/>
              </a:rPr>
              <a:t>but so does the diversification possible in </a:t>
            </a:r>
            <a:r>
              <a:rPr dirty="0" sz="1100">
                <a:latin typeface="Arial"/>
                <a:cs typeface="Arial"/>
              </a:rPr>
              <a:t>stock </a:t>
            </a:r>
            <a:r>
              <a:rPr dirty="0" sz="1100" spc="-5">
                <a:latin typeface="Arial"/>
                <a:cs typeface="Arial"/>
              </a:rPr>
              <a:t>markets or in banks’ loan</a:t>
            </a:r>
            <a:r>
              <a:rPr dirty="0" sz="1100" spc="185">
                <a:latin typeface="Arial"/>
                <a:cs typeface="Arial"/>
              </a:rPr>
              <a:t> </a:t>
            </a:r>
            <a:r>
              <a:rPr dirty="0" sz="1100" spc="-5">
                <a:latin typeface="Arial"/>
                <a:cs typeface="Arial"/>
              </a:rPr>
              <a:t>syndications.</a:t>
            </a:r>
            <a:endParaRPr sz="1100">
              <a:latin typeface="Arial"/>
              <a:cs typeface="Arial"/>
            </a:endParaRPr>
          </a:p>
          <a:p>
            <a:pPr algn="just" marL="501650" marR="5080" indent="-229235">
              <a:lnSpc>
                <a:spcPct val="95800"/>
              </a:lnSpc>
              <a:spcBef>
                <a:spcPts val="30"/>
              </a:spcBef>
              <a:buAutoNum type="arabicPeriod" startAt="6"/>
              <a:tabLst>
                <a:tab pos="470534" algn="l"/>
              </a:tabLst>
            </a:pPr>
            <a:r>
              <a:rPr dirty="0" sz="1100" spc="-5" b="1">
                <a:latin typeface="Arial"/>
                <a:cs typeface="Arial"/>
              </a:rPr>
              <a:t>Increasing asset liquidity. </a:t>
            </a:r>
            <a:r>
              <a:rPr dirty="0" sz="1100" spc="-5">
                <a:latin typeface="Arial"/>
                <a:cs typeface="Arial"/>
              </a:rPr>
              <a:t>Some investments are very long-lived; in some cases—a  hydroelectric plant, for example—such investments may last a century or more. Sooner  or later, investors in such plants are likely to </a:t>
            </a:r>
            <a:r>
              <a:rPr dirty="0" sz="1100">
                <a:latin typeface="Arial"/>
                <a:cs typeface="Arial"/>
              </a:rPr>
              <a:t>want </a:t>
            </a:r>
            <a:r>
              <a:rPr dirty="0" sz="1100" spc="-5">
                <a:latin typeface="Arial"/>
                <a:cs typeface="Arial"/>
              </a:rPr>
              <a:t>to sell them. In some cases, it can be  quite difficult to find a buyer at the time one wishes to sell—at retirement, for instance.  Financial development increases liquidity by making it easier to sell, for example, on the  stock market or to a syndicate of banks or insurance</a:t>
            </a:r>
            <a:r>
              <a:rPr dirty="0" sz="1100" spc="65">
                <a:latin typeface="Arial"/>
                <a:cs typeface="Arial"/>
              </a:rPr>
              <a:t> </a:t>
            </a:r>
            <a:r>
              <a:rPr dirty="0" sz="1100" spc="-5">
                <a:latin typeface="Arial"/>
                <a:cs typeface="Arial"/>
              </a:rPr>
              <a:t>companies.</a:t>
            </a:r>
            <a:endParaRPr sz="1100">
              <a:latin typeface="Arial"/>
              <a:cs typeface="Arial"/>
            </a:endParaRPr>
          </a:p>
          <a:p>
            <a:pPr>
              <a:lnSpc>
                <a:spcPct val="100000"/>
              </a:lnSpc>
              <a:spcBef>
                <a:spcPts val="30"/>
              </a:spcBef>
            </a:pPr>
            <a:endParaRPr sz="1100">
              <a:latin typeface="Arial"/>
              <a:cs typeface="Arial"/>
            </a:endParaRPr>
          </a:p>
          <a:p>
            <a:pPr algn="just" marL="12700" marR="7620">
              <a:lnSpc>
                <a:spcPts val="1270"/>
              </a:lnSpc>
            </a:pPr>
            <a:r>
              <a:rPr dirty="0" sz="1100" spc="-5" b="1">
                <a:latin typeface="Arial"/>
                <a:cs typeface="Arial"/>
              </a:rPr>
              <a:t>DIFFERENCES BETWEEN DEVELOPED AND DEVELOPING-COUNTRY </a:t>
            </a:r>
            <a:r>
              <a:rPr dirty="0" sz="1100" spc="-10" b="1">
                <a:latin typeface="Arial"/>
                <a:cs typeface="Arial"/>
              </a:rPr>
              <a:t>FINANCIAL  </a:t>
            </a:r>
            <a:r>
              <a:rPr dirty="0" sz="1100" spc="-5" b="1">
                <a:latin typeface="Arial"/>
                <a:cs typeface="Arial"/>
              </a:rPr>
              <a:t>SYSTEMS</a:t>
            </a:r>
            <a:endParaRPr sz="1100">
              <a:latin typeface="Arial"/>
              <a:cs typeface="Arial"/>
            </a:endParaRPr>
          </a:p>
          <a:p>
            <a:pPr>
              <a:lnSpc>
                <a:spcPct val="100000"/>
              </a:lnSpc>
              <a:spcBef>
                <a:spcPts val="15"/>
              </a:spcBef>
            </a:pPr>
            <a:endParaRPr sz="1150">
              <a:latin typeface="Arial"/>
              <a:cs typeface="Arial"/>
            </a:endParaRPr>
          </a:p>
          <a:p>
            <a:pPr algn="just" marL="12700" marR="5715">
              <a:lnSpc>
                <a:spcPct val="95800"/>
              </a:lnSpc>
            </a:pPr>
            <a:r>
              <a:rPr dirty="0" sz="1100" spc="-5">
                <a:latin typeface="Arial"/>
                <a:cs typeface="Arial"/>
              </a:rPr>
              <a:t>In more developed nations, monetary and financial policy plays a major direct and indirect role  in governmental efforts designed to expand economic activity in </a:t>
            </a:r>
            <a:r>
              <a:rPr dirty="0" sz="1100">
                <a:latin typeface="Arial"/>
                <a:cs typeface="Arial"/>
              </a:rPr>
              <a:t>times </a:t>
            </a:r>
            <a:r>
              <a:rPr dirty="0" sz="1100" spc="-5">
                <a:latin typeface="Arial"/>
                <a:cs typeface="Arial"/>
              </a:rPr>
              <a:t>of unemployment </a:t>
            </a:r>
            <a:r>
              <a:rPr dirty="0" sz="1100">
                <a:latin typeface="Arial"/>
                <a:cs typeface="Arial"/>
              </a:rPr>
              <a:t>and  </a:t>
            </a:r>
            <a:r>
              <a:rPr dirty="0" sz="1100" spc="-5">
                <a:latin typeface="Arial"/>
                <a:cs typeface="Arial"/>
              </a:rPr>
              <a:t>surplus capacity and to contract that activity in times of excess demand and inflation. Basically,  monetary </a:t>
            </a:r>
            <a:r>
              <a:rPr dirty="0" sz="1100">
                <a:latin typeface="Arial"/>
                <a:cs typeface="Arial"/>
              </a:rPr>
              <a:t>policy </a:t>
            </a:r>
            <a:r>
              <a:rPr dirty="0" sz="1100" spc="-5">
                <a:latin typeface="Arial"/>
                <a:cs typeface="Arial"/>
              </a:rPr>
              <a:t>works on two principal economic variables: the aggregate supply of money in  circulation and the level of interest rates. Expressed in traditional terms, the money supply  (currency plus commercial bank demand deposits) is thought to be directly related to the level of  economic activity in the sense that a greater money supply induces expanded economic activity  by enabling people to purchase more goods and services. This in essence is the monetarist  theory of economic activity. Its advocates argue that by controlling the growth of the money  supply, governments of developed countries can regulate their nations’ economic activity and  control inflation.</a:t>
            </a:r>
            <a:endParaRPr sz="1100">
              <a:latin typeface="Arial"/>
              <a:cs typeface="Arial"/>
            </a:endParaRPr>
          </a:p>
          <a:p>
            <a:pPr>
              <a:lnSpc>
                <a:spcPct val="100000"/>
              </a:lnSpc>
              <a:spcBef>
                <a:spcPts val="5"/>
              </a:spcBef>
            </a:pPr>
            <a:endParaRPr sz="1100">
              <a:latin typeface="Arial"/>
              <a:cs typeface="Arial"/>
            </a:endParaRPr>
          </a:p>
          <a:p>
            <a:pPr algn="just" marL="12700" marR="6350">
              <a:lnSpc>
                <a:spcPct val="95800"/>
              </a:lnSpc>
            </a:pPr>
            <a:r>
              <a:rPr dirty="0" sz="1100" spc="-5">
                <a:latin typeface="Arial"/>
                <a:cs typeface="Arial"/>
              </a:rPr>
              <a:t>By contrast, markets and financial institutions in many developing countries are highly  unorganized, often externally dependent, and spatially fragmented. </a:t>
            </a:r>
            <a:r>
              <a:rPr dirty="0" sz="1100">
                <a:latin typeface="Arial"/>
                <a:cs typeface="Arial"/>
              </a:rPr>
              <a:t>Many </a:t>
            </a:r>
            <a:r>
              <a:rPr dirty="0" sz="1100" spc="-5">
                <a:latin typeface="Arial"/>
                <a:cs typeface="Arial"/>
              </a:rPr>
              <a:t>commercial banks in  developing countries are overseas branches of major private banking corporations in developed  countries. Their orientation, therefore, like that of multinational corporations, may be </a:t>
            </a:r>
            <a:r>
              <a:rPr dirty="0" sz="1100">
                <a:latin typeface="Arial"/>
                <a:cs typeface="Arial"/>
              </a:rPr>
              <a:t>more  </a:t>
            </a:r>
            <a:r>
              <a:rPr dirty="0" sz="1100" spc="-5">
                <a:latin typeface="Arial"/>
                <a:cs typeface="Arial"/>
              </a:rPr>
              <a:t>toward external and less toward internal monetary situations. The ability of governments in  developing countries to regulate the national supply of money is further constrained by the  openness of their economies, in some cases the pegging of their currencies to the dollar or  alternatively to the euro or a basket of major developed-country currencies, and the fact that the  accumulation of foreign-currency earnings is a significant but highly variable source of their  domestic financial</a:t>
            </a:r>
            <a:r>
              <a:rPr dirty="0" sz="1100" spc="5">
                <a:latin typeface="Arial"/>
                <a:cs typeface="Arial"/>
              </a:rPr>
              <a:t> </a:t>
            </a:r>
            <a:r>
              <a:rPr dirty="0" sz="1100" spc="-5">
                <a:latin typeface="Arial"/>
                <a:cs typeface="Arial"/>
              </a:rPr>
              <a:t>resources.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Even the money supply itself may be difficult to measure and more difficult to control under  conditions of currency substitution, whereby foreign currencies serve as an alternative to </a:t>
            </a:r>
            <a:r>
              <a:rPr dirty="0" sz="1100">
                <a:latin typeface="Arial"/>
                <a:cs typeface="Arial"/>
              </a:rPr>
              <a:t>the  </a:t>
            </a:r>
            <a:r>
              <a:rPr dirty="0" sz="1100" spc="-5">
                <a:latin typeface="Arial"/>
                <a:cs typeface="Arial"/>
              </a:rPr>
              <a:t>domestic currency </a:t>
            </a:r>
            <a:r>
              <a:rPr dirty="0" sz="1100">
                <a:latin typeface="Arial"/>
                <a:cs typeface="Arial"/>
              </a:rPr>
              <a:t>(e.g., </a:t>
            </a:r>
            <a:r>
              <a:rPr dirty="0" sz="1100" spc="-5">
                <a:latin typeface="Arial"/>
                <a:cs typeface="Arial"/>
              </a:rPr>
              <a:t>U.S. dollars in northern Mexico). This is a particularly important  problem when the expected level of inflation is high. Because of limited information and  incomplete credit markets, the commercial banking system of </a:t>
            </a:r>
            <a:r>
              <a:rPr dirty="0" sz="1100">
                <a:latin typeface="Arial"/>
                <a:cs typeface="Arial"/>
              </a:rPr>
              <a:t>many </a:t>
            </a:r>
            <a:r>
              <a:rPr dirty="0" sz="1100" spc="-5">
                <a:latin typeface="Arial"/>
                <a:cs typeface="Arial"/>
              </a:rPr>
              <a:t>developing countries lacks  transparency (full disclosure of the quality of loan portfolios) and often restricts its activities  almost exclusively to rationing scarce loan able </a:t>
            </a:r>
            <a:r>
              <a:rPr dirty="0" sz="1100">
                <a:latin typeface="Arial"/>
                <a:cs typeface="Arial"/>
              </a:rPr>
              <a:t>funds </a:t>
            </a:r>
            <a:r>
              <a:rPr dirty="0" sz="1100" spc="-5">
                <a:latin typeface="Arial"/>
                <a:cs typeface="Arial"/>
              </a:rPr>
              <a:t>to medium- and large-scale enterprises in  the modern manufacturing sector that are deemed more</a:t>
            </a:r>
            <a:r>
              <a:rPr dirty="0" sz="1100" spc="55">
                <a:latin typeface="Arial"/>
                <a:cs typeface="Arial"/>
              </a:rPr>
              <a:t> </a:t>
            </a:r>
            <a:r>
              <a:rPr dirty="0" sz="1100" spc="-5">
                <a:latin typeface="Arial"/>
                <a:cs typeface="Arial"/>
              </a:rPr>
              <a:t>creditworthy.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319</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69635" cy="8254365"/>
          </a:xfrm>
          <a:prstGeom prst="rect">
            <a:avLst/>
          </a:prstGeom>
        </p:spPr>
        <p:txBody>
          <a:bodyPr wrap="square" lIns="0" tIns="19050" rIns="0" bIns="0" rtlCol="0" vert="horz">
            <a:spAutoFit/>
          </a:bodyPr>
          <a:lstStyle/>
          <a:p>
            <a:pPr algn="just" marL="12700" marR="5080">
              <a:lnSpc>
                <a:spcPct val="95900"/>
              </a:lnSpc>
              <a:spcBef>
                <a:spcPts val="150"/>
              </a:spcBef>
            </a:pPr>
            <a:r>
              <a:rPr dirty="0" sz="1100" spc="-5">
                <a:latin typeface="Arial"/>
                <a:cs typeface="Arial"/>
              </a:rPr>
              <a:t>Thus most developing countries have operated under a dual monetary system: a small and  often externally controlled or influenced organized money market with binding legal restrictions  on nominal interest-rate ceilings, catering to the financial requirements of a special group of  middle- and upper-class local and foreign businesses in the modern industrial sector, and a  large but amorphous unorganized money market, uncontrolled, often strictly illegal, and often  usurious, to which most low-income individuals are obliged to turn in times of financial need.  This is another manifestation of the dual structure of many developing economies and their  tendency, intentional or not, to serve the needs of wealthy elites while neglecting the  requirements of the relatively</a:t>
            </a:r>
            <a:r>
              <a:rPr dirty="0" sz="1100" spc="15">
                <a:latin typeface="Arial"/>
                <a:cs typeface="Arial"/>
              </a:rPr>
              <a:t> </a:t>
            </a:r>
            <a:r>
              <a:rPr dirty="0" sz="1100" spc="-5">
                <a:latin typeface="Arial"/>
                <a:cs typeface="Arial"/>
              </a:rPr>
              <a:t>poor.</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900"/>
              </a:lnSpc>
              <a:spcBef>
                <a:spcPts val="5"/>
              </a:spcBef>
            </a:pPr>
            <a:r>
              <a:rPr dirty="0" sz="1100" spc="-5">
                <a:latin typeface="Arial"/>
                <a:cs typeface="Arial"/>
              </a:rPr>
              <a:t>One possible step toward the elimination of this major factor price distortion would be the  removal of artificially low nominal interest-rate ceilings in the organized market as well as other  related steps toward financial liberalization (e.g., loosening of the foreign exchange rate). Higher  interest rates should generate more domestic savings, whereas greater transparency and more  market-oriented real interest rates should better allocate loan able funds to the most productive  projects. However, such coordinated liberalization of domestic financial and foreign-exchange  markets has not adequately solved the problem of channeling credit to small investors and  entrepreneurs. That will require more direct new initiatives. We will discuss both financial market  reform and measures to improve finance for the informal economy later </a:t>
            </a:r>
            <a:r>
              <a:rPr dirty="0" sz="1100">
                <a:latin typeface="Arial"/>
                <a:cs typeface="Arial"/>
              </a:rPr>
              <a:t>in </a:t>
            </a:r>
            <a:r>
              <a:rPr dirty="0" sz="1100" spc="-5">
                <a:latin typeface="Arial"/>
                <a:cs typeface="Arial"/>
              </a:rPr>
              <a:t>this</a:t>
            </a:r>
            <a:r>
              <a:rPr dirty="0" sz="1100" spc="130">
                <a:latin typeface="Arial"/>
                <a:cs typeface="Arial"/>
              </a:rPr>
              <a:t> </a:t>
            </a:r>
            <a:r>
              <a:rPr dirty="0" sz="1100" spc="-5">
                <a:latin typeface="Arial"/>
                <a:cs typeface="Arial"/>
              </a:rPr>
              <a:t>chapter.</a:t>
            </a:r>
            <a:endParaRPr sz="1100">
              <a:latin typeface="Arial"/>
              <a:cs typeface="Arial"/>
            </a:endParaRPr>
          </a:p>
          <a:p>
            <a:pPr>
              <a:lnSpc>
                <a:spcPct val="100000"/>
              </a:lnSpc>
              <a:spcBef>
                <a:spcPts val="50"/>
              </a:spcBef>
            </a:pPr>
            <a:endParaRPr sz="1050">
              <a:latin typeface="Arial"/>
              <a:cs typeface="Arial"/>
            </a:endParaRPr>
          </a:p>
          <a:p>
            <a:pPr algn="just" marL="12700" marR="5715">
              <a:lnSpc>
                <a:spcPct val="95800"/>
              </a:lnSpc>
            </a:pPr>
            <a:r>
              <a:rPr dirty="0" sz="1100" spc="-5">
                <a:latin typeface="Arial"/>
                <a:cs typeface="Arial"/>
              </a:rPr>
              <a:t>Nevertheless, financial systems remain an integral component of the general economic system  in developing countries. For example, in the context of severe macroeconomic instability of high  inflation accompanied </a:t>
            </a:r>
            <a:r>
              <a:rPr dirty="0" sz="1100">
                <a:latin typeface="Arial"/>
                <a:cs typeface="Arial"/>
              </a:rPr>
              <a:t>by </a:t>
            </a:r>
            <a:r>
              <a:rPr dirty="0" sz="1100" spc="-5">
                <a:latin typeface="Arial"/>
                <a:cs typeface="Arial"/>
              </a:rPr>
              <a:t>large budget and trade deficits, they represent a key element in </a:t>
            </a:r>
            <a:r>
              <a:rPr dirty="0" sz="1100">
                <a:latin typeface="Arial"/>
                <a:cs typeface="Arial"/>
              </a:rPr>
              <a:t>any  </a:t>
            </a:r>
            <a:r>
              <a:rPr dirty="0" sz="1100" spc="-5">
                <a:latin typeface="Arial"/>
                <a:cs typeface="Arial"/>
              </a:rPr>
              <a:t>overall stabilization effort. Moreover, as noted earlier, financial systems provide a variety of  needed services, including savings mobilization, credit allocation, risk limitations, insurance  protection, and foreign-exchange facilitation. Let us therefore begin our examination of the  structure of financial systems with a look at the central</a:t>
            </a:r>
            <a:r>
              <a:rPr dirty="0" sz="1100" spc="55">
                <a:latin typeface="Arial"/>
                <a:cs typeface="Arial"/>
              </a:rPr>
              <a:t> </a:t>
            </a:r>
            <a:r>
              <a:rPr dirty="0" sz="1100" spc="-5">
                <a:latin typeface="Arial"/>
                <a:cs typeface="Arial"/>
              </a:rPr>
              <a:t>bank.</a:t>
            </a:r>
            <a:endParaRPr sz="1100">
              <a:latin typeface="Arial"/>
              <a:cs typeface="Arial"/>
            </a:endParaRPr>
          </a:p>
          <a:p>
            <a:pPr marL="12700" marR="1176655">
              <a:lnSpc>
                <a:spcPts val="2650"/>
              </a:lnSpc>
              <a:spcBef>
                <a:spcPts val="200"/>
              </a:spcBef>
            </a:pPr>
            <a:r>
              <a:rPr dirty="0" sz="1100" spc="-5" b="1">
                <a:latin typeface="Arial"/>
                <a:cs typeface="Arial"/>
              </a:rPr>
              <a:t>THE ROLE OF CENTRAL BANKS AND ALTERNATIVE ARRANGEMENTS  FUNCTIONS OF A FULL-FLEDGED </a:t>
            </a:r>
            <a:r>
              <a:rPr dirty="0" sz="1100" b="1">
                <a:latin typeface="Arial"/>
                <a:cs typeface="Arial"/>
              </a:rPr>
              <a:t>CENTRAL</a:t>
            </a:r>
            <a:r>
              <a:rPr dirty="0" sz="1100" spc="15" b="1">
                <a:latin typeface="Arial"/>
                <a:cs typeface="Arial"/>
              </a:rPr>
              <a:t> </a:t>
            </a:r>
            <a:r>
              <a:rPr dirty="0" sz="1100" spc="-5" b="1">
                <a:latin typeface="Arial"/>
                <a:cs typeface="Arial"/>
              </a:rPr>
              <a:t>BANK</a:t>
            </a:r>
            <a:endParaRPr sz="1100">
              <a:latin typeface="Arial"/>
              <a:cs typeface="Arial"/>
            </a:endParaRPr>
          </a:p>
          <a:p>
            <a:pPr>
              <a:lnSpc>
                <a:spcPct val="100000"/>
              </a:lnSpc>
              <a:spcBef>
                <a:spcPts val="50"/>
              </a:spcBef>
            </a:pPr>
            <a:endParaRPr sz="900">
              <a:latin typeface="Arial"/>
              <a:cs typeface="Arial"/>
            </a:endParaRPr>
          </a:p>
          <a:p>
            <a:pPr algn="just" marL="12700" marR="6350">
              <a:lnSpc>
                <a:spcPts val="1270"/>
              </a:lnSpc>
            </a:pPr>
            <a:r>
              <a:rPr dirty="0" sz="1100" spc="-5">
                <a:latin typeface="Arial"/>
                <a:cs typeface="Arial"/>
              </a:rPr>
              <a:t>In developed nations, central banks, such as the Federal Reserve Board in the United States,  conduct a wide range of banking, regulatory, and supervisory functions. They have substantial  public responsibilities and a </a:t>
            </a:r>
            <a:r>
              <a:rPr dirty="0" sz="1100">
                <a:latin typeface="Arial"/>
                <a:cs typeface="Arial"/>
              </a:rPr>
              <a:t>broad </a:t>
            </a:r>
            <a:r>
              <a:rPr dirty="0" sz="1100" spc="-5">
                <a:latin typeface="Arial"/>
                <a:cs typeface="Arial"/>
              </a:rPr>
              <a:t>array of executive powers. Their major activities can be  grouped into five general</a:t>
            </a:r>
            <a:r>
              <a:rPr dirty="0" sz="1100" spc="10">
                <a:latin typeface="Arial"/>
                <a:cs typeface="Arial"/>
              </a:rPr>
              <a:t> </a:t>
            </a:r>
            <a:r>
              <a:rPr dirty="0" sz="1100" spc="-5">
                <a:latin typeface="Arial"/>
                <a:cs typeface="Arial"/>
              </a:rPr>
              <a:t>functions:</a:t>
            </a:r>
            <a:endParaRPr sz="1100">
              <a:latin typeface="Arial"/>
              <a:cs typeface="Arial"/>
            </a:endParaRPr>
          </a:p>
          <a:p>
            <a:pPr>
              <a:lnSpc>
                <a:spcPct val="100000"/>
              </a:lnSpc>
              <a:spcBef>
                <a:spcPts val="15"/>
              </a:spcBef>
            </a:pPr>
            <a:endParaRPr sz="1050">
              <a:latin typeface="Arial"/>
              <a:cs typeface="Arial"/>
            </a:endParaRPr>
          </a:p>
          <a:p>
            <a:pPr algn="just" marL="469265" marR="5080" indent="-228600">
              <a:lnSpc>
                <a:spcPct val="95800"/>
              </a:lnSpc>
              <a:buAutoNum type="arabicPeriod"/>
              <a:tabLst>
                <a:tab pos="469900" algn="l"/>
              </a:tabLst>
            </a:pPr>
            <a:r>
              <a:rPr dirty="0" sz="1100" spc="-5" b="1">
                <a:latin typeface="Arial"/>
                <a:cs typeface="Arial"/>
              </a:rPr>
              <a:t>Issuer of </a:t>
            </a:r>
            <a:r>
              <a:rPr dirty="0" sz="1100" b="1">
                <a:latin typeface="Arial"/>
                <a:cs typeface="Arial"/>
              </a:rPr>
              <a:t>currency and </a:t>
            </a:r>
            <a:r>
              <a:rPr dirty="0" sz="1100" spc="-5" b="1">
                <a:latin typeface="Arial"/>
                <a:cs typeface="Arial"/>
              </a:rPr>
              <a:t>manager of foreign reserves. </a:t>
            </a:r>
            <a:r>
              <a:rPr dirty="0" sz="1100" spc="-5">
                <a:latin typeface="Arial"/>
                <a:cs typeface="Arial"/>
              </a:rPr>
              <a:t>Central banks print money,  distribute notes and coins, intervene in foreign-exchange markets to regulate the  national currency’s rate of exchange with other currencies, and manage foreign asset  reserves to maintain the external value of the national</a:t>
            </a:r>
            <a:r>
              <a:rPr dirty="0" sz="1100" spc="60">
                <a:latin typeface="Arial"/>
                <a:cs typeface="Arial"/>
              </a:rPr>
              <a:t> </a:t>
            </a:r>
            <a:r>
              <a:rPr dirty="0" sz="1100" spc="-5">
                <a:latin typeface="Arial"/>
                <a:cs typeface="Arial"/>
              </a:rPr>
              <a:t>currency.</a:t>
            </a:r>
            <a:endParaRPr sz="1100">
              <a:latin typeface="Arial"/>
              <a:cs typeface="Arial"/>
            </a:endParaRPr>
          </a:p>
          <a:p>
            <a:pPr algn="just" marL="469265" marR="6350" indent="-228600">
              <a:lnSpc>
                <a:spcPct val="95700"/>
              </a:lnSpc>
              <a:buAutoNum type="arabicPeriod"/>
              <a:tabLst>
                <a:tab pos="469900" algn="l"/>
              </a:tabLst>
            </a:pPr>
            <a:r>
              <a:rPr dirty="0" sz="1100" spc="-5" b="1">
                <a:latin typeface="Arial"/>
                <a:cs typeface="Arial"/>
              </a:rPr>
              <a:t>Banker to the government. </a:t>
            </a:r>
            <a:r>
              <a:rPr dirty="0" sz="1100" spc="-5">
                <a:latin typeface="Arial"/>
                <a:cs typeface="Arial"/>
              </a:rPr>
              <a:t>Central banks provide bank deposit and borrowing facilities  to the government </a:t>
            </a:r>
            <a:r>
              <a:rPr dirty="0" sz="1100">
                <a:latin typeface="Arial"/>
                <a:cs typeface="Arial"/>
              </a:rPr>
              <a:t>while </a:t>
            </a:r>
            <a:r>
              <a:rPr dirty="0" sz="1100" spc="-5">
                <a:latin typeface="Arial"/>
                <a:cs typeface="Arial"/>
              </a:rPr>
              <a:t>simultaneously acting as the government’s fiscal agent and  underwriter.</a:t>
            </a:r>
            <a:endParaRPr sz="1100">
              <a:latin typeface="Arial"/>
              <a:cs typeface="Arial"/>
            </a:endParaRPr>
          </a:p>
          <a:p>
            <a:pPr algn="just" marL="469265" marR="5715" indent="-228600">
              <a:lnSpc>
                <a:spcPts val="1270"/>
              </a:lnSpc>
              <a:spcBef>
                <a:spcPts val="30"/>
              </a:spcBef>
              <a:buAutoNum type="arabicPeriod"/>
              <a:tabLst>
                <a:tab pos="469900" algn="l"/>
              </a:tabLst>
            </a:pPr>
            <a:r>
              <a:rPr dirty="0" sz="1100" spc="-5" b="1">
                <a:latin typeface="Arial"/>
                <a:cs typeface="Arial"/>
              </a:rPr>
              <a:t>Banker to domestic commercial banks. </a:t>
            </a:r>
            <a:r>
              <a:rPr dirty="0" sz="1100" spc="-5">
                <a:latin typeface="Arial"/>
                <a:cs typeface="Arial"/>
              </a:rPr>
              <a:t>Central banks also provide bank deposit and  borrowing facilities to commercial banks and act as a lender of last resort to financially  troubled commercial</a:t>
            </a:r>
            <a:r>
              <a:rPr dirty="0" sz="1100">
                <a:latin typeface="Arial"/>
                <a:cs typeface="Arial"/>
              </a:rPr>
              <a:t> </a:t>
            </a:r>
            <a:r>
              <a:rPr dirty="0" sz="1100" spc="-5">
                <a:latin typeface="Arial"/>
                <a:cs typeface="Arial"/>
              </a:rPr>
              <a:t>banks.</a:t>
            </a:r>
            <a:endParaRPr sz="1100">
              <a:latin typeface="Arial"/>
              <a:cs typeface="Arial"/>
            </a:endParaRPr>
          </a:p>
          <a:p>
            <a:pPr algn="just" marL="469265" indent="-229235">
              <a:lnSpc>
                <a:spcPts val="1195"/>
              </a:lnSpc>
              <a:buAutoNum type="arabicPeriod"/>
              <a:tabLst>
                <a:tab pos="469900" algn="l"/>
              </a:tabLst>
            </a:pPr>
            <a:r>
              <a:rPr dirty="0" sz="1100" spc="-5" b="1">
                <a:latin typeface="Arial"/>
                <a:cs typeface="Arial"/>
              </a:rPr>
              <a:t>Regulator</a:t>
            </a:r>
            <a:r>
              <a:rPr dirty="0" sz="1100" spc="180" b="1">
                <a:latin typeface="Arial"/>
                <a:cs typeface="Arial"/>
              </a:rPr>
              <a:t> </a:t>
            </a:r>
            <a:r>
              <a:rPr dirty="0" sz="1100" spc="-5" b="1">
                <a:latin typeface="Arial"/>
                <a:cs typeface="Arial"/>
              </a:rPr>
              <a:t>of</a:t>
            </a:r>
            <a:r>
              <a:rPr dirty="0" sz="1100" spc="180" b="1">
                <a:latin typeface="Arial"/>
                <a:cs typeface="Arial"/>
              </a:rPr>
              <a:t> </a:t>
            </a:r>
            <a:r>
              <a:rPr dirty="0" sz="1100" spc="-5" b="1">
                <a:latin typeface="Arial"/>
                <a:cs typeface="Arial"/>
              </a:rPr>
              <a:t>domestic</a:t>
            </a:r>
            <a:r>
              <a:rPr dirty="0" sz="1100" spc="180" b="1">
                <a:latin typeface="Arial"/>
                <a:cs typeface="Arial"/>
              </a:rPr>
              <a:t> </a:t>
            </a:r>
            <a:r>
              <a:rPr dirty="0" sz="1100" spc="-5" b="1">
                <a:latin typeface="Arial"/>
                <a:cs typeface="Arial"/>
              </a:rPr>
              <a:t>financial</a:t>
            </a:r>
            <a:r>
              <a:rPr dirty="0" sz="1100" spc="180" b="1">
                <a:latin typeface="Arial"/>
                <a:cs typeface="Arial"/>
              </a:rPr>
              <a:t> </a:t>
            </a:r>
            <a:r>
              <a:rPr dirty="0" sz="1100" spc="-5" b="1">
                <a:latin typeface="Arial"/>
                <a:cs typeface="Arial"/>
              </a:rPr>
              <a:t>institutions.</a:t>
            </a:r>
            <a:r>
              <a:rPr dirty="0" sz="1100" spc="175" b="1">
                <a:latin typeface="Arial"/>
                <a:cs typeface="Arial"/>
              </a:rPr>
              <a:t> </a:t>
            </a:r>
            <a:r>
              <a:rPr dirty="0" sz="1100" spc="-5">
                <a:latin typeface="Arial"/>
                <a:cs typeface="Arial"/>
              </a:rPr>
              <a:t>Central</a:t>
            </a:r>
            <a:r>
              <a:rPr dirty="0" sz="1100" spc="180">
                <a:latin typeface="Arial"/>
                <a:cs typeface="Arial"/>
              </a:rPr>
              <a:t> </a:t>
            </a:r>
            <a:r>
              <a:rPr dirty="0" sz="1100" spc="-5">
                <a:latin typeface="Arial"/>
                <a:cs typeface="Arial"/>
              </a:rPr>
              <a:t>banks</a:t>
            </a:r>
            <a:r>
              <a:rPr dirty="0" sz="1100" spc="180">
                <a:latin typeface="Arial"/>
                <a:cs typeface="Arial"/>
              </a:rPr>
              <a:t> </a:t>
            </a:r>
            <a:r>
              <a:rPr dirty="0" sz="1100" spc="-5">
                <a:latin typeface="Arial"/>
                <a:cs typeface="Arial"/>
              </a:rPr>
              <a:t>ensure</a:t>
            </a:r>
            <a:r>
              <a:rPr dirty="0" sz="1100" spc="170">
                <a:latin typeface="Arial"/>
                <a:cs typeface="Arial"/>
              </a:rPr>
              <a:t> </a:t>
            </a:r>
            <a:r>
              <a:rPr dirty="0" sz="1100" spc="-5">
                <a:latin typeface="Arial"/>
                <a:cs typeface="Arial"/>
              </a:rPr>
              <a:t>that</a:t>
            </a:r>
            <a:r>
              <a:rPr dirty="0" sz="1100" spc="185">
                <a:latin typeface="Arial"/>
                <a:cs typeface="Arial"/>
              </a:rPr>
              <a:t> </a:t>
            </a:r>
            <a:r>
              <a:rPr dirty="0" sz="1100" spc="-5">
                <a:latin typeface="Arial"/>
                <a:cs typeface="Arial"/>
              </a:rPr>
              <a:t>commercial</a:t>
            </a:r>
            <a:endParaRPr sz="1100">
              <a:latin typeface="Arial"/>
              <a:cs typeface="Arial"/>
            </a:endParaRPr>
          </a:p>
          <a:p>
            <a:pPr algn="just" marL="469900" marR="5080">
              <a:lnSpc>
                <a:spcPts val="1270"/>
              </a:lnSpc>
              <a:spcBef>
                <a:spcPts val="55"/>
              </a:spcBef>
            </a:pPr>
            <a:r>
              <a:rPr dirty="0" sz="1100" spc="-5">
                <a:latin typeface="Arial"/>
                <a:cs typeface="Arial"/>
              </a:rPr>
              <a:t>banks and other financial institutions conduct their business prudently and in accordance  with relevant laws and regulations. They also monitor reserve ratio requirements and  supervise the conduct of local and regional</a:t>
            </a:r>
            <a:r>
              <a:rPr dirty="0" sz="1100" spc="30">
                <a:latin typeface="Arial"/>
                <a:cs typeface="Arial"/>
              </a:rPr>
              <a:t> </a:t>
            </a:r>
            <a:r>
              <a:rPr dirty="0" sz="1100" spc="-5">
                <a:latin typeface="Arial"/>
                <a:cs typeface="Arial"/>
              </a:rPr>
              <a:t>banks.</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320</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4559300"/>
          </a:xfrm>
          <a:prstGeom prst="rect">
            <a:avLst/>
          </a:prstGeom>
        </p:spPr>
        <p:txBody>
          <a:bodyPr wrap="square" lIns="0" tIns="19050" rIns="0" bIns="0" rtlCol="0" vert="horz">
            <a:spAutoFit/>
          </a:bodyPr>
          <a:lstStyle/>
          <a:p>
            <a:pPr algn="just" marL="469900" marR="6350" indent="-229235">
              <a:lnSpc>
                <a:spcPct val="95800"/>
              </a:lnSpc>
              <a:spcBef>
                <a:spcPts val="150"/>
              </a:spcBef>
            </a:pPr>
            <a:r>
              <a:rPr dirty="0" sz="1100" spc="-5" b="1">
                <a:latin typeface="Arial"/>
                <a:cs typeface="Arial"/>
              </a:rPr>
              <a:t>5. Operator </a:t>
            </a:r>
            <a:r>
              <a:rPr dirty="0" sz="1100" b="1">
                <a:latin typeface="Arial"/>
                <a:cs typeface="Arial"/>
              </a:rPr>
              <a:t>of </a:t>
            </a:r>
            <a:r>
              <a:rPr dirty="0" sz="1100" spc="-5" b="1">
                <a:latin typeface="Arial"/>
                <a:cs typeface="Arial"/>
              </a:rPr>
              <a:t>monetary and credit policy. </a:t>
            </a:r>
            <a:r>
              <a:rPr dirty="0" sz="1100" spc="-5">
                <a:latin typeface="Arial"/>
                <a:cs typeface="Arial"/>
              </a:rPr>
              <a:t>Central banks attempt to manipulate  monetary </a:t>
            </a:r>
            <a:r>
              <a:rPr dirty="0" sz="1100">
                <a:latin typeface="Arial"/>
                <a:cs typeface="Arial"/>
              </a:rPr>
              <a:t>and </a:t>
            </a:r>
            <a:r>
              <a:rPr dirty="0" sz="1100" spc="-5">
                <a:latin typeface="Arial"/>
                <a:cs typeface="Arial"/>
              </a:rPr>
              <a:t>credit policy instruments (the domestic money supply, the discount rate,  the foreign-exchange rate, commercial bank reserve ratio requirements, etc.) to achieve  major macroeconomic objectives such as controlling inflation, promoting investment, or  regulating international currency</a:t>
            </a:r>
            <a:r>
              <a:rPr dirty="0" sz="1100" spc="10">
                <a:latin typeface="Arial"/>
                <a:cs typeface="Arial"/>
              </a:rPr>
              <a:t> </a:t>
            </a:r>
            <a:r>
              <a:rPr dirty="0" sz="1100" spc="-5">
                <a:latin typeface="Arial"/>
                <a:cs typeface="Arial"/>
              </a:rPr>
              <a:t>movements.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spcBef>
                <a:spcPts val="5"/>
              </a:spcBef>
            </a:pPr>
            <a:r>
              <a:rPr dirty="0" sz="1100" spc="-5" b="1">
                <a:latin typeface="Arial"/>
                <a:cs typeface="Arial"/>
              </a:rPr>
              <a:t>CURRENCY BOARDS</a:t>
            </a:r>
            <a:endParaRPr sz="1100">
              <a:latin typeface="Arial"/>
              <a:cs typeface="Arial"/>
            </a:endParaRPr>
          </a:p>
          <a:p>
            <a:pPr>
              <a:lnSpc>
                <a:spcPct val="100000"/>
              </a:lnSpc>
              <a:spcBef>
                <a:spcPts val="50"/>
              </a:spcBef>
            </a:pPr>
            <a:endParaRPr sz="1150">
              <a:latin typeface="Arial"/>
              <a:cs typeface="Arial"/>
            </a:endParaRPr>
          </a:p>
          <a:p>
            <a:pPr algn="just" marL="12700" marR="6985">
              <a:lnSpc>
                <a:spcPct val="95800"/>
              </a:lnSpc>
            </a:pPr>
            <a:r>
              <a:rPr dirty="0" sz="1100" spc="-5">
                <a:latin typeface="Arial"/>
                <a:cs typeface="Arial"/>
              </a:rPr>
              <a:t>A currency board issues domestic currency for foreign exchange at a fixed exchange rate. It  was the classic alternative arrangement to a central bank. Although it provides exchange </a:t>
            </a:r>
            <a:r>
              <a:rPr dirty="0" sz="1100">
                <a:latin typeface="Arial"/>
                <a:cs typeface="Arial"/>
              </a:rPr>
              <a:t>rate  </a:t>
            </a:r>
            <a:r>
              <a:rPr dirty="0" sz="1100" spc="-5">
                <a:latin typeface="Arial"/>
                <a:cs typeface="Arial"/>
              </a:rPr>
              <a:t>stability it does so at a cost of giving up independence to pursue other functional roles of central  banks.</a:t>
            </a:r>
            <a:endParaRPr sz="1100">
              <a:latin typeface="Arial"/>
              <a:cs typeface="Arial"/>
            </a:endParaRPr>
          </a:p>
          <a:p>
            <a:pPr>
              <a:lnSpc>
                <a:spcPct val="100000"/>
              </a:lnSpc>
            </a:pPr>
            <a:endParaRPr sz="1050">
              <a:latin typeface="Arial"/>
              <a:cs typeface="Arial"/>
            </a:endParaRPr>
          </a:p>
          <a:p>
            <a:pPr algn="just" marL="12700">
              <a:lnSpc>
                <a:spcPts val="1410"/>
              </a:lnSpc>
            </a:pPr>
            <a:r>
              <a:rPr dirty="0" sz="1200" spc="-5" b="1">
                <a:latin typeface="Arial"/>
                <a:cs typeface="Arial"/>
              </a:rPr>
              <a:t>ALTERNATIVES TO CENTRAL</a:t>
            </a:r>
            <a:r>
              <a:rPr dirty="0" sz="1200" spc="5" b="1">
                <a:latin typeface="Arial"/>
                <a:cs typeface="Arial"/>
              </a:rPr>
              <a:t> </a:t>
            </a:r>
            <a:r>
              <a:rPr dirty="0" sz="1200" spc="-10" b="1">
                <a:latin typeface="Arial"/>
                <a:cs typeface="Arial"/>
              </a:rPr>
              <a:t>BANKS</a:t>
            </a:r>
            <a:endParaRPr sz="1200">
              <a:latin typeface="Arial"/>
              <a:cs typeface="Arial"/>
            </a:endParaRPr>
          </a:p>
          <a:p>
            <a:pPr algn="just" marL="12700" marR="5080">
              <a:lnSpc>
                <a:spcPct val="95800"/>
              </a:lnSpc>
              <a:spcBef>
                <a:spcPts val="30"/>
              </a:spcBef>
            </a:pPr>
            <a:r>
              <a:rPr dirty="0" sz="1100" spc="-5">
                <a:latin typeface="Arial"/>
                <a:cs typeface="Arial"/>
              </a:rPr>
              <a:t>There are several other alternatives to the standard central bank. First, a transitional central  banking institution can be formed as an intermediate step between a currency board and a  central bank, with the government exerting a strong influence on its financial activities. The  range of such activities, however, is checked by statutory limitations on the monetary authority’s  discretionary powers. Former British colonies and protectorates such as Fiji, Belize, Maldives,  and Bhutan provide the most common examples of transitional central banks. Second, a  supranational central bank may be created to undertake central banking activities for a group </a:t>
            </a:r>
            <a:r>
              <a:rPr dirty="0" sz="1100">
                <a:latin typeface="Arial"/>
                <a:cs typeface="Arial"/>
              </a:rPr>
              <a:t>of  </a:t>
            </a:r>
            <a:r>
              <a:rPr dirty="0" sz="1100" spc="-5">
                <a:latin typeface="Arial"/>
                <a:cs typeface="Arial"/>
              </a:rPr>
              <a:t>smaller countries participating in a monetary </a:t>
            </a:r>
            <a:r>
              <a:rPr dirty="0" sz="1100">
                <a:latin typeface="Arial"/>
                <a:cs typeface="Arial"/>
              </a:rPr>
              <a:t>union, </a:t>
            </a:r>
            <a:r>
              <a:rPr dirty="0" sz="1100" spc="-5">
                <a:latin typeface="Arial"/>
                <a:cs typeface="Arial"/>
              </a:rPr>
              <a:t>perhaps also as part of a customs union  (see Chapter 12). Examples of monetary unions with regional central banks include the West  African Economic and Monetary Union, and the Central African Economic and Monetary  Community, which use separate but equally valued versions of the CFA Franc. Third, a currency  enclave </a:t>
            </a:r>
            <a:r>
              <a:rPr dirty="0" sz="1100">
                <a:latin typeface="Arial"/>
                <a:cs typeface="Arial"/>
              </a:rPr>
              <a:t>might </a:t>
            </a:r>
            <a:r>
              <a:rPr dirty="0" sz="1100" spc="-5">
                <a:latin typeface="Arial"/>
                <a:cs typeface="Arial"/>
              </a:rPr>
              <a:t>be established between the central banking institution in a developing country  and the monetary authority of a larger trading partner, often the former colonial power. Finally, in  an</a:t>
            </a:r>
            <a:r>
              <a:rPr dirty="0" sz="1100" spc="185">
                <a:latin typeface="Arial"/>
                <a:cs typeface="Arial"/>
              </a:rPr>
              <a:t> </a:t>
            </a:r>
            <a:r>
              <a:rPr dirty="0" sz="1100" spc="-5">
                <a:latin typeface="Arial"/>
                <a:cs typeface="Arial"/>
              </a:rPr>
              <a:t>open-economy</a:t>
            </a:r>
            <a:r>
              <a:rPr dirty="0" sz="1100" spc="185">
                <a:latin typeface="Arial"/>
                <a:cs typeface="Arial"/>
              </a:rPr>
              <a:t> </a:t>
            </a:r>
            <a:r>
              <a:rPr dirty="0" sz="1100" spc="-5">
                <a:latin typeface="Arial"/>
                <a:cs typeface="Arial"/>
              </a:rPr>
              <a:t>central</a:t>
            </a:r>
            <a:r>
              <a:rPr dirty="0" sz="1100" spc="185">
                <a:latin typeface="Arial"/>
                <a:cs typeface="Arial"/>
              </a:rPr>
              <a:t> </a:t>
            </a:r>
            <a:r>
              <a:rPr dirty="0" sz="1100" spc="-5">
                <a:latin typeface="Arial"/>
                <a:cs typeface="Arial"/>
              </a:rPr>
              <a:t>banking</a:t>
            </a:r>
            <a:r>
              <a:rPr dirty="0" sz="1100" spc="185">
                <a:latin typeface="Arial"/>
                <a:cs typeface="Arial"/>
              </a:rPr>
              <a:t> </a:t>
            </a:r>
            <a:r>
              <a:rPr dirty="0" sz="1100" spc="-5">
                <a:latin typeface="Arial"/>
                <a:cs typeface="Arial"/>
              </a:rPr>
              <a:t>institution,</a:t>
            </a:r>
            <a:r>
              <a:rPr dirty="0" sz="1100" spc="180">
                <a:latin typeface="Arial"/>
                <a:cs typeface="Arial"/>
              </a:rPr>
              <a:t> </a:t>
            </a:r>
            <a:r>
              <a:rPr dirty="0" sz="1100" spc="-5">
                <a:latin typeface="Arial"/>
                <a:cs typeface="Arial"/>
              </a:rPr>
              <a:t>where</a:t>
            </a:r>
            <a:r>
              <a:rPr dirty="0" sz="1100" spc="185">
                <a:latin typeface="Arial"/>
                <a:cs typeface="Arial"/>
              </a:rPr>
              <a:t> </a:t>
            </a:r>
            <a:r>
              <a:rPr dirty="0" sz="1100" spc="-5">
                <a:latin typeface="Arial"/>
                <a:cs typeface="Arial"/>
              </a:rPr>
              <a:t>both</a:t>
            </a:r>
            <a:r>
              <a:rPr dirty="0" sz="1100" spc="185">
                <a:latin typeface="Arial"/>
                <a:cs typeface="Arial"/>
              </a:rPr>
              <a:t> </a:t>
            </a:r>
            <a:r>
              <a:rPr dirty="0" sz="1100" spc="-5">
                <a:latin typeface="Arial"/>
                <a:cs typeface="Arial"/>
              </a:rPr>
              <a:t>commodity</a:t>
            </a:r>
            <a:r>
              <a:rPr dirty="0" sz="1100" spc="195">
                <a:latin typeface="Arial"/>
                <a:cs typeface="Arial"/>
              </a:rPr>
              <a:t> </a:t>
            </a:r>
            <a:r>
              <a:rPr dirty="0" sz="1100" spc="-5">
                <a:latin typeface="Arial"/>
                <a:cs typeface="Arial"/>
              </a:rPr>
              <a:t>and</a:t>
            </a:r>
            <a:r>
              <a:rPr dirty="0" sz="1100" spc="185">
                <a:latin typeface="Arial"/>
                <a:cs typeface="Arial"/>
              </a:rPr>
              <a:t> </a:t>
            </a:r>
            <a:r>
              <a:rPr dirty="0" sz="1100" spc="-5">
                <a:latin typeface="Arial"/>
                <a:cs typeface="Arial"/>
              </a:rPr>
              <a:t>international</a:t>
            </a:r>
            <a:r>
              <a:rPr dirty="0" sz="1100" spc="185">
                <a:latin typeface="Arial"/>
                <a:cs typeface="Arial"/>
              </a:rPr>
              <a:t> </a:t>
            </a:r>
            <a:r>
              <a:rPr dirty="0" sz="1100" spc="-5">
                <a:latin typeface="Arial"/>
                <a:cs typeface="Arial"/>
              </a:rPr>
              <a:t>capital</a:t>
            </a:r>
            <a:endParaRPr sz="1100">
              <a:latin typeface="Arial"/>
              <a:cs typeface="Arial"/>
            </a:endParaRPr>
          </a:p>
        </p:txBody>
      </p:sp>
      <p:sp>
        <p:nvSpPr>
          <p:cNvPr id="7" name="object 7"/>
          <p:cNvSpPr txBox="1"/>
          <p:nvPr/>
        </p:nvSpPr>
        <p:spPr>
          <a:xfrm>
            <a:off x="901700" y="7953980"/>
            <a:ext cx="5970905" cy="1156970"/>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flows represent significant components of national economic activity, the monetary environment  is likely to be subject to fluctuations in world commodity </a:t>
            </a:r>
            <a:r>
              <a:rPr dirty="0" sz="1100">
                <a:latin typeface="Arial"/>
                <a:cs typeface="Arial"/>
              </a:rPr>
              <a:t>and </a:t>
            </a:r>
            <a:r>
              <a:rPr dirty="0" sz="1100" spc="-5">
                <a:latin typeface="Arial"/>
                <a:cs typeface="Arial"/>
              </a:rPr>
              <a:t>financial markets. As a result, the  central banking institution will be engaged primarily in the regulation and promotion of a stable  and respected financial system. Examples of such institutions have included Singapore, Kuwait,  Saudi Arabia, and the United Arab Emirates. Table 15.1 summarizes the major features of these  four categories of central bank alternatives in comparison with the currency board and the  central bank.</a:t>
            </a:r>
            <a:endParaRPr sz="1100">
              <a:latin typeface="Arial"/>
              <a:cs typeface="Arial"/>
            </a:endParaRPr>
          </a:p>
        </p:txBody>
      </p:sp>
      <p:sp>
        <p:nvSpPr>
          <p:cNvPr id="8" name="object 8"/>
          <p:cNvSpPr/>
          <p:nvPr/>
        </p:nvSpPr>
        <p:spPr>
          <a:xfrm>
            <a:off x="901446" y="5510784"/>
            <a:ext cx="5945124" cy="2446648"/>
          </a:xfrm>
          <a:prstGeom prst="rect">
            <a:avLst/>
          </a:prstGeom>
          <a:blipFill>
            <a:blip r:embed="rId2" cstate="print"/>
            <a:stretch>
              <a:fillRect/>
            </a:stretch>
          </a:blipFill>
        </p:spPr>
        <p:txBody>
          <a:bodyPr wrap="square" lIns="0" tIns="0" rIns="0" bIns="0" rtlCol="0"/>
          <a:lstStyle/>
          <a:p/>
        </p:txBody>
      </p:sp>
      <p:sp>
        <p:nvSpPr>
          <p:cNvPr id="9" name="object 9"/>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10" name="object 10"/>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321</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686" y="891794"/>
            <a:ext cx="5970270" cy="8107680"/>
          </a:xfrm>
          <a:prstGeom prst="rect">
            <a:avLst/>
          </a:prstGeom>
        </p:spPr>
        <p:txBody>
          <a:bodyPr wrap="square" lIns="0" tIns="22860" rIns="0" bIns="0" rtlCol="0" vert="horz">
            <a:spAutoFit/>
          </a:bodyPr>
          <a:lstStyle/>
          <a:p>
            <a:pPr algn="just" marL="12700" marR="6350">
              <a:lnSpc>
                <a:spcPts val="1270"/>
              </a:lnSpc>
              <a:spcBef>
                <a:spcPts val="180"/>
              </a:spcBef>
            </a:pPr>
            <a:r>
              <a:rPr dirty="0" sz="1100" spc="-5">
                <a:latin typeface="Arial"/>
                <a:cs typeface="Arial"/>
              </a:rPr>
              <a:t>A 2009 IMF study reported a global trend toward relatively higher levels of central bank  autonomy </a:t>
            </a:r>
            <a:r>
              <a:rPr dirty="0" sz="1100">
                <a:latin typeface="Arial"/>
                <a:cs typeface="Arial"/>
              </a:rPr>
              <a:t>using </a:t>
            </a:r>
            <a:r>
              <a:rPr dirty="0" sz="1100" spc="-5">
                <a:latin typeface="Arial"/>
                <a:cs typeface="Arial"/>
              </a:rPr>
              <a:t>alternative autonomy indexes and identified four broad patterns over this  period:</a:t>
            </a:r>
            <a:endParaRPr sz="1100">
              <a:latin typeface="Arial"/>
              <a:cs typeface="Arial"/>
            </a:endParaRPr>
          </a:p>
          <a:p>
            <a:pPr>
              <a:lnSpc>
                <a:spcPct val="100000"/>
              </a:lnSpc>
              <a:spcBef>
                <a:spcPts val="40"/>
              </a:spcBef>
            </a:pPr>
            <a:endParaRPr sz="1050">
              <a:latin typeface="Arial"/>
              <a:cs typeface="Arial"/>
            </a:endParaRPr>
          </a:p>
          <a:p>
            <a:pPr algn="just" marL="469900" marR="6985" indent="-228600">
              <a:lnSpc>
                <a:spcPts val="1270"/>
              </a:lnSpc>
              <a:buFont typeface="Arial"/>
              <a:buAutoNum type="arabicPeriod"/>
              <a:tabLst>
                <a:tab pos="469900" algn="l"/>
              </a:tabLst>
            </a:pPr>
            <a:r>
              <a:rPr dirty="0" sz="1100" spc="-5">
                <a:latin typeface="Arial"/>
                <a:cs typeface="Arial"/>
              </a:rPr>
              <a:t>There has been a shift in banking institutions from currency boards to single state central  banks or currency unions (supranational central</a:t>
            </a:r>
            <a:r>
              <a:rPr dirty="0" sz="1100" spc="25">
                <a:latin typeface="Arial"/>
                <a:cs typeface="Arial"/>
              </a:rPr>
              <a:t> </a:t>
            </a:r>
            <a:r>
              <a:rPr dirty="0" sz="1100" spc="-5">
                <a:latin typeface="Arial"/>
                <a:cs typeface="Arial"/>
              </a:rPr>
              <a:t>banks).</a:t>
            </a:r>
            <a:endParaRPr sz="1100">
              <a:latin typeface="Arial"/>
              <a:cs typeface="Arial"/>
            </a:endParaRPr>
          </a:p>
          <a:p>
            <a:pPr algn="just" marL="469900" indent="-228600">
              <a:lnSpc>
                <a:spcPts val="1200"/>
              </a:lnSpc>
              <a:buFont typeface="Arial"/>
              <a:buAutoNum type="arabicPeriod"/>
              <a:tabLst>
                <a:tab pos="469900" algn="l"/>
              </a:tabLst>
            </a:pPr>
            <a:r>
              <a:rPr dirty="0" sz="1100" spc="-5">
                <a:latin typeface="Arial"/>
                <a:cs typeface="Arial"/>
              </a:rPr>
              <a:t>A</a:t>
            </a:r>
            <a:r>
              <a:rPr dirty="0" sz="1100" spc="105">
                <a:latin typeface="Arial"/>
                <a:cs typeface="Arial"/>
              </a:rPr>
              <a:t> </a:t>
            </a:r>
            <a:r>
              <a:rPr dirty="0" sz="1100" spc="-5">
                <a:latin typeface="Arial"/>
                <a:cs typeface="Arial"/>
              </a:rPr>
              <a:t>majority</a:t>
            </a:r>
            <a:r>
              <a:rPr dirty="0" sz="1100" spc="105">
                <a:latin typeface="Arial"/>
                <a:cs typeface="Arial"/>
              </a:rPr>
              <a:t> </a:t>
            </a:r>
            <a:r>
              <a:rPr dirty="0" sz="1100" spc="-5">
                <a:latin typeface="Arial"/>
                <a:cs typeface="Arial"/>
              </a:rPr>
              <a:t>of</a:t>
            </a:r>
            <a:r>
              <a:rPr dirty="0" sz="1100" spc="110">
                <a:latin typeface="Arial"/>
                <a:cs typeface="Arial"/>
              </a:rPr>
              <a:t> </a:t>
            </a:r>
            <a:r>
              <a:rPr dirty="0" sz="1100" spc="-5">
                <a:latin typeface="Arial"/>
                <a:cs typeface="Arial"/>
              </a:rPr>
              <a:t>central</a:t>
            </a:r>
            <a:r>
              <a:rPr dirty="0" sz="1100" spc="100">
                <a:latin typeface="Arial"/>
                <a:cs typeface="Arial"/>
              </a:rPr>
              <a:t> </a:t>
            </a:r>
            <a:r>
              <a:rPr dirty="0" sz="1100" spc="-5">
                <a:latin typeface="Arial"/>
                <a:cs typeface="Arial"/>
              </a:rPr>
              <a:t>banks</a:t>
            </a:r>
            <a:r>
              <a:rPr dirty="0" sz="1100" spc="110">
                <a:latin typeface="Arial"/>
                <a:cs typeface="Arial"/>
              </a:rPr>
              <a:t> </a:t>
            </a:r>
            <a:r>
              <a:rPr dirty="0" sz="1100" spc="-5">
                <a:latin typeface="Arial"/>
                <a:cs typeface="Arial"/>
              </a:rPr>
              <a:t>have</a:t>
            </a:r>
            <a:r>
              <a:rPr dirty="0" sz="1100" spc="105">
                <a:latin typeface="Arial"/>
                <a:cs typeface="Arial"/>
              </a:rPr>
              <a:t> </a:t>
            </a:r>
            <a:r>
              <a:rPr dirty="0" sz="1100" spc="-5">
                <a:latin typeface="Arial"/>
                <a:cs typeface="Arial"/>
              </a:rPr>
              <a:t>been</a:t>
            </a:r>
            <a:r>
              <a:rPr dirty="0" sz="1100" spc="110">
                <a:latin typeface="Arial"/>
                <a:cs typeface="Arial"/>
              </a:rPr>
              <a:t> </a:t>
            </a:r>
            <a:r>
              <a:rPr dirty="0" sz="1100" spc="-5">
                <a:latin typeface="Arial"/>
                <a:cs typeface="Arial"/>
              </a:rPr>
              <a:t>granted</a:t>
            </a:r>
            <a:r>
              <a:rPr dirty="0" sz="1100" spc="105">
                <a:latin typeface="Arial"/>
                <a:cs typeface="Arial"/>
              </a:rPr>
              <a:t> </a:t>
            </a:r>
            <a:r>
              <a:rPr dirty="0" sz="1100" spc="-5">
                <a:latin typeface="Arial"/>
                <a:cs typeface="Arial"/>
              </a:rPr>
              <a:t>the</a:t>
            </a:r>
            <a:r>
              <a:rPr dirty="0" sz="1100" spc="105">
                <a:latin typeface="Arial"/>
                <a:cs typeface="Arial"/>
              </a:rPr>
              <a:t> </a:t>
            </a:r>
            <a:r>
              <a:rPr dirty="0" sz="1100" spc="-5">
                <a:latin typeface="Arial"/>
                <a:cs typeface="Arial"/>
              </a:rPr>
              <a:t>responsibility</a:t>
            </a:r>
            <a:r>
              <a:rPr dirty="0" sz="1100" spc="110">
                <a:latin typeface="Arial"/>
                <a:cs typeface="Arial"/>
              </a:rPr>
              <a:t> </a:t>
            </a:r>
            <a:r>
              <a:rPr dirty="0" sz="1100" spc="-5">
                <a:latin typeface="Arial"/>
                <a:cs typeface="Arial"/>
              </a:rPr>
              <a:t>to</a:t>
            </a:r>
            <a:r>
              <a:rPr dirty="0" sz="1100" spc="105">
                <a:latin typeface="Arial"/>
                <a:cs typeface="Arial"/>
              </a:rPr>
              <a:t> </a:t>
            </a:r>
            <a:r>
              <a:rPr dirty="0" sz="1100" spc="-5">
                <a:latin typeface="Arial"/>
                <a:cs typeface="Arial"/>
              </a:rPr>
              <a:t>set</a:t>
            </a:r>
            <a:r>
              <a:rPr dirty="0" sz="1100" spc="105">
                <a:latin typeface="Arial"/>
                <a:cs typeface="Arial"/>
              </a:rPr>
              <a:t> </a:t>
            </a:r>
            <a:r>
              <a:rPr dirty="0" sz="1100" spc="-5">
                <a:latin typeface="Arial"/>
                <a:cs typeface="Arial"/>
              </a:rPr>
              <a:t>price</a:t>
            </a:r>
            <a:r>
              <a:rPr dirty="0" sz="1100" spc="105">
                <a:latin typeface="Arial"/>
                <a:cs typeface="Arial"/>
              </a:rPr>
              <a:t> </a:t>
            </a:r>
            <a:r>
              <a:rPr dirty="0" sz="1100" spc="-5">
                <a:latin typeface="Arial"/>
                <a:cs typeface="Arial"/>
              </a:rPr>
              <a:t>stability</a:t>
            </a:r>
            <a:r>
              <a:rPr dirty="0" sz="1100" spc="110">
                <a:latin typeface="Arial"/>
                <a:cs typeface="Arial"/>
              </a:rPr>
              <a:t> </a:t>
            </a:r>
            <a:r>
              <a:rPr dirty="0" sz="1100" spc="-5">
                <a:latin typeface="Arial"/>
                <a:cs typeface="Arial"/>
              </a:rPr>
              <a:t>or</a:t>
            </a:r>
            <a:endParaRPr sz="1100">
              <a:latin typeface="Arial"/>
              <a:cs typeface="Arial"/>
            </a:endParaRPr>
          </a:p>
          <a:p>
            <a:pPr algn="just" marL="469900" marR="6350">
              <a:lnSpc>
                <a:spcPct val="95800"/>
              </a:lnSpc>
              <a:spcBef>
                <a:spcPts val="30"/>
              </a:spcBef>
            </a:pPr>
            <a:r>
              <a:rPr dirty="0" sz="1100" spc="-5">
                <a:latin typeface="Arial"/>
                <a:cs typeface="Arial"/>
              </a:rPr>
              <a:t>target inflation as one of their objectives of monetary policy. In addition, most of these  countries also have autonomy with respect to setting the policy rate as it concerns the  government. (The degree to </a:t>
            </a:r>
            <a:r>
              <a:rPr dirty="0" sz="1100">
                <a:latin typeface="Arial"/>
                <a:cs typeface="Arial"/>
              </a:rPr>
              <a:t>which </a:t>
            </a:r>
            <a:r>
              <a:rPr dirty="0" sz="1100" spc="-5">
                <a:latin typeface="Arial"/>
                <a:cs typeface="Arial"/>
              </a:rPr>
              <a:t>this measured autonomy corresponds to actual  practice particularly over time and across periods of financial distress will be an ongoing  consideration.)</a:t>
            </a:r>
            <a:endParaRPr sz="1100">
              <a:latin typeface="Arial"/>
              <a:cs typeface="Arial"/>
            </a:endParaRPr>
          </a:p>
          <a:p>
            <a:pPr algn="just" marL="469900" marR="5080" indent="-228600">
              <a:lnSpc>
                <a:spcPct val="95700"/>
              </a:lnSpc>
              <a:buFont typeface="Arial"/>
              <a:buAutoNum type="arabicPeriod" startAt="3"/>
              <a:tabLst>
                <a:tab pos="469900" algn="l"/>
              </a:tabLst>
            </a:pPr>
            <a:r>
              <a:rPr dirty="0" sz="1100" spc="-5">
                <a:latin typeface="Arial"/>
                <a:cs typeface="Arial"/>
              </a:rPr>
              <a:t>There is divergence among central banks on the issue of financial supervision. </a:t>
            </a:r>
            <a:r>
              <a:rPr dirty="0" sz="1100">
                <a:latin typeface="Arial"/>
                <a:cs typeface="Arial"/>
              </a:rPr>
              <a:t>Many  </a:t>
            </a:r>
            <a:r>
              <a:rPr dirty="0" sz="1100" spc="-5">
                <a:latin typeface="Arial"/>
                <a:cs typeface="Arial"/>
              </a:rPr>
              <a:t>central banks in developing countries have retained their key supervisory role. But the  priority of most central banks is achieving medium-term </a:t>
            </a:r>
            <a:r>
              <a:rPr dirty="0" sz="1100">
                <a:latin typeface="Arial"/>
                <a:cs typeface="Arial"/>
              </a:rPr>
              <a:t>price</a:t>
            </a:r>
            <a:r>
              <a:rPr dirty="0" sz="1100" spc="60">
                <a:latin typeface="Arial"/>
                <a:cs typeface="Arial"/>
              </a:rPr>
              <a:t> </a:t>
            </a:r>
            <a:r>
              <a:rPr dirty="0" sz="1100" spc="-5">
                <a:latin typeface="Arial"/>
                <a:cs typeface="Arial"/>
              </a:rPr>
              <a:t>stability.</a:t>
            </a:r>
            <a:endParaRPr sz="1100">
              <a:latin typeface="Arial"/>
              <a:cs typeface="Arial"/>
            </a:endParaRPr>
          </a:p>
          <a:p>
            <a:pPr algn="just" marL="469900" marR="6350" indent="-228600">
              <a:lnSpc>
                <a:spcPct val="95800"/>
              </a:lnSpc>
              <a:spcBef>
                <a:spcPts val="5"/>
              </a:spcBef>
              <a:buFont typeface="Arial"/>
              <a:buAutoNum type="arabicPeriod" startAt="3"/>
              <a:tabLst>
                <a:tab pos="469900" algn="l"/>
              </a:tabLst>
            </a:pPr>
            <a:r>
              <a:rPr dirty="0" sz="1100" spc="-5">
                <a:latin typeface="Arial"/>
                <a:cs typeface="Arial"/>
              </a:rPr>
              <a:t>Participation in currency unions </a:t>
            </a:r>
            <a:r>
              <a:rPr dirty="0" sz="1100">
                <a:latin typeface="Arial"/>
                <a:cs typeface="Arial"/>
              </a:rPr>
              <a:t>(or </a:t>
            </a:r>
            <a:r>
              <a:rPr dirty="0" sz="1100" spc="-5">
                <a:latin typeface="Arial"/>
                <a:cs typeface="Arial"/>
              </a:rPr>
              <a:t>supranational central banks) has enhanced the  autonomy of central banks in both developed and developing countries. Examples  include the European Union of Central Banks (ESCP), the Central Bank of West African  States (BCEAO), the Bank of Central African States (BEAC), and </a:t>
            </a:r>
            <a:r>
              <a:rPr dirty="0" sz="1100">
                <a:latin typeface="Arial"/>
                <a:cs typeface="Arial"/>
              </a:rPr>
              <a:t>the </a:t>
            </a:r>
            <a:r>
              <a:rPr dirty="0" sz="1100" spc="-5">
                <a:latin typeface="Arial"/>
                <a:cs typeface="Arial"/>
              </a:rPr>
              <a:t>East Caribbean  Central Bank</a:t>
            </a:r>
            <a:r>
              <a:rPr dirty="0" sz="1100">
                <a:latin typeface="Arial"/>
                <a:cs typeface="Arial"/>
              </a:rPr>
              <a:t> </a:t>
            </a:r>
            <a:r>
              <a:rPr dirty="0" sz="1100" spc="-5">
                <a:latin typeface="Arial"/>
                <a:cs typeface="Arial"/>
              </a:rPr>
              <a:t>(ECCB).</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THE ROLE OF DEVELOPMENT</a:t>
            </a:r>
            <a:r>
              <a:rPr dirty="0" sz="1100" spc="20" b="1">
                <a:latin typeface="Arial"/>
                <a:cs typeface="Arial"/>
              </a:rPr>
              <a:t> </a:t>
            </a:r>
            <a:r>
              <a:rPr dirty="0" sz="1100" b="1">
                <a:latin typeface="Arial"/>
                <a:cs typeface="Arial"/>
              </a:rPr>
              <a:t>BANKING</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Development banks are specialized public and private financial institutions that supply medium-  and long-term funds for the creation or expansion of industrial enterprises. They </a:t>
            </a:r>
            <a:r>
              <a:rPr dirty="0" sz="1100">
                <a:latin typeface="Arial"/>
                <a:cs typeface="Arial"/>
              </a:rPr>
              <a:t>have </a:t>
            </a:r>
            <a:r>
              <a:rPr dirty="0" sz="1100" spc="-5">
                <a:latin typeface="Arial"/>
                <a:cs typeface="Arial"/>
              </a:rPr>
              <a:t>arisen in  many developing nations because the existing banks usually focus on either short-term lending  for commercial purposes (commercial and savings banks) or, in the case of central banks, the  control and regulation of the aggregate supply of money. Moreover, existing commercial banks  set loan conditions that are often inappropriate for establishing new enterprises or for financing  large-scale projects. Their funds are more often allocated to “safe” borrowers (established  industries, many of </a:t>
            </a:r>
            <a:r>
              <a:rPr dirty="0" sz="1100">
                <a:latin typeface="Arial"/>
                <a:cs typeface="Arial"/>
              </a:rPr>
              <a:t>which </a:t>
            </a:r>
            <a:r>
              <a:rPr dirty="0" sz="1100" spc="-5">
                <a:latin typeface="Arial"/>
                <a:cs typeface="Arial"/>
              </a:rPr>
              <a:t>are foreign-owned or run by well-known local families). True venture  capital for new industries rarely obtains</a:t>
            </a:r>
            <a:r>
              <a:rPr dirty="0" sz="1100" spc="30">
                <a:latin typeface="Arial"/>
                <a:cs typeface="Arial"/>
              </a:rPr>
              <a:t> </a:t>
            </a:r>
            <a:r>
              <a:rPr dirty="0" sz="1100" spc="-5">
                <a:latin typeface="Arial"/>
                <a:cs typeface="Arial"/>
              </a:rPr>
              <a:t>approval.</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To facilitate industrial growth in economies characterized by a scarcity of financial capital,  development banks have sought to raise capital, initially focusing on two major sources: (1)  bilateral and multilateral loans from national aid agencies like the U.S. Agency for International  Development (USAID) and from international donor agencies like the World Bank and (2) loans  from their own governments. However, in addition to raising capital, development banks have  had to develop specialized skills in the field of industrial project appraisal. In many cases, their  activities go far beyond the traditional banker’s role of lending money to creditworthy customers.  The activities of development banks often encompass direct entrepreneurial, managerial, and  promotional involvement in the enterprises they finance, including government-owned and -  operated industrial</a:t>
            </a:r>
            <a:r>
              <a:rPr dirty="0" sz="1100" spc="5">
                <a:latin typeface="Arial"/>
                <a:cs typeface="Arial"/>
              </a:rPr>
              <a:t> </a:t>
            </a:r>
            <a:r>
              <a:rPr dirty="0" sz="1100" spc="-5">
                <a:latin typeface="Arial"/>
                <a:cs typeface="Arial"/>
              </a:rPr>
              <a:t>corporations.</a:t>
            </a:r>
            <a:endParaRPr sz="1100">
              <a:latin typeface="Arial"/>
              <a:cs typeface="Arial"/>
            </a:endParaRPr>
          </a:p>
          <a:p>
            <a:pPr marL="12700" marR="2171065">
              <a:lnSpc>
                <a:spcPts val="2650"/>
              </a:lnSpc>
              <a:spcBef>
                <a:spcPts val="200"/>
              </a:spcBef>
            </a:pPr>
            <a:r>
              <a:rPr dirty="0" sz="1100" spc="-5" b="1">
                <a:latin typeface="Arial"/>
                <a:cs typeface="Arial"/>
              </a:rPr>
              <a:t>INFORMAL FINANCE AND THE RISE OF MICROFINANCE  TRADITIONAL INFORMAL</a:t>
            </a:r>
            <a:r>
              <a:rPr dirty="0" sz="1100" b="1">
                <a:latin typeface="Arial"/>
                <a:cs typeface="Arial"/>
              </a:rPr>
              <a:t> FINANCE</a:t>
            </a:r>
            <a:endParaRPr sz="1100">
              <a:latin typeface="Arial"/>
              <a:cs typeface="Arial"/>
            </a:endParaRPr>
          </a:p>
          <a:p>
            <a:pPr>
              <a:lnSpc>
                <a:spcPct val="100000"/>
              </a:lnSpc>
              <a:spcBef>
                <a:spcPts val="5"/>
              </a:spcBef>
            </a:pPr>
            <a:endParaRPr sz="950">
              <a:latin typeface="Arial"/>
              <a:cs typeface="Arial"/>
            </a:endParaRPr>
          </a:p>
          <a:p>
            <a:pPr algn="just" marL="12700" marR="7620">
              <a:lnSpc>
                <a:spcPts val="1260"/>
              </a:lnSpc>
            </a:pPr>
            <a:r>
              <a:rPr dirty="0" sz="1100" spc="-5">
                <a:latin typeface="Arial"/>
                <a:cs typeface="Arial"/>
              </a:rPr>
              <a:t>A 2009 study estimated that 2.5 billion adults do not use formal services to save or borrow. As  noted</a:t>
            </a:r>
            <a:r>
              <a:rPr dirty="0" sz="1100" spc="100">
                <a:latin typeface="Arial"/>
                <a:cs typeface="Arial"/>
              </a:rPr>
              <a:t> </a:t>
            </a:r>
            <a:r>
              <a:rPr dirty="0" sz="1100" spc="-5">
                <a:latin typeface="Arial"/>
                <a:cs typeface="Arial"/>
              </a:rPr>
              <a:t>earlier</a:t>
            </a:r>
            <a:r>
              <a:rPr dirty="0" sz="1100" spc="105">
                <a:latin typeface="Arial"/>
                <a:cs typeface="Arial"/>
              </a:rPr>
              <a:t> </a:t>
            </a:r>
            <a:r>
              <a:rPr dirty="0" sz="1100" spc="-5">
                <a:latin typeface="Arial"/>
                <a:cs typeface="Arial"/>
              </a:rPr>
              <a:t>in</a:t>
            </a:r>
            <a:r>
              <a:rPr dirty="0" sz="1100" spc="100">
                <a:latin typeface="Arial"/>
                <a:cs typeface="Arial"/>
              </a:rPr>
              <a:t> </a:t>
            </a:r>
            <a:r>
              <a:rPr dirty="0" sz="1100" spc="-5">
                <a:latin typeface="Arial"/>
                <a:cs typeface="Arial"/>
              </a:rPr>
              <a:t>the</a:t>
            </a:r>
            <a:r>
              <a:rPr dirty="0" sz="1100" spc="105">
                <a:latin typeface="Arial"/>
                <a:cs typeface="Arial"/>
              </a:rPr>
              <a:t> </a:t>
            </a:r>
            <a:r>
              <a:rPr dirty="0" sz="1100" spc="-5">
                <a:latin typeface="Arial"/>
                <a:cs typeface="Arial"/>
              </a:rPr>
              <a:t>text,</a:t>
            </a:r>
            <a:r>
              <a:rPr dirty="0" sz="1100" spc="105">
                <a:latin typeface="Arial"/>
                <a:cs typeface="Arial"/>
              </a:rPr>
              <a:t> </a:t>
            </a:r>
            <a:r>
              <a:rPr dirty="0" sz="1100" spc="-5">
                <a:latin typeface="Arial"/>
                <a:cs typeface="Arial"/>
              </a:rPr>
              <a:t>much</a:t>
            </a:r>
            <a:r>
              <a:rPr dirty="0" sz="1100" spc="105">
                <a:latin typeface="Arial"/>
                <a:cs typeface="Arial"/>
              </a:rPr>
              <a:t> </a:t>
            </a:r>
            <a:r>
              <a:rPr dirty="0" sz="1100" spc="-5">
                <a:latin typeface="Arial"/>
                <a:cs typeface="Arial"/>
              </a:rPr>
              <a:t>economic</a:t>
            </a:r>
            <a:r>
              <a:rPr dirty="0" sz="1100" spc="100">
                <a:latin typeface="Arial"/>
                <a:cs typeface="Arial"/>
              </a:rPr>
              <a:t> </a:t>
            </a:r>
            <a:r>
              <a:rPr dirty="0" sz="1100" spc="-5">
                <a:latin typeface="Arial"/>
                <a:cs typeface="Arial"/>
              </a:rPr>
              <a:t>activity</a:t>
            </a:r>
            <a:r>
              <a:rPr dirty="0" sz="1100" spc="105">
                <a:latin typeface="Arial"/>
                <a:cs typeface="Arial"/>
              </a:rPr>
              <a:t> </a:t>
            </a:r>
            <a:r>
              <a:rPr dirty="0" sz="1100" spc="-5">
                <a:latin typeface="Arial"/>
                <a:cs typeface="Arial"/>
              </a:rPr>
              <a:t>in</a:t>
            </a:r>
            <a:r>
              <a:rPr dirty="0" sz="1100" spc="100">
                <a:latin typeface="Arial"/>
                <a:cs typeface="Arial"/>
              </a:rPr>
              <a:t> </a:t>
            </a:r>
            <a:r>
              <a:rPr dirty="0" sz="1100" spc="-5">
                <a:latin typeface="Arial"/>
                <a:cs typeface="Arial"/>
              </a:rPr>
              <a:t>developing</a:t>
            </a:r>
            <a:r>
              <a:rPr dirty="0" sz="1100" spc="105">
                <a:latin typeface="Arial"/>
                <a:cs typeface="Arial"/>
              </a:rPr>
              <a:t> </a:t>
            </a:r>
            <a:r>
              <a:rPr dirty="0" sz="1100" spc="-5">
                <a:latin typeface="Arial"/>
                <a:cs typeface="Arial"/>
              </a:rPr>
              <a:t>nations</a:t>
            </a:r>
            <a:r>
              <a:rPr dirty="0" sz="1100" spc="100">
                <a:latin typeface="Arial"/>
                <a:cs typeface="Arial"/>
              </a:rPr>
              <a:t> </a:t>
            </a:r>
            <a:r>
              <a:rPr dirty="0" sz="1100" spc="-5">
                <a:latin typeface="Arial"/>
                <a:cs typeface="Arial"/>
              </a:rPr>
              <a:t>comes</a:t>
            </a:r>
            <a:r>
              <a:rPr dirty="0" sz="1100" spc="105">
                <a:latin typeface="Arial"/>
                <a:cs typeface="Arial"/>
              </a:rPr>
              <a:t> </a:t>
            </a:r>
            <a:r>
              <a:rPr dirty="0" sz="1100" spc="-5">
                <a:latin typeface="Arial"/>
                <a:cs typeface="Arial"/>
              </a:rPr>
              <a:t>from</a:t>
            </a:r>
            <a:r>
              <a:rPr dirty="0" sz="1100" spc="110">
                <a:latin typeface="Arial"/>
                <a:cs typeface="Arial"/>
              </a:rPr>
              <a:t> </a:t>
            </a:r>
            <a:r>
              <a:rPr dirty="0" sz="1100" spc="-5">
                <a:latin typeface="Arial"/>
                <a:cs typeface="Arial"/>
              </a:rPr>
              <a:t>small-scale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322</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270" cy="8239759"/>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producers and enterprises. Most are non corporate, unlicensed, unregistered enterprises,  including small farmers, producers, artisans, trades people, and independent traders operating  in the informal urban and rural sectors of the economy. Their demands for financial services are  unique and outside the purview of traditional commercial bank</a:t>
            </a:r>
            <a:r>
              <a:rPr dirty="0" sz="1100" spc="55">
                <a:latin typeface="Arial"/>
                <a:cs typeface="Arial"/>
              </a:rPr>
              <a:t> </a:t>
            </a:r>
            <a:r>
              <a:rPr dirty="0" sz="1100" spc="-5">
                <a:latin typeface="Arial"/>
                <a:cs typeface="Arial"/>
              </a:rPr>
              <a:t>lending.</a:t>
            </a:r>
            <a:endParaRPr sz="1100">
              <a:latin typeface="Arial"/>
              <a:cs typeface="Arial"/>
            </a:endParaRPr>
          </a:p>
          <a:p>
            <a:pPr>
              <a:lnSpc>
                <a:spcPct val="100000"/>
              </a:lnSpc>
              <a:spcBef>
                <a:spcPts val="5"/>
              </a:spcBef>
            </a:pPr>
            <a:endParaRPr sz="1100">
              <a:latin typeface="Arial"/>
              <a:cs typeface="Arial"/>
            </a:endParaRPr>
          </a:p>
          <a:p>
            <a:pPr algn="just" marL="12700" marR="5080">
              <a:lnSpc>
                <a:spcPct val="95800"/>
              </a:lnSpc>
            </a:pPr>
            <a:r>
              <a:rPr dirty="0" sz="1100" spc="-5">
                <a:latin typeface="Arial"/>
                <a:cs typeface="Arial"/>
              </a:rPr>
              <a:t>A variety </a:t>
            </a:r>
            <a:r>
              <a:rPr dirty="0" sz="1100">
                <a:latin typeface="Arial"/>
                <a:cs typeface="Arial"/>
              </a:rPr>
              <a:t>of </a:t>
            </a:r>
            <a:r>
              <a:rPr dirty="0" sz="1100" spc="-5">
                <a:latin typeface="Arial"/>
                <a:cs typeface="Arial"/>
              </a:rPr>
              <a:t>forms of informal finance have emerged to replace the moneylender and  pawnbroker in some instances. These include local rotating savings and credit associations and  group lending schemes. In the case of rotating savings and credit associations (ROSCAs),  which can be found in such diverse countries as Mexico, Bolivia, Egypt, Nigeria, Ghana, the  Philippines, Sri Lanka, India, China, and South Korea, a group of up to 50 individuals selects a  leader who collects a fixed amount of savings from each member. This fund is then allocated  (often randomly but frequently also sequenced through internal bidding) on a rotating basis to  each member as an interest-free loan. ROSCAs enable people to buy goods without having to  save the full amount in advance. With a ROSCA, individuals can make their planned purchases  in half the time, on average. Many low-income people prefer to save and borrow this way,  repayment rates are extremely high, and participation is very</a:t>
            </a:r>
            <a:r>
              <a:rPr dirty="0" sz="1100" spc="60">
                <a:latin typeface="Arial"/>
                <a:cs typeface="Arial"/>
              </a:rPr>
              <a:t> </a:t>
            </a:r>
            <a:r>
              <a:rPr dirty="0" sz="1100" spc="-5">
                <a:latin typeface="Arial"/>
                <a:cs typeface="Arial"/>
              </a:rPr>
              <a:t>active.</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MICROFINANCE INSTITUTIONS</a:t>
            </a:r>
            <a:endParaRPr sz="1100">
              <a:latin typeface="Arial"/>
              <a:cs typeface="Arial"/>
            </a:endParaRPr>
          </a:p>
          <a:p>
            <a:pPr>
              <a:lnSpc>
                <a:spcPct val="100000"/>
              </a:lnSpc>
              <a:spcBef>
                <a:spcPts val="50"/>
              </a:spcBef>
            </a:pPr>
            <a:endParaRPr sz="1150">
              <a:latin typeface="Arial"/>
              <a:cs typeface="Arial"/>
            </a:endParaRPr>
          </a:p>
          <a:p>
            <a:pPr algn="just" marL="12700" marR="5080">
              <a:lnSpc>
                <a:spcPct val="95800"/>
              </a:lnSpc>
              <a:spcBef>
                <a:spcPts val="5"/>
              </a:spcBef>
            </a:pPr>
            <a:r>
              <a:rPr dirty="0" sz="1100" spc="-5">
                <a:latin typeface="Arial"/>
                <a:cs typeface="Arial"/>
              </a:rPr>
              <a:t>Microfinance is the supply of credit, saving vehicles, and other basic financial services made  available to poor and vulnerable people who </a:t>
            </a:r>
            <a:r>
              <a:rPr dirty="0" sz="1100">
                <a:latin typeface="Arial"/>
                <a:cs typeface="Arial"/>
              </a:rPr>
              <a:t>might </a:t>
            </a:r>
            <a:r>
              <a:rPr dirty="0" sz="1100" spc="-5">
                <a:latin typeface="Arial"/>
                <a:cs typeface="Arial"/>
              </a:rPr>
              <a:t>otherwise have no access to them or could  borrow only on highly unfavorable terms. Microfinance institutions (MFIs) specialize in delivering  these services, in various ways and according to their own institutional rules.19 In the case of  village banking, or group lending schemes, a group of potential borrowers forms an association  to borrow </a:t>
            </a:r>
            <a:r>
              <a:rPr dirty="0" sz="1100">
                <a:latin typeface="Arial"/>
                <a:cs typeface="Arial"/>
              </a:rPr>
              <a:t>funds </a:t>
            </a:r>
            <a:r>
              <a:rPr dirty="0" sz="1100" spc="-5">
                <a:latin typeface="Arial"/>
                <a:cs typeface="Arial"/>
              </a:rPr>
              <a:t>from a commercial bank, a government development bank, an NGO, or a  private institution. The group then allocates the funds to individual members, whose  responsibility is to repay the group. The group itself guarantees the loan to the outside lender; it  is responsible for repayment. The idea is simple: By joining together, a group of small borrowers  can reduce the costs of borrowing and, because the loan is large, can gain access to formal  commercial credit. With at least implicit joint liability, group members </a:t>
            </a:r>
            <a:r>
              <a:rPr dirty="0" sz="1100">
                <a:latin typeface="Arial"/>
                <a:cs typeface="Arial"/>
              </a:rPr>
              <a:t>have </a:t>
            </a:r>
            <a:r>
              <a:rPr dirty="0" sz="1100" spc="-5">
                <a:latin typeface="Arial"/>
                <a:cs typeface="Arial"/>
              </a:rPr>
              <a:t>a vested interest in  the success of the enterprise and therefore exert strong pressure on borrowing members to  repay on time. The evidence shows that repayment rates compare favorably with formal-sector  borrowers.</a:t>
            </a:r>
            <a:endParaRPr sz="1100">
              <a:latin typeface="Arial"/>
              <a:cs typeface="Arial"/>
            </a:endParaRPr>
          </a:p>
          <a:p>
            <a:pPr>
              <a:lnSpc>
                <a:spcPct val="100000"/>
              </a:lnSpc>
            </a:pPr>
            <a:endParaRPr sz="1100">
              <a:latin typeface="Arial"/>
              <a:cs typeface="Arial"/>
            </a:endParaRPr>
          </a:p>
          <a:p>
            <a:pPr algn="just" marL="12700" marR="5715">
              <a:lnSpc>
                <a:spcPct val="95800"/>
              </a:lnSpc>
            </a:pPr>
            <a:r>
              <a:rPr dirty="0" sz="1100" spc="-5">
                <a:latin typeface="Arial"/>
                <a:cs typeface="Arial"/>
              </a:rPr>
              <a:t>Economic research has consistently found that availability of credit is a binding constraint for  micro enterprise development. A majority of micro enterprises are operated by women. But lack  of credit particularly, though certainly not exclusively, affects women (micro entrepreneur)  borrowers, for reasons ranging from lack of property rights to local cultural practices, but lack of  collateral is arguably the most important. Let’s look a little more closely at how this</a:t>
            </a:r>
            <a:r>
              <a:rPr dirty="0" sz="1100" spc="170">
                <a:latin typeface="Arial"/>
                <a:cs typeface="Arial"/>
              </a:rPr>
              <a:t> </a:t>
            </a:r>
            <a:r>
              <a:rPr dirty="0" sz="1100" spc="-5">
                <a:latin typeface="Arial"/>
                <a:cs typeface="Arial"/>
              </a:rPr>
              <a:t>works.</a:t>
            </a:r>
            <a:endParaRPr sz="1100">
              <a:latin typeface="Arial"/>
              <a:cs typeface="Arial"/>
            </a:endParaRPr>
          </a:p>
          <a:p>
            <a:pPr>
              <a:lnSpc>
                <a:spcPct val="100000"/>
              </a:lnSpc>
            </a:pPr>
            <a:endParaRPr sz="1100">
              <a:latin typeface="Arial"/>
              <a:cs typeface="Arial"/>
            </a:endParaRPr>
          </a:p>
          <a:p>
            <a:pPr algn="just" marL="12700" marR="6350">
              <a:lnSpc>
                <a:spcPct val="95800"/>
              </a:lnSpc>
              <a:spcBef>
                <a:spcPts val="5"/>
              </a:spcBef>
            </a:pPr>
            <a:r>
              <a:rPr dirty="0" sz="1100" spc="-5">
                <a:latin typeface="Arial"/>
                <a:cs typeface="Arial"/>
              </a:rPr>
              <a:t>Three related factors have made it difficult to relax credit constraints to low income female micro  entrepreneurs. First, poor micro entrepreneurs often have little or no collateral. Second, it is  difficult for conventional lenders to determine borrower quality. Third, small loans are more  costly to process per dollar</a:t>
            </a:r>
            <a:r>
              <a:rPr dirty="0" sz="1100" spc="20">
                <a:latin typeface="Arial"/>
                <a:cs typeface="Arial"/>
              </a:rPr>
              <a:t> </a:t>
            </a:r>
            <a:r>
              <a:rPr dirty="0" sz="1100" spc="-5">
                <a:latin typeface="Arial"/>
                <a:cs typeface="Arial"/>
              </a:rPr>
              <a:t>lent.</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Village banking seeks to solve these problems in part through the “collateral of peer pressure.”  Small micro entrepreneurs are organized into credit cooperatives, to which seed capital is lent.  In a traditional model, before qualifying for a loan, each member is required to identify several  other members or potential members willing to cosign loans with them. Often, once a member </a:t>
            </a:r>
            <a:r>
              <a:rPr dirty="0" sz="1100">
                <a:latin typeface="Arial"/>
                <a:cs typeface="Arial"/>
              </a:rPr>
              <a:t>of  </a:t>
            </a:r>
            <a:r>
              <a:rPr dirty="0" sz="1100" spc="-5">
                <a:latin typeface="Arial"/>
                <a:cs typeface="Arial"/>
              </a:rPr>
              <a:t>a cosigning group receives a loan, no other member </a:t>
            </a:r>
            <a:r>
              <a:rPr dirty="0" sz="1100">
                <a:latin typeface="Arial"/>
                <a:cs typeface="Arial"/>
              </a:rPr>
              <a:t>may </a:t>
            </a:r>
            <a:r>
              <a:rPr dirty="0" sz="1100" spc="-5">
                <a:latin typeface="Arial"/>
                <a:cs typeface="Arial"/>
              </a:rPr>
              <a:t>borrow until the first borrower has  established</a:t>
            </a:r>
            <a:r>
              <a:rPr dirty="0" sz="1100" spc="45">
                <a:latin typeface="Arial"/>
                <a:cs typeface="Arial"/>
              </a:rPr>
              <a:t> </a:t>
            </a:r>
            <a:r>
              <a:rPr dirty="0" sz="1100" spc="-5">
                <a:latin typeface="Arial"/>
                <a:cs typeface="Arial"/>
              </a:rPr>
              <a:t>a</a:t>
            </a:r>
            <a:r>
              <a:rPr dirty="0" sz="1100" spc="55">
                <a:latin typeface="Arial"/>
                <a:cs typeface="Arial"/>
              </a:rPr>
              <a:t> </a:t>
            </a:r>
            <a:r>
              <a:rPr dirty="0" sz="1100" spc="-5">
                <a:latin typeface="Arial"/>
                <a:cs typeface="Arial"/>
              </a:rPr>
              <a:t>regular</a:t>
            </a:r>
            <a:r>
              <a:rPr dirty="0" sz="1100" spc="55">
                <a:latin typeface="Arial"/>
                <a:cs typeface="Arial"/>
              </a:rPr>
              <a:t> </a:t>
            </a:r>
            <a:r>
              <a:rPr dirty="0" sz="1100" spc="-5">
                <a:latin typeface="Arial"/>
                <a:cs typeface="Arial"/>
              </a:rPr>
              <a:t>repayment</a:t>
            </a:r>
            <a:r>
              <a:rPr dirty="0" sz="1100" spc="50">
                <a:latin typeface="Arial"/>
                <a:cs typeface="Arial"/>
              </a:rPr>
              <a:t> </a:t>
            </a:r>
            <a:r>
              <a:rPr dirty="0" sz="1100" spc="-5">
                <a:latin typeface="Arial"/>
                <a:cs typeface="Arial"/>
              </a:rPr>
              <a:t>record;</a:t>
            </a:r>
            <a:r>
              <a:rPr dirty="0" sz="1100" spc="55">
                <a:latin typeface="Arial"/>
                <a:cs typeface="Arial"/>
              </a:rPr>
              <a:t> </a:t>
            </a:r>
            <a:r>
              <a:rPr dirty="0" sz="1100" spc="-5">
                <a:latin typeface="Arial"/>
                <a:cs typeface="Arial"/>
              </a:rPr>
              <a:t>and</a:t>
            </a:r>
            <a:r>
              <a:rPr dirty="0" sz="1100" spc="55">
                <a:latin typeface="Arial"/>
                <a:cs typeface="Arial"/>
              </a:rPr>
              <a:t> </a:t>
            </a:r>
            <a:r>
              <a:rPr dirty="0" sz="1100" spc="-5">
                <a:latin typeface="Arial"/>
                <a:cs typeface="Arial"/>
              </a:rPr>
              <a:t>in</a:t>
            </a:r>
            <a:r>
              <a:rPr dirty="0" sz="1100" spc="50">
                <a:latin typeface="Arial"/>
                <a:cs typeface="Arial"/>
              </a:rPr>
              <a:t> </a:t>
            </a:r>
            <a:r>
              <a:rPr dirty="0" sz="1100" spc="-5">
                <a:latin typeface="Arial"/>
                <a:cs typeface="Arial"/>
              </a:rPr>
              <a:t>any</a:t>
            </a:r>
            <a:r>
              <a:rPr dirty="0" sz="1100" spc="55">
                <a:latin typeface="Arial"/>
                <a:cs typeface="Arial"/>
              </a:rPr>
              <a:t> </a:t>
            </a:r>
            <a:r>
              <a:rPr dirty="0" sz="1100" spc="-5">
                <a:latin typeface="Arial"/>
                <a:cs typeface="Arial"/>
              </a:rPr>
              <a:t>case,</a:t>
            </a:r>
            <a:r>
              <a:rPr dirty="0" sz="1100" spc="55">
                <a:latin typeface="Arial"/>
                <a:cs typeface="Arial"/>
              </a:rPr>
              <a:t> </a:t>
            </a:r>
            <a:r>
              <a:rPr dirty="0" sz="1100" spc="-5">
                <a:latin typeface="Arial"/>
                <a:cs typeface="Arial"/>
              </a:rPr>
              <a:t>no</a:t>
            </a:r>
            <a:r>
              <a:rPr dirty="0" sz="1100" spc="55">
                <a:latin typeface="Arial"/>
                <a:cs typeface="Arial"/>
              </a:rPr>
              <a:t> </a:t>
            </a:r>
            <a:r>
              <a:rPr dirty="0" sz="1100" spc="-5">
                <a:latin typeface="Arial"/>
                <a:cs typeface="Arial"/>
              </a:rPr>
              <a:t>repeat</a:t>
            </a:r>
            <a:r>
              <a:rPr dirty="0" sz="1100" spc="50">
                <a:latin typeface="Arial"/>
                <a:cs typeface="Arial"/>
              </a:rPr>
              <a:t> </a:t>
            </a:r>
            <a:r>
              <a:rPr dirty="0" sz="1100" spc="-5">
                <a:latin typeface="Arial"/>
                <a:cs typeface="Arial"/>
              </a:rPr>
              <a:t>loans</a:t>
            </a:r>
            <a:r>
              <a:rPr dirty="0" sz="1100" spc="55">
                <a:latin typeface="Arial"/>
                <a:cs typeface="Arial"/>
              </a:rPr>
              <a:t> </a:t>
            </a:r>
            <a:r>
              <a:rPr dirty="0" sz="1100" spc="-5">
                <a:latin typeface="Arial"/>
                <a:cs typeface="Arial"/>
              </a:rPr>
              <a:t>are</a:t>
            </a:r>
            <a:r>
              <a:rPr dirty="0" sz="1100" spc="55">
                <a:latin typeface="Arial"/>
                <a:cs typeface="Arial"/>
              </a:rPr>
              <a:t> </a:t>
            </a:r>
            <a:r>
              <a:rPr dirty="0" sz="1100" spc="-5">
                <a:latin typeface="Arial"/>
                <a:cs typeface="Arial"/>
              </a:rPr>
              <a:t>approved</a:t>
            </a:r>
            <a:r>
              <a:rPr dirty="0" sz="1100" spc="50">
                <a:latin typeface="Arial"/>
                <a:cs typeface="Arial"/>
              </a:rPr>
              <a:t> </a:t>
            </a:r>
            <a:r>
              <a:rPr dirty="0" sz="1100" spc="-5">
                <a:latin typeface="Arial"/>
                <a:cs typeface="Arial"/>
              </a:rPr>
              <a:t>until</a:t>
            </a:r>
            <a:r>
              <a:rPr dirty="0" sz="1100" spc="55">
                <a:latin typeface="Arial"/>
                <a:cs typeface="Arial"/>
              </a:rPr>
              <a:t> </a:t>
            </a:r>
            <a:r>
              <a:rPr dirty="0" sz="1100" spc="-5">
                <a:latin typeface="Arial"/>
                <a:cs typeface="Arial"/>
              </a:rPr>
              <a:t>all</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323</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225155"/>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members’ accounts are satisfactorily settled. Progressively larger loans are approved as  borrowers gain experience and a credit history and identify productive uses for larger loans.  Members know the characters of the cosigning group members </a:t>
            </a:r>
            <a:r>
              <a:rPr dirty="0" sz="1100">
                <a:latin typeface="Arial"/>
                <a:cs typeface="Arial"/>
              </a:rPr>
              <a:t>they </a:t>
            </a:r>
            <a:r>
              <a:rPr dirty="0" sz="1100" spc="-5">
                <a:latin typeface="Arial"/>
                <a:cs typeface="Arial"/>
              </a:rPr>
              <a:t>select and may </a:t>
            </a:r>
            <a:r>
              <a:rPr dirty="0" sz="1100">
                <a:latin typeface="Arial"/>
                <a:cs typeface="Arial"/>
              </a:rPr>
              <a:t>be  </a:t>
            </a:r>
            <a:r>
              <a:rPr dirty="0" sz="1100" spc="-5">
                <a:latin typeface="Arial"/>
                <a:cs typeface="Arial"/>
              </a:rPr>
              <a:t>expected to join groups with members whom they believe are likely to repay their loans. Thus  the banks make use of the information “embedded” in the village or neighborhood about who is  a reliable and capable borrower and induce villagers to reveal this information. At the same  time, implicit collateral is created by the pressure that members would be expected to exert on  each member in the group to repay funds. The goodwill of these relatives and friends of the  borrower represents part of the borrowers’ capital, which failure to pay the loan puts at risk.  Finally, village banks extensively use volunteer member labor (as traditional consumer).  Cooperatives do), thus lowering the bank’s effective costs. Bank members reveal by  participating that the </a:t>
            </a:r>
            <a:r>
              <a:rPr dirty="0" sz="1100">
                <a:latin typeface="Arial"/>
                <a:cs typeface="Arial"/>
              </a:rPr>
              <a:t>value </a:t>
            </a:r>
            <a:r>
              <a:rPr dirty="0" sz="1100" spc="-5">
                <a:latin typeface="Arial"/>
                <a:cs typeface="Arial"/>
              </a:rPr>
              <a:t>of the time thus spent is less than the value of the enhanced credit.  An example of an MFI that uses this model is FINCA</a:t>
            </a:r>
            <a:r>
              <a:rPr dirty="0" sz="1100" spc="70">
                <a:latin typeface="Arial"/>
                <a:cs typeface="Arial"/>
              </a:rPr>
              <a:t> </a:t>
            </a:r>
            <a:r>
              <a:rPr dirty="0" sz="1100" spc="-5">
                <a:latin typeface="Arial"/>
                <a:cs typeface="Arial"/>
              </a:rPr>
              <a:t>International.</a:t>
            </a:r>
            <a:endParaRPr sz="1100">
              <a:latin typeface="Arial"/>
              <a:cs typeface="Arial"/>
            </a:endParaRPr>
          </a:p>
          <a:p>
            <a:pPr>
              <a:lnSpc>
                <a:spcPct val="100000"/>
              </a:lnSpc>
              <a:spcBef>
                <a:spcPts val="25"/>
              </a:spcBef>
            </a:pPr>
            <a:endParaRPr sz="1100">
              <a:latin typeface="Arial"/>
              <a:cs typeface="Arial"/>
            </a:endParaRPr>
          </a:p>
          <a:p>
            <a:pPr algn="just" marL="12700" marR="6350">
              <a:lnSpc>
                <a:spcPts val="1270"/>
              </a:lnSpc>
            </a:pPr>
            <a:r>
              <a:rPr dirty="0" sz="1100" spc="-5">
                <a:latin typeface="Arial"/>
                <a:cs typeface="Arial"/>
              </a:rPr>
              <a:t>Another outstanding example of an MFI is the Grameen Bank in Bangladesh, examined in the  case study at the end of this chapter. Grameen uses solidarity groups and takes advantage of  opportunities for peer pressure by allowing increases in borrowing limits only if all members  repay. But Grameen currently has no cosigning</a:t>
            </a:r>
            <a:r>
              <a:rPr dirty="0" sz="1100" spc="40">
                <a:latin typeface="Arial"/>
                <a:cs typeface="Arial"/>
              </a:rPr>
              <a:t> </a:t>
            </a:r>
            <a:r>
              <a:rPr dirty="0" sz="1100" spc="-5">
                <a:latin typeface="Arial"/>
                <a:cs typeface="Arial"/>
              </a:rPr>
              <a:t>requirement.</a:t>
            </a:r>
            <a:endParaRPr sz="1100">
              <a:latin typeface="Arial"/>
              <a:cs typeface="Arial"/>
            </a:endParaRPr>
          </a:p>
          <a:p>
            <a:pPr>
              <a:lnSpc>
                <a:spcPct val="100000"/>
              </a:lnSpc>
              <a:spcBef>
                <a:spcPts val="10"/>
              </a:spcBef>
            </a:pPr>
            <a:endParaRPr sz="1050">
              <a:latin typeface="Arial"/>
              <a:cs typeface="Arial"/>
            </a:endParaRPr>
          </a:p>
          <a:p>
            <a:pPr algn="just" marL="12700" marR="5080">
              <a:lnSpc>
                <a:spcPct val="95800"/>
              </a:lnSpc>
            </a:pPr>
            <a:r>
              <a:rPr dirty="0" sz="1100" spc="-5">
                <a:latin typeface="Arial"/>
                <a:cs typeface="Arial"/>
              </a:rPr>
              <a:t>Thus joint liability can play a key role in lowering interest rates for micro credit borrowers in  some cases by distinguishing the more creditworthy (reducing adverse selection) and  encouraging more diligent efforts to earn an adequate return and ensuring that borrowers do not  feign bankruptcy or abscond (reducing moral hazard). This can be accomplished through either  smaller solidarity groups or larger village banking groups. But joint liability also brings costs to  borrowers, such as low flexibility, loss of social capital for default beyond a person’s control, and  peer pressure to undertake excessively risk-averse activities. However, with the increasingly  common moves away from joint liability among microfinance institutions, it is clear that other  microfinance strategies not relying on group lending are at work. With “dynamic incentives,” a  micro borrower is made eligible for a larger loan in the future if she repays her current smaller  loan; indeed, the threat to stop lending if the borrower does not repay can be effective in many  circumstances.</a:t>
            </a:r>
            <a:endParaRPr sz="1100">
              <a:latin typeface="Arial"/>
              <a:cs typeface="Arial"/>
            </a:endParaRPr>
          </a:p>
          <a:p>
            <a:pPr>
              <a:lnSpc>
                <a:spcPct val="100000"/>
              </a:lnSpc>
            </a:pPr>
            <a:endParaRPr sz="1100">
              <a:latin typeface="Arial"/>
              <a:cs typeface="Arial"/>
            </a:endParaRPr>
          </a:p>
          <a:p>
            <a:pPr algn="just" marL="12700" marR="5715">
              <a:lnSpc>
                <a:spcPct val="95800"/>
              </a:lnSpc>
              <a:spcBef>
                <a:spcPts val="5"/>
              </a:spcBef>
            </a:pPr>
            <a:r>
              <a:rPr dirty="0" sz="1100" spc="-5">
                <a:latin typeface="Arial"/>
                <a:cs typeface="Arial"/>
              </a:rPr>
              <a:t>Another mechanism is the use of frequent repayment installments, even though the return on  the investment may be generated over longer intervals. This can essentially tap into non micro  enterprise household income flows or other borrowing sources that act as implicit guarantees of  individual loans (or of group loans that are less than fully secure). Some NGOs use flexible  collateral, accepting as a guarantee items valuable to the borrower even if they are not so  valuable to the lender. Many NGOs use borrower groups for purposes other than joint liability:  solidarity, sharing ideas, gaining information about borrower problems, facilitation of provision of  other services (such as legal education), and informal pressure to repay. MFIs also publicize  successes and failures at repayment to shame defaulters into repaying. Finally, NGOs  particularly target women borrowers; doing so has development advantages, but practitioners  also claim that women are more cautious in investments, more sensitive to public disclosure of  default, more likely to help others in solidarity groups, less likely to have outside loan  opportunities, and less likely to have outside job opportunities, all of which decrease the  incentive to default even without actual joint</a:t>
            </a:r>
            <a:r>
              <a:rPr dirty="0" sz="1100" spc="30">
                <a:latin typeface="Arial"/>
                <a:cs typeface="Arial"/>
              </a:rPr>
              <a:t> </a:t>
            </a:r>
            <a:r>
              <a:rPr dirty="0" sz="1100" spc="-5">
                <a:latin typeface="Arial"/>
                <a:cs typeface="Arial"/>
              </a:rPr>
              <a:t>liability.</a:t>
            </a:r>
            <a:endParaRPr sz="1100">
              <a:latin typeface="Arial"/>
              <a:cs typeface="Arial"/>
            </a:endParaRPr>
          </a:p>
          <a:p>
            <a:pPr>
              <a:lnSpc>
                <a:spcPct val="100000"/>
              </a:lnSpc>
              <a:spcBef>
                <a:spcPts val="20"/>
              </a:spcBef>
            </a:pPr>
            <a:endParaRPr sz="1100">
              <a:latin typeface="Arial"/>
              <a:cs typeface="Arial"/>
            </a:endParaRPr>
          </a:p>
          <a:p>
            <a:pPr algn="just" marL="12700" marR="6350">
              <a:lnSpc>
                <a:spcPts val="1270"/>
              </a:lnSpc>
              <a:spcBef>
                <a:spcPts val="5"/>
              </a:spcBef>
            </a:pPr>
            <a:r>
              <a:rPr dirty="0" sz="1100" spc="-5">
                <a:latin typeface="Arial"/>
                <a:cs typeface="Arial"/>
              </a:rPr>
              <a:t>Although the success of informal finance programs is impressive, the fact remains that  throughout the developing world, the majority of rural and urban poor have little or no access to  credit. Until legal reforms are enacted making it easier for small enterprises to gain access to  the</a:t>
            </a:r>
            <a:r>
              <a:rPr dirty="0" sz="1100" spc="195">
                <a:latin typeface="Arial"/>
                <a:cs typeface="Arial"/>
              </a:rPr>
              <a:t> </a:t>
            </a:r>
            <a:r>
              <a:rPr dirty="0" sz="1100" spc="-5">
                <a:latin typeface="Arial"/>
                <a:cs typeface="Arial"/>
              </a:rPr>
              <a:t>formal</a:t>
            </a:r>
            <a:r>
              <a:rPr dirty="0" sz="1100" spc="200">
                <a:latin typeface="Arial"/>
                <a:cs typeface="Arial"/>
              </a:rPr>
              <a:t> </a:t>
            </a:r>
            <a:r>
              <a:rPr dirty="0" sz="1100" spc="-5">
                <a:latin typeface="Arial"/>
                <a:cs typeface="Arial"/>
              </a:rPr>
              <a:t>credit</a:t>
            </a:r>
            <a:r>
              <a:rPr dirty="0" sz="1100" spc="200">
                <a:latin typeface="Arial"/>
                <a:cs typeface="Arial"/>
              </a:rPr>
              <a:t> </a:t>
            </a:r>
            <a:r>
              <a:rPr dirty="0" sz="1100" spc="-5">
                <a:latin typeface="Arial"/>
                <a:cs typeface="Arial"/>
              </a:rPr>
              <a:t>system</a:t>
            </a:r>
            <a:r>
              <a:rPr dirty="0" sz="1100" spc="200">
                <a:latin typeface="Arial"/>
                <a:cs typeface="Arial"/>
              </a:rPr>
              <a:t> </a:t>
            </a:r>
            <a:r>
              <a:rPr dirty="0" sz="1100" spc="-5">
                <a:latin typeface="Arial"/>
                <a:cs typeface="Arial"/>
              </a:rPr>
              <a:t>or</a:t>
            </a:r>
            <a:r>
              <a:rPr dirty="0" sz="1100" spc="200">
                <a:latin typeface="Arial"/>
                <a:cs typeface="Arial"/>
              </a:rPr>
              <a:t> </a:t>
            </a:r>
            <a:r>
              <a:rPr dirty="0" sz="1100">
                <a:latin typeface="Arial"/>
                <a:cs typeface="Arial"/>
              </a:rPr>
              <a:t>more</a:t>
            </a:r>
            <a:r>
              <a:rPr dirty="0" sz="1100" spc="195">
                <a:latin typeface="Arial"/>
                <a:cs typeface="Arial"/>
              </a:rPr>
              <a:t> </a:t>
            </a:r>
            <a:r>
              <a:rPr dirty="0" sz="1100" spc="-5">
                <a:latin typeface="Arial"/>
                <a:cs typeface="Arial"/>
              </a:rPr>
              <a:t>NGO-</a:t>
            </a:r>
            <a:r>
              <a:rPr dirty="0" sz="1100" spc="195">
                <a:latin typeface="Arial"/>
                <a:cs typeface="Arial"/>
              </a:rPr>
              <a:t> </a:t>
            </a:r>
            <a:r>
              <a:rPr dirty="0" sz="1100">
                <a:latin typeface="Arial"/>
                <a:cs typeface="Arial"/>
              </a:rPr>
              <a:t>or</a:t>
            </a:r>
            <a:r>
              <a:rPr dirty="0" sz="1100" spc="195">
                <a:latin typeface="Arial"/>
                <a:cs typeface="Arial"/>
              </a:rPr>
              <a:t> </a:t>
            </a:r>
            <a:r>
              <a:rPr dirty="0" sz="1100" spc="-5">
                <a:latin typeface="Arial"/>
                <a:cs typeface="Arial"/>
              </a:rPr>
              <a:t>government-supported</a:t>
            </a:r>
            <a:r>
              <a:rPr dirty="0" sz="1100" spc="200">
                <a:latin typeface="Arial"/>
                <a:cs typeface="Arial"/>
              </a:rPr>
              <a:t> </a:t>
            </a:r>
            <a:r>
              <a:rPr dirty="0" sz="1100" spc="-5">
                <a:latin typeface="Arial"/>
                <a:cs typeface="Arial"/>
              </a:rPr>
              <a:t>credit</a:t>
            </a:r>
            <a:r>
              <a:rPr dirty="0" sz="1100" spc="200">
                <a:latin typeface="Arial"/>
                <a:cs typeface="Arial"/>
              </a:rPr>
              <a:t> </a:t>
            </a:r>
            <a:r>
              <a:rPr dirty="0" sz="1100" spc="-5">
                <a:latin typeface="Arial"/>
                <a:cs typeface="Arial"/>
              </a:rPr>
              <a:t>programs</a:t>
            </a:r>
            <a:r>
              <a:rPr dirty="0" sz="1100" spc="200">
                <a:latin typeface="Arial"/>
                <a:cs typeface="Arial"/>
              </a:rPr>
              <a:t> </a:t>
            </a:r>
            <a:r>
              <a:rPr dirty="0" sz="1100" spc="-5">
                <a:latin typeface="Arial"/>
                <a:cs typeface="Arial"/>
              </a:rPr>
              <a:t>are</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324</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8079740"/>
          </a:xfrm>
          <a:prstGeom prst="rect">
            <a:avLst/>
          </a:prstGeom>
        </p:spPr>
        <p:txBody>
          <a:bodyPr wrap="square" lIns="0" tIns="22860" rIns="0" bIns="0" rtlCol="0" vert="horz">
            <a:spAutoFit/>
          </a:bodyPr>
          <a:lstStyle/>
          <a:p>
            <a:pPr algn="just" marL="12700" marR="5715">
              <a:lnSpc>
                <a:spcPts val="1270"/>
              </a:lnSpc>
              <a:spcBef>
                <a:spcPts val="180"/>
              </a:spcBef>
            </a:pPr>
            <a:r>
              <a:rPr dirty="0" sz="1100" spc="-5">
                <a:latin typeface="Arial"/>
                <a:cs typeface="Arial"/>
              </a:rPr>
              <a:t>established to serve the needs of the non corporate sector, the financial systems of most  developing countries will remain unresponsive to the fundamental requirements of participatory  national development.</a:t>
            </a:r>
            <a:endParaRPr sz="1100">
              <a:latin typeface="Arial"/>
              <a:cs typeface="Arial"/>
            </a:endParaRPr>
          </a:p>
          <a:p>
            <a:pPr>
              <a:lnSpc>
                <a:spcPct val="100000"/>
              </a:lnSpc>
              <a:spcBef>
                <a:spcPts val="20"/>
              </a:spcBef>
            </a:pPr>
            <a:endParaRPr sz="1000">
              <a:latin typeface="Arial"/>
              <a:cs typeface="Arial"/>
            </a:endParaRPr>
          </a:p>
          <a:p>
            <a:pPr algn="just" marL="12700">
              <a:lnSpc>
                <a:spcPct val="100000"/>
              </a:lnSpc>
            </a:pPr>
            <a:r>
              <a:rPr dirty="0" sz="1100" spc="-5" b="1">
                <a:latin typeface="Arial"/>
                <a:cs typeface="Arial"/>
              </a:rPr>
              <a:t>MFIs: THREE CURRENT POLICY</a:t>
            </a:r>
            <a:r>
              <a:rPr dirty="0" sz="1100" spc="15" b="1">
                <a:latin typeface="Arial"/>
                <a:cs typeface="Arial"/>
              </a:rPr>
              <a:t> </a:t>
            </a:r>
            <a:r>
              <a:rPr dirty="0" sz="1100" spc="-5" b="1">
                <a:latin typeface="Arial"/>
                <a:cs typeface="Arial"/>
              </a:rPr>
              <a:t>DEBATES</a:t>
            </a:r>
            <a:endParaRPr sz="1100">
              <a:latin typeface="Arial"/>
              <a:cs typeface="Arial"/>
            </a:endParaRPr>
          </a:p>
          <a:p>
            <a:pPr>
              <a:lnSpc>
                <a:spcPct val="100000"/>
              </a:lnSpc>
              <a:spcBef>
                <a:spcPts val="55"/>
              </a:spcBef>
            </a:pPr>
            <a:endParaRPr sz="1150">
              <a:latin typeface="Arial"/>
              <a:cs typeface="Arial"/>
            </a:endParaRPr>
          </a:p>
          <a:p>
            <a:pPr algn="just" marL="12700" marR="5715">
              <a:lnSpc>
                <a:spcPct val="95800"/>
              </a:lnSpc>
            </a:pPr>
            <a:r>
              <a:rPr dirty="0" sz="1100" spc="-5">
                <a:latin typeface="Arial"/>
                <a:cs typeface="Arial"/>
              </a:rPr>
              <a:t>One debate under way in the micro enterprise credit community is whether subsidies are  appropriate. Known as the “microfinance schism,” the debate pits the Consultative Group to  Assist the Poor (CGAP), a donor consortium headquartered within the World Bank, and other  mainstream donors against other NGOs and academic economists. CGAP effectively argues  that one can reach </a:t>
            </a:r>
            <a:r>
              <a:rPr dirty="0" sz="1100">
                <a:latin typeface="Arial"/>
                <a:cs typeface="Arial"/>
              </a:rPr>
              <a:t>more </a:t>
            </a:r>
            <a:r>
              <a:rPr dirty="0" sz="1100" spc="-5">
                <a:latin typeface="Arial"/>
                <a:cs typeface="Arial"/>
              </a:rPr>
              <a:t>borrowers by requiring sustainability so that available dollars go  further. This argument is reasonable as far as it goes, but there is no reason to believe that the  poorest borrowers can afford to pay the high interest rates that this would require with the  business opportunities they realistically face. Put more precisely, the interest elasticity of the  demand for credit on the part of the poor is not close to zero. And the poor generally lack  opportunities to invest in high-return projects. Thus some subsidy is generally required to truly  reach the poorest current and potential micro</a:t>
            </a:r>
            <a:r>
              <a:rPr dirty="0" sz="1100" spc="40">
                <a:latin typeface="Arial"/>
                <a:cs typeface="Arial"/>
              </a:rPr>
              <a:t> </a:t>
            </a:r>
            <a:r>
              <a:rPr dirty="0" sz="1100" spc="-5">
                <a:latin typeface="Arial"/>
                <a:cs typeface="Arial"/>
              </a:rPr>
              <a:t>entrepreneurs.</a:t>
            </a:r>
            <a:endParaRPr sz="1100">
              <a:latin typeface="Arial"/>
              <a:cs typeface="Arial"/>
            </a:endParaRPr>
          </a:p>
          <a:p>
            <a:pPr>
              <a:lnSpc>
                <a:spcPct val="100000"/>
              </a:lnSpc>
            </a:pPr>
            <a:endParaRPr sz="1100">
              <a:latin typeface="Arial"/>
              <a:cs typeface="Arial"/>
            </a:endParaRPr>
          </a:p>
          <a:p>
            <a:pPr algn="just" marL="12700" marR="5080">
              <a:lnSpc>
                <a:spcPct val="95800"/>
              </a:lnSpc>
            </a:pPr>
            <a:r>
              <a:rPr dirty="0" sz="1100" spc="-5">
                <a:latin typeface="Arial"/>
                <a:cs typeface="Arial"/>
              </a:rPr>
              <a:t>Of course, it will be essential to ensure that these subsidized credit programs are run efficiently,  that the credit is allocated to appropriate investments, and that credit actually ends up in the  hands of poor households. In this regard, a second debate concerns whether to combine  microfinance with other programs. Proponents argue that it may be useful to tie credit to social  services that are demanded only by the poor and inherently require time for participation, for at  least three reasons. First, such required participation can act as a kind of screening mechanism  to ensure that non poor borrowers are not taking advantage of a subsidy not intended for them  (analogous to workfare screening, described in Chapter</a:t>
            </a:r>
            <a:r>
              <a:rPr dirty="0" sz="1100" spc="35">
                <a:latin typeface="Arial"/>
                <a:cs typeface="Arial"/>
              </a:rPr>
              <a:t> </a:t>
            </a:r>
            <a:r>
              <a:rPr dirty="0" sz="1100" spc="-5">
                <a:latin typeface="Arial"/>
                <a:cs typeface="Arial"/>
              </a:rPr>
              <a:t>5).</a:t>
            </a:r>
            <a:endParaRPr sz="1100">
              <a:latin typeface="Arial"/>
              <a:cs typeface="Arial"/>
            </a:endParaRPr>
          </a:p>
          <a:p>
            <a:pPr>
              <a:lnSpc>
                <a:spcPct val="100000"/>
              </a:lnSpc>
              <a:spcBef>
                <a:spcPts val="55"/>
              </a:spcBef>
            </a:pPr>
            <a:endParaRPr sz="1050">
              <a:latin typeface="Arial"/>
              <a:cs typeface="Arial"/>
            </a:endParaRPr>
          </a:p>
          <a:p>
            <a:pPr algn="just" marL="12700" marR="5080">
              <a:lnSpc>
                <a:spcPct val="95900"/>
              </a:lnSpc>
            </a:pPr>
            <a:r>
              <a:rPr dirty="0" sz="1100" spc="-5">
                <a:latin typeface="Arial"/>
                <a:cs typeface="Arial"/>
              </a:rPr>
              <a:t>Second, the poor generally cannot make adequate use of credit without better health and  education. There is usually at least some subsidy in programs that offer health or educational  services along with credit. Third, many of the poor appear not to recognize the importance of  human capital, and the availability of credit may act as a “hook” to get them enrolled in health  and education programs. But it may be less </a:t>
            </a:r>
            <a:r>
              <a:rPr dirty="0" sz="1100">
                <a:latin typeface="Arial"/>
                <a:cs typeface="Arial"/>
              </a:rPr>
              <a:t>costly </a:t>
            </a:r>
            <a:r>
              <a:rPr dirty="0" sz="1100" spc="-5">
                <a:latin typeface="Arial"/>
                <a:cs typeface="Arial"/>
              </a:rPr>
              <a:t>to keep these programs separate, in  accordance with the varying comparative advantage of different NGOs, and some low-income  borrowers do not need these services. Accordingly, there is a growing debate in the  microfinance community over whether to integrate credit with education, health, or </a:t>
            </a:r>
            <a:r>
              <a:rPr dirty="0" sz="1100">
                <a:latin typeface="Arial"/>
                <a:cs typeface="Arial"/>
              </a:rPr>
              <a:t>other  </a:t>
            </a:r>
            <a:r>
              <a:rPr dirty="0" sz="1100" spc="-5">
                <a:latin typeface="Arial"/>
                <a:cs typeface="Arial"/>
              </a:rPr>
              <a:t>programs.</a:t>
            </a:r>
            <a:endParaRPr sz="1100">
              <a:latin typeface="Arial"/>
              <a:cs typeface="Arial"/>
            </a:endParaRPr>
          </a:p>
          <a:p>
            <a:pPr>
              <a:lnSpc>
                <a:spcPct val="100000"/>
              </a:lnSpc>
              <a:spcBef>
                <a:spcPts val="50"/>
              </a:spcBef>
            </a:pPr>
            <a:endParaRPr sz="1050">
              <a:latin typeface="Arial"/>
              <a:cs typeface="Arial"/>
            </a:endParaRPr>
          </a:p>
          <a:p>
            <a:pPr algn="just" marL="12700" marR="5080">
              <a:lnSpc>
                <a:spcPct val="95800"/>
              </a:lnSpc>
              <a:spcBef>
                <a:spcPts val="5"/>
              </a:spcBef>
            </a:pPr>
            <a:r>
              <a:rPr dirty="0" sz="1100" spc="-5">
                <a:latin typeface="Arial"/>
                <a:cs typeface="Arial"/>
              </a:rPr>
              <a:t>A third ongoing debate, related to the first two debates, is whether MFIs should undergo  commercialization, whereby a (non-profit) NGO providing microfinance is converted into a for-  profit bank. This movement was particularly pronounced in the mid-2000s. Advantages include  the fact that the MFI becomes regulated as a bank, and so can legally accept savings deposits  as well as disburse loans; and that the MFI acquires the discipline of the market </a:t>
            </a:r>
            <a:r>
              <a:rPr dirty="0" sz="1100">
                <a:latin typeface="Arial"/>
                <a:cs typeface="Arial"/>
              </a:rPr>
              <a:t>and </a:t>
            </a:r>
            <a:r>
              <a:rPr dirty="0" sz="1100" spc="-5">
                <a:latin typeface="Arial"/>
                <a:cs typeface="Arial"/>
              </a:rPr>
              <a:t>an added  incentive to cut costs and expand its scale. Disadvantages include the problem that people  living in poverty become considered in some </a:t>
            </a:r>
            <a:r>
              <a:rPr dirty="0" sz="1100">
                <a:latin typeface="Arial"/>
                <a:cs typeface="Arial"/>
              </a:rPr>
              <a:t>cases </a:t>
            </a:r>
            <a:r>
              <a:rPr dirty="0" sz="1100" spc="-5">
                <a:latin typeface="Arial"/>
                <a:cs typeface="Arial"/>
              </a:rPr>
              <a:t>too expensive to serve; or, </a:t>
            </a:r>
            <a:r>
              <a:rPr dirty="0" sz="1100">
                <a:latin typeface="Arial"/>
                <a:cs typeface="Arial"/>
              </a:rPr>
              <a:t>that </a:t>
            </a:r>
            <a:r>
              <a:rPr dirty="0" sz="1100" spc="-5">
                <a:latin typeface="Arial"/>
                <a:cs typeface="Arial"/>
              </a:rPr>
              <a:t>if they are  served, very high interest rates will be charged and aggressive tactics may be used to collect  funds. Note that there are some frequently overlooked alternatives, in that to be regulated and  accept deposits does not imply a requirement to be a for-profit corporation in most legal  systems; for example, </a:t>
            </a:r>
            <a:r>
              <a:rPr dirty="0" sz="1100">
                <a:latin typeface="Arial"/>
                <a:cs typeface="Arial"/>
              </a:rPr>
              <a:t>the </a:t>
            </a:r>
            <a:r>
              <a:rPr dirty="0" sz="1100" spc="-5">
                <a:latin typeface="Arial"/>
                <a:cs typeface="Arial"/>
              </a:rPr>
              <a:t>Grameen bank is a credit union mostly owned by its</a:t>
            </a:r>
            <a:r>
              <a:rPr dirty="0" sz="1100" spc="150">
                <a:latin typeface="Arial"/>
                <a:cs typeface="Arial"/>
              </a:rPr>
              <a:t> </a:t>
            </a:r>
            <a:r>
              <a:rPr dirty="0" sz="1100" spc="-5">
                <a:latin typeface="Arial"/>
                <a:cs typeface="Arial"/>
              </a:rPr>
              <a:t>borrowers.</a:t>
            </a:r>
            <a:endParaRPr sz="1100">
              <a:latin typeface="Arial"/>
              <a:cs typeface="Arial"/>
            </a:endParaRPr>
          </a:p>
          <a:p>
            <a:pPr>
              <a:lnSpc>
                <a:spcPct val="100000"/>
              </a:lnSpc>
              <a:spcBef>
                <a:spcPts val="10"/>
              </a:spcBef>
            </a:pPr>
            <a:endParaRPr sz="1050">
              <a:latin typeface="Arial"/>
              <a:cs typeface="Arial"/>
            </a:endParaRPr>
          </a:p>
          <a:p>
            <a:pPr algn="just" marL="12700">
              <a:lnSpc>
                <a:spcPct val="100000"/>
              </a:lnSpc>
            </a:pPr>
            <a:r>
              <a:rPr dirty="0" sz="1100" spc="-5" b="1">
                <a:latin typeface="Arial"/>
                <a:cs typeface="Arial"/>
              </a:rPr>
              <a:t>POTENTIAL LIMITATIONS OF MICROFINANCE AS A DEVELOPMENT</a:t>
            </a:r>
            <a:r>
              <a:rPr dirty="0" sz="1100" spc="80" b="1">
                <a:latin typeface="Arial"/>
                <a:cs typeface="Arial"/>
              </a:rPr>
              <a:t> </a:t>
            </a:r>
            <a:r>
              <a:rPr dirty="0" sz="1100" spc="-5" b="1">
                <a:latin typeface="Arial"/>
                <a:cs typeface="Arial"/>
              </a:rPr>
              <a:t>STRATEGY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325</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25449"/>
            <a:ext cx="1971039"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Times New Roman"/>
                <a:cs typeface="Times New Roman"/>
              </a:rPr>
              <a:t>Development </a:t>
            </a:r>
            <a:r>
              <a:rPr dirty="0" sz="1100" spc="-15">
                <a:latin typeface="Times New Roman"/>
                <a:cs typeface="Times New Roman"/>
              </a:rPr>
              <a:t>Economics </a:t>
            </a:r>
            <a:r>
              <a:rPr dirty="0" sz="1100" spc="-5">
                <a:latin typeface="Times New Roman"/>
                <a:cs typeface="Times New Roman"/>
              </a:rPr>
              <a:t>–</a:t>
            </a:r>
            <a:r>
              <a:rPr dirty="0" sz="1100" spc="-10">
                <a:latin typeface="Times New Roman"/>
                <a:cs typeface="Times New Roman"/>
              </a:rPr>
              <a:t> </a:t>
            </a:r>
            <a:r>
              <a:rPr dirty="0" sz="1100" spc="-20">
                <a:latin typeface="Times New Roman"/>
                <a:cs typeface="Times New Roman"/>
              </a:rPr>
              <a:t>Eco501</a:t>
            </a:r>
            <a:endParaRPr sz="1100">
              <a:latin typeface="Times New Roman"/>
              <a:cs typeface="Times New Roman"/>
            </a:endParaRPr>
          </a:p>
        </p:txBody>
      </p:sp>
      <p:sp>
        <p:nvSpPr>
          <p:cNvPr id="3" name="object 3"/>
          <p:cNvSpPr txBox="1"/>
          <p:nvPr/>
        </p:nvSpPr>
        <p:spPr>
          <a:xfrm>
            <a:off x="6645661" y="425449"/>
            <a:ext cx="224790" cy="193040"/>
          </a:xfrm>
          <a:prstGeom prst="rect">
            <a:avLst/>
          </a:prstGeom>
        </p:spPr>
        <p:txBody>
          <a:bodyPr wrap="square" lIns="0" tIns="12065" rIns="0" bIns="0" rtlCol="0" vert="horz">
            <a:spAutoFit/>
          </a:bodyPr>
          <a:lstStyle/>
          <a:p>
            <a:pPr marL="12700">
              <a:lnSpc>
                <a:spcPct val="100000"/>
              </a:lnSpc>
              <a:spcBef>
                <a:spcPts val="95"/>
              </a:spcBef>
            </a:pPr>
            <a:r>
              <a:rPr dirty="0" sz="1100" spc="-15" b="1">
                <a:latin typeface="Times New Roman"/>
                <a:cs typeface="Times New Roman"/>
              </a:rPr>
              <a:t>VU</a:t>
            </a:r>
            <a:endParaRPr sz="1100">
              <a:latin typeface="Times New Roman"/>
              <a:cs typeface="Times New Roman"/>
            </a:endParaRPr>
          </a:p>
        </p:txBody>
      </p:sp>
      <p:sp>
        <p:nvSpPr>
          <p:cNvPr id="4" name="object 4"/>
          <p:cNvSpPr/>
          <p:nvPr/>
        </p:nvSpPr>
        <p:spPr>
          <a:xfrm>
            <a:off x="885444" y="609600"/>
            <a:ext cx="6000750" cy="0"/>
          </a:xfrm>
          <a:custGeom>
            <a:avLst/>
            <a:gdLst/>
            <a:ahLst/>
            <a:cxnLst/>
            <a:rect l="l" t="t" r="r" b="b"/>
            <a:pathLst>
              <a:path w="6000750" h="0">
                <a:moveTo>
                  <a:pt x="0" y="0"/>
                </a:moveTo>
                <a:lnTo>
                  <a:pt x="6000750" y="0"/>
                </a:lnTo>
              </a:path>
            </a:pathLst>
          </a:custGeom>
          <a:ln w="9525">
            <a:solidFill>
              <a:srgbClr val="000000"/>
            </a:solidFill>
          </a:ln>
        </p:spPr>
        <p:txBody>
          <a:bodyPr wrap="square" lIns="0" tIns="0" rIns="0" bIns="0" rtlCol="0"/>
          <a:lstStyle/>
          <a:p/>
        </p:txBody>
      </p:sp>
      <p:sp>
        <p:nvSpPr>
          <p:cNvPr id="5" name="object 5"/>
          <p:cNvSpPr/>
          <p:nvPr/>
        </p:nvSpPr>
        <p:spPr>
          <a:xfrm>
            <a:off x="923544" y="9277350"/>
            <a:ext cx="5867400" cy="0"/>
          </a:xfrm>
          <a:custGeom>
            <a:avLst/>
            <a:gdLst/>
            <a:ahLst/>
            <a:cxnLst/>
            <a:rect l="l" t="t" r="r" b="b"/>
            <a:pathLst>
              <a:path w="5867400" h="0">
                <a:moveTo>
                  <a:pt x="0" y="0"/>
                </a:moveTo>
                <a:lnTo>
                  <a:pt x="5867400" y="0"/>
                </a:lnTo>
              </a:path>
            </a:pathLst>
          </a:custGeom>
          <a:ln w="9525">
            <a:solidFill>
              <a:srgbClr val="000000"/>
            </a:solidFill>
          </a:ln>
        </p:spPr>
        <p:txBody>
          <a:bodyPr wrap="square" lIns="0" tIns="0" rIns="0" bIns="0" rtlCol="0"/>
          <a:lstStyle/>
          <a:p/>
        </p:txBody>
      </p:sp>
      <p:sp>
        <p:nvSpPr>
          <p:cNvPr id="6" name="object 6"/>
          <p:cNvSpPr txBox="1"/>
          <p:nvPr/>
        </p:nvSpPr>
        <p:spPr>
          <a:xfrm>
            <a:off x="901700" y="891794"/>
            <a:ext cx="5970905" cy="3888104"/>
          </a:xfrm>
          <a:prstGeom prst="rect">
            <a:avLst/>
          </a:prstGeom>
        </p:spPr>
        <p:txBody>
          <a:bodyPr wrap="square" lIns="0" tIns="19050" rIns="0" bIns="0" rtlCol="0" vert="horz">
            <a:spAutoFit/>
          </a:bodyPr>
          <a:lstStyle/>
          <a:p>
            <a:pPr algn="just" marL="12700" marR="5080">
              <a:lnSpc>
                <a:spcPct val="95800"/>
              </a:lnSpc>
              <a:spcBef>
                <a:spcPts val="150"/>
              </a:spcBef>
            </a:pPr>
            <a:r>
              <a:rPr dirty="0" sz="1100" spc="-5">
                <a:latin typeface="Arial"/>
                <a:cs typeface="Arial"/>
              </a:rPr>
              <a:t>Microfinance has some potentially important limitations. Micro credit was first conceived and is  still largely marketed as financing for micro enterprises, but most people probably prefer a  regular wage and salary to running a risky micro enterprise. Although systematic evidence is  lacking, interviews with factory workers in developing countries such as Peru and Bangladesh  suggest that many are former micro entrepreneurs who gave up their enterprises in favor of a  regular job. Most people are willing to pay for insurance, and a predictable wage offers  insurance against the vagaries of micro enterprise proceeds. Typically, even laid-off  professionals in rich countries go into self-employment only until they can find a suitable  replacement job. Thus the primary problem </a:t>
            </a:r>
            <a:r>
              <a:rPr dirty="0" sz="1100">
                <a:latin typeface="Arial"/>
                <a:cs typeface="Arial"/>
              </a:rPr>
              <a:t>may </a:t>
            </a:r>
            <a:r>
              <a:rPr dirty="0" sz="1100" spc="-5">
                <a:latin typeface="Arial"/>
                <a:cs typeface="Arial"/>
              </a:rPr>
              <a:t>be the lack of available jobs paying a steady  wage or salary—a problem compounded further when custom still prevents women from taking  on outside employment that becomes available. To this extent, </a:t>
            </a:r>
            <a:r>
              <a:rPr dirty="0" sz="1100">
                <a:latin typeface="Arial"/>
                <a:cs typeface="Arial"/>
              </a:rPr>
              <a:t>micro </a:t>
            </a:r>
            <a:r>
              <a:rPr dirty="0" sz="1100" spc="-5">
                <a:latin typeface="Arial"/>
                <a:cs typeface="Arial"/>
              </a:rPr>
              <a:t>credit as classically  conceived may prove </a:t>
            </a:r>
            <a:r>
              <a:rPr dirty="0" sz="1100">
                <a:latin typeface="Arial"/>
                <a:cs typeface="Arial"/>
              </a:rPr>
              <a:t>to </a:t>
            </a:r>
            <a:r>
              <a:rPr dirty="0" sz="1100" spc="-5">
                <a:latin typeface="Arial"/>
                <a:cs typeface="Arial"/>
              </a:rPr>
              <a:t>be in large measure a “transitional institution.” A related concern is that  few micro entrepreneurs ever grow sufficiently to become bona fide small or medium-size  enterprises (SMEs). BRAC found that most borrowers from its SME facility were middle-class  entrepreneurs, rather than graduates from its microfinance activities. Of course, people will  always need other forms of financial intermediation such as savings accounts and consumption  loans. And some micro enterprises will go on to generate additional</a:t>
            </a:r>
            <a:r>
              <a:rPr dirty="0" sz="1100" spc="95">
                <a:latin typeface="Arial"/>
                <a:cs typeface="Arial"/>
              </a:rPr>
              <a:t> </a:t>
            </a:r>
            <a:r>
              <a:rPr dirty="0" sz="1100" spc="-5">
                <a:latin typeface="Arial"/>
                <a:cs typeface="Arial"/>
              </a:rPr>
              <a:t>employment.</a:t>
            </a:r>
            <a:endParaRPr sz="1100">
              <a:latin typeface="Arial"/>
              <a:cs typeface="Arial"/>
            </a:endParaRPr>
          </a:p>
          <a:p>
            <a:pPr>
              <a:lnSpc>
                <a:spcPct val="100000"/>
              </a:lnSpc>
              <a:spcBef>
                <a:spcPts val="5"/>
              </a:spcBef>
            </a:pPr>
            <a:endParaRPr sz="1100">
              <a:latin typeface="Arial"/>
              <a:cs typeface="Arial"/>
            </a:endParaRPr>
          </a:p>
          <a:p>
            <a:pPr algn="just" marL="12700" marR="6985">
              <a:lnSpc>
                <a:spcPct val="95800"/>
              </a:lnSpc>
            </a:pPr>
            <a:r>
              <a:rPr dirty="0" sz="1100" spc="-5">
                <a:latin typeface="Arial"/>
                <a:cs typeface="Arial"/>
              </a:rPr>
              <a:t>In sum, microfinance is a powerful tool, but it needs to be complemented with other growth,  poverty reduction, financial sector development, human capital, infrastructure building, and—  last but by no means least—conventional job creation policies. In the meantime, hundreds of  millions of people depend in part on micro enterprises, so helping them to become more  efficient is an important objective; and the provision of lending, saving, and insurance services  can provide broad benefits for people living in</a:t>
            </a:r>
            <a:r>
              <a:rPr dirty="0" sz="1100" spc="40">
                <a:latin typeface="Arial"/>
                <a:cs typeface="Arial"/>
              </a:rPr>
              <a:t> </a:t>
            </a:r>
            <a:r>
              <a:rPr dirty="0" sz="1100" spc="-5">
                <a:latin typeface="Arial"/>
                <a:cs typeface="Arial"/>
              </a:rPr>
              <a:t>poverty.</a:t>
            </a:r>
            <a:endParaRPr sz="1100">
              <a:latin typeface="Arial"/>
              <a:cs typeface="Arial"/>
            </a:endParaRPr>
          </a:p>
        </p:txBody>
      </p:sp>
      <p:sp>
        <p:nvSpPr>
          <p:cNvPr id="7" name="object 7"/>
          <p:cNvSpPr txBox="1">
            <a:spLocks noGrp="1"/>
          </p:cNvSpPr>
          <p:nvPr>
            <p:ph type="ftr" idx="5" sz="quarter"/>
          </p:nvPr>
        </p:nvSpPr>
        <p:spPr>
          <a:prstGeom prst="rect"/>
        </p:spPr>
        <p:txBody>
          <a:bodyPr wrap="square" lIns="0" tIns="0" rIns="0" bIns="0" rtlCol="0" vert="horz">
            <a:spAutoFit/>
          </a:bodyPr>
          <a:lstStyle/>
          <a:p>
            <a:pPr marL="12700">
              <a:lnSpc>
                <a:spcPts val="1265"/>
              </a:lnSpc>
            </a:pPr>
            <a:r>
              <a:rPr dirty="0" spc="-5"/>
              <a:t>© </a:t>
            </a:r>
            <a:r>
              <a:rPr dirty="0" spc="-25"/>
              <a:t>Copyright </a:t>
            </a:r>
            <a:r>
              <a:rPr dirty="0" spc="-30"/>
              <a:t>Virtual </a:t>
            </a:r>
            <a:r>
              <a:rPr dirty="0" spc="-35"/>
              <a:t>University </a:t>
            </a:r>
            <a:r>
              <a:rPr dirty="0" spc="-5"/>
              <a:t>of</a:t>
            </a:r>
            <a:r>
              <a:rPr dirty="0" spc="95"/>
              <a:t> </a:t>
            </a:r>
            <a:r>
              <a:rPr dirty="0" spc="-25"/>
              <a:t>Pakistan</a:t>
            </a:r>
          </a:p>
        </p:txBody>
      </p:sp>
      <p:sp>
        <p:nvSpPr>
          <p:cNvPr id="8" name="object 8"/>
          <p:cNvSpPr txBox="1">
            <a:spLocks noGrp="1"/>
          </p:cNvSpPr>
          <p:nvPr>
            <p:ph type="sldNum" idx="7" sz="quarter"/>
          </p:nvPr>
        </p:nvSpPr>
        <p:spPr>
          <a:prstGeom prst="rect"/>
        </p:spPr>
        <p:txBody>
          <a:bodyPr wrap="square" lIns="0" tIns="0" rIns="0" bIns="0" rtlCol="0" vert="horz">
            <a:spAutoFit/>
          </a:bodyPr>
          <a:lstStyle/>
          <a:p>
            <a:pPr marL="38100">
              <a:lnSpc>
                <a:spcPts val="1145"/>
              </a:lnSpc>
            </a:pPr>
            <a:r>
              <a:rPr dirty="0" spc="-5"/>
              <a:t>326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samina</dc:creator>
  <dcterms:created xsi:type="dcterms:W3CDTF">2021-04-13T14:21:50Z</dcterms:created>
  <dcterms:modified xsi:type="dcterms:W3CDTF">2021-04-13T14:21:50Z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2016-04-07T00:00:00Z</vt:filetime>
  </property>
  <property fmtid="{D5CDD505-2E9C-101B-9397-08002B2CF9AE}" pid="3" name="Creator">
    <vt:lpwstr>PScript5.dll Version 5.2.2</vt:lpwstr>
  </property>
  <property fmtid="{D5CDD505-2E9C-101B-9397-08002B2CF9AE}" pid="4" name="LastSaved">
    <vt:filetime>2021-04-13T00:00:00Z</vt:filetime>
  </property>
</Properties>
</file>